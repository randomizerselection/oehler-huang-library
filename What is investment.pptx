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9" r:id="rId7"/>
    <p:sldId id="261" r:id="rId8"/>
    <p:sldId id="270" r:id="rId9"/>
    <p:sldId id="271" r:id="rId10"/>
    <p:sldId id="260" r:id="rId11"/>
    <p:sldId id="272" r:id="rId12"/>
    <p:sldId id="263" r:id="rId13"/>
    <p:sldId id="264" r:id="rId14"/>
    <p:sldId id="265" r:id="rId15"/>
    <p:sldId id="266" r:id="rId16"/>
    <p:sldId id="267" r:id="rId17"/>
    <p:sldId id="268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03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9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1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7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3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91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9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85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7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98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C897A-756B-4347-B7BE-67F9F8184678}" type="datetimeFigureOut">
              <a:rPr lang="zh-CN" altLang="en-US" smtClean="0"/>
              <a:t>2026.08.31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5C1BC-A9EE-43B2-941F-41C98DCEF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5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9CBF-0058-21C9-4F26-33DE43F78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What is investment?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1B16A-F9CE-517D-F495-A0A493DF16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96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703B-51DC-8D8E-87A0-7F6B5EC3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By the end of this lesson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424F4-2C58-1457-7D98-A3246D6A9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Understand the difference between investment, speculation and saving</a:t>
            </a:r>
          </a:p>
          <a:p>
            <a:r>
              <a:rPr lang="en-US" altLang="zh-CN" dirty="0"/>
              <a:t>Understand investment return, and basic calculation</a:t>
            </a:r>
          </a:p>
          <a:p>
            <a:r>
              <a:rPr lang="en-US" altLang="zh-CN" dirty="0"/>
              <a:t>Give examples</a:t>
            </a:r>
          </a:p>
          <a:p>
            <a:r>
              <a:rPr lang="en-US" altLang="zh-CN" dirty="0"/>
              <a:t>Explain why something is investment, speculation or saving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430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this investment?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1560-284C-820E-4C55-42A1540D8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Photo of speculator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83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this investment?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E0E4-E9DE-1332-36CE-6A938BBCF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Photo of saver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427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3761-A2BE-A81A-4B2F-6D76C763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 of investment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B61E-E1FF-4706-F5BB-01C14762C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Financial investment (</a:t>
            </a:r>
            <a:r>
              <a:rPr lang="zh-CN" altLang="en-US" dirty="0"/>
              <a:t>金融投资</a:t>
            </a:r>
            <a:r>
              <a:rPr lang="en-US" altLang="zh-CN" dirty="0"/>
              <a:t>) means putting money into an asset (</a:t>
            </a:r>
            <a:r>
              <a:rPr lang="zh-CN" altLang="en-US" dirty="0"/>
              <a:t>资产</a:t>
            </a:r>
            <a:r>
              <a:rPr lang="en-US" altLang="zh-CN" dirty="0"/>
              <a:t>) to seek future total return (</a:t>
            </a:r>
            <a:r>
              <a:rPr lang="zh-CN" altLang="en-US" dirty="0"/>
              <a:t>总回报</a:t>
            </a:r>
            <a:r>
              <a:rPr lang="en-US" altLang="zh-CN" dirty="0"/>
              <a:t>).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Risk: possible loss (</a:t>
            </a:r>
            <a:r>
              <a:rPr lang="zh-CN" altLang="en-US" dirty="0"/>
              <a:t>可能亏损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Examples:</a:t>
            </a:r>
          </a:p>
          <a:p>
            <a:r>
              <a:rPr lang="en-US" altLang="zh-CN" sz="2400" dirty="0"/>
              <a:t>Stocks</a:t>
            </a:r>
          </a:p>
          <a:p>
            <a:pPr lvl="1"/>
            <a:r>
              <a:rPr lang="en-US" altLang="zh-CN" sz="2000" dirty="0"/>
              <a:t>Index fund</a:t>
            </a:r>
          </a:p>
          <a:p>
            <a:r>
              <a:rPr lang="en-US" altLang="zh-CN" sz="2400" dirty="0"/>
              <a:t>Bonds</a:t>
            </a:r>
          </a:p>
          <a:p>
            <a:r>
              <a:rPr lang="en-US" altLang="zh-CN" sz="2400" dirty="0"/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4407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E8C1-10FE-83F9-57A6-5238B233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example of total return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6F6-73D6-1461-B458-54DC23A9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5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1943-599C-059C-9C56-6E380831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C310-9AEA-6F2B-EE01-6FA6FF112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 of speculation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7231-263E-783D-6E31-CF9FD1823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Speculation (</a:t>
            </a:r>
            <a:r>
              <a:rPr lang="zh-CN" altLang="en-US" dirty="0"/>
              <a:t>投机</a:t>
            </a:r>
            <a:r>
              <a:rPr lang="en-US" altLang="zh-CN" dirty="0"/>
              <a:t>) means trading mainly to profit from a predicted price change (</a:t>
            </a:r>
            <a:r>
              <a:rPr lang="zh-CN" altLang="en-US" dirty="0"/>
              <a:t>预测的价格变动</a:t>
            </a:r>
            <a:r>
              <a:rPr lang="en-US" altLang="zh-CN" dirty="0"/>
              <a:t>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62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E26B-FB1F-C423-3586-574CADDA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5517-CDD8-0040-069F-F483AD37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example of speculation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F7D2-DB71-7501-0B9F-A64C759F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705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A82F-4103-7C8F-083A-697A5379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350D-62E9-DC1D-DA04-0495D7DC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economists usually don’t </a:t>
            </a:r>
            <a:r>
              <a:rPr lang="en-US" altLang="zh-CN" dirty="0" err="1"/>
              <a:t>favour</a:t>
            </a:r>
            <a:r>
              <a:rPr lang="en-US" altLang="zh-CN" dirty="0"/>
              <a:t> speculation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3F09-016D-841D-6A42-E084F2568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21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FB71-D60D-ECD4-E303-237F00B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Definition of saving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17A92-886F-0D21-3EF1-FDB9DCB2B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current income not spent now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Emphasis:</a:t>
            </a:r>
          </a:p>
          <a:p>
            <a:r>
              <a:rPr lang="en-US" altLang="zh-CN" dirty="0"/>
              <a:t>capital preservation (</a:t>
            </a:r>
            <a:r>
              <a:rPr lang="zh-CN" altLang="en-US" dirty="0"/>
              <a:t>保本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liquidity (</a:t>
            </a:r>
            <a:r>
              <a:rPr lang="zh-CN" altLang="en-US" dirty="0"/>
              <a:t>流动性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Example:</a:t>
            </a:r>
          </a:p>
          <a:p>
            <a:r>
              <a:rPr lang="en-US" altLang="zh-CN" dirty="0"/>
              <a:t>Emergency fund (</a:t>
            </a:r>
            <a:r>
              <a:rPr lang="zh-CN" altLang="en-US" dirty="0"/>
              <a:t>应急资金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Short-term cash buffer (</a:t>
            </a:r>
            <a:r>
              <a:rPr lang="zh-CN" altLang="en-US" dirty="0"/>
              <a:t>现金缓冲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538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25AC-4C84-BAA0-AFC9-CE704A53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2509-0E28-9548-1D52-4D2555BD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saving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B7BF-2B08-E222-FD53-2C1D489C3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71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Choose: Investment (</a:t>
            </a:r>
            <a:r>
              <a:rPr lang="zh-CN" altLang="en-US" dirty="0"/>
              <a:t>投资</a:t>
            </a:r>
            <a:r>
              <a:rPr lang="en-US" altLang="zh-CN" dirty="0"/>
              <a:t>), speculation (</a:t>
            </a:r>
            <a:r>
              <a:rPr lang="zh-CN" altLang="en-US" dirty="0"/>
              <a:t>投机</a:t>
            </a:r>
            <a:r>
              <a:rPr lang="en-US" altLang="zh-CN" dirty="0"/>
              <a:t>) or saving (</a:t>
            </a:r>
            <a:r>
              <a:rPr lang="zh-CN" altLang="en-US" dirty="0"/>
              <a:t>储蓄</a:t>
            </a:r>
            <a:r>
              <a:rPr lang="en-US" altLang="zh-CN" dirty="0"/>
              <a:t>)?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5956-85DF-BC6B-2C69-CAECA772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BD49-C6E6-D286-FD16-E3C65D51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Choose: Investment (</a:t>
            </a:r>
            <a:r>
              <a:rPr lang="zh-CN" altLang="en-US" dirty="0"/>
              <a:t>投资</a:t>
            </a:r>
            <a:r>
              <a:rPr lang="en-US" altLang="zh-CN" dirty="0"/>
              <a:t>), speculation (</a:t>
            </a:r>
            <a:r>
              <a:rPr lang="zh-CN" altLang="en-US" dirty="0"/>
              <a:t>投机</a:t>
            </a:r>
            <a:r>
              <a:rPr lang="en-US" altLang="zh-CN" dirty="0"/>
              <a:t>) or saving (</a:t>
            </a:r>
            <a:r>
              <a:rPr lang="zh-CN" altLang="en-US" dirty="0"/>
              <a:t>储蓄</a:t>
            </a:r>
            <a:r>
              <a:rPr lang="en-US" altLang="zh-CN" dirty="0"/>
              <a:t>)?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48C89-11B4-44C9-6372-440B1F136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6-10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61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5AC5-581E-8729-0974-E5D5FA25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Choose: Investment (</a:t>
            </a:r>
            <a:r>
              <a:rPr lang="zh-CN" altLang="en-US" dirty="0"/>
              <a:t>投资</a:t>
            </a:r>
            <a:r>
              <a:rPr lang="en-US" altLang="zh-CN" dirty="0"/>
              <a:t>), speculation (</a:t>
            </a:r>
            <a:r>
              <a:rPr lang="zh-CN" altLang="en-US" dirty="0"/>
              <a:t>投机</a:t>
            </a:r>
            <a:r>
              <a:rPr lang="en-US" altLang="zh-CN" dirty="0"/>
              <a:t>) or saving (</a:t>
            </a:r>
            <a:r>
              <a:rPr lang="zh-CN" altLang="en-US" dirty="0"/>
              <a:t>储蓄</a:t>
            </a:r>
            <a:r>
              <a:rPr lang="en-US" altLang="zh-CN" dirty="0"/>
              <a:t>)?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11-13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20DB-0C86-BD4A-0EFA-2C99A79F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MCQ 1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847D-CE6E-F1A2-8ADD-F254FCCB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MCQ 2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FA999-C790-352C-DCBA-17056324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MCQ 3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D0AA3-7D27-2B92-D111-D6935B03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 answer question 1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146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E464-7ACE-6098-A3B2-6BF9D51E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 answer question 2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ADBE-522A-4212-AD09-B33B4169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202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77896-89F8-DFD8-48E9-672C23A1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C6C6-39CF-0255-47DF-526C3C84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Short answer question 3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AADBC-6F86-CC00-BCEB-8FB4CEDE2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9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260</Words>
  <Application>Microsoft Office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Theme</vt:lpstr>
      <vt:lpstr>What is investment?</vt:lpstr>
      <vt:lpstr>By the end of this lesson</vt:lpstr>
      <vt:lpstr>Is this investment?</vt:lpstr>
      <vt:lpstr>Is this investment?</vt:lpstr>
      <vt:lpstr>Definition of investment</vt:lpstr>
      <vt:lpstr>Real example of total return</vt:lpstr>
      <vt:lpstr>Definition of speculation</vt:lpstr>
      <vt:lpstr>Real example of speculation</vt:lpstr>
      <vt:lpstr>Why economists usually don’t favour speculation</vt:lpstr>
      <vt:lpstr>Definition of saving</vt:lpstr>
      <vt:lpstr>Example of saving</vt:lpstr>
      <vt:lpstr>Choose: Investment (投资), speculation (投机) or saving (储蓄)?</vt:lpstr>
      <vt:lpstr>Choose: Investment (投资), speculation (投机) or saving (储蓄)?</vt:lpstr>
      <vt:lpstr>Choose: Investment (投资), speculation (投机) or saving (储蓄)?</vt:lpstr>
      <vt:lpstr>MCQ 1</vt:lpstr>
      <vt:lpstr>MCQ 2</vt:lpstr>
      <vt:lpstr>MCQ 3</vt:lpstr>
      <vt:lpstr>Short answer question 1</vt:lpstr>
      <vt:lpstr>Short answer question 2</vt:lpstr>
      <vt:lpstr>Short answer question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Oehler-Huang</dc:creator>
  <cp:lastModifiedBy>Samuel Oehler-Huang</cp:lastModifiedBy>
  <cp:revision>1</cp:revision>
  <dcterms:created xsi:type="dcterms:W3CDTF">2026-08-31T01:04:54Z</dcterms:created>
  <dcterms:modified xsi:type="dcterms:W3CDTF">2026-08-31T01:28:05Z</dcterms:modified>
</cp:coreProperties>
</file>