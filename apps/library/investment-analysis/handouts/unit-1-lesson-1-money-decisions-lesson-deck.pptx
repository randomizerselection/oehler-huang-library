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3fd348d88d40a9" /><Relationship Type="http://schemas.openxmlformats.org/officeDocument/2006/relationships/extended-properties" Target="/docProps/app.xml" Id="Rdeb72ddc904f4953" /><Relationship Type="http://schemas.openxmlformats.org/officeDocument/2006/relationships/officeDocument" Target="/ppt/presentation.xml" Id="R1c1dcc74861a4681" /></Relationships>
</file>

<file path=ppt/presentation.xml><?xml version="1.0" encoding="utf-8"?>
<p:presentation xmlns:p="http://schemas.openxmlformats.org/presentationml/2006/main">
  <p:sldMasterIdLst>
    <p:sldMasterId xmlns:r="http://schemas.openxmlformats.org/officeDocument/2006/relationships" id="2147483648" r:id="Rb3b3df443095484b"/>
  </p:sldMasterIdLst>
  <p:notesMasterIdLst>
    <p:notesMasterId xmlns:r="http://schemas.openxmlformats.org/officeDocument/2006/relationships" r:id="Ra53fd0cfbf674efa"/>
  </p:notesMasterIdLst>
  <p:sldIdLst>
    <p:sldId xmlns:r="http://schemas.openxmlformats.org/officeDocument/2006/relationships" id="256" r:id="Re9882ccb740c4f6b"/>
    <p:sldId xmlns:r="http://schemas.openxmlformats.org/officeDocument/2006/relationships" id="257" r:id="R88dbf7efc0194cbd"/>
    <p:sldId xmlns:r="http://schemas.openxmlformats.org/officeDocument/2006/relationships" id="258" r:id="Rc85df8cdd0dc4c2d"/>
    <p:sldId xmlns:r="http://schemas.openxmlformats.org/officeDocument/2006/relationships" id="259" r:id="Rb5b594733a7b4b5d"/>
    <p:sldId xmlns:r="http://schemas.openxmlformats.org/officeDocument/2006/relationships" id="260" r:id="R81c4e9cb0bd043bc"/>
    <p:sldId xmlns:r="http://schemas.openxmlformats.org/officeDocument/2006/relationships" id="261" r:id="R778c5706266e4237"/>
    <p:sldId xmlns:r="http://schemas.openxmlformats.org/officeDocument/2006/relationships" id="262" r:id="Rff4f93ae0bee4ac7"/>
    <p:sldId xmlns:r="http://schemas.openxmlformats.org/officeDocument/2006/relationships" id="263" r:id="R42abfcc9e6ee41c3"/>
    <p:sldId xmlns:r="http://schemas.openxmlformats.org/officeDocument/2006/relationships" id="264" r:id="Rc6ddb98f89ec4ff2"/>
    <p:sldId xmlns:r="http://schemas.openxmlformats.org/officeDocument/2006/relationships" id="265" r:id="R4fcb99f7f5564532"/>
    <p:sldId xmlns:r="http://schemas.openxmlformats.org/officeDocument/2006/relationships" id="266" r:id="R7d88749e6e5f48ee"/>
    <p:sldId xmlns:r="http://schemas.openxmlformats.org/officeDocument/2006/relationships" id="267" r:id="R082d654181e2473b"/>
    <p:sldId xmlns:r="http://schemas.openxmlformats.org/officeDocument/2006/relationships" id="268" r:id="R9e387233a4064cba"/>
    <p:sldId xmlns:r="http://schemas.openxmlformats.org/officeDocument/2006/relationships" id="269" r:id="R02fbbb4da3624bfc"/>
    <p:sldId xmlns:r="http://schemas.openxmlformats.org/officeDocument/2006/relationships" id="270" r:id="Rd6c65e56bf68494c"/>
    <p:sldId xmlns:r="http://schemas.openxmlformats.org/officeDocument/2006/relationships" id="271" r:id="R68d789f0573343d3"/>
    <p:sldId xmlns:r="http://schemas.openxmlformats.org/officeDocument/2006/relationships" id="272" r:id="Re13c18141a464eda"/>
    <p:sldId xmlns:r="http://schemas.openxmlformats.org/officeDocument/2006/relationships" id="273" r:id="Re8fd2eade60840c8"/>
    <p:sldId xmlns:r="http://schemas.openxmlformats.org/officeDocument/2006/relationships" id="274" r:id="Rfc94a534cf454e73"/>
    <p:sldId xmlns:r="http://schemas.openxmlformats.org/officeDocument/2006/relationships" id="275" r:id="Rcb8b74a9a2c74a20"/>
    <p:sldId xmlns:r="http://schemas.openxmlformats.org/officeDocument/2006/relationships" id="276" r:id="R0a6ba02ea743443f"/>
    <p:sldId xmlns:r="http://schemas.openxmlformats.org/officeDocument/2006/relationships" id="277" r:id="Ree10d9017419483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87296451324dad" /><Relationship Type="http://schemas.openxmlformats.org/officeDocument/2006/relationships/slideMaster" Target="/ppt/slideMasters/slideMaster1.xml" Id="Rb3b3df443095484b" /><Relationship Type="http://schemas.openxmlformats.org/officeDocument/2006/relationships/notesMaster" Target="/ppt/notesMasters/notesMaster1.xml" Id="Ra53fd0cfbf674efa" /><Relationship Type="http://schemas.openxmlformats.org/officeDocument/2006/relationships/presProps" Target="/ppt/presProps.xml" Id="Re758456b200c4cdb" /><Relationship Type="http://schemas.openxmlformats.org/officeDocument/2006/relationships/tableStyles" Target="/ppt/tableStyles.xml" Id="R0064a5a31b034c67" /><Relationship Type="http://schemas.openxmlformats.org/officeDocument/2006/relationships/slide" Target="/ppt/slides/slide1.xml" Id="Re9882ccb740c4f6b" /><Relationship Type="http://schemas.openxmlformats.org/officeDocument/2006/relationships/slide" Target="/ppt/slides/slide2.xml" Id="R88dbf7efc0194cbd" /><Relationship Type="http://schemas.openxmlformats.org/officeDocument/2006/relationships/slide" Target="/ppt/slides/slide3.xml" Id="Rc85df8cdd0dc4c2d" /><Relationship Type="http://schemas.openxmlformats.org/officeDocument/2006/relationships/slide" Target="/ppt/slides/slide4.xml" Id="Rb5b594733a7b4b5d" /><Relationship Type="http://schemas.openxmlformats.org/officeDocument/2006/relationships/slide" Target="/ppt/slides/slide5.xml" Id="R81c4e9cb0bd043bc" /><Relationship Type="http://schemas.openxmlformats.org/officeDocument/2006/relationships/slide" Target="/ppt/slides/slide6.xml" Id="R778c5706266e4237" /><Relationship Type="http://schemas.openxmlformats.org/officeDocument/2006/relationships/slide" Target="/ppt/slides/slide7.xml" Id="Rff4f93ae0bee4ac7" /><Relationship Type="http://schemas.openxmlformats.org/officeDocument/2006/relationships/slide" Target="/ppt/slides/slide8.xml" Id="R42abfcc9e6ee41c3" /><Relationship Type="http://schemas.openxmlformats.org/officeDocument/2006/relationships/slide" Target="/ppt/slides/slide9.xml" Id="Rc6ddb98f89ec4ff2" /><Relationship Type="http://schemas.openxmlformats.org/officeDocument/2006/relationships/slide" Target="/ppt/slides/slide10.xml" Id="R4fcb99f7f5564532" /><Relationship Type="http://schemas.openxmlformats.org/officeDocument/2006/relationships/slide" Target="/ppt/slides/slide11.xml" Id="R7d88749e6e5f48ee" /><Relationship Type="http://schemas.openxmlformats.org/officeDocument/2006/relationships/slide" Target="/ppt/slides/slide12.xml" Id="R082d654181e2473b" /><Relationship Type="http://schemas.openxmlformats.org/officeDocument/2006/relationships/slide" Target="/ppt/slides/slide13.xml" Id="R9e387233a4064cba" /><Relationship Type="http://schemas.openxmlformats.org/officeDocument/2006/relationships/slide" Target="/ppt/slides/slide14.xml" Id="R02fbbb4da3624bfc" /><Relationship Type="http://schemas.openxmlformats.org/officeDocument/2006/relationships/slide" Target="/ppt/slides/slide15.xml" Id="Rd6c65e56bf68494c" /><Relationship Type="http://schemas.openxmlformats.org/officeDocument/2006/relationships/slide" Target="/ppt/slides/slide16.xml" Id="R68d789f0573343d3" /><Relationship Type="http://schemas.openxmlformats.org/officeDocument/2006/relationships/slide" Target="/ppt/slides/slide17.xml" Id="Re13c18141a464eda" /><Relationship Type="http://schemas.openxmlformats.org/officeDocument/2006/relationships/slide" Target="/ppt/slides/slide18.xml" Id="Re8fd2eade60840c8" /><Relationship Type="http://schemas.openxmlformats.org/officeDocument/2006/relationships/slide" Target="/ppt/slides/slide19.xml" Id="Rfc94a534cf454e73" /><Relationship Type="http://schemas.openxmlformats.org/officeDocument/2006/relationships/slide" Target="/ppt/slides/slide20.xml" Id="Rcb8b74a9a2c74a20" /><Relationship Type="http://schemas.openxmlformats.org/officeDocument/2006/relationships/slide" Target="/ppt/slides/slide21.xml" Id="R0a6ba02ea743443f" /><Relationship Type="http://schemas.openxmlformats.org/officeDocument/2006/relationships/slide" Target="/ppt/slides/slide22.xml" Id="Ree10d9017419483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d1bb83a08d40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24bf8dfe4249e7" /><Relationship Type="http://schemas.openxmlformats.org/officeDocument/2006/relationships/notesMaster" Target="/ppt/notesMasters/notesMaster1.xml" Id="R1d5eb02d60234d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fd49b7490d4992" /><Relationship Type="http://schemas.openxmlformats.org/officeDocument/2006/relationships/notesMaster" Target="/ppt/notesMasters/notesMaster1.xml" Id="Rc83956532f8941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09497eaaa64291" /><Relationship Type="http://schemas.openxmlformats.org/officeDocument/2006/relationships/notesMaster" Target="/ppt/notesMasters/notesMaster1.xml" Id="Red80c931507a4c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18664915e445fa" /><Relationship Type="http://schemas.openxmlformats.org/officeDocument/2006/relationships/notesMaster" Target="/ppt/notesMasters/notesMaster1.xml" Id="R54746dd6a62a4f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cd3db222e54573" /><Relationship Type="http://schemas.openxmlformats.org/officeDocument/2006/relationships/notesMaster" Target="/ppt/notesMasters/notesMaster1.xml" Id="R711ef35b03c44af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b098541f634052" /><Relationship Type="http://schemas.openxmlformats.org/officeDocument/2006/relationships/notesMaster" Target="/ppt/notesMasters/notesMaster1.xml" Id="R3cb8844a6d484a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71d0ff20e854783" /><Relationship Type="http://schemas.openxmlformats.org/officeDocument/2006/relationships/notesMaster" Target="/ppt/notesMasters/notesMaster1.xml" Id="Rec86087a730942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e6fc60a162d49a8" /><Relationship Type="http://schemas.openxmlformats.org/officeDocument/2006/relationships/notesMaster" Target="/ppt/notesMasters/notesMaster1.xml" Id="R94335e5336d24d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d18bac409843c1" /><Relationship Type="http://schemas.openxmlformats.org/officeDocument/2006/relationships/notesMaster" Target="/ppt/notesMasters/notesMaster1.xml" Id="R9c74669468a347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dbb37fa85454078" /><Relationship Type="http://schemas.openxmlformats.org/officeDocument/2006/relationships/notesMaster" Target="/ppt/notesMasters/notesMaster1.xml" Id="R1ab36870bb9749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b473a563e24171" /><Relationship Type="http://schemas.openxmlformats.org/officeDocument/2006/relationships/notesMaster" Target="/ppt/notesMasters/notesMaster1.xml" Id="Rf51db2120b4245a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132fc0e05ef4da5" /><Relationship Type="http://schemas.openxmlformats.org/officeDocument/2006/relationships/notesMaster" Target="/ppt/notesMasters/notesMaster1.xml" Id="Rc3d04e53a0c2439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b8a2ed896f4439" /><Relationship Type="http://schemas.openxmlformats.org/officeDocument/2006/relationships/notesMaster" Target="/ppt/notesMasters/notesMaster1.xml" Id="R2ce47d58bd694e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de5e706d9b94654" /><Relationship Type="http://schemas.openxmlformats.org/officeDocument/2006/relationships/notesMaster" Target="/ppt/notesMasters/notesMaster1.xml" Id="Rc7621c2b159d49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305dedd1a494822" /><Relationship Type="http://schemas.openxmlformats.org/officeDocument/2006/relationships/notesMaster" Target="/ppt/notesMasters/notesMaster1.xml" Id="R7e4e5be25cc146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27c7c2ebf5c40b1" /><Relationship Type="http://schemas.openxmlformats.org/officeDocument/2006/relationships/notesMaster" Target="/ppt/notesMasters/notesMaster1.xml" Id="R31268754768741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baa1f96686b48b6" /><Relationship Type="http://schemas.openxmlformats.org/officeDocument/2006/relationships/notesMaster" Target="/ppt/notesMasters/notesMaster1.xml" Id="R55c8b15cb0a3453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c0167b0fac428e" /><Relationship Type="http://schemas.openxmlformats.org/officeDocument/2006/relationships/notesMaster" Target="/ppt/notesMasters/notesMaster1.xml" Id="Re4be85c0b4944e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df247a2b444c70" /><Relationship Type="http://schemas.openxmlformats.org/officeDocument/2006/relationships/notesMaster" Target="/ppt/notesMasters/notesMaster1.xml" Id="R20fb3a91a6f8472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e2a9bcb97d84f61" /><Relationship Type="http://schemas.openxmlformats.org/officeDocument/2006/relationships/notesMaster" Target="/ppt/notesMasters/notesMaster1.xml" Id="Rb0363ae3f2124ff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bb153e6e5047f6" /><Relationship Type="http://schemas.openxmlformats.org/officeDocument/2006/relationships/notesMaster" Target="/ppt/notesMasters/notesMaster1.xml" Id="Ra062f0b828b74c8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50a060f5c0e47c5" /><Relationship Type="http://schemas.openxmlformats.org/officeDocument/2006/relationships/notesMaster" Target="/ppt/notesMasters/notesMaster1.xml" Id="R6e1927b7f5474c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 Hand out the worksheet before revealing any definitions. Ask students to keep the first page open. The lesson question is the same as the handout title.</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Think-pair-share. Do not accept 'saving' yet unless the student states what information would make that classification strong. Collect the four information types shown.</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https://www.pexels.com/photo/a-piggy-bank-on-the-table-12357524/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Read the three objectives only. Tell students that every written answer today must include a classification and evidence.</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Accept partial recall. Return to these questions after the five-question classifier. Useful answers: a goal states use, amount, priority and time; return can come from income and/or value change; loss matters relative to the goal and the person's risk capacity.</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Students classify individually on page 1, then compare one clue with a partner. Do not reveal the label until several clues have been heard. Strong clues: money needed soon, access required, principal preservation is the main purpose.</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Model judgement: 'Li Wen's decision is mainly saving because she needs the money in nine months and keeps it accessible. The benefit is stability plus small interest. It is not mainly investment because she is not accepting market risk to seek a larger future return.' Mention inflation as a remaining risk.</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https://www.investor.gov/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Students classify and underline two clues on page 1. Ask what return Chen expects and why the twelve-year horizon matters.</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https://www.pexels.com/photo/white-papers-on-the-table-7821708/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Model judgement: 'Chen Yao's decision is mainly investment because he buys a diversified asset for a twelve-year goal after checking risk and fees. Return is expected from asset income and long-run value change. It is not mainly speculation because the plan does not depend on a rapid price prediction.'</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https://www.investor.gov/introduction-investing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Students explain which side better matches Li Wen and Chen Yao. Stress that saving can earn interest and investment can be cautious; the classification follows the main purpose and risk pattern.</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https://www.investor.gov/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Students classify on the handout before discussing. Push past 'he bought shares' to the price-prediction mechanism, weak evidence, borrowing, concentration and scale of possible loss.</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https://www.pexels.com/photo/smartphone-display-of-stock-market-application-28682350/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Model judgement: 'Peng Jie's decision is mainly speculation because borrowed money and an unverified rumour support a concentrated short-term price bet. The hoped-for return comes from other buyers pushing the price higher. It is not mainly investment because the decision is not grounded in a long-term goal or business evidence.'</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https://www.finra.org/rules-guidance/notices/18-24</a:t>
            </a:r>
          </a:p>
          <a:p xmlns:a="http://schemas.openxmlformats.org/drawingml/2006/main">
            <a:r>
              <a:t>- https://www.cftc.gov/LearnAndProtect/AdvisoriesAndArticles/CFTCGlossary/index.htm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Pairs divide the cases, then teach each other. Require the source of benefit or payoff—not simply the purchased item.</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Model D: consumption because the camera's main benefit is personal use. Model E: gambling because the ticket offers a rule-based chance at a prize and no ownership claim. Clarify that careful shopping does not turn consumption into investment, and studying past results does not create productive-asset ownership.</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a:p xmlns:a="http://schemas.openxmlformats.org/drawingml/2006/main">
            <a:r>
              <a:t>- https://www.gamblingcommission.gov.uk/public-and-players/guide/page/what-is-gambling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Students vote: Liu Fang = investment; Ma Jun = speculation. Ask for two contrasting dimensions: goal/horizon, evidence, borrowing, expected return source or risk scale.</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Return to the retrieval diagnostic: a usable goal and the source of return now sit inside the classifier. Students should use these questions in Exercises 1 and 2.</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 minutes. Students complete the Exercise 1 grid. Pair-check protocol: partner asks one classifier question before agreeing. Answers: A saving, B investment, C speculation, D consumption, E gambling. Accept other boundaries only if the strongest classification is justified.</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 Students answer the four selected rows from Exercise 2. Insist on a reason even when the label seems obvious. Do not reveal until all four are attempted.</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Ask students to correct in a different colour. For Ruo, the fund name does not make the decision investment; margin, horizon and price-signal dependence are decisive.</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 Students show A/B/C/D. Correct answer: B. If fewer than about 80% choose B, revisit slide 14 and the five-question classifier before proceeding.</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 Students choose one weak claim and rewrite it in Exercise 5. Sample repairs: shares alone do not determine classification; saving still faces inflation risk; speculation and gambling both involve uncertainty, but speculation can involve asset ownership while gambling payoff follows game/event rules.</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Collect or spot-check. Success criteria: strongest label, decisive evidence, payoff/benefit source, and rejection of a nearby category. Use responses to decide whether the follow-up quiz is independent homework or next-lesson retrieval.</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use: independent follow-up or next-lesson retrieval. Answers: 1 investment; 2 inflation can reduce purchasing power; 3 borrowed money plus an unverified rumour supports a concentrated short-term price bet. The full ten-question quiz is in Handout Exercise 3.</a:t>
            </a:r>
          </a:p>
          <a:p xmlns:a="http://schemas.openxmlformats.org/drawingml/2006/main">
            <a:r>
              <a:t/>
            </a:r>
          </a:p>
          <a:p xmlns:a="http://schemas.openxmlformats.org/drawingml/2006/main">
            <a:r>
              <a:t>[Sources]</a:t>
            </a:r>
          </a:p>
          <a:p xmlns:a="http://schemas.openxmlformats.org/drawingml/2006/main">
            <a:r>
              <a:t>- file:///C:/Users/oehle/Documents/oehler-huang-platform/apps/library/investment-analysis/handouts/unit-1-lesson-1-money-decisions-handout.docx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405b43b75545f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127ca02e49f47d5" /><Relationship Type="http://schemas.openxmlformats.org/officeDocument/2006/relationships/slideLayout" Target="/ppt/slideLayouts/slideLayout1.xml" Id="R6f2da61eb3834a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f2da61eb3834a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ea8771d15049cc" /><Relationship Type="http://schemas.openxmlformats.org/officeDocument/2006/relationships/image" Target="/ppt/media/image.png" Id="R8638bc5e9a7b40ee" /><Relationship Type="http://schemas.openxmlformats.org/officeDocument/2006/relationships/notesSlide" Target="/ppt/notesSlides/notesSlide1.xml" Id="R22f0c9a2ad7b43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abd4f7928844e7f" /><Relationship Type="http://schemas.openxmlformats.org/officeDocument/2006/relationships/image" Target="/ppt/media/image.jpeg" Id="R800764119d574b52" /><Relationship Type="http://schemas.openxmlformats.org/officeDocument/2006/relationships/notesSlide" Target="/ppt/notesSlides/notesSlide2.xml" Id="R9523c6e19a75451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bb7363141a4b09" /><Relationship Type="http://schemas.openxmlformats.org/officeDocument/2006/relationships/notesSlide" Target="/ppt/notesSlides/notesSlide3.xml" Id="Rafd7b706d9cc42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844c36026bc4ed3" /><Relationship Type="http://schemas.openxmlformats.org/officeDocument/2006/relationships/notesSlide" Target="/ppt/notesSlides/notesSlide4.xml" Id="R979e97e936dd4a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bf1af7f0499453f" /><Relationship Type="http://schemas.openxmlformats.org/officeDocument/2006/relationships/notesSlide" Target="/ppt/notesSlides/notesSlide5.xml" Id="Rf972145cfe1644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ef7b38814a42b4" /><Relationship Type="http://schemas.openxmlformats.org/officeDocument/2006/relationships/notesSlide" Target="/ppt/notesSlides/notesSlide6.xml" Id="R740d3894428e41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e319bd10c0d4f1f" /><Relationship Type="http://schemas.openxmlformats.org/officeDocument/2006/relationships/image" Target="/ppt/media/image2.jpeg" Id="R204d8dae4891480e" /><Relationship Type="http://schemas.openxmlformats.org/officeDocument/2006/relationships/notesSlide" Target="/ppt/notesSlides/notesSlide7.xml" Id="R6680320dbac248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a7d35136fe5424d" /><Relationship Type="http://schemas.openxmlformats.org/officeDocument/2006/relationships/notesSlide" Target="/ppt/notesSlides/notesSlide8.xml" Id="Rcdcffc4baff342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7ec99dab11f41dc" /><Relationship Type="http://schemas.openxmlformats.org/officeDocument/2006/relationships/notesSlide" Target="/ppt/notesSlides/notesSlide9.xml" Id="Rfd917071a2654e4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3dbcb222d3143e3" /><Relationship Type="http://schemas.openxmlformats.org/officeDocument/2006/relationships/image" Target="/ppt/media/image3.jpeg" Id="R34063c69ee134401" /><Relationship Type="http://schemas.openxmlformats.org/officeDocument/2006/relationships/notesSlide" Target="/ppt/notesSlides/notesSlide10.xml" Id="R550603e617bd4a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59a868577c4e46" /><Relationship Type="http://schemas.openxmlformats.org/officeDocument/2006/relationships/notesSlide" Target="/ppt/notesSlides/notesSlide11.xml" Id="R7929a97f9f7b44e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02be4759f234726" /><Relationship Type="http://schemas.openxmlformats.org/officeDocument/2006/relationships/notesSlide" Target="/ppt/notesSlides/notesSlide12.xml" Id="R45e824ac215245c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a94d77b33e4bbd" /><Relationship Type="http://schemas.openxmlformats.org/officeDocument/2006/relationships/notesSlide" Target="/ppt/notesSlides/notesSlide13.xml" Id="R00d6d124050a46f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16c919f3ed447ce" /><Relationship Type="http://schemas.openxmlformats.org/officeDocument/2006/relationships/notesSlide" Target="/ppt/notesSlides/notesSlide14.xml" Id="Rd7d54e6934ad4ef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4fc1137428d41dc" /><Relationship Type="http://schemas.openxmlformats.org/officeDocument/2006/relationships/notesSlide" Target="/ppt/notesSlides/notesSlide15.xml" Id="R5d4ae35972f243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96c0a7be052434c" /><Relationship Type="http://schemas.openxmlformats.org/officeDocument/2006/relationships/image" Target="/ppt/media/image2.png" Id="R01381e7dd6e348e6" /><Relationship Type="http://schemas.openxmlformats.org/officeDocument/2006/relationships/notesSlide" Target="/ppt/notesSlides/notesSlide16.xml" Id="Rb34ef5f1a78e4de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dc035e345a54b70" /><Relationship Type="http://schemas.openxmlformats.org/officeDocument/2006/relationships/notesSlide" Target="/ppt/notesSlides/notesSlide17.xml" Id="Rc2879436e48b4d0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ee6911106e34b0e" /><Relationship Type="http://schemas.openxmlformats.org/officeDocument/2006/relationships/notesSlide" Target="/ppt/notesSlides/notesSlide18.xml" Id="R8c98b85d0c5740b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ea177e501eb4bf2" /><Relationship Type="http://schemas.openxmlformats.org/officeDocument/2006/relationships/notesSlide" Target="/ppt/notesSlides/notesSlide19.xml" Id="R52d0ccfecaa8432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e5e93c58fdd4b0d" /><Relationship Type="http://schemas.openxmlformats.org/officeDocument/2006/relationships/notesSlide" Target="/ppt/notesSlides/notesSlide20.xml" Id="Rf524f3d3c8a848c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ce1a76ec7b440d" /><Relationship Type="http://schemas.openxmlformats.org/officeDocument/2006/relationships/notesSlide" Target="/ppt/notesSlides/notesSlide21.xml" Id="Re977d41e8576457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556b337e7ee4649" /><Relationship Type="http://schemas.openxmlformats.org/officeDocument/2006/relationships/notesSlide" Target="/ppt/notesSlides/notesSlide22.xml" Id="Rf60a6c949bca493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9885938-9ED0-4E3D-AE27-2F6A4FDC4FA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FB2D34D-B238-46C1-8139-3E6FF2BE306D}"/>
              </a:ext>
            </a:extLst>
          </p:cNvPr>
          <p:cNvSpPr>
            <a:spLocks xmlns:a="http://schemas.openxmlformats.org/drawingml/2006/main" noGrp="1"/>
          </p:cNvSpPr>
          <p:nvPr/>
        </p:nvSpPr>
        <p:spPr>
          <a:xfrm xmlns:a="http://schemas.openxmlformats.org/drawingml/2006/main">
            <a:off x="628650" y="55245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3D8DFF"/>
                </a:solidFill>
              </a:defRPr>
            </a:pPr>
            <a:r>
              <a:rPr sz="1125" b="1" i="0">
                <a:solidFill>
                  <a:srgbClr val="3D8DFF"/>
                </a:solidFill>
              </a:rPr>
              <a:t>INVESTMENT COURSE · UNIT 1 · LESSON 1</a:t>
            </a:r>
          </a:p>
        </p:txBody>
      </p:sp>
      <p:sp>
        <p:nvSpPr>
          <p:cNvPr id="3" name="">
            <a:extLst xmlns:a="http://schemas.openxmlformats.org/drawingml/2006/main">
              <a:ext uri="{FF2B5EF4-FFF2-40B4-BE49-F238E27FC236}">
                <a16:creationId xmlns:a16="http://schemas.microsoft.com/office/drawing/2014/main" id="{DE52B939-C6D7-4D95-AA84-FBED6AE37169}"/>
              </a:ext>
            </a:extLst>
          </p:cNvPr>
          <p:cNvSpPr>
            <a:spLocks xmlns:a="http://schemas.openxmlformats.org/drawingml/2006/main" noGrp="1"/>
          </p:cNvSpPr>
          <p:nvPr/>
        </p:nvSpPr>
        <p:spPr>
          <a:xfrm xmlns:a="http://schemas.openxmlformats.org/drawingml/2006/main">
            <a:off x="628650" y="1162050"/>
            <a:ext cx="571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5100" b="1" i="0">
                <a:solidFill>
                  <a:srgbClr val="0B2A4A"/>
                </a:solidFill>
              </a:defRPr>
            </a:pPr>
            <a:r>
              <a:rPr sz="5100" b="1" i="0">
                <a:solidFill>
                  <a:srgbClr val="0B2A4A"/>
                </a:solidFill>
              </a:rPr>
              <a:t>What is this person</a:t>
            </a:r>
          </a:p>
          <a:p xmlns:a="http://schemas.openxmlformats.org/drawingml/2006/main">
            <a:pPr algn="l">
              <a:defRPr sz="5100" b="1" i="0">
                <a:solidFill>
                  <a:srgbClr val="0B2A4A"/>
                </a:solidFill>
              </a:defRPr>
            </a:pPr>
            <a:r>
              <a:rPr sz="5100" b="1" i="0">
                <a:solidFill>
                  <a:srgbClr val="0B2A4A"/>
                </a:solidFill>
              </a:rPr>
              <a:t>doing with money?</a:t>
            </a:r>
          </a:p>
        </p:txBody>
      </p:sp>
      <p:sp>
        <p:nvSpPr>
          <p:cNvPr id="4" name="">
            <a:extLst xmlns:a="http://schemas.openxmlformats.org/drawingml/2006/main">
              <a:ext uri="{FF2B5EF4-FFF2-40B4-BE49-F238E27FC236}">
                <a16:creationId xmlns:a16="http://schemas.microsoft.com/office/drawing/2014/main" id="{5B8EC616-06DB-492B-864C-1FE13DBB6C5E}"/>
              </a:ext>
            </a:extLst>
          </p:cNvPr>
          <p:cNvSpPr>
            <a:spLocks xmlns:a="http://schemas.openxmlformats.org/drawingml/2006/main" noGrp="1"/>
          </p:cNvSpPr>
          <p:nvPr/>
        </p:nvSpPr>
        <p:spPr>
          <a:xfrm xmlns:a="http://schemas.openxmlformats.org/drawingml/2006/main">
            <a:off x="628650" y="3143250"/>
            <a:ext cx="542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3D8DFF"/>
                </a:solidFill>
              </a:defRPr>
            </a:pPr>
            <a:r>
              <a:rPr sz="2250" b="1" i="0">
                <a:solidFill>
                  <a:srgbClr val="3D8DFF"/>
                </a:solidFill>
              </a:rPr>
              <a:t>这个人在如何使用金钱？</a:t>
            </a:r>
          </a:p>
        </p:txBody>
      </p:sp>
      <p:sp>
        <p:nvSpPr>
          <p:cNvPr id="5" name="">
            <a:extLst xmlns:a="http://schemas.openxmlformats.org/drawingml/2006/main">
              <a:ext uri="{FF2B5EF4-FFF2-40B4-BE49-F238E27FC236}">
                <a16:creationId xmlns:a16="http://schemas.microsoft.com/office/drawing/2014/main" id="{7576DCE2-EBE0-4433-BB08-113E03235EF1}"/>
              </a:ext>
            </a:extLst>
          </p:cNvPr>
          <p:cNvSpPr>
            <a:spLocks xmlns:a="http://schemas.openxmlformats.org/drawingml/2006/main" noGrp="1"/>
          </p:cNvSpPr>
          <p:nvPr/>
        </p:nvSpPr>
        <p:spPr>
          <a:xfrm xmlns:a="http://schemas.openxmlformats.org/drawingml/2006/main">
            <a:off x="628650" y="3924300"/>
            <a:ext cx="4953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i="0">
                <a:solidFill>
                  <a:srgbClr val="000000"/>
                </a:solidFill>
              </a:defRPr>
            </a:pPr>
            <a:r>
              <a:rPr sz="1800" b="0" i="0">
                <a:solidFill>
                  <a:srgbClr val="000000"/>
                </a:solidFill>
              </a:rPr>
              <a:t>A case-first lesson on saving, investment, speculation, consumption and gambling</a:t>
            </a:r>
          </a:p>
        </p:txBody>
      </p:sp>
      <p:sp>
        <p:nvSpPr>
          <p:cNvPr id="6" name="">
            <a:extLst xmlns:a="http://schemas.openxmlformats.org/drawingml/2006/main">
              <a:ext uri="{FF2B5EF4-FFF2-40B4-BE49-F238E27FC236}">
                <a16:creationId xmlns:a16="http://schemas.microsoft.com/office/drawing/2014/main" id="{C31E5CF8-4E5B-42C0-AE23-6654269666B7}"/>
              </a:ext>
            </a:extLst>
          </p:cNvPr>
          <p:cNvSpPr>
            <a:spLocks xmlns:a="http://schemas.openxmlformats.org/drawingml/2006/main" noGrp="1"/>
          </p:cNvSpPr>
          <p:nvPr/>
        </p:nvSpPr>
        <p:spPr>
          <a:xfrm xmlns:a="http://schemas.openxmlformats.org/drawingml/2006/main">
            <a:off x="628650" y="5381625"/>
            <a:ext cx="4400550" cy="38100"/>
          </a:xfrm>
          <a:prstGeom xmlns:a="http://schemas.openxmlformats.org/drawingml/2006/main" prst="rect">
            <a:avLst/>
          </a:prstGeom>
          <a:solidFill xmlns:a="http://schemas.openxmlformats.org/drawingml/2006/main">
            <a:srgbClr val="6DCBF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A12D9C-CC00-4672-9861-8517F0E9920C}"/>
              </a:ext>
            </a:extLst>
          </p:cNvPr>
          <p:cNvSpPr>
            <a:spLocks xmlns:a="http://schemas.openxmlformats.org/drawingml/2006/main" noGrp="1"/>
          </p:cNvSpPr>
          <p:nvPr/>
        </p:nvSpPr>
        <p:spPr>
          <a:xfrm xmlns:a="http://schemas.openxmlformats.org/drawingml/2006/main">
            <a:off x="628650" y="55721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i="0">
                <a:solidFill>
                  <a:srgbClr val="5F6570"/>
                </a:solidFill>
              </a:defRPr>
            </a:pPr>
            <a:r>
              <a:rPr sz="1200" b="1" i="0">
                <a:solidFill>
                  <a:srgbClr val="5F6570"/>
                </a:solidFill>
              </a:rPr>
              <a:t>GRADE 9 · HANDOUT-CENTERED WORKSHOP</a:t>
            </a:r>
          </a:p>
        </p:txBody>
      </p:sp>
      <p:sp>
        <p:nvSpPr>
          <p:cNvPr id="8" name="">
            <a:extLst xmlns:a="http://schemas.openxmlformats.org/drawingml/2006/main">
              <a:ext uri="{FF2B5EF4-FFF2-40B4-BE49-F238E27FC236}">
                <a16:creationId xmlns:a16="http://schemas.microsoft.com/office/drawing/2014/main" id="{CDEF1DB0-2E75-42CD-8D23-3ED3902DE68F}"/>
              </a:ext>
            </a:extLst>
          </p:cNvPr>
          <p:cNvSpPr>
            <a:spLocks xmlns:a="http://schemas.openxmlformats.org/drawingml/2006/main" noGrp="1"/>
          </p:cNvSpPr>
          <p:nvPr/>
        </p:nvSpPr>
        <p:spPr>
          <a:xfrm xmlns:a="http://schemas.openxmlformats.org/drawingml/2006/main">
            <a:off x="6858000" y="400050"/>
            <a:ext cx="4610100" cy="6057900"/>
          </a:xfrm>
          <a:prstGeom xmlns:a="http://schemas.openxmlformats.org/drawingml/2006/main" prst="roundRect">
            <a:avLst>
              <a:gd name="adj" fmla="val 2479"/>
            </a:avLst>
          </a:prstGeom>
          <a:solidFill xmlns:a="http://schemas.openxmlformats.org/drawingml/2006/main">
            <a:srgbClr val="EDEDED"/>
          </a:solidFill>
          <a:ln xmlns:a="http://schemas.openxmlformats.org/drawingml/2006/main" w="9525">
            <a:solidFill>
              <a:srgbClr val="B8BCC4"/>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638bc5e9a7b40ee"/>
          <a:stretch xmlns:a="http://schemas.openxmlformats.org/drawingml/2006/main"/>
        </p:blipFill>
        <p:spPr>
          <a:xfrm xmlns:a="http://schemas.openxmlformats.org/drawingml/2006/main">
            <a:off x="7096125" y="754652"/>
            <a:ext cx="4133850" cy="5348696"/>
          </a:xfrm>
          <a:prstGeom xmlns:a="http://schemas.openxmlformats.org/drawingml/2006/main" prst="roundRect">
            <a:avLst>
              <a:gd name="adj" fmla="val 1843"/>
            </a:avLst>
          </a:prstGeom>
        </p:spPr>
      </p:pic>
    </p:spTree>
    <p:extLst>
      <p:ext uri="{BB962C8B-B14F-4D97-AF65-F5344CB8AC3E}">
        <p14:creationId xmlns:p14="http://schemas.microsoft.com/office/powerpoint/2010/main" val="95902358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E1726B-293B-4193-A6DD-33452178E90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7F2035E-8669-4357-A2E3-9B6E3DC18736}"/>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HOOK · 先判断</a:t>
            </a:r>
          </a:p>
        </p:txBody>
      </p:sp>
      <p:sp>
        <p:nvSpPr>
          <p:cNvPr id="3" name="">
            <a:extLst xmlns:a="http://schemas.openxmlformats.org/drawingml/2006/main">
              <a:ext uri="{FF2B5EF4-FFF2-40B4-BE49-F238E27FC236}">
                <a16:creationId xmlns:a16="http://schemas.microsoft.com/office/drawing/2014/main" id="{D24D0D75-B18D-471C-AA62-C82ACB8A7284}"/>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02</a:t>
            </a:r>
          </a:p>
        </p:txBody>
      </p:sp>
      <p:sp>
        <p:nvSpPr>
          <p:cNvPr id="4" name="">
            <a:extLst xmlns:a="http://schemas.openxmlformats.org/drawingml/2006/main">
              <a:ext uri="{FF2B5EF4-FFF2-40B4-BE49-F238E27FC236}">
                <a16:creationId xmlns:a16="http://schemas.microsoft.com/office/drawing/2014/main" id="{042953F2-A00D-4D3D-A164-9B88176AE853}"/>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781FCE31-E09A-43FA-9B31-31F280241AF5}"/>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One action. Five possible purposes.</a:t>
            </a:r>
          </a:p>
        </p:txBody>
      </p:sp>
      <p:sp>
        <p:nvSpPr>
          <p:cNvPr id="6" name="">
            <a:extLst xmlns:a="http://schemas.openxmlformats.org/drawingml/2006/main">
              <a:ext uri="{FF2B5EF4-FFF2-40B4-BE49-F238E27FC236}">
                <a16:creationId xmlns:a16="http://schemas.microsoft.com/office/drawing/2014/main" id="{584A2F6C-9A76-42C1-B49D-B336F8A218BA}"/>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同一个“花钱”动作，可能有五种目的</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00764119d574b52"/>
          <a:srcRect xmlns:a="http://schemas.openxmlformats.org/drawingml/2006/main" l="8824" t="0" r="8824" b="0"/>
          <a:stretch xmlns:a="http://schemas.openxmlformats.org/drawingml/2006/main">
            <a:fillRect l="0" t="0" r="0" b="0"/>
          </a:stretch>
        </p:blipFill>
        <p:spPr>
          <a:xfrm xmlns:a="http://schemas.openxmlformats.org/drawingml/2006/main">
            <a:off x="6381750" y="1571625"/>
            <a:ext cx="5200650" cy="4210050"/>
          </a:xfrm>
          <a:prstGeom xmlns:a="http://schemas.openxmlformats.org/drawingml/2006/main" prst="roundRect">
            <a:avLst>
              <a:gd name="adj" fmla="val 2715"/>
            </a:avLst>
          </a:prstGeom>
        </p:spPr>
      </p:pic>
      <p:sp>
        <p:nvSpPr>
          <p:cNvPr id="8" name="">
            <a:extLst xmlns:a="http://schemas.openxmlformats.org/drawingml/2006/main">
              <a:ext uri="{FF2B5EF4-FFF2-40B4-BE49-F238E27FC236}">
                <a16:creationId xmlns:a16="http://schemas.microsoft.com/office/drawing/2014/main" id="{A9EC5751-3378-4F63-979D-A2C17F99A61C}"/>
              </a:ext>
            </a:extLst>
          </p:cNvPr>
          <p:cNvSpPr>
            <a:spLocks xmlns:a="http://schemas.openxmlformats.org/drawingml/2006/main" noGrp="1"/>
          </p:cNvSpPr>
          <p:nvPr/>
        </p:nvSpPr>
        <p:spPr>
          <a:xfrm xmlns:a="http://schemas.openxmlformats.org/drawingml/2006/main">
            <a:off x="609600" y="176212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0B2A4A"/>
                </a:solidFill>
              </a:defRPr>
            </a:pPr>
            <a:r>
              <a:rPr sz="2250" b="1" i="0">
                <a:solidFill>
                  <a:srgbClr val="0B2A4A"/>
                </a:solidFill>
              </a:rPr>
              <a:t>A student puts CNY 1,000 aside.</a:t>
            </a:r>
          </a:p>
        </p:txBody>
      </p:sp>
      <p:sp>
        <p:nvSpPr>
          <p:cNvPr id="9" name="">
            <a:extLst xmlns:a="http://schemas.openxmlformats.org/drawingml/2006/main">
              <a:ext uri="{FF2B5EF4-FFF2-40B4-BE49-F238E27FC236}">
                <a16:creationId xmlns:a16="http://schemas.microsoft.com/office/drawing/2014/main" id="{4157B9EB-9D91-4030-B6C9-2275C0CBB23A}"/>
              </a:ext>
            </a:extLst>
          </p:cNvPr>
          <p:cNvSpPr>
            <a:spLocks xmlns:a="http://schemas.openxmlformats.org/drawingml/2006/main" noGrp="1"/>
          </p:cNvSpPr>
          <p:nvPr/>
        </p:nvSpPr>
        <p:spPr>
          <a:xfrm xmlns:a="http://schemas.openxmlformats.org/drawingml/2006/main">
            <a:off x="609600" y="2362200"/>
            <a:ext cx="4953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0" i="0">
                <a:solidFill>
                  <a:srgbClr val="000000"/>
                </a:solidFill>
              </a:defRPr>
            </a:pPr>
            <a:r>
              <a:rPr sz="2025" b="0" i="0">
                <a:solidFill>
                  <a:srgbClr val="000000"/>
                </a:solidFill>
              </a:rPr>
              <a:t>What extra information would you need before you classify the decision?</a:t>
            </a:r>
          </a:p>
        </p:txBody>
      </p:sp>
      <p:sp>
        <p:nvSpPr>
          <p:cNvPr id="10" name="">
            <a:extLst xmlns:a="http://schemas.openxmlformats.org/drawingml/2006/main">
              <a:ext uri="{FF2B5EF4-FFF2-40B4-BE49-F238E27FC236}">
                <a16:creationId xmlns:a16="http://schemas.microsoft.com/office/drawing/2014/main" id="{0F990679-66B1-4B55-AC25-F71B7200BDBF}"/>
              </a:ext>
            </a:extLst>
          </p:cNvPr>
          <p:cNvSpPr>
            <a:spLocks xmlns:a="http://schemas.openxmlformats.org/drawingml/2006/main" noGrp="1"/>
          </p:cNvSpPr>
          <p:nvPr/>
        </p:nvSpPr>
        <p:spPr>
          <a:xfrm xmlns:a="http://schemas.openxmlformats.org/drawingml/2006/main">
            <a:off x="609600" y="35242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3D8DFF"/>
                </a:solidFill>
              </a:defRPr>
            </a:pPr>
            <a:r>
              <a:rPr sz="1500" b="1" i="0">
                <a:solidFill>
                  <a:srgbClr val="3D8DFF"/>
                </a:solidFill>
              </a:rPr>
              <a:t>01</a:t>
            </a:r>
          </a:p>
        </p:txBody>
      </p:sp>
      <p:sp>
        <p:nvSpPr>
          <p:cNvPr id="11" name="">
            <a:extLst xmlns:a="http://schemas.openxmlformats.org/drawingml/2006/main">
              <a:ext uri="{FF2B5EF4-FFF2-40B4-BE49-F238E27FC236}">
                <a16:creationId xmlns:a16="http://schemas.microsoft.com/office/drawing/2014/main" id="{0BBEE963-C90E-4238-B420-3FEFC7660A03}"/>
              </a:ext>
            </a:extLst>
          </p:cNvPr>
          <p:cNvSpPr>
            <a:spLocks xmlns:a="http://schemas.openxmlformats.org/drawingml/2006/main" noGrp="1"/>
          </p:cNvSpPr>
          <p:nvPr/>
        </p:nvSpPr>
        <p:spPr>
          <a:xfrm xmlns:a="http://schemas.openxmlformats.org/drawingml/2006/main">
            <a:off x="1123950" y="35242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purpose / 目的</a:t>
            </a:r>
          </a:p>
        </p:txBody>
      </p:sp>
      <p:sp>
        <p:nvSpPr>
          <p:cNvPr id="12" name="">
            <a:extLst xmlns:a="http://schemas.openxmlformats.org/drawingml/2006/main">
              <a:ext uri="{FF2B5EF4-FFF2-40B4-BE49-F238E27FC236}">
                <a16:creationId xmlns:a16="http://schemas.microsoft.com/office/drawing/2014/main" id="{7CFC8EB8-3FE8-4989-87B9-11F70D9B78D8}"/>
              </a:ext>
            </a:extLst>
          </p:cNvPr>
          <p:cNvSpPr>
            <a:spLocks xmlns:a="http://schemas.openxmlformats.org/drawingml/2006/main" noGrp="1"/>
          </p:cNvSpPr>
          <p:nvPr/>
        </p:nvSpPr>
        <p:spPr>
          <a:xfrm xmlns:a="http://schemas.openxmlformats.org/drawingml/2006/main">
            <a:off x="609600" y="40195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3D8DFF"/>
                </a:solidFill>
              </a:defRPr>
            </a:pPr>
            <a:r>
              <a:rPr sz="1500" b="1" i="0">
                <a:solidFill>
                  <a:srgbClr val="3D8DFF"/>
                </a:solidFill>
              </a:rPr>
              <a:t>02</a:t>
            </a:r>
          </a:p>
        </p:txBody>
      </p:sp>
      <p:sp>
        <p:nvSpPr>
          <p:cNvPr id="13" name="">
            <a:extLst xmlns:a="http://schemas.openxmlformats.org/drawingml/2006/main">
              <a:ext uri="{FF2B5EF4-FFF2-40B4-BE49-F238E27FC236}">
                <a16:creationId xmlns:a16="http://schemas.microsoft.com/office/drawing/2014/main" id="{A243C137-1EF3-4D5C-9252-187C3D7A4F70}"/>
              </a:ext>
            </a:extLst>
          </p:cNvPr>
          <p:cNvSpPr>
            <a:spLocks xmlns:a="http://schemas.openxmlformats.org/drawingml/2006/main" noGrp="1"/>
          </p:cNvSpPr>
          <p:nvPr/>
        </p:nvSpPr>
        <p:spPr>
          <a:xfrm xmlns:a="http://schemas.openxmlformats.org/drawingml/2006/main">
            <a:off x="1123950" y="4019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time / 时间</a:t>
            </a:r>
          </a:p>
        </p:txBody>
      </p:sp>
      <p:sp>
        <p:nvSpPr>
          <p:cNvPr id="14" name="">
            <a:extLst xmlns:a="http://schemas.openxmlformats.org/drawingml/2006/main">
              <a:ext uri="{FF2B5EF4-FFF2-40B4-BE49-F238E27FC236}">
                <a16:creationId xmlns:a16="http://schemas.microsoft.com/office/drawing/2014/main" id="{DD10AB61-A361-4F3C-81CB-046A45620034}"/>
              </a:ext>
            </a:extLst>
          </p:cNvPr>
          <p:cNvSpPr>
            <a:spLocks xmlns:a="http://schemas.openxmlformats.org/drawingml/2006/main" noGrp="1"/>
          </p:cNvSpPr>
          <p:nvPr/>
        </p:nvSpPr>
        <p:spPr>
          <a:xfrm xmlns:a="http://schemas.openxmlformats.org/drawingml/2006/main">
            <a:off x="609600" y="45148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3D8DFF"/>
                </a:solidFill>
              </a:defRPr>
            </a:pPr>
            <a:r>
              <a:rPr sz="1500" b="1" i="0">
                <a:solidFill>
                  <a:srgbClr val="3D8DFF"/>
                </a:solidFill>
              </a:rPr>
              <a:t>03</a:t>
            </a:r>
          </a:p>
        </p:txBody>
      </p:sp>
      <p:sp>
        <p:nvSpPr>
          <p:cNvPr id="15" name="">
            <a:extLst xmlns:a="http://schemas.openxmlformats.org/drawingml/2006/main">
              <a:ext uri="{FF2B5EF4-FFF2-40B4-BE49-F238E27FC236}">
                <a16:creationId xmlns:a16="http://schemas.microsoft.com/office/drawing/2014/main" id="{3E447C3E-F6D7-4BE1-AC75-F93FE25EE265}"/>
              </a:ext>
            </a:extLst>
          </p:cNvPr>
          <p:cNvSpPr>
            <a:spLocks xmlns:a="http://schemas.openxmlformats.org/drawingml/2006/main" noGrp="1"/>
          </p:cNvSpPr>
          <p:nvPr/>
        </p:nvSpPr>
        <p:spPr>
          <a:xfrm xmlns:a="http://schemas.openxmlformats.org/drawingml/2006/main">
            <a:off x="1123950" y="45148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payoff source / 回报来源</a:t>
            </a:r>
          </a:p>
        </p:txBody>
      </p:sp>
      <p:sp>
        <p:nvSpPr>
          <p:cNvPr id="16" name="">
            <a:extLst xmlns:a="http://schemas.openxmlformats.org/drawingml/2006/main">
              <a:ext uri="{FF2B5EF4-FFF2-40B4-BE49-F238E27FC236}">
                <a16:creationId xmlns:a16="http://schemas.microsoft.com/office/drawing/2014/main" id="{BFB1F361-5586-4559-BA98-8A6F8FFB5032}"/>
              </a:ext>
            </a:extLst>
          </p:cNvPr>
          <p:cNvSpPr>
            <a:spLocks xmlns:a="http://schemas.openxmlformats.org/drawingml/2006/main" noGrp="1"/>
          </p:cNvSpPr>
          <p:nvPr/>
        </p:nvSpPr>
        <p:spPr>
          <a:xfrm xmlns:a="http://schemas.openxmlformats.org/drawingml/2006/main">
            <a:off x="609600" y="5010150"/>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3D8DFF"/>
                </a:solidFill>
              </a:defRPr>
            </a:pPr>
            <a:r>
              <a:rPr sz="1500" b="1" i="0">
                <a:solidFill>
                  <a:srgbClr val="3D8DFF"/>
                </a:solidFill>
              </a:rPr>
              <a:t>04</a:t>
            </a:r>
          </a:p>
        </p:txBody>
      </p:sp>
      <p:sp>
        <p:nvSpPr>
          <p:cNvPr id="17" name="">
            <a:extLst xmlns:a="http://schemas.openxmlformats.org/drawingml/2006/main">
              <a:ext uri="{FF2B5EF4-FFF2-40B4-BE49-F238E27FC236}">
                <a16:creationId xmlns:a16="http://schemas.microsoft.com/office/drawing/2014/main" id="{CDC9F877-00C4-42AC-8DB2-BFCF1791E679}"/>
              </a:ext>
            </a:extLst>
          </p:cNvPr>
          <p:cNvSpPr>
            <a:spLocks xmlns:a="http://schemas.openxmlformats.org/drawingml/2006/main" noGrp="1"/>
          </p:cNvSpPr>
          <p:nvPr/>
        </p:nvSpPr>
        <p:spPr>
          <a:xfrm xmlns:a="http://schemas.openxmlformats.org/drawingml/2006/main">
            <a:off x="1123950" y="50101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risk / 风险</a:t>
            </a:r>
          </a:p>
        </p:txBody>
      </p:sp>
    </p:spTree>
    <p:extLst>
      <p:ext uri="{BB962C8B-B14F-4D97-AF65-F5344CB8AC3E}">
        <p14:creationId xmlns:p14="http://schemas.microsoft.com/office/powerpoint/2010/main" val="9365019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D65721C-B0EB-44B3-8196-02667DECF02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9FAD80-FA63-4011-B7B6-7C71D563F7BF}"/>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TODAY'S TARGETS · 学习目标</a:t>
            </a:r>
          </a:p>
        </p:txBody>
      </p:sp>
      <p:sp>
        <p:nvSpPr>
          <p:cNvPr id="3" name="">
            <a:extLst xmlns:a="http://schemas.openxmlformats.org/drawingml/2006/main">
              <a:ext uri="{FF2B5EF4-FFF2-40B4-BE49-F238E27FC236}">
                <a16:creationId xmlns:a16="http://schemas.microsoft.com/office/drawing/2014/main" id="{AE65AE5F-BC37-4021-9A3B-EFB0A4C12DEB}"/>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03</a:t>
            </a:r>
          </a:p>
        </p:txBody>
      </p:sp>
      <p:sp>
        <p:nvSpPr>
          <p:cNvPr id="4" name="">
            <a:extLst xmlns:a="http://schemas.openxmlformats.org/drawingml/2006/main">
              <a:ext uri="{FF2B5EF4-FFF2-40B4-BE49-F238E27FC236}">
                <a16:creationId xmlns:a16="http://schemas.microsoft.com/office/drawing/2014/main" id="{C2B8CA9E-B829-44A4-B1DE-64728EAD64A3}"/>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74873B3F-9506-4CC3-86EA-F5EF755E2AE6}"/>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By the end, you can…</a:t>
            </a:r>
          </a:p>
        </p:txBody>
      </p:sp>
      <p:sp>
        <p:nvSpPr>
          <p:cNvPr id="6" name="">
            <a:extLst xmlns:a="http://schemas.openxmlformats.org/drawingml/2006/main">
              <a:ext uri="{FF2B5EF4-FFF2-40B4-BE49-F238E27FC236}">
                <a16:creationId xmlns:a16="http://schemas.microsoft.com/office/drawing/2014/main" id="{0FD6AD29-7031-4A06-BA0D-3D3A3A364C29}"/>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本课结束时，你能够……</a:t>
            </a:r>
          </a:p>
        </p:txBody>
      </p:sp>
      <p:sp>
        <p:nvSpPr>
          <p:cNvPr id="7" name="">
            <a:extLst xmlns:a="http://schemas.openxmlformats.org/drawingml/2006/main">
              <a:ext uri="{FF2B5EF4-FFF2-40B4-BE49-F238E27FC236}">
                <a16:creationId xmlns:a16="http://schemas.microsoft.com/office/drawing/2014/main" id="{3E78DBF9-8387-4FC9-B5D4-35DC0518C336}"/>
              </a:ext>
            </a:extLst>
          </p:cNvPr>
          <p:cNvSpPr>
            <a:spLocks xmlns:a="http://schemas.openxmlformats.org/drawingml/2006/main" noGrp="1"/>
          </p:cNvSpPr>
          <p:nvPr/>
        </p:nvSpPr>
        <p:spPr>
          <a:xfrm xmlns:a="http://schemas.openxmlformats.org/drawingml/2006/main">
            <a:off x="685800" y="1809750"/>
            <a:ext cx="704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3D8DFF"/>
                </a:solidFill>
              </a:defRPr>
            </a:pPr>
            <a:r>
              <a:rPr sz="2550" b="1" i="0">
                <a:solidFill>
                  <a:srgbClr val="3D8DFF"/>
                </a:solidFill>
              </a:rPr>
              <a:t>01</a:t>
            </a:r>
          </a:p>
        </p:txBody>
      </p:sp>
      <p:sp>
        <p:nvSpPr>
          <p:cNvPr id="8" name="">
            <a:extLst xmlns:a="http://schemas.openxmlformats.org/drawingml/2006/main">
              <a:ext uri="{FF2B5EF4-FFF2-40B4-BE49-F238E27FC236}">
                <a16:creationId xmlns:a16="http://schemas.microsoft.com/office/drawing/2014/main" id="{A5BFA7F1-199A-402D-8ABC-E0D3CD08F481}"/>
              </a:ext>
            </a:extLst>
          </p:cNvPr>
          <p:cNvSpPr>
            <a:spLocks xmlns:a="http://schemas.openxmlformats.org/drawingml/2006/main" noGrp="1"/>
          </p:cNvSpPr>
          <p:nvPr/>
        </p:nvSpPr>
        <p:spPr>
          <a:xfrm xmlns:a="http://schemas.openxmlformats.org/drawingml/2006/main">
            <a:off x="1619250" y="18097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2A4A"/>
                </a:solidFill>
              </a:defRPr>
            </a:pPr>
            <a:r>
              <a:rPr sz="2025" b="1" i="0">
                <a:solidFill>
                  <a:srgbClr val="0B2A4A"/>
                </a:solidFill>
              </a:rPr>
              <a:t>Classify / 分类</a:t>
            </a:r>
          </a:p>
        </p:txBody>
      </p:sp>
      <p:sp>
        <p:nvSpPr>
          <p:cNvPr id="9" name="">
            <a:extLst xmlns:a="http://schemas.openxmlformats.org/drawingml/2006/main">
              <a:ext uri="{FF2B5EF4-FFF2-40B4-BE49-F238E27FC236}">
                <a16:creationId xmlns:a16="http://schemas.microsoft.com/office/drawing/2014/main" id="{A20C7D23-01E5-445D-A807-C6E484C6FDF1}"/>
              </a:ext>
            </a:extLst>
          </p:cNvPr>
          <p:cNvSpPr>
            <a:spLocks xmlns:a="http://schemas.openxmlformats.org/drawingml/2006/main" noGrp="1"/>
          </p:cNvSpPr>
          <p:nvPr/>
        </p:nvSpPr>
        <p:spPr>
          <a:xfrm xmlns:a="http://schemas.openxmlformats.org/drawingml/2006/main">
            <a:off x="5429250" y="1809750"/>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identify the main type of money decision from a case</a:t>
            </a:r>
          </a:p>
        </p:txBody>
      </p:sp>
      <p:sp>
        <p:nvSpPr>
          <p:cNvPr id="10" name="">
            <a:extLst xmlns:a="http://schemas.openxmlformats.org/drawingml/2006/main">
              <a:ext uri="{FF2B5EF4-FFF2-40B4-BE49-F238E27FC236}">
                <a16:creationId xmlns:a16="http://schemas.microsoft.com/office/drawing/2014/main" id="{72F88D86-B697-41ED-B200-766BF0A98EFE}"/>
              </a:ext>
            </a:extLst>
          </p:cNvPr>
          <p:cNvSpPr>
            <a:spLocks xmlns:a="http://schemas.openxmlformats.org/drawingml/2006/main" noGrp="1"/>
          </p:cNvSpPr>
          <p:nvPr/>
        </p:nvSpPr>
        <p:spPr>
          <a:xfrm xmlns:a="http://schemas.openxmlformats.org/drawingml/2006/main">
            <a:off x="685800" y="2495550"/>
            <a:ext cx="105537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B6D5B57-E1F2-4C89-9B7B-856DFDC7362D}"/>
              </a:ext>
            </a:extLst>
          </p:cNvPr>
          <p:cNvSpPr>
            <a:spLocks xmlns:a="http://schemas.openxmlformats.org/drawingml/2006/main" noGrp="1"/>
          </p:cNvSpPr>
          <p:nvPr/>
        </p:nvSpPr>
        <p:spPr>
          <a:xfrm xmlns:a="http://schemas.openxmlformats.org/drawingml/2006/main">
            <a:off x="685800" y="2952750"/>
            <a:ext cx="704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48B788"/>
                </a:solidFill>
              </a:defRPr>
            </a:pPr>
            <a:r>
              <a:rPr sz="2550" b="1" i="0">
                <a:solidFill>
                  <a:srgbClr val="48B788"/>
                </a:solidFill>
              </a:rPr>
              <a:t>02</a:t>
            </a:r>
          </a:p>
        </p:txBody>
      </p:sp>
      <p:sp>
        <p:nvSpPr>
          <p:cNvPr id="12" name="">
            <a:extLst xmlns:a="http://schemas.openxmlformats.org/drawingml/2006/main">
              <a:ext uri="{FF2B5EF4-FFF2-40B4-BE49-F238E27FC236}">
                <a16:creationId xmlns:a16="http://schemas.microsoft.com/office/drawing/2014/main" id="{CF640474-DCAC-45E2-8895-7E61F5E4490B}"/>
              </a:ext>
            </a:extLst>
          </p:cNvPr>
          <p:cNvSpPr>
            <a:spLocks xmlns:a="http://schemas.openxmlformats.org/drawingml/2006/main" noGrp="1"/>
          </p:cNvSpPr>
          <p:nvPr/>
        </p:nvSpPr>
        <p:spPr>
          <a:xfrm xmlns:a="http://schemas.openxmlformats.org/drawingml/2006/main">
            <a:off x="1619250" y="29527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2A4A"/>
                </a:solidFill>
              </a:defRPr>
            </a:pPr>
            <a:r>
              <a:rPr sz="2025" b="1" i="0">
                <a:solidFill>
                  <a:srgbClr val="0B2A4A"/>
                </a:solidFill>
              </a:rPr>
              <a:t>Explain / 解释</a:t>
            </a:r>
          </a:p>
        </p:txBody>
      </p:sp>
      <p:sp>
        <p:nvSpPr>
          <p:cNvPr id="13" name="">
            <a:extLst xmlns:a="http://schemas.openxmlformats.org/drawingml/2006/main">
              <a:ext uri="{FF2B5EF4-FFF2-40B4-BE49-F238E27FC236}">
                <a16:creationId xmlns:a16="http://schemas.microsoft.com/office/drawing/2014/main" id="{6BB04A90-690A-48A2-87C7-CACDD4F32D0E}"/>
              </a:ext>
            </a:extLst>
          </p:cNvPr>
          <p:cNvSpPr>
            <a:spLocks xmlns:a="http://schemas.openxmlformats.org/drawingml/2006/main" noGrp="1"/>
          </p:cNvSpPr>
          <p:nvPr/>
        </p:nvSpPr>
        <p:spPr>
          <a:xfrm xmlns:a="http://schemas.openxmlformats.org/drawingml/2006/main">
            <a:off x="5429250" y="2952750"/>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use a decisive clue about purpose, payoff, time, evidence or risk</a:t>
            </a:r>
          </a:p>
        </p:txBody>
      </p:sp>
      <p:sp>
        <p:nvSpPr>
          <p:cNvPr id="14" name="">
            <a:extLst xmlns:a="http://schemas.openxmlformats.org/drawingml/2006/main">
              <a:ext uri="{FF2B5EF4-FFF2-40B4-BE49-F238E27FC236}">
                <a16:creationId xmlns:a16="http://schemas.microsoft.com/office/drawing/2014/main" id="{E67045D2-03A0-430C-AD81-9F6925AE7C15}"/>
              </a:ext>
            </a:extLst>
          </p:cNvPr>
          <p:cNvSpPr>
            <a:spLocks xmlns:a="http://schemas.openxmlformats.org/drawingml/2006/main" noGrp="1"/>
          </p:cNvSpPr>
          <p:nvPr/>
        </p:nvSpPr>
        <p:spPr>
          <a:xfrm xmlns:a="http://schemas.openxmlformats.org/drawingml/2006/main">
            <a:off x="685800" y="3638550"/>
            <a:ext cx="105537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F5011D2-8E62-428E-AFBE-F85B80E7351C}"/>
              </a:ext>
            </a:extLst>
          </p:cNvPr>
          <p:cNvSpPr>
            <a:spLocks xmlns:a="http://schemas.openxmlformats.org/drawingml/2006/main" noGrp="1"/>
          </p:cNvSpPr>
          <p:nvPr/>
        </p:nvSpPr>
        <p:spPr>
          <a:xfrm xmlns:a="http://schemas.openxmlformats.org/drawingml/2006/main">
            <a:off x="685800" y="4095750"/>
            <a:ext cx="704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F4A261"/>
                </a:solidFill>
              </a:defRPr>
            </a:pPr>
            <a:r>
              <a:rPr sz="2550" b="1" i="0">
                <a:solidFill>
                  <a:srgbClr val="F4A261"/>
                </a:solidFill>
              </a:rPr>
              <a:t>03</a:t>
            </a:r>
          </a:p>
        </p:txBody>
      </p:sp>
      <p:sp>
        <p:nvSpPr>
          <p:cNvPr id="16" name="">
            <a:extLst xmlns:a="http://schemas.openxmlformats.org/drawingml/2006/main">
              <a:ext uri="{FF2B5EF4-FFF2-40B4-BE49-F238E27FC236}">
                <a16:creationId xmlns:a16="http://schemas.microsoft.com/office/drawing/2014/main" id="{A3E20386-CFB2-4AE8-A6C5-299DAFED77D6}"/>
              </a:ext>
            </a:extLst>
          </p:cNvPr>
          <p:cNvSpPr>
            <a:spLocks xmlns:a="http://schemas.openxmlformats.org/drawingml/2006/main" noGrp="1"/>
          </p:cNvSpPr>
          <p:nvPr/>
        </p:nvSpPr>
        <p:spPr>
          <a:xfrm xmlns:a="http://schemas.openxmlformats.org/drawingml/2006/main">
            <a:off x="1619250" y="4095750"/>
            <a:ext cx="371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2A4A"/>
                </a:solidFill>
              </a:defRPr>
            </a:pPr>
            <a:r>
              <a:rPr sz="2025" b="1" i="0">
                <a:solidFill>
                  <a:srgbClr val="0B2A4A"/>
                </a:solidFill>
              </a:rPr>
              <a:t>Compare / 比较</a:t>
            </a:r>
          </a:p>
        </p:txBody>
      </p:sp>
      <p:sp>
        <p:nvSpPr>
          <p:cNvPr id="17" name="">
            <a:extLst xmlns:a="http://schemas.openxmlformats.org/drawingml/2006/main">
              <a:ext uri="{FF2B5EF4-FFF2-40B4-BE49-F238E27FC236}">
                <a16:creationId xmlns:a16="http://schemas.microsoft.com/office/drawing/2014/main" id="{BC7B10BA-CC8F-4904-89F4-3CD435846220}"/>
              </a:ext>
            </a:extLst>
          </p:cNvPr>
          <p:cNvSpPr>
            <a:spLocks xmlns:a="http://schemas.openxmlformats.org/drawingml/2006/main" noGrp="1"/>
          </p:cNvSpPr>
          <p:nvPr/>
        </p:nvSpPr>
        <p:spPr>
          <a:xfrm xmlns:a="http://schemas.openxmlformats.org/drawingml/2006/main">
            <a:off x="5429250" y="4095750"/>
            <a:ext cx="5810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show why a nearby category is weaker—even when the asset is the same</a:t>
            </a:r>
          </a:p>
        </p:txBody>
      </p:sp>
      <p:sp>
        <p:nvSpPr>
          <p:cNvPr id="18" name="">
            <a:extLst xmlns:a="http://schemas.openxmlformats.org/drawingml/2006/main">
              <a:ext uri="{FF2B5EF4-FFF2-40B4-BE49-F238E27FC236}">
                <a16:creationId xmlns:a16="http://schemas.microsoft.com/office/drawing/2014/main" id="{2BDB21AF-BC97-4807-A294-BD06FC4D8DFF}"/>
              </a:ext>
            </a:extLst>
          </p:cNvPr>
          <p:cNvSpPr>
            <a:spLocks xmlns:a="http://schemas.openxmlformats.org/drawingml/2006/main" noGrp="1"/>
          </p:cNvSpPr>
          <p:nvPr/>
        </p:nvSpPr>
        <p:spPr>
          <a:xfrm xmlns:a="http://schemas.openxmlformats.org/drawingml/2006/main">
            <a:off x="685800" y="4781550"/>
            <a:ext cx="105537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Tree>
    <p:extLst>
      <p:ext uri="{BB962C8B-B14F-4D97-AF65-F5344CB8AC3E}">
        <p14:creationId xmlns:p14="http://schemas.microsoft.com/office/powerpoint/2010/main" val="579899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0B7B84A-7CB2-4204-A8C8-36B126654D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2A4EBE-6EDC-40F0-A3C6-FA6CF03B8368}"/>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RETRIEVAL · 先写后说</a:t>
            </a:r>
          </a:p>
        </p:txBody>
      </p:sp>
      <p:sp>
        <p:nvSpPr>
          <p:cNvPr id="3" name="">
            <a:extLst xmlns:a="http://schemas.openxmlformats.org/drawingml/2006/main">
              <a:ext uri="{FF2B5EF4-FFF2-40B4-BE49-F238E27FC236}">
                <a16:creationId xmlns:a16="http://schemas.microsoft.com/office/drawing/2014/main" id="{7F2BE50C-D2C5-4352-9222-C9F584C4BA2C}"/>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04</a:t>
            </a:r>
          </a:p>
        </p:txBody>
      </p:sp>
      <p:sp>
        <p:nvSpPr>
          <p:cNvPr id="4" name="">
            <a:extLst xmlns:a="http://schemas.openxmlformats.org/drawingml/2006/main">
              <a:ext uri="{FF2B5EF4-FFF2-40B4-BE49-F238E27FC236}">
                <a16:creationId xmlns:a16="http://schemas.microsoft.com/office/drawing/2014/main" id="{12879073-5D2A-4D80-A991-B0DD2DA1EBB9}"/>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A7A6E331-528E-4A5A-96F5-F9502654AD8B}"/>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Write first. Then compare.</a:t>
            </a:r>
          </a:p>
        </p:txBody>
      </p:sp>
      <p:sp>
        <p:nvSpPr>
          <p:cNvPr id="6" name="">
            <a:extLst xmlns:a="http://schemas.openxmlformats.org/drawingml/2006/main">
              <a:ext uri="{FF2B5EF4-FFF2-40B4-BE49-F238E27FC236}">
                <a16:creationId xmlns:a16="http://schemas.microsoft.com/office/drawing/2014/main" id="{8D277168-7CAA-422A-B573-EFA528C76FFD}"/>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先独立写，再比较</a:t>
            </a:r>
          </a:p>
        </p:txBody>
      </p:sp>
      <p:sp>
        <p:nvSpPr>
          <p:cNvPr id="7" name="">
            <a:extLst xmlns:a="http://schemas.openxmlformats.org/drawingml/2006/main">
              <a:ext uri="{FF2B5EF4-FFF2-40B4-BE49-F238E27FC236}">
                <a16:creationId xmlns:a16="http://schemas.microsoft.com/office/drawing/2014/main" id="{1C97D802-BEF4-49F8-8718-6700D4D72283}"/>
              </a:ext>
            </a:extLst>
          </p:cNvPr>
          <p:cNvSpPr>
            <a:spLocks xmlns:a="http://schemas.openxmlformats.org/drawingml/2006/main" noGrp="1"/>
          </p:cNvSpPr>
          <p:nvPr/>
        </p:nvSpPr>
        <p:spPr>
          <a:xfrm xmlns:a="http://schemas.openxmlformats.org/drawingml/2006/main">
            <a:off x="609600" y="1619250"/>
            <a:ext cx="10972800" cy="3619500"/>
          </a:xfrm>
          <a:prstGeom xmlns:a="http://schemas.openxmlformats.org/drawingml/2006/main" prst="rect">
            <a:avLst/>
          </a:prstGeom>
          <a:solidFill xmlns:a="http://schemas.openxmlformats.org/drawingml/2006/main">
            <a:srgbClr val="0B2A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464C2D-84AB-4817-A916-545253D39A15}"/>
              </a:ext>
            </a:extLst>
          </p:cNvPr>
          <p:cNvSpPr>
            <a:spLocks xmlns:a="http://schemas.openxmlformats.org/drawingml/2006/main" noGrp="1"/>
          </p:cNvSpPr>
          <p:nvPr/>
        </p:nvSpPr>
        <p:spPr>
          <a:xfrm xmlns:a="http://schemas.openxmlformats.org/drawingml/2006/main">
            <a:off x="876300" y="196215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6DCBF4"/>
                </a:solidFill>
              </a:defRPr>
            </a:pPr>
            <a:r>
              <a:rPr sz="2400" b="1" i="0">
                <a:solidFill>
                  <a:srgbClr val="6DCBF4"/>
                </a:solidFill>
              </a:rPr>
              <a:t>01</a:t>
            </a:r>
          </a:p>
        </p:txBody>
      </p:sp>
      <p:sp>
        <p:nvSpPr>
          <p:cNvPr id="9" name="">
            <a:extLst xmlns:a="http://schemas.openxmlformats.org/drawingml/2006/main">
              <a:ext uri="{FF2B5EF4-FFF2-40B4-BE49-F238E27FC236}">
                <a16:creationId xmlns:a16="http://schemas.microsoft.com/office/drawing/2014/main" id="{0CE375C3-3210-423F-8DD9-763D50F6B9BE}"/>
              </a:ext>
            </a:extLst>
          </p:cNvPr>
          <p:cNvSpPr>
            <a:spLocks xmlns:a="http://schemas.openxmlformats.org/drawingml/2006/main" noGrp="1"/>
          </p:cNvSpPr>
          <p:nvPr/>
        </p:nvSpPr>
        <p:spPr>
          <a:xfrm xmlns:a="http://schemas.openxmlformats.org/drawingml/2006/main">
            <a:off x="1714500" y="1962150"/>
            <a:ext cx="838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What makes a goal usable?</a:t>
            </a:r>
          </a:p>
        </p:txBody>
      </p:sp>
      <p:sp>
        <p:nvSpPr>
          <p:cNvPr id="10" name="">
            <a:extLst xmlns:a="http://schemas.openxmlformats.org/drawingml/2006/main">
              <a:ext uri="{FF2B5EF4-FFF2-40B4-BE49-F238E27FC236}">
                <a16:creationId xmlns:a16="http://schemas.microsoft.com/office/drawing/2014/main" id="{BFC77549-BBD5-48BA-9005-974884D86E8E}"/>
              </a:ext>
            </a:extLst>
          </p:cNvPr>
          <p:cNvSpPr>
            <a:spLocks xmlns:a="http://schemas.openxmlformats.org/drawingml/2006/main" noGrp="1"/>
          </p:cNvSpPr>
          <p:nvPr/>
        </p:nvSpPr>
        <p:spPr>
          <a:xfrm xmlns:a="http://schemas.openxmlformats.org/drawingml/2006/main">
            <a:off x="1714500" y="236220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6DCBF4"/>
                </a:solidFill>
              </a:defRPr>
            </a:pPr>
            <a:r>
              <a:rPr sz="1425" b="0" i="0">
                <a:solidFill>
                  <a:srgbClr val="6DCBF4"/>
                </a:solidFill>
              </a:rPr>
              <a:t>什么使财务目标可用于决策？</a:t>
            </a:r>
          </a:p>
        </p:txBody>
      </p:sp>
      <p:sp>
        <p:nvSpPr>
          <p:cNvPr id="11" name="">
            <a:extLst xmlns:a="http://schemas.openxmlformats.org/drawingml/2006/main">
              <a:ext uri="{FF2B5EF4-FFF2-40B4-BE49-F238E27FC236}">
                <a16:creationId xmlns:a16="http://schemas.microsoft.com/office/drawing/2014/main" id="{D82D867A-AB7C-4068-B12D-E87FAB686DE7}"/>
              </a:ext>
            </a:extLst>
          </p:cNvPr>
          <p:cNvSpPr>
            <a:spLocks xmlns:a="http://schemas.openxmlformats.org/drawingml/2006/main" noGrp="1"/>
          </p:cNvSpPr>
          <p:nvPr/>
        </p:nvSpPr>
        <p:spPr>
          <a:xfrm xmlns:a="http://schemas.openxmlformats.org/drawingml/2006/main">
            <a:off x="876300" y="2962275"/>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6DCBF4"/>
                </a:solidFill>
              </a:defRPr>
            </a:pPr>
            <a:r>
              <a:rPr sz="2400" b="1" i="0">
                <a:solidFill>
                  <a:srgbClr val="6DCBF4"/>
                </a:solidFill>
              </a:rPr>
              <a:t>02</a:t>
            </a:r>
          </a:p>
        </p:txBody>
      </p:sp>
      <p:sp>
        <p:nvSpPr>
          <p:cNvPr id="12" name="">
            <a:extLst xmlns:a="http://schemas.openxmlformats.org/drawingml/2006/main">
              <a:ext uri="{FF2B5EF4-FFF2-40B4-BE49-F238E27FC236}">
                <a16:creationId xmlns:a16="http://schemas.microsoft.com/office/drawing/2014/main" id="{A08C5A51-3377-493D-BB85-4685AE3353FB}"/>
              </a:ext>
            </a:extLst>
          </p:cNvPr>
          <p:cNvSpPr>
            <a:spLocks xmlns:a="http://schemas.openxmlformats.org/drawingml/2006/main" noGrp="1"/>
          </p:cNvSpPr>
          <p:nvPr/>
        </p:nvSpPr>
        <p:spPr>
          <a:xfrm xmlns:a="http://schemas.openxmlformats.org/drawingml/2006/main">
            <a:off x="1714500" y="2962275"/>
            <a:ext cx="838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Where can an investment return come from?</a:t>
            </a:r>
          </a:p>
        </p:txBody>
      </p:sp>
      <p:sp>
        <p:nvSpPr>
          <p:cNvPr id="13" name="">
            <a:extLst xmlns:a="http://schemas.openxmlformats.org/drawingml/2006/main">
              <a:ext uri="{FF2B5EF4-FFF2-40B4-BE49-F238E27FC236}">
                <a16:creationId xmlns:a16="http://schemas.microsoft.com/office/drawing/2014/main" id="{23CB5713-F401-4AF1-97D0-8942B4832FB6}"/>
              </a:ext>
            </a:extLst>
          </p:cNvPr>
          <p:cNvSpPr>
            <a:spLocks xmlns:a="http://schemas.openxmlformats.org/drawingml/2006/main" noGrp="1"/>
          </p:cNvSpPr>
          <p:nvPr/>
        </p:nvSpPr>
        <p:spPr>
          <a:xfrm xmlns:a="http://schemas.openxmlformats.org/drawingml/2006/main">
            <a:off x="1714500" y="3362325"/>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6DCBF4"/>
                </a:solidFill>
              </a:defRPr>
            </a:pPr>
            <a:r>
              <a:rPr sz="1425" b="0" i="0">
                <a:solidFill>
                  <a:srgbClr val="6DCBF4"/>
                </a:solidFill>
              </a:rPr>
              <a:t>投资回报可能来自哪里？</a:t>
            </a:r>
          </a:p>
        </p:txBody>
      </p:sp>
      <p:sp>
        <p:nvSpPr>
          <p:cNvPr id="14" name="">
            <a:extLst xmlns:a="http://schemas.openxmlformats.org/drawingml/2006/main">
              <a:ext uri="{FF2B5EF4-FFF2-40B4-BE49-F238E27FC236}">
                <a16:creationId xmlns:a16="http://schemas.microsoft.com/office/drawing/2014/main" id="{77F6C3A1-6EE4-4D31-8120-98E167D9C53E}"/>
              </a:ext>
            </a:extLst>
          </p:cNvPr>
          <p:cNvSpPr>
            <a:spLocks xmlns:a="http://schemas.openxmlformats.org/drawingml/2006/main" noGrp="1"/>
          </p:cNvSpPr>
          <p:nvPr/>
        </p:nvSpPr>
        <p:spPr>
          <a:xfrm xmlns:a="http://schemas.openxmlformats.org/drawingml/2006/main">
            <a:off x="876300" y="3962400"/>
            <a:ext cx="647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i="0">
                <a:solidFill>
                  <a:srgbClr val="6DCBF4"/>
                </a:solidFill>
              </a:defRPr>
            </a:pPr>
            <a:r>
              <a:rPr sz="2400" b="1" i="0">
                <a:solidFill>
                  <a:srgbClr val="6DCBF4"/>
                </a:solidFill>
              </a:rPr>
              <a:t>03</a:t>
            </a:r>
          </a:p>
        </p:txBody>
      </p:sp>
      <p:sp>
        <p:nvSpPr>
          <p:cNvPr id="15" name="">
            <a:extLst xmlns:a="http://schemas.openxmlformats.org/drawingml/2006/main">
              <a:ext uri="{FF2B5EF4-FFF2-40B4-BE49-F238E27FC236}">
                <a16:creationId xmlns:a16="http://schemas.microsoft.com/office/drawing/2014/main" id="{805B954D-0381-40F6-8778-A2483F48549D}"/>
              </a:ext>
            </a:extLst>
          </p:cNvPr>
          <p:cNvSpPr>
            <a:spLocks xmlns:a="http://schemas.openxmlformats.org/drawingml/2006/main" noGrp="1"/>
          </p:cNvSpPr>
          <p:nvPr/>
        </p:nvSpPr>
        <p:spPr>
          <a:xfrm xmlns:a="http://schemas.openxmlformats.org/drawingml/2006/main">
            <a:off x="1714500" y="3962400"/>
            <a:ext cx="838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Why can a loss matter more for one person than another?</a:t>
            </a:r>
          </a:p>
        </p:txBody>
      </p:sp>
      <p:sp>
        <p:nvSpPr>
          <p:cNvPr id="16" name="">
            <a:extLst xmlns:a="http://schemas.openxmlformats.org/drawingml/2006/main">
              <a:ext uri="{FF2B5EF4-FFF2-40B4-BE49-F238E27FC236}">
                <a16:creationId xmlns:a16="http://schemas.microsoft.com/office/drawing/2014/main" id="{93CF6994-79AD-414F-804F-AC547F83DCB4}"/>
              </a:ext>
            </a:extLst>
          </p:cNvPr>
          <p:cNvSpPr>
            <a:spLocks xmlns:a="http://schemas.openxmlformats.org/drawingml/2006/main" noGrp="1"/>
          </p:cNvSpPr>
          <p:nvPr/>
        </p:nvSpPr>
        <p:spPr>
          <a:xfrm xmlns:a="http://schemas.openxmlformats.org/drawingml/2006/main">
            <a:off x="1714500" y="4362450"/>
            <a:ext cx="8382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i="0">
                <a:solidFill>
                  <a:srgbClr val="6DCBF4"/>
                </a:solidFill>
              </a:defRPr>
            </a:pPr>
            <a:r>
              <a:rPr sz="1425" b="0" i="0">
                <a:solidFill>
                  <a:srgbClr val="6DCBF4"/>
                </a:solidFill>
              </a:rPr>
              <a:t>为什么同样的损失对不同的人影响不同？</a:t>
            </a:r>
          </a:p>
        </p:txBody>
      </p:sp>
      <p:sp>
        <p:nvSpPr>
          <p:cNvPr id="17" name="">
            <a:extLst xmlns:a="http://schemas.openxmlformats.org/drawingml/2006/main">
              <a:ext uri="{FF2B5EF4-FFF2-40B4-BE49-F238E27FC236}">
                <a16:creationId xmlns:a16="http://schemas.microsoft.com/office/drawing/2014/main" id="{C6E4E234-EC70-4547-AFB1-D8506AFD19BF}"/>
              </a:ext>
            </a:extLst>
          </p:cNvPr>
          <p:cNvSpPr>
            <a:spLocks xmlns:a="http://schemas.openxmlformats.org/drawingml/2006/main" noGrp="1"/>
          </p:cNvSpPr>
          <p:nvPr/>
        </p:nvSpPr>
        <p:spPr>
          <a:xfrm xmlns:a="http://schemas.openxmlformats.org/drawingml/2006/main">
            <a:off x="609600" y="552450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Use the handout margin. No definitions yet.</a:t>
            </a:r>
          </a:p>
        </p:txBody>
      </p:sp>
      <p:sp>
        <p:nvSpPr>
          <p:cNvPr id="18" name="">
            <a:extLst xmlns:a="http://schemas.openxmlformats.org/drawingml/2006/main">
              <a:ext uri="{FF2B5EF4-FFF2-40B4-BE49-F238E27FC236}">
                <a16:creationId xmlns:a16="http://schemas.microsoft.com/office/drawing/2014/main" id="{88AA8EEE-ADAD-4FA0-9357-E25E138FBD5D}"/>
              </a:ext>
            </a:extLst>
          </p:cNvPr>
          <p:cNvSpPr>
            <a:spLocks xmlns:a="http://schemas.openxmlformats.org/drawingml/2006/main" noGrp="1"/>
          </p:cNvSpPr>
          <p:nvPr/>
        </p:nvSpPr>
        <p:spPr>
          <a:xfrm xmlns:a="http://schemas.openxmlformats.org/drawingml/2006/main">
            <a:off x="609600" y="587692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570"/>
                </a:solidFill>
              </a:defRPr>
            </a:pPr>
            <a:r>
              <a:rPr sz="1350" b="0" i="0">
                <a:solidFill>
                  <a:srgbClr val="5F6570"/>
                </a:solidFill>
              </a:rPr>
              <a:t>在讲义空白处作答；先不要看定义。</a:t>
            </a:r>
          </a:p>
        </p:txBody>
      </p:sp>
    </p:spTree>
    <p:extLst>
      <p:ext uri="{BB962C8B-B14F-4D97-AF65-F5344CB8AC3E}">
        <p14:creationId xmlns:p14="http://schemas.microsoft.com/office/powerpoint/2010/main" val="78842066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72B99295-D944-47DC-80E3-B70C4562871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E77DC6-058A-4CD8-BB36-4700BC208C00}"/>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 A · TRY FIRST · 先判断</a:t>
            </a:r>
          </a:p>
        </p:txBody>
      </p:sp>
      <p:sp>
        <p:nvSpPr>
          <p:cNvPr id="3" name="">
            <a:extLst xmlns:a="http://schemas.openxmlformats.org/drawingml/2006/main">
              <a:ext uri="{FF2B5EF4-FFF2-40B4-BE49-F238E27FC236}">
                <a16:creationId xmlns:a16="http://schemas.microsoft.com/office/drawing/2014/main" id="{FBF9F7AB-D494-4D79-92DA-3B3161AAD20D}"/>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05</a:t>
            </a:r>
          </a:p>
        </p:txBody>
      </p:sp>
      <p:sp>
        <p:nvSpPr>
          <p:cNvPr id="4" name="">
            <a:extLst xmlns:a="http://schemas.openxmlformats.org/drawingml/2006/main">
              <a:ext uri="{FF2B5EF4-FFF2-40B4-BE49-F238E27FC236}">
                <a16:creationId xmlns:a16="http://schemas.microsoft.com/office/drawing/2014/main" id="{949748C0-6D49-4208-BF5B-9FFBE0B771B0}"/>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9C48E698-05CB-4B9F-923C-29C2B5A532A5}"/>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Li Wen in Chengdu</a:t>
            </a:r>
          </a:p>
        </p:txBody>
      </p:sp>
      <p:sp>
        <p:nvSpPr>
          <p:cNvPr id="6" name="">
            <a:extLst xmlns:a="http://schemas.openxmlformats.org/drawingml/2006/main">
              <a:ext uri="{FF2B5EF4-FFF2-40B4-BE49-F238E27FC236}">
                <a16:creationId xmlns:a16="http://schemas.microsoft.com/office/drawing/2014/main" id="{CB51AF7A-429F-48EB-B0EB-E06CB391B01D}"/>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成都的李雯</a:t>
            </a:r>
          </a:p>
        </p:txBody>
      </p:sp>
      <p:sp>
        <p:nvSpPr>
          <p:cNvPr id="7" name="">
            <a:extLst xmlns:a="http://schemas.openxmlformats.org/drawingml/2006/main">
              <a:ext uri="{FF2B5EF4-FFF2-40B4-BE49-F238E27FC236}">
                <a16:creationId xmlns:a16="http://schemas.microsoft.com/office/drawing/2014/main" id="{E17DFF97-27D5-42AD-9019-8C1BCD04D3FF}"/>
              </a:ext>
            </a:extLst>
          </p:cNvPr>
          <p:cNvSpPr>
            <a:spLocks xmlns:a="http://schemas.openxmlformats.org/drawingml/2006/main" noGrp="1"/>
          </p:cNvSpPr>
          <p:nvPr/>
        </p:nvSpPr>
        <p:spPr>
          <a:xfrm xmlns:a="http://schemas.openxmlformats.org/drawingml/2006/main">
            <a:off x="609600" y="1466850"/>
            <a:ext cx="533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3D8DFF"/>
                </a:solidFill>
              </a:defRPr>
            </a:pPr>
            <a:r>
              <a:rPr sz="1125" b="1" i="0">
                <a:solidFill>
                  <a:srgbClr val="3D8DFF"/>
                </a:solidFill>
              </a:rPr>
              <a:t>HANDOUT PAGE 1 · WRITE ONE DECISIVE CLUE</a:t>
            </a:r>
          </a:p>
        </p:txBody>
      </p:sp>
      <p:sp>
        <p:nvSpPr>
          <p:cNvPr id="8" name="">
            <a:extLst xmlns:a="http://schemas.openxmlformats.org/drawingml/2006/main">
              <a:ext uri="{FF2B5EF4-FFF2-40B4-BE49-F238E27FC236}">
                <a16:creationId xmlns:a16="http://schemas.microsoft.com/office/drawing/2014/main" id="{F4EC2676-641D-4281-8371-34187AC8742C}"/>
              </a:ext>
            </a:extLst>
          </p:cNvPr>
          <p:cNvSpPr>
            <a:spLocks xmlns:a="http://schemas.openxmlformats.org/drawingml/2006/main" noGrp="1"/>
          </p:cNvSpPr>
          <p:nvPr/>
        </p:nvSpPr>
        <p:spPr>
          <a:xfrm xmlns:a="http://schemas.openxmlformats.org/drawingml/2006/main">
            <a:off x="609600" y="1990725"/>
            <a:ext cx="95250" cy="95250"/>
          </a:xfrm>
          <a:prstGeom xmlns:a="http://schemas.openxmlformats.org/drawingml/2006/main" prst="rect">
            <a:avLst/>
          </a:prstGeom>
          <a:solidFill xmlns:a="http://schemas.openxmlformats.org/drawingml/2006/main">
            <a:srgbClr val="48B78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94964F-C130-4AC5-9733-5FFA68333724}"/>
              </a:ext>
            </a:extLst>
          </p:cNvPr>
          <p:cNvSpPr>
            <a:spLocks xmlns:a="http://schemas.openxmlformats.org/drawingml/2006/main" noGrp="1"/>
          </p:cNvSpPr>
          <p:nvPr/>
        </p:nvSpPr>
        <p:spPr>
          <a:xfrm xmlns:a="http://schemas.openxmlformats.org/drawingml/2006/main">
            <a:off x="876300" y="1952625"/>
            <a:ext cx="1021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CNY 18,000 saved; CNY 14,000 needed in nine months</a:t>
            </a:r>
          </a:p>
        </p:txBody>
      </p:sp>
      <p:sp>
        <p:nvSpPr>
          <p:cNvPr id="10" name="">
            <a:extLst xmlns:a="http://schemas.openxmlformats.org/drawingml/2006/main">
              <a:ext uri="{FF2B5EF4-FFF2-40B4-BE49-F238E27FC236}">
                <a16:creationId xmlns:a16="http://schemas.microsoft.com/office/drawing/2014/main" id="{95FBD185-9E15-474E-B059-67C03B9096E2}"/>
              </a:ext>
            </a:extLst>
          </p:cNvPr>
          <p:cNvSpPr>
            <a:spLocks xmlns:a="http://schemas.openxmlformats.org/drawingml/2006/main" noGrp="1"/>
          </p:cNvSpPr>
          <p:nvPr/>
        </p:nvSpPr>
        <p:spPr>
          <a:xfrm xmlns:a="http://schemas.openxmlformats.org/drawingml/2006/main">
            <a:off x="609600" y="2657475"/>
            <a:ext cx="95250" cy="95250"/>
          </a:xfrm>
          <a:prstGeom xmlns:a="http://schemas.openxmlformats.org/drawingml/2006/main" prst="rect">
            <a:avLst/>
          </a:prstGeom>
          <a:solidFill xmlns:a="http://schemas.openxmlformats.org/drawingml/2006/main">
            <a:srgbClr val="48B78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2FF83C-2FAB-41A4-9F90-3EF22A8FE587}"/>
              </a:ext>
            </a:extLst>
          </p:cNvPr>
          <p:cNvSpPr>
            <a:spLocks xmlns:a="http://schemas.openxmlformats.org/drawingml/2006/main" noGrp="1"/>
          </p:cNvSpPr>
          <p:nvPr/>
        </p:nvSpPr>
        <p:spPr>
          <a:xfrm xmlns:a="http://schemas.openxmlformats.org/drawingml/2006/main">
            <a:off x="876300" y="2619375"/>
            <a:ext cx="1021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Money stays in a bank deposit that is easy to access</a:t>
            </a:r>
          </a:p>
        </p:txBody>
      </p:sp>
      <p:sp>
        <p:nvSpPr>
          <p:cNvPr id="12" name="">
            <a:extLst xmlns:a="http://schemas.openxmlformats.org/drawingml/2006/main">
              <a:ext uri="{FF2B5EF4-FFF2-40B4-BE49-F238E27FC236}">
                <a16:creationId xmlns:a16="http://schemas.microsoft.com/office/drawing/2014/main" id="{148D8676-01CD-4536-A552-0C8FA3A73DF1}"/>
              </a:ext>
            </a:extLst>
          </p:cNvPr>
          <p:cNvSpPr>
            <a:spLocks xmlns:a="http://schemas.openxmlformats.org/drawingml/2006/main" noGrp="1"/>
          </p:cNvSpPr>
          <p:nvPr/>
        </p:nvSpPr>
        <p:spPr>
          <a:xfrm xmlns:a="http://schemas.openxmlformats.org/drawingml/2006/main">
            <a:off x="609600" y="3324225"/>
            <a:ext cx="95250" cy="95250"/>
          </a:xfrm>
          <a:prstGeom xmlns:a="http://schemas.openxmlformats.org/drawingml/2006/main" prst="rect">
            <a:avLst/>
          </a:prstGeom>
          <a:solidFill xmlns:a="http://schemas.openxmlformats.org/drawingml/2006/main">
            <a:srgbClr val="48B78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8B2429-8F3E-4080-9F6F-529B14E19AD3}"/>
              </a:ext>
            </a:extLst>
          </p:cNvPr>
          <p:cNvSpPr>
            <a:spLocks xmlns:a="http://schemas.openxmlformats.org/drawingml/2006/main" noGrp="1"/>
          </p:cNvSpPr>
          <p:nvPr/>
        </p:nvSpPr>
        <p:spPr>
          <a:xfrm xmlns:a="http://schemas.openxmlformats.org/drawingml/2006/main">
            <a:off x="876300" y="3286125"/>
            <a:ext cx="1021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Small interest is welcome, but stability and access matter most</a:t>
            </a:r>
          </a:p>
        </p:txBody>
      </p:sp>
      <p:sp>
        <p:nvSpPr>
          <p:cNvPr id="14" name="">
            <a:extLst xmlns:a="http://schemas.openxmlformats.org/drawingml/2006/main">
              <a:ext uri="{FF2B5EF4-FFF2-40B4-BE49-F238E27FC236}">
                <a16:creationId xmlns:a16="http://schemas.microsoft.com/office/drawing/2014/main" id="{1BA1DD43-C230-45E5-BA97-A4A4C66AE04A}"/>
              </a:ext>
            </a:extLst>
          </p:cNvPr>
          <p:cNvSpPr>
            <a:spLocks xmlns:a="http://schemas.openxmlformats.org/drawingml/2006/main" noGrp="1"/>
          </p:cNvSpPr>
          <p:nvPr/>
        </p:nvSpPr>
        <p:spPr>
          <a:xfrm xmlns:a="http://schemas.openxmlformats.org/drawingml/2006/main">
            <a:off x="609600" y="3990975"/>
            <a:ext cx="95250" cy="95250"/>
          </a:xfrm>
          <a:prstGeom xmlns:a="http://schemas.openxmlformats.org/drawingml/2006/main" prst="rect">
            <a:avLst/>
          </a:prstGeom>
          <a:solidFill xmlns:a="http://schemas.openxmlformats.org/drawingml/2006/main">
            <a:srgbClr val="48B78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6FCC1CA-B2C0-4ABC-ABCA-F2DFA4AA19AF}"/>
              </a:ext>
            </a:extLst>
          </p:cNvPr>
          <p:cNvSpPr>
            <a:spLocks xmlns:a="http://schemas.openxmlformats.org/drawingml/2006/main" noGrp="1"/>
          </p:cNvSpPr>
          <p:nvPr/>
        </p:nvSpPr>
        <p:spPr>
          <a:xfrm xmlns:a="http://schemas.openxmlformats.org/drawingml/2006/main">
            <a:off x="876300" y="3952875"/>
            <a:ext cx="10210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She accepts inflation risk to avoid a shortfall at the payment date</a:t>
            </a:r>
          </a:p>
        </p:txBody>
      </p:sp>
      <p:sp>
        <p:nvSpPr>
          <p:cNvPr id="16" name="">
            <a:extLst xmlns:a="http://schemas.openxmlformats.org/drawingml/2006/main">
              <a:ext uri="{FF2B5EF4-FFF2-40B4-BE49-F238E27FC236}">
                <a16:creationId xmlns:a16="http://schemas.microsoft.com/office/drawing/2014/main" id="{D3E9F3D5-AE8E-45CD-B979-E0D19C930757}"/>
              </a:ext>
            </a:extLst>
          </p:cNvPr>
          <p:cNvSpPr>
            <a:spLocks xmlns:a="http://schemas.openxmlformats.org/drawingml/2006/main" noGrp="1"/>
          </p:cNvSpPr>
          <p:nvPr/>
        </p:nvSpPr>
        <p:spPr>
          <a:xfrm xmlns:a="http://schemas.openxmlformats.org/drawingml/2006/main">
            <a:off x="609600" y="469582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B2A4A"/>
                </a:solidFill>
              </a:defRPr>
            </a:pPr>
            <a:r>
              <a:rPr sz="1500" b="1" i="0">
                <a:solidFill>
                  <a:srgbClr val="0B2A4A"/>
                </a:solidFill>
              </a:rPr>
              <a:t>Your classification / 你的分类</a:t>
            </a:r>
          </a:p>
        </p:txBody>
      </p:sp>
      <p:sp>
        <p:nvSpPr>
          <p:cNvPr id="17" name="">
            <a:extLst xmlns:a="http://schemas.openxmlformats.org/drawingml/2006/main">
              <a:ext uri="{FF2B5EF4-FFF2-40B4-BE49-F238E27FC236}">
                <a16:creationId xmlns:a16="http://schemas.microsoft.com/office/drawing/2014/main" id="{E4F5292A-607A-46D7-B483-276AFAB8C029}"/>
              </a:ext>
            </a:extLst>
          </p:cNvPr>
          <p:cNvSpPr>
            <a:spLocks xmlns:a="http://schemas.openxmlformats.org/drawingml/2006/main" noGrp="1"/>
          </p:cNvSpPr>
          <p:nvPr/>
        </p:nvSpPr>
        <p:spPr>
          <a:xfrm xmlns:a="http://schemas.openxmlformats.org/drawingml/2006/main">
            <a:off x="609600" y="5095875"/>
            <a:ext cx="211836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048343E7-ABCD-47A8-AC8D-70D6BB039F75}"/>
              </a:ext>
            </a:extLst>
          </p:cNvPr>
          <p:cNvSpPr>
            <a:spLocks xmlns:a="http://schemas.openxmlformats.org/drawingml/2006/main" noGrp="1"/>
          </p:cNvSpPr>
          <p:nvPr/>
        </p:nvSpPr>
        <p:spPr>
          <a:xfrm xmlns:a="http://schemas.openxmlformats.org/drawingml/2006/main">
            <a:off x="723900" y="5191125"/>
            <a:ext cx="188976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00000"/>
                </a:solidFill>
              </a:defRPr>
            </a:pPr>
            <a:r>
              <a:rPr sz="1500" b="1" i="0">
                <a:solidFill>
                  <a:srgbClr val="000000"/>
                </a:solidFill>
              </a:rPr>
              <a:t>saving</a:t>
            </a:r>
          </a:p>
        </p:txBody>
      </p:sp>
      <p:sp>
        <p:nvSpPr>
          <p:cNvPr id="19" name="">
            <a:extLst xmlns:a="http://schemas.openxmlformats.org/drawingml/2006/main">
              <a:ext uri="{FF2B5EF4-FFF2-40B4-BE49-F238E27FC236}">
                <a16:creationId xmlns:a16="http://schemas.microsoft.com/office/drawing/2014/main" id="{55BFA799-340D-4116-9B9F-9C2BC450AC35}"/>
              </a:ext>
            </a:extLst>
          </p:cNvPr>
          <p:cNvSpPr>
            <a:spLocks xmlns:a="http://schemas.openxmlformats.org/drawingml/2006/main" noGrp="1"/>
          </p:cNvSpPr>
          <p:nvPr/>
        </p:nvSpPr>
        <p:spPr>
          <a:xfrm xmlns:a="http://schemas.openxmlformats.org/drawingml/2006/main">
            <a:off x="723900" y="5467350"/>
            <a:ext cx="188976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5F6570"/>
                </a:solidFill>
              </a:defRPr>
            </a:pPr>
            <a:r>
              <a:rPr sz="1200" b="1" i="0">
                <a:solidFill>
                  <a:srgbClr val="5F6570"/>
                </a:solidFill>
              </a:rPr>
              <a:t>储蓄</a:t>
            </a:r>
          </a:p>
        </p:txBody>
      </p:sp>
      <p:sp>
        <p:nvSpPr>
          <p:cNvPr id="20" name="">
            <a:extLst xmlns:a="http://schemas.openxmlformats.org/drawingml/2006/main">
              <a:ext uri="{FF2B5EF4-FFF2-40B4-BE49-F238E27FC236}">
                <a16:creationId xmlns:a16="http://schemas.microsoft.com/office/drawing/2014/main" id="{640C8699-E20A-40EF-9182-8159FF799697}"/>
              </a:ext>
            </a:extLst>
          </p:cNvPr>
          <p:cNvSpPr>
            <a:spLocks xmlns:a="http://schemas.openxmlformats.org/drawingml/2006/main" noGrp="1"/>
          </p:cNvSpPr>
          <p:nvPr/>
        </p:nvSpPr>
        <p:spPr>
          <a:xfrm xmlns:a="http://schemas.openxmlformats.org/drawingml/2006/main">
            <a:off x="2823210" y="5095875"/>
            <a:ext cx="211836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1" name="">
            <a:extLst xmlns:a="http://schemas.openxmlformats.org/drawingml/2006/main">
              <a:ext uri="{FF2B5EF4-FFF2-40B4-BE49-F238E27FC236}">
                <a16:creationId xmlns:a16="http://schemas.microsoft.com/office/drawing/2014/main" id="{A3D66AB2-2E23-4BA2-86DA-AE27056C8E0C}"/>
              </a:ext>
            </a:extLst>
          </p:cNvPr>
          <p:cNvSpPr>
            <a:spLocks xmlns:a="http://schemas.openxmlformats.org/drawingml/2006/main" noGrp="1"/>
          </p:cNvSpPr>
          <p:nvPr/>
        </p:nvSpPr>
        <p:spPr>
          <a:xfrm xmlns:a="http://schemas.openxmlformats.org/drawingml/2006/main">
            <a:off x="2937510" y="5191125"/>
            <a:ext cx="188976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00000"/>
                </a:solidFill>
              </a:defRPr>
            </a:pPr>
            <a:r>
              <a:rPr sz="1500" b="1" i="0">
                <a:solidFill>
                  <a:srgbClr val="000000"/>
                </a:solidFill>
              </a:rPr>
              <a:t>investment</a:t>
            </a:r>
          </a:p>
        </p:txBody>
      </p:sp>
      <p:sp>
        <p:nvSpPr>
          <p:cNvPr id="22" name="">
            <a:extLst xmlns:a="http://schemas.openxmlformats.org/drawingml/2006/main">
              <a:ext uri="{FF2B5EF4-FFF2-40B4-BE49-F238E27FC236}">
                <a16:creationId xmlns:a16="http://schemas.microsoft.com/office/drawing/2014/main" id="{34607150-44F5-4107-AA49-1BBF9C8AB2BC}"/>
              </a:ext>
            </a:extLst>
          </p:cNvPr>
          <p:cNvSpPr>
            <a:spLocks xmlns:a="http://schemas.openxmlformats.org/drawingml/2006/main" noGrp="1"/>
          </p:cNvSpPr>
          <p:nvPr/>
        </p:nvSpPr>
        <p:spPr>
          <a:xfrm xmlns:a="http://schemas.openxmlformats.org/drawingml/2006/main">
            <a:off x="2937510" y="5467350"/>
            <a:ext cx="188976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5F6570"/>
                </a:solidFill>
              </a:defRPr>
            </a:pPr>
            <a:r>
              <a:rPr sz="1200" b="1" i="0">
                <a:solidFill>
                  <a:srgbClr val="5F6570"/>
                </a:solidFill>
              </a:rPr>
              <a:t>投资</a:t>
            </a:r>
          </a:p>
        </p:txBody>
      </p:sp>
      <p:sp>
        <p:nvSpPr>
          <p:cNvPr id="23" name="">
            <a:extLst xmlns:a="http://schemas.openxmlformats.org/drawingml/2006/main">
              <a:ext uri="{FF2B5EF4-FFF2-40B4-BE49-F238E27FC236}">
                <a16:creationId xmlns:a16="http://schemas.microsoft.com/office/drawing/2014/main" id="{30684390-5D6B-4D4E-8CF6-1E241DD19F50}"/>
              </a:ext>
            </a:extLst>
          </p:cNvPr>
          <p:cNvSpPr>
            <a:spLocks xmlns:a="http://schemas.openxmlformats.org/drawingml/2006/main" noGrp="1"/>
          </p:cNvSpPr>
          <p:nvPr/>
        </p:nvSpPr>
        <p:spPr>
          <a:xfrm xmlns:a="http://schemas.openxmlformats.org/drawingml/2006/main">
            <a:off x="5036820" y="5095875"/>
            <a:ext cx="211836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1AC474E6-C8FC-4E4C-9EDA-19753F1A1D74}"/>
              </a:ext>
            </a:extLst>
          </p:cNvPr>
          <p:cNvSpPr>
            <a:spLocks xmlns:a="http://schemas.openxmlformats.org/drawingml/2006/main" noGrp="1"/>
          </p:cNvSpPr>
          <p:nvPr/>
        </p:nvSpPr>
        <p:spPr>
          <a:xfrm xmlns:a="http://schemas.openxmlformats.org/drawingml/2006/main">
            <a:off x="5151120" y="5191125"/>
            <a:ext cx="188976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00000"/>
                </a:solidFill>
              </a:defRPr>
            </a:pPr>
            <a:r>
              <a:rPr sz="1500" b="1" i="0">
                <a:solidFill>
                  <a:srgbClr val="000000"/>
                </a:solidFill>
              </a:rPr>
              <a:t>speculation</a:t>
            </a:r>
          </a:p>
        </p:txBody>
      </p:sp>
      <p:sp>
        <p:nvSpPr>
          <p:cNvPr id="25" name="">
            <a:extLst xmlns:a="http://schemas.openxmlformats.org/drawingml/2006/main">
              <a:ext uri="{FF2B5EF4-FFF2-40B4-BE49-F238E27FC236}">
                <a16:creationId xmlns:a16="http://schemas.microsoft.com/office/drawing/2014/main" id="{75A02F0D-0C82-4100-B40C-469D7FD7C02B}"/>
              </a:ext>
            </a:extLst>
          </p:cNvPr>
          <p:cNvSpPr>
            <a:spLocks xmlns:a="http://schemas.openxmlformats.org/drawingml/2006/main" noGrp="1"/>
          </p:cNvSpPr>
          <p:nvPr/>
        </p:nvSpPr>
        <p:spPr>
          <a:xfrm xmlns:a="http://schemas.openxmlformats.org/drawingml/2006/main">
            <a:off x="5151120" y="5467350"/>
            <a:ext cx="188976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5F6570"/>
                </a:solidFill>
              </a:defRPr>
            </a:pPr>
            <a:r>
              <a:rPr sz="1200" b="1" i="0">
                <a:solidFill>
                  <a:srgbClr val="5F6570"/>
                </a:solidFill>
              </a:rPr>
              <a:t>投机</a:t>
            </a:r>
          </a:p>
        </p:txBody>
      </p:sp>
      <p:sp>
        <p:nvSpPr>
          <p:cNvPr id="26" name="">
            <a:extLst xmlns:a="http://schemas.openxmlformats.org/drawingml/2006/main">
              <a:ext uri="{FF2B5EF4-FFF2-40B4-BE49-F238E27FC236}">
                <a16:creationId xmlns:a16="http://schemas.microsoft.com/office/drawing/2014/main" id="{808DB273-0567-4D06-AA72-A534FD100D72}"/>
              </a:ext>
            </a:extLst>
          </p:cNvPr>
          <p:cNvSpPr>
            <a:spLocks xmlns:a="http://schemas.openxmlformats.org/drawingml/2006/main" noGrp="1"/>
          </p:cNvSpPr>
          <p:nvPr/>
        </p:nvSpPr>
        <p:spPr>
          <a:xfrm xmlns:a="http://schemas.openxmlformats.org/drawingml/2006/main">
            <a:off x="7250430" y="5095875"/>
            <a:ext cx="211836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27" name="">
            <a:extLst xmlns:a="http://schemas.openxmlformats.org/drawingml/2006/main">
              <a:ext uri="{FF2B5EF4-FFF2-40B4-BE49-F238E27FC236}">
                <a16:creationId xmlns:a16="http://schemas.microsoft.com/office/drawing/2014/main" id="{F5B53E92-61A3-4AB0-83E0-9D3C5ACD02A8}"/>
              </a:ext>
            </a:extLst>
          </p:cNvPr>
          <p:cNvSpPr>
            <a:spLocks xmlns:a="http://schemas.openxmlformats.org/drawingml/2006/main" noGrp="1"/>
          </p:cNvSpPr>
          <p:nvPr/>
        </p:nvSpPr>
        <p:spPr>
          <a:xfrm xmlns:a="http://schemas.openxmlformats.org/drawingml/2006/main">
            <a:off x="7364730" y="5191125"/>
            <a:ext cx="188976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00000"/>
                </a:solidFill>
              </a:defRPr>
            </a:pPr>
            <a:r>
              <a:rPr sz="1500" b="1" i="0">
                <a:solidFill>
                  <a:srgbClr val="000000"/>
                </a:solidFill>
              </a:rPr>
              <a:t>consumption</a:t>
            </a:r>
          </a:p>
        </p:txBody>
      </p:sp>
      <p:sp>
        <p:nvSpPr>
          <p:cNvPr id="28" name="">
            <a:extLst xmlns:a="http://schemas.openxmlformats.org/drawingml/2006/main">
              <a:ext uri="{FF2B5EF4-FFF2-40B4-BE49-F238E27FC236}">
                <a16:creationId xmlns:a16="http://schemas.microsoft.com/office/drawing/2014/main" id="{799B44B8-D0A7-468A-8037-17DF6E23F87F}"/>
              </a:ext>
            </a:extLst>
          </p:cNvPr>
          <p:cNvSpPr>
            <a:spLocks xmlns:a="http://schemas.openxmlformats.org/drawingml/2006/main" noGrp="1"/>
          </p:cNvSpPr>
          <p:nvPr/>
        </p:nvSpPr>
        <p:spPr>
          <a:xfrm xmlns:a="http://schemas.openxmlformats.org/drawingml/2006/main">
            <a:off x="7364730" y="5467350"/>
            <a:ext cx="188976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5F6570"/>
                </a:solidFill>
              </a:defRPr>
            </a:pPr>
            <a:r>
              <a:rPr sz="1200" b="1" i="0">
                <a:solidFill>
                  <a:srgbClr val="5F6570"/>
                </a:solidFill>
              </a:rPr>
              <a:t>消费</a:t>
            </a:r>
          </a:p>
        </p:txBody>
      </p:sp>
      <p:sp>
        <p:nvSpPr>
          <p:cNvPr id="29" name="">
            <a:extLst xmlns:a="http://schemas.openxmlformats.org/drawingml/2006/main">
              <a:ext uri="{FF2B5EF4-FFF2-40B4-BE49-F238E27FC236}">
                <a16:creationId xmlns:a16="http://schemas.microsoft.com/office/drawing/2014/main" id="{23DDEF96-56F3-4804-B3E6-1CB872F812F9}"/>
              </a:ext>
            </a:extLst>
          </p:cNvPr>
          <p:cNvSpPr>
            <a:spLocks xmlns:a="http://schemas.openxmlformats.org/drawingml/2006/main" noGrp="1"/>
          </p:cNvSpPr>
          <p:nvPr/>
        </p:nvSpPr>
        <p:spPr>
          <a:xfrm xmlns:a="http://schemas.openxmlformats.org/drawingml/2006/main">
            <a:off x="9464040" y="5095875"/>
            <a:ext cx="2118360" cy="6858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30" name="">
            <a:extLst xmlns:a="http://schemas.openxmlformats.org/drawingml/2006/main">
              <a:ext uri="{FF2B5EF4-FFF2-40B4-BE49-F238E27FC236}">
                <a16:creationId xmlns:a16="http://schemas.microsoft.com/office/drawing/2014/main" id="{E89A7959-9629-47B4-9639-25B0DB147D8E}"/>
              </a:ext>
            </a:extLst>
          </p:cNvPr>
          <p:cNvSpPr>
            <a:spLocks xmlns:a="http://schemas.openxmlformats.org/drawingml/2006/main" noGrp="1"/>
          </p:cNvSpPr>
          <p:nvPr/>
        </p:nvSpPr>
        <p:spPr>
          <a:xfrm xmlns:a="http://schemas.openxmlformats.org/drawingml/2006/main">
            <a:off x="9578340" y="5191125"/>
            <a:ext cx="188976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000000"/>
                </a:solidFill>
              </a:defRPr>
            </a:pPr>
            <a:r>
              <a:rPr sz="1500" b="1" i="0">
                <a:solidFill>
                  <a:srgbClr val="000000"/>
                </a:solidFill>
              </a:rPr>
              <a:t>gambling</a:t>
            </a:r>
          </a:p>
        </p:txBody>
      </p:sp>
      <p:sp>
        <p:nvSpPr>
          <p:cNvPr id="31" name="">
            <a:extLst xmlns:a="http://schemas.openxmlformats.org/drawingml/2006/main">
              <a:ext uri="{FF2B5EF4-FFF2-40B4-BE49-F238E27FC236}">
                <a16:creationId xmlns:a16="http://schemas.microsoft.com/office/drawing/2014/main" id="{9FDF153F-099A-48C5-A27F-2627E9964EDC}"/>
              </a:ext>
            </a:extLst>
          </p:cNvPr>
          <p:cNvSpPr>
            <a:spLocks xmlns:a="http://schemas.openxmlformats.org/drawingml/2006/main" noGrp="1"/>
          </p:cNvSpPr>
          <p:nvPr/>
        </p:nvSpPr>
        <p:spPr>
          <a:xfrm xmlns:a="http://schemas.openxmlformats.org/drawingml/2006/main">
            <a:off x="9578340" y="5467350"/>
            <a:ext cx="188976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i="0">
                <a:solidFill>
                  <a:srgbClr val="5F6570"/>
                </a:solidFill>
              </a:defRPr>
            </a:pPr>
            <a:r>
              <a:rPr sz="1200" b="1" i="0">
                <a:solidFill>
                  <a:srgbClr val="5F6570"/>
                </a:solidFill>
              </a:rPr>
              <a:t>赌博</a:t>
            </a:r>
          </a:p>
        </p:txBody>
      </p:sp>
    </p:spTree>
    <p:extLst>
      <p:ext uri="{BB962C8B-B14F-4D97-AF65-F5344CB8AC3E}">
        <p14:creationId xmlns:p14="http://schemas.microsoft.com/office/powerpoint/2010/main" val="20471251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D479E6-C674-43B8-BDB1-703DA67323F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443D3F3-E7D3-4C3D-A892-673D83840445}"/>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 A · REVEAL · 解释</a:t>
            </a:r>
          </a:p>
        </p:txBody>
      </p:sp>
      <p:sp>
        <p:nvSpPr>
          <p:cNvPr id="3" name="">
            <a:extLst xmlns:a="http://schemas.openxmlformats.org/drawingml/2006/main">
              <a:ext uri="{FF2B5EF4-FFF2-40B4-BE49-F238E27FC236}">
                <a16:creationId xmlns:a16="http://schemas.microsoft.com/office/drawing/2014/main" id="{919B8E91-7065-4CAD-BB5C-93AAB658BDC4}"/>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06</a:t>
            </a:r>
          </a:p>
        </p:txBody>
      </p:sp>
      <p:sp>
        <p:nvSpPr>
          <p:cNvPr id="4" name="">
            <a:extLst xmlns:a="http://schemas.openxmlformats.org/drawingml/2006/main">
              <a:ext uri="{FF2B5EF4-FFF2-40B4-BE49-F238E27FC236}">
                <a16:creationId xmlns:a16="http://schemas.microsoft.com/office/drawing/2014/main" id="{F18D177E-B318-405D-AAAE-8F2636C6EDA6}"/>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D1F0BAED-9951-41AD-AA5F-D76C934B66FD}"/>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Saving is the strongest classification.</a:t>
            </a:r>
          </a:p>
        </p:txBody>
      </p:sp>
      <p:sp>
        <p:nvSpPr>
          <p:cNvPr id="6" name="">
            <a:extLst xmlns:a="http://schemas.openxmlformats.org/drawingml/2006/main">
              <a:ext uri="{FF2B5EF4-FFF2-40B4-BE49-F238E27FC236}">
                <a16:creationId xmlns:a16="http://schemas.microsoft.com/office/drawing/2014/main" id="{CC6E171A-13B6-4E83-9D4D-C8899501E813}"/>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最强分类：储蓄</a:t>
            </a:r>
          </a:p>
        </p:txBody>
      </p:sp>
      <p:sp>
        <p:nvSpPr>
          <p:cNvPr id="7" name="">
            <a:extLst xmlns:a="http://schemas.openxmlformats.org/drawingml/2006/main">
              <a:ext uri="{FF2B5EF4-FFF2-40B4-BE49-F238E27FC236}">
                <a16:creationId xmlns:a16="http://schemas.microsoft.com/office/drawing/2014/main" id="{CD3331B4-0FC1-4B3B-9037-ED1765C38A69}"/>
              </a:ext>
            </a:extLst>
          </p:cNvPr>
          <p:cNvSpPr>
            <a:spLocks xmlns:a="http://schemas.openxmlformats.org/drawingml/2006/main" noGrp="1"/>
          </p:cNvSpPr>
          <p:nvPr/>
        </p:nvSpPr>
        <p:spPr>
          <a:xfrm xmlns:a="http://schemas.openxmlformats.org/drawingml/2006/main">
            <a:off x="609600" y="1562100"/>
            <a:ext cx="4000500" cy="4267200"/>
          </a:xfrm>
          <a:prstGeom xmlns:a="http://schemas.openxmlformats.org/drawingml/2006/main" prst="rect">
            <a:avLst/>
          </a:prstGeom>
          <a:solidFill xmlns:a="http://schemas.openxmlformats.org/drawingml/2006/main">
            <a:srgbClr val="48B78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56EEA4F-6DA8-48BF-A959-27B741508DFF}"/>
              </a:ext>
            </a:extLst>
          </p:cNvPr>
          <p:cNvSpPr>
            <a:spLocks xmlns:a="http://schemas.openxmlformats.org/drawingml/2006/main" noGrp="1"/>
          </p:cNvSpPr>
          <p:nvPr/>
        </p:nvSpPr>
        <p:spPr>
          <a:xfrm xmlns:a="http://schemas.openxmlformats.org/drawingml/2006/main">
            <a:off x="876300" y="1857375"/>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i="0">
                <a:solidFill>
                  <a:srgbClr val="FFFFFF"/>
                </a:solidFill>
              </a:defRPr>
            </a:pPr>
            <a:r>
              <a:rPr sz="3900" b="1" i="0">
                <a:solidFill>
                  <a:srgbClr val="FFFFFF"/>
                </a:solidFill>
              </a:rPr>
              <a:t>SAVING</a:t>
            </a:r>
          </a:p>
        </p:txBody>
      </p:sp>
      <p:sp>
        <p:nvSpPr>
          <p:cNvPr id="9" name="">
            <a:extLst xmlns:a="http://schemas.openxmlformats.org/drawingml/2006/main">
              <a:ext uri="{FF2B5EF4-FFF2-40B4-BE49-F238E27FC236}">
                <a16:creationId xmlns:a16="http://schemas.microsoft.com/office/drawing/2014/main" id="{FA7CC632-A187-4525-A3C8-748D91262FE5}"/>
              </a:ext>
            </a:extLst>
          </p:cNvPr>
          <p:cNvSpPr>
            <a:spLocks xmlns:a="http://schemas.openxmlformats.org/drawingml/2006/main" noGrp="1"/>
          </p:cNvSpPr>
          <p:nvPr/>
        </p:nvSpPr>
        <p:spPr>
          <a:xfrm xmlns:a="http://schemas.openxmlformats.org/drawingml/2006/main">
            <a:off x="876300" y="2428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储蓄</a:t>
            </a:r>
          </a:p>
        </p:txBody>
      </p:sp>
      <p:sp>
        <p:nvSpPr>
          <p:cNvPr id="10" name="">
            <a:extLst xmlns:a="http://schemas.openxmlformats.org/drawingml/2006/main">
              <a:ext uri="{FF2B5EF4-FFF2-40B4-BE49-F238E27FC236}">
                <a16:creationId xmlns:a16="http://schemas.microsoft.com/office/drawing/2014/main" id="{49D25B39-9B23-436A-881B-0FCB1C2F2165}"/>
              </a:ext>
            </a:extLst>
          </p:cNvPr>
          <p:cNvSpPr>
            <a:spLocks xmlns:a="http://schemas.openxmlformats.org/drawingml/2006/main" noGrp="1"/>
          </p:cNvSpPr>
          <p:nvPr/>
        </p:nvSpPr>
        <p:spPr>
          <a:xfrm xmlns:a="http://schemas.openxmlformats.org/drawingml/2006/main">
            <a:off x="876300" y="31432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DECISIVE CLUE / 决定性线索</a:t>
            </a:r>
          </a:p>
        </p:txBody>
      </p:sp>
      <p:sp>
        <p:nvSpPr>
          <p:cNvPr id="11" name="">
            <a:extLst xmlns:a="http://schemas.openxmlformats.org/drawingml/2006/main">
              <a:ext uri="{FF2B5EF4-FFF2-40B4-BE49-F238E27FC236}">
                <a16:creationId xmlns:a16="http://schemas.microsoft.com/office/drawing/2014/main" id="{07F9FFE5-C43A-4602-A5DE-43ECE4450CD3}"/>
              </a:ext>
            </a:extLst>
          </p:cNvPr>
          <p:cNvSpPr>
            <a:spLocks xmlns:a="http://schemas.openxmlformats.org/drawingml/2006/main" noGrp="1"/>
          </p:cNvSpPr>
          <p:nvPr/>
        </p:nvSpPr>
        <p:spPr>
          <a:xfrm xmlns:a="http://schemas.openxmlformats.org/drawingml/2006/main">
            <a:off x="876300" y="3495675"/>
            <a:ext cx="3333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FFFFFF"/>
                </a:solidFill>
              </a:defRPr>
            </a:pPr>
            <a:r>
              <a:rPr sz="1875" b="1" i="0">
                <a:solidFill>
                  <a:srgbClr val="FFFFFF"/>
                </a:solidFill>
              </a:rPr>
              <a:t>The payment is near, important and must remain available.</a:t>
            </a:r>
          </a:p>
        </p:txBody>
      </p:sp>
      <p:sp>
        <p:nvSpPr>
          <p:cNvPr id="12" name="">
            <a:extLst xmlns:a="http://schemas.openxmlformats.org/drawingml/2006/main">
              <a:ext uri="{FF2B5EF4-FFF2-40B4-BE49-F238E27FC236}">
                <a16:creationId xmlns:a16="http://schemas.microsoft.com/office/drawing/2014/main" id="{7D2396D7-33D9-489A-8F4F-63BCC2FE24C6}"/>
              </a:ext>
            </a:extLst>
          </p:cNvPr>
          <p:cNvSpPr>
            <a:spLocks xmlns:a="http://schemas.openxmlformats.org/drawingml/2006/main" noGrp="1"/>
          </p:cNvSpPr>
          <p:nvPr/>
        </p:nvSpPr>
        <p:spPr>
          <a:xfrm xmlns:a="http://schemas.openxmlformats.org/drawingml/2006/main">
            <a:off x="5048250" y="1600200"/>
            <a:ext cx="619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Income set aside for future use, usually in cash or a liquid, relatively low-risk product. The main purpose is access and principal preservation—not a large uncertain return.</a:t>
            </a:r>
          </a:p>
        </p:txBody>
      </p:sp>
      <p:sp>
        <p:nvSpPr>
          <p:cNvPr id="13" name="">
            <a:extLst xmlns:a="http://schemas.openxmlformats.org/drawingml/2006/main">
              <a:ext uri="{FF2B5EF4-FFF2-40B4-BE49-F238E27FC236}">
                <a16:creationId xmlns:a16="http://schemas.microsoft.com/office/drawing/2014/main" id="{09A5DC03-50A9-4CD2-85AA-E27A62BCF4D5}"/>
              </a:ext>
            </a:extLst>
          </p:cNvPr>
          <p:cNvSpPr>
            <a:spLocks xmlns:a="http://schemas.openxmlformats.org/drawingml/2006/main" noGrp="1"/>
          </p:cNvSpPr>
          <p:nvPr/>
        </p:nvSpPr>
        <p:spPr>
          <a:xfrm xmlns:a="http://schemas.openxmlformats.org/drawingml/2006/main">
            <a:off x="5048250" y="30480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48B788"/>
                </a:solidFill>
              </a:defRPr>
            </a:pPr>
            <a:r>
              <a:rPr sz="1125" b="1" i="0">
                <a:solidFill>
                  <a:srgbClr val="48B788"/>
                </a:solidFill>
              </a:rPr>
              <a:t>EXAMPLES / 例子</a:t>
            </a:r>
          </a:p>
        </p:txBody>
      </p:sp>
      <p:sp>
        <p:nvSpPr>
          <p:cNvPr id="14" name="">
            <a:extLst xmlns:a="http://schemas.openxmlformats.org/drawingml/2006/main">
              <a:ext uri="{FF2B5EF4-FFF2-40B4-BE49-F238E27FC236}">
                <a16:creationId xmlns:a16="http://schemas.microsoft.com/office/drawing/2014/main" id="{BA013E3E-4F3B-43CE-A5C2-C47B1EA71CCF}"/>
              </a:ext>
            </a:extLst>
          </p:cNvPr>
          <p:cNvSpPr>
            <a:spLocks xmlns:a="http://schemas.openxmlformats.org/drawingml/2006/main" noGrp="1"/>
          </p:cNvSpPr>
          <p:nvPr/>
        </p:nvSpPr>
        <p:spPr>
          <a:xfrm xmlns:a="http://schemas.openxmlformats.org/drawingml/2006/main">
            <a:off x="5048250" y="3429000"/>
            <a:ext cx="6191250" cy="571500"/>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83EC6C-73AF-470F-A6DD-50485EBBBACE}"/>
              </a:ext>
            </a:extLst>
          </p:cNvPr>
          <p:cNvSpPr>
            <a:spLocks xmlns:a="http://schemas.openxmlformats.org/drawingml/2006/main" noGrp="1"/>
          </p:cNvSpPr>
          <p:nvPr/>
        </p:nvSpPr>
        <p:spPr>
          <a:xfrm xmlns:a="http://schemas.openxmlformats.org/drawingml/2006/main">
            <a:off x="5219700" y="35528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1. emergency cash / 应急现金</a:t>
            </a:r>
          </a:p>
        </p:txBody>
      </p:sp>
      <p:sp>
        <p:nvSpPr>
          <p:cNvPr id="16" name="">
            <a:extLst xmlns:a="http://schemas.openxmlformats.org/drawingml/2006/main">
              <a:ext uri="{FF2B5EF4-FFF2-40B4-BE49-F238E27FC236}">
                <a16:creationId xmlns:a16="http://schemas.microsoft.com/office/drawing/2014/main" id="{C749F4E8-7BD1-4740-B12E-310131BF052B}"/>
              </a:ext>
            </a:extLst>
          </p:cNvPr>
          <p:cNvSpPr>
            <a:spLocks xmlns:a="http://schemas.openxmlformats.org/drawingml/2006/main" noGrp="1"/>
          </p:cNvSpPr>
          <p:nvPr/>
        </p:nvSpPr>
        <p:spPr>
          <a:xfrm xmlns:a="http://schemas.openxmlformats.org/drawingml/2006/main">
            <a:off x="5048250" y="4152900"/>
            <a:ext cx="6191250" cy="571500"/>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AE03C31-A461-457E-AD27-84FED2121FBB}"/>
              </a:ext>
            </a:extLst>
          </p:cNvPr>
          <p:cNvSpPr>
            <a:spLocks xmlns:a="http://schemas.openxmlformats.org/drawingml/2006/main" noGrp="1"/>
          </p:cNvSpPr>
          <p:nvPr/>
        </p:nvSpPr>
        <p:spPr>
          <a:xfrm xmlns:a="http://schemas.openxmlformats.org/drawingml/2006/main">
            <a:off x="5219700" y="42767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2. fees due in nine months / 九个月后到期的费用</a:t>
            </a:r>
          </a:p>
        </p:txBody>
      </p:sp>
      <p:sp>
        <p:nvSpPr>
          <p:cNvPr id="18" name="">
            <a:extLst xmlns:a="http://schemas.openxmlformats.org/drawingml/2006/main">
              <a:ext uri="{FF2B5EF4-FFF2-40B4-BE49-F238E27FC236}">
                <a16:creationId xmlns:a16="http://schemas.microsoft.com/office/drawing/2014/main" id="{EF2DDC65-B0E9-4472-99BD-537423EDE323}"/>
              </a:ext>
            </a:extLst>
          </p:cNvPr>
          <p:cNvSpPr>
            <a:spLocks xmlns:a="http://schemas.openxmlformats.org/drawingml/2006/main" noGrp="1"/>
          </p:cNvSpPr>
          <p:nvPr/>
        </p:nvSpPr>
        <p:spPr>
          <a:xfrm xmlns:a="http://schemas.openxmlformats.org/drawingml/2006/main">
            <a:off x="5048250" y="4876800"/>
            <a:ext cx="6191250" cy="571500"/>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BCC51CF-B6E0-44CB-B256-86FAE898B7D6}"/>
              </a:ext>
            </a:extLst>
          </p:cNvPr>
          <p:cNvSpPr>
            <a:spLocks xmlns:a="http://schemas.openxmlformats.org/drawingml/2006/main" noGrp="1"/>
          </p:cNvSpPr>
          <p:nvPr/>
        </p:nvSpPr>
        <p:spPr>
          <a:xfrm xmlns:a="http://schemas.openxmlformats.org/drawingml/2006/main">
            <a:off x="5219700" y="50006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3. near-term travel fund / 近期旅行资金</a:t>
            </a:r>
          </a:p>
        </p:txBody>
      </p:sp>
    </p:spTree>
    <p:extLst>
      <p:ext uri="{BB962C8B-B14F-4D97-AF65-F5344CB8AC3E}">
        <p14:creationId xmlns:p14="http://schemas.microsoft.com/office/powerpoint/2010/main" val="144296932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68F7C06-9F4B-4560-9E13-489EB23974B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222628B-5D4C-40E7-BDEC-5E6CA85CD887}"/>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 B · TRY FIRST · 先判断</a:t>
            </a:r>
          </a:p>
        </p:txBody>
      </p:sp>
      <p:sp>
        <p:nvSpPr>
          <p:cNvPr id="3" name="">
            <a:extLst xmlns:a="http://schemas.openxmlformats.org/drawingml/2006/main">
              <a:ext uri="{FF2B5EF4-FFF2-40B4-BE49-F238E27FC236}">
                <a16:creationId xmlns:a16="http://schemas.microsoft.com/office/drawing/2014/main" id="{BC93951F-3FAA-4BF4-910B-4B39BC76C9E6}"/>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07</a:t>
            </a:r>
          </a:p>
        </p:txBody>
      </p:sp>
      <p:sp>
        <p:nvSpPr>
          <p:cNvPr id="4" name="">
            <a:extLst xmlns:a="http://schemas.openxmlformats.org/drawingml/2006/main">
              <a:ext uri="{FF2B5EF4-FFF2-40B4-BE49-F238E27FC236}">
                <a16:creationId xmlns:a16="http://schemas.microsoft.com/office/drawing/2014/main" id="{3BB7ED14-E549-4A07-A9DE-EB6D404C12C0}"/>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64FD6075-4765-49AE-B80B-8071E7542E20}"/>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Chen Yao in Suzhou</a:t>
            </a:r>
          </a:p>
        </p:txBody>
      </p:sp>
      <p:sp>
        <p:nvSpPr>
          <p:cNvPr id="6" name="">
            <a:extLst xmlns:a="http://schemas.openxmlformats.org/drawingml/2006/main">
              <a:ext uri="{FF2B5EF4-FFF2-40B4-BE49-F238E27FC236}">
                <a16:creationId xmlns:a16="http://schemas.microsoft.com/office/drawing/2014/main" id="{AC784EF1-C4EF-4E2E-83DA-487897F08837}"/>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苏州的陈尧</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04d8dae4891480e"/>
          <a:srcRect xmlns:a="http://schemas.openxmlformats.org/drawingml/2006/main" l="2121" t="0" r="2121" b="0"/>
          <a:stretch xmlns:a="http://schemas.openxmlformats.org/drawingml/2006/main">
            <a:fillRect l="0" t="0" r="0" b="0"/>
          </a:stretch>
        </p:blipFill>
        <p:spPr>
          <a:xfrm xmlns:a="http://schemas.openxmlformats.org/drawingml/2006/main">
            <a:off x="7067550" y="1562100"/>
            <a:ext cx="4514850" cy="3143250"/>
          </a:xfrm>
          <a:prstGeom xmlns:a="http://schemas.openxmlformats.org/drawingml/2006/main" prst="roundRect">
            <a:avLst>
              <a:gd name="adj" fmla="val 3636"/>
            </a:avLst>
          </a:prstGeom>
        </p:spPr>
      </p:pic>
      <p:sp>
        <p:nvSpPr>
          <p:cNvPr id="8" name="">
            <a:extLst xmlns:a="http://schemas.openxmlformats.org/drawingml/2006/main">
              <a:ext uri="{FF2B5EF4-FFF2-40B4-BE49-F238E27FC236}">
                <a16:creationId xmlns:a16="http://schemas.microsoft.com/office/drawing/2014/main" id="{9278E2C3-8B5B-4649-AE84-B1E1633D1AE6}"/>
              </a:ext>
            </a:extLst>
          </p:cNvPr>
          <p:cNvSpPr>
            <a:spLocks xmlns:a="http://schemas.openxmlformats.org/drawingml/2006/main" noGrp="1"/>
          </p:cNvSpPr>
          <p:nvPr/>
        </p:nvSpPr>
        <p:spPr>
          <a:xfrm xmlns:a="http://schemas.openxmlformats.org/drawingml/2006/main">
            <a:off x="609600" y="18192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9E84D5A-C311-493E-B893-CDC3A3145E8F}"/>
              </a:ext>
            </a:extLst>
          </p:cNvPr>
          <p:cNvSpPr>
            <a:spLocks xmlns:a="http://schemas.openxmlformats.org/drawingml/2006/main" noGrp="1"/>
          </p:cNvSpPr>
          <p:nvPr/>
        </p:nvSpPr>
        <p:spPr>
          <a:xfrm xmlns:a="http://schemas.openxmlformats.org/drawingml/2006/main">
            <a:off x="876300" y="1781175"/>
            <a:ext cx="5638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CNY 1,500 each month into a diversified fund</a:t>
            </a:r>
          </a:p>
        </p:txBody>
      </p:sp>
      <p:sp>
        <p:nvSpPr>
          <p:cNvPr id="10" name="">
            <a:extLst xmlns:a="http://schemas.openxmlformats.org/drawingml/2006/main">
              <a:ext uri="{FF2B5EF4-FFF2-40B4-BE49-F238E27FC236}">
                <a16:creationId xmlns:a16="http://schemas.microsoft.com/office/drawing/2014/main" id="{BBC79D43-3C27-475D-A902-1BF7BA3E96BF}"/>
              </a:ext>
            </a:extLst>
          </p:cNvPr>
          <p:cNvSpPr>
            <a:spLocks xmlns:a="http://schemas.openxmlformats.org/drawingml/2006/main" noGrp="1"/>
          </p:cNvSpPr>
          <p:nvPr/>
        </p:nvSpPr>
        <p:spPr>
          <a:xfrm xmlns:a="http://schemas.openxmlformats.org/drawingml/2006/main">
            <a:off x="609600" y="25431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446D37D-1073-4F35-AD04-348284E2F896}"/>
              </a:ext>
            </a:extLst>
          </p:cNvPr>
          <p:cNvSpPr>
            <a:spLocks xmlns:a="http://schemas.openxmlformats.org/drawingml/2006/main" noGrp="1"/>
          </p:cNvSpPr>
          <p:nvPr/>
        </p:nvSpPr>
        <p:spPr>
          <a:xfrm xmlns:a="http://schemas.openxmlformats.org/drawingml/2006/main">
            <a:off x="876300" y="2505075"/>
            <a:ext cx="5638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Home-deposit goal in twelve years</a:t>
            </a:r>
          </a:p>
        </p:txBody>
      </p:sp>
      <p:sp>
        <p:nvSpPr>
          <p:cNvPr id="12" name="">
            <a:extLst xmlns:a="http://schemas.openxmlformats.org/drawingml/2006/main">
              <a:ext uri="{FF2B5EF4-FFF2-40B4-BE49-F238E27FC236}">
                <a16:creationId xmlns:a16="http://schemas.microsoft.com/office/drawing/2014/main" id="{D967C4C6-D609-40B7-9D55-0F58FB256FC9}"/>
              </a:ext>
            </a:extLst>
          </p:cNvPr>
          <p:cNvSpPr>
            <a:spLocks xmlns:a="http://schemas.openxmlformats.org/drawingml/2006/main" noGrp="1"/>
          </p:cNvSpPr>
          <p:nvPr/>
        </p:nvSpPr>
        <p:spPr>
          <a:xfrm xmlns:a="http://schemas.openxmlformats.org/drawingml/2006/main">
            <a:off x="609600" y="32670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F7A3601-6CAF-46F3-ADA1-FAED9B697494}"/>
              </a:ext>
            </a:extLst>
          </p:cNvPr>
          <p:cNvSpPr>
            <a:spLocks xmlns:a="http://schemas.openxmlformats.org/drawingml/2006/main" noGrp="1"/>
          </p:cNvSpPr>
          <p:nvPr/>
        </p:nvSpPr>
        <p:spPr>
          <a:xfrm xmlns:a="http://schemas.openxmlformats.org/drawingml/2006/main">
            <a:off x="876300" y="3228975"/>
            <a:ext cx="5638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Checks fees, risks and fund information</a:t>
            </a:r>
          </a:p>
        </p:txBody>
      </p:sp>
      <p:sp>
        <p:nvSpPr>
          <p:cNvPr id="14" name="">
            <a:extLst xmlns:a="http://schemas.openxmlformats.org/drawingml/2006/main">
              <a:ext uri="{FF2B5EF4-FFF2-40B4-BE49-F238E27FC236}">
                <a16:creationId xmlns:a16="http://schemas.microsoft.com/office/drawing/2014/main" id="{36A7377B-47C8-4DCB-9665-19E995124D93}"/>
              </a:ext>
            </a:extLst>
          </p:cNvPr>
          <p:cNvSpPr>
            <a:spLocks xmlns:a="http://schemas.openxmlformats.org/drawingml/2006/main" noGrp="1"/>
          </p:cNvSpPr>
          <p:nvPr/>
        </p:nvSpPr>
        <p:spPr>
          <a:xfrm xmlns:a="http://schemas.openxmlformats.org/drawingml/2006/main">
            <a:off x="609600" y="3990975"/>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56BA6EE-C828-4BC0-98A3-AF23559EAA1C}"/>
              </a:ext>
            </a:extLst>
          </p:cNvPr>
          <p:cNvSpPr>
            <a:spLocks xmlns:a="http://schemas.openxmlformats.org/drawingml/2006/main" noGrp="1"/>
          </p:cNvSpPr>
          <p:nvPr/>
        </p:nvSpPr>
        <p:spPr>
          <a:xfrm xmlns:a="http://schemas.openxmlformats.org/drawingml/2006/main">
            <a:off x="876300" y="3952875"/>
            <a:ext cx="5638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Accepts temporary falls; return may come from income and value change</a:t>
            </a:r>
          </a:p>
        </p:txBody>
      </p:sp>
      <p:sp>
        <p:nvSpPr>
          <p:cNvPr id="16" name="">
            <a:extLst xmlns:a="http://schemas.openxmlformats.org/drawingml/2006/main">
              <a:ext uri="{FF2B5EF4-FFF2-40B4-BE49-F238E27FC236}">
                <a16:creationId xmlns:a16="http://schemas.microsoft.com/office/drawing/2014/main" id="{74D83F4F-DB75-4404-844B-68BFC980F02B}"/>
              </a:ext>
            </a:extLst>
          </p:cNvPr>
          <p:cNvSpPr>
            <a:spLocks xmlns:a="http://schemas.openxmlformats.org/drawingml/2006/main" noGrp="1"/>
          </p:cNvSpPr>
          <p:nvPr/>
        </p:nvSpPr>
        <p:spPr>
          <a:xfrm xmlns:a="http://schemas.openxmlformats.org/drawingml/2006/main">
            <a:off x="7067550" y="4953000"/>
            <a:ext cx="45148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0B2A4A"/>
                </a:solidFill>
              </a:defRPr>
            </a:pPr>
            <a:r>
              <a:rPr sz="1875" b="1" i="0">
                <a:solidFill>
                  <a:srgbClr val="0B2A4A"/>
                </a:solidFill>
              </a:rPr>
              <a:t>Which clue is decisive—not merely the fund name?</a:t>
            </a:r>
          </a:p>
        </p:txBody>
      </p:sp>
      <p:sp>
        <p:nvSpPr>
          <p:cNvPr id="17" name="">
            <a:extLst xmlns:a="http://schemas.openxmlformats.org/drawingml/2006/main">
              <a:ext uri="{FF2B5EF4-FFF2-40B4-BE49-F238E27FC236}">
                <a16:creationId xmlns:a16="http://schemas.microsoft.com/office/drawing/2014/main" id="{49C2062B-1D0F-49F7-BB3D-4BE3F4390F9A}"/>
              </a:ext>
            </a:extLst>
          </p:cNvPr>
          <p:cNvSpPr>
            <a:spLocks xmlns:a="http://schemas.openxmlformats.org/drawingml/2006/main" noGrp="1"/>
          </p:cNvSpPr>
          <p:nvPr/>
        </p:nvSpPr>
        <p:spPr>
          <a:xfrm xmlns:a="http://schemas.openxmlformats.org/drawingml/2006/main">
            <a:off x="7067550" y="5562600"/>
            <a:ext cx="4514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3D8DFF"/>
                </a:solidFill>
              </a:defRPr>
            </a:pPr>
            <a:r>
              <a:rPr sz="1350" b="0" i="0">
                <a:solidFill>
                  <a:srgbClr val="3D8DFF"/>
                </a:solidFill>
              </a:rPr>
              <a:t>决定性线索是什么，而不是产品名称？</a:t>
            </a:r>
          </a:p>
        </p:txBody>
      </p:sp>
    </p:spTree>
    <p:extLst>
      <p:ext uri="{BB962C8B-B14F-4D97-AF65-F5344CB8AC3E}">
        <p14:creationId xmlns:p14="http://schemas.microsoft.com/office/powerpoint/2010/main" val="184434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92AB627-0781-4EE7-86ED-CF494526692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F007EC7-7DED-43E7-BD87-5103BF6519BB}"/>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 B · REVEAL · 解释</a:t>
            </a:r>
          </a:p>
        </p:txBody>
      </p:sp>
      <p:sp>
        <p:nvSpPr>
          <p:cNvPr id="3" name="">
            <a:extLst xmlns:a="http://schemas.openxmlformats.org/drawingml/2006/main">
              <a:ext uri="{FF2B5EF4-FFF2-40B4-BE49-F238E27FC236}">
                <a16:creationId xmlns:a16="http://schemas.microsoft.com/office/drawing/2014/main" id="{FC0D5D11-CEF6-4B5B-8B9B-A46878C620E9}"/>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08</a:t>
            </a:r>
          </a:p>
        </p:txBody>
      </p:sp>
      <p:sp>
        <p:nvSpPr>
          <p:cNvPr id="4" name="">
            <a:extLst xmlns:a="http://schemas.openxmlformats.org/drawingml/2006/main">
              <a:ext uri="{FF2B5EF4-FFF2-40B4-BE49-F238E27FC236}">
                <a16:creationId xmlns:a16="http://schemas.microsoft.com/office/drawing/2014/main" id="{2ADC0F42-4F2B-4C4C-89E1-583067079D88}"/>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25143B65-2F8A-40CA-991F-25CA9FBDB33A}"/>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Investment is the strongest classification.</a:t>
            </a:r>
          </a:p>
        </p:txBody>
      </p:sp>
      <p:sp>
        <p:nvSpPr>
          <p:cNvPr id="6" name="">
            <a:extLst xmlns:a="http://schemas.openxmlformats.org/drawingml/2006/main">
              <a:ext uri="{FF2B5EF4-FFF2-40B4-BE49-F238E27FC236}">
                <a16:creationId xmlns:a16="http://schemas.microsoft.com/office/drawing/2014/main" id="{55D508F9-52FA-4C8E-9BCE-FDBE0723CC83}"/>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最强分类：投资</a:t>
            </a:r>
          </a:p>
        </p:txBody>
      </p:sp>
      <p:sp>
        <p:nvSpPr>
          <p:cNvPr id="7" name="">
            <a:extLst xmlns:a="http://schemas.openxmlformats.org/drawingml/2006/main">
              <a:ext uri="{FF2B5EF4-FFF2-40B4-BE49-F238E27FC236}">
                <a16:creationId xmlns:a16="http://schemas.microsoft.com/office/drawing/2014/main" id="{76E292CD-16C4-4528-89C9-E4EC53125B6B}"/>
              </a:ext>
            </a:extLst>
          </p:cNvPr>
          <p:cNvSpPr>
            <a:spLocks xmlns:a="http://schemas.openxmlformats.org/drawingml/2006/main" noGrp="1"/>
          </p:cNvSpPr>
          <p:nvPr/>
        </p:nvSpPr>
        <p:spPr>
          <a:xfrm xmlns:a="http://schemas.openxmlformats.org/drawingml/2006/main">
            <a:off x="609600" y="1562100"/>
            <a:ext cx="4000500" cy="4267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CF6066C-CF6C-47B7-BECE-B07B1AC18CDC}"/>
              </a:ext>
            </a:extLst>
          </p:cNvPr>
          <p:cNvSpPr>
            <a:spLocks xmlns:a="http://schemas.openxmlformats.org/drawingml/2006/main" noGrp="1"/>
          </p:cNvSpPr>
          <p:nvPr/>
        </p:nvSpPr>
        <p:spPr>
          <a:xfrm xmlns:a="http://schemas.openxmlformats.org/drawingml/2006/main">
            <a:off x="876300" y="1857375"/>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i="0">
                <a:solidFill>
                  <a:srgbClr val="FFFFFF"/>
                </a:solidFill>
              </a:defRPr>
            </a:pPr>
            <a:r>
              <a:rPr sz="3900" b="1" i="0">
                <a:solidFill>
                  <a:srgbClr val="FFFFFF"/>
                </a:solidFill>
              </a:rPr>
              <a:t>INVESTMENT</a:t>
            </a:r>
          </a:p>
        </p:txBody>
      </p:sp>
      <p:sp>
        <p:nvSpPr>
          <p:cNvPr id="9" name="">
            <a:extLst xmlns:a="http://schemas.openxmlformats.org/drawingml/2006/main">
              <a:ext uri="{FF2B5EF4-FFF2-40B4-BE49-F238E27FC236}">
                <a16:creationId xmlns:a16="http://schemas.microsoft.com/office/drawing/2014/main" id="{9912DDA2-26F5-438C-905D-4EDD8A8F90ED}"/>
              </a:ext>
            </a:extLst>
          </p:cNvPr>
          <p:cNvSpPr>
            <a:spLocks xmlns:a="http://schemas.openxmlformats.org/drawingml/2006/main" noGrp="1"/>
          </p:cNvSpPr>
          <p:nvPr/>
        </p:nvSpPr>
        <p:spPr>
          <a:xfrm xmlns:a="http://schemas.openxmlformats.org/drawingml/2006/main">
            <a:off x="876300" y="2428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投资</a:t>
            </a:r>
          </a:p>
        </p:txBody>
      </p:sp>
      <p:sp>
        <p:nvSpPr>
          <p:cNvPr id="10" name="">
            <a:extLst xmlns:a="http://schemas.openxmlformats.org/drawingml/2006/main">
              <a:ext uri="{FF2B5EF4-FFF2-40B4-BE49-F238E27FC236}">
                <a16:creationId xmlns:a16="http://schemas.microsoft.com/office/drawing/2014/main" id="{0A39A086-C714-44B6-A1D3-F6C3527A5C2C}"/>
              </a:ext>
            </a:extLst>
          </p:cNvPr>
          <p:cNvSpPr>
            <a:spLocks xmlns:a="http://schemas.openxmlformats.org/drawingml/2006/main" noGrp="1"/>
          </p:cNvSpPr>
          <p:nvPr/>
        </p:nvSpPr>
        <p:spPr>
          <a:xfrm xmlns:a="http://schemas.openxmlformats.org/drawingml/2006/main">
            <a:off x="876300" y="31432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DECISIVE CLUE / 决定性线索</a:t>
            </a:r>
          </a:p>
        </p:txBody>
      </p:sp>
      <p:sp>
        <p:nvSpPr>
          <p:cNvPr id="11" name="">
            <a:extLst xmlns:a="http://schemas.openxmlformats.org/drawingml/2006/main">
              <a:ext uri="{FF2B5EF4-FFF2-40B4-BE49-F238E27FC236}">
                <a16:creationId xmlns:a16="http://schemas.microsoft.com/office/drawing/2014/main" id="{74C8AAF5-F68B-4EB3-9988-5373B58DE2E6}"/>
              </a:ext>
            </a:extLst>
          </p:cNvPr>
          <p:cNvSpPr>
            <a:spLocks xmlns:a="http://schemas.openxmlformats.org/drawingml/2006/main" noGrp="1"/>
          </p:cNvSpPr>
          <p:nvPr/>
        </p:nvSpPr>
        <p:spPr>
          <a:xfrm xmlns:a="http://schemas.openxmlformats.org/drawingml/2006/main">
            <a:off x="876300" y="3495675"/>
            <a:ext cx="3333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FFFFFF"/>
                </a:solidFill>
              </a:defRPr>
            </a:pPr>
            <a:r>
              <a:rPr sz="1875" b="1" i="0">
                <a:solidFill>
                  <a:srgbClr val="FFFFFF"/>
                </a:solidFill>
              </a:rPr>
              <a:t>A real asset, a long goal, evidence, and accepted possible loss.</a:t>
            </a:r>
          </a:p>
        </p:txBody>
      </p:sp>
      <p:sp>
        <p:nvSpPr>
          <p:cNvPr id="12" name="">
            <a:extLst xmlns:a="http://schemas.openxmlformats.org/drawingml/2006/main">
              <a:ext uri="{FF2B5EF4-FFF2-40B4-BE49-F238E27FC236}">
                <a16:creationId xmlns:a16="http://schemas.microsoft.com/office/drawing/2014/main" id="{AC36D418-7A60-44A5-8198-6D1B9ADC72A1}"/>
              </a:ext>
            </a:extLst>
          </p:cNvPr>
          <p:cNvSpPr>
            <a:spLocks xmlns:a="http://schemas.openxmlformats.org/drawingml/2006/main" noGrp="1"/>
          </p:cNvSpPr>
          <p:nvPr/>
        </p:nvSpPr>
        <p:spPr>
          <a:xfrm xmlns:a="http://schemas.openxmlformats.org/drawingml/2006/main">
            <a:off x="5048250" y="1600200"/>
            <a:ext cx="619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Money put into an asset to seek future return while accepting uncertainty and possible loss. Return can come from income and/or a change in the asset's value.</a:t>
            </a:r>
          </a:p>
        </p:txBody>
      </p:sp>
      <p:sp>
        <p:nvSpPr>
          <p:cNvPr id="13" name="">
            <a:extLst xmlns:a="http://schemas.openxmlformats.org/drawingml/2006/main">
              <a:ext uri="{FF2B5EF4-FFF2-40B4-BE49-F238E27FC236}">
                <a16:creationId xmlns:a16="http://schemas.microsoft.com/office/drawing/2014/main" id="{B9B0F043-2C08-43D8-A3E8-E9A971D171C6}"/>
              </a:ext>
            </a:extLst>
          </p:cNvPr>
          <p:cNvSpPr>
            <a:spLocks xmlns:a="http://schemas.openxmlformats.org/drawingml/2006/main" noGrp="1"/>
          </p:cNvSpPr>
          <p:nvPr/>
        </p:nvSpPr>
        <p:spPr>
          <a:xfrm xmlns:a="http://schemas.openxmlformats.org/drawingml/2006/main">
            <a:off x="5048250" y="30480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3D8DFF"/>
                </a:solidFill>
              </a:defRPr>
            </a:pPr>
            <a:r>
              <a:rPr sz="1125" b="1" i="0">
                <a:solidFill>
                  <a:srgbClr val="3D8DFF"/>
                </a:solidFill>
              </a:rPr>
              <a:t>EXAMPLES / 例子</a:t>
            </a:r>
          </a:p>
        </p:txBody>
      </p:sp>
      <p:sp>
        <p:nvSpPr>
          <p:cNvPr id="14" name="">
            <a:extLst xmlns:a="http://schemas.openxmlformats.org/drawingml/2006/main">
              <a:ext uri="{FF2B5EF4-FFF2-40B4-BE49-F238E27FC236}">
                <a16:creationId xmlns:a16="http://schemas.microsoft.com/office/drawing/2014/main" id="{F4E68D85-FABC-4C1B-8119-97862B964800}"/>
              </a:ext>
            </a:extLst>
          </p:cNvPr>
          <p:cNvSpPr>
            <a:spLocks xmlns:a="http://schemas.openxmlformats.org/drawingml/2006/main" noGrp="1"/>
          </p:cNvSpPr>
          <p:nvPr/>
        </p:nvSpPr>
        <p:spPr>
          <a:xfrm xmlns:a="http://schemas.openxmlformats.org/drawingml/2006/main">
            <a:off x="5048250" y="3429000"/>
            <a:ext cx="6191250" cy="571500"/>
          </a:xfrm>
          <a:prstGeom xmlns:a="http://schemas.openxmlformats.org/drawingml/2006/main" prst="rect">
            <a:avLst/>
          </a:prstGeom>
          <a:solidFill xmlns:a="http://schemas.openxmlformats.org/drawingml/2006/main">
            <a:srgbClr val="EAF5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537B575-45A1-47E9-96FC-F44311869621}"/>
              </a:ext>
            </a:extLst>
          </p:cNvPr>
          <p:cNvSpPr>
            <a:spLocks xmlns:a="http://schemas.openxmlformats.org/drawingml/2006/main" noGrp="1"/>
          </p:cNvSpPr>
          <p:nvPr/>
        </p:nvSpPr>
        <p:spPr>
          <a:xfrm xmlns:a="http://schemas.openxmlformats.org/drawingml/2006/main">
            <a:off x="5219700" y="35528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1. diversified fund for a 12-year goal / 十二年目标的分散基金</a:t>
            </a:r>
          </a:p>
        </p:txBody>
      </p:sp>
      <p:sp>
        <p:nvSpPr>
          <p:cNvPr id="16" name="">
            <a:extLst xmlns:a="http://schemas.openxmlformats.org/drawingml/2006/main">
              <a:ext uri="{FF2B5EF4-FFF2-40B4-BE49-F238E27FC236}">
                <a16:creationId xmlns:a16="http://schemas.microsoft.com/office/drawing/2014/main" id="{8A984E66-6015-4A72-86A7-DEE0B2B53278}"/>
              </a:ext>
            </a:extLst>
          </p:cNvPr>
          <p:cNvSpPr>
            <a:spLocks xmlns:a="http://schemas.openxmlformats.org/drawingml/2006/main" noGrp="1"/>
          </p:cNvSpPr>
          <p:nvPr/>
        </p:nvSpPr>
        <p:spPr>
          <a:xfrm xmlns:a="http://schemas.openxmlformats.org/drawingml/2006/main">
            <a:off x="5048250" y="4152900"/>
            <a:ext cx="6191250" cy="571500"/>
          </a:xfrm>
          <a:prstGeom xmlns:a="http://schemas.openxmlformats.org/drawingml/2006/main" prst="rect">
            <a:avLst/>
          </a:prstGeom>
          <a:solidFill xmlns:a="http://schemas.openxmlformats.org/drawingml/2006/main">
            <a:srgbClr val="EAF5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968A738-B7F1-41FD-A50B-D2E28EDC027D}"/>
              </a:ext>
            </a:extLst>
          </p:cNvPr>
          <p:cNvSpPr>
            <a:spLocks xmlns:a="http://schemas.openxmlformats.org/drawingml/2006/main" noGrp="1"/>
          </p:cNvSpPr>
          <p:nvPr/>
        </p:nvSpPr>
        <p:spPr>
          <a:xfrm xmlns:a="http://schemas.openxmlformats.org/drawingml/2006/main">
            <a:off x="5219700" y="42767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2. bond held for interest / 为利息持有债券</a:t>
            </a:r>
          </a:p>
        </p:txBody>
      </p:sp>
      <p:sp>
        <p:nvSpPr>
          <p:cNvPr id="18" name="">
            <a:extLst xmlns:a="http://schemas.openxmlformats.org/drawingml/2006/main">
              <a:ext uri="{FF2B5EF4-FFF2-40B4-BE49-F238E27FC236}">
                <a16:creationId xmlns:a16="http://schemas.microsoft.com/office/drawing/2014/main" id="{D6E765FF-98B8-4474-B0A7-5C7643C28EBA}"/>
              </a:ext>
            </a:extLst>
          </p:cNvPr>
          <p:cNvSpPr>
            <a:spLocks xmlns:a="http://schemas.openxmlformats.org/drawingml/2006/main" noGrp="1"/>
          </p:cNvSpPr>
          <p:nvPr/>
        </p:nvSpPr>
        <p:spPr>
          <a:xfrm xmlns:a="http://schemas.openxmlformats.org/drawingml/2006/main">
            <a:off x="5048250" y="4876800"/>
            <a:ext cx="6191250" cy="571500"/>
          </a:xfrm>
          <a:prstGeom xmlns:a="http://schemas.openxmlformats.org/drawingml/2006/main" prst="rect">
            <a:avLst/>
          </a:prstGeom>
          <a:solidFill xmlns:a="http://schemas.openxmlformats.org/drawingml/2006/main">
            <a:srgbClr val="EAF5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F2EF3FC-A65C-4F9E-8AB8-EBF291009750}"/>
              </a:ext>
            </a:extLst>
          </p:cNvPr>
          <p:cNvSpPr>
            <a:spLocks xmlns:a="http://schemas.openxmlformats.org/drawingml/2006/main" noGrp="1"/>
          </p:cNvSpPr>
          <p:nvPr/>
        </p:nvSpPr>
        <p:spPr>
          <a:xfrm xmlns:a="http://schemas.openxmlformats.org/drawingml/2006/main">
            <a:off x="5219700" y="50006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3. shares analysed for long-run growth / 分析后长期持股</a:t>
            </a:r>
          </a:p>
        </p:txBody>
      </p:sp>
    </p:spTree>
    <p:extLst>
      <p:ext uri="{BB962C8B-B14F-4D97-AF65-F5344CB8AC3E}">
        <p14:creationId xmlns:p14="http://schemas.microsoft.com/office/powerpoint/2010/main" val="20522845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00EC1315-81E1-4268-985C-031C472E683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04BDBC5-CE42-4862-8338-0D24848BB722}"/>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BOUNDARY · 比较</a:t>
            </a:r>
          </a:p>
        </p:txBody>
      </p:sp>
      <p:sp>
        <p:nvSpPr>
          <p:cNvPr id="3" name="">
            <a:extLst xmlns:a="http://schemas.openxmlformats.org/drawingml/2006/main">
              <a:ext uri="{FF2B5EF4-FFF2-40B4-BE49-F238E27FC236}">
                <a16:creationId xmlns:a16="http://schemas.microsoft.com/office/drawing/2014/main" id="{09D71AC1-FC00-4296-80A8-6016CD1FE6B8}"/>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09</a:t>
            </a:r>
          </a:p>
        </p:txBody>
      </p:sp>
      <p:sp>
        <p:nvSpPr>
          <p:cNvPr id="4" name="">
            <a:extLst xmlns:a="http://schemas.openxmlformats.org/drawingml/2006/main">
              <a:ext uri="{FF2B5EF4-FFF2-40B4-BE49-F238E27FC236}">
                <a16:creationId xmlns:a16="http://schemas.microsoft.com/office/drawing/2014/main" id="{F4243F14-2A92-418E-9E55-4FCDE03E5A71}"/>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0B74BF40-3219-4C93-8F5B-1AC8CC50361D}"/>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Saving is not investment.</a:t>
            </a:r>
          </a:p>
        </p:txBody>
      </p:sp>
      <p:sp>
        <p:nvSpPr>
          <p:cNvPr id="6" name="">
            <a:extLst xmlns:a="http://schemas.openxmlformats.org/drawingml/2006/main">
              <a:ext uri="{FF2B5EF4-FFF2-40B4-BE49-F238E27FC236}">
                <a16:creationId xmlns:a16="http://schemas.microsoft.com/office/drawing/2014/main" id="{703AEC51-31CF-4330-868C-4918AAEC7957}"/>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储蓄并不等于投资</a:t>
            </a:r>
          </a:p>
        </p:txBody>
      </p:sp>
      <p:sp>
        <p:nvSpPr>
          <p:cNvPr id="7" name="">
            <a:extLst xmlns:a="http://schemas.openxmlformats.org/drawingml/2006/main">
              <a:ext uri="{FF2B5EF4-FFF2-40B4-BE49-F238E27FC236}">
                <a16:creationId xmlns:a16="http://schemas.microsoft.com/office/drawing/2014/main" id="{04470CA3-8459-4F8D-94C3-EA9D71BB3F60}"/>
              </a:ext>
            </a:extLst>
          </p:cNvPr>
          <p:cNvSpPr>
            <a:spLocks xmlns:a="http://schemas.openxmlformats.org/drawingml/2006/main" noGrp="1"/>
          </p:cNvSpPr>
          <p:nvPr/>
        </p:nvSpPr>
        <p:spPr>
          <a:xfrm xmlns:a="http://schemas.openxmlformats.org/drawingml/2006/main">
            <a:off x="609600" y="1571625"/>
            <a:ext cx="5257800" cy="4333875"/>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657DBA-828E-410F-BC13-17483FBA43E0}"/>
              </a:ext>
            </a:extLst>
          </p:cNvPr>
          <p:cNvSpPr>
            <a:spLocks xmlns:a="http://schemas.openxmlformats.org/drawingml/2006/main" noGrp="1"/>
          </p:cNvSpPr>
          <p:nvPr/>
        </p:nvSpPr>
        <p:spPr>
          <a:xfrm xmlns:a="http://schemas.openxmlformats.org/drawingml/2006/main">
            <a:off x="6324600" y="1571625"/>
            <a:ext cx="5257800" cy="4333875"/>
          </a:xfrm>
          <a:prstGeom xmlns:a="http://schemas.openxmlformats.org/drawingml/2006/main" prst="rect">
            <a:avLst/>
          </a:prstGeom>
          <a:solidFill xmlns:a="http://schemas.openxmlformats.org/drawingml/2006/main">
            <a:srgbClr val="EAF5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9CCD014-032C-490F-8F60-736AA2EBA299}"/>
              </a:ext>
            </a:extLst>
          </p:cNvPr>
          <p:cNvSpPr>
            <a:spLocks xmlns:a="http://schemas.openxmlformats.org/drawingml/2006/main" noGrp="1"/>
          </p:cNvSpPr>
          <p:nvPr/>
        </p:nvSpPr>
        <p:spPr>
          <a:xfrm xmlns:a="http://schemas.openxmlformats.org/drawingml/2006/main">
            <a:off x="876300" y="1809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48B788"/>
                </a:solidFill>
              </a:defRPr>
            </a:pPr>
            <a:r>
              <a:rPr sz="2325" b="1" i="0">
                <a:solidFill>
                  <a:srgbClr val="48B788"/>
                </a:solidFill>
              </a:rPr>
              <a:t>SAVING / 储蓄</a:t>
            </a:r>
          </a:p>
        </p:txBody>
      </p:sp>
      <p:sp>
        <p:nvSpPr>
          <p:cNvPr id="10" name="">
            <a:extLst xmlns:a="http://schemas.openxmlformats.org/drawingml/2006/main">
              <a:ext uri="{FF2B5EF4-FFF2-40B4-BE49-F238E27FC236}">
                <a16:creationId xmlns:a16="http://schemas.microsoft.com/office/drawing/2014/main" id="{9C7B51A6-40F0-463D-ACBE-35AA4EE70226}"/>
              </a:ext>
            </a:extLst>
          </p:cNvPr>
          <p:cNvSpPr>
            <a:spLocks xmlns:a="http://schemas.openxmlformats.org/drawingml/2006/main" noGrp="1"/>
          </p:cNvSpPr>
          <p:nvPr/>
        </p:nvSpPr>
        <p:spPr>
          <a:xfrm xmlns:a="http://schemas.openxmlformats.org/drawingml/2006/main">
            <a:off x="6591300" y="18097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3D8DFF"/>
                </a:solidFill>
              </a:defRPr>
            </a:pPr>
            <a:r>
              <a:rPr sz="2325" b="1" i="0">
                <a:solidFill>
                  <a:srgbClr val="3D8DFF"/>
                </a:solidFill>
              </a:rPr>
              <a:t>INVESTMENT / 投资</a:t>
            </a:r>
          </a:p>
        </p:txBody>
      </p:sp>
      <p:sp>
        <p:nvSpPr>
          <p:cNvPr id="11" name="">
            <a:extLst xmlns:a="http://schemas.openxmlformats.org/drawingml/2006/main">
              <a:ext uri="{FF2B5EF4-FFF2-40B4-BE49-F238E27FC236}">
                <a16:creationId xmlns:a16="http://schemas.microsoft.com/office/drawing/2014/main" id="{3EFB89E9-9B55-42BA-8C3E-7F22421BED44}"/>
              </a:ext>
            </a:extLst>
          </p:cNvPr>
          <p:cNvSpPr>
            <a:spLocks xmlns:a="http://schemas.openxmlformats.org/drawingml/2006/main" noGrp="1"/>
          </p:cNvSpPr>
          <p:nvPr/>
        </p:nvSpPr>
        <p:spPr>
          <a:xfrm xmlns:a="http://schemas.openxmlformats.org/drawingml/2006/main">
            <a:off x="876300" y="2400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MAIN PURPOSE</a:t>
            </a:r>
          </a:p>
        </p:txBody>
      </p:sp>
      <p:sp>
        <p:nvSpPr>
          <p:cNvPr id="12" name="">
            <a:extLst xmlns:a="http://schemas.openxmlformats.org/drawingml/2006/main">
              <a:ext uri="{FF2B5EF4-FFF2-40B4-BE49-F238E27FC236}">
                <a16:creationId xmlns:a16="http://schemas.microsoft.com/office/drawing/2014/main" id="{60A9FA47-2682-43A3-88B4-AA8BC696C42F}"/>
              </a:ext>
            </a:extLst>
          </p:cNvPr>
          <p:cNvSpPr>
            <a:spLocks xmlns:a="http://schemas.openxmlformats.org/drawingml/2006/main" noGrp="1"/>
          </p:cNvSpPr>
          <p:nvPr/>
        </p:nvSpPr>
        <p:spPr>
          <a:xfrm xmlns:a="http://schemas.openxmlformats.org/drawingml/2006/main">
            <a:off x="2619375" y="24003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preserve + access</a:t>
            </a:r>
          </a:p>
        </p:txBody>
      </p:sp>
      <p:sp>
        <p:nvSpPr>
          <p:cNvPr id="13" name="">
            <a:extLst xmlns:a="http://schemas.openxmlformats.org/drawingml/2006/main">
              <a:ext uri="{FF2B5EF4-FFF2-40B4-BE49-F238E27FC236}">
                <a16:creationId xmlns:a16="http://schemas.microsoft.com/office/drawing/2014/main" id="{7077F0B6-2BBE-4C61-8D03-7A5AA64A7D12}"/>
              </a:ext>
            </a:extLst>
          </p:cNvPr>
          <p:cNvSpPr>
            <a:spLocks xmlns:a="http://schemas.openxmlformats.org/drawingml/2006/main" noGrp="1"/>
          </p:cNvSpPr>
          <p:nvPr/>
        </p:nvSpPr>
        <p:spPr>
          <a:xfrm xmlns:a="http://schemas.openxmlformats.org/drawingml/2006/main">
            <a:off x="6591300" y="24003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MAIN PURPOSE</a:t>
            </a:r>
          </a:p>
        </p:txBody>
      </p:sp>
      <p:sp>
        <p:nvSpPr>
          <p:cNvPr id="14" name="">
            <a:extLst xmlns:a="http://schemas.openxmlformats.org/drawingml/2006/main">
              <a:ext uri="{FF2B5EF4-FFF2-40B4-BE49-F238E27FC236}">
                <a16:creationId xmlns:a16="http://schemas.microsoft.com/office/drawing/2014/main" id="{CE75CD1A-B425-44B2-A3AF-22975D5AF9DC}"/>
              </a:ext>
            </a:extLst>
          </p:cNvPr>
          <p:cNvSpPr>
            <a:spLocks xmlns:a="http://schemas.openxmlformats.org/drawingml/2006/main" noGrp="1"/>
          </p:cNvSpPr>
          <p:nvPr/>
        </p:nvSpPr>
        <p:spPr>
          <a:xfrm xmlns:a="http://schemas.openxmlformats.org/drawingml/2006/main">
            <a:off x="8334375" y="24003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seek future return</a:t>
            </a:r>
          </a:p>
        </p:txBody>
      </p:sp>
      <p:sp>
        <p:nvSpPr>
          <p:cNvPr id="15" name="">
            <a:extLst xmlns:a="http://schemas.openxmlformats.org/drawingml/2006/main">
              <a:ext uri="{FF2B5EF4-FFF2-40B4-BE49-F238E27FC236}">
                <a16:creationId xmlns:a16="http://schemas.microsoft.com/office/drawing/2014/main" id="{D1B0B58A-3F41-4CA9-BF42-E24C32F34DF8}"/>
              </a:ext>
            </a:extLst>
          </p:cNvPr>
          <p:cNvSpPr>
            <a:spLocks xmlns:a="http://schemas.openxmlformats.org/drawingml/2006/main" noGrp="1"/>
          </p:cNvSpPr>
          <p:nvPr/>
        </p:nvSpPr>
        <p:spPr>
          <a:xfrm xmlns:a="http://schemas.openxmlformats.org/drawingml/2006/main">
            <a:off x="876300" y="30384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TYPICAL HORIZON</a:t>
            </a:r>
          </a:p>
        </p:txBody>
      </p:sp>
      <p:sp>
        <p:nvSpPr>
          <p:cNvPr id="16" name="">
            <a:extLst xmlns:a="http://schemas.openxmlformats.org/drawingml/2006/main">
              <a:ext uri="{FF2B5EF4-FFF2-40B4-BE49-F238E27FC236}">
                <a16:creationId xmlns:a16="http://schemas.microsoft.com/office/drawing/2014/main" id="{D052D8C8-E96C-4A51-BDD3-7D4A9D028047}"/>
              </a:ext>
            </a:extLst>
          </p:cNvPr>
          <p:cNvSpPr>
            <a:spLocks xmlns:a="http://schemas.openxmlformats.org/drawingml/2006/main" noGrp="1"/>
          </p:cNvSpPr>
          <p:nvPr/>
        </p:nvSpPr>
        <p:spPr>
          <a:xfrm xmlns:a="http://schemas.openxmlformats.org/drawingml/2006/main">
            <a:off x="2619375" y="303847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nearer needs</a:t>
            </a:r>
          </a:p>
        </p:txBody>
      </p:sp>
      <p:sp>
        <p:nvSpPr>
          <p:cNvPr id="17" name="">
            <a:extLst xmlns:a="http://schemas.openxmlformats.org/drawingml/2006/main">
              <a:ext uri="{FF2B5EF4-FFF2-40B4-BE49-F238E27FC236}">
                <a16:creationId xmlns:a16="http://schemas.microsoft.com/office/drawing/2014/main" id="{C635C5CA-EF5C-4031-8A38-3D510F29B8D8}"/>
              </a:ext>
            </a:extLst>
          </p:cNvPr>
          <p:cNvSpPr>
            <a:spLocks xmlns:a="http://schemas.openxmlformats.org/drawingml/2006/main" noGrp="1"/>
          </p:cNvSpPr>
          <p:nvPr/>
        </p:nvSpPr>
        <p:spPr>
          <a:xfrm xmlns:a="http://schemas.openxmlformats.org/drawingml/2006/main">
            <a:off x="6591300" y="30384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TYPICAL HORIZON</a:t>
            </a:r>
          </a:p>
        </p:txBody>
      </p:sp>
      <p:sp>
        <p:nvSpPr>
          <p:cNvPr id="18" name="">
            <a:extLst xmlns:a="http://schemas.openxmlformats.org/drawingml/2006/main">
              <a:ext uri="{FF2B5EF4-FFF2-40B4-BE49-F238E27FC236}">
                <a16:creationId xmlns:a16="http://schemas.microsoft.com/office/drawing/2014/main" id="{8F4B83DD-3BDD-4C17-AA19-5E264859335B}"/>
              </a:ext>
            </a:extLst>
          </p:cNvPr>
          <p:cNvSpPr>
            <a:spLocks xmlns:a="http://schemas.openxmlformats.org/drawingml/2006/main" noGrp="1"/>
          </p:cNvSpPr>
          <p:nvPr/>
        </p:nvSpPr>
        <p:spPr>
          <a:xfrm xmlns:a="http://schemas.openxmlformats.org/drawingml/2006/main">
            <a:off x="8334375" y="303847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often longer goals</a:t>
            </a:r>
          </a:p>
        </p:txBody>
      </p:sp>
      <p:sp>
        <p:nvSpPr>
          <p:cNvPr id="19" name="">
            <a:extLst xmlns:a="http://schemas.openxmlformats.org/drawingml/2006/main">
              <a:ext uri="{FF2B5EF4-FFF2-40B4-BE49-F238E27FC236}">
                <a16:creationId xmlns:a16="http://schemas.microsoft.com/office/drawing/2014/main" id="{51070DFC-A7EA-4FA4-9F86-9E8B339F024F}"/>
              </a:ext>
            </a:extLst>
          </p:cNvPr>
          <p:cNvSpPr>
            <a:spLocks xmlns:a="http://schemas.openxmlformats.org/drawingml/2006/main" noGrp="1"/>
          </p:cNvSpPr>
          <p:nvPr/>
        </p:nvSpPr>
        <p:spPr>
          <a:xfrm xmlns:a="http://schemas.openxmlformats.org/drawingml/2006/main">
            <a:off x="876300" y="36766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ACCESS</a:t>
            </a:r>
          </a:p>
        </p:txBody>
      </p:sp>
      <p:sp>
        <p:nvSpPr>
          <p:cNvPr id="20" name="">
            <a:extLst xmlns:a="http://schemas.openxmlformats.org/drawingml/2006/main">
              <a:ext uri="{FF2B5EF4-FFF2-40B4-BE49-F238E27FC236}">
                <a16:creationId xmlns:a16="http://schemas.microsoft.com/office/drawing/2014/main" id="{97CED259-2954-411E-BC0F-B1C0763D77C5}"/>
              </a:ext>
            </a:extLst>
          </p:cNvPr>
          <p:cNvSpPr>
            <a:spLocks xmlns:a="http://schemas.openxmlformats.org/drawingml/2006/main" noGrp="1"/>
          </p:cNvSpPr>
          <p:nvPr/>
        </p:nvSpPr>
        <p:spPr>
          <a:xfrm xmlns:a="http://schemas.openxmlformats.org/drawingml/2006/main">
            <a:off x="2619375" y="36766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usually high</a:t>
            </a:r>
          </a:p>
        </p:txBody>
      </p:sp>
      <p:sp>
        <p:nvSpPr>
          <p:cNvPr id="21" name="">
            <a:extLst xmlns:a="http://schemas.openxmlformats.org/drawingml/2006/main">
              <a:ext uri="{FF2B5EF4-FFF2-40B4-BE49-F238E27FC236}">
                <a16:creationId xmlns:a16="http://schemas.microsoft.com/office/drawing/2014/main" id="{F3F9546E-70D9-43FA-A2E1-60C079DBDFB0}"/>
              </a:ext>
            </a:extLst>
          </p:cNvPr>
          <p:cNvSpPr>
            <a:spLocks xmlns:a="http://schemas.openxmlformats.org/drawingml/2006/main" noGrp="1"/>
          </p:cNvSpPr>
          <p:nvPr/>
        </p:nvSpPr>
        <p:spPr>
          <a:xfrm xmlns:a="http://schemas.openxmlformats.org/drawingml/2006/main">
            <a:off x="6591300" y="36766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ACCESS</a:t>
            </a:r>
          </a:p>
        </p:txBody>
      </p:sp>
      <p:sp>
        <p:nvSpPr>
          <p:cNvPr id="22" name="">
            <a:extLst xmlns:a="http://schemas.openxmlformats.org/drawingml/2006/main">
              <a:ext uri="{FF2B5EF4-FFF2-40B4-BE49-F238E27FC236}">
                <a16:creationId xmlns:a16="http://schemas.microsoft.com/office/drawing/2014/main" id="{01F34FA6-C1CD-4D1B-9C72-1B544635953F}"/>
              </a:ext>
            </a:extLst>
          </p:cNvPr>
          <p:cNvSpPr>
            <a:spLocks xmlns:a="http://schemas.openxmlformats.org/drawingml/2006/main" noGrp="1"/>
          </p:cNvSpPr>
          <p:nvPr/>
        </p:nvSpPr>
        <p:spPr>
          <a:xfrm xmlns:a="http://schemas.openxmlformats.org/drawingml/2006/main">
            <a:off x="8334375" y="367665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may require selling</a:t>
            </a:r>
          </a:p>
        </p:txBody>
      </p:sp>
      <p:sp>
        <p:nvSpPr>
          <p:cNvPr id="23" name="">
            <a:extLst xmlns:a="http://schemas.openxmlformats.org/drawingml/2006/main">
              <a:ext uri="{FF2B5EF4-FFF2-40B4-BE49-F238E27FC236}">
                <a16:creationId xmlns:a16="http://schemas.microsoft.com/office/drawing/2014/main" id="{F4A77246-20AE-4D08-ABBF-EAAF4399E508}"/>
              </a:ext>
            </a:extLst>
          </p:cNvPr>
          <p:cNvSpPr>
            <a:spLocks xmlns:a="http://schemas.openxmlformats.org/drawingml/2006/main" noGrp="1"/>
          </p:cNvSpPr>
          <p:nvPr/>
        </p:nvSpPr>
        <p:spPr>
          <a:xfrm xmlns:a="http://schemas.openxmlformats.org/drawingml/2006/main">
            <a:off x="876300" y="43148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RISK PATTERN</a:t>
            </a:r>
          </a:p>
        </p:txBody>
      </p:sp>
      <p:sp>
        <p:nvSpPr>
          <p:cNvPr id="24" name="">
            <a:extLst xmlns:a="http://schemas.openxmlformats.org/drawingml/2006/main">
              <a:ext uri="{FF2B5EF4-FFF2-40B4-BE49-F238E27FC236}">
                <a16:creationId xmlns:a16="http://schemas.microsoft.com/office/drawing/2014/main" id="{AFCF294A-BC9D-4B6D-9BEF-3133314A34F8}"/>
              </a:ext>
            </a:extLst>
          </p:cNvPr>
          <p:cNvSpPr>
            <a:spLocks xmlns:a="http://schemas.openxmlformats.org/drawingml/2006/main" noGrp="1"/>
          </p:cNvSpPr>
          <p:nvPr/>
        </p:nvSpPr>
        <p:spPr>
          <a:xfrm xmlns:a="http://schemas.openxmlformats.org/drawingml/2006/main">
            <a:off x="2619375" y="431482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inflation still matters</a:t>
            </a:r>
          </a:p>
        </p:txBody>
      </p:sp>
      <p:sp>
        <p:nvSpPr>
          <p:cNvPr id="25" name="">
            <a:extLst xmlns:a="http://schemas.openxmlformats.org/drawingml/2006/main">
              <a:ext uri="{FF2B5EF4-FFF2-40B4-BE49-F238E27FC236}">
                <a16:creationId xmlns:a16="http://schemas.microsoft.com/office/drawing/2014/main" id="{E0BE2DFB-E9AD-4290-9C13-7B3DFDC9DE10}"/>
              </a:ext>
            </a:extLst>
          </p:cNvPr>
          <p:cNvSpPr>
            <a:spLocks xmlns:a="http://schemas.openxmlformats.org/drawingml/2006/main" noGrp="1"/>
          </p:cNvSpPr>
          <p:nvPr/>
        </p:nvSpPr>
        <p:spPr>
          <a:xfrm xmlns:a="http://schemas.openxmlformats.org/drawingml/2006/main">
            <a:off x="6591300" y="43148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RISK PATTERN</a:t>
            </a:r>
          </a:p>
        </p:txBody>
      </p:sp>
      <p:sp>
        <p:nvSpPr>
          <p:cNvPr id="26" name="">
            <a:extLst xmlns:a="http://schemas.openxmlformats.org/drawingml/2006/main">
              <a:ext uri="{FF2B5EF4-FFF2-40B4-BE49-F238E27FC236}">
                <a16:creationId xmlns:a16="http://schemas.microsoft.com/office/drawing/2014/main" id="{3121B346-F226-45D0-8900-0892BA10D524}"/>
              </a:ext>
            </a:extLst>
          </p:cNvPr>
          <p:cNvSpPr>
            <a:spLocks xmlns:a="http://schemas.openxmlformats.org/drawingml/2006/main" noGrp="1"/>
          </p:cNvSpPr>
          <p:nvPr/>
        </p:nvSpPr>
        <p:spPr>
          <a:xfrm xmlns:a="http://schemas.openxmlformats.org/drawingml/2006/main">
            <a:off x="8334375" y="4314825"/>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value can rise or fall</a:t>
            </a:r>
          </a:p>
        </p:txBody>
      </p:sp>
      <p:sp>
        <p:nvSpPr>
          <p:cNvPr id="27" name="">
            <a:extLst xmlns:a="http://schemas.openxmlformats.org/drawingml/2006/main">
              <a:ext uri="{FF2B5EF4-FFF2-40B4-BE49-F238E27FC236}">
                <a16:creationId xmlns:a16="http://schemas.microsoft.com/office/drawing/2014/main" id="{ECF7964D-9E78-413E-8C84-78957B587B91}"/>
              </a:ext>
            </a:extLst>
          </p:cNvPr>
          <p:cNvSpPr>
            <a:spLocks xmlns:a="http://schemas.openxmlformats.org/drawingml/2006/main" noGrp="1"/>
          </p:cNvSpPr>
          <p:nvPr/>
        </p:nvSpPr>
        <p:spPr>
          <a:xfrm xmlns:a="http://schemas.openxmlformats.org/drawingml/2006/main">
            <a:off x="876300" y="4953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PAYOFF SOURCE</a:t>
            </a:r>
          </a:p>
        </p:txBody>
      </p:sp>
      <p:sp>
        <p:nvSpPr>
          <p:cNvPr id="28" name="">
            <a:extLst xmlns:a="http://schemas.openxmlformats.org/drawingml/2006/main">
              <a:ext uri="{FF2B5EF4-FFF2-40B4-BE49-F238E27FC236}">
                <a16:creationId xmlns:a16="http://schemas.microsoft.com/office/drawing/2014/main" id="{FDCA6076-9E9F-49CD-8867-1B75E111BA58}"/>
              </a:ext>
            </a:extLst>
          </p:cNvPr>
          <p:cNvSpPr>
            <a:spLocks xmlns:a="http://schemas.openxmlformats.org/drawingml/2006/main" noGrp="1"/>
          </p:cNvSpPr>
          <p:nvPr/>
        </p:nvSpPr>
        <p:spPr>
          <a:xfrm xmlns:a="http://schemas.openxmlformats.org/drawingml/2006/main">
            <a:off x="2619375" y="49530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interest, if any</a:t>
            </a:r>
          </a:p>
        </p:txBody>
      </p:sp>
      <p:sp>
        <p:nvSpPr>
          <p:cNvPr id="29" name="">
            <a:extLst xmlns:a="http://schemas.openxmlformats.org/drawingml/2006/main">
              <a:ext uri="{FF2B5EF4-FFF2-40B4-BE49-F238E27FC236}">
                <a16:creationId xmlns:a16="http://schemas.microsoft.com/office/drawing/2014/main" id="{1D0EB0F2-1147-4941-A789-8222813E921D}"/>
              </a:ext>
            </a:extLst>
          </p:cNvPr>
          <p:cNvSpPr>
            <a:spLocks xmlns:a="http://schemas.openxmlformats.org/drawingml/2006/main" noGrp="1"/>
          </p:cNvSpPr>
          <p:nvPr/>
        </p:nvSpPr>
        <p:spPr>
          <a:xfrm xmlns:a="http://schemas.openxmlformats.org/drawingml/2006/main">
            <a:off x="6591300" y="49530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PAYOFF SOURCE</a:t>
            </a:r>
          </a:p>
        </p:txBody>
      </p:sp>
      <p:sp>
        <p:nvSpPr>
          <p:cNvPr id="30" name="">
            <a:extLst xmlns:a="http://schemas.openxmlformats.org/drawingml/2006/main">
              <a:ext uri="{FF2B5EF4-FFF2-40B4-BE49-F238E27FC236}">
                <a16:creationId xmlns:a16="http://schemas.microsoft.com/office/drawing/2014/main" id="{77F421EB-442E-491F-A39B-5EABE7298431}"/>
              </a:ext>
            </a:extLst>
          </p:cNvPr>
          <p:cNvSpPr>
            <a:spLocks xmlns:a="http://schemas.openxmlformats.org/drawingml/2006/main" noGrp="1"/>
          </p:cNvSpPr>
          <p:nvPr/>
        </p:nvSpPr>
        <p:spPr>
          <a:xfrm xmlns:a="http://schemas.openxmlformats.org/drawingml/2006/main">
            <a:off x="8334375" y="4953000"/>
            <a:ext cx="276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00000"/>
                </a:solidFill>
              </a:defRPr>
            </a:pPr>
            <a:r>
              <a:rPr sz="1575" b="1" i="0">
                <a:solidFill>
                  <a:srgbClr val="000000"/>
                </a:solidFill>
              </a:rPr>
              <a:t>income + value change</a:t>
            </a:r>
          </a:p>
        </p:txBody>
      </p:sp>
    </p:spTree>
    <p:extLst>
      <p:ext uri="{BB962C8B-B14F-4D97-AF65-F5344CB8AC3E}">
        <p14:creationId xmlns:p14="http://schemas.microsoft.com/office/powerpoint/2010/main" val="18848819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7DCC517-DDB1-4A84-BA92-63A2443F867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F657E06-DA46-4972-823C-A9EAEF5C87F8}"/>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 C · TRY FIRST · 先判断</a:t>
            </a:r>
          </a:p>
        </p:txBody>
      </p:sp>
      <p:sp>
        <p:nvSpPr>
          <p:cNvPr id="3" name="">
            <a:extLst xmlns:a="http://schemas.openxmlformats.org/drawingml/2006/main">
              <a:ext uri="{FF2B5EF4-FFF2-40B4-BE49-F238E27FC236}">
                <a16:creationId xmlns:a16="http://schemas.microsoft.com/office/drawing/2014/main" id="{AF61540B-1277-42D8-AD28-35D7027FA269}"/>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10</a:t>
            </a:r>
          </a:p>
        </p:txBody>
      </p:sp>
      <p:sp>
        <p:nvSpPr>
          <p:cNvPr id="4" name="">
            <a:extLst xmlns:a="http://schemas.openxmlformats.org/drawingml/2006/main">
              <a:ext uri="{FF2B5EF4-FFF2-40B4-BE49-F238E27FC236}">
                <a16:creationId xmlns:a16="http://schemas.microsoft.com/office/drawing/2014/main" id="{082DDE03-4B0B-42E3-BA8A-C4917E4DFCFD}"/>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CF8AF7DD-69B9-4D18-AD7E-14C1801441C0}"/>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Peng Jie in Wuhan</a:t>
            </a:r>
          </a:p>
        </p:txBody>
      </p:sp>
      <p:sp>
        <p:nvSpPr>
          <p:cNvPr id="6" name="">
            <a:extLst xmlns:a="http://schemas.openxmlformats.org/drawingml/2006/main">
              <a:ext uri="{FF2B5EF4-FFF2-40B4-BE49-F238E27FC236}">
                <a16:creationId xmlns:a16="http://schemas.microsoft.com/office/drawing/2014/main" id="{81B080EE-E6CF-4571-9832-2E01973A78E3}"/>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武汉的彭杰</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4063c69ee134401"/>
          <a:srcRect xmlns:a="http://schemas.openxmlformats.org/drawingml/2006/main" l="10017" t="0" r="10017" b="0"/>
          <a:stretch xmlns:a="http://schemas.openxmlformats.org/drawingml/2006/main">
            <a:fillRect l="0" t="0" r="0" b="0"/>
          </a:stretch>
        </p:blipFill>
        <p:spPr>
          <a:xfrm xmlns:a="http://schemas.openxmlformats.org/drawingml/2006/main">
            <a:off x="6572250" y="1581150"/>
            <a:ext cx="5010150" cy="3524250"/>
          </a:xfrm>
          <a:prstGeom xmlns:a="http://schemas.openxmlformats.org/drawingml/2006/main" prst="roundRect">
            <a:avLst>
              <a:gd name="adj" fmla="val 3243"/>
            </a:avLst>
          </a:prstGeom>
        </p:spPr>
      </p:pic>
      <p:sp>
        <p:nvSpPr>
          <p:cNvPr id="8" name="">
            <a:extLst xmlns:a="http://schemas.openxmlformats.org/drawingml/2006/main">
              <a:ext uri="{FF2B5EF4-FFF2-40B4-BE49-F238E27FC236}">
                <a16:creationId xmlns:a16="http://schemas.microsoft.com/office/drawing/2014/main" id="{DE7B274F-C118-46F4-90D4-FEFB19038D7D}"/>
              </a:ext>
            </a:extLst>
          </p:cNvPr>
          <p:cNvSpPr>
            <a:spLocks xmlns:a="http://schemas.openxmlformats.org/drawingml/2006/main" noGrp="1"/>
          </p:cNvSpPr>
          <p:nvPr/>
        </p:nvSpPr>
        <p:spPr>
          <a:xfrm xmlns:a="http://schemas.openxmlformats.org/drawingml/2006/main">
            <a:off x="609600" y="182880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A0BF28A-B8C9-4428-95D4-CE5BC74FAA34}"/>
              </a:ext>
            </a:extLst>
          </p:cNvPr>
          <p:cNvSpPr>
            <a:spLocks xmlns:a="http://schemas.openxmlformats.org/drawingml/2006/main" noGrp="1"/>
          </p:cNvSpPr>
          <p:nvPr/>
        </p:nvSpPr>
        <p:spPr>
          <a:xfrm xmlns:a="http://schemas.openxmlformats.org/drawingml/2006/main">
            <a:off x="876300" y="1790700"/>
            <a:ext cx="5067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Unverified livestream rumour about a secret contract</a:t>
            </a:r>
          </a:p>
        </p:txBody>
      </p:sp>
      <p:sp>
        <p:nvSpPr>
          <p:cNvPr id="10" name="">
            <a:extLst xmlns:a="http://schemas.openxmlformats.org/drawingml/2006/main">
              <a:ext uri="{FF2B5EF4-FFF2-40B4-BE49-F238E27FC236}">
                <a16:creationId xmlns:a16="http://schemas.microsoft.com/office/drawing/2014/main" id="{C4766466-FCA0-4752-9163-C5485F516032}"/>
              </a:ext>
            </a:extLst>
          </p:cNvPr>
          <p:cNvSpPr>
            <a:spLocks xmlns:a="http://schemas.openxmlformats.org/drawingml/2006/main" noGrp="1"/>
          </p:cNvSpPr>
          <p:nvPr/>
        </p:nvSpPr>
        <p:spPr>
          <a:xfrm xmlns:a="http://schemas.openxmlformats.org/drawingml/2006/main">
            <a:off x="609600" y="257175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9A31E91-C7EB-4193-A7AE-8161EDE58404}"/>
              </a:ext>
            </a:extLst>
          </p:cNvPr>
          <p:cNvSpPr>
            <a:spLocks xmlns:a="http://schemas.openxmlformats.org/drawingml/2006/main" noGrp="1"/>
          </p:cNvSpPr>
          <p:nvPr/>
        </p:nvSpPr>
        <p:spPr>
          <a:xfrm xmlns:a="http://schemas.openxmlformats.org/drawingml/2006/main">
            <a:off x="876300" y="2533650"/>
            <a:ext cx="5067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Borrows CNY 20,000 and buys one small technology company</a:t>
            </a:r>
          </a:p>
        </p:txBody>
      </p:sp>
      <p:sp>
        <p:nvSpPr>
          <p:cNvPr id="12" name="">
            <a:extLst xmlns:a="http://schemas.openxmlformats.org/drawingml/2006/main">
              <a:ext uri="{FF2B5EF4-FFF2-40B4-BE49-F238E27FC236}">
                <a16:creationId xmlns:a16="http://schemas.microsoft.com/office/drawing/2014/main" id="{0FD0B85F-25F4-4673-9708-2C905889A4C1}"/>
              </a:ext>
            </a:extLst>
          </p:cNvPr>
          <p:cNvSpPr>
            <a:spLocks xmlns:a="http://schemas.openxmlformats.org/drawingml/2006/main" noGrp="1"/>
          </p:cNvSpPr>
          <p:nvPr/>
        </p:nvSpPr>
        <p:spPr>
          <a:xfrm xmlns:a="http://schemas.openxmlformats.org/drawingml/2006/main">
            <a:off x="609600" y="331470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782BC75-876B-4F04-80A6-1B5FB6C718A0}"/>
              </a:ext>
            </a:extLst>
          </p:cNvPr>
          <p:cNvSpPr>
            <a:spLocks xmlns:a="http://schemas.openxmlformats.org/drawingml/2006/main" noGrp="1"/>
          </p:cNvSpPr>
          <p:nvPr/>
        </p:nvSpPr>
        <p:spPr>
          <a:xfrm xmlns:a="http://schemas.openxmlformats.org/drawingml/2006/main">
            <a:off x="876300" y="3276600"/>
            <a:ext cx="5067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Plans to sell within days if other buyers push the price higher</a:t>
            </a:r>
          </a:p>
        </p:txBody>
      </p:sp>
      <p:sp>
        <p:nvSpPr>
          <p:cNvPr id="14" name="">
            <a:extLst xmlns:a="http://schemas.openxmlformats.org/drawingml/2006/main">
              <a:ext uri="{FF2B5EF4-FFF2-40B4-BE49-F238E27FC236}">
                <a16:creationId xmlns:a16="http://schemas.microsoft.com/office/drawing/2014/main" id="{937B324A-BB93-4B6E-AD4B-917248D5B599}"/>
              </a:ext>
            </a:extLst>
          </p:cNvPr>
          <p:cNvSpPr>
            <a:spLocks xmlns:a="http://schemas.openxmlformats.org/drawingml/2006/main" noGrp="1"/>
          </p:cNvSpPr>
          <p:nvPr/>
        </p:nvSpPr>
        <p:spPr>
          <a:xfrm xmlns:a="http://schemas.openxmlformats.org/drawingml/2006/main">
            <a:off x="609600" y="405765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D1871D-6FE6-4426-B110-A5B5E1346281}"/>
              </a:ext>
            </a:extLst>
          </p:cNvPr>
          <p:cNvSpPr>
            <a:spLocks xmlns:a="http://schemas.openxmlformats.org/drawingml/2006/main" noGrp="1"/>
          </p:cNvSpPr>
          <p:nvPr/>
        </p:nvSpPr>
        <p:spPr>
          <a:xfrm xmlns:a="http://schemas.openxmlformats.org/drawingml/2006/main">
            <a:off x="876300" y="4019550"/>
            <a:ext cx="50673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A loss could make loan repayment difficult</a:t>
            </a:r>
          </a:p>
        </p:txBody>
      </p:sp>
      <p:sp>
        <p:nvSpPr>
          <p:cNvPr id="16" name="">
            <a:extLst xmlns:a="http://schemas.openxmlformats.org/drawingml/2006/main">
              <a:ext uri="{FF2B5EF4-FFF2-40B4-BE49-F238E27FC236}">
                <a16:creationId xmlns:a16="http://schemas.microsoft.com/office/drawing/2014/main" id="{A88F3604-A04D-4918-95A9-F5F34AAF1BD0}"/>
              </a:ext>
            </a:extLst>
          </p:cNvPr>
          <p:cNvSpPr>
            <a:spLocks xmlns:a="http://schemas.openxmlformats.org/drawingml/2006/main" noGrp="1"/>
          </p:cNvSpPr>
          <p:nvPr/>
        </p:nvSpPr>
        <p:spPr>
          <a:xfrm xmlns:a="http://schemas.openxmlformats.org/drawingml/2006/main">
            <a:off x="6572250" y="5381625"/>
            <a:ext cx="5010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B2A4A"/>
                </a:solidFill>
              </a:defRPr>
            </a:pPr>
            <a:r>
              <a:rPr sz="1800" b="1" i="0">
                <a:solidFill>
                  <a:srgbClr val="0B2A4A"/>
                </a:solidFill>
              </a:rPr>
              <a:t>What is the hoped-for payoff actually depending on?</a:t>
            </a:r>
          </a:p>
        </p:txBody>
      </p:sp>
      <p:sp>
        <p:nvSpPr>
          <p:cNvPr id="17" name="">
            <a:extLst xmlns:a="http://schemas.openxmlformats.org/drawingml/2006/main">
              <a:ext uri="{FF2B5EF4-FFF2-40B4-BE49-F238E27FC236}">
                <a16:creationId xmlns:a16="http://schemas.microsoft.com/office/drawing/2014/main" id="{E2F12647-8F54-46EB-9D7A-657D4397775F}"/>
              </a:ext>
            </a:extLst>
          </p:cNvPr>
          <p:cNvSpPr>
            <a:spLocks xmlns:a="http://schemas.openxmlformats.org/drawingml/2006/main" noGrp="1"/>
          </p:cNvSpPr>
          <p:nvPr/>
        </p:nvSpPr>
        <p:spPr>
          <a:xfrm xmlns:a="http://schemas.openxmlformats.org/drawingml/2006/main">
            <a:off x="6572250" y="5962650"/>
            <a:ext cx="5010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3D8DFF"/>
                </a:solidFill>
              </a:defRPr>
            </a:pPr>
            <a:r>
              <a:rPr sz="1350" b="0" i="0">
                <a:solidFill>
                  <a:srgbClr val="3D8DFF"/>
                </a:solidFill>
              </a:rPr>
              <a:t>预期回报实际上取决于什么？</a:t>
            </a:r>
          </a:p>
        </p:txBody>
      </p:sp>
    </p:spTree>
    <p:extLst>
      <p:ext uri="{BB962C8B-B14F-4D97-AF65-F5344CB8AC3E}">
        <p14:creationId xmlns:p14="http://schemas.microsoft.com/office/powerpoint/2010/main" val="9280922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0D617F4-B5C3-43C3-9BFC-ABE5D2FF154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03C3E45-632A-438B-A486-86AC8F7B03C3}"/>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 C · REVEAL · 解释</a:t>
            </a:r>
          </a:p>
        </p:txBody>
      </p:sp>
      <p:sp>
        <p:nvSpPr>
          <p:cNvPr id="3" name="">
            <a:extLst xmlns:a="http://schemas.openxmlformats.org/drawingml/2006/main">
              <a:ext uri="{FF2B5EF4-FFF2-40B4-BE49-F238E27FC236}">
                <a16:creationId xmlns:a16="http://schemas.microsoft.com/office/drawing/2014/main" id="{A2BED283-E4EF-4032-AD4E-A16A25267049}"/>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11</a:t>
            </a:r>
          </a:p>
        </p:txBody>
      </p:sp>
      <p:sp>
        <p:nvSpPr>
          <p:cNvPr id="4" name="">
            <a:extLst xmlns:a="http://schemas.openxmlformats.org/drawingml/2006/main">
              <a:ext uri="{FF2B5EF4-FFF2-40B4-BE49-F238E27FC236}">
                <a16:creationId xmlns:a16="http://schemas.microsoft.com/office/drawing/2014/main" id="{2604F5C4-94C4-4A20-91E5-B4C17A5F07C9}"/>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695FD924-EB4A-4BCB-9D02-673205267D05}"/>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Speculation is the strongest classification.</a:t>
            </a:r>
          </a:p>
        </p:txBody>
      </p:sp>
      <p:sp>
        <p:nvSpPr>
          <p:cNvPr id="6" name="">
            <a:extLst xmlns:a="http://schemas.openxmlformats.org/drawingml/2006/main">
              <a:ext uri="{FF2B5EF4-FFF2-40B4-BE49-F238E27FC236}">
                <a16:creationId xmlns:a16="http://schemas.microsoft.com/office/drawing/2014/main" id="{EE544D81-B2EF-4F43-BE7F-9E99E5B05864}"/>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最强分类：投机</a:t>
            </a:r>
          </a:p>
        </p:txBody>
      </p:sp>
      <p:sp>
        <p:nvSpPr>
          <p:cNvPr id="7" name="">
            <a:extLst xmlns:a="http://schemas.openxmlformats.org/drawingml/2006/main">
              <a:ext uri="{FF2B5EF4-FFF2-40B4-BE49-F238E27FC236}">
                <a16:creationId xmlns:a16="http://schemas.microsoft.com/office/drawing/2014/main" id="{084D3E09-211E-4627-BE80-F0A8B983F7FF}"/>
              </a:ext>
            </a:extLst>
          </p:cNvPr>
          <p:cNvSpPr>
            <a:spLocks xmlns:a="http://schemas.openxmlformats.org/drawingml/2006/main" noGrp="1"/>
          </p:cNvSpPr>
          <p:nvPr/>
        </p:nvSpPr>
        <p:spPr>
          <a:xfrm xmlns:a="http://schemas.openxmlformats.org/drawingml/2006/main">
            <a:off x="609600" y="1562100"/>
            <a:ext cx="4000500" cy="42672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E488DF1-294C-42B9-A38C-7112E8872D51}"/>
              </a:ext>
            </a:extLst>
          </p:cNvPr>
          <p:cNvSpPr>
            <a:spLocks xmlns:a="http://schemas.openxmlformats.org/drawingml/2006/main" noGrp="1"/>
          </p:cNvSpPr>
          <p:nvPr/>
        </p:nvSpPr>
        <p:spPr>
          <a:xfrm xmlns:a="http://schemas.openxmlformats.org/drawingml/2006/main">
            <a:off x="876300" y="1857375"/>
            <a:ext cx="342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i="0">
                <a:solidFill>
                  <a:srgbClr val="FFFFFF"/>
                </a:solidFill>
              </a:defRPr>
            </a:pPr>
            <a:r>
              <a:rPr sz="3900" b="1" i="0">
                <a:solidFill>
                  <a:srgbClr val="FFFFFF"/>
                </a:solidFill>
              </a:rPr>
              <a:t>SPECULATION</a:t>
            </a:r>
          </a:p>
        </p:txBody>
      </p:sp>
      <p:sp>
        <p:nvSpPr>
          <p:cNvPr id="9" name="">
            <a:extLst xmlns:a="http://schemas.openxmlformats.org/drawingml/2006/main">
              <a:ext uri="{FF2B5EF4-FFF2-40B4-BE49-F238E27FC236}">
                <a16:creationId xmlns:a16="http://schemas.microsoft.com/office/drawing/2014/main" id="{C7F90C32-9FDA-4E09-8848-C083FB8790DE}"/>
              </a:ext>
            </a:extLst>
          </p:cNvPr>
          <p:cNvSpPr>
            <a:spLocks xmlns:a="http://schemas.openxmlformats.org/drawingml/2006/main" noGrp="1"/>
          </p:cNvSpPr>
          <p:nvPr/>
        </p:nvSpPr>
        <p:spPr>
          <a:xfrm xmlns:a="http://schemas.openxmlformats.org/drawingml/2006/main">
            <a:off x="876300" y="2428875"/>
            <a:ext cx="342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FFFFF"/>
                </a:solidFill>
              </a:defRPr>
            </a:pPr>
            <a:r>
              <a:rPr sz="2025" b="1" i="0">
                <a:solidFill>
                  <a:srgbClr val="FFFFFF"/>
                </a:solidFill>
              </a:rPr>
              <a:t>投机</a:t>
            </a:r>
          </a:p>
        </p:txBody>
      </p:sp>
      <p:sp>
        <p:nvSpPr>
          <p:cNvPr id="10" name="">
            <a:extLst xmlns:a="http://schemas.openxmlformats.org/drawingml/2006/main">
              <a:ext uri="{FF2B5EF4-FFF2-40B4-BE49-F238E27FC236}">
                <a16:creationId xmlns:a16="http://schemas.microsoft.com/office/drawing/2014/main" id="{5FDC7A4E-1449-4E44-BF10-D278F0687EC9}"/>
              </a:ext>
            </a:extLst>
          </p:cNvPr>
          <p:cNvSpPr>
            <a:spLocks xmlns:a="http://schemas.openxmlformats.org/drawingml/2006/main" noGrp="1"/>
          </p:cNvSpPr>
          <p:nvPr/>
        </p:nvSpPr>
        <p:spPr>
          <a:xfrm xmlns:a="http://schemas.openxmlformats.org/drawingml/2006/main">
            <a:off x="876300" y="31432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FFFFF"/>
                </a:solidFill>
              </a:defRPr>
            </a:pPr>
            <a:r>
              <a:rPr sz="1125" b="1" i="0">
                <a:solidFill>
                  <a:srgbClr val="FFFFFF"/>
                </a:solidFill>
              </a:rPr>
              <a:t>DECISIVE CLUE / 决定性线索</a:t>
            </a:r>
          </a:p>
        </p:txBody>
      </p:sp>
      <p:sp>
        <p:nvSpPr>
          <p:cNvPr id="11" name="">
            <a:extLst xmlns:a="http://schemas.openxmlformats.org/drawingml/2006/main">
              <a:ext uri="{FF2B5EF4-FFF2-40B4-BE49-F238E27FC236}">
                <a16:creationId xmlns:a16="http://schemas.microsoft.com/office/drawing/2014/main" id="{5E0E3271-697B-4FC2-978F-6561488E0D9C}"/>
              </a:ext>
            </a:extLst>
          </p:cNvPr>
          <p:cNvSpPr>
            <a:spLocks xmlns:a="http://schemas.openxmlformats.org/drawingml/2006/main" noGrp="1"/>
          </p:cNvSpPr>
          <p:nvPr/>
        </p:nvSpPr>
        <p:spPr>
          <a:xfrm xmlns:a="http://schemas.openxmlformats.org/drawingml/2006/main">
            <a:off x="876300" y="3495675"/>
            <a:ext cx="3333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FFFFFF"/>
                </a:solidFill>
              </a:defRPr>
            </a:pPr>
            <a:r>
              <a:rPr sz="1875" b="1" i="0">
                <a:solidFill>
                  <a:srgbClr val="FFFFFF"/>
                </a:solidFill>
              </a:rPr>
              <a:t>The hoped-for gain depends mainly on a rapid price prediction under high uncertainty.</a:t>
            </a:r>
          </a:p>
        </p:txBody>
      </p:sp>
      <p:sp>
        <p:nvSpPr>
          <p:cNvPr id="12" name="">
            <a:extLst xmlns:a="http://schemas.openxmlformats.org/drawingml/2006/main">
              <a:ext uri="{FF2B5EF4-FFF2-40B4-BE49-F238E27FC236}">
                <a16:creationId xmlns:a16="http://schemas.microsoft.com/office/drawing/2014/main" id="{6FDF470A-3CB0-4344-B2B8-C0C7B20C3FA2}"/>
              </a:ext>
            </a:extLst>
          </p:cNvPr>
          <p:cNvSpPr>
            <a:spLocks xmlns:a="http://schemas.openxmlformats.org/drawingml/2006/main" noGrp="1"/>
          </p:cNvSpPr>
          <p:nvPr/>
        </p:nvSpPr>
        <p:spPr>
          <a:xfrm xmlns:a="http://schemas.openxmlformats.org/drawingml/2006/main">
            <a:off x="5048250" y="1600200"/>
            <a:ext cx="61912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Substantial risk taken mainly in hope of profiting from an anticipated price move or uncertain event. Common clues include a short horizon, concentration, leverage and weak evidence.</a:t>
            </a:r>
          </a:p>
        </p:txBody>
      </p:sp>
      <p:sp>
        <p:nvSpPr>
          <p:cNvPr id="13" name="">
            <a:extLst xmlns:a="http://schemas.openxmlformats.org/drawingml/2006/main">
              <a:ext uri="{FF2B5EF4-FFF2-40B4-BE49-F238E27FC236}">
                <a16:creationId xmlns:a16="http://schemas.microsoft.com/office/drawing/2014/main" id="{124932C8-418C-405F-A206-CCA48E827DAF}"/>
              </a:ext>
            </a:extLst>
          </p:cNvPr>
          <p:cNvSpPr>
            <a:spLocks xmlns:a="http://schemas.openxmlformats.org/drawingml/2006/main" noGrp="1"/>
          </p:cNvSpPr>
          <p:nvPr/>
        </p:nvSpPr>
        <p:spPr>
          <a:xfrm xmlns:a="http://schemas.openxmlformats.org/drawingml/2006/main">
            <a:off x="5048250" y="30480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F4A261"/>
                </a:solidFill>
              </a:defRPr>
            </a:pPr>
            <a:r>
              <a:rPr sz="1125" b="1" i="0">
                <a:solidFill>
                  <a:srgbClr val="F4A261"/>
                </a:solidFill>
              </a:rPr>
              <a:t>EXAMPLES / 例子</a:t>
            </a:r>
          </a:p>
        </p:txBody>
      </p:sp>
      <p:sp>
        <p:nvSpPr>
          <p:cNvPr id="14" name="">
            <a:extLst xmlns:a="http://schemas.openxmlformats.org/drawingml/2006/main">
              <a:ext uri="{FF2B5EF4-FFF2-40B4-BE49-F238E27FC236}">
                <a16:creationId xmlns:a16="http://schemas.microsoft.com/office/drawing/2014/main" id="{DAFB57E4-B8E7-445C-88A0-E554EDBC65AB}"/>
              </a:ext>
            </a:extLst>
          </p:cNvPr>
          <p:cNvSpPr>
            <a:spLocks xmlns:a="http://schemas.openxmlformats.org/drawingml/2006/main" noGrp="1"/>
          </p:cNvSpPr>
          <p:nvPr/>
        </p:nvSpPr>
        <p:spPr>
          <a:xfrm xmlns:a="http://schemas.openxmlformats.org/drawingml/2006/main">
            <a:off x="5048250" y="3429000"/>
            <a:ext cx="6191250" cy="571500"/>
          </a:xfrm>
          <a:prstGeom xmlns:a="http://schemas.openxmlformats.org/drawingml/2006/main" prst="rect">
            <a:avLst/>
          </a:prstGeom>
          <a:solidFill xmlns:a="http://schemas.openxmlformats.org/drawingml/2006/main">
            <a:srgbClr val="FFF2E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91DAC5A-918E-4761-B6E5-6CF941E01389}"/>
              </a:ext>
            </a:extLst>
          </p:cNvPr>
          <p:cNvSpPr>
            <a:spLocks xmlns:a="http://schemas.openxmlformats.org/drawingml/2006/main" noGrp="1"/>
          </p:cNvSpPr>
          <p:nvPr/>
        </p:nvSpPr>
        <p:spPr>
          <a:xfrm xmlns:a="http://schemas.openxmlformats.org/drawingml/2006/main">
            <a:off x="5219700" y="35528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1. borrowed-money rumour trade / 借钱听传言交易</a:t>
            </a:r>
          </a:p>
        </p:txBody>
      </p:sp>
      <p:sp>
        <p:nvSpPr>
          <p:cNvPr id="16" name="">
            <a:extLst xmlns:a="http://schemas.openxmlformats.org/drawingml/2006/main">
              <a:ext uri="{FF2B5EF4-FFF2-40B4-BE49-F238E27FC236}">
                <a16:creationId xmlns:a16="http://schemas.microsoft.com/office/drawing/2014/main" id="{20E72209-C732-4392-8EC6-911A1FE8325A}"/>
              </a:ext>
            </a:extLst>
          </p:cNvPr>
          <p:cNvSpPr>
            <a:spLocks xmlns:a="http://schemas.openxmlformats.org/drawingml/2006/main" noGrp="1"/>
          </p:cNvSpPr>
          <p:nvPr/>
        </p:nvSpPr>
        <p:spPr>
          <a:xfrm xmlns:a="http://schemas.openxmlformats.org/drawingml/2006/main">
            <a:off x="5048250" y="4152900"/>
            <a:ext cx="6191250" cy="571500"/>
          </a:xfrm>
          <a:prstGeom xmlns:a="http://schemas.openxmlformats.org/drawingml/2006/main" prst="rect">
            <a:avLst/>
          </a:prstGeom>
          <a:solidFill xmlns:a="http://schemas.openxmlformats.org/drawingml/2006/main">
            <a:srgbClr val="FFF2E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BC913D5-E790-407F-B9FC-EC5119079552}"/>
              </a:ext>
            </a:extLst>
          </p:cNvPr>
          <p:cNvSpPr>
            <a:spLocks xmlns:a="http://schemas.openxmlformats.org/drawingml/2006/main" noGrp="1"/>
          </p:cNvSpPr>
          <p:nvPr/>
        </p:nvSpPr>
        <p:spPr>
          <a:xfrm xmlns:a="http://schemas.openxmlformats.org/drawingml/2006/main">
            <a:off x="5219700" y="42767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2. one-day price bet / 一天的价格押注</a:t>
            </a:r>
          </a:p>
        </p:txBody>
      </p:sp>
      <p:sp>
        <p:nvSpPr>
          <p:cNvPr id="18" name="">
            <a:extLst xmlns:a="http://schemas.openxmlformats.org/drawingml/2006/main">
              <a:ext uri="{FF2B5EF4-FFF2-40B4-BE49-F238E27FC236}">
                <a16:creationId xmlns:a16="http://schemas.microsoft.com/office/drawing/2014/main" id="{29B157B3-FE3F-48A2-9CE7-40BBCBB43E2E}"/>
              </a:ext>
            </a:extLst>
          </p:cNvPr>
          <p:cNvSpPr>
            <a:spLocks xmlns:a="http://schemas.openxmlformats.org/drawingml/2006/main" noGrp="1"/>
          </p:cNvSpPr>
          <p:nvPr/>
        </p:nvSpPr>
        <p:spPr>
          <a:xfrm xmlns:a="http://schemas.openxmlformats.org/drawingml/2006/main">
            <a:off x="5048250" y="4876800"/>
            <a:ext cx="6191250" cy="571500"/>
          </a:xfrm>
          <a:prstGeom xmlns:a="http://schemas.openxmlformats.org/drawingml/2006/main" prst="rect">
            <a:avLst/>
          </a:prstGeom>
          <a:solidFill xmlns:a="http://schemas.openxmlformats.org/drawingml/2006/main">
            <a:srgbClr val="FFF2E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2FE76A7-7F83-4A0C-9D3B-6561FC5614A6}"/>
              </a:ext>
            </a:extLst>
          </p:cNvPr>
          <p:cNvSpPr>
            <a:spLocks xmlns:a="http://schemas.openxmlformats.org/drawingml/2006/main" noGrp="1"/>
          </p:cNvSpPr>
          <p:nvPr/>
        </p:nvSpPr>
        <p:spPr>
          <a:xfrm xmlns:a="http://schemas.openxmlformats.org/drawingml/2006/main">
            <a:off x="5219700" y="5000625"/>
            <a:ext cx="5857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3. concentrated position without research / 无研究的集中持仓</a:t>
            </a:r>
          </a:p>
        </p:txBody>
      </p:sp>
    </p:spTree>
    <p:extLst>
      <p:ext uri="{BB962C8B-B14F-4D97-AF65-F5344CB8AC3E}">
        <p14:creationId xmlns:p14="http://schemas.microsoft.com/office/powerpoint/2010/main" val="65081977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150A0F0-C3C8-4635-8DAD-78F82AEC75A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7C5BA55-6BA7-401B-B814-67B0BEEAEF96}"/>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CASES D + E · TRY FIRST · 先判断</a:t>
            </a:r>
          </a:p>
        </p:txBody>
      </p:sp>
      <p:sp>
        <p:nvSpPr>
          <p:cNvPr id="3" name="">
            <a:extLst xmlns:a="http://schemas.openxmlformats.org/drawingml/2006/main">
              <a:ext uri="{FF2B5EF4-FFF2-40B4-BE49-F238E27FC236}">
                <a16:creationId xmlns:a16="http://schemas.microsoft.com/office/drawing/2014/main" id="{46825855-F29B-4D76-9E5C-DFFC091E8479}"/>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12</a:t>
            </a:r>
          </a:p>
        </p:txBody>
      </p:sp>
      <p:sp>
        <p:nvSpPr>
          <p:cNvPr id="4" name="">
            <a:extLst xmlns:a="http://schemas.openxmlformats.org/drawingml/2006/main">
              <a:ext uri="{FF2B5EF4-FFF2-40B4-BE49-F238E27FC236}">
                <a16:creationId xmlns:a16="http://schemas.microsoft.com/office/drawing/2014/main" id="{E96259EB-C10D-4A3C-8912-EA3341A19819}"/>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3B98B030-3DBA-44E7-AD15-0A721BA905F9}"/>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Two purchases. Two very different benefits.</a:t>
            </a:r>
          </a:p>
        </p:txBody>
      </p:sp>
      <p:sp>
        <p:nvSpPr>
          <p:cNvPr id="6" name="">
            <a:extLst xmlns:a="http://schemas.openxmlformats.org/drawingml/2006/main">
              <a:ext uri="{FF2B5EF4-FFF2-40B4-BE49-F238E27FC236}">
                <a16:creationId xmlns:a16="http://schemas.microsoft.com/office/drawing/2014/main" id="{B92C2784-1924-4ADD-BAC4-90DDD4D2D34E}"/>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两次购买，两种完全不同的收益</a:t>
            </a:r>
          </a:p>
        </p:txBody>
      </p:sp>
      <p:sp>
        <p:nvSpPr>
          <p:cNvPr id="7" name="">
            <a:extLst xmlns:a="http://schemas.openxmlformats.org/drawingml/2006/main">
              <a:ext uri="{FF2B5EF4-FFF2-40B4-BE49-F238E27FC236}">
                <a16:creationId xmlns:a16="http://schemas.microsoft.com/office/drawing/2014/main" id="{57700A59-3F45-4488-9BC0-69F68D59155E}"/>
              </a:ext>
            </a:extLst>
          </p:cNvPr>
          <p:cNvSpPr>
            <a:spLocks xmlns:a="http://schemas.openxmlformats.org/drawingml/2006/main" noGrp="1"/>
          </p:cNvSpPr>
          <p:nvPr/>
        </p:nvSpPr>
        <p:spPr>
          <a:xfrm xmlns:a="http://schemas.openxmlformats.org/drawingml/2006/main">
            <a:off x="609600" y="1619250"/>
            <a:ext cx="5257800" cy="4095750"/>
          </a:xfrm>
          <a:prstGeom xmlns:a="http://schemas.openxmlformats.org/drawingml/2006/main" prst="rect">
            <a:avLst/>
          </a:prstGeom>
          <a:solidFill xmlns:a="http://schemas.openxmlformats.org/drawingml/2006/main">
            <a:srgbClr val="F1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6CE486A-C102-472B-9AFD-E40251B26CAC}"/>
              </a:ext>
            </a:extLst>
          </p:cNvPr>
          <p:cNvSpPr>
            <a:spLocks xmlns:a="http://schemas.openxmlformats.org/drawingml/2006/main" noGrp="1"/>
          </p:cNvSpPr>
          <p:nvPr/>
        </p:nvSpPr>
        <p:spPr>
          <a:xfrm xmlns:a="http://schemas.openxmlformats.org/drawingml/2006/main">
            <a:off x="6324600" y="1619250"/>
            <a:ext cx="5257800" cy="4095750"/>
          </a:xfrm>
          <a:prstGeom xmlns:a="http://schemas.openxmlformats.org/drawingml/2006/main" prst="rect">
            <a:avLst/>
          </a:prstGeom>
          <a:solidFill xmlns:a="http://schemas.openxmlformats.org/drawingml/2006/main">
            <a:srgbClr val="FCEC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EB11DB5-F688-4647-A22E-1A2ECE71E281}"/>
              </a:ext>
            </a:extLst>
          </p:cNvPr>
          <p:cNvSpPr>
            <a:spLocks xmlns:a="http://schemas.openxmlformats.org/drawingml/2006/main" noGrp="1"/>
          </p:cNvSpPr>
          <p:nvPr/>
        </p:nvSpPr>
        <p:spPr>
          <a:xfrm xmlns:a="http://schemas.openxmlformats.org/drawingml/2006/main">
            <a:off x="876300" y="18859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8C7CF2"/>
                </a:solidFill>
              </a:defRPr>
            </a:pPr>
            <a:r>
              <a:rPr sz="2250" b="1" i="0">
                <a:solidFill>
                  <a:srgbClr val="8C7CF2"/>
                </a:solidFill>
              </a:rPr>
              <a:t>CASE D · Lin Xia</a:t>
            </a:r>
          </a:p>
        </p:txBody>
      </p:sp>
      <p:sp>
        <p:nvSpPr>
          <p:cNvPr id="10" name="">
            <a:extLst xmlns:a="http://schemas.openxmlformats.org/drawingml/2006/main">
              <a:ext uri="{FF2B5EF4-FFF2-40B4-BE49-F238E27FC236}">
                <a16:creationId xmlns:a16="http://schemas.microsoft.com/office/drawing/2014/main" id="{6F74408D-56C0-445C-8917-AA6F3D1A52D3}"/>
              </a:ext>
            </a:extLst>
          </p:cNvPr>
          <p:cNvSpPr>
            <a:spLocks xmlns:a="http://schemas.openxmlformats.org/drawingml/2006/main" noGrp="1"/>
          </p:cNvSpPr>
          <p:nvPr/>
        </p:nvSpPr>
        <p:spPr>
          <a:xfrm xmlns:a="http://schemas.openxmlformats.org/drawingml/2006/main">
            <a:off x="876300" y="22860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8C7CF2"/>
                </a:solidFill>
              </a:defRPr>
            </a:pPr>
            <a:r>
              <a:rPr sz="1500" b="0" i="0">
                <a:solidFill>
                  <a:srgbClr val="8C7CF2"/>
                </a:solidFill>
              </a:rPr>
              <a:t>案例 D · 林霞</a:t>
            </a:r>
          </a:p>
        </p:txBody>
      </p:sp>
      <p:sp>
        <p:nvSpPr>
          <p:cNvPr id="11" name="">
            <a:extLst xmlns:a="http://schemas.openxmlformats.org/drawingml/2006/main">
              <a:ext uri="{FF2B5EF4-FFF2-40B4-BE49-F238E27FC236}">
                <a16:creationId xmlns:a16="http://schemas.microsoft.com/office/drawing/2014/main" id="{69B9B274-4779-40E7-8A78-30C06925AF7A}"/>
              </a:ext>
            </a:extLst>
          </p:cNvPr>
          <p:cNvSpPr>
            <a:spLocks xmlns:a="http://schemas.openxmlformats.org/drawingml/2006/main" noGrp="1"/>
          </p:cNvSpPr>
          <p:nvPr/>
        </p:nvSpPr>
        <p:spPr>
          <a:xfrm xmlns:a="http://schemas.openxmlformats.org/drawingml/2006/main">
            <a:off x="876300" y="2895600"/>
            <a:ext cx="95250" cy="95250"/>
          </a:xfrm>
          <a:prstGeom xmlns:a="http://schemas.openxmlformats.org/drawingml/2006/main" prst="rect">
            <a:avLst/>
          </a:prstGeom>
          <a:solidFill xmlns:a="http://schemas.openxmlformats.org/drawingml/2006/main">
            <a:srgbClr val="8C7CF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2528E8E-70E2-4F04-B7AA-C71C7A92ACCD}"/>
              </a:ext>
            </a:extLst>
          </p:cNvPr>
          <p:cNvSpPr>
            <a:spLocks xmlns:a="http://schemas.openxmlformats.org/drawingml/2006/main" noGrp="1"/>
          </p:cNvSpPr>
          <p:nvPr/>
        </p:nvSpPr>
        <p:spPr>
          <a:xfrm xmlns:a="http://schemas.openxmlformats.org/drawingml/2006/main">
            <a:off x="1143000" y="2857500"/>
            <a:ext cx="4114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CNY 8,000 camera for a family trip</a:t>
            </a:r>
          </a:p>
        </p:txBody>
      </p:sp>
      <p:sp>
        <p:nvSpPr>
          <p:cNvPr id="13" name="">
            <a:extLst xmlns:a="http://schemas.openxmlformats.org/drawingml/2006/main">
              <a:ext uri="{FF2B5EF4-FFF2-40B4-BE49-F238E27FC236}">
                <a16:creationId xmlns:a16="http://schemas.microsoft.com/office/drawing/2014/main" id="{92B846D1-EAD1-4826-9CE8-A89192BF4C52}"/>
              </a:ext>
            </a:extLst>
          </p:cNvPr>
          <p:cNvSpPr>
            <a:spLocks xmlns:a="http://schemas.openxmlformats.org/drawingml/2006/main" noGrp="1"/>
          </p:cNvSpPr>
          <p:nvPr/>
        </p:nvSpPr>
        <p:spPr>
          <a:xfrm xmlns:a="http://schemas.openxmlformats.org/drawingml/2006/main">
            <a:off x="876300" y="3600450"/>
            <a:ext cx="95250" cy="95250"/>
          </a:xfrm>
          <a:prstGeom xmlns:a="http://schemas.openxmlformats.org/drawingml/2006/main" prst="rect">
            <a:avLst/>
          </a:prstGeom>
          <a:solidFill xmlns:a="http://schemas.openxmlformats.org/drawingml/2006/main">
            <a:srgbClr val="8C7CF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05811A9-46EA-4246-BCF5-2136268D57FC}"/>
              </a:ext>
            </a:extLst>
          </p:cNvPr>
          <p:cNvSpPr>
            <a:spLocks xmlns:a="http://schemas.openxmlformats.org/drawingml/2006/main" noGrp="1"/>
          </p:cNvSpPr>
          <p:nvPr/>
        </p:nvSpPr>
        <p:spPr>
          <a:xfrm xmlns:a="http://schemas.openxmlformats.org/drawingml/2006/main">
            <a:off x="1143000" y="3562350"/>
            <a:ext cx="4114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Main benefit: personal use and enjoyment</a:t>
            </a:r>
          </a:p>
        </p:txBody>
      </p:sp>
      <p:sp>
        <p:nvSpPr>
          <p:cNvPr id="15" name="">
            <a:extLst xmlns:a="http://schemas.openxmlformats.org/drawingml/2006/main">
              <a:ext uri="{FF2B5EF4-FFF2-40B4-BE49-F238E27FC236}">
                <a16:creationId xmlns:a16="http://schemas.microsoft.com/office/drawing/2014/main" id="{1FDEC692-300C-4B97-91A1-D5AEC09CDF1A}"/>
              </a:ext>
            </a:extLst>
          </p:cNvPr>
          <p:cNvSpPr>
            <a:spLocks xmlns:a="http://schemas.openxmlformats.org/drawingml/2006/main" noGrp="1"/>
          </p:cNvSpPr>
          <p:nvPr/>
        </p:nvSpPr>
        <p:spPr>
          <a:xfrm xmlns:a="http://schemas.openxmlformats.org/drawingml/2006/main">
            <a:off x="876300" y="4305300"/>
            <a:ext cx="95250" cy="95250"/>
          </a:xfrm>
          <a:prstGeom xmlns:a="http://schemas.openxmlformats.org/drawingml/2006/main" prst="rect">
            <a:avLst/>
          </a:prstGeom>
          <a:solidFill xmlns:a="http://schemas.openxmlformats.org/drawingml/2006/main">
            <a:srgbClr val="8C7CF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7DF3B9-A682-4F35-8721-6C371E12E594}"/>
              </a:ext>
            </a:extLst>
          </p:cNvPr>
          <p:cNvSpPr>
            <a:spLocks xmlns:a="http://schemas.openxmlformats.org/drawingml/2006/main" noGrp="1"/>
          </p:cNvSpPr>
          <p:nvPr/>
        </p:nvSpPr>
        <p:spPr>
          <a:xfrm xmlns:a="http://schemas.openxmlformats.org/drawingml/2006/main">
            <a:off x="1143000" y="4267200"/>
            <a:ext cx="4114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No clients, business plan or profit intention</a:t>
            </a:r>
          </a:p>
        </p:txBody>
      </p:sp>
      <p:sp>
        <p:nvSpPr>
          <p:cNvPr id="17" name="">
            <a:extLst xmlns:a="http://schemas.openxmlformats.org/drawingml/2006/main">
              <a:ext uri="{FF2B5EF4-FFF2-40B4-BE49-F238E27FC236}">
                <a16:creationId xmlns:a16="http://schemas.microsoft.com/office/drawing/2014/main" id="{8130A146-1CE4-4466-A1DB-64B6D731DF45}"/>
              </a:ext>
            </a:extLst>
          </p:cNvPr>
          <p:cNvSpPr>
            <a:spLocks xmlns:a="http://schemas.openxmlformats.org/drawingml/2006/main" noGrp="1"/>
          </p:cNvSpPr>
          <p:nvPr/>
        </p:nvSpPr>
        <p:spPr>
          <a:xfrm xmlns:a="http://schemas.openxmlformats.org/drawingml/2006/main">
            <a:off x="876300" y="5095875"/>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B2A4A"/>
                </a:solidFill>
              </a:defRPr>
            </a:pPr>
            <a:r>
              <a:rPr sz="1575" b="1" i="0">
                <a:solidFill>
                  <a:srgbClr val="0B2A4A"/>
                </a:solidFill>
              </a:rPr>
              <a:t>Classification + clue / 分类 + 线索?</a:t>
            </a:r>
          </a:p>
        </p:txBody>
      </p:sp>
      <p:sp>
        <p:nvSpPr>
          <p:cNvPr id="18" name="">
            <a:extLst xmlns:a="http://schemas.openxmlformats.org/drawingml/2006/main">
              <a:ext uri="{FF2B5EF4-FFF2-40B4-BE49-F238E27FC236}">
                <a16:creationId xmlns:a16="http://schemas.microsoft.com/office/drawing/2014/main" id="{97614E36-CF1B-4A6B-AB66-562BADF5D2D5}"/>
              </a:ext>
            </a:extLst>
          </p:cNvPr>
          <p:cNvSpPr>
            <a:spLocks xmlns:a="http://schemas.openxmlformats.org/drawingml/2006/main" noGrp="1"/>
          </p:cNvSpPr>
          <p:nvPr/>
        </p:nvSpPr>
        <p:spPr>
          <a:xfrm xmlns:a="http://schemas.openxmlformats.org/drawingml/2006/main">
            <a:off x="6591300" y="18859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i="0">
                <a:solidFill>
                  <a:srgbClr val="E56666"/>
                </a:solidFill>
              </a:defRPr>
            </a:pPr>
            <a:r>
              <a:rPr sz="2250" b="1" i="0">
                <a:solidFill>
                  <a:srgbClr val="E56666"/>
                </a:solidFill>
              </a:rPr>
              <a:t>CASE E · Zhou Ming</a:t>
            </a:r>
          </a:p>
        </p:txBody>
      </p:sp>
      <p:sp>
        <p:nvSpPr>
          <p:cNvPr id="19" name="">
            <a:extLst xmlns:a="http://schemas.openxmlformats.org/drawingml/2006/main">
              <a:ext uri="{FF2B5EF4-FFF2-40B4-BE49-F238E27FC236}">
                <a16:creationId xmlns:a16="http://schemas.microsoft.com/office/drawing/2014/main" id="{7A417526-79F7-477F-A4CC-A9D48676DDA8}"/>
              </a:ext>
            </a:extLst>
          </p:cNvPr>
          <p:cNvSpPr>
            <a:spLocks xmlns:a="http://schemas.openxmlformats.org/drawingml/2006/main" noGrp="1"/>
          </p:cNvSpPr>
          <p:nvPr/>
        </p:nvSpPr>
        <p:spPr>
          <a:xfrm xmlns:a="http://schemas.openxmlformats.org/drawingml/2006/main">
            <a:off x="6591300" y="2286000"/>
            <a:ext cx="4381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E56666"/>
                </a:solidFill>
              </a:defRPr>
            </a:pPr>
            <a:r>
              <a:rPr sz="1500" b="0" i="0">
                <a:solidFill>
                  <a:srgbClr val="E56666"/>
                </a:solidFill>
              </a:rPr>
              <a:t>案例 E · 周明</a:t>
            </a:r>
          </a:p>
        </p:txBody>
      </p:sp>
      <p:sp>
        <p:nvSpPr>
          <p:cNvPr id="20" name="">
            <a:extLst xmlns:a="http://schemas.openxmlformats.org/drawingml/2006/main">
              <a:ext uri="{FF2B5EF4-FFF2-40B4-BE49-F238E27FC236}">
                <a16:creationId xmlns:a16="http://schemas.microsoft.com/office/drawing/2014/main" id="{2A428A25-130A-4809-8A00-589C21143E42}"/>
              </a:ext>
            </a:extLst>
          </p:cNvPr>
          <p:cNvSpPr>
            <a:spLocks xmlns:a="http://schemas.openxmlformats.org/drawingml/2006/main" noGrp="1"/>
          </p:cNvSpPr>
          <p:nvPr/>
        </p:nvSpPr>
        <p:spPr>
          <a:xfrm xmlns:a="http://schemas.openxmlformats.org/drawingml/2006/main">
            <a:off x="6591300" y="2895600"/>
            <a:ext cx="95250" cy="95250"/>
          </a:xfrm>
          <a:prstGeom xmlns:a="http://schemas.openxmlformats.org/drawingml/2006/main" prst="rect">
            <a:avLst/>
          </a:prstGeom>
          <a:solidFill xmlns:a="http://schemas.openxmlformats.org/drawingml/2006/main">
            <a:srgbClr val="E5666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24F8731-6869-4697-B1D0-3A6155AB0251}"/>
              </a:ext>
            </a:extLst>
          </p:cNvPr>
          <p:cNvSpPr>
            <a:spLocks xmlns:a="http://schemas.openxmlformats.org/drawingml/2006/main" noGrp="1"/>
          </p:cNvSpPr>
          <p:nvPr/>
        </p:nvSpPr>
        <p:spPr>
          <a:xfrm xmlns:a="http://schemas.openxmlformats.org/drawingml/2006/main">
            <a:off x="6858000" y="2857500"/>
            <a:ext cx="4114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CNY 200 sports-lottery tickets</a:t>
            </a:r>
          </a:p>
        </p:txBody>
      </p:sp>
      <p:sp>
        <p:nvSpPr>
          <p:cNvPr id="22" name="">
            <a:extLst xmlns:a="http://schemas.openxmlformats.org/drawingml/2006/main">
              <a:ext uri="{FF2B5EF4-FFF2-40B4-BE49-F238E27FC236}">
                <a16:creationId xmlns:a16="http://schemas.microsoft.com/office/drawing/2014/main" id="{60561976-130D-4590-8F3D-273909F4C5CC}"/>
              </a:ext>
            </a:extLst>
          </p:cNvPr>
          <p:cNvSpPr>
            <a:spLocks xmlns:a="http://schemas.openxmlformats.org/drawingml/2006/main" noGrp="1"/>
          </p:cNvSpPr>
          <p:nvPr/>
        </p:nvSpPr>
        <p:spPr>
          <a:xfrm xmlns:a="http://schemas.openxmlformats.org/drawingml/2006/main">
            <a:off x="6591300" y="3600450"/>
            <a:ext cx="95250" cy="95250"/>
          </a:xfrm>
          <a:prstGeom xmlns:a="http://schemas.openxmlformats.org/drawingml/2006/main" prst="rect">
            <a:avLst/>
          </a:prstGeom>
          <a:solidFill xmlns:a="http://schemas.openxmlformats.org/drawingml/2006/main">
            <a:srgbClr val="E5666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3857D5E-DE9F-44E3-83CE-51A6500D1B1C}"/>
              </a:ext>
            </a:extLst>
          </p:cNvPr>
          <p:cNvSpPr>
            <a:spLocks xmlns:a="http://schemas.openxmlformats.org/drawingml/2006/main" noGrp="1"/>
          </p:cNvSpPr>
          <p:nvPr/>
        </p:nvSpPr>
        <p:spPr>
          <a:xfrm xmlns:a="http://schemas.openxmlformats.org/drawingml/2006/main">
            <a:off x="6858000" y="3562350"/>
            <a:ext cx="4114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Prize follows match outcomes and lottery rules</a:t>
            </a:r>
          </a:p>
        </p:txBody>
      </p:sp>
      <p:sp>
        <p:nvSpPr>
          <p:cNvPr id="24" name="">
            <a:extLst xmlns:a="http://schemas.openxmlformats.org/drawingml/2006/main">
              <a:ext uri="{FF2B5EF4-FFF2-40B4-BE49-F238E27FC236}">
                <a16:creationId xmlns:a16="http://schemas.microsoft.com/office/drawing/2014/main" id="{1BA6BDDF-355A-4217-8406-EDA8F74F847F}"/>
              </a:ext>
            </a:extLst>
          </p:cNvPr>
          <p:cNvSpPr>
            <a:spLocks xmlns:a="http://schemas.openxmlformats.org/drawingml/2006/main" noGrp="1"/>
          </p:cNvSpPr>
          <p:nvPr/>
        </p:nvSpPr>
        <p:spPr>
          <a:xfrm xmlns:a="http://schemas.openxmlformats.org/drawingml/2006/main">
            <a:off x="6591300" y="4305300"/>
            <a:ext cx="95250" cy="95250"/>
          </a:xfrm>
          <a:prstGeom xmlns:a="http://schemas.openxmlformats.org/drawingml/2006/main" prst="rect">
            <a:avLst/>
          </a:prstGeom>
          <a:solidFill xmlns:a="http://schemas.openxmlformats.org/drawingml/2006/main">
            <a:srgbClr val="E5666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346E464-0DC2-4834-9D7F-2094789C213B}"/>
              </a:ext>
            </a:extLst>
          </p:cNvPr>
          <p:cNvSpPr>
            <a:spLocks xmlns:a="http://schemas.openxmlformats.org/drawingml/2006/main" noGrp="1"/>
          </p:cNvSpPr>
          <p:nvPr/>
        </p:nvSpPr>
        <p:spPr>
          <a:xfrm xmlns:a="http://schemas.openxmlformats.org/drawingml/2006/main">
            <a:off x="6858000" y="4267200"/>
            <a:ext cx="4114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No ownership of a team, business or productive asset</a:t>
            </a:r>
          </a:p>
        </p:txBody>
      </p:sp>
      <p:sp>
        <p:nvSpPr>
          <p:cNvPr id="26" name="">
            <a:extLst xmlns:a="http://schemas.openxmlformats.org/drawingml/2006/main">
              <a:ext uri="{FF2B5EF4-FFF2-40B4-BE49-F238E27FC236}">
                <a16:creationId xmlns:a16="http://schemas.microsoft.com/office/drawing/2014/main" id="{29B5C079-A0A9-44E8-9556-A370C52716DC}"/>
              </a:ext>
            </a:extLst>
          </p:cNvPr>
          <p:cNvSpPr>
            <a:spLocks xmlns:a="http://schemas.openxmlformats.org/drawingml/2006/main" noGrp="1"/>
          </p:cNvSpPr>
          <p:nvPr/>
        </p:nvSpPr>
        <p:spPr>
          <a:xfrm xmlns:a="http://schemas.openxmlformats.org/drawingml/2006/main">
            <a:off x="6591300" y="5095875"/>
            <a:ext cx="419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B2A4A"/>
                </a:solidFill>
              </a:defRPr>
            </a:pPr>
            <a:r>
              <a:rPr sz="1575" b="1" i="0">
                <a:solidFill>
                  <a:srgbClr val="0B2A4A"/>
                </a:solidFill>
              </a:rPr>
              <a:t>Classification + clue / 分类 + 线索?</a:t>
            </a:r>
          </a:p>
        </p:txBody>
      </p:sp>
    </p:spTree>
    <p:extLst>
      <p:ext uri="{BB962C8B-B14F-4D97-AF65-F5344CB8AC3E}">
        <p14:creationId xmlns:p14="http://schemas.microsoft.com/office/powerpoint/2010/main" val="9825232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EDAA425-1BDD-4522-9677-EC2E34434CB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647008-24ED-4EE3-BEF5-760057E0BBFE}"/>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CASES D + E · REVEAL · 解释</a:t>
            </a:r>
          </a:p>
        </p:txBody>
      </p:sp>
      <p:sp>
        <p:nvSpPr>
          <p:cNvPr id="3" name="">
            <a:extLst xmlns:a="http://schemas.openxmlformats.org/drawingml/2006/main">
              <a:ext uri="{FF2B5EF4-FFF2-40B4-BE49-F238E27FC236}">
                <a16:creationId xmlns:a16="http://schemas.microsoft.com/office/drawing/2014/main" id="{BF08198E-7D55-46C7-8EAC-7CF3AAED5B7F}"/>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13</a:t>
            </a:r>
          </a:p>
        </p:txBody>
      </p:sp>
      <p:sp>
        <p:nvSpPr>
          <p:cNvPr id="4" name="">
            <a:extLst xmlns:a="http://schemas.openxmlformats.org/drawingml/2006/main">
              <a:ext uri="{FF2B5EF4-FFF2-40B4-BE49-F238E27FC236}">
                <a16:creationId xmlns:a16="http://schemas.microsoft.com/office/drawing/2014/main" id="{AAB008CC-26B7-440B-B083-AD14D620FE32}"/>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E9964FDB-424B-4996-9A29-7E9392A529B4}"/>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Consumption uses. Gambling stakes.</a:t>
            </a:r>
          </a:p>
        </p:txBody>
      </p:sp>
      <p:sp>
        <p:nvSpPr>
          <p:cNvPr id="6" name="">
            <a:extLst xmlns:a="http://schemas.openxmlformats.org/drawingml/2006/main">
              <a:ext uri="{FF2B5EF4-FFF2-40B4-BE49-F238E27FC236}">
                <a16:creationId xmlns:a16="http://schemas.microsoft.com/office/drawing/2014/main" id="{2A5EB506-D182-476F-89EC-B3CDC8FE3D48}"/>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消费用于当下；赌博押注结果</a:t>
            </a:r>
          </a:p>
        </p:txBody>
      </p:sp>
      <p:sp>
        <p:nvSpPr>
          <p:cNvPr id="7" name="">
            <a:extLst xmlns:a="http://schemas.openxmlformats.org/drawingml/2006/main">
              <a:ext uri="{FF2B5EF4-FFF2-40B4-BE49-F238E27FC236}">
                <a16:creationId xmlns:a16="http://schemas.microsoft.com/office/drawing/2014/main" id="{9E22F318-FF6E-431E-B25A-5D01937CA26C}"/>
              </a:ext>
            </a:extLst>
          </p:cNvPr>
          <p:cNvSpPr>
            <a:spLocks xmlns:a="http://schemas.openxmlformats.org/drawingml/2006/main" noGrp="1"/>
          </p:cNvSpPr>
          <p:nvPr/>
        </p:nvSpPr>
        <p:spPr>
          <a:xfrm xmlns:a="http://schemas.openxmlformats.org/drawingml/2006/main">
            <a:off x="609600" y="1600200"/>
            <a:ext cx="5257800" cy="4343400"/>
          </a:xfrm>
          <a:prstGeom xmlns:a="http://schemas.openxmlformats.org/drawingml/2006/main" prst="rect">
            <a:avLst/>
          </a:prstGeom>
          <a:solidFill xmlns:a="http://schemas.openxmlformats.org/drawingml/2006/main">
            <a:srgbClr val="F1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5385A5A-D74D-4076-89F6-2BC6877AF8BB}"/>
              </a:ext>
            </a:extLst>
          </p:cNvPr>
          <p:cNvSpPr>
            <a:spLocks xmlns:a="http://schemas.openxmlformats.org/drawingml/2006/main" noGrp="1"/>
          </p:cNvSpPr>
          <p:nvPr/>
        </p:nvSpPr>
        <p:spPr>
          <a:xfrm xmlns:a="http://schemas.openxmlformats.org/drawingml/2006/main">
            <a:off x="6324600" y="1600200"/>
            <a:ext cx="5257800" cy="4343400"/>
          </a:xfrm>
          <a:prstGeom xmlns:a="http://schemas.openxmlformats.org/drawingml/2006/main" prst="rect">
            <a:avLst/>
          </a:prstGeom>
          <a:solidFill xmlns:a="http://schemas.openxmlformats.org/drawingml/2006/main">
            <a:srgbClr val="FCECE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380F186-3183-40DE-B790-FE3E40D2F0AB}"/>
              </a:ext>
            </a:extLst>
          </p:cNvPr>
          <p:cNvSpPr>
            <a:spLocks xmlns:a="http://schemas.openxmlformats.org/drawingml/2006/main" noGrp="1"/>
          </p:cNvSpPr>
          <p:nvPr/>
        </p:nvSpPr>
        <p:spPr>
          <a:xfrm xmlns:a="http://schemas.openxmlformats.org/drawingml/2006/main">
            <a:off x="857250" y="18288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8C7CF2"/>
                </a:solidFill>
              </a:defRPr>
            </a:pPr>
            <a:r>
              <a:rPr sz="2100" b="1" i="0">
                <a:solidFill>
                  <a:srgbClr val="8C7CF2"/>
                </a:solidFill>
              </a:rPr>
              <a:t>CONSUMPTION / 消费</a:t>
            </a:r>
          </a:p>
        </p:txBody>
      </p:sp>
      <p:sp>
        <p:nvSpPr>
          <p:cNvPr id="10" name="">
            <a:extLst xmlns:a="http://schemas.openxmlformats.org/drawingml/2006/main">
              <a:ext uri="{FF2B5EF4-FFF2-40B4-BE49-F238E27FC236}">
                <a16:creationId xmlns:a16="http://schemas.microsoft.com/office/drawing/2014/main" id="{B1D9E68E-4DD6-422F-B228-7C1D8B888825}"/>
              </a:ext>
            </a:extLst>
          </p:cNvPr>
          <p:cNvSpPr>
            <a:spLocks xmlns:a="http://schemas.openxmlformats.org/drawingml/2006/main" noGrp="1"/>
          </p:cNvSpPr>
          <p:nvPr/>
        </p:nvSpPr>
        <p:spPr>
          <a:xfrm xmlns:a="http://schemas.openxmlformats.org/drawingml/2006/main">
            <a:off x="857250" y="2324100"/>
            <a:ext cx="466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Money spent mainly for present use, need or enjoyment—not future financial return.</a:t>
            </a:r>
          </a:p>
        </p:txBody>
      </p:sp>
      <p:sp>
        <p:nvSpPr>
          <p:cNvPr id="11" name="">
            <a:extLst xmlns:a="http://schemas.openxmlformats.org/drawingml/2006/main">
              <a:ext uri="{FF2B5EF4-FFF2-40B4-BE49-F238E27FC236}">
                <a16:creationId xmlns:a16="http://schemas.microsoft.com/office/drawing/2014/main" id="{216B0D43-5372-44A1-A2B2-74B087DAB3D6}"/>
              </a:ext>
            </a:extLst>
          </p:cNvPr>
          <p:cNvSpPr>
            <a:spLocks xmlns:a="http://schemas.openxmlformats.org/drawingml/2006/main" noGrp="1"/>
          </p:cNvSpPr>
          <p:nvPr/>
        </p:nvSpPr>
        <p:spPr>
          <a:xfrm xmlns:a="http://schemas.openxmlformats.org/drawingml/2006/main">
            <a:off x="857250" y="3219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8C7CF2"/>
                </a:solidFill>
              </a:defRPr>
            </a:pPr>
            <a:r>
              <a:rPr sz="1125" b="1" i="0">
                <a:solidFill>
                  <a:srgbClr val="8C7CF2"/>
                </a:solidFill>
              </a:rPr>
              <a:t>EXAMPLES / 例子</a:t>
            </a:r>
          </a:p>
        </p:txBody>
      </p:sp>
      <p:sp>
        <p:nvSpPr>
          <p:cNvPr id="12" name="">
            <a:extLst xmlns:a="http://schemas.openxmlformats.org/drawingml/2006/main">
              <a:ext uri="{FF2B5EF4-FFF2-40B4-BE49-F238E27FC236}">
                <a16:creationId xmlns:a16="http://schemas.microsoft.com/office/drawing/2014/main" id="{0A07A30F-BDD5-4B85-BC2C-0139605C9231}"/>
              </a:ext>
            </a:extLst>
          </p:cNvPr>
          <p:cNvSpPr>
            <a:spLocks xmlns:a="http://schemas.openxmlformats.org/drawingml/2006/main" noGrp="1"/>
          </p:cNvSpPr>
          <p:nvPr/>
        </p:nvSpPr>
        <p:spPr>
          <a:xfrm xmlns:a="http://schemas.openxmlformats.org/drawingml/2006/main">
            <a:off x="876300" y="3609975"/>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0000"/>
                </a:solidFill>
              </a:defRPr>
            </a:pPr>
            <a:r>
              <a:rPr sz="1500" b="1" i="0">
                <a:solidFill>
                  <a:srgbClr val="000000"/>
                </a:solidFill>
              </a:rPr>
              <a:t>1. camera for family photos / 家庭摄影相机</a:t>
            </a:r>
          </a:p>
        </p:txBody>
      </p:sp>
      <p:sp>
        <p:nvSpPr>
          <p:cNvPr id="13" name="">
            <a:extLst xmlns:a="http://schemas.openxmlformats.org/drawingml/2006/main">
              <a:ext uri="{FF2B5EF4-FFF2-40B4-BE49-F238E27FC236}">
                <a16:creationId xmlns:a16="http://schemas.microsoft.com/office/drawing/2014/main" id="{B8DF9BE8-01D3-4CDC-89D0-88DED34248B4}"/>
              </a:ext>
            </a:extLst>
          </p:cNvPr>
          <p:cNvSpPr>
            <a:spLocks xmlns:a="http://schemas.openxmlformats.org/drawingml/2006/main" noGrp="1"/>
          </p:cNvSpPr>
          <p:nvPr/>
        </p:nvSpPr>
        <p:spPr>
          <a:xfrm xmlns:a="http://schemas.openxmlformats.org/drawingml/2006/main">
            <a:off x="876300" y="41529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0000"/>
                </a:solidFill>
              </a:defRPr>
            </a:pPr>
            <a:r>
              <a:rPr sz="1500" b="1" i="0">
                <a:solidFill>
                  <a:srgbClr val="000000"/>
                </a:solidFill>
              </a:rPr>
              <a:t>2. school running shoes / 校队跑鞋</a:t>
            </a:r>
          </a:p>
        </p:txBody>
      </p:sp>
      <p:sp>
        <p:nvSpPr>
          <p:cNvPr id="14" name="">
            <a:extLst xmlns:a="http://schemas.openxmlformats.org/drawingml/2006/main">
              <a:ext uri="{FF2B5EF4-FFF2-40B4-BE49-F238E27FC236}">
                <a16:creationId xmlns:a16="http://schemas.microsoft.com/office/drawing/2014/main" id="{DDE772F3-ABAD-4229-B043-521AE478E927}"/>
              </a:ext>
            </a:extLst>
          </p:cNvPr>
          <p:cNvSpPr>
            <a:spLocks xmlns:a="http://schemas.openxmlformats.org/drawingml/2006/main" noGrp="1"/>
          </p:cNvSpPr>
          <p:nvPr/>
        </p:nvSpPr>
        <p:spPr>
          <a:xfrm xmlns:a="http://schemas.openxmlformats.org/drawingml/2006/main">
            <a:off x="876300" y="4695825"/>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0000"/>
                </a:solidFill>
              </a:defRPr>
            </a:pPr>
            <a:r>
              <a:rPr sz="1500" b="1" i="0">
                <a:solidFill>
                  <a:srgbClr val="000000"/>
                </a:solidFill>
              </a:rPr>
              <a:t>3. meal or transport / 餐饮或交通</a:t>
            </a:r>
          </a:p>
        </p:txBody>
      </p:sp>
      <p:sp>
        <p:nvSpPr>
          <p:cNvPr id="15" name="">
            <a:extLst xmlns:a="http://schemas.openxmlformats.org/drawingml/2006/main">
              <a:ext uri="{FF2B5EF4-FFF2-40B4-BE49-F238E27FC236}">
                <a16:creationId xmlns:a16="http://schemas.microsoft.com/office/drawing/2014/main" id="{C451E437-A132-4FD4-9D85-2C71275C809D}"/>
              </a:ext>
            </a:extLst>
          </p:cNvPr>
          <p:cNvSpPr>
            <a:spLocks xmlns:a="http://schemas.openxmlformats.org/drawingml/2006/main" noGrp="1"/>
          </p:cNvSpPr>
          <p:nvPr/>
        </p:nvSpPr>
        <p:spPr>
          <a:xfrm xmlns:a="http://schemas.openxmlformats.org/drawingml/2006/main">
            <a:off x="6572250" y="1828800"/>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E56666"/>
                </a:solidFill>
              </a:defRPr>
            </a:pPr>
            <a:r>
              <a:rPr sz="2100" b="1" i="0">
                <a:solidFill>
                  <a:srgbClr val="E56666"/>
                </a:solidFill>
              </a:rPr>
              <a:t>GAMBLING / 赌博</a:t>
            </a:r>
          </a:p>
        </p:txBody>
      </p:sp>
      <p:sp>
        <p:nvSpPr>
          <p:cNvPr id="16" name="">
            <a:extLst xmlns:a="http://schemas.openxmlformats.org/drawingml/2006/main">
              <a:ext uri="{FF2B5EF4-FFF2-40B4-BE49-F238E27FC236}">
                <a16:creationId xmlns:a16="http://schemas.microsoft.com/office/drawing/2014/main" id="{19B3BF55-7BD8-454B-AF1D-A22DAEF1C6E1}"/>
              </a:ext>
            </a:extLst>
          </p:cNvPr>
          <p:cNvSpPr>
            <a:spLocks xmlns:a="http://schemas.openxmlformats.org/drawingml/2006/main" noGrp="1"/>
          </p:cNvSpPr>
          <p:nvPr/>
        </p:nvSpPr>
        <p:spPr>
          <a:xfrm xmlns:a="http://schemas.openxmlformats.org/drawingml/2006/main">
            <a:off x="6572250" y="2324100"/>
            <a:ext cx="4667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i="0">
                <a:solidFill>
                  <a:srgbClr val="000000"/>
                </a:solidFill>
              </a:defRPr>
            </a:pPr>
            <a:r>
              <a:rPr sz="1650" b="0" i="0">
                <a:solidFill>
                  <a:srgbClr val="000000"/>
                </a:solidFill>
              </a:rPr>
              <a:t>Money or value staked on a game, event or lottery for a possible prize governed by rules and odds.</a:t>
            </a:r>
          </a:p>
        </p:txBody>
      </p:sp>
      <p:sp>
        <p:nvSpPr>
          <p:cNvPr id="17" name="">
            <a:extLst xmlns:a="http://schemas.openxmlformats.org/drawingml/2006/main">
              <a:ext uri="{FF2B5EF4-FFF2-40B4-BE49-F238E27FC236}">
                <a16:creationId xmlns:a16="http://schemas.microsoft.com/office/drawing/2014/main" id="{B430CB18-B3BC-45B7-AC21-C2059020224C}"/>
              </a:ext>
            </a:extLst>
          </p:cNvPr>
          <p:cNvSpPr>
            <a:spLocks xmlns:a="http://schemas.openxmlformats.org/drawingml/2006/main" noGrp="1"/>
          </p:cNvSpPr>
          <p:nvPr/>
        </p:nvSpPr>
        <p:spPr>
          <a:xfrm xmlns:a="http://schemas.openxmlformats.org/drawingml/2006/main">
            <a:off x="6572250" y="32194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E56666"/>
                </a:solidFill>
              </a:defRPr>
            </a:pPr>
            <a:r>
              <a:rPr sz="1125" b="1" i="0">
                <a:solidFill>
                  <a:srgbClr val="E56666"/>
                </a:solidFill>
              </a:rPr>
              <a:t>EXAMPLES / 例子</a:t>
            </a:r>
          </a:p>
        </p:txBody>
      </p:sp>
      <p:sp>
        <p:nvSpPr>
          <p:cNvPr id="18" name="">
            <a:extLst xmlns:a="http://schemas.openxmlformats.org/drawingml/2006/main">
              <a:ext uri="{FF2B5EF4-FFF2-40B4-BE49-F238E27FC236}">
                <a16:creationId xmlns:a16="http://schemas.microsoft.com/office/drawing/2014/main" id="{00A6FF3F-1ACF-45A5-B56D-F2DAEFE0258B}"/>
              </a:ext>
            </a:extLst>
          </p:cNvPr>
          <p:cNvSpPr>
            <a:spLocks xmlns:a="http://schemas.openxmlformats.org/drawingml/2006/main" noGrp="1"/>
          </p:cNvSpPr>
          <p:nvPr/>
        </p:nvSpPr>
        <p:spPr>
          <a:xfrm xmlns:a="http://schemas.openxmlformats.org/drawingml/2006/main">
            <a:off x="6591300" y="3609975"/>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0000"/>
                </a:solidFill>
              </a:defRPr>
            </a:pPr>
            <a:r>
              <a:rPr sz="1500" b="1" i="0">
                <a:solidFill>
                  <a:srgbClr val="000000"/>
                </a:solidFill>
              </a:rPr>
              <a:t>1. sports lottery / 体育彩票</a:t>
            </a:r>
          </a:p>
        </p:txBody>
      </p:sp>
      <p:sp>
        <p:nvSpPr>
          <p:cNvPr id="19" name="">
            <a:extLst xmlns:a="http://schemas.openxmlformats.org/drawingml/2006/main">
              <a:ext uri="{FF2B5EF4-FFF2-40B4-BE49-F238E27FC236}">
                <a16:creationId xmlns:a16="http://schemas.microsoft.com/office/drawing/2014/main" id="{535B667B-4CD3-486C-9FBB-0DC74B24B122}"/>
              </a:ext>
            </a:extLst>
          </p:cNvPr>
          <p:cNvSpPr>
            <a:spLocks xmlns:a="http://schemas.openxmlformats.org/drawingml/2006/main" noGrp="1"/>
          </p:cNvSpPr>
          <p:nvPr/>
        </p:nvSpPr>
        <p:spPr>
          <a:xfrm xmlns:a="http://schemas.openxmlformats.org/drawingml/2006/main">
            <a:off x="6591300" y="415290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0000"/>
                </a:solidFill>
              </a:defRPr>
            </a:pPr>
            <a:r>
              <a:rPr sz="1500" b="1" i="0">
                <a:solidFill>
                  <a:srgbClr val="000000"/>
                </a:solidFill>
              </a:rPr>
              <a:t>2. roulette stake / 轮盘赌注</a:t>
            </a:r>
          </a:p>
        </p:txBody>
      </p:sp>
      <p:sp>
        <p:nvSpPr>
          <p:cNvPr id="20" name="">
            <a:extLst xmlns:a="http://schemas.openxmlformats.org/drawingml/2006/main">
              <a:ext uri="{FF2B5EF4-FFF2-40B4-BE49-F238E27FC236}">
                <a16:creationId xmlns:a16="http://schemas.microsoft.com/office/drawing/2014/main" id="{00028370-4D43-46BA-B18B-DAD4B49C43F7}"/>
              </a:ext>
            </a:extLst>
          </p:cNvPr>
          <p:cNvSpPr>
            <a:spLocks xmlns:a="http://schemas.openxmlformats.org/drawingml/2006/main" noGrp="1"/>
          </p:cNvSpPr>
          <p:nvPr/>
        </p:nvSpPr>
        <p:spPr>
          <a:xfrm xmlns:a="http://schemas.openxmlformats.org/drawingml/2006/main">
            <a:off x="6591300" y="4695825"/>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i="0">
                <a:solidFill>
                  <a:srgbClr val="000000"/>
                </a:solidFill>
              </a:defRPr>
            </a:pPr>
            <a:r>
              <a:rPr sz="1500" b="1" i="0">
                <a:solidFill>
                  <a:srgbClr val="000000"/>
                </a:solidFill>
              </a:rPr>
              <a:t>3. paid prize draw / 付费抽奖</a:t>
            </a:r>
          </a:p>
        </p:txBody>
      </p:sp>
    </p:spTree>
    <p:extLst>
      <p:ext uri="{BB962C8B-B14F-4D97-AF65-F5344CB8AC3E}">
        <p14:creationId xmlns:p14="http://schemas.microsoft.com/office/powerpoint/2010/main" val="51874009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E91F7DA-E8F7-454B-BB14-222C0728DF4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E4E500D-2919-469D-AFB4-327F4A57FCF9}"/>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HINGE · 同一资产，不同目的</a:t>
            </a:r>
          </a:p>
        </p:txBody>
      </p:sp>
      <p:sp>
        <p:nvSpPr>
          <p:cNvPr id="3" name="">
            <a:extLst xmlns:a="http://schemas.openxmlformats.org/drawingml/2006/main">
              <a:ext uri="{FF2B5EF4-FFF2-40B4-BE49-F238E27FC236}">
                <a16:creationId xmlns:a16="http://schemas.microsoft.com/office/drawing/2014/main" id="{6F07A3C8-3BBF-4843-BCAB-4B0DE6047CD3}"/>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14</a:t>
            </a:r>
          </a:p>
        </p:txBody>
      </p:sp>
      <p:sp>
        <p:nvSpPr>
          <p:cNvPr id="4" name="">
            <a:extLst xmlns:a="http://schemas.openxmlformats.org/drawingml/2006/main">
              <a:ext uri="{FF2B5EF4-FFF2-40B4-BE49-F238E27FC236}">
                <a16:creationId xmlns:a16="http://schemas.microsoft.com/office/drawing/2014/main" id="{3B70688A-981E-4ECE-953F-9D2007E3203E}"/>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2F26D844-FC1C-4C67-9881-9A8D88AC5940}"/>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The asset name is not the classification.</a:t>
            </a:r>
          </a:p>
        </p:txBody>
      </p:sp>
      <p:sp>
        <p:nvSpPr>
          <p:cNvPr id="6" name="">
            <a:extLst xmlns:a="http://schemas.openxmlformats.org/drawingml/2006/main">
              <a:ext uri="{FF2B5EF4-FFF2-40B4-BE49-F238E27FC236}">
                <a16:creationId xmlns:a16="http://schemas.microsoft.com/office/drawing/2014/main" id="{0644E36C-5141-4175-9F07-1397A56DEEC0}"/>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资产名称并不决定分类</a:t>
            </a:r>
          </a:p>
        </p:txBody>
      </p:sp>
      <p:sp>
        <p:nvSpPr>
          <p:cNvPr id="7" name="">
            <a:extLst xmlns:a="http://schemas.openxmlformats.org/drawingml/2006/main">
              <a:ext uri="{FF2B5EF4-FFF2-40B4-BE49-F238E27FC236}">
                <a16:creationId xmlns:a16="http://schemas.microsoft.com/office/drawing/2014/main" id="{FA471FA8-5372-4248-905A-648933F83F79}"/>
              </a:ext>
            </a:extLst>
          </p:cNvPr>
          <p:cNvSpPr>
            <a:spLocks xmlns:a="http://schemas.openxmlformats.org/drawingml/2006/main" noGrp="1"/>
          </p:cNvSpPr>
          <p:nvPr/>
        </p:nvSpPr>
        <p:spPr>
          <a:xfrm xmlns:a="http://schemas.openxmlformats.org/drawingml/2006/main">
            <a:off x="609600" y="1619250"/>
            <a:ext cx="5257800" cy="3667125"/>
          </a:xfrm>
          <a:prstGeom xmlns:a="http://schemas.openxmlformats.org/drawingml/2006/main" prst="rect">
            <a:avLst/>
          </a:prstGeom>
          <a:solidFill xmlns:a="http://schemas.openxmlformats.org/drawingml/2006/main">
            <a:srgbClr val="EAF5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020637-D1A7-4C14-BEDD-A405EF80686D}"/>
              </a:ext>
            </a:extLst>
          </p:cNvPr>
          <p:cNvSpPr>
            <a:spLocks xmlns:a="http://schemas.openxmlformats.org/drawingml/2006/main" noGrp="1"/>
          </p:cNvSpPr>
          <p:nvPr/>
        </p:nvSpPr>
        <p:spPr>
          <a:xfrm xmlns:a="http://schemas.openxmlformats.org/drawingml/2006/main">
            <a:off x="6324600" y="1619250"/>
            <a:ext cx="5257800" cy="3667125"/>
          </a:xfrm>
          <a:prstGeom xmlns:a="http://schemas.openxmlformats.org/drawingml/2006/main" prst="rect">
            <a:avLst/>
          </a:prstGeom>
          <a:solidFill xmlns:a="http://schemas.openxmlformats.org/drawingml/2006/main">
            <a:srgbClr val="FFF2E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AEB587CC-5E5A-4FFA-92EE-A9B0519CC832}"/>
              </a:ext>
            </a:extLst>
          </p:cNvPr>
          <p:cNvSpPr>
            <a:spLocks xmlns:a="http://schemas.openxmlformats.org/drawingml/2006/main" noGrp="1"/>
          </p:cNvSpPr>
          <p:nvPr/>
        </p:nvSpPr>
        <p:spPr>
          <a:xfrm xmlns:a="http://schemas.openxmlformats.org/drawingml/2006/main">
            <a:off x="876300" y="1885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3D8DFF"/>
                </a:solidFill>
              </a:defRPr>
            </a:pPr>
            <a:r>
              <a:rPr sz="2025" b="1" i="0">
                <a:solidFill>
                  <a:srgbClr val="3D8DFF"/>
                </a:solidFill>
              </a:rPr>
              <a:t>LIU FANG</a:t>
            </a:r>
          </a:p>
        </p:txBody>
      </p:sp>
      <p:sp>
        <p:nvSpPr>
          <p:cNvPr id="10" name="">
            <a:extLst xmlns:a="http://schemas.openxmlformats.org/drawingml/2006/main">
              <a:ext uri="{FF2B5EF4-FFF2-40B4-BE49-F238E27FC236}">
                <a16:creationId xmlns:a16="http://schemas.microsoft.com/office/drawing/2014/main" id="{6F7A4406-4CB9-413C-A6B2-2394E7B4ED4B}"/>
              </a:ext>
            </a:extLst>
          </p:cNvPr>
          <p:cNvSpPr>
            <a:spLocks xmlns:a="http://schemas.openxmlformats.org/drawingml/2006/main" noGrp="1"/>
          </p:cNvSpPr>
          <p:nvPr/>
        </p:nvSpPr>
        <p:spPr>
          <a:xfrm xmlns:a="http://schemas.openxmlformats.org/drawingml/2006/main">
            <a:off x="3333750" y="1924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i="0">
                <a:solidFill>
                  <a:srgbClr val="5F6570"/>
                </a:solidFill>
              </a:defRPr>
            </a:pPr>
            <a:r>
              <a:rPr sz="1350" b="0" i="0">
                <a:solidFill>
                  <a:srgbClr val="5F6570"/>
                </a:solidFill>
              </a:rPr>
              <a:t>same fictional shares</a:t>
            </a:r>
          </a:p>
        </p:txBody>
      </p:sp>
      <p:sp>
        <p:nvSpPr>
          <p:cNvPr id="11" name="">
            <a:extLst xmlns:a="http://schemas.openxmlformats.org/drawingml/2006/main">
              <a:ext uri="{FF2B5EF4-FFF2-40B4-BE49-F238E27FC236}">
                <a16:creationId xmlns:a16="http://schemas.microsoft.com/office/drawing/2014/main" id="{82E07F6B-018A-46E0-BB90-B79B93AF3D8F}"/>
              </a:ext>
            </a:extLst>
          </p:cNvPr>
          <p:cNvSpPr>
            <a:spLocks xmlns:a="http://schemas.openxmlformats.org/drawingml/2006/main" noGrp="1"/>
          </p:cNvSpPr>
          <p:nvPr/>
        </p:nvSpPr>
        <p:spPr>
          <a:xfrm xmlns:a="http://schemas.openxmlformats.org/drawingml/2006/main">
            <a:off x="876300" y="25336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18040D0-4CF3-4E04-9DD3-6ADF4A4ECC7E}"/>
              </a:ext>
            </a:extLst>
          </p:cNvPr>
          <p:cNvSpPr>
            <a:spLocks xmlns:a="http://schemas.openxmlformats.org/drawingml/2006/main" noGrp="1"/>
          </p:cNvSpPr>
          <p:nvPr/>
        </p:nvSpPr>
        <p:spPr>
          <a:xfrm xmlns:a="http://schemas.openxmlformats.org/drawingml/2006/main">
            <a:off x="1143000" y="24955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part of a diversified portfolio</a:t>
            </a:r>
          </a:p>
        </p:txBody>
      </p:sp>
      <p:sp>
        <p:nvSpPr>
          <p:cNvPr id="13" name="">
            <a:extLst xmlns:a="http://schemas.openxmlformats.org/drawingml/2006/main">
              <a:ext uri="{FF2B5EF4-FFF2-40B4-BE49-F238E27FC236}">
                <a16:creationId xmlns:a16="http://schemas.microsoft.com/office/drawing/2014/main" id="{5E49A716-1F91-4385-8C7E-07561C4CF4F2}"/>
              </a:ext>
            </a:extLst>
          </p:cNvPr>
          <p:cNvSpPr>
            <a:spLocks xmlns:a="http://schemas.openxmlformats.org/drawingml/2006/main" noGrp="1"/>
          </p:cNvSpPr>
          <p:nvPr/>
        </p:nvSpPr>
        <p:spPr>
          <a:xfrm xmlns:a="http://schemas.openxmlformats.org/drawingml/2006/main">
            <a:off x="876300" y="31051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028D3FE-FB4A-43CB-B8BA-4A5B2D3958B4}"/>
              </a:ext>
            </a:extLst>
          </p:cNvPr>
          <p:cNvSpPr>
            <a:spLocks xmlns:a="http://schemas.openxmlformats.org/drawingml/2006/main" noGrp="1"/>
          </p:cNvSpPr>
          <p:nvPr/>
        </p:nvSpPr>
        <p:spPr>
          <a:xfrm xmlns:a="http://schemas.openxmlformats.org/drawingml/2006/main">
            <a:off x="1143000" y="30670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retirement goal in 20 years</a:t>
            </a:r>
          </a:p>
        </p:txBody>
      </p:sp>
      <p:sp>
        <p:nvSpPr>
          <p:cNvPr id="15" name="">
            <a:extLst xmlns:a="http://schemas.openxmlformats.org/drawingml/2006/main">
              <a:ext uri="{FF2B5EF4-FFF2-40B4-BE49-F238E27FC236}">
                <a16:creationId xmlns:a16="http://schemas.microsoft.com/office/drawing/2014/main" id="{BED6A113-0D09-418A-A991-D5B9FC09559C}"/>
              </a:ext>
            </a:extLst>
          </p:cNvPr>
          <p:cNvSpPr>
            <a:spLocks xmlns:a="http://schemas.openxmlformats.org/drawingml/2006/main" noGrp="1"/>
          </p:cNvSpPr>
          <p:nvPr/>
        </p:nvSpPr>
        <p:spPr>
          <a:xfrm xmlns:a="http://schemas.openxmlformats.org/drawingml/2006/main">
            <a:off x="876300" y="36766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983AE64-0842-4F0A-BB38-BB5CEB6611B6}"/>
              </a:ext>
            </a:extLst>
          </p:cNvPr>
          <p:cNvSpPr>
            <a:spLocks xmlns:a="http://schemas.openxmlformats.org/drawingml/2006/main" noGrp="1"/>
          </p:cNvSpPr>
          <p:nvPr/>
        </p:nvSpPr>
        <p:spPr>
          <a:xfrm xmlns:a="http://schemas.openxmlformats.org/drawingml/2006/main">
            <a:off x="1143000" y="36385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reads reports; limits position size</a:t>
            </a:r>
          </a:p>
        </p:txBody>
      </p:sp>
      <p:sp>
        <p:nvSpPr>
          <p:cNvPr id="17" name="">
            <a:extLst xmlns:a="http://schemas.openxmlformats.org/drawingml/2006/main">
              <a:ext uri="{FF2B5EF4-FFF2-40B4-BE49-F238E27FC236}">
                <a16:creationId xmlns:a16="http://schemas.microsoft.com/office/drawing/2014/main" id="{0C750BAF-293D-4849-A2E5-9597A3601EF5}"/>
              </a:ext>
            </a:extLst>
          </p:cNvPr>
          <p:cNvSpPr>
            <a:spLocks xmlns:a="http://schemas.openxmlformats.org/drawingml/2006/main" noGrp="1"/>
          </p:cNvSpPr>
          <p:nvPr/>
        </p:nvSpPr>
        <p:spPr>
          <a:xfrm xmlns:a="http://schemas.openxmlformats.org/drawingml/2006/main">
            <a:off x="876300" y="4248150"/>
            <a:ext cx="95250" cy="952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02FD99-712F-4E18-8139-69DE77400C5C}"/>
              </a:ext>
            </a:extLst>
          </p:cNvPr>
          <p:cNvSpPr>
            <a:spLocks xmlns:a="http://schemas.openxmlformats.org/drawingml/2006/main" noGrp="1"/>
          </p:cNvSpPr>
          <p:nvPr/>
        </p:nvSpPr>
        <p:spPr>
          <a:xfrm xmlns:a="http://schemas.openxmlformats.org/drawingml/2006/main">
            <a:off x="1143000" y="42100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expects dividends + business growth</a:t>
            </a:r>
          </a:p>
        </p:txBody>
      </p:sp>
      <p:sp>
        <p:nvSpPr>
          <p:cNvPr id="19" name="">
            <a:extLst xmlns:a="http://schemas.openxmlformats.org/drawingml/2006/main">
              <a:ext uri="{FF2B5EF4-FFF2-40B4-BE49-F238E27FC236}">
                <a16:creationId xmlns:a16="http://schemas.microsoft.com/office/drawing/2014/main" id="{E0D1846C-87D4-44B3-B0FE-DED901487608}"/>
              </a:ext>
            </a:extLst>
          </p:cNvPr>
          <p:cNvSpPr>
            <a:spLocks xmlns:a="http://schemas.openxmlformats.org/drawingml/2006/main" noGrp="1"/>
          </p:cNvSpPr>
          <p:nvPr/>
        </p:nvSpPr>
        <p:spPr>
          <a:xfrm xmlns:a="http://schemas.openxmlformats.org/drawingml/2006/main">
            <a:off x="6591300" y="1885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F4A261"/>
                </a:solidFill>
              </a:defRPr>
            </a:pPr>
            <a:r>
              <a:rPr sz="2025" b="1" i="0">
                <a:solidFill>
                  <a:srgbClr val="F4A261"/>
                </a:solidFill>
              </a:rPr>
              <a:t>MA JUN</a:t>
            </a:r>
          </a:p>
        </p:txBody>
      </p:sp>
      <p:sp>
        <p:nvSpPr>
          <p:cNvPr id="20" name="">
            <a:extLst xmlns:a="http://schemas.openxmlformats.org/drawingml/2006/main">
              <a:ext uri="{FF2B5EF4-FFF2-40B4-BE49-F238E27FC236}">
                <a16:creationId xmlns:a16="http://schemas.microsoft.com/office/drawing/2014/main" id="{97B5EB69-F753-4F43-B923-C73C73A0337C}"/>
              </a:ext>
            </a:extLst>
          </p:cNvPr>
          <p:cNvSpPr>
            <a:spLocks xmlns:a="http://schemas.openxmlformats.org/drawingml/2006/main" noGrp="1"/>
          </p:cNvSpPr>
          <p:nvPr/>
        </p:nvSpPr>
        <p:spPr>
          <a:xfrm xmlns:a="http://schemas.openxmlformats.org/drawingml/2006/main">
            <a:off x="9048750" y="1924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0" i="0">
                <a:solidFill>
                  <a:srgbClr val="5F6570"/>
                </a:solidFill>
              </a:defRPr>
            </a:pPr>
            <a:r>
              <a:rPr sz="1350" b="0" i="0">
                <a:solidFill>
                  <a:srgbClr val="5F6570"/>
                </a:solidFill>
              </a:rPr>
              <a:t>same fictional shares</a:t>
            </a:r>
          </a:p>
        </p:txBody>
      </p:sp>
      <p:sp>
        <p:nvSpPr>
          <p:cNvPr id="21" name="">
            <a:extLst xmlns:a="http://schemas.openxmlformats.org/drawingml/2006/main">
              <a:ext uri="{FF2B5EF4-FFF2-40B4-BE49-F238E27FC236}">
                <a16:creationId xmlns:a16="http://schemas.microsoft.com/office/drawing/2014/main" id="{E6770020-C0D7-45A4-BC5E-43388069B9BE}"/>
              </a:ext>
            </a:extLst>
          </p:cNvPr>
          <p:cNvSpPr>
            <a:spLocks xmlns:a="http://schemas.openxmlformats.org/drawingml/2006/main" noGrp="1"/>
          </p:cNvSpPr>
          <p:nvPr/>
        </p:nvSpPr>
        <p:spPr>
          <a:xfrm xmlns:a="http://schemas.openxmlformats.org/drawingml/2006/main">
            <a:off x="6591300" y="253365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27BDB8E-6D70-4B3E-A89D-BF9FA457123B}"/>
              </a:ext>
            </a:extLst>
          </p:cNvPr>
          <p:cNvSpPr>
            <a:spLocks xmlns:a="http://schemas.openxmlformats.org/drawingml/2006/main" noGrp="1"/>
          </p:cNvSpPr>
          <p:nvPr/>
        </p:nvSpPr>
        <p:spPr>
          <a:xfrm xmlns:a="http://schemas.openxmlformats.org/drawingml/2006/main">
            <a:off x="6858000" y="24955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borrows after a group-chat tip</a:t>
            </a:r>
          </a:p>
        </p:txBody>
      </p:sp>
      <p:sp>
        <p:nvSpPr>
          <p:cNvPr id="23" name="">
            <a:extLst xmlns:a="http://schemas.openxmlformats.org/drawingml/2006/main">
              <a:ext uri="{FF2B5EF4-FFF2-40B4-BE49-F238E27FC236}">
                <a16:creationId xmlns:a16="http://schemas.microsoft.com/office/drawing/2014/main" id="{F52B72A9-9963-4E0C-80BA-5FB7AB6B34B6}"/>
              </a:ext>
            </a:extLst>
          </p:cNvPr>
          <p:cNvSpPr>
            <a:spLocks xmlns:a="http://schemas.openxmlformats.org/drawingml/2006/main" noGrp="1"/>
          </p:cNvSpPr>
          <p:nvPr/>
        </p:nvSpPr>
        <p:spPr>
          <a:xfrm xmlns:a="http://schemas.openxmlformats.org/drawingml/2006/main">
            <a:off x="6591300" y="310515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A94C21C-F094-4DDA-ABF3-5DEEC55ECB90}"/>
              </a:ext>
            </a:extLst>
          </p:cNvPr>
          <p:cNvSpPr>
            <a:spLocks xmlns:a="http://schemas.openxmlformats.org/drawingml/2006/main" noGrp="1"/>
          </p:cNvSpPr>
          <p:nvPr/>
        </p:nvSpPr>
        <p:spPr>
          <a:xfrm xmlns:a="http://schemas.openxmlformats.org/drawingml/2006/main">
            <a:off x="6858000" y="30670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plans to sell within hours</a:t>
            </a:r>
          </a:p>
        </p:txBody>
      </p:sp>
      <p:sp>
        <p:nvSpPr>
          <p:cNvPr id="25" name="">
            <a:extLst xmlns:a="http://schemas.openxmlformats.org/drawingml/2006/main">
              <a:ext uri="{FF2B5EF4-FFF2-40B4-BE49-F238E27FC236}">
                <a16:creationId xmlns:a16="http://schemas.microsoft.com/office/drawing/2014/main" id="{C0102C8F-AD94-47B9-8C48-CC75BB71A718}"/>
              </a:ext>
            </a:extLst>
          </p:cNvPr>
          <p:cNvSpPr>
            <a:spLocks xmlns:a="http://schemas.openxmlformats.org/drawingml/2006/main" noGrp="1"/>
          </p:cNvSpPr>
          <p:nvPr/>
        </p:nvSpPr>
        <p:spPr>
          <a:xfrm xmlns:a="http://schemas.openxmlformats.org/drawingml/2006/main">
            <a:off x="6591300" y="367665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6B9B0ED-66DA-4578-8B69-BEB49A1557C4}"/>
              </a:ext>
            </a:extLst>
          </p:cNvPr>
          <p:cNvSpPr>
            <a:spLocks xmlns:a="http://schemas.openxmlformats.org/drawingml/2006/main" noGrp="1"/>
          </p:cNvSpPr>
          <p:nvPr/>
        </p:nvSpPr>
        <p:spPr>
          <a:xfrm xmlns:a="http://schemas.openxmlformats.org/drawingml/2006/main">
            <a:off x="6858000" y="36385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does not check the company</a:t>
            </a:r>
          </a:p>
        </p:txBody>
      </p:sp>
      <p:sp>
        <p:nvSpPr>
          <p:cNvPr id="27" name="">
            <a:extLst xmlns:a="http://schemas.openxmlformats.org/drawingml/2006/main">
              <a:ext uri="{FF2B5EF4-FFF2-40B4-BE49-F238E27FC236}">
                <a16:creationId xmlns:a16="http://schemas.microsoft.com/office/drawing/2014/main" id="{9A86D5F4-5783-462F-9293-CBCE582E291F}"/>
              </a:ext>
            </a:extLst>
          </p:cNvPr>
          <p:cNvSpPr>
            <a:spLocks xmlns:a="http://schemas.openxmlformats.org/drawingml/2006/main" noGrp="1"/>
          </p:cNvSpPr>
          <p:nvPr/>
        </p:nvSpPr>
        <p:spPr>
          <a:xfrm xmlns:a="http://schemas.openxmlformats.org/drawingml/2006/main">
            <a:off x="6591300" y="4248150"/>
            <a:ext cx="95250" cy="952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13A975A-120E-46D2-8055-0C0F93332CCE}"/>
              </a:ext>
            </a:extLst>
          </p:cNvPr>
          <p:cNvSpPr>
            <a:spLocks xmlns:a="http://schemas.openxmlformats.org/drawingml/2006/main" noGrp="1"/>
          </p:cNvSpPr>
          <p:nvPr/>
        </p:nvSpPr>
        <p:spPr>
          <a:xfrm xmlns:a="http://schemas.openxmlformats.org/drawingml/2006/main">
            <a:off x="6858000" y="4210050"/>
            <a:ext cx="42100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000000"/>
                </a:solidFill>
              </a:defRPr>
            </a:pPr>
            <a:r>
              <a:rPr sz="1500" b="0" i="0">
                <a:solidFill>
                  <a:srgbClr val="000000"/>
                </a:solidFill>
              </a:rPr>
              <a:t>loss could damage loan repayment</a:t>
            </a:r>
          </a:p>
        </p:txBody>
      </p:sp>
      <p:sp>
        <p:nvSpPr>
          <p:cNvPr id="29" name="">
            <a:extLst xmlns:a="http://schemas.openxmlformats.org/drawingml/2006/main">
              <a:ext uri="{FF2B5EF4-FFF2-40B4-BE49-F238E27FC236}">
                <a16:creationId xmlns:a16="http://schemas.microsoft.com/office/drawing/2014/main" id="{118575C0-647E-4ACD-A2B2-999631BF60C1}"/>
              </a:ext>
            </a:extLst>
          </p:cNvPr>
          <p:cNvSpPr>
            <a:spLocks xmlns:a="http://schemas.openxmlformats.org/drawingml/2006/main" noGrp="1"/>
          </p:cNvSpPr>
          <p:nvPr/>
        </p:nvSpPr>
        <p:spPr>
          <a:xfrm xmlns:a="http://schemas.openxmlformats.org/drawingml/2006/main">
            <a:off x="609600" y="5562600"/>
            <a:ext cx="10972800" cy="514350"/>
          </a:xfrm>
          <a:prstGeom xmlns:a="http://schemas.openxmlformats.org/drawingml/2006/main" prst="rect">
            <a:avLst/>
          </a:prstGeom>
          <a:solidFill xmlns:a="http://schemas.openxmlformats.org/drawingml/2006/main">
            <a:srgbClr val="0B2A4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00F39A3-1F9D-4B7F-8F95-F0AEE657B851}"/>
              </a:ext>
            </a:extLst>
          </p:cNvPr>
          <p:cNvSpPr>
            <a:spLocks xmlns:a="http://schemas.openxmlformats.org/drawingml/2006/main" noGrp="1"/>
          </p:cNvSpPr>
          <p:nvPr/>
        </p:nvSpPr>
        <p:spPr>
          <a:xfrm xmlns:a="http://schemas.openxmlformats.org/drawingml/2006/main">
            <a:off x="838200" y="5686425"/>
            <a:ext cx="10515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i="0">
                <a:solidFill>
                  <a:srgbClr val="FFFFFF"/>
                </a:solidFill>
              </a:defRPr>
            </a:pPr>
            <a:r>
              <a:rPr sz="1800" b="1" i="0">
                <a:solidFill>
                  <a:srgbClr val="FFFFFF"/>
                </a:solidFill>
              </a:rPr>
              <a:t>Classify the decision—not only the product. / 判断决策，而不只是判断产品。</a:t>
            </a:r>
          </a:p>
        </p:txBody>
      </p:sp>
    </p:spTree>
    <p:extLst>
      <p:ext uri="{BB962C8B-B14F-4D97-AF65-F5344CB8AC3E}">
        <p14:creationId xmlns:p14="http://schemas.microsoft.com/office/powerpoint/2010/main" val="112924536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F763E46-C60A-4A4C-8D6D-2E2AA97D35C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27C7B7-B6BF-4E27-BD12-D92C324A22BC}"/>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TOOL · 五问分类法</a:t>
            </a:r>
          </a:p>
        </p:txBody>
      </p:sp>
      <p:sp>
        <p:nvSpPr>
          <p:cNvPr id="3" name="">
            <a:extLst xmlns:a="http://schemas.openxmlformats.org/drawingml/2006/main">
              <a:ext uri="{FF2B5EF4-FFF2-40B4-BE49-F238E27FC236}">
                <a16:creationId xmlns:a16="http://schemas.microsoft.com/office/drawing/2014/main" id="{E612D5E7-6892-4279-B601-435DDF73DB41}"/>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15</a:t>
            </a:r>
          </a:p>
        </p:txBody>
      </p:sp>
      <p:sp>
        <p:nvSpPr>
          <p:cNvPr id="4" name="">
            <a:extLst xmlns:a="http://schemas.openxmlformats.org/drawingml/2006/main">
              <a:ext uri="{FF2B5EF4-FFF2-40B4-BE49-F238E27FC236}">
                <a16:creationId xmlns:a16="http://schemas.microsoft.com/office/drawing/2014/main" id="{A25D1128-0721-4EF2-8098-7B63F08F7455}"/>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B959423F-C55C-45D4-A15F-E09BCFBABC72}"/>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Classify with five questions.</a:t>
            </a:r>
          </a:p>
        </p:txBody>
      </p:sp>
      <p:sp>
        <p:nvSpPr>
          <p:cNvPr id="6" name="">
            <a:extLst xmlns:a="http://schemas.openxmlformats.org/drawingml/2006/main">
              <a:ext uri="{FF2B5EF4-FFF2-40B4-BE49-F238E27FC236}">
                <a16:creationId xmlns:a16="http://schemas.microsoft.com/office/drawing/2014/main" id="{32A8A6B7-866B-44BE-9C50-F5F593799E36}"/>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用五个问题进行分类</a:t>
            </a:r>
          </a:p>
        </p:txBody>
      </p:sp>
      <p:sp>
        <p:nvSpPr>
          <p:cNvPr id="7" name="">
            <a:extLst xmlns:a="http://schemas.openxmlformats.org/drawingml/2006/main">
              <a:ext uri="{FF2B5EF4-FFF2-40B4-BE49-F238E27FC236}">
                <a16:creationId xmlns:a16="http://schemas.microsoft.com/office/drawing/2014/main" id="{9CBF9B50-A8F8-42AE-8AA6-35C69215485B}"/>
              </a:ext>
            </a:extLst>
          </p:cNvPr>
          <p:cNvSpPr>
            <a:spLocks xmlns:a="http://schemas.openxmlformats.org/drawingml/2006/main" noGrp="1"/>
          </p:cNvSpPr>
          <p:nvPr/>
        </p:nvSpPr>
        <p:spPr>
          <a:xfrm xmlns:a="http://schemas.openxmlformats.org/drawingml/2006/main">
            <a:off x="609600" y="16383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3D8DFF"/>
                </a:solidFill>
              </a:defRPr>
            </a:pPr>
            <a:r>
              <a:rPr sz="2325" b="1" i="0">
                <a:solidFill>
                  <a:srgbClr val="3D8DFF"/>
                </a:solidFill>
              </a:rPr>
              <a:t>01</a:t>
            </a:r>
          </a:p>
        </p:txBody>
      </p:sp>
      <p:sp>
        <p:nvSpPr>
          <p:cNvPr id="8" name="">
            <a:extLst xmlns:a="http://schemas.openxmlformats.org/drawingml/2006/main">
              <a:ext uri="{FF2B5EF4-FFF2-40B4-BE49-F238E27FC236}">
                <a16:creationId xmlns:a16="http://schemas.microsoft.com/office/drawing/2014/main" id="{5D321117-B7D8-413C-8732-A530D33B208D}"/>
              </a:ext>
            </a:extLst>
          </p:cNvPr>
          <p:cNvSpPr>
            <a:spLocks xmlns:a="http://schemas.openxmlformats.org/drawingml/2006/main" noGrp="1"/>
          </p:cNvSpPr>
          <p:nvPr/>
        </p:nvSpPr>
        <p:spPr>
          <a:xfrm xmlns:a="http://schemas.openxmlformats.org/drawingml/2006/main">
            <a:off x="1390650" y="16383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B2A4A"/>
                </a:solidFill>
              </a:defRPr>
            </a:pPr>
            <a:r>
              <a:rPr sz="1800" b="1" i="0">
                <a:solidFill>
                  <a:srgbClr val="0B2A4A"/>
                </a:solidFill>
              </a:rPr>
              <a:t>Purpose</a:t>
            </a:r>
          </a:p>
        </p:txBody>
      </p:sp>
      <p:sp>
        <p:nvSpPr>
          <p:cNvPr id="9" name="">
            <a:extLst xmlns:a="http://schemas.openxmlformats.org/drawingml/2006/main">
              <a:ext uri="{FF2B5EF4-FFF2-40B4-BE49-F238E27FC236}">
                <a16:creationId xmlns:a16="http://schemas.microsoft.com/office/drawing/2014/main" id="{4DE07CA4-452F-4368-9C1B-E4810469CC5B}"/>
              </a:ext>
            </a:extLst>
          </p:cNvPr>
          <p:cNvSpPr>
            <a:spLocks xmlns:a="http://schemas.openxmlformats.org/drawingml/2006/main" noGrp="1"/>
          </p:cNvSpPr>
          <p:nvPr/>
        </p:nvSpPr>
        <p:spPr>
          <a:xfrm xmlns:a="http://schemas.openxmlformats.org/drawingml/2006/main">
            <a:off x="1390650" y="20002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3D8DFF"/>
                </a:solidFill>
              </a:defRPr>
            </a:pPr>
            <a:r>
              <a:rPr sz="1275" b="0" i="0">
                <a:solidFill>
                  <a:srgbClr val="3D8DFF"/>
                </a:solidFill>
              </a:rPr>
              <a:t>目的</a:t>
            </a:r>
          </a:p>
        </p:txBody>
      </p:sp>
      <p:sp>
        <p:nvSpPr>
          <p:cNvPr id="10" name="">
            <a:extLst xmlns:a="http://schemas.openxmlformats.org/drawingml/2006/main">
              <a:ext uri="{FF2B5EF4-FFF2-40B4-BE49-F238E27FC236}">
                <a16:creationId xmlns:a16="http://schemas.microsoft.com/office/drawing/2014/main" id="{45F38794-A9C2-4D29-8026-BFD459A93F78}"/>
              </a:ext>
            </a:extLst>
          </p:cNvPr>
          <p:cNvSpPr>
            <a:spLocks xmlns:a="http://schemas.openxmlformats.org/drawingml/2006/main" noGrp="1"/>
          </p:cNvSpPr>
          <p:nvPr/>
        </p:nvSpPr>
        <p:spPr>
          <a:xfrm xmlns:a="http://schemas.openxmlformats.org/drawingml/2006/main">
            <a:off x="3924300" y="1638300"/>
            <a:ext cx="742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Preserve, grow, use, wager—or reduce debt?</a:t>
            </a:r>
          </a:p>
        </p:txBody>
      </p:sp>
      <p:sp>
        <p:nvSpPr>
          <p:cNvPr id="11" name="">
            <a:extLst xmlns:a="http://schemas.openxmlformats.org/drawingml/2006/main">
              <a:ext uri="{FF2B5EF4-FFF2-40B4-BE49-F238E27FC236}">
                <a16:creationId xmlns:a16="http://schemas.microsoft.com/office/drawing/2014/main" id="{D942A6BE-2BAD-4B0D-8FD2-EF5DA2848783}"/>
              </a:ext>
            </a:extLst>
          </p:cNvPr>
          <p:cNvSpPr>
            <a:spLocks xmlns:a="http://schemas.openxmlformats.org/drawingml/2006/main" noGrp="1"/>
          </p:cNvSpPr>
          <p:nvPr/>
        </p:nvSpPr>
        <p:spPr>
          <a:xfrm xmlns:a="http://schemas.openxmlformats.org/drawingml/2006/main">
            <a:off x="609600" y="2362200"/>
            <a:ext cx="109728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1E2F80F-5CD3-49E4-8792-9401BB276C67}"/>
              </a:ext>
            </a:extLst>
          </p:cNvPr>
          <p:cNvSpPr>
            <a:spLocks xmlns:a="http://schemas.openxmlformats.org/drawingml/2006/main" noGrp="1"/>
          </p:cNvSpPr>
          <p:nvPr/>
        </p:nvSpPr>
        <p:spPr>
          <a:xfrm xmlns:a="http://schemas.openxmlformats.org/drawingml/2006/main">
            <a:off x="609600" y="25146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3D8DFF"/>
                </a:solidFill>
              </a:defRPr>
            </a:pPr>
            <a:r>
              <a:rPr sz="2325" b="1" i="0">
                <a:solidFill>
                  <a:srgbClr val="3D8DFF"/>
                </a:solidFill>
              </a:rPr>
              <a:t>02</a:t>
            </a:r>
          </a:p>
        </p:txBody>
      </p:sp>
      <p:sp>
        <p:nvSpPr>
          <p:cNvPr id="13" name="">
            <a:extLst xmlns:a="http://schemas.openxmlformats.org/drawingml/2006/main">
              <a:ext uri="{FF2B5EF4-FFF2-40B4-BE49-F238E27FC236}">
                <a16:creationId xmlns:a16="http://schemas.microsoft.com/office/drawing/2014/main" id="{ACD42F74-3E72-4303-9671-A952D5910C38}"/>
              </a:ext>
            </a:extLst>
          </p:cNvPr>
          <p:cNvSpPr>
            <a:spLocks xmlns:a="http://schemas.openxmlformats.org/drawingml/2006/main" noGrp="1"/>
          </p:cNvSpPr>
          <p:nvPr/>
        </p:nvSpPr>
        <p:spPr>
          <a:xfrm xmlns:a="http://schemas.openxmlformats.org/drawingml/2006/main">
            <a:off x="1390650" y="25146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B2A4A"/>
                </a:solidFill>
              </a:defRPr>
            </a:pPr>
            <a:r>
              <a:rPr sz="1800" b="1" i="0">
                <a:solidFill>
                  <a:srgbClr val="0B2A4A"/>
                </a:solidFill>
              </a:rPr>
              <a:t>What is received?</a:t>
            </a:r>
          </a:p>
        </p:txBody>
      </p:sp>
      <p:sp>
        <p:nvSpPr>
          <p:cNvPr id="14" name="">
            <a:extLst xmlns:a="http://schemas.openxmlformats.org/drawingml/2006/main">
              <a:ext uri="{FF2B5EF4-FFF2-40B4-BE49-F238E27FC236}">
                <a16:creationId xmlns:a16="http://schemas.microsoft.com/office/drawing/2014/main" id="{9CAAE22C-C8C0-454D-B1F2-ADD09D2DCA46}"/>
              </a:ext>
            </a:extLst>
          </p:cNvPr>
          <p:cNvSpPr>
            <a:spLocks xmlns:a="http://schemas.openxmlformats.org/drawingml/2006/main" noGrp="1"/>
          </p:cNvSpPr>
          <p:nvPr/>
        </p:nvSpPr>
        <p:spPr>
          <a:xfrm xmlns:a="http://schemas.openxmlformats.org/drawingml/2006/main">
            <a:off x="1390650" y="28765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3D8DFF"/>
                </a:solidFill>
              </a:defRPr>
            </a:pPr>
            <a:r>
              <a:rPr sz="1275" b="0" i="0">
                <a:solidFill>
                  <a:srgbClr val="3D8DFF"/>
                </a:solidFill>
              </a:rPr>
              <a:t>得到什么</a:t>
            </a:r>
          </a:p>
        </p:txBody>
      </p:sp>
      <p:sp>
        <p:nvSpPr>
          <p:cNvPr id="15" name="">
            <a:extLst xmlns:a="http://schemas.openxmlformats.org/drawingml/2006/main">
              <a:ext uri="{FF2B5EF4-FFF2-40B4-BE49-F238E27FC236}">
                <a16:creationId xmlns:a16="http://schemas.microsoft.com/office/drawing/2014/main" id="{A0263F90-D538-4D52-B909-C962F558C6DB}"/>
              </a:ext>
            </a:extLst>
          </p:cNvPr>
          <p:cNvSpPr>
            <a:spLocks xmlns:a="http://schemas.openxmlformats.org/drawingml/2006/main" noGrp="1"/>
          </p:cNvSpPr>
          <p:nvPr/>
        </p:nvSpPr>
        <p:spPr>
          <a:xfrm xmlns:a="http://schemas.openxmlformats.org/drawingml/2006/main">
            <a:off x="3924300" y="2514600"/>
            <a:ext cx="742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Asset, accessible cash, good/service, chance, or smaller liability?</a:t>
            </a:r>
          </a:p>
        </p:txBody>
      </p:sp>
      <p:sp>
        <p:nvSpPr>
          <p:cNvPr id="16" name="">
            <a:extLst xmlns:a="http://schemas.openxmlformats.org/drawingml/2006/main">
              <a:ext uri="{FF2B5EF4-FFF2-40B4-BE49-F238E27FC236}">
                <a16:creationId xmlns:a16="http://schemas.microsoft.com/office/drawing/2014/main" id="{75483280-258E-4FD8-8954-16AFAA575F4F}"/>
              </a:ext>
            </a:extLst>
          </p:cNvPr>
          <p:cNvSpPr>
            <a:spLocks xmlns:a="http://schemas.openxmlformats.org/drawingml/2006/main" noGrp="1"/>
          </p:cNvSpPr>
          <p:nvPr/>
        </p:nvSpPr>
        <p:spPr>
          <a:xfrm xmlns:a="http://schemas.openxmlformats.org/drawingml/2006/main">
            <a:off x="609600" y="3238500"/>
            <a:ext cx="109728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B1E7F81-CEC3-415F-802C-604DB2901FFB}"/>
              </a:ext>
            </a:extLst>
          </p:cNvPr>
          <p:cNvSpPr>
            <a:spLocks xmlns:a="http://schemas.openxmlformats.org/drawingml/2006/main" noGrp="1"/>
          </p:cNvSpPr>
          <p:nvPr/>
        </p:nvSpPr>
        <p:spPr>
          <a:xfrm xmlns:a="http://schemas.openxmlformats.org/drawingml/2006/main">
            <a:off x="609600" y="33909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3D8DFF"/>
                </a:solidFill>
              </a:defRPr>
            </a:pPr>
            <a:r>
              <a:rPr sz="2325" b="1" i="0">
                <a:solidFill>
                  <a:srgbClr val="3D8DFF"/>
                </a:solidFill>
              </a:rPr>
              <a:t>03</a:t>
            </a:r>
          </a:p>
        </p:txBody>
      </p:sp>
      <p:sp>
        <p:nvSpPr>
          <p:cNvPr id="18" name="">
            <a:extLst xmlns:a="http://schemas.openxmlformats.org/drawingml/2006/main">
              <a:ext uri="{FF2B5EF4-FFF2-40B4-BE49-F238E27FC236}">
                <a16:creationId xmlns:a16="http://schemas.microsoft.com/office/drawing/2014/main" id="{359E56C8-B649-41E8-874B-7E5095C4777D}"/>
              </a:ext>
            </a:extLst>
          </p:cNvPr>
          <p:cNvSpPr>
            <a:spLocks xmlns:a="http://schemas.openxmlformats.org/drawingml/2006/main" noGrp="1"/>
          </p:cNvSpPr>
          <p:nvPr/>
        </p:nvSpPr>
        <p:spPr>
          <a:xfrm xmlns:a="http://schemas.openxmlformats.org/drawingml/2006/main">
            <a:off x="1390650" y="33909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B2A4A"/>
                </a:solidFill>
              </a:defRPr>
            </a:pPr>
            <a:r>
              <a:rPr sz="1800" b="1" i="0">
                <a:solidFill>
                  <a:srgbClr val="0B2A4A"/>
                </a:solidFill>
              </a:rPr>
              <a:t>Payoff source</a:t>
            </a:r>
          </a:p>
        </p:txBody>
      </p:sp>
      <p:sp>
        <p:nvSpPr>
          <p:cNvPr id="19" name="">
            <a:extLst xmlns:a="http://schemas.openxmlformats.org/drawingml/2006/main">
              <a:ext uri="{FF2B5EF4-FFF2-40B4-BE49-F238E27FC236}">
                <a16:creationId xmlns:a16="http://schemas.microsoft.com/office/drawing/2014/main" id="{A01C51DE-7FEA-42C5-9181-D8DF3873A8C3}"/>
              </a:ext>
            </a:extLst>
          </p:cNvPr>
          <p:cNvSpPr>
            <a:spLocks xmlns:a="http://schemas.openxmlformats.org/drawingml/2006/main" noGrp="1"/>
          </p:cNvSpPr>
          <p:nvPr/>
        </p:nvSpPr>
        <p:spPr>
          <a:xfrm xmlns:a="http://schemas.openxmlformats.org/drawingml/2006/main">
            <a:off x="1390650" y="3752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3D8DFF"/>
                </a:solidFill>
              </a:defRPr>
            </a:pPr>
            <a:r>
              <a:rPr sz="1275" b="0" i="0">
                <a:solidFill>
                  <a:srgbClr val="3D8DFF"/>
                </a:solidFill>
              </a:rPr>
              <a:t>回报来源</a:t>
            </a:r>
          </a:p>
        </p:txBody>
      </p:sp>
      <p:sp>
        <p:nvSpPr>
          <p:cNvPr id="20" name="">
            <a:extLst xmlns:a="http://schemas.openxmlformats.org/drawingml/2006/main">
              <a:ext uri="{FF2B5EF4-FFF2-40B4-BE49-F238E27FC236}">
                <a16:creationId xmlns:a16="http://schemas.microsoft.com/office/drawing/2014/main" id="{73BC6290-A9B9-49E5-AE7B-F5EE529F2311}"/>
              </a:ext>
            </a:extLst>
          </p:cNvPr>
          <p:cNvSpPr>
            <a:spLocks xmlns:a="http://schemas.openxmlformats.org/drawingml/2006/main" noGrp="1"/>
          </p:cNvSpPr>
          <p:nvPr/>
        </p:nvSpPr>
        <p:spPr>
          <a:xfrm xmlns:a="http://schemas.openxmlformats.org/drawingml/2006/main">
            <a:off x="3924300" y="3390900"/>
            <a:ext cx="742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Asset income/value, short-term price prediction, or game odds?</a:t>
            </a:r>
          </a:p>
        </p:txBody>
      </p:sp>
      <p:sp>
        <p:nvSpPr>
          <p:cNvPr id="21" name="">
            <a:extLst xmlns:a="http://schemas.openxmlformats.org/drawingml/2006/main">
              <a:ext uri="{FF2B5EF4-FFF2-40B4-BE49-F238E27FC236}">
                <a16:creationId xmlns:a16="http://schemas.microsoft.com/office/drawing/2014/main" id="{3ACC438B-3E20-41B6-BD0B-B886C5FC8243}"/>
              </a:ext>
            </a:extLst>
          </p:cNvPr>
          <p:cNvSpPr>
            <a:spLocks xmlns:a="http://schemas.openxmlformats.org/drawingml/2006/main" noGrp="1"/>
          </p:cNvSpPr>
          <p:nvPr/>
        </p:nvSpPr>
        <p:spPr>
          <a:xfrm xmlns:a="http://schemas.openxmlformats.org/drawingml/2006/main">
            <a:off x="609600" y="4114800"/>
            <a:ext cx="109728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2819E0D-DF94-4823-B404-517BFC923A35}"/>
              </a:ext>
            </a:extLst>
          </p:cNvPr>
          <p:cNvSpPr>
            <a:spLocks xmlns:a="http://schemas.openxmlformats.org/drawingml/2006/main" noGrp="1"/>
          </p:cNvSpPr>
          <p:nvPr/>
        </p:nvSpPr>
        <p:spPr>
          <a:xfrm xmlns:a="http://schemas.openxmlformats.org/drawingml/2006/main">
            <a:off x="609600" y="42672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3D8DFF"/>
                </a:solidFill>
              </a:defRPr>
            </a:pPr>
            <a:r>
              <a:rPr sz="2325" b="1" i="0">
                <a:solidFill>
                  <a:srgbClr val="3D8DFF"/>
                </a:solidFill>
              </a:rPr>
              <a:t>04</a:t>
            </a:r>
          </a:p>
        </p:txBody>
      </p:sp>
      <p:sp>
        <p:nvSpPr>
          <p:cNvPr id="23" name="">
            <a:extLst xmlns:a="http://schemas.openxmlformats.org/drawingml/2006/main">
              <a:ext uri="{FF2B5EF4-FFF2-40B4-BE49-F238E27FC236}">
                <a16:creationId xmlns:a16="http://schemas.microsoft.com/office/drawing/2014/main" id="{C2950B83-DC7F-4B1B-9B1F-A88244D2DFA4}"/>
              </a:ext>
            </a:extLst>
          </p:cNvPr>
          <p:cNvSpPr>
            <a:spLocks xmlns:a="http://schemas.openxmlformats.org/drawingml/2006/main" noGrp="1"/>
          </p:cNvSpPr>
          <p:nvPr/>
        </p:nvSpPr>
        <p:spPr>
          <a:xfrm xmlns:a="http://schemas.openxmlformats.org/drawingml/2006/main">
            <a:off x="1390650" y="42672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B2A4A"/>
                </a:solidFill>
              </a:defRPr>
            </a:pPr>
            <a:r>
              <a:rPr sz="1800" b="1" i="0">
                <a:solidFill>
                  <a:srgbClr val="0B2A4A"/>
                </a:solidFill>
              </a:rPr>
              <a:t>Time + access</a:t>
            </a:r>
          </a:p>
        </p:txBody>
      </p:sp>
      <p:sp>
        <p:nvSpPr>
          <p:cNvPr id="24" name="">
            <a:extLst xmlns:a="http://schemas.openxmlformats.org/drawingml/2006/main">
              <a:ext uri="{FF2B5EF4-FFF2-40B4-BE49-F238E27FC236}">
                <a16:creationId xmlns:a16="http://schemas.microsoft.com/office/drawing/2014/main" id="{BD1B6363-7534-4841-A71C-AD880CEE98FF}"/>
              </a:ext>
            </a:extLst>
          </p:cNvPr>
          <p:cNvSpPr>
            <a:spLocks xmlns:a="http://schemas.openxmlformats.org/drawingml/2006/main" noGrp="1"/>
          </p:cNvSpPr>
          <p:nvPr/>
        </p:nvSpPr>
        <p:spPr>
          <a:xfrm xmlns:a="http://schemas.openxmlformats.org/drawingml/2006/main">
            <a:off x="1390650" y="46291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3D8DFF"/>
                </a:solidFill>
              </a:defRPr>
            </a:pPr>
            <a:r>
              <a:rPr sz="1275" b="0" i="0">
                <a:solidFill>
                  <a:srgbClr val="3D8DFF"/>
                </a:solidFill>
              </a:rPr>
              <a:t>时间与流动性</a:t>
            </a:r>
          </a:p>
        </p:txBody>
      </p:sp>
      <p:sp>
        <p:nvSpPr>
          <p:cNvPr id="25" name="">
            <a:extLst xmlns:a="http://schemas.openxmlformats.org/drawingml/2006/main">
              <a:ext uri="{FF2B5EF4-FFF2-40B4-BE49-F238E27FC236}">
                <a16:creationId xmlns:a16="http://schemas.microsoft.com/office/drawing/2014/main" id="{BE105543-FA9D-4B29-A567-07DEB3FA0FE7}"/>
              </a:ext>
            </a:extLst>
          </p:cNvPr>
          <p:cNvSpPr>
            <a:spLocks xmlns:a="http://schemas.openxmlformats.org/drawingml/2006/main" noGrp="1"/>
          </p:cNvSpPr>
          <p:nvPr/>
        </p:nvSpPr>
        <p:spPr>
          <a:xfrm xmlns:a="http://schemas.openxmlformats.org/drawingml/2006/main">
            <a:off x="3924300" y="4267200"/>
            <a:ext cx="742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When is the money needed? Must it remain available?</a:t>
            </a:r>
          </a:p>
        </p:txBody>
      </p:sp>
      <p:sp>
        <p:nvSpPr>
          <p:cNvPr id="26" name="">
            <a:extLst xmlns:a="http://schemas.openxmlformats.org/drawingml/2006/main">
              <a:ext uri="{FF2B5EF4-FFF2-40B4-BE49-F238E27FC236}">
                <a16:creationId xmlns:a16="http://schemas.microsoft.com/office/drawing/2014/main" id="{044362B4-3A9D-40A5-B4EC-F6E60ED5B4A2}"/>
              </a:ext>
            </a:extLst>
          </p:cNvPr>
          <p:cNvSpPr>
            <a:spLocks xmlns:a="http://schemas.openxmlformats.org/drawingml/2006/main" noGrp="1"/>
          </p:cNvSpPr>
          <p:nvPr/>
        </p:nvSpPr>
        <p:spPr>
          <a:xfrm xmlns:a="http://schemas.openxmlformats.org/drawingml/2006/main">
            <a:off x="609600" y="4991100"/>
            <a:ext cx="109728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28C1787-B4FE-48B0-B226-0C37785419F9}"/>
              </a:ext>
            </a:extLst>
          </p:cNvPr>
          <p:cNvSpPr>
            <a:spLocks xmlns:a="http://schemas.openxmlformats.org/drawingml/2006/main" noGrp="1"/>
          </p:cNvSpPr>
          <p:nvPr/>
        </p:nvSpPr>
        <p:spPr>
          <a:xfrm xmlns:a="http://schemas.openxmlformats.org/drawingml/2006/main">
            <a:off x="609600" y="514350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325" b="1" i="0">
                <a:solidFill>
                  <a:srgbClr val="3D8DFF"/>
                </a:solidFill>
              </a:defRPr>
            </a:pPr>
            <a:r>
              <a:rPr sz="2325" b="1" i="0">
                <a:solidFill>
                  <a:srgbClr val="3D8DFF"/>
                </a:solidFill>
              </a:rPr>
              <a:t>05</a:t>
            </a:r>
          </a:p>
        </p:txBody>
      </p:sp>
      <p:sp>
        <p:nvSpPr>
          <p:cNvPr id="28" name="">
            <a:extLst xmlns:a="http://schemas.openxmlformats.org/drawingml/2006/main">
              <a:ext uri="{FF2B5EF4-FFF2-40B4-BE49-F238E27FC236}">
                <a16:creationId xmlns:a16="http://schemas.microsoft.com/office/drawing/2014/main" id="{75C6EEB2-4D85-4E13-9DFE-6CB261DE2BAE}"/>
              </a:ext>
            </a:extLst>
          </p:cNvPr>
          <p:cNvSpPr>
            <a:spLocks xmlns:a="http://schemas.openxmlformats.org/drawingml/2006/main" noGrp="1"/>
          </p:cNvSpPr>
          <p:nvPr/>
        </p:nvSpPr>
        <p:spPr>
          <a:xfrm xmlns:a="http://schemas.openxmlformats.org/drawingml/2006/main">
            <a:off x="1390650" y="5143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i="0">
                <a:solidFill>
                  <a:srgbClr val="0B2A4A"/>
                </a:solidFill>
              </a:defRPr>
            </a:pPr>
            <a:r>
              <a:rPr sz="1800" b="1" i="0">
                <a:solidFill>
                  <a:srgbClr val="0B2A4A"/>
                </a:solidFill>
              </a:rPr>
              <a:t>Loss + evidence</a:t>
            </a:r>
          </a:p>
        </p:txBody>
      </p:sp>
      <p:sp>
        <p:nvSpPr>
          <p:cNvPr id="29" name="">
            <a:extLst xmlns:a="http://schemas.openxmlformats.org/drawingml/2006/main">
              <a:ext uri="{FF2B5EF4-FFF2-40B4-BE49-F238E27FC236}">
                <a16:creationId xmlns:a16="http://schemas.microsoft.com/office/drawing/2014/main" id="{4ADFF8D9-B9C3-48FD-8D2D-C79994E27344}"/>
              </a:ext>
            </a:extLst>
          </p:cNvPr>
          <p:cNvSpPr>
            <a:spLocks xmlns:a="http://schemas.openxmlformats.org/drawingml/2006/main" noGrp="1"/>
          </p:cNvSpPr>
          <p:nvPr/>
        </p:nvSpPr>
        <p:spPr>
          <a:xfrm xmlns:a="http://schemas.openxmlformats.org/drawingml/2006/main">
            <a:off x="1390650" y="55054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3D8DFF"/>
                </a:solidFill>
              </a:defRPr>
            </a:pPr>
            <a:r>
              <a:rPr sz="1275" b="0" i="0">
                <a:solidFill>
                  <a:srgbClr val="3D8DFF"/>
                </a:solidFill>
              </a:rPr>
              <a:t>损失与证据</a:t>
            </a:r>
          </a:p>
        </p:txBody>
      </p:sp>
      <p:sp>
        <p:nvSpPr>
          <p:cNvPr id="30" name="">
            <a:extLst xmlns:a="http://schemas.openxmlformats.org/drawingml/2006/main">
              <a:ext uri="{FF2B5EF4-FFF2-40B4-BE49-F238E27FC236}">
                <a16:creationId xmlns:a16="http://schemas.microsoft.com/office/drawing/2014/main" id="{000FEFB2-3BA1-498A-9002-C10ACAAD0F23}"/>
              </a:ext>
            </a:extLst>
          </p:cNvPr>
          <p:cNvSpPr>
            <a:spLocks xmlns:a="http://schemas.openxmlformats.org/drawingml/2006/main" noGrp="1"/>
          </p:cNvSpPr>
          <p:nvPr/>
        </p:nvSpPr>
        <p:spPr>
          <a:xfrm xmlns:a="http://schemas.openxmlformats.org/drawingml/2006/main">
            <a:off x="3924300" y="5143500"/>
            <a:ext cx="742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What could be lost? What supports the decision? Could loss damage the goal?</a:t>
            </a:r>
          </a:p>
        </p:txBody>
      </p:sp>
      <p:sp>
        <p:nvSpPr>
          <p:cNvPr id="31" name="">
            <a:extLst xmlns:a="http://schemas.openxmlformats.org/drawingml/2006/main">
              <a:ext uri="{FF2B5EF4-FFF2-40B4-BE49-F238E27FC236}">
                <a16:creationId xmlns:a16="http://schemas.microsoft.com/office/drawing/2014/main" id="{2F836D59-0F89-4504-8957-D58917AE733E}"/>
              </a:ext>
            </a:extLst>
          </p:cNvPr>
          <p:cNvSpPr>
            <a:spLocks xmlns:a="http://schemas.openxmlformats.org/drawingml/2006/main" noGrp="1"/>
          </p:cNvSpPr>
          <p:nvPr/>
        </p:nvSpPr>
        <p:spPr>
          <a:xfrm xmlns:a="http://schemas.openxmlformats.org/drawingml/2006/main">
            <a:off x="609600" y="5867400"/>
            <a:ext cx="109728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Tree>
    <p:extLst>
      <p:ext uri="{BB962C8B-B14F-4D97-AF65-F5344CB8AC3E}">
        <p14:creationId xmlns:p14="http://schemas.microsoft.com/office/powerpoint/2010/main" val="16463415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927EAD3-C544-426A-954E-4DF58D76193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622195-156F-4012-BFD4-6E19568CEF04}"/>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HANDOUT EXERCISE 1 · 讲义练习一</a:t>
            </a:r>
          </a:p>
        </p:txBody>
      </p:sp>
      <p:sp>
        <p:nvSpPr>
          <p:cNvPr id="3" name="">
            <a:extLst xmlns:a="http://schemas.openxmlformats.org/drawingml/2006/main">
              <a:ext uri="{FF2B5EF4-FFF2-40B4-BE49-F238E27FC236}">
                <a16:creationId xmlns:a16="http://schemas.microsoft.com/office/drawing/2014/main" id="{F89005D9-2CCE-45B5-98F0-8EFAA8417313}"/>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16</a:t>
            </a:r>
          </a:p>
        </p:txBody>
      </p:sp>
      <p:sp>
        <p:nvSpPr>
          <p:cNvPr id="4" name="">
            <a:extLst xmlns:a="http://schemas.openxmlformats.org/drawingml/2006/main">
              <a:ext uri="{FF2B5EF4-FFF2-40B4-BE49-F238E27FC236}">
                <a16:creationId xmlns:a16="http://schemas.microsoft.com/office/drawing/2014/main" id="{7FE48C17-F3AF-4A08-B15B-EBF67DCF6100}"/>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4917A648-CB89-4664-B5EF-BAE17C8AFCA4}"/>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Revisit all five cases.</a:t>
            </a:r>
          </a:p>
        </p:txBody>
      </p:sp>
      <p:sp>
        <p:nvSpPr>
          <p:cNvPr id="6" name="">
            <a:extLst xmlns:a="http://schemas.openxmlformats.org/drawingml/2006/main">
              <a:ext uri="{FF2B5EF4-FFF2-40B4-BE49-F238E27FC236}">
                <a16:creationId xmlns:a16="http://schemas.microsoft.com/office/drawing/2014/main" id="{6FC81E31-1946-4C7D-9C6C-A23858589875}"/>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重新判断五个案例</a:t>
            </a:r>
          </a:p>
        </p:txBody>
      </p:sp>
      <p:sp>
        <p:nvSpPr>
          <p:cNvPr id="7" name="">
            <a:extLst xmlns:a="http://schemas.openxmlformats.org/drawingml/2006/main">
              <a:ext uri="{FF2B5EF4-FFF2-40B4-BE49-F238E27FC236}">
                <a16:creationId xmlns:a16="http://schemas.microsoft.com/office/drawing/2014/main" id="{9FC20755-9DEF-41E0-A13B-4ABCD5D0E135}"/>
              </a:ext>
            </a:extLst>
          </p:cNvPr>
          <p:cNvSpPr>
            <a:spLocks xmlns:a="http://schemas.openxmlformats.org/drawingml/2006/main" noGrp="1"/>
          </p:cNvSpPr>
          <p:nvPr/>
        </p:nvSpPr>
        <p:spPr>
          <a:xfrm xmlns:a="http://schemas.openxmlformats.org/drawingml/2006/main">
            <a:off x="609600" y="1619250"/>
            <a:ext cx="2857500" cy="41910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01381e7dd6e348e6"/>
          <a:stretch xmlns:a="http://schemas.openxmlformats.org/drawingml/2006/main"/>
        </p:blipFill>
        <p:spPr>
          <a:xfrm xmlns:a="http://schemas.openxmlformats.org/drawingml/2006/main">
            <a:off x="742950" y="2038661"/>
            <a:ext cx="2590800" cy="3352178"/>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4A172FA-FFC9-4057-AEAC-F7ECE92E4085}"/>
              </a:ext>
            </a:extLst>
          </p:cNvPr>
          <p:cNvSpPr>
            <a:spLocks xmlns:a="http://schemas.openxmlformats.org/drawingml/2006/main" noGrp="1"/>
          </p:cNvSpPr>
          <p:nvPr/>
        </p:nvSpPr>
        <p:spPr>
          <a:xfrm xmlns:a="http://schemas.openxmlformats.org/drawingml/2006/main">
            <a:off x="3857625" y="16573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3D8DFF"/>
                </a:solidFill>
              </a:defRPr>
            </a:pPr>
            <a:r>
              <a:rPr sz="1125" b="1" i="0">
                <a:solidFill>
                  <a:srgbClr val="3D8DFF"/>
                </a:solidFill>
              </a:rPr>
              <a:t>COMPLETE THE GRID</a:t>
            </a:r>
          </a:p>
        </p:txBody>
      </p:sp>
      <p:sp>
        <p:nvSpPr>
          <p:cNvPr id="10" name="">
            <a:extLst xmlns:a="http://schemas.openxmlformats.org/drawingml/2006/main">
              <a:ext uri="{FF2B5EF4-FFF2-40B4-BE49-F238E27FC236}">
                <a16:creationId xmlns:a16="http://schemas.microsoft.com/office/drawing/2014/main" id="{28871693-CC1C-441E-A406-CD7F18DFA555}"/>
              </a:ext>
            </a:extLst>
          </p:cNvPr>
          <p:cNvSpPr>
            <a:spLocks xmlns:a="http://schemas.openxmlformats.org/drawingml/2006/main" noGrp="1"/>
          </p:cNvSpPr>
          <p:nvPr/>
        </p:nvSpPr>
        <p:spPr>
          <a:xfrm xmlns:a="http://schemas.openxmlformats.org/drawingml/2006/main">
            <a:off x="3857625" y="20383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i="0">
                <a:solidFill>
                  <a:srgbClr val="0B2A4A"/>
                </a:solidFill>
              </a:defRPr>
            </a:pPr>
            <a:r>
              <a:rPr sz="2025" b="1" i="0">
                <a:solidFill>
                  <a:srgbClr val="0B2A4A"/>
                </a:solidFill>
              </a:rPr>
              <a:t>For A–E, write:</a:t>
            </a:r>
          </a:p>
        </p:txBody>
      </p:sp>
      <p:sp>
        <p:nvSpPr>
          <p:cNvPr id="11" name="">
            <a:extLst xmlns:a="http://schemas.openxmlformats.org/drawingml/2006/main">
              <a:ext uri="{FF2B5EF4-FFF2-40B4-BE49-F238E27FC236}">
                <a16:creationId xmlns:a16="http://schemas.microsoft.com/office/drawing/2014/main" id="{63047283-6C6F-4055-9864-A7E824BBAB14}"/>
              </a:ext>
            </a:extLst>
          </p:cNvPr>
          <p:cNvSpPr>
            <a:spLocks xmlns:a="http://schemas.openxmlformats.org/drawingml/2006/main" noGrp="1"/>
          </p:cNvSpPr>
          <p:nvPr/>
        </p:nvSpPr>
        <p:spPr>
          <a:xfrm xmlns:a="http://schemas.openxmlformats.org/drawingml/2006/main">
            <a:off x="3857625" y="2714625"/>
            <a:ext cx="514350" cy="514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E020B61-CDB2-4FE4-86E7-00981319F056}"/>
              </a:ext>
            </a:extLst>
          </p:cNvPr>
          <p:cNvSpPr>
            <a:spLocks xmlns:a="http://schemas.openxmlformats.org/drawingml/2006/main" noGrp="1"/>
          </p:cNvSpPr>
          <p:nvPr/>
        </p:nvSpPr>
        <p:spPr>
          <a:xfrm xmlns:a="http://schemas.openxmlformats.org/drawingml/2006/main">
            <a:off x="3857625" y="27908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FFFFFF"/>
                </a:solidFill>
              </a:defRPr>
            </a:pPr>
            <a:r>
              <a:rPr sz="2025" b="1" i="0">
                <a:solidFill>
                  <a:srgbClr val="FFFFFF"/>
                </a:solidFill>
              </a:rPr>
              <a:t>1</a:t>
            </a:r>
          </a:p>
        </p:txBody>
      </p:sp>
      <p:sp>
        <p:nvSpPr>
          <p:cNvPr id="13" name="">
            <a:extLst xmlns:a="http://schemas.openxmlformats.org/drawingml/2006/main">
              <a:ext uri="{FF2B5EF4-FFF2-40B4-BE49-F238E27FC236}">
                <a16:creationId xmlns:a16="http://schemas.microsoft.com/office/drawing/2014/main" id="{2D955B10-20C9-496F-B972-E92A001CAC54}"/>
              </a:ext>
            </a:extLst>
          </p:cNvPr>
          <p:cNvSpPr>
            <a:spLocks xmlns:a="http://schemas.openxmlformats.org/drawingml/2006/main" noGrp="1"/>
          </p:cNvSpPr>
          <p:nvPr/>
        </p:nvSpPr>
        <p:spPr>
          <a:xfrm xmlns:a="http://schemas.openxmlformats.org/drawingml/2006/main">
            <a:off x="4600575" y="2752725"/>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000000"/>
                </a:solidFill>
              </a:defRPr>
            </a:pPr>
            <a:r>
              <a:rPr sz="1725" b="1" i="0">
                <a:solidFill>
                  <a:srgbClr val="000000"/>
                </a:solidFill>
              </a:rPr>
              <a:t>best classification / 最强分类</a:t>
            </a:r>
          </a:p>
        </p:txBody>
      </p:sp>
      <p:sp>
        <p:nvSpPr>
          <p:cNvPr id="14" name="">
            <a:extLst xmlns:a="http://schemas.openxmlformats.org/drawingml/2006/main">
              <a:ext uri="{FF2B5EF4-FFF2-40B4-BE49-F238E27FC236}">
                <a16:creationId xmlns:a16="http://schemas.microsoft.com/office/drawing/2014/main" id="{2BD317DA-F6C5-45CD-85A0-D912C3DF6C3B}"/>
              </a:ext>
            </a:extLst>
          </p:cNvPr>
          <p:cNvSpPr>
            <a:spLocks xmlns:a="http://schemas.openxmlformats.org/drawingml/2006/main" noGrp="1"/>
          </p:cNvSpPr>
          <p:nvPr/>
        </p:nvSpPr>
        <p:spPr>
          <a:xfrm xmlns:a="http://schemas.openxmlformats.org/drawingml/2006/main">
            <a:off x="3857625" y="3609975"/>
            <a:ext cx="514350" cy="514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A4670D6-915A-4643-BBDB-C58657D67B46}"/>
              </a:ext>
            </a:extLst>
          </p:cNvPr>
          <p:cNvSpPr>
            <a:spLocks xmlns:a="http://schemas.openxmlformats.org/drawingml/2006/main" noGrp="1"/>
          </p:cNvSpPr>
          <p:nvPr/>
        </p:nvSpPr>
        <p:spPr>
          <a:xfrm xmlns:a="http://schemas.openxmlformats.org/drawingml/2006/main">
            <a:off x="3857625" y="368617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FFFFFF"/>
                </a:solidFill>
              </a:defRPr>
            </a:pPr>
            <a:r>
              <a:rPr sz="2025" b="1" i="0">
                <a:solidFill>
                  <a:srgbClr val="FFFFFF"/>
                </a:solidFill>
              </a:rPr>
              <a:t>2</a:t>
            </a:r>
          </a:p>
        </p:txBody>
      </p:sp>
      <p:sp>
        <p:nvSpPr>
          <p:cNvPr id="16" name="">
            <a:extLst xmlns:a="http://schemas.openxmlformats.org/drawingml/2006/main">
              <a:ext uri="{FF2B5EF4-FFF2-40B4-BE49-F238E27FC236}">
                <a16:creationId xmlns:a16="http://schemas.microsoft.com/office/drawing/2014/main" id="{29374F38-EE96-4C71-9840-E4BFFA3AF7A0}"/>
              </a:ext>
            </a:extLst>
          </p:cNvPr>
          <p:cNvSpPr>
            <a:spLocks xmlns:a="http://schemas.openxmlformats.org/drawingml/2006/main" noGrp="1"/>
          </p:cNvSpPr>
          <p:nvPr/>
        </p:nvSpPr>
        <p:spPr>
          <a:xfrm xmlns:a="http://schemas.openxmlformats.org/drawingml/2006/main">
            <a:off x="4600575" y="3648075"/>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000000"/>
                </a:solidFill>
              </a:defRPr>
            </a:pPr>
            <a:r>
              <a:rPr sz="1725" b="1" i="0">
                <a:solidFill>
                  <a:srgbClr val="000000"/>
                </a:solidFill>
              </a:rPr>
              <a:t>one decisive clue / 一个决定性线索</a:t>
            </a:r>
          </a:p>
        </p:txBody>
      </p:sp>
      <p:sp>
        <p:nvSpPr>
          <p:cNvPr id="17" name="">
            <a:extLst xmlns:a="http://schemas.openxmlformats.org/drawingml/2006/main">
              <a:ext uri="{FF2B5EF4-FFF2-40B4-BE49-F238E27FC236}">
                <a16:creationId xmlns:a16="http://schemas.microsoft.com/office/drawing/2014/main" id="{776D5FF7-6437-4043-832C-3B66370680D5}"/>
              </a:ext>
            </a:extLst>
          </p:cNvPr>
          <p:cNvSpPr>
            <a:spLocks xmlns:a="http://schemas.openxmlformats.org/drawingml/2006/main" noGrp="1"/>
          </p:cNvSpPr>
          <p:nvPr/>
        </p:nvSpPr>
        <p:spPr>
          <a:xfrm xmlns:a="http://schemas.openxmlformats.org/drawingml/2006/main">
            <a:off x="3857625" y="4505325"/>
            <a:ext cx="514350" cy="5143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55586EF-EBBB-4439-8003-7EA13677B680}"/>
              </a:ext>
            </a:extLst>
          </p:cNvPr>
          <p:cNvSpPr>
            <a:spLocks xmlns:a="http://schemas.openxmlformats.org/drawingml/2006/main" noGrp="1"/>
          </p:cNvSpPr>
          <p:nvPr/>
        </p:nvSpPr>
        <p:spPr>
          <a:xfrm xmlns:a="http://schemas.openxmlformats.org/drawingml/2006/main">
            <a:off x="3857625" y="4581525"/>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i="0">
                <a:solidFill>
                  <a:srgbClr val="FFFFFF"/>
                </a:solidFill>
              </a:defRPr>
            </a:pPr>
            <a:r>
              <a:rPr sz="2025" b="1" i="0">
                <a:solidFill>
                  <a:srgbClr val="FFFFFF"/>
                </a:solidFill>
              </a:rPr>
              <a:t>3</a:t>
            </a:r>
          </a:p>
        </p:txBody>
      </p:sp>
      <p:sp>
        <p:nvSpPr>
          <p:cNvPr id="19" name="">
            <a:extLst xmlns:a="http://schemas.openxmlformats.org/drawingml/2006/main">
              <a:ext uri="{FF2B5EF4-FFF2-40B4-BE49-F238E27FC236}">
                <a16:creationId xmlns:a16="http://schemas.microsoft.com/office/drawing/2014/main" id="{597AB31F-2D9A-4BC4-B805-24189D9C80E8}"/>
              </a:ext>
            </a:extLst>
          </p:cNvPr>
          <p:cNvSpPr>
            <a:spLocks xmlns:a="http://schemas.openxmlformats.org/drawingml/2006/main" noGrp="1"/>
          </p:cNvSpPr>
          <p:nvPr/>
        </p:nvSpPr>
        <p:spPr>
          <a:xfrm xmlns:a="http://schemas.openxmlformats.org/drawingml/2006/main">
            <a:off x="4600575" y="4543425"/>
            <a:ext cx="6572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000000"/>
                </a:solidFill>
              </a:defRPr>
            </a:pPr>
            <a:r>
              <a:rPr sz="1725" b="1" i="0">
                <a:solidFill>
                  <a:srgbClr val="000000"/>
                </a:solidFill>
              </a:rPr>
              <a:t>why a nearby category is weaker / 为什么相近分类较弱</a:t>
            </a:r>
          </a:p>
        </p:txBody>
      </p:sp>
      <p:sp>
        <p:nvSpPr>
          <p:cNvPr id="20" name="">
            <a:extLst xmlns:a="http://schemas.openxmlformats.org/drawingml/2006/main">
              <a:ext uri="{FF2B5EF4-FFF2-40B4-BE49-F238E27FC236}">
                <a16:creationId xmlns:a16="http://schemas.microsoft.com/office/drawing/2014/main" id="{B2516AAE-3471-4EDC-98C8-68364246A392}"/>
              </a:ext>
            </a:extLst>
          </p:cNvPr>
          <p:cNvSpPr>
            <a:spLocks xmlns:a="http://schemas.openxmlformats.org/drawingml/2006/main" noGrp="1"/>
          </p:cNvSpPr>
          <p:nvPr/>
        </p:nvSpPr>
        <p:spPr>
          <a:xfrm xmlns:a="http://schemas.openxmlformats.org/drawingml/2006/main">
            <a:off x="3857625" y="5391150"/>
            <a:ext cx="7315200" cy="419100"/>
          </a:xfrm>
          <a:prstGeom xmlns:a="http://schemas.openxmlformats.org/drawingml/2006/main" prst="rect">
            <a:avLst/>
          </a:prstGeom>
          <a:solidFill xmlns:a="http://schemas.openxmlformats.org/drawingml/2006/main">
            <a:srgbClr val="0B2A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CFDB88F-1880-4585-9F36-08398A3904C2}"/>
              </a:ext>
            </a:extLst>
          </p:cNvPr>
          <p:cNvSpPr>
            <a:spLocks xmlns:a="http://schemas.openxmlformats.org/drawingml/2006/main" noGrp="1"/>
          </p:cNvSpPr>
          <p:nvPr/>
        </p:nvSpPr>
        <p:spPr>
          <a:xfrm xmlns:a="http://schemas.openxmlformats.org/drawingml/2006/main">
            <a:off x="4048125" y="5486400"/>
            <a:ext cx="693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i="0">
                <a:solidFill>
                  <a:srgbClr val="FFFFFF"/>
                </a:solidFill>
              </a:defRPr>
            </a:pPr>
            <a:r>
              <a:rPr sz="1500" b="1" i="0">
                <a:solidFill>
                  <a:srgbClr val="FFFFFF"/>
                </a:solidFill>
              </a:rPr>
              <a:t>Pairs: challenge one answer with a classifier question.</a:t>
            </a:r>
          </a:p>
        </p:txBody>
      </p:sp>
    </p:spTree>
    <p:extLst>
      <p:ext uri="{BB962C8B-B14F-4D97-AF65-F5344CB8AC3E}">
        <p14:creationId xmlns:p14="http://schemas.microsoft.com/office/powerpoint/2010/main" val="135126744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C2F983A-698A-4903-B7BC-B826F5B1824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D40822C-1BF4-45F2-AD92-A014E60CF69C}"/>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HANDOUT EXERCISE 2 · TRY · 边界练习</a:t>
            </a:r>
          </a:p>
        </p:txBody>
      </p:sp>
      <p:sp>
        <p:nvSpPr>
          <p:cNvPr id="3" name="">
            <a:extLst xmlns:a="http://schemas.openxmlformats.org/drawingml/2006/main">
              <a:ext uri="{FF2B5EF4-FFF2-40B4-BE49-F238E27FC236}">
                <a16:creationId xmlns:a16="http://schemas.microsoft.com/office/drawing/2014/main" id="{DBF80E27-4066-4E11-BA2D-C652E05A5C78}"/>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17</a:t>
            </a:r>
          </a:p>
        </p:txBody>
      </p:sp>
      <p:sp>
        <p:nvSpPr>
          <p:cNvPr id="4" name="">
            <a:extLst xmlns:a="http://schemas.openxmlformats.org/drawingml/2006/main">
              <a:ext uri="{FF2B5EF4-FFF2-40B4-BE49-F238E27FC236}">
                <a16:creationId xmlns:a16="http://schemas.microsoft.com/office/drawing/2014/main" id="{C13BC113-DADF-4AB2-B6F1-0D60B1D5110F}"/>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66205651-5F4A-46D4-9055-AD794273D8AE}"/>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Choose the strongest pattern.</a:t>
            </a:r>
          </a:p>
        </p:txBody>
      </p:sp>
      <p:sp>
        <p:nvSpPr>
          <p:cNvPr id="6" name="">
            <a:extLst xmlns:a="http://schemas.openxmlformats.org/drawingml/2006/main">
              <a:ext uri="{FF2B5EF4-FFF2-40B4-BE49-F238E27FC236}">
                <a16:creationId xmlns:a16="http://schemas.microsoft.com/office/drawing/2014/main" id="{010437BA-7364-4B4C-9A51-67CB00C0FC4D}"/>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选择最强的分类模式</a:t>
            </a:r>
          </a:p>
        </p:txBody>
      </p:sp>
      <p:sp>
        <p:nvSpPr>
          <p:cNvPr id="7" name="">
            <a:extLst xmlns:a="http://schemas.openxmlformats.org/drawingml/2006/main">
              <a:ext uri="{FF2B5EF4-FFF2-40B4-BE49-F238E27FC236}">
                <a16:creationId xmlns:a16="http://schemas.microsoft.com/office/drawing/2014/main" id="{25ECF942-ECC2-4BB2-9954-D6B4DEE03DCE}"/>
              </a:ext>
            </a:extLst>
          </p:cNvPr>
          <p:cNvSpPr>
            <a:spLocks xmlns:a="http://schemas.openxmlformats.org/drawingml/2006/main" noGrp="1"/>
          </p:cNvSpPr>
          <p:nvPr/>
        </p:nvSpPr>
        <p:spPr>
          <a:xfrm xmlns:a="http://schemas.openxmlformats.org/drawingml/2006/main">
            <a:off x="609600" y="173355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3D8DFF"/>
                </a:solidFill>
              </a:defRPr>
            </a:pPr>
            <a:r>
              <a:rPr sz="2850" b="1" i="0">
                <a:solidFill>
                  <a:srgbClr val="3D8DFF"/>
                </a:solidFill>
              </a:rPr>
              <a:t>1</a:t>
            </a:r>
          </a:p>
        </p:txBody>
      </p:sp>
      <p:sp>
        <p:nvSpPr>
          <p:cNvPr id="8" name="">
            <a:extLst xmlns:a="http://schemas.openxmlformats.org/drawingml/2006/main">
              <a:ext uri="{FF2B5EF4-FFF2-40B4-BE49-F238E27FC236}">
                <a16:creationId xmlns:a16="http://schemas.microsoft.com/office/drawing/2014/main" id="{7FE8B04A-CE7D-4791-90BE-10D7CCED03E2}"/>
              </a:ext>
            </a:extLst>
          </p:cNvPr>
          <p:cNvSpPr>
            <a:spLocks xmlns:a="http://schemas.openxmlformats.org/drawingml/2006/main" noGrp="1"/>
          </p:cNvSpPr>
          <p:nvPr/>
        </p:nvSpPr>
        <p:spPr>
          <a:xfrm xmlns:a="http://schemas.openxmlformats.org/drawingml/2006/main">
            <a:off x="1323975" y="1733550"/>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B2A4A"/>
                </a:solidFill>
              </a:defRPr>
            </a:pPr>
            <a:r>
              <a:rPr sz="1650" b="1" i="0">
                <a:solidFill>
                  <a:srgbClr val="0B2A4A"/>
                </a:solidFill>
              </a:rPr>
              <a:t>Mei keeps three months of expenses in an accessible bank account for emergencies.</a:t>
            </a:r>
          </a:p>
        </p:txBody>
      </p:sp>
      <p:sp>
        <p:nvSpPr>
          <p:cNvPr id="9" name="">
            <a:extLst xmlns:a="http://schemas.openxmlformats.org/drawingml/2006/main">
              <a:ext uri="{FF2B5EF4-FFF2-40B4-BE49-F238E27FC236}">
                <a16:creationId xmlns:a16="http://schemas.microsoft.com/office/drawing/2014/main" id="{258AF9EA-6BD6-47DD-B77E-9AE1DB967DC7}"/>
              </a:ext>
            </a:extLst>
          </p:cNvPr>
          <p:cNvSpPr>
            <a:spLocks xmlns:a="http://schemas.openxmlformats.org/drawingml/2006/main" noGrp="1"/>
          </p:cNvSpPr>
          <p:nvPr/>
        </p:nvSpPr>
        <p:spPr>
          <a:xfrm xmlns:a="http://schemas.openxmlformats.org/drawingml/2006/main">
            <a:off x="1323975" y="2990850"/>
            <a:ext cx="4619625"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44D880-7639-483F-B92A-53BDD1BCA75A}"/>
              </a:ext>
            </a:extLst>
          </p:cNvPr>
          <p:cNvSpPr>
            <a:spLocks xmlns:a="http://schemas.openxmlformats.org/drawingml/2006/main" noGrp="1"/>
          </p:cNvSpPr>
          <p:nvPr/>
        </p:nvSpPr>
        <p:spPr>
          <a:xfrm xmlns:a="http://schemas.openxmlformats.org/drawingml/2006/main">
            <a:off x="1323975" y="3133725"/>
            <a:ext cx="461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6570"/>
                </a:solidFill>
              </a:defRPr>
            </a:pPr>
            <a:r>
              <a:rPr sz="1275" b="0" i="0">
                <a:solidFill>
                  <a:srgbClr val="5F6570"/>
                </a:solidFill>
              </a:rPr>
              <a:t>classification + decisive clue / 分类 + 线索</a:t>
            </a:r>
          </a:p>
        </p:txBody>
      </p:sp>
      <p:sp>
        <p:nvSpPr>
          <p:cNvPr id="11" name="">
            <a:extLst xmlns:a="http://schemas.openxmlformats.org/drawingml/2006/main">
              <a:ext uri="{FF2B5EF4-FFF2-40B4-BE49-F238E27FC236}">
                <a16:creationId xmlns:a16="http://schemas.microsoft.com/office/drawing/2014/main" id="{F2A96AD8-DACD-4117-8762-6B234687AFFE}"/>
              </a:ext>
            </a:extLst>
          </p:cNvPr>
          <p:cNvSpPr>
            <a:spLocks xmlns:a="http://schemas.openxmlformats.org/drawingml/2006/main" noGrp="1"/>
          </p:cNvSpPr>
          <p:nvPr/>
        </p:nvSpPr>
        <p:spPr>
          <a:xfrm xmlns:a="http://schemas.openxmlformats.org/drawingml/2006/main">
            <a:off x="6324600" y="1733550"/>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3D8DFF"/>
                </a:solidFill>
              </a:defRPr>
            </a:pPr>
            <a:r>
              <a:rPr sz="2850" b="1" i="0">
                <a:solidFill>
                  <a:srgbClr val="3D8DFF"/>
                </a:solidFill>
              </a:rPr>
              <a:t>3</a:t>
            </a:r>
          </a:p>
        </p:txBody>
      </p:sp>
      <p:sp>
        <p:nvSpPr>
          <p:cNvPr id="12" name="">
            <a:extLst xmlns:a="http://schemas.openxmlformats.org/drawingml/2006/main">
              <a:ext uri="{FF2B5EF4-FFF2-40B4-BE49-F238E27FC236}">
                <a16:creationId xmlns:a16="http://schemas.microsoft.com/office/drawing/2014/main" id="{D7430907-4476-45FA-805C-078AB5ED622D}"/>
              </a:ext>
            </a:extLst>
          </p:cNvPr>
          <p:cNvSpPr>
            <a:spLocks xmlns:a="http://schemas.openxmlformats.org/drawingml/2006/main" noGrp="1"/>
          </p:cNvSpPr>
          <p:nvPr/>
        </p:nvSpPr>
        <p:spPr>
          <a:xfrm xmlns:a="http://schemas.openxmlformats.org/drawingml/2006/main">
            <a:off x="7038975" y="1733550"/>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B2A4A"/>
                </a:solidFill>
              </a:defRPr>
            </a:pPr>
            <a:r>
              <a:rPr sz="1650" b="1" i="0">
                <a:solidFill>
                  <a:srgbClr val="0B2A4A"/>
                </a:solidFill>
              </a:rPr>
              <a:t>Ruo uses margin to trade the same fund during one afternoon after a social-media signal.</a:t>
            </a:r>
          </a:p>
        </p:txBody>
      </p:sp>
      <p:sp>
        <p:nvSpPr>
          <p:cNvPr id="13" name="">
            <a:extLst xmlns:a="http://schemas.openxmlformats.org/drawingml/2006/main">
              <a:ext uri="{FF2B5EF4-FFF2-40B4-BE49-F238E27FC236}">
                <a16:creationId xmlns:a16="http://schemas.microsoft.com/office/drawing/2014/main" id="{FD25D649-269B-42BA-A10B-E0E7E8A22618}"/>
              </a:ext>
            </a:extLst>
          </p:cNvPr>
          <p:cNvSpPr>
            <a:spLocks xmlns:a="http://schemas.openxmlformats.org/drawingml/2006/main" noGrp="1"/>
          </p:cNvSpPr>
          <p:nvPr/>
        </p:nvSpPr>
        <p:spPr>
          <a:xfrm xmlns:a="http://schemas.openxmlformats.org/drawingml/2006/main">
            <a:off x="7038975" y="2990850"/>
            <a:ext cx="4619625"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F2BB137-FC10-435B-A6BE-535007BF2023}"/>
              </a:ext>
            </a:extLst>
          </p:cNvPr>
          <p:cNvSpPr>
            <a:spLocks xmlns:a="http://schemas.openxmlformats.org/drawingml/2006/main" noGrp="1"/>
          </p:cNvSpPr>
          <p:nvPr/>
        </p:nvSpPr>
        <p:spPr>
          <a:xfrm xmlns:a="http://schemas.openxmlformats.org/drawingml/2006/main">
            <a:off x="7038975" y="3133725"/>
            <a:ext cx="461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6570"/>
                </a:solidFill>
              </a:defRPr>
            </a:pPr>
            <a:r>
              <a:rPr sz="1275" b="0" i="0">
                <a:solidFill>
                  <a:srgbClr val="5F6570"/>
                </a:solidFill>
              </a:rPr>
              <a:t>classification + decisive clue / 分类 + 线索</a:t>
            </a:r>
          </a:p>
        </p:txBody>
      </p:sp>
      <p:sp>
        <p:nvSpPr>
          <p:cNvPr id="15" name="">
            <a:extLst xmlns:a="http://schemas.openxmlformats.org/drawingml/2006/main">
              <a:ext uri="{FF2B5EF4-FFF2-40B4-BE49-F238E27FC236}">
                <a16:creationId xmlns:a16="http://schemas.microsoft.com/office/drawing/2014/main" id="{0464E9B4-DA8E-42A9-A03C-AF515B85A124}"/>
              </a:ext>
            </a:extLst>
          </p:cNvPr>
          <p:cNvSpPr>
            <a:spLocks xmlns:a="http://schemas.openxmlformats.org/drawingml/2006/main" noGrp="1"/>
          </p:cNvSpPr>
          <p:nvPr/>
        </p:nvSpPr>
        <p:spPr>
          <a:xfrm xmlns:a="http://schemas.openxmlformats.org/drawingml/2006/main">
            <a:off x="609600" y="3686175"/>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3D8DFF"/>
                </a:solidFill>
              </a:defRPr>
            </a:pPr>
            <a:r>
              <a:rPr sz="2850" b="1" i="0">
                <a:solidFill>
                  <a:srgbClr val="3D8DFF"/>
                </a:solidFill>
              </a:rPr>
              <a:t>4</a:t>
            </a:r>
          </a:p>
        </p:txBody>
      </p:sp>
      <p:sp>
        <p:nvSpPr>
          <p:cNvPr id="16" name="">
            <a:extLst xmlns:a="http://schemas.openxmlformats.org/drawingml/2006/main">
              <a:ext uri="{FF2B5EF4-FFF2-40B4-BE49-F238E27FC236}">
                <a16:creationId xmlns:a16="http://schemas.microsoft.com/office/drawing/2014/main" id="{3E9A077E-15F5-4D11-8113-D4C7832DA630}"/>
              </a:ext>
            </a:extLst>
          </p:cNvPr>
          <p:cNvSpPr>
            <a:spLocks xmlns:a="http://schemas.openxmlformats.org/drawingml/2006/main" noGrp="1"/>
          </p:cNvSpPr>
          <p:nvPr/>
        </p:nvSpPr>
        <p:spPr>
          <a:xfrm xmlns:a="http://schemas.openxmlformats.org/drawingml/2006/main">
            <a:off x="1323975" y="3686175"/>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B2A4A"/>
                </a:solidFill>
              </a:defRPr>
            </a:pPr>
            <a:r>
              <a:rPr sz="1650" b="1" i="0">
                <a:solidFill>
                  <a:srgbClr val="0B2A4A"/>
                </a:solidFill>
              </a:rPr>
              <a:t>Lili buys running shoes for school training and expects no financial payoff.</a:t>
            </a:r>
          </a:p>
        </p:txBody>
      </p:sp>
      <p:sp>
        <p:nvSpPr>
          <p:cNvPr id="17" name="">
            <a:extLst xmlns:a="http://schemas.openxmlformats.org/drawingml/2006/main">
              <a:ext uri="{FF2B5EF4-FFF2-40B4-BE49-F238E27FC236}">
                <a16:creationId xmlns:a16="http://schemas.microsoft.com/office/drawing/2014/main" id="{097D4CAB-53C7-46B5-A505-1B51D5F6647B}"/>
              </a:ext>
            </a:extLst>
          </p:cNvPr>
          <p:cNvSpPr>
            <a:spLocks xmlns:a="http://schemas.openxmlformats.org/drawingml/2006/main" noGrp="1"/>
          </p:cNvSpPr>
          <p:nvPr/>
        </p:nvSpPr>
        <p:spPr>
          <a:xfrm xmlns:a="http://schemas.openxmlformats.org/drawingml/2006/main">
            <a:off x="1323975" y="4943475"/>
            <a:ext cx="4619625"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C14CFA1-C4FD-490F-8722-F5A6AD4FCEE5}"/>
              </a:ext>
            </a:extLst>
          </p:cNvPr>
          <p:cNvSpPr>
            <a:spLocks xmlns:a="http://schemas.openxmlformats.org/drawingml/2006/main" noGrp="1"/>
          </p:cNvSpPr>
          <p:nvPr/>
        </p:nvSpPr>
        <p:spPr>
          <a:xfrm xmlns:a="http://schemas.openxmlformats.org/drawingml/2006/main">
            <a:off x="1323975" y="5086350"/>
            <a:ext cx="461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6570"/>
                </a:solidFill>
              </a:defRPr>
            </a:pPr>
            <a:r>
              <a:rPr sz="1275" b="0" i="0">
                <a:solidFill>
                  <a:srgbClr val="5F6570"/>
                </a:solidFill>
              </a:rPr>
              <a:t>classification + decisive clue / 分类 + 线索</a:t>
            </a:r>
          </a:p>
        </p:txBody>
      </p:sp>
      <p:sp>
        <p:nvSpPr>
          <p:cNvPr id="19" name="">
            <a:extLst xmlns:a="http://schemas.openxmlformats.org/drawingml/2006/main">
              <a:ext uri="{FF2B5EF4-FFF2-40B4-BE49-F238E27FC236}">
                <a16:creationId xmlns:a16="http://schemas.microsoft.com/office/drawing/2014/main" id="{BF9AD434-DD95-4B42-B2C1-AF694C39DD28}"/>
              </a:ext>
            </a:extLst>
          </p:cNvPr>
          <p:cNvSpPr>
            <a:spLocks xmlns:a="http://schemas.openxmlformats.org/drawingml/2006/main" noGrp="1"/>
          </p:cNvSpPr>
          <p:nvPr/>
        </p:nvSpPr>
        <p:spPr>
          <a:xfrm xmlns:a="http://schemas.openxmlformats.org/drawingml/2006/main">
            <a:off x="6324600" y="3686175"/>
            <a:ext cx="552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i="0">
                <a:solidFill>
                  <a:srgbClr val="3D8DFF"/>
                </a:solidFill>
              </a:defRPr>
            </a:pPr>
            <a:r>
              <a:rPr sz="2850" b="1" i="0">
                <a:solidFill>
                  <a:srgbClr val="3D8DFF"/>
                </a:solidFill>
              </a:rPr>
              <a:t>5</a:t>
            </a:r>
          </a:p>
        </p:txBody>
      </p:sp>
      <p:sp>
        <p:nvSpPr>
          <p:cNvPr id="20" name="">
            <a:extLst xmlns:a="http://schemas.openxmlformats.org/drawingml/2006/main">
              <a:ext uri="{FF2B5EF4-FFF2-40B4-BE49-F238E27FC236}">
                <a16:creationId xmlns:a16="http://schemas.microsoft.com/office/drawing/2014/main" id="{CC622E5C-527A-4CDE-8F8B-A47D9371DC98}"/>
              </a:ext>
            </a:extLst>
          </p:cNvPr>
          <p:cNvSpPr>
            <a:spLocks xmlns:a="http://schemas.openxmlformats.org/drawingml/2006/main" noGrp="1"/>
          </p:cNvSpPr>
          <p:nvPr/>
        </p:nvSpPr>
        <p:spPr>
          <a:xfrm xmlns:a="http://schemas.openxmlformats.org/drawingml/2006/main">
            <a:off x="7038975" y="3686175"/>
            <a:ext cx="4619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B2A4A"/>
                </a:solidFill>
              </a:defRPr>
            </a:pPr>
            <a:r>
              <a:rPr sz="1650" b="1" i="0">
                <a:solidFill>
                  <a:srgbClr val="0B2A4A"/>
                </a:solidFill>
              </a:rPr>
              <a:t>Kai pays CNY 20 for a lottery ticket whose prize depends on the draw.</a:t>
            </a:r>
          </a:p>
        </p:txBody>
      </p:sp>
      <p:sp>
        <p:nvSpPr>
          <p:cNvPr id="21" name="">
            <a:extLst xmlns:a="http://schemas.openxmlformats.org/drawingml/2006/main">
              <a:ext uri="{FF2B5EF4-FFF2-40B4-BE49-F238E27FC236}">
                <a16:creationId xmlns:a16="http://schemas.microsoft.com/office/drawing/2014/main" id="{012BDEBE-2D2C-4792-B6A0-103677A4D774}"/>
              </a:ext>
            </a:extLst>
          </p:cNvPr>
          <p:cNvSpPr>
            <a:spLocks xmlns:a="http://schemas.openxmlformats.org/drawingml/2006/main" noGrp="1"/>
          </p:cNvSpPr>
          <p:nvPr/>
        </p:nvSpPr>
        <p:spPr>
          <a:xfrm xmlns:a="http://schemas.openxmlformats.org/drawingml/2006/main">
            <a:off x="7038975" y="4943475"/>
            <a:ext cx="4619625"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16CE955-B43D-4BDE-BED3-9419758AF4F8}"/>
              </a:ext>
            </a:extLst>
          </p:cNvPr>
          <p:cNvSpPr>
            <a:spLocks xmlns:a="http://schemas.openxmlformats.org/drawingml/2006/main" noGrp="1"/>
          </p:cNvSpPr>
          <p:nvPr/>
        </p:nvSpPr>
        <p:spPr>
          <a:xfrm xmlns:a="http://schemas.openxmlformats.org/drawingml/2006/main">
            <a:off x="7038975" y="5086350"/>
            <a:ext cx="4619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i="0">
                <a:solidFill>
                  <a:srgbClr val="5F6570"/>
                </a:solidFill>
              </a:defRPr>
            </a:pPr>
            <a:r>
              <a:rPr sz="1275" b="0" i="0">
                <a:solidFill>
                  <a:srgbClr val="5F6570"/>
                </a:solidFill>
              </a:rPr>
              <a:t>classification + decisive clue / 分类 + 线索</a:t>
            </a:r>
          </a:p>
        </p:txBody>
      </p:sp>
    </p:spTree>
    <p:extLst>
      <p:ext uri="{BB962C8B-B14F-4D97-AF65-F5344CB8AC3E}">
        <p14:creationId xmlns:p14="http://schemas.microsoft.com/office/powerpoint/2010/main" val="86053366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3D57EF0-7BC1-40D0-8114-907B12BF944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9A3D498-48CF-477D-AA56-D7AF7601D2C5}"/>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HANDOUT EXERCISE 2 · REVEAL · 核对</a:t>
            </a:r>
          </a:p>
        </p:txBody>
      </p:sp>
      <p:sp>
        <p:nvSpPr>
          <p:cNvPr id="3" name="">
            <a:extLst xmlns:a="http://schemas.openxmlformats.org/drawingml/2006/main">
              <a:ext uri="{FF2B5EF4-FFF2-40B4-BE49-F238E27FC236}">
                <a16:creationId xmlns:a16="http://schemas.microsoft.com/office/drawing/2014/main" id="{9C04E6DC-9F47-40D1-9599-BDB632249333}"/>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18</a:t>
            </a:r>
          </a:p>
        </p:txBody>
      </p:sp>
      <p:sp>
        <p:nvSpPr>
          <p:cNvPr id="4" name="">
            <a:extLst xmlns:a="http://schemas.openxmlformats.org/drawingml/2006/main">
              <a:ext uri="{FF2B5EF4-FFF2-40B4-BE49-F238E27FC236}">
                <a16:creationId xmlns:a16="http://schemas.microsoft.com/office/drawing/2014/main" id="{72D1F896-1BEC-47B8-B150-B716AD454885}"/>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28EBB57A-C96D-42EB-845E-3652906D0070}"/>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Answers need labels and evidence.</a:t>
            </a:r>
          </a:p>
        </p:txBody>
      </p:sp>
      <p:sp>
        <p:nvSpPr>
          <p:cNvPr id="6" name="">
            <a:extLst xmlns:a="http://schemas.openxmlformats.org/drawingml/2006/main">
              <a:ext uri="{FF2B5EF4-FFF2-40B4-BE49-F238E27FC236}">
                <a16:creationId xmlns:a16="http://schemas.microsoft.com/office/drawing/2014/main" id="{20EF8EC1-420B-4320-8516-C0C893A0D123}"/>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答案需要分类与证据</a:t>
            </a:r>
          </a:p>
        </p:txBody>
      </p:sp>
      <p:sp>
        <p:nvSpPr>
          <p:cNvPr id="7" name="">
            <a:extLst xmlns:a="http://schemas.openxmlformats.org/drawingml/2006/main">
              <a:ext uri="{FF2B5EF4-FFF2-40B4-BE49-F238E27FC236}">
                <a16:creationId xmlns:a16="http://schemas.microsoft.com/office/drawing/2014/main" id="{3F20C927-494E-43ED-BF9B-873DC91A3F85}"/>
              </a:ext>
            </a:extLst>
          </p:cNvPr>
          <p:cNvSpPr>
            <a:spLocks xmlns:a="http://schemas.openxmlformats.org/drawingml/2006/main" noGrp="1"/>
          </p:cNvSpPr>
          <p:nvPr/>
        </p:nvSpPr>
        <p:spPr>
          <a:xfrm xmlns:a="http://schemas.openxmlformats.org/drawingml/2006/main">
            <a:off x="609600" y="1657350"/>
            <a:ext cx="10972800" cy="800100"/>
          </a:xfrm>
          <a:prstGeom xmlns:a="http://schemas.openxmlformats.org/drawingml/2006/main" prst="rect">
            <a:avLst/>
          </a:prstGeom>
          <a:solidFill xmlns:a="http://schemas.openxmlformats.org/drawingml/2006/main">
            <a:srgbClr val="EAF7F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AC75EB-3288-40FA-A9A7-22CED7F068BD}"/>
              </a:ext>
            </a:extLst>
          </p:cNvPr>
          <p:cNvSpPr>
            <a:spLocks xmlns:a="http://schemas.openxmlformats.org/drawingml/2006/main" noGrp="1"/>
          </p:cNvSpPr>
          <p:nvPr/>
        </p:nvSpPr>
        <p:spPr>
          <a:xfrm xmlns:a="http://schemas.openxmlformats.org/drawingml/2006/main">
            <a:off x="819150" y="18288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i="0">
                <a:solidFill>
                  <a:srgbClr val="48B788"/>
                </a:solidFill>
              </a:defRPr>
            </a:pPr>
            <a:r>
              <a:rPr sz="2475" b="1" i="0">
                <a:solidFill>
                  <a:srgbClr val="48B788"/>
                </a:solidFill>
              </a:rPr>
              <a:t>1</a:t>
            </a:r>
          </a:p>
        </p:txBody>
      </p:sp>
      <p:sp>
        <p:nvSpPr>
          <p:cNvPr id="9" name="">
            <a:extLst xmlns:a="http://schemas.openxmlformats.org/drawingml/2006/main">
              <a:ext uri="{FF2B5EF4-FFF2-40B4-BE49-F238E27FC236}">
                <a16:creationId xmlns:a16="http://schemas.microsoft.com/office/drawing/2014/main" id="{D41C427D-AE01-40A7-A9FC-B73A657E1E6D}"/>
              </a:ext>
            </a:extLst>
          </p:cNvPr>
          <p:cNvSpPr>
            <a:spLocks xmlns:a="http://schemas.openxmlformats.org/drawingml/2006/main" noGrp="1"/>
          </p:cNvSpPr>
          <p:nvPr/>
        </p:nvSpPr>
        <p:spPr>
          <a:xfrm xmlns:a="http://schemas.openxmlformats.org/drawingml/2006/main">
            <a:off x="1524000" y="17811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48B788"/>
                </a:solidFill>
              </a:defRPr>
            </a:pPr>
            <a:r>
              <a:rPr sz="1875" b="1" i="0">
                <a:solidFill>
                  <a:srgbClr val="48B788"/>
                </a:solidFill>
              </a:rPr>
              <a:t>SAVING / 储蓄</a:t>
            </a:r>
          </a:p>
        </p:txBody>
      </p:sp>
      <p:sp>
        <p:nvSpPr>
          <p:cNvPr id="10" name="">
            <a:extLst xmlns:a="http://schemas.openxmlformats.org/drawingml/2006/main">
              <a:ext uri="{FF2B5EF4-FFF2-40B4-BE49-F238E27FC236}">
                <a16:creationId xmlns:a16="http://schemas.microsoft.com/office/drawing/2014/main" id="{AFCFAFB9-BD33-46CC-8EFD-C949E88F3D5C}"/>
              </a:ext>
            </a:extLst>
          </p:cNvPr>
          <p:cNvSpPr>
            <a:spLocks xmlns:a="http://schemas.openxmlformats.org/drawingml/2006/main" noGrp="1"/>
          </p:cNvSpPr>
          <p:nvPr/>
        </p:nvSpPr>
        <p:spPr>
          <a:xfrm xmlns:a="http://schemas.openxmlformats.org/drawingml/2006/main">
            <a:off x="4953000" y="18192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purpose is emergency access</a:t>
            </a:r>
          </a:p>
        </p:txBody>
      </p:sp>
      <p:sp>
        <p:nvSpPr>
          <p:cNvPr id="11" name="">
            <a:extLst xmlns:a="http://schemas.openxmlformats.org/drawingml/2006/main">
              <a:ext uri="{FF2B5EF4-FFF2-40B4-BE49-F238E27FC236}">
                <a16:creationId xmlns:a16="http://schemas.microsoft.com/office/drawing/2014/main" id="{103C173F-1E32-4C58-AE1F-BE72A6F562BF}"/>
              </a:ext>
            </a:extLst>
          </p:cNvPr>
          <p:cNvSpPr>
            <a:spLocks xmlns:a="http://schemas.openxmlformats.org/drawingml/2006/main" noGrp="1"/>
          </p:cNvSpPr>
          <p:nvPr/>
        </p:nvSpPr>
        <p:spPr>
          <a:xfrm xmlns:a="http://schemas.openxmlformats.org/drawingml/2006/main">
            <a:off x="609600" y="2686050"/>
            <a:ext cx="10972800" cy="800100"/>
          </a:xfrm>
          <a:prstGeom xmlns:a="http://schemas.openxmlformats.org/drawingml/2006/main" prst="rect">
            <a:avLst/>
          </a:prstGeom>
          <a:solidFill xmlns:a="http://schemas.openxmlformats.org/drawingml/2006/main">
            <a:srgbClr val="FFF2E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F66478A-36D9-4232-AA7D-EEB389A96DBF}"/>
              </a:ext>
            </a:extLst>
          </p:cNvPr>
          <p:cNvSpPr>
            <a:spLocks xmlns:a="http://schemas.openxmlformats.org/drawingml/2006/main" noGrp="1"/>
          </p:cNvSpPr>
          <p:nvPr/>
        </p:nvSpPr>
        <p:spPr>
          <a:xfrm xmlns:a="http://schemas.openxmlformats.org/drawingml/2006/main">
            <a:off x="819150" y="28575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i="0">
                <a:solidFill>
                  <a:srgbClr val="F4A261"/>
                </a:solidFill>
              </a:defRPr>
            </a:pPr>
            <a:r>
              <a:rPr sz="2475" b="1" i="0">
                <a:solidFill>
                  <a:srgbClr val="F4A261"/>
                </a:solidFill>
              </a:rPr>
              <a:t>3</a:t>
            </a:r>
          </a:p>
        </p:txBody>
      </p:sp>
      <p:sp>
        <p:nvSpPr>
          <p:cNvPr id="13" name="">
            <a:extLst xmlns:a="http://schemas.openxmlformats.org/drawingml/2006/main">
              <a:ext uri="{FF2B5EF4-FFF2-40B4-BE49-F238E27FC236}">
                <a16:creationId xmlns:a16="http://schemas.microsoft.com/office/drawing/2014/main" id="{1D50546C-858E-4A4E-8DF9-DAA9AA81E073}"/>
              </a:ext>
            </a:extLst>
          </p:cNvPr>
          <p:cNvSpPr>
            <a:spLocks xmlns:a="http://schemas.openxmlformats.org/drawingml/2006/main" noGrp="1"/>
          </p:cNvSpPr>
          <p:nvPr/>
        </p:nvSpPr>
        <p:spPr>
          <a:xfrm xmlns:a="http://schemas.openxmlformats.org/drawingml/2006/main">
            <a:off x="1524000" y="28098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F4A261"/>
                </a:solidFill>
              </a:defRPr>
            </a:pPr>
            <a:r>
              <a:rPr sz="1875" b="1" i="0">
                <a:solidFill>
                  <a:srgbClr val="F4A261"/>
                </a:solidFill>
              </a:rPr>
              <a:t>SPECULATION / 投机</a:t>
            </a:r>
          </a:p>
        </p:txBody>
      </p:sp>
      <p:sp>
        <p:nvSpPr>
          <p:cNvPr id="14" name="">
            <a:extLst xmlns:a="http://schemas.openxmlformats.org/drawingml/2006/main">
              <a:ext uri="{FF2B5EF4-FFF2-40B4-BE49-F238E27FC236}">
                <a16:creationId xmlns:a16="http://schemas.microsoft.com/office/drawing/2014/main" id="{EEB28104-EDE8-41E3-A013-F5FDFCA5C966}"/>
              </a:ext>
            </a:extLst>
          </p:cNvPr>
          <p:cNvSpPr>
            <a:spLocks xmlns:a="http://schemas.openxmlformats.org/drawingml/2006/main" noGrp="1"/>
          </p:cNvSpPr>
          <p:nvPr/>
        </p:nvSpPr>
        <p:spPr>
          <a:xfrm xmlns:a="http://schemas.openxmlformats.org/drawingml/2006/main">
            <a:off x="4953000" y="28479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margin + one-afternoon price signal</a:t>
            </a:r>
          </a:p>
        </p:txBody>
      </p:sp>
      <p:sp>
        <p:nvSpPr>
          <p:cNvPr id="15" name="">
            <a:extLst xmlns:a="http://schemas.openxmlformats.org/drawingml/2006/main">
              <a:ext uri="{FF2B5EF4-FFF2-40B4-BE49-F238E27FC236}">
                <a16:creationId xmlns:a16="http://schemas.microsoft.com/office/drawing/2014/main" id="{D13B0B81-20ED-452B-B6C8-C721C7A6AB66}"/>
              </a:ext>
            </a:extLst>
          </p:cNvPr>
          <p:cNvSpPr>
            <a:spLocks xmlns:a="http://schemas.openxmlformats.org/drawingml/2006/main" noGrp="1"/>
          </p:cNvSpPr>
          <p:nvPr/>
        </p:nvSpPr>
        <p:spPr>
          <a:xfrm xmlns:a="http://schemas.openxmlformats.org/drawingml/2006/main">
            <a:off x="609600" y="3714750"/>
            <a:ext cx="10972800" cy="800100"/>
          </a:xfrm>
          <a:prstGeom xmlns:a="http://schemas.openxmlformats.org/drawingml/2006/main" prst="rect">
            <a:avLst/>
          </a:prstGeom>
          <a:solidFill xmlns:a="http://schemas.openxmlformats.org/drawingml/2006/main">
            <a:srgbClr val="F1EE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23A7D6E-4509-4865-A8AE-402A0B76BC8F}"/>
              </a:ext>
            </a:extLst>
          </p:cNvPr>
          <p:cNvSpPr>
            <a:spLocks xmlns:a="http://schemas.openxmlformats.org/drawingml/2006/main" noGrp="1"/>
          </p:cNvSpPr>
          <p:nvPr/>
        </p:nvSpPr>
        <p:spPr>
          <a:xfrm xmlns:a="http://schemas.openxmlformats.org/drawingml/2006/main">
            <a:off x="819150" y="38862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i="0">
                <a:solidFill>
                  <a:srgbClr val="8C7CF2"/>
                </a:solidFill>
              </a:defRPr>
            </a:pPr>
            <a:r>
              <a:rPr sz="2475" b="1" i="0">
                <a:solidFill>
                  <a:srgbClr val="8C7CF2"/>
                </a:solidFill>
              </a:rPr>
              <a:t>4</a:t>
            </a:r>
          </a:p>
        </p:txBody>
      </p:sp>
      <p:sp>
        <p:nvSpPr>
          <p:cNvPr id="17" name="">
            <a:extLst xmlns:a="http://schemas.openxmlformats.org/drawingml/2006/main">
              <a:ext uri="{FF2B5EF4-FFF2-40B4-BE49-F238E27FC236}">
                <a16:creationId xmlns:a16="http://schemas.microsoft.com/office/drawing/2014/main" id="{A7677D9D-9477-492B-BD2F-00CE8654EFA5}"/>
              </a:ext>
            </a:extLst>
          </p:cNvPr>
          <p:cNvSpPr>
            <a:spLocks xmlns:a="http://schemas.openxmlformats.org/drawingml/2006/main" noGrp="1"/>
          </p:cNvSpPr>
          <p:nvPr/>
        </p:nvSpPr>
        <p:spPr>
          <a:xfrm xmlns:a="http://schemas.openxmlformats.org/drawingml/2006/main">
            <a:off x="1524000" y="38385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8C7CF2"/>
                </a:solidFill>
              </a:defRPr>
            </a:pPr>
            <a:r>
              <a:rPr sz="1875" b="1" i="0">
                <a:solidFill>
                  <a:srgbClr val="8C7CF2"/>
                </a:solidFill>
              </a:rPr>
              <a:t>CONSUMPTION / 消费</a:t>
            </a:r>
          </a:p>
        </p:txBody>
      </p:sp>
      <p:sp>
        <p:nvSpPr>
          <p:cNvPr id="18" name="">
            <a:extLst xmlns:a="http://schemas.openxmlformats.org/drawingml/2006/main">
              <a:ext uri="{FF2B5EF4-FFF2-40B4-BE49-F238E27FC236}">
                <a16:creationId xmlns:a16="http://schemas.microsoft.com/office/drawing/2014/main" id="{A2C4B7BB-4BBF-4815-9BEE-B116848C536E}"/>
              </a:ext>
            </a:extLst>
          </p:cNvPr>
          <p:cNvSpPr>
            <a:spLocks xmlns:a="http://schemas.openxmlformats.org/drawingml/2006/main" noGrp="1"/>
          </p:cNvSpPr>
          <p:nvPr/>
        </p:nvSpPr>
        <p:spPr>
          <a:xfrm xmlns:a="http://schemas.openxmlformats.org/drawingml/2006/main">
            <a:off x="4953000" y="38766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benefit is school use, not financial return</a:t>
            </a:r>
          </a:p>
        </p:txBody>
      </p:sp>
      <p:sp>
        <p:nvSpPr>
          <p:cNvPr id="19" name="">
            <a:extLst xmlns:a="http://schemas.openxmlformats.org/drawingml/2006/main">
              <a:ext uri="{FF2B5EF4-FFF2-40B4-BE49-F238E27FC236}">
                <a16:creationId xmlns:a16="http://schemas.microsoft.com/office/drawing/2014/main" id="{3C1EFCF6-2364-42E0-9F0A-D0B1BD0B2092}"/>
              </a:ext>
            </a:extLst>
          </p:cNvPr>
          <p:cNvSpPr>
            <a:spLocks xmlns:a="http://schemas.openxmlformats.org/drawingml/2006/main" noGrp="1"/>
          </p:cNvSpPr>
          <p:nvPr/>
        </p:nvSpPr>
        <p:spPr>
          <a:xfrm xmlns:a="http://schemas.openxmlformats.org/drawingml/2006/main">
            <a:off x="609600" y="4743450"/>
            <a:ext cx="10972800" cy="800100"/>
          </a:xfrm>
          <a:prstGeom xmlns:a="http://schemas.openxmlformats.org/drawingml/2006/main" prst="rect">
            <a:avLst/>
          </a:prstGeom>
          <a:solidFill xmlns:a="http://schemas.openxmlformats.org/drawingml/2006/main">
            <a:srgbClr val="FCEC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9690E7B-3D35-4BC7-BDFD-C6D7181AFBD7}"/>
              </a:ext>
            </a:extLst>
          </p:cNvPr>
          <p:cNvSpPr>
            <a:spLocks xmlns:a="http://schemas.openxmlformats.org/drawingml/2006/main" noGrp="1"/>
          </p:cNvSpPr>
          <p:nvPr/>
        </p:nvSpPr>
        <p:spPr>
          <a:xfrm xmlns:a="http://schemas.openxmlformats.org/drawingml/2006/main">
            <a:off x="819150" y="4914900"/>
            <a:ext cx="495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75" b="1" i="0">
                <a:solidFill>
                  <a:srgbClr val="E56666"/>
                </a:solidFill>
              </a:defRPr>
            </a:pPr>
            <a:r>
              <a:rPr sz="2475" b="1" i="0">
                <a:solidFill>
                  <a:srgbClr val="E56666"/>
                </a:solidFill>
              </a:rPr>
              <a:t>5</a:t>
            </a:r>
          </a:p>
        </p:txBody>
      </p:sp>
      <p:sp>
        <p:nvSpPr>
          <p:cNvPr id="21" name="">
            <a:extLst xmlns:a="http://schemas.openxmlformats.org/drawingml/2006/main">
              <a:ext uri="{FF2B5EF4-FFF2-40B4-BE49-F238E27FC236}">
                <a16:creationId xmlns:a16="http://schemas.microsoft.com/office/drawing/2014/main" id="{1C525ACB-3625-4CB5-83DA-66DCB132E452}"/>
              </a:ext>
            </a:extLst>
          </p:cNvPr>
          <p:cNvSpPr>
            <a:spLocks xmlns:a="http://schemas.openxmlformats.org/drawingml/2006/main" noGrp="1"/>
          </p:cNvSpPr>
          <p:nvPr/>
        </p:nvSpPr>
        <p:spPr>
          <a:xfrm xmlns:a="http://schemas.openxmlformats.org/drawingml/2006/main">
            <a:off x="1524000" y="48672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E56666"/>
                </a:solidFill>
              </a:defRPr>
            </a:pPr>
            <a:r>
              <a:rPr sz="1875" b="1" i="0">
                <a:solidFill>
                  <a:srgbClr val="E56666"/>
                </a:solidFill>
              </a:rPr>
              <a:t>GAMBLING / 赌博</a:t>
            </a:r>
          </a:p>
        </p:txBody>
      </p:sp>
      <p:sp>
        <p:nvSpPr>
          <p:cNvPr id="22" name="">
            <a:extLst xmlns:a="http://schemas.openxmlformats.org/drawingml/2006/main">
              <a:ext uri="{FF2B5EF4-FFF2-40B4-BE49-F238E27FC236}">
                <a16:creationId xmlns:a16="http://schemas.microsoft.com/office/drawing/2014/main" id="{83FA5D58-DDE0-4375-9A3B-A0A0931867D0}"/>
              </a:ext>
            </a:extLst>
          </p:cNvPr>
          <p:cNvSpPr>
            <a:spLocks xmlns:a="http://schemas.openxmlformats.org/drawingml/2006/main" noGrp="1"/>
          </p:cNvSpPr>
          <p:nvPr/>
        </p:nvSpPr>
        <p:spPr>
          <a:xfrm xmlns:a="http://schemas.openxmlformats.org/drawingml/2006/main">
            <a:off x="4953000" y="49053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000000"/>
                </a:solidFill>
              </a:defRPr>
            </a:pPr>
            <a:r>
              <a:rPr sz="1650" b="1" i="0">
                <a:solidFill>
                  <a:srgbClr val="000000"/>
                </a:solidFill>
              </a:rPr>
              <a:t>prize depends on draw rules and odds</a:t>
            </a:r>
          </a:p>
        </p:txBody>
      </p:sp>
      <p:sp>
        <p:nvSpPr>
          <p:cNvPr id="23" name="">
            <a:extLst xmlns:a="http://schemas.openxmlformats.org/drawingml/2006/main">
              <a:ext uri="{FF2B5EF4-FFF2-40B4-BE49-F238E27FC236}">
                <a16:creationId xmlns:a16="http://schemas.microsoft.com/office/drawing/2014/main" id="{40CCEF15-BCEA-4483-B2FB-F393DC8A8966}"/>
              </a:ext>
            </a:extLst>
          </p:cNvPr>
          <p:cNvSpPr>
            <a:spLocks xmlns:a="http://schemas.openxmlformats.org/drawingml/2006/main" noGrp="1"/>
          </p:cNvSpPr>
          <p:nvPr/>
        </p:nvSpPr>
        <p:spPr>
          <a:xfrm xmlns:a="http://schemas.openxmlformats.org/drawingml/2006/main">
            <a:off x="609600" y="5962650"/>
            <a:ext cx="904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i="0">
                <a:solidFill>
                  <a:srgbClr val="0B2A4A"/>
                </a:solidFill>
              </a:defRPr>
            </a:pPr>
            <a:r>
              <a:rPr sz="1575" b="1" i="0">
                <a:solidFill>
                  <a:srgbClr val="0B2A4A"/>
                </a:solidFill>
              </a:rPr>
              <a:t>Nearby categories can share features. The main purpose still decides.</a:t>
            </a:r>
          </a:p>
        </p:txBody>
      </p:sp>
    </p:spTree>
    <p:extLst>
      <p:ext uri="{BB962C8B-B14F-4D97-AF65-F5344CB8AC3E}">
        <p14:creationId xmlns:p14="http://schemas.microsoft.com/office/powerpoint/2010/main" val="76917263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D29BC43-09BC-4D99-89C2-B20E663FDC6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7A18BB7-8C7F-4FFE-BDCB-549F6096FB39}"/>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HINGE CHECK · 关键检查</a:t>
            </a:r>
          </a:p>
        </p:txBody>
      </p:sp>
      <p:sp>
        <p:nvSpPr>
          <p:cNvPr id="3" name="">
            <a:extLst xmlns:a="http://schemas.openxmlformats.org/drawingml/2006/main">
              <a:ext uri="{FF2B5EF4-FFF2-40B4-BE49-F238E27FC236}">
                <a16:creationId xmlns:a16="http://schemas.microsoft.com/office/drawing/2014/main" id="{0C3CDDF6-6029-4620-ACAA-77F90C1A6944}"/>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19</a:t>
            </a:r>
          </a:p>
        </p:txBody>
      </p:sp>
      <p:sp>
        <p:nvSpPr>
          <p:cNvPr id="4" name="">
            <a:extLst xmlns:a="http://schemas.openxmlformats.org/drawingml/2006/main">
              <a:ext uri="{FF2B5EF4-FFF2-40B4-BE49-F238E27FC236}">
                <a16:creationId xmlns:a16="http://schemas.microsoft.com/office/drawing/2014/main" id="{0905709A-3687-4430-A142-9CBFEF6938AB}"/>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B8F67E29-C61C-4BEA-8921-63602DBE473D}"/>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Which difference matters most?</a:t>
            </a:r>
          </a:p>
        </p:txBody>
      </p:sp>
      <p:sp>
        <p:nvSpPr>
          <p:cNvPr id="6" name="">
            <a:extLst xmlns:a="http://schemas.openxmlformats.org/drawingml/2006/main">
              <a:ext uri="{FF2B5EF4-FFF2-40B4-BE49-F238E27FC236}">
                <a16:creationId xmlns:a16="http://schemas.microsoft.com/office/drawing/2014/main" id="{D8070115-0D2E-447E-9054-A4904D7E2E16}"/>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哪个差异最重要？</a:t>
            </a:r>
          </a:p>
        </p:txBody>
      </p:sp>
      <p:sp>
        <p:nvSpPr>
          <p:cNvPr id="7" name="">
            <a:extLst xmlns:a="http://schemas.openxmlformats.org/drawingml/2006/main">
              <a:ext uri="{FF2B5EF4-FFF2-40B4-BE49-F238E27FC236}">
                <a16:creationId xmlns:a16="http://schemas.microsoft.com/office/drawing/2014/main" id="{E6CED5A2-73FD-4EF2-BFD6-BCFDFAEABDB7}"/>
              </a:ext>
            </a:extLst>
          </p:cNvPr>
          <p:cNvSpPr>
            <a:spLocks xmlns:a="http://schemas.openxmlformats.org/drawingml/2006/main" noGrp="1"/>
          </p:cNvSpPr>
          <p:nvPr/>
        </p:nvSpPr>
        <p:spPr>
          <a:xfrm xmlns:a="http://schemas.openxmlformats.org/drawingml/2006/main">
            <a:off x="609600" y="1600200"/>
            <a:ext cx="10668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0B2A4A"/>
                </a:solidFill>
              </a:defRPr>
            </a:pPr>
            <a:r>
              <a:rPr sz="2100" b="1" i="0">
                <a:solidFill>
                  <a:srgbClr val="0B2A4A"/>
                </a:solidFill>
              </a:rPr>
              <a:t>Two people buy the same fund. What most clearly could make one decision investment and the other speculation?</a:t>
            </a:r>
          </a:p>
        </p:txBody>
      </p:sp>
      <p:sp>
        <p:nvSpPr>
          <p:cNvPr id="8" name="">
            <a:extLst xmlns:a="http://schemas.openxmlformats.org/drawingml/2006/main">
              <a:ext uri="{FF2B5EF4-FFF2-40B4-BE49-F238E27FC236}">
                <a16:creationId xmlns:a16="http://schemas.microsoft.com/office/drawing/2014/main" id="{F7C81702-F4B9-457B-821D-D2E54582C804}"/>
              </a:ext>
            </a:extLst>
          </p:cNvPr>
          <p:cNvSpPr>
            <a:spLocks xmlns:a="http://schemas.openxmlformats.org/drawingml/2006/main" noGrp="1"/>
          </p:cNvSpPr>
          <p:nvPr/>
        </p:nvSpPr>
        <p:spPr>
          <a:xfrm xmlns:a="http://schemas.openxmlformats.org/drawingml/2006/main">
            <a:off x="609600" y="23622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3D8DFF"/>
                </a:solidFill>
              </a:defRPr>
            </a:pPr>
            <a:r>
              <a:rPr sz="1350" b="0" i="0">
                <a:solidFill>
                  <a:srgbClr val="3D8DFF"/>
                </a:solidFill>
              </a:rPr>
              <a:t>两个人购买同一只基金，什么差异最可能使一个是投资，另一个是投机？</a:t>
            </a:r>
          </a:p>
        </p:txBody>
      </p:sp>
      <p:sp>
        <p:nvSpPr>
          <p:cNvPr id="9" name="">
            <a:extLst xmlns:a="http://schemas.openxmlformats.org/drawingml/2006/main">
              <a:ext uri="{FF2B5EF4-FFF2-40B4-BE49-F238E27FC236}">
                <a16:creationId xmlns:a16="http://schemas.microsoft.com/office/drawing/2014/main" id="{1DCCD4BA-D888-4A8A-889F-001B16329F04}"/>
              </a:ext>
            </a:extLst>
          </p:cNvPr>
          <p:cNvSpPr>
            <a:spLocks xmlns:a="http://schemas.openxmlformats.org/drawingml/2006/main" noGrp="1"/>
          </p:cNvSpPr>
          <p:nvPr/>
        </p:nvSpPr>
        <p:spPr>
          <a:xfrm xmlns:a="http://schemas.openxmlformats.org/drawingml/2006/main">
            <a:off x="609600" y="2714625"/>
            <a:ext cx="552450" cy="4953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FE8365B8-EA19-4734-B1D9-83D5C1F47DB3}"/>
              </a:ext>
            </a:extLst>
          </p:cNvPr>
          <p:cNvSpPr>
            <a:spLocks xmlns:a="http://schemas.openxmlformats.org/drawingml/2006/main" noGrp="1"/>
          </p:cNvSpPr>
          <p:nvPr/>
        </p:nvSpPr>
        <p:spPr>
          <a:xfrm xmlns:a="http://schemas.openxmlformats.org/drawingml/2006/main">
            <a:off x="609600" y="2790825"/>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00000"/>
                </a:solidFill>
              </a:defRPr>
            </a:pPr>
            <a:r>
              <a:rPr sz="1950" b="1" i="0">
                <a:solidFill>
                  <a:srgbClr val="000000"/>
                </a:solidFill>
              </a:rPr>
              <a:t>A</a:t>
            </a:r>
          </a:p>
        </p:txBody>
      </p:sp>
      <p:sp>
        <p:nvSpPr>
          <p:cNvPr id="11" name="">
            <a:extLst xmlns:a="http://schemas.openxmlformats.org/drawingml/2006/main">
              <a:ext uri="{FF2B5EF4-FFF2-40B4-BE49-F238E27FC236}">
                <a16:creationId xmlns:a16="http://schemas.microsoft.com/office/drawing/2014/main" id="{7A9BE017-660A-44DF-BBDA-C1BF7F944F15}"/>
              </a:ext>
            </a:extLst>
          </p:cNvPr>
          <p:cNvSpPr>
            <a:spLocks xmlns:a="http://schemas.openxmlformats.org/drawingml/2006/main" noGrp="1"/>
          </p:cNvSpPr>
          <p:nvPr/>
        </p:nvSpPr>
        <p:spPr>
          <a:xfrm xmlns:a="http://schemas.openxmlformats.org/drawingml/2006/main">
            <a:off x="1390650" y="2762250"/>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The fund has the same name in both accounts.</a:t>
            </a:r>
          </a:p>
        </p:txBody>
      </p:sp>
      <p:sp>
        <p:nvSpPr>
          <p:cNvPr id="12" name="">
            <a:extLst xmlns:a="http://schemas.openxmlformats.org/drawingml/2006/main">
              <a:ext uri="{FF2B5EF4-FFF2-40B4-BE49-F238E27FC236}">
                <a16:creationId xmlns:a16="http://schemas.microsoft.com/office/drawing/2014/main" id="{A5F6B905-7581-46CC-9D1C-CBDB9C8DC23A}"/>
              </a:ext>
            </a:extLst>
          </p:cNvPr>
          <p:cNvSpPr>
            <a:spLocks xmlns:a="http://schemas.openxmlformats.org/drawingml/2006/main" noGrp="1"/>
          </p:cNvSpPr>
          <p:nvPr/>
        </p:nvSpPr>
        <p:spPr>
          <a:xfrm xmlns:a="http://schemas.openxmlformats.org/drawingml/2006/main">
            <a:off x="609600" y="3448050"/>
            <a:ext cx="552450" cy="495300"/>
          </a:xfrm>
          <a:prstGeom xmlns:a="http://schemas.openxmlformats.org/drawingml/2006/main" prst="rect">
            <a:avLst/>
          </a:prstGeom>
          <a:solidFill xmlns:a="http://schemas.openxmlformats.org/drawingml/2006/main">
            <a:srgbClr val="3D8DFF"/>
          </a:solidFill>
          <a:ln xmlns:a="http://schemas.openxmlformats.org/drawingml/2006/main" w="9525">
            <a:solidFill>
              <a:srgbClr val="3D8DFF"/>
            </a:solidFill>
            <a:prstDash val="solid"/>
          </a:ln>
        </p:spPr>
      </p:sp>
      <p:sp>
        <p:nvSpPr>
          <p:cNvPr id="13" name="">
            <a:extLst xmlns:a="http://schemas.openxmlformats.org/drawingml/2006/main">
              <a:ext uri="{FF2B5EF4-FFF2-40B4-BE49-F238E27FC236}">
                <a16:creationId xmlns:a16="http://schemas.microsoft.com/office/drawing/2014/main" id="{AD1EED93-6058-4CD3-B041-283FE53FB12F}"/>
              </a:ext>
            </a:extLst>
          </p:cNvPr>
          <p:cNvSpPr>
            <a:spLocks xmlns:a="http://schemas.openxmlformats.org/drawingml/2006/main" noGrp="1"/>
          </p:cNvSpPr>
          <p:nvPr/>
        </p:nvSpPr>
        <p:spPr>
          <a:xfrm xmlns:a="http://schemas.openxmlformats.org/drawingml/2006/main">
            <a:off x="609600" y="352425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FFFFFF"/>
                </a:solidFill>
              </a:defRPr>
            </a:pPr>
            <a:r>
              <a:rPr sz="1950" b="1" i="0">
                <a:solidFill>
                  <a:srgbClr val="FFFFFF"/>
                </a:solidFill>
              </a:rPr>
              <a:t>B</a:t>
            </a:r>
          </a:p>
        </p:txBody>
      </p:sp>
      <p:sp>
        <p:nvSpPr>
          <p:cNvPr id="14" name="">
            <a:extLst xmlns:a="http://schemas.openxmlformats.org/drawingml/2006/main">
              <a:ext uri="{FF2B5EF4-FFF2-40B4-BE49-F238E27FC236}">
                <a16:creationId xmlns:a16="http://schemas.microsoft.com/office/drawing/2014/main" id="{EE6BA89A-EA6F-4E58-961F-ED50F0A0D85F}"/>
              </a:ext>
            </a:extLst>
          </p:cNvPr>
          <p:cNvSpPr>
            <a:spLocks xmlns:a="http://schemas.openxmlformats.org/drawingml/2006/main" noGrp="1"/>
          </p:cNvSpPr>
          <p:nvPr/>
        </p:nvSpPr>
        <p:spPr>
          <a:xfrm xmlns:a="http://schemas.openxmlformats.org/drawingml/2006/main">
            <a:off x="1390650" y="3495675"/>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i="0">
                <a:solidFill>
                  <a:srgbClr val="3D8DFF"/>
                </a:solidFill>
              </a:defRPr>
            </a:pPr>
            <a:r>
              <a:rPr sz="1725" b="1" i="0">
                <a:solidFill>
                  <a:srgbClr val="3D8DFF"/>
                </a:solidFill>
              </a:rPr>
              <a:t>Their goals, horizons, evidence, borrowing and expected-return sources differ.</a:t>
            </a:r>
          </a:p>
        </p:txBody>
      </p:sp>
      <p:sp>
        <p:nvSpPr>
          <p:cNvPr id="15" name="">
            <a:extLst xmlns:a="http://schemas.openxmlformats.org/drawingml/2006/main">
              <a:ext uri="{FF2B5EF4-FFF2-40B4-BE49-F238E27FC236}">
                <a16:creationId xmlns:a16="http://schemas.microsoft.com/office/drawing/2014/main" id="{F663B971-E2ED-4DA5-862F-23C6AB8B4C83}"/>
              </a:ext>
            </a:extLst>
          </p:cNvPr>
          <p:cNvSpPr>
            <a:spLocks xmlns:a="http://schemas.openxmlformats.org/drawingml/2006/main" noGrp="1"/>
          </p:cNvSpPr>
          <p:nvPr/>
        </p:nvSpPr>
        <p:spPr>
          <a:xfrm xmlns:a="http://schemas.openxmlformats.org/drawingml/2006/main">
            <a:off x="609600" y="4181475"/>
            <a:ext cx="552450" cy="4953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4DEFADCB-D997-4312-99C1-2EAB422533AC}"/>
              </a:ext>
            </a:extLst>
          </p:cNvPr>
          <p:cNvSpPr>
            <a:spLocks xmlns:a="http://schemas.openxmlformats.org/drawingml/2006/main" noGrp="1"/>
          </p:cNvSpPr>
          <p:nvPr/>
        </p:nvSpPr>
        <p:spPr>
          <a:xfrm xmlns:a="http://schemas.openxmlformats.org/drawingml/2006/main">
            <a:off x="609600" y="4257675"/>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00000"/>
                </a:solidFill>
              </a:defRPr>
            </a:pPr>
            <a:r>
              <a:rPr sz="1950" b="1" i="0">
                <a:solidFill>
                  <a:srgbClr val="000000"/>
                </a:solidFill>
              </a:rPr>
              <a:t>C</a:t>
            </a:r>
          </a:p>
        </p:txBody>
      </p:sp>
      <p:sp>
        <p:nvSpPr>
          <p:cNvPr id="17" name="">
            <a:extLst xmlns:a="http://schemas.openxmlformats.org/drawingml/2006/main">
              <a:ext uri="{FF2B5EF4-FFF2-40B4-BE49-F238E27FC236}">
                <a16:creationId xmlns:a16="http://schemas.microsoft.com/office/drawing/2014/main" id="{721DB98E-CE6B-428F-81EC-745599D0E252}"/>
              </a:ext>
            </a:extLst>
          </p:cNvPr>
          <p:cNvSpPr>
            <a:spLocks xmlns:a="http://schemas.openxmlformats.org/drawingml/2006/main" noGrp="1"/>
          </p:cNvSpPr>
          <p:nvPr/>
        </p:nvSpPr>
        <p:spPr>
          <a:xfrm xmlns:a="http://schemas.openxmlformats.org/drawingml/2006/main">
            <a:off x="1390650" y="4229100"/>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Both press the same buy button.</a:t>
            </a:r>
          </a:p>
        </p:txBody>
      </p:sp>
      <p:sp>
        <p:nvSpPr>
          <p:cNvPr id="18" name="">
            <a:extLst xmlns:a="http://schemas.openxmlformats.org/drawingml/2006/main">
              <a:ext uri="{FF2B5EF4-FFF2-40B4-BE49-F238E27FC236}">
                <a16:creationId xmlns:a16="http://schemas.microsoft.com/office/drawing/2014/main" id="{A07A06C3-C445-438A-B19A-AB9FEE829F36}"/>
              </a:ext>
            </a:extLst>
          </p:cNvPr>
          <p:cNvSpPr>
            <a:spLocks xmlns:a="http://schemas.openxmlformats.org/drawingml/2006/main" noGrp="1"/>
          </p:cNvSpPr>
          <p:nvPr/>
        </p:nvSpPr>
        <p:spPr>
          <a:xfrm xmlns:a="http://schemas.openxmlformats.org/drawingml/2006/main">
            <a:off x="609600" y="4914900"/>
            <a:ext cx="552450" cy="495300"/>
          </a:xfrm>
          <a:prstGeom xmlns:a="http://schemas.openxmlformats.org/drawingml/2006/main" prst="rect">
            <a:avLst/>
          </a:prstGeom>
          <a:solidFill xmlns:a="http://schemas.openxmlformats.org/drawingml/2006/main">
            <a:srgbClr val="EDEDED"/>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A8DCE9BA-347A-4A84-BE7C-FA573750C033}"/>
              </a:ext>
            </a:extLst>
          </p:cNvPr>
          <p:cNvSpPr>
            <a:spLocks xmlns:a="http://schemas.openxmlformats.org/drawingml/2006/main" noGrp="1"/>
          </p:cNvSpPr>
          <p:nvPr/>
        </p:nvSpPr>
        <p:spPr>
          <a:xfrm xmlns:a="http://schemas.openxmlformats.org/drawingml/2006/main">
            <a:off x="609600" y="4991100"/>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i="0">
                <a:solidFill>
                  <a:srgbClr val="000000"/>
                </a:solidFill>
              </a:defRPr>
            </a:pPr>
            <a:r>
              <a:rPr sz="1950" b="1" i="0">
                <a:solidFill>
                  <a:srgbClr val="000000"/>
                </a:solidFill>
              </a:rPr>
              <a:t>D</a:t>
            </a:r>
          </a:p>
        </p:txBody>
      </p:sp>
      <p:sp>
        <p:nvSpPr>
          <p:cNvPr id="20" name="">
            <a:extLst xmlns:a="http://schemas.openxmlformats.org/drawingml/2006/main">
              <a:ext uri="{FF2B5EF4-FFF2-40B4-BE49-F238E27FC236}">
                <a16:creationId xmlns:a16="http://schemas.microsoft.com/office/drawing/2014/main" id="{61F3381C-9571-4B45-8094-C79AEC06EC3A}"/>
              </a:ext>
            </a:extLst>
          </p:cNvPr>
          <p:cNvSpPr>
            <a:spLocks xmlns:a="http://schemas.openxmlformats.org/drawingml/2006/main" noGrp="1"/>
          </p:cNvSpPr>
          <p:nvPr/>
        </p:nvSpPr>
        <p:spPr>
          <a:xfrm xmlns:a="http://schemas.openxmlformats.org/drawingml/2006/main">
            <a:off x="1390650" y="4962525"/>
            <a:ext cx="962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i="0">
                <a:solidFill>
                  <a:srgbClr val="000000"/>
                </a:solidFill>
              </a:defRPr>
            </a:pPr>
            <a:r>
              <a:rPr sz="1725" b="0" i="0">
                <a:solidFill>
                  <a:srgbClr val="000000"/>
                </a:solidFill>
              </a:rPr>
              <a:t>The market opens at the same time for both.</a:t>
            </a:r>
          </a:p>
        </p:txBody>
      </p:sp>
    </p:spTree>
    <p:extLst>
      <p:ext uri="{BB962C8B-B14F-4D97-AF65-F5344CB8AC3E}">
        <p14:creationId xmlns:p14="http://schemas.microsoft.com/office/powerpoint/2010/main" val="116297080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3CC1B95-D7FA-4DAB-BF57-FF0B073C37A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FC7DBD2-B419-47ED-AD9C-349886DDCB7D}"/>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OUTPUT REHEARSAL · 表达练习</a:t>
            </a:r>
          </a:p>
        </p:txBody>
      </p:sp>
      <p:sp>
        <p:nvSpPr>
          <p:cNvPr id="3" name="">
            <a:extLst xmlns:a="http://schemas.openxmlformats.org/drawingml/2006/main">
              <a:ext uri="{FF2B5EF4-FFF2-40B4-BE49-F238E27FC236}">
                <a16:creationId xmlns:a16="http://schemas.microsoft.com/office/drawing/2014/main" id="{F69B2D66-D7E0-457A-92E7-5AA5D70222C0}"/>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20</a:t>
            </a:r>
          </a:p>
        </p:txBody>
      </p:sp>
      <p:sp>
        <p:nvSpPr>
          <p:cNvPr id="4" name="">
            <a:extLst xmlns:a="http://schemas.openxmlformats.org/drawingml/2006/main">
              <a:ext uri="{FF2B5EF4-FFF2-40B4-BE49-F238E27FC236}">
                <a16:creationId xmlns:a16="http://schemas.microsoft.com/office/drawing/2014/main" id="{A51C49B0-0154-43D3-A630-5DFC0EFB53C5}"/>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D8691DE3-2B7B-43BA-8344-B5C7B08CCE0A}"/>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Repair the reasoning.</a:t>
            </a:r>
          </a:p>
        </p:txBody>
      </p:sp>
      <p:sp>
        <p:nvSpPr>
          <p:cNvPr id="6" name="">
            <a:extLst xmlns:a="http://schemas.openxmlformats.org/drawingml/2006/main">
              <a:ext uri="{FF2B5EF4-FFF2-40B4-BE49-F238E27FC236}">
                <a16:creationId xmlns:a16="http://schemas.microsoft.com/office/drawing/2014/main" id="{BAB731B0-3F27-43BA-8E08-C024B7EAFF81}"/>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改进推理</a:t>
            </a:r>
          </a:p>
        </p:txBody>
      </p:sp>
      <p:sp>
        <p:nvSpPr>
          <p:cNvPr id="7" name="">
            <a:extLst xmlns:a="http://schemas.openxmlformats.org/drawingml/2006/main">
              <a:ext uri="{FF2B5EF4-FFF2-40B4-BE49-F238E27FC236}">
                <a16:creationId xmlns:a16="http://schemas.microsoft.com/office/drawing/2014/main" id="{55D5D53A-6784-4C79-AF40-32DCD5E55A5A}"/>
              </a:ext>
            </a:extLst>
          </p:cNvPr>
          <p:cNvSpPr>
            <a:spLocks xmlns:a="http://schemas.openxmlformats.org/drawingml/2006/main" noGrp="1"/>
          </p:cNvSpPr>
          <p:nvPr/>
        </p:nvSpPr>
        <p:spPr>
          <a:xfrm xmlns:a="http://schemas.openxmlformats.org/drawingml/2006/main">
            <a:off x="609600" y="169545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F4A261"/>
                </a:solidFill>
              </a:defRPr>
            </a:pPr>
            <a:r>
              <a:rPr sz="2550" b="1" i="0">
                <a:solidFill>
                  <a:srgbClr val="F4A261"/>
                </a:solidFill>
              </a:rPr>
              <a:t>01</a:t>
            </a:r>
          </a:p>
        </p:txBody>
      </p:sp>
      <p:sp>
        <p:nvSpPr>
          <p:cNvPr id="8" name="">
            <a:extLst xmlns:a="http://schemas.openxmlformats.org/drawingml/2006/main">
              <a:ext uri="{FF2B5EF4-FFF2-40B4-BE49-F238E27FC236}">
                <a16:creationId xmlns:a16="http://schemas.microsoft.com/office/drawing/2014/main" id="{7FE59D9D-53FD-48D7-A625-1F4515DE62D9}"/>
              </a:ext>
            </a:extLst>
          </p:cNvPr>
          <p:cNvSpPr>
            <a:spLocks xmlns:a="http://schemas.openxmlformats.org/drawingml/2006/main" noGrp="1"/>
          </p:cNvSpPr>
          <p:nvPr/>
        </p:nvSpPr>
        <p:spPr>
          <a:xfrm xmlns:a="http://schemas.openxmlformats.org/drawingml/2006/main">
            <a:off x="1466850" y="1695450"/>
            <a:ext cx="933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0B2A4A"/>
                </a:solidFill>
              </a:defRPr>
            </a:pPr>
            <a:r>
              <a:rPr sz="2100" b="1" i="0">
                <a:solidFill>
                  <a:srgbClr val="0B2A4A"/>
                </a:solidFill>
              </a:rPr>
              <a:t>“It is investment because shares were bought.”</a:t>
            </a:r>
          </a:p>
        </p:txBody>
      </p:sp>
      <p:sp>
        <p:nvSpPr>
          <p:cNvPr id="9" name="">
            <a:extLst xmlns:a="http://schemas.openxmlformats.org/drawingml/2006/main">
              <a:ext uri="{FF2B5EF4-FFF2-40B4-BE49-F238E27FC236}">
                <a16:creationId xmlns:a16="http://schemas.microsoft.com/office/drawing/2014/main" id="{CF6CBB40-0180-41BE-87D6-31D7F3DF740C}"/>
              </a:ext>
            </a:extLst>
          </p:cNvPr>
          <p:cNvSpPr>
            <a:spLocks xmlns:a="http://schemas.openxmlformats.org/drawingml/2006/main" noGrp="1"/>
          </p:cNvSpPr>
          <p:nvPr/>
        </p:nvSpPr>
        <p:spPr>
          <a:xfrm xmlns:a="http://schemas.openxmlformats.org/drawingml/2006/main">
            <a:off x="1466850" y="22669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Add goal, return source, horizon and possible loss.</a:t>
            </a:r>
          </a:p>
        </p:txBody>
      </p:sp>
      <p:sp>
        <p:nvSpPr>
          <p:cNvPr id="10" name="">
            <a:extLst xmlns:a="http://schemas.openxmlformats.org/drawingml/2006/main">
              <a:ext uri="{FF2B5EF4-FFF2-40B4-BE49-F238E27FC236}">
                <a16:creationId xmlns:a16="http://schemas.microsoft.com/office/drawing/2014/main" id="{1438E5D4-A92E-4A8C-9879-D263B04E209B}"/>
              </a:ext>
            </a:extLst>
          </p:cNvPr>
          <p:cNvSpPr>
            <a:spLocks xmlns:a="http://schemas.openxmlformats.org/drawingml/2006/main" noGrp="1"/>
          </p:cNvSpPr>
          <p:nvPr/>
        </p:nvSpPr>
        <p:spPr>
          <a:xfrm xmlns:a="http://schemas.openxmlformats.org/drawingml/2006/main">
            <a:off x="1466850" y="2800350"/>
            <a:ext cx="93345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5AD7634-6809-4D5B-8F98-9B70ED0E9DA1}"/>
              </a:ext>
            </a:extLst>
          </p:cNvPr>
          <p:cNvSpPr>
            <a:spLocks xmlns:a="http://schemas.openxmlformats.org/drawingml/2006/main" noGrp="1"/>
          </p:cNvSpPr>
          <p:nvPr/>
        </p:nvSpPr>
        <p:spPr>
          <a:xfrm xmlns:a="http://schemas.openxmlformats.org/drawingml/2006/main">
            <a:off x="609600" y="306705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F4A261"/>
                </a:solidFill>
              </a:defRPr>
            </a:pPr>
            <a:r>
              <a:rPr sz="2550" b="1" i="0">
                <a:solidFill>
                  <a:srgbClr val="F4A261"/>
                </a:solidFill>
              </a:rPr>
              <a:t>02</a:t>
            </a:r>
          </a:p>
        </p:txBody>
      </p:sp>
      <p:sp>
        <p:nvSpPr>
          <p:cNvPr id="12" name="">
            <a:extLst xmlns:a="http://schemas.openxmlformats.org/drawingml/2006/main">
              <a:ext uri="{FF2B5EF4-FFF2-40B4-BE49-F238E27FC236}">
                <a16:creationId xmlns:a16="http://schemas.microsoft.com/office/drawing/2014/main" id="{1BACA40D-9617-472F-A391-385C2D81AC05}"/>
              </a:ext>
            </a:extLst>
          </p:cNvPr>
          <p:cNvSpPr>
            <a:spLocks xmlns:a="http://schemas.openxmlformats.org/drawingml/2006/main" noGrp="1"/>
          </p:cNvSpPr>
          <p:nvPr/>
        </p:nvSpPr>
        <p:spPr>
          <a:xfrm xmlns:a="http://schemas.openxmlformats.org/drawingml/2006/main">
            <a:off x="1466850" y="3067050"/>
            <a:ext cx="933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0B2A4A"/>
                </a:solidFill>
              </a:defRPr>
            </a:pPr>
            <a:r>
              <a:rPr sz="2100" b="1" i="0">
                <a:solidFill>
                  <a:srgbClr val="0B2A4A"/>
                </a:solidFill>
              </a:rPr>
              <a:t>“Saving is safe, so it has no risk.”</a:t>
            </a:r>
          </a:p>
        </p:txBody>
      </p:sp>
      <p:sp>
        <p:nvSpPr>
          <p:cNvPr id="13" name="">
            <a:extLst xmlns:a="http://schemas.openxmlformats.org/drawingml/2006/main">
              <a:ext uri="{FF2B5EF4-FFF2-40B4-BE49-F238E27FC236}">
                <a16:creationId xmlns:a16="http://schemas.microsoft.com/office/drawing/2014/main" id="{3A422D08-4F39-48DB-A4D0-7030B2AD170D}"/>
              </a:ext>
            </a:extLst>
          </p:cNvPr>
          <p:cNvSpPr>
            <a:spLocks xmlns:a="http://schemas.openxmlformats.org/drawingml/2006/main" noGrp="1"/>
          </p:cNvSpPr>
          <p:nvPr/>
        </p:nvSpPr>
        <p:spPr>
          <a:xfrm xmlns:a="http://schemas.openxmlformats.org/drawingml/2006/main">
            <a:off x="1466850" y="36385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Add the purpose of saving and one remaining risk.</a:t>
            </a:r>
          </a:p>
        </p:txBody>
      </p:sp>
      <p:sp>
        <p:nvSpPr>
          <p:cNvPr id="14" name="">
            <a:extLst xmlns:a="http://schemas.openxmlformats.org/drawingml/2006/main">
              <a:ext uri="{FF2B5EF4-FFF2-40B4-BE49-F238E27FC236}">
                <a16:creationId xmlns:a16="http://schemas.microsoft.com/office/drawing/2014/main" id="{EABFCF9F-7901-4184-801F-C681A9DC68A2}"/>
              </a:ext>
            </a:extLst>
          </p:cNvPr>
          <p:cNvSpPr>
            <a:spLocks xmlns:a="http://schemas.openxmlformats.org/drawingml/2006/main" noGrp="1"/>
          </p:cNvSpPr>
          <p:nvPr/>
        </p:nvSpPr>
        <p:spPr>
          <a:xfrm xmlns:a="http://schemas.openxmlformats.org/drawingml/2006/main">
            <a:off x="1466850" y="4171950"/>
            <a:ext cx="93345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3D9781D-70C8-4734-AC4A-B8675D3C7CE8}"/>
              </a:ext>
            </a:extLst>
          </p:cNvPr>
          <p:cNvSpPr>
            <a:spLocks xmlns:a="http://schemas.openxmlformats.org/drawingml/2006/main" noGrp="1"/>
          </p:cNvSpPr>
          <p:nvPr/>
        </p:nvSpPr>
        <p:spPr>
          <a:xfrm xmlns:a="http://schemas.openxmlformats.org/drawingml/2006/main">
            <a:off x="609600" y="4438650"/>
            <a:ext cx="685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i="0">
                <a:solidFill>
                  <a:srgbClr val="F4A261"/>
                </a:solidFill>
              </a:defRPr>
            </a:pPr>
            <a:r>
              <a:rPr sz="2550" b="1" i="0">
                <a:solidFill>
                  <a:srgbClr val="F4A261"/>
                </a:solidFill>
              </a:rPr>
              <a:t>03</a:t>
            </a:r>
          </a:p>
        </p:txBody>
      </p:sp>
      <p:sp>
        <p:nvSpPr>
          <p:cNvPr id="16" name="">
            <a:extLst xmlns:a="http://schemas.openxmlformats.org/drawingml/2006/main">
              <a:ext uri="{FF2B5EF4-FFF2-40B4-BE49-F238E27FC236}">
                <a16:creationId xmlns:a16="http://schemas.microsoft.com/office/drawing/2014/main" id="{637720EE-557C-453C-8BB4-4BA42C3F0F0E}"/>
              </a:ext>
            </a:extLst>
          </p:cNvPr>
          <p:cNvSpPr>
            <a:spLocks xmlns:a="http://schemas.openxmlformats.org/drawingml/2006/main" noGrp="1"/>
          </p:cNvSpPr>
          <p:nvPr/>
        </p:nvSpPr>
        <p:spPr>
          <a:xfrm xmlns:a="http://schemas.openxmlformats.org/drawingml/2006/main">
            <a:off x="1466850" y="4438650"/>
            <a:ext cx="9334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i="0">
                <a:solidFill>
                  <a:srgbClr val="0B2A4A"/>
                </a:solidFill>
              </a:defRPr>
            </a:pPr>
            <a:r>
              <a:rPr sz="2100" b="1" i="0">
                <a:solidFill>
                  <a:srgbClr val="0B2A4A"/>
                </a:solidFill>
              </a:rPr>
              <a:t>“Speculation is always the same as gambling.”</a:t>
            </a:r>
          </a:p>
        </p:txBody>
      </p:sp>
      <p:sp>
        <p:nvSpPr>
          <p:cNvPr id="17" name="">
            <a:extLst xmlns:a="http://schemas.openxmlformats.org/drawingml/2006/main">
              <a:ext uri="{FF2B5EF4-FFF2-40B4-BE49-F238E27FC236}">
                <a16:creationId xmlns:a16="http://schemas.microsoft.com/office/drawing/2014/main" id="{9C2ED694-2EE5-413D-9A28-D3EE9BB211B8}"/>
              </a:ext>
            </a:extLst>
          </p:cNvPr>
          <p:cNvSpPr>
            <a:spLocks xmlns:a="http://schemas.openxmlformats.org/drawingml/2006/main" noGrp="1"/>
          </p:cNvSpPr>
          <p:nvPr/>
        </p:nvSpPr>
        <p:spPr>
          <a:xfrm xmlns:a="http://schemas.openxmlformats.org/drawingml/2006/main">
            <a:off x="1466850" y="5010150"/>
            <a:ext cx="933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0" i="0">
                <a:solidFill>
                  <a:srgbClr val="000000"/>
                </a:solidFill>
              </a:defRPr>
            </a:pPr>
            <a:r>
              <a:rPr sz="1575" b="0" i="0">
                <a:solidFill>
                  <a:srgbClr val="000000"/>
                </a:solidFill>
              </a:rPr>
              <a:t>Add one similarity and one difference.</a:t>
            </a:r>
          </a:p>
        </p:txBody>
      </p:sp>
      <p:sp>
        <p:nvSpPr>
          <p:cNvPr id="18" name="">
            <a:extLst xmlns:a="http://schemas.openxmlformats.org/drawingml/2006/main">
              <a:ext uri="{FF2B5EF4-FFF2-40B4-BE49-F238E27FC236}">
                <a16:creationId xmlns:a16="http://schemas.microsoft.com/office/drawing/2014/main" id="{4CE6B04E-C349-4008-8409-AE0CAF9B1779}"/>
              </a:ext>
            </a:extLst>
          </p:cNvPr>
          <p:cNvSpPr>
            <a:spLocks xmlns:a="http://schemas.openxmlformats.org/drawingml/2006/main" noGrp="1"/>
          </p:cNvSpPr>
          <p:nvPr/>
        </p:nvSpPr>
        <p:spPr>
          <a:xfrm xmlns:a="http://schemas.openxmlformats.org/drawingml/2006/main">
            <a:off x="1466850" y="5543550"/>
            <a:ext cx="93345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Tree>
    <p:extLst>
      <p:ext uri="{BB962C8B-B14F-4D97-AF65-F5344CB8AC3E}">
        <p14:creationId xmlns:p14="http://schemas.microsoft.com/office/powerpoint/2010/main" val="109094229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19C3634-C886-4735-BE30-ECFFA5BE721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2CDA14A-00A0-4857-808F-E6F2F9FB1CB4}"/>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EXIT TICKET · 课堂小结</a:t>
            </a:r>
          </a:p>
        </p:txBody>
      </p:sp>
      <p:sp>
        <p:nvSpPr>
          <p:cNvPr id="3" name="">
            <a:extLst xmlns:a="http://schemas.openxmlformats.org/drawingml/2006/main">
              <a:ext uri="{FF2B5EF4-FFF2-40B4-BE49-F238E27FC236}">
                <a16:creationId xmlns:a16="http://schemas.microsoft.com/office/drawing/2014/main" id="{F3B66A72-1880-4D01-88AA-62884CFAE1FC}"/>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21</a:t>
            </a:r>
          </a:p>
        </p:txBody>
      </p:sp>
      <p:sp>
        <p:nvSpPr>
          <p:cNvPr id="4" name="">
            <a:extLst xmlns:a="http://schemas.openxmlformats.org/drawingml/2006/main">
              <a:ext uri="{FF2B5EF4-FFF2-40B4-BE49-F238E27FC236}">
                <a16:creationId xmlns:a16="http://schemas.microsoft.com/office/drawing/2014/main" id="{1F287C79-5193-497E-8A1F-E70C2666243C}"/>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82D4376F-F5C0-4940-8EC1-62DA71265D64}"/>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Make one four-part judgement.</a:t>
            </a:r>
          </a:p>
        </p:txBody>
      </p:sp>
      <p:sp>
        <p:nvSpPr>
          <p:cNvPr id="6" name="">
            <a:extLst xmlns:a="http://schemas.openxmlformats.org/drawingml/2006/main">
              <a:ext uri="{FF2B5EF4-FFF2-40B4-BE49-F238E27FC236}">
                <a16:creationId xmlns:a16="http://schemas.microsoft.com/office/drawing/2014/main" id="{7800338A-780B-4668-99B9-02AD22BB2388}"/>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写出一个四部分判断</a:t>
            </a:r>
          </a:p>
        </p:txBody>
      </p:sp>
      <p:sp>
        <p:nvSpPr>
          <p:cNvPr id="7" name="">
            <a:extLst xmlns:a="http://schemas.openxmlformats.org/drawingml/2006/main">
              <a:ext uri="{FF2B5EF4-FFF2-40B4-BE49-F238E27FC236}">
                <a16:creationId xmlns:a16="http://schemas.microsoft.com/office/drawing/2014/main" id="{CE47E46B-1C76-42F3-A961-E4E4C395C1FD}"/>
              </a:ext>
            </a:extLst>
          </p:cNvPr>
          <p:cNvSpPr>
            <a:spLocks xmlns:a="http://schemas.openxmlformats.org/drawingml/2006/main" noGrp="1"/>
          </p:cNvSpPr>
          <p:nvPr/>
        </p:nvSpPr>
        <p:spPr>
          <a:xfrm xmlns:a="http://schemas.openxmlformats.org/drawingml/2006/main">
            <a:off x="609600" y="1676400"/>
            <a:ext cx="10972800" cy="3486150"/>
          </a:xfrm>
          <a:prstGeom xmlns:a="http://schemas.openxmlformats.org/drawingml/2006/main" prst="rect">
            <a:avLst/>
          </a:prstGeom>
          <a:solidFill xmlns:a="http://schemas.openxmlformats.org/drawingml/2006/main">
            <a:srgbClr val="0B2A4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2DD8B52-2960-498A-AF76-47079E1C1B75}"/>
              </a:ext>
            </a:extLst>
          </p:cNvPr>
          <p:cNvSpPr>
            <a:spLocks xmlns:a="http://schemas.openxmlformats.org/drawingml/2006/main" noGrp="1"/>
          </p:cNvSpPr>
          <p:nvPr/>
        </p:nvSpPr>
        <p:spPr>
          <a:xfrm xmlns:a="http://schemas.openxmlformats.org/drawingml/2006/main">
            <a:off x="914400" y="20002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625" b="1" i="0">
                <a:solidFill>
                  <a:srgbClr val="FFFFFF"/>
                </a:solidFill>
              </a:defRPr>
            </a:pPr>
            <a:r>
              <a:rPr sz="2625" b="1" i="0">
                <a:solidFill>
                  <a:srgbClr val="FFFFFF"/>
                </a:solidFill>
              </a:rPr>
              <a:t>[Name]’s decision is mainly __________</a:t>
            </a:r>
          </a:p>
        </p:txBody>
      </p:sp>
      <p:sp>
        <p:nvSpPr>
          <p:cNvPr id="9" name="">
            <a:extLst xmlns:a="http://schemas.openxmlformats.org/drawingml/2006/main">
              <a:ext uri="{FF2B5EF4-FFF2-40B4-BE49-F238E27FC236}">
                <a16:creationId xmlns:a16="http://schemas.microsoft.com/office/drawing/2014/main" id="{07099F87-33AD-49B7-B5EE-EAA75243107C}"/>
              </a:ext>
            </a:extLst>
          </p:cNvPr>
          <p:cNvSpPr>
            <a:spLocks xmlns:a="http://schemas.openxmlformats.org/drawingml/2006/main" noGrp="1"/>
          </p:cNvSpPr>
          <p:nvPr/>
        </p:nvSpPr>
        <p:spPr>
          <a:xfrm xmlns:a="http://schemas.openxmlformats.org/drawingml/2006/main">
            <a:off x="914400" y="268605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0" i="0">
                <a:solidFill>
                  <a:srgbClr val="FFFFFF"/>
                </a:solidFill>
              </a:defRPr>
            </a:pPr>
            <a:r>
              <a:rPr sz="2400" b="0" i="0">
                <a:solidFill>
                  <a:srgbClr val="FFFFFF"/>
                </a:solidFill>
              </a:rPr>
              <a:t>because ____________________________________.</a:t>
            </a:r>
          </a:p>
        </p:txBody>
      </p:sp>
      <p:sp>
        <p:nvSpPr>
          <p:cNvPr id="10" name="">
            <a:extLst xmlns:a="http://schemas.openxmlformats.org/drawingml/2006/main">
              <a:ext uri="{FF2B5EF4-FFF2-40B4-BE49-F238E27FC236}">
                <a16:creationId xmlns:a16="http://schemas.microsoft.com/office/drawing/2014/main" id="{37EE34A1-0FF6-4C18-8984-DDB514CDF91F}"/>
              </a:ext>
            </a:extLst>
          </p:cNvPr>
          <p:cNvSpPr>
            <a:spLocks xmlns:a="http://schemas.openxmlformats.org/drawingml/2006/main" noGrp="1"/>
          </p:cNvSpPr>
          <p:nvPr/>
        </p:nvSpPr>
        <p:spPr>
          <a:xfrm xmlns:a="http://schemas.openxmlformats.org/drawingml/2006/main">
            <a:off x="914400" y="337185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75" b="0" i="0">
                <a:solidFill>
                  <a:srgbClr val="6DCBF4"/>
                </a:solidFill>
              </a:defRPr>
            </a:pPr>
            <a:r>
              <a:rPr sz="2175" b="0" i="0">
                <a:solidFill>
                  <a:srgbClr val="6DCBF4"/>
                </a:solidFill>
              </a:rPr>
              <a:t>The expected benefit or return comes from</a:t>
            </a:r>
          </a:p>
        </p:txBody>
      </p:sp>
      <p:sp>
        <p:nvSpPr>
          <p:cNvPr id="11" name="">
            <a:extLst xmlns:a="http://schemas.openxmlformats.org/drawingml/2006/main">
              <a:ext uri="{FF2B5EF4-FFF2-40B4-BE49-F238E27FC236}">
                <a16:creationId xmlns:a16="http://schemas.microsoft.com/office/drawing/2014/main" id="{D21F015E-576D-4E58-A4A1-10973CC80C0D}"/>
              </a:ext>
            </a:extLst>
          </p:cNvPr>
          <p:cNvSpPr>
            <a:spLocks xmlns:a="http://schemas.openxmlformats.org/drawingml/2006/main" noGrp="1"/>
          </p:cNvSpPr>
          <p:nvPr/>
        </p:nvSpPr>
        <p:spPr>
          <a:xfrm xmlns:a="http://schemas.openxmlformats.org/drawingml/2006/main">
            <a:off x="914400" y="3876675"/>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0" i="0">
                <a:solidFill>
                  <a:srgbClr val="FFFFFF"/>
                </a:solidFill>
              </a:defRPr>
            </a:pPr>
            <a:r>
              <a:rPr sz="2250" b="0" i="0">
                <a:solidFill>
                  <a:srgbClr val="FFFFFF"/>
                </a:solidFill>
              </a:rPr>
              <a:t>____________________________________________.</a:t>
            </a:r>
          </a:p>
        </p:txBody>
      </p:sp>
      <p:sp>
        <p:nvSpPr>
          <p:cNvPr id="12" name="">
            <a:extLst xmlns:a="http://schemas.openxmlformats.org/drawingml/2006/main">
              <a:ext uri="{FF2B5EF4-FFF2-40B4-BE49-F238E27FC236}">
                <a16:creationId xmlns:a16="http://schemas.microsoft.com/office/drawing/2014/main" id="{69672C3A-1BC1-430A-A383-E4761745C42B}"/>
              </a:ext>
            </a:extLst>
          </p:cNvPr>
          <p:cNvSpPr>
            <a:spLocks xmlns:a="http://schemas.openxmlformats.org/drawingml/2006/main" noGrp="1"/>
          </p:cNvSpPr>
          <p:nvPr/>
        </p:nvSpPr>
        <p:spPr>
          <a:xfrm xmlns:a="http://schemas.openxmlformats.org/drawingml/2006/main">
            <a:off x="914400" y="45339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i="0">
                <a:solidFill>
                  <a:srgbClr val="FFFFFF"/>
                </a:solidFill>
              </a:defRPr>
            </a:pPr>
            <a:r>
              <a:rPr sz="2100" b="0" i="0">
                <a:solidFill>
                  <a:srgbClr val="FFFFFF"/>
                </a:solidFill>
              </a:rPr>
              <a:t>It is not mainly __________ because ______________________.</a:t>
            </a:r>
          </a:p>
        </p:txBody>
      </p:sp>
      <p:sp>
        <p:nvSpPr>
          <p:cNvPr id="13" name="">
            <a:extLst xmlns:a="http://schemas.openxmlformats.org/drawingml/2006/main">
              <a:ext uri="{FF2B5EF4-FFF2-40B4-BE49-F238E27FC236}">
                <a16:creationId xmlns:a16="http://schemas.microsoft.com/office/drawing/2014/main" id="{F483D15D-A1B9-431C-95CD-14C6F6AE847F}"/>
              </a:ext>
            </a:extLst>
          </p:cNvPr>
          <p:cNvSpPr>
            <a:spLocks xmlns:a="http://schemas.openxmlformats.org/drawingml/2006/main" noGrp="1"/>
          </p:cNvSpPr>
          <p:nvPr/>
        </p:nvSpPr>
        <p:spPr>
          <a:xfrm xmlns:a="http://schemas.openxmlformats.org/drawingml/2006/main">
            <a:off x="609600" y="5524500"/>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Choose one case from today. Use the exact sentence frame in the handout.</a:t>
            </a:r>
          </a:p>
        </p:txBody>
      </p:sp>
      <p:sp>
        <p:nvSpPr>
          <p:cNvPr id="14" name="">
            <a:extLst xmlns:a="http://schemas.openxmlformats.org/drawingml/2006/main">
              <a:ext uri="{FF2B5EF4-FFF2-40B4-BE49-F238E27FC236}">
                <a16:creationId xmlns:a16="http://schemas.microsoft.com/office/drawing/2014/main" id="{CF1B472B-37C5-445E-BA7E-E14CD8A12C11}"/>
              </a:ext>
            </a:extLst>
          </p:cNvPr>
          <p:cNvSpPr>
            <a:spLocks xmlns:a="http://schemas.openxmlformats.org/drawingml/2006/main" noGrp="1"/>
          </p:cNvSpPr>
          <p:nvPr/>
        </p:nvSpPr>
        <p:spPr>
          <a:xfrm xmlns:a="http://schemas.openxmlformats.org/drawingml/2006/main">
            <a:off x="609600" y="59055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i="0">
                <a:solidFill>
                  <a:srgbClr val="5F6570"/>
                </a:solidFill>
              </a:defRPr>
            </a:pPr>
            <a:r>
              <a:rPr sz="1350" b="0" i="0">
                <a:solidFill>
                  <a:srgbClr val="5F6570"/>
                </a:solidFill>
              </a:rPr>
              <a:t>从今天的案例中任选一个，使用讲义中的完整句型。</a:t>
            </a:r>
          </a:p>
        </p:txBody>
      </p:sp>
    </p:spTree>
    <p:extLst>
      <p:ext uri="{BB962C8B-B14F-4D97-AF65-F5344CB8AC3E}">
        <p14:creationId xmlns:p14="http://schemas.microsoft.com/office/powerpoint/2010/main" val="9308460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C4623EA-38D6-4134-AF1F-565016333C6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3599E50-9FF3-4893-A292-288D511379AD}"/>
              </a:ext>
            </a:extLst>
          </p:cNvPr>
          <p:cNvSpPr>
            <a:spLocks xmlns:a="http://schemas.openxmlformats.org/drawingml/2006/main" noGrp="1"/>
          </p:cNvSpPr>
          <p:nvPr/>
        </p:nvSpPr>
        <p:spPr>
          <a:xfrm xmlns:a="http://schemas.openxmlformats.org/drawingml/2006/main">
            <a:off x="609600" y="247650"/>
            <a:ext cx="409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i="0">
                <a:solidFill>
                  <a:srgbClr val="5F6570"/>
                </a:solidFill>
              </a:defRPr>
            </a:pPr>
            <a:r>
              <a:rPr sz="1125" b="1" i="0">
                <a:solidFill>
                  <a:srgbClr val="5F6570"/>
                </a:solidFill>
              </a:rPr>
              <a:t>FOLLOW-UP QUIZ · 课后检查</a:t>
            </a:r>
          </a:p>
        </p:txBody>
      </p:sp>
      <p:sp>
        <p:nvSpPr>
          <p:cNvPr id="3" name="">
            <a:extLst xmlns:a="http://schemas.openxmlformats.org/drawingml/2006/main">
              <a:ext uri="{FF2B5EF4-FFF2-40B4-BE49-F238E27FC236}">
                <a16:creationId xmlns:a16="http://schemas.microsoft.com/office/drawing/2014/main" id="{CB64D518-DBE5-4D4F-8E9A-0C9E5299A875}"/>
              </a:ext>
            </a:extLst>
          </p:cNvPr>
          <p:cNvSpPr>
            <a:spLocks xmlns:a="http://schemas.openxmlformats.org/drawingml/2006/main" noGrp="1"/>
          </p:cNvSpPr>
          <p:nvPr/>
        </p:nvSpPr>
        <p:spPr>
          <a:xfrm xmlns:a="http://schemas.openxmlformats.org/drawingml/2006/main">
            <a:off x="11144250" y="6429375"/>
            <a:ext cx="438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i="0">
                <a:solidFill>
                  <a:srgbClr val="5F6570"/>
                </a:solidFill>
              </a:defRPr>
            </a:pPr>
            <a:r>
              <a:rPr sz="1050" b="1" i="0">
                <a:solidFill>
                  <a:srgbClr val="5F6570"/>
                </a:solidFill>
              </a:rPr>
              <a:t>22</a:t>
            </a:r>
          </a:p>
        </p:txBody>
      </p:sp>
      <p:sp>
        <p:nvSpPr>
          <p:cNvPr id="4" name="">
            <a:extLst xmlns:a="http://schemas.openxmlformats.org/drawingml/2006/main">
              <a:ext uri="{FF2B5EF4-FFF2-40B4-BE49-F238E27FC236}">
                <a16:creationId xmlns:a16="http://schemas.microsoft.com/office/drawing/2014/main" id="{EF7E7D8B-21B9-4714-8F20-A0653D574372}"/>
              </a:ext>
            </a:extLst>
          </p:cNvPr>
          <p:cNvSpPr>
            <a:spLocks xmlns:a="http://schemas.openxmlformats.org/drawingml/2006/main" noGrp="1"/>
          </p:cNvSpPr>
          <p:nvPr/>
        </p:nvSpPr>
        <p:spPr>
          <a:xfrm xmlns:a="http://schemas.openxmlformats.org/drawingml/2006/main">
            <a:off x="609600" y="6429375"/>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i="0">
                <a:solidFill>
                  <a:srgbClr val="5F6570"/>
                </a:solidFill>
              </a:defRPr>
            </a:pPr>
            <a:r>
              <a:rPr sz="975" b="0" i="0">
                <a:solidFill>
                  <a:srgbClr val="5F6570"/>
                </a:solidFill>
              </a:rPr>
              <a:t>INVESTMENT &amp; FINANCIAL DECISION-MAKING</a:t>
            </a:r>
          </a:p>
        </p:txBody>
      </p:sp>
      <p:sp>
        <p:nvSpPr>
          <p:cNvPr id="5" name="">
            <a:extLst xmlns:a="http://schemas.openxmlformats.org/drawingml/2006/main">
              <a:ext uri="{FF2B5EF4-FFF2-40B4-BE49-F238E27FC236}">
                <a16:creationId xmlns:a16="http://schemas.microsoft.com/office/drawing/2014/main" id="{11CE46FE-9B87-4573-8B53-8B14226F029F}"/>
              </a:ext>
            </a:extLst>
          </p:cNvPr>
          <p:cNvSpPr>
            <a:spLocks xmlns:a="http://schemas.openxmlformats.org/drawingml/2006/main" noGrp="1"/>
          </p:cNvSpPr>
          <p:nvPr/>
        </p:nvSpPr>
        <p:spPr>
          <a:xfrm xmlns:a="http://schemas.openxmlformats.org/drawingml/2006/main">
            <a:off x="609600" y="609600"/>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i="0">
                <a:solidFill>
                  <a:srgbClr val="0B2A4A"/>
                </a:solidFill>
              </a:defRPr>
            </a:pPr>
            <a:r>
              <a:rPr sz="3600" b="1" i="0">
                <a:solidFill>
                  <a:srgbClr val="0B2A4A"/>
                </a:solidFill>
              </a:rPr>
              <a:t>Three questions before the next lesson.</a:t>
            </a:r>
          </a:p>
        </p:txBody>
      </p:sp>
      <p:sp>
        <p:nvSpPr>
          <p:cNvPr id="6" name="">
            <a:extLst xmlns:a="http://schemas.openxmlformats.org/drawingml/2006/main">
              <a:ext uri="{FF2B5EF4-FFF2-40B4-BE49-F238E27FC236}">
                <a16:creationId xmlns:a16="http://schemas.microsoft.com/office/drawing/2014/main" id="{BDBA2342-0B9F-4C59-9A9B-9255C33CBFBD}"/>
              </a:ext>
            </a:extLst>
          </p:cNvPr>
          <p:cNvSpPr>
            <a:spLocks xmlns:a="http://schemas.openxmlformats.org/drawingml/2006/main" noGrp="1"/>
          </p:cNvSpPr>
          <p:nvPr/>
        </p:nvSpPr>
        <p:spPr>
          <a:xfrm xmlns:a="http://schemas.openxmlformats.org/drawingml/2006/main">
            <a:off x="609600" y="1162050"/>
            <a:ext cx="885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i="0">
                <a:solidFill>
                  <a:srgbClr val="3D8DFF"/>
                </a:solidFill>
              </a:defRPr>
            </a:pPr>
            <a:r>
              <a:rPr sz="1650" b="1" i="0">
                <a:solidFill>
                  <a:srgbClr val="3D8DFF"/>
                </a:solidFill>
              </a:rPr>
              <a:t>下节课前完成三道题</a:t>
            </a:r>
          </a:p>
        </p:txBody>
      </p:sp>
      <p:sp>
        <p:nvSpPr>
          <p:cNvPr id="7" name="">
            <a:extLst xmlns:a="http://schemas.openxmlformats.org/drawingml/2006/main">
              <a:ext uri="{FF2B5EF4-FFF2-40B4-BE49-F238E27FC236}">
                <a16:creationId xmlns:a16="http://schemas.microsoft.com/office/drawing/2014/main" id="{086F30D5-349E-4333-AB99-E1A694BE55FA}"/>
              </a:ext>
            </a:extLst>
          </p:cNvPr>
          <p:cNvSpPr>
            <a:spLocks xmlns:a="http://schemas.openxmlformats.org/drawingml/2006/main" noGrp="1"/>
          </p:cNvSpPr>
          <p:nvPr/>
        </p:nvSpPr>
        <p:spPr>
          <a:xfrm xmlns:a="http://schemas.openxmlformats.org/drawingml/2006/main">
            <a:off x="609600" y="1695450"/>
            <a:ext cx="781050" cy="7810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95026BD-23E4-4441-93B7-519D8D152187}"/>
              </a:ext>
            </a:extLst>
          </p:cNvPr>
          <p:cNvSpPr>
            <a:spLocks xmlns:a="http://schemas.openxmlformats.org/drawingml/2006/main" noGrp="1"/>
          </p:cNvSpPr>
          <p:nvPr/>
        </p:nvSpPr>
        <p:spPr>
          <a:xfrm xmlns:a="http://schemas.openxmlformats.org/drawingml/2006/main">
            <a:off x="609600" y="1876425"/>
            <a:ext cx="78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i="0">
                <a:solidFill>
                  <a:srgbClr val="FFFFFF"/>
                </a:solidFill>
              </a:defRPr>
            </a:pPr>
            <a:r>
              <a:rPr sz="2550" b="1" i="0">
                <a:solidFill>
                  <a:srgbClr val="FFFFFF"/>
                </a:solidFill>
              </a:rPr>
              <a:t>1</a:t>
            </a:r>
          </a:p>
        </p:txBody>
      </p:sp>
      <p:sp>
        <p:nvSpPr>
          <p:cNvPr id="9" name="">
            <a:extLst xmlns:a="http://schemas.openxmlformats.org/drawingml/2006/main">
              <a:ext uri="{FF2B5EF4-FFF2-40B4-BE49-F238E27FC236}">
                <a16:creationId xmlns:a16="http://schemas.microsoft.com/office/drawing/2014/main" id="{D82598F1-5B6D-4F17-B66E-D793D8ED10AD}"/>
              </a:ext>
            </a:extLst>
          </p:cNvPr>
          <p:cNvSpPr>
            <a:spLocks xmlns:a="http://schemas.openxmlformats.org/drawingml/2006/main" noGrp="1"/>
          </p:cNvSpPr>
          <p:nvPr/>
        </p:nvSpPr>
        <p:spPr>
          <a:xfrm xmlns:a="http://schemas.openxmlformats.org/drawingml/2006/main">
            <a:off x="1676400" y="169545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0B2A4A"/>
                </a:solidFill>
              </a:defRPr>
            </a:pPr>
            <a:r>
              <a:rPr sz="1875" b="1" i="0">
                <a:solidFill>
                  <a:srgbClr val="0B2A4A"/>
                </a:solidFill>
              </a:rPr>
              <a:t>Which definition includes seeking future return while accepting possible loss?</a:t>
            </a:r>
          </a:p>
        </p:txBody>
      </p:sp>
      <p:sp>
        <p:nvSpPr>
          <p:cNvPr id="10" name="">
            <a:extLst xmlns:a="http://schemas.openxmlformats.org/drawingml/2006/main">
              <a:ext uri="{FF2B5EF4-FFF2-40B4-BE49-F238E27FC236}">
                <a16:creationId xmlns:a16="http://schemas.microsoft.com/office/drawing/2014/main" id="{6F86A48F-28CA-4159-9296-E755E95C5B04}"/>
              </a:ext>
            </a:extLst>
          </p:cNvPr>
          <p:cNvSpPr>
            <a:spLocks xmlns:a="http://schemas.openxmlformats.org/drawingml/2006/main" noGrp="1"/>
          </p:cNvSpPr>
          <p:nvPr/>
        </p:nvSpPr>
        <p:spPr>
          <a:xfrm xmlns:a="http://schemas.openxmlformats.org/drawingml/2006/main">
            <a:off x="1676400" y="2362200"/>
            <a:ext cx="942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F6570"/>
                </a:solidFill>
              </a:defRPr>
            </a:pPr>
            <a:r>
              <a:rPr sz="1500" b="0" i="0">
                <a:solidFill>
                  <a:srgbClr val="5F6570"/>
                </a:solidFill>
              </a:rPr>
              <a:t>saving · investment · consumption</a:t>
            </a:r>
          </a:p>
        </p:txBody>
      </p:sp>
      <p:sp>
        <p:nvSpPr>
          <p:cNvPr id="11" name="">
            <a:extLst xmlns:a="http://schemas.openxmlformats.org/drawingml/2006/main">
              <a:ext uri="{FF2B5EF4-FFF2-40B4-BE49-F238E27FC236}">
                <a16:creationId xmlns:a16="http://schemas.microsoft.com/office/drawing/2014/main" id="{4B6AD926-54A2-4057-83AB-CDA6CA320610}"/>
              </a:ext>
            </a:extLst>
          </p:cNvPr>
          <p:cNvSpPr>
            <a:spLocks xmlns:a="http://schemas.openxmlformats.org/drawingml/2006/main" noGrp="1"/>
          </p:cNvSpPr>
          <p:nvPr/>
        </p:nvSpPr>
        <p:spPr>
          <a:xfrm xmlns:a="http://schemas.openxmlformats.org/drawingml/2006/main">
            <a:off x="609600" y="3057525"/>
            <a:ext cx="781050" cy="781050"/>
          </a:xfrm>
          <a:prstGeom xmlns:a="http://schemas.openxmlformats.org/drawingml/2006/main" prst="rect">
            <a:avLst/>
          </a:prstGeom>
          <a:solidFill xmlns:a="http://schemas.openxmlformats.org/drawingml/2006/main">
            <a:srgbClr val="48B78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4C43470-59D7-47E2-A677-D28AD205A17C}"/>
              </a:ext>
            </a:extLst>
          </p:cNvPr>
          <p:cNvSpPr>
            <a:spLocks xmlns:a="http://schemas.openxmlformats.org/drawingml/2006/main" noGrp="1"/>
          </p:cNvSpPr>
          <p:nvPr/>
        </p:nvSpPr>
        <p:spPr>
          <a:xfrm xmlns:a="http://schemas.openxmlformats.org/drawingml/2006/main">
            <a:off x="609600" y="3238500"/>
            <a:ext cx="78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i="0">
                <a:solidFill>
                  <a:srgbClr val="FFFFFF"/>
                </a:solidFill>
              </a:defRPr>
            </a:pPr>
            <a:r>
              <a:rPr sz="2550" b="1" i="0">
                <a:solidFill>
                  <a:srgbClr val="FFFFFF"/>
                </a:solidFill>
              </a:rPr>
              <a:t>2</a:t>
            </a:r>
          </a:p>
        </p:txBody>
      </p:sp>
      <p:sp>
        <p:nvSpPr>
          <p:cNvPr id="13" name="">
            <a:extLst xmlns:a="http://schemas.openxmlformats.org/drawingml/2006/main">
              <a:ext uri="{FF2B5EF4-FFF2-40B4-BE49-F238E27FC236}">
                <a16:creationId xmlns:a16="http://schemas.microsoft.com/office/drawing/2014/main" id="{CAE4226B-09DE-4DF4-953C-D007C43D1D44}"/>
              </a:ext>
            </a:extLst>
          </p:cNvPr>
          <p:cNvSpPr>
            <a:spLocks xmlns:a="http://schemas.openxmlformats.org/drawingml/2006/main" noGrp="1"/>
          </p:cNvSpPr>
          <p:nvPr/>
        </p:nvSpPr>
        <p:spPr>
          <a:xfrm xmlns:a="http://schemas.openxmlformats.org/drawingml/2006/main">
            <a:off x="1676400" y="3057525"/>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0B2A4A"/>
                </a:solidFill>
              </a:defRPr>
            </a:pPr>
            <a:r>
              <a:rPr sz="1875" b="1" i="0">
                <a:solidFill>
                  <a:srgbClr val="0B2A4A"/>
                </a:solidFill>
              </a:rPr>
              <a:t>Why is saving not completely risk-free?</a:t>
            </a:r>
          </a:p>
        </p:txBody>
      </p:sp>
      <p:sp>
        <p:nvSpPr>
          <p:cNvPr id="14" name="">
            <a:extLst xmlns:a="http://schemas.openxmlformats.org/drawingml/2006/main">
              <a:ext uri="{FF2B5EF4-FFF2-40B4-BE49-F238E27FC236}">
                <a16:creationId xmlns:a16="http://schemas.microsoft.com/office/drawing/2014/main" id="{EC638ECF-3AF6-4878-A612-67B6604EFE7F}"/>
              </a:ext>
            </a:extLst>
          </p:cNvPr>
          <p:cNvSpPr>
            <a:spLocks xmlns:a="http://schemas.openxmlformats.org/drawingml/2006/main" noGrp="1"/>
          </p:cNvSpPr>
          <p:nvPr/>
        </p:nvSpPr>
        <p:spPr>
          <a:xfrm xmlns:a="http://schemas.openxmlformats.org/drawingml/2006/main">
            <a:off x="1676400" y="3724275"/>
            <a:ext cx="942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F6570"/>
                </a:solidFill>
              </a:defRPr>
            </a:pPr>
            <a:r>
              <a:rPr sz="1500" b="0" i="0">
                <a:solidFill>
                  <a:srgbClr val="5F6570"/>
                </a:solidFill>
              </a:rPr>
              <a:t>inflation · shares · price forecasting</a:t>
            </a:r>
          </a:p>
        </p:txBody>
      </p:sp>
      <p:sp>
        <p:nvSpPr>
          <p:cNvPr id="15" name="">
            <a:extLst xmlns:a="http://schemas.openxmlformats.org/drawingml/2006/main">
              <a:ext uri="{FF2B5EF4-FFF2-40B4-BE49-F238E27FC236}">
                <a16:creationId xmlns:a16="http://schemas.microsoft.com/office/drawing/2014/main" id="{7BDD91E7-DE72-4AD1-8402-1A4567400D08}"/>
              </a:ext>
            </a:extLst>
          </p:cNvPr>
          <p:cNvSpPr>
            <a:spLocks xmlns:a="http://schemas.openxmlformats.org/drawingml/2006/main" noGrp="1"/>
          </p:cNvSpPr>
          <p:nvPr/>
        </p:nvSpPr>
        <p:spPr>
          <a:xfrm xmlns:a="http://schemas.openxmlformats.org/drawingml/2006/main">
            <a:off x="609600" y="4419600"/>
            <a:ext cx="781050" cy="7810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90063D-51D8-4683-A124-7FF2BE6CE849}"/>
              </a:ext>
            </a:extLst>
          </p:cNvPr>
          <p:cNvSpPr>
            <a:spLocks xmlns:a="http://schemas.openxmlformats.org/drawingml/2006/main" noGrp="1"/>
          </p:cNvSpPr>
          <p:nvPr/>
        </p:nvSpPr>
        <p:spPr>
          <a:xfrm xmlns:a="http://schemas.openxmlformats.org/drawingml/2006/main">
            <a:off x="609600" y="4600575"/>
            <a:ext cx="781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i="0">
                <a:solidFill>
                  <a:srgbClr val="FFFFFF"/>
                </a:solidFill>
              </a:defRPr>
            </a:pPr>
            <a:r>
              <a:rPr sz="2550" b="1" i="0">
                <a:solidFill>
                  <a:srgbClr val="FFFFFF"/>
                </a:solidFill>
              </a:rPr>
              <a:t>3</a:t>
            </a:r>
          </a:p>
        </p:txBody>
      </p:sp>
      <p:sp>
        <p:nvSpPr>
          <p:cNvPr id="17" name="">
            <a:extLst xmlns:a="http://schemas.openxmlformats.org/drawingml/2006/main">
              <a:ext uri="{FF2B5EF4-FFF2-40B4-BE49-F238E27FC236}">
                <a16:creationId xmlns:a16="http://schemas.microsoft.com/office/drawing/2014/main" id="{E0B59E81-C701-4447-95BA-550CD26F7EF3}"/>
              </a:ext>
            </a:extLst>
          </p:cNvPr>
          <p:cNvSpPr>
            <a:spLocks xmlns:a="http://schemas.openxmlformats.org/drawingml/2006/main" noGrp="1"/>
          </p:cNvSpPr>
          <p:nvPr/>
        </p:nvSpPr>
        <p:spPr>
          <a:xfrm xmlns:a="http://schemas.openxmlformats.org/drawingml/2006/main">
            <a:off x="1676400" y="4419600"/>
            <a:ext cx="942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i="0">
                <a:solidFill>
                  <a:srgbClr val="0B2A4A"/>
                </a:solidFill>
              </a:defRPr>
            </a:pPr>
            <a:r>
              <a:rPr sz="1875" b="1" i="0">
                <a:solidFill>
                  <a:srgbClr val="0B2A4A"/>
                </a:solidFill>
              </a:rPr>
              <a:t>Why is Peng Jie's decision speculation?</a:t>
            </a:r>
          </a:p>
        </p:txBody>
      </p:sp>
      <p:sp>
        <p:nvSpPr>
          <p:cNvPr id="18" name="">
            <a:extLst xmlns:a="http://schemas.openxmlformats.org/drawingml/2006/main">
              <a:ext uri="{FF2B5EF4-FFF2-40B4-BE49-F238E27FC236}">
                <a16:creationId xmlns:a16="http://schemas.microsoft.com/office/drawing/2014/main" id="{6B6EA57E-EAF0-4FF9-89A7-06BD8E0A6AD2}"/>
              </a:ext>
            </a:extLst>
          </p:cNvPr>
          <p:cNvSpPr>
            <a:spLocks xmlns:a="http://schemas.openxmlformats.org/drawingml/2006/main" noGrp="1"/>
          </p:cNvSpPr>
          <p:nvPr/>
        </p:nvSpPr>
        <p:spPr>
          <a:xfrm xmlns:a="http://schemas.openxmlformats.org/drawingml/2006/main">
            <a:off x="1676400" y="5086350"/>
            <a:ext cx="942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i="0">
                <a:solidFill>
                  <a:srgbClr val="5F6570"/>
                </a:solidFill>
              </a:defRPr>
            </a:pPr>
            <a:r>
              <a:rPr sz="1500" b="0" i="0">
                <a:solidFill>
                  <a:srgbClr val="5F6570"/>
                </a:solidFill>
              </a:rPr>
              <a:t>location · share purchase · borrowed rumour-driven price bet</a:t>
            </a:r>
          </a:p>
        </p:txBody>
      </p:sp>
      <p:sp>
        <p:nvSpPr>
          <p:cNvPr id="19" name="">
            <a:extLst xmlns:a="http://schemas.openxmlformats.org/drawingml/2006/main">
              <a:ext uri="{FF2B5EF4-FFF2-40B4-BE49-F238E27FC236}">
                <a16:creationId xmlns:a16="http://schemas.microsoft.com/office/drawing/2014/main" id="{E7F8F7E4-F7CC-4A14-8443-497CD2DEF390}"/>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7928E12-2BE4-4CF1-A4E0-E0FBDCCE6E58}"/>
              </a:ext>
            </a:extLst>
          </p:cNvPr>
          <p:cNvSpPr>
            <a:spLocks xmlns:a="http://schemas.openxmlformats.org/drawingml/2006/main" noGrp="1"/>
          </p:cNvSpPr>
          <p:nvPr/>
        </p:nvSpPr>
        <p:spPr>
          <a:xfrm xmlns:a="http://schemas.openxmlformats.org/drawingml/2006/main">
            <a:off x="781050" y="5934075"/>
            <a:ext cx="1062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i="0">
                <a:solidFill>
                  <a:srgbClr val="0B2A4A"/>
                </a:solidFill>
              </a:defRPr>
            </a:pPr>
            <a:r>
              <a:rPr sz="1350" b="1" i="0">
                <a:solidFill>
                  <a:srgbClr val="0B2A4A"/>
                </a:solidFill>
              </a:rPr>
              <a:t>Then complete Handout Exercise 3, Questions 1–10.</a:t>
            </a:r>
          </a:p>
        </p:txBody>
      </p:sp>
    </p:spTree>
    <p:extLst>
      <p:ext uri="{BB962C8B-B14F-4D97-AF65-F5344CB8AC3E}">
        <p14:creationId xmlns:p14="http://schemas.microsoft.com/office/powerpoint/2010/main" val="663236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2026-08-20T13:00:15.7310000Z</dcterms:created>
  <dcterms:modified xsi:type="dcterms:W3CDTF">2026-08-20T13:00:15.7310000Z</dcterms:modified>
</coreProperties>
</file>