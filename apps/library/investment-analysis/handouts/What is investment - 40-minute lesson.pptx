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c941c98b814788" /><Relationship Type="http://schemas.openxmlformats.org/officeDocument/2006/relationships/extended-properties" Target="/docProps/app.xml" Id="Reebfe8eaebd142d2" /><Relationship Type="http://schemas.openxmlformats.org/officeDocument/2006/relationships/officeDocument" Target="/ppt/presentation.xml" Id="Rd84e62ebed50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22c3a80f404903"/>
  </p:sldMasterIdLst>
  <p:notesMasterIdLst>
    <p:notesMasterId xmlns:r="http://schemas.openxmlformats.org/officeDocument/2006/relationships" r:id="Rdf63d03c27cb47e2"/>
  </p:notesMasterIdLst>
  <p:sldIdLst>
    <p:sldId xmlns:r="http://schemas.openxmlformats.org/officeDocument/2006/relationships" id="256" r:id="Rdeaacf83f3ed40d9"/>
    <p:sldId xmlns:r="http://schemas.openxmlformats.org/officeDocument/2006/relationships" id="257" r:id="Ra62730fd760c426d"/>
    <p:sldId xmlns:r="http://schemas.openxmlformats.org/officeDocument/2006/relationships" id="258" r:id="Rf682394de22a40cd"/>
    <p:sldId xmlns:r="http://schemas.openxmlformats.org/officeDocument/2006/relationships" id="259" r:id="R1607b75244cc4237"/>
    <p:sldId xmlns:r="http://schemas.openxmlformats.org/officeDocument/2006/relationships" id="260" r:id="Rbda2f257dd8248a4"/>
    <p:sldId xmlns:r="http://schemas.openxmlformats.org/officeDocument/2006/relationships" id="261" r:id="R650482e197d3471d"/>
    <p:sldId xmlns:r="http://schemas.openxmlformats.org/officeDocument/2006/relationships" id="262" r:id="Rc9716440a4c5455d"/>
    <p:sldId xmlns:r="http://schemas.openxmlformats.org/officeDocument/2006/relationships" id="263" r:id="R5032148c28124897"/>
    <p:sldId xmlns:r="http://schemas.openxmlformats.org/officeDocument/2006/relationships" id="264" r:id="R8683caa217f84bbe"/>
    <p:sldId xmlns:r="http://schemas.openxmlformats.org/officeDocument/2006/relationships" id="265" r:id="R27ab9151957e42e0"/>
    <p:sldId xmlns:r="http://schemas.openxmlformats.org/officeDocument/2006/relationships" id="266" r:id="Rc82f89b9c5b04f9f"/>
    <p:sldId xmlns:r="http://schemas.openxmlformats.org/officeDocument/2006/relationships" id="267" r:id="Rdc68ed0c212b4859"/>
    <p:sldId xmlns:r="http://schemas.openxmlformats.org/officeDocument/2006/relationships" id="268" r:id="R500e586772dd4e26"/>
    <p:sldId xmlns:r="http://schemas.openxmlformats.org/officeDocument/2006/relationships" id="269" r:id="R57959b87cce84c59"/>
    <p:sldId xmlns:r="http://schemas.openxmlformats.org/officeDocument/2006/relationships" id="270" r:id="Re7c29beb794d41b8"/>
    <p:sldId xmlns:r="http://schemas.openxmlformats.org/officeDocument/2006/relationships" id="271" r:id="R54ace3cd76fa4c73"/>
    <p:sldId xmlns:r="http://schemas.openxmlformats.org/officeDocument/2006/relationships" id="272" r:id="R2d4f73382ebb4b27"/>
    <p:sldId xmlns:r="http://schemas.openxmlformats.org/officeDocument/2006/relationships" id="273" r:id="R74bf5b85bded44f5"/>
    <p:sldId xmlns:r="http://schemas.openxmlformats.org/officeDocument/2006/relationships" id="274" r:id="R19a18daf7fbe4e20"/>
    <p:sldId xmlns:r="http://schemas.openxmlformats.org/officeDocument/2006/relationships" id="275" r:id="R174b00ef275f47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6b6236cfd94042" /><Relationship Type="http://schemas.openxmlformats.org/officeDocument/2006/relationships/slideMaster" Target="/ppt/slideMasters/slideMaster1.xml" Id="Rae22c3a80f404903" /><Relationship Type="http://schemas.openxmlformats.org/officeDocument/2006/relationships/notesMaster" Target="/ppt/notesMasters/notesMaster1.xml" Id="Rdf63d03c27cb47e2" /><Relationship Type="http://schemas.openxmlformats.org/officeDocument/2006/relationships/presProps" Target="/ppt/presProps.xml" Id="R42febfaf3af44442" /><Relationship Type="http://schemas.openxmlformats.org/officeDocument/2006/relationships/viewProps" Target="/ppt/viewProps.xml" Id="Rffdb5c4f123444ba" /><Relationship Type="http://schemas.openxmlformats.org/officeDocument/2006/relationships/tableStyles" Target="/ppt/tableStyles.xml" Id="Rff839d7162944475" /><Relationship Type="http://schemas.openxmlformats.org/officeDocument/2006/relationships/slide" Target="/ppt/slides/slide1.xml" Id="Rdeaacf83f3ed40d9" /><Relationship Type="http://schemas.openxmlformats.org/officeDocument/2006/relationships/slide" Target="/ppt/slides/slide2.xml" Id="Ra62730fd760c426d" /><Relationship Type="http://schemas.openxmlformats.org/officeDocument/2006/relationships/slide" Target="/ppt/slides/slide3.xml" Id="Rf682394de22a40cd" /><Relationship Type="http://schemas.openxmlformats.org/officeDocument/2006/relationships/slide" Target="/ppt/slides/slide4.xml" Id="R1607b75244cc4237" /><Relationship Type="http://schemas.openxmlformats.org/officeDocument/2006/relationships/slide" Target="/ppt/slides/slide5.xml" Id="Rbda2f257dd8248a4" /><Relationship Type="http://schemas.openxmlformats.org/officeDocument/2006/relationships/slide" Target="/ppt/slides/slide6.xml" Id="R650482e197d3471d" /><Relationship Type="http://schemas.openxmlformats.org/officeDocument/2006/relationships/slide" Target="/ppt/slides/slide7.xml" Id="Rc9716440a4c5455d" /><Relationship Type="http://schemas.openxmlformats.org/officeDocument/2006/relationships/slide" Target="/ppt/slides/slide8.xml" Id="R5032148c28124897" /><Relationship Type="http://schemas.openxmlformats.org/officeDocument/2006/relationships/slide" Target="/ppt/slides/slide9.xml" Id="R8683caa217f84bbe" /><Relationship Type="http://schemas.openxmlformats.org/officeDocument/2006/relationships/slide" Target="/ppt/slides/slide10.xml" Id="R27ab9151957e42e0" /><Relationship Type="http://schemas.openxmlformats.org/officeDocument/2006/relationships/slide" Target="/ppt/slides/slide11.xml" Id="Rc82f89b9c5b04f9f" /><Relationship Type="http://schemas.openxmlformats.org/officeDocument/2006/relationships/slide" Target="/ppt/slides/slide12.xml" Id="Rdc68ed0c212b4859" /><Relationship Type="http://schemas.openxmlformats.org/officeDocument/2006/relationships/slide" Target="/ppt/slides/slide13.xml" Id="R500e586772dd4e26" /><Relationship Type="http://schemas.openxmlformats.org/officeDocument/2006/relationships/slide" Target="/ppt/slides/slide14.xml" Id="R57959b87cce84c59" /><Relationship Type="http://schemas.openxmlformats.org/officeDocument/2006/relationships/slide" Target="/ppt/slides/slide15.xml" Id="Re7c29beb794d41b8" /><Relationship Type="http://schemas.openxmlformats.org/officeDocument/2006/relationships/slide" Target="/ppt/slides/slide16.xml" Id="R54ace3cd76fa4c73" /><Relationship Type="http://schemas.openxmlformats.org/officeDocument/2006/relationships/slide" Target="/ppt/slides/slide17.xml" Id="R2d4f73382ebb4b27" /><Relationship Type="http://schemas.openxmlformats.org/officeDocument/2006/relationships/slide" Target="/ppt/slides/slide18.xml" Id="R74bf5b85bded44f5" /><Relationship Type="http://schemas.openxmlformats.org/officeDocument/2006/relationships/slide" Target="/ppt/slides/slide19.xml" Id="R19a18daf7fbe4e20" /><Relationship Type="http://schemas.openxmlformats.org/officeDocument/2006/relationships/slide" Target="/ppt/slides/slide20.xml" Id="R174b00ef275f47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cf09f767644c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3137b4d667444a" /><Relationship Type="http://schemas.openxmlformats.org/officeDocument/2006/relationships/notesMaster" Target="/ppt/notesMasters/notesMaster1.xml" Id="Re6c10f50ca1942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a6cf218a6344cb" /><Relationship Type="http://schemas.openxmlformats.org/officeDocument/2006/relationships/notesMaster" Target="/ppt/notesMasters/notesMaster1.xml" Id="R75a86600934e4e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7773f0af4e426f" /><Relationship Type="http://schemas.openxmlformats.org/officeDocument/2006/relationships/notesMaster" Target="/ppt/notesMasters/notesMaster1.xml" Id="R1a556c11dd394d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3cabc2359d46b6" /><Relationship Type="http://schemas.openxmlformats.org/officeDocument/2006/relationships/notesMaster" Target="/ppt/notesMasters/notesMaster1.xml" Id="R0e843f1b3abc4b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0563268cec4309" /><Relationship Type="http://schemas.openxmlformats.org/officeDocument/2006/relationships/notesMaster" Target="/ppt/notesMasters/notesMaster1.xml" Id="Rd60d4914758f4b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03bead1a084fa8" /><Relationship Type="http://schemas.openxmlformats.org/officeDocument/2006/relationships/notesMaster" Target="/ppt/notesMasters/notesMaster1.xml" Id="Ree60646cb7a34e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66cdd8a79f4a2c" /><Relationship Type="http://schemas.openxmlformats.org/officeDocument/2006/relationships/notesMaster" Target="/ppt/notesMasters/notesMaster1.xml" Id="R3d29cb2cfe6543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dc168d72df406e" /><Relationship Type="http://schemas.openxmlformats.org/officeDocument/2006/relationships/notesMaster" Target="/ppt/notesMasters/notesMaster1.xml" Id="R5a145a03fd4a47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1fc05dccc04418" /><Relationship Type="http://schemas.openxmlformats.org/officeDocument/2006/relationships/notesMaster" Target="/ppt/notesMasters/notesMaster1.xml" Id="R470362165b0a4d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9db6266a264a77" /><Relationship Type="http://schemas.openxmlformats.org/officeDocument/2006/relationships/notesMaster" Target="/ppt/notesMasters/notesMaster1.xml" Id="Ref3de947cab542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397035e0964fea" /><Relationship Type="http://schemas.openxmlformats.org/officeDocument/2006/relationships/notesMaster" Target="/ppt/notesMasters/notesMaster1.xml" Id="R8287521474c248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065d85a8e6464f" /><Relationship Type="http://schemas.openxmlformats.org/officeDocument/2006/relationships/notesMaster" Target="/ppt/notesMasters/notesMaster1.xml" Id="R8bde2834a62c46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9b6935ce5b44ab" /><Relationship Type="http://schemas.openxmlformats.org/officeDocument/2006/relationships/notesMaster" Target="/ppt/notesMasters/notesMaster1.xml" Id="R0aad3731c8e54d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926fc26d7f4124" /><Relationship Type="http://schemas.openxmlformats.org/officeDocument/2006/relationships/notesMaster" Target="/ppt/notesMasters/notesMaster1.xml" Id="Rfc53a5409d1f4a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fe4eddd69a4b0d" /><Relationship Type="http://schemas.openxmlformats.org/officeDocument/2006/relationships/notesMaster" Target="/ppt/notesMasters/notesMaster1.xml" Id="Rbc9738a53a914b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cce452bae7494a" /><Relationship Type="http://schemas.openxmlformats.org/officeDocument/2006/relationships/notesMaster" Target="/ppt/notesMasters/notesMaster1.xml" Id="Rf3e471985f9742d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baf2738b7464dce" /><Relationship Type="http://schemas.openxmlformats.org/officeDocument/2006/relationships/notesMaster" Target="/ppt/notesMasters/notesMaster1.xml" Id="Rd71a70f4287a4d0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cbfa4bd36c4b2d" /><Relationship Type="http://schemas.openxmlformats.org/officeDocument/2006/relationships/notesMaster" Target="/ppt/notesMasters/notesMaster1.xml" Id="R0b0501ccfd0945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b16f9f30514d82" /><Relationship Type="http://schemas.openxmlformats.org/officeDocument/2006/relationships/notesMaster" Target="/ppt/notesMasters/notesMaster1.xml" Id="R6ee6bdac1ae646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b69b2ce73ce44ce" /><Relationship Type="http://schemas.openxmlformats.org/officeDocument/2006/relationships/notesMaster" Target="/ppt/notesMasters/notesMaster1.xml" Id="R5289e899950341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0:00–0:30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Teacher move: Have the four-page handout open on desks. Do not begin with a definition; move immediately to the same-asset dilemma.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  <a:endParaRPr/>
          </a:p>
          <a:p xmlns:a="http://schemas.openxmlformats.org/drawingml/2006/main">
            <a:r>
              <a:t>- C:/Users/oehle/Documents/presentations/teaching-standards/outputs/Systematically_Improving_Teaching_2026_v3.pptx</a:t>
            </a:r>
            <a:endParaRPr/>
          </a:p>
          <a:p xmlns:a="http://schemas.openxmlformats.org/drawingml/2006/main">
            <a:r>
              <a:t>- Pexels / RDNE Stock project: https://www.pexels.com/photo/white-papers-on-the-table-7821708/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0:30–3:00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Students write an initial yes/no judgement and one reason in their notebooks. Take two contrasting answers without confirming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C:/Users/oehle/Documents/oehler-huang-platform/apps/library/investment-analysis/course-map-financial-decisions-data.js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3:00–4:00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Read only the three action verbs. Students underline the three difficult terms and their Chinese translations on the handout.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4:00–4:20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Signal the structure: investment first, then the two boundaries that prevent misclassification.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4:20–7:00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Teacher move: Students locate the definition on page 1. Ask: What is being sought? What remains possible? Stress that evidence improves a judgement; it does not guarantee profit.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  <a:endParaRPr/>
          </a:p>
          <a:p xmlns:a="http://schemas.openxmlformats.org/drawingml/2006/main">
            <a:r>
              <a:t>- C:/Users/oehle/Documents/oehler-huang-platform/apps/library/assets/images/investment-analysis/business-charts-paper-2021.jpg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7:00–9:00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Students copy only the equation into notebooks. Check that income and value change refer to the same period and that value change can be 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9:00–11:00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Teacher move: Use the grid as a fast oral contrast. Students point to one income source and one loss route. Avoid implying that every asset must provide income.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11:00–14:00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Teacher move: Ask what the trader expects to cause the gain. Correct the misconception that careful research automatically makes a trade an investment.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  <a:endParaRPr/>
          </a:p>
          <a:p xmlns:a="http://schemas.openxmlformats.org/drawingml/2006/main">
            <a:r>
              <a:t>- Pexels / StockRadars Co.: https://www.pexels.com/photo/smartphone-displaying-stock-trading-app-interface-28682345/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14:00–17:00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Students read both bands, then complete the investment-versus-speculation comparison on the handout. Cold-call one student for the decisive contrast.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Pexels / StockRadars Co.: https://www.pexels.com/photo/smartphone-displaying-stock-market-data-28682351/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17:00–18:30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Return briefly to the hook. Ask which words classify each decision. Reject answers based only on the word shares.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18:30–20:00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Students write the sentence in notebooks. Ask for one asset that could be used for either investment or speculation.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20:00–22:30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Teacher move: Contrast purpose, not just the account label. Ask why money for an emergency fund may remain saving even when a bank pays interest.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  <a:endParaRPr/>
          </a:p>
          <a:p xmlns:a="http://schemas.openxmlformats.org/drawingml/2006/main">
            <a:r>
              <a:t>- C:/Users/oehle/Documents/oehler-huang-platform/apps/library/assets/images/investment-analysis/lesson-1/access-public-atm-2024.jpg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22:30–24:00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Students use the three questions as a spoken classification routine. Emphasise mainly: a decision can have more than one feature, so identify the dominant purpose and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24:00–31:00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Phase 1 (3 min): silent individual classification. Phase 2 (3 min): compare and resolve one disagreement. Phase 3 (1 min): record one boundary rule and one evidence row. The handout remains the working surface.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31:00–33:00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Reveal the category pattern. Ask teams to correct only disagreements and to annotate the decisive clue beside each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33:00–35:00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Teacher move: Students vote A–D without discussion. Then ask a student who chose C to reject one tempting distractor using the phrase expected payoff basis.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35:00–36:00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Teacher move: If fewer than about 80% chose C, revisit slides 9–10 before moving on. Otherwise, summarise why A, B and D are insufficient rules.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36:00–38:30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Partners answer both short cases orally, then each writes one answer on the handout. Require a reason tied to liquidity, time horizon or possible loss—not merely risk is bad.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38:30–39:30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Students answer independently in two sentences. Expected classification: speculation, because the predicted price change after the announcement is the main payoff basis. Careful research does not change the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39:30–40:00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Teacher move: Return to the opening notebook judgement. Students amend their original reason in one phrase: the decision basis differs.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C:/Users/oehle/Documents/oehler-huang-platform/apps/library/investment-analysis/handouts/Investment Version 24.docx</a:t>
            </a:r>
          </a:p>
          <a:p xmlns:a="http://schemas.openxmlformats.org/drawingml/2006/main">
            <a:r>
              <a:t>- C:/Users/oehle/Documents/oehler-huang-platform/apps/library/investment-analysis/course-map-financial-decisions-data.js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dc5ff7372498f" /></Relationships>
</file>

<file path=ppt/slideLayouts/slideLayout1.xml><?xml version="1.0" encoding="utf-8"?>
<p:sldLayout xmlns:p="http://schemas.openxmlformats.org/presentationml/2006/main" type="title">
  <p:cSld name="Title Slide">
    <p:bg>
      <p:bgPr>
        <a:solidFill xmlns:a="http://schemas.openxmlformats.org/drawingml/2006/main">
          <a:srgbClr val="F8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071c5893bd4eb7" /><Relationship Type="http://schemas.openxmlformats.org/officeDocument/2006/relationships/slideLayout" Target="/ppt/slideLayouts/slideLayout1.xml" Id="Rf309289bd5b649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09289bd5b649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f3312fedf48a0" /><Relationship Type="http://schemas.openxmlformats.org/officeDocument/2006/relationships/image" Target="/ppt/media/image.jpeg" Id="R69b529af7f184682" /><Relationship Type="http://schemas.openxmlformats.org/officeDocument/2006/relationships/image" Target="/ppt/media/image.png" Id="R113a4168d4f74107" /><Relationship Type="http://schemas.openxmlformats.org/officeDocument/2006/relationships/notesSlide" Target="/ppt/notesSlides/notesSlide1.xml" Id="R451336e0227f4b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c7353e8164720" /><Relationship Type="http://schemas.openxmlformats.org/officeDocument/2006/relationships/notesSlide" Target="/ppt/notesSlides/notesSlide2.xml" Id="R6dd185f9a8a541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4f1202c744793" /><Relationship Type="http://schemas.openxmlformats.org/officeDocument/2006/relationships/image" Target="/ppt/media/image.png" Id="R4caa388ecbd341ce" /><Relationship Type="http://schemas.openxmlformats.org/officeDocument/2006/relationships/notesSlide" Target="/ppt/notesSlides/notesSlide3.xml" Id="R91ee2e6c7a4d45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3eacbc3374bc5" /><Relationship Type="http://schemas.openxmlformats.org/officeDocument/2006/relationships/notesSlide" Target="/ppt/notesSlides/notesSlide4.xml" Id="Rd9b650a3fec946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6b4494b734bc8" /><Relationship Type="http://schemas.openxmlformats.org/officeDocument/2006/relationships/image" Target="/ppt/media/image2.jpeg" Id="R1b259b18e2c3493d" /><Relationship Type="http://schemas.openxmlformats.org/officeDocument/2006/relationships/notesSlide" Target="/ppt/notesSlides/notesSlide5.xml" Id="Rac7316d0f0974b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c0ec67ead4a05" /><Relationship Type="http://schemas.openxmlformats.org/officeDocument/2006/relationships/image" Target="/ppt/media/image.png" Id="R8bcdb553fd234494" /><Relationship Type="http://schemas.openxmlformats.org/officeDocument/2006/relationships/notesSlide" Target="/ppt/notesSlides/notesSlide6.xml" Id="R4caf6d0add5d44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0fac612514112" /><Relationship Type="http://schemas.openxmlformats.org/officeDocument/2006/relationships/notesSlide" Target="/ppt/notesSlides/notesSlide7.xml" Id="R70b6d3569c014f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d02f543dc4a82" /><Relationship Type="http://schemas.openxmlformats.org/officeDocument/2006/relationships/image" Target="/ppt/media/image2.png" Id="Rbbcbb3fc124b4670" /><Relationship Type="http://schemas.openxmlformats.org/officeDocument/2006/relationships/image" Target="/ppt/media/image3.jpeg" Id="Rd59c644007c34f9f" /><Relationship Type="http://schemas.openxmlformats.org/officeDocument/2006/relationships/notesSlide" Target="/ppt/notesSlides/notesSlide8.xml" Id="R01f0df1c18484d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4a2ea64754af4" /><Relationship Type="http://schemas.openxmlformats.org/officeDocument/2006/relationships/image" Target="/ppt/media/image3.png" Id="R008545f8309b481f" /><Relationship Type="http://schemas.openxmlformats.org/officeDocument/2006/relationships/image" Target="/ppt/media/image4.jpeg" Id="Rcadb880db92440bd" /><Relationship Type="http://schemas.openxmlformats.org/officeDocument/2006/relationships/notesSlide" Target="/ppt/notesSlides/notesSlide9.xml" Id="Rce0e8ab82de64f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a0f2cec5e4d77" /><Relationship Type="http://schemas.openxmlformats.org/officeDocument/2006/relationships/image" Target="/ppt/media/image3.png" Id="R37f2a5d570754271" /><Relationship Type="http://schemas.openxmlformats.org/officeDocument/2006/relationships/image" Target="/ppt/media/image4.png" Id="R5f70822e4d1e4869" /><Relationship Type="http://schemas.openxmlformats.org/officeDocument/2006/relationships/notesSlide" Target="/ppt/notesSlides/notesSlide10.xml" Id="Rf3b4dd24c8e146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c227476a44c6f" /><Relationship Type="http://schemas.openxmlformats.org/officeDocument/2006/relationships/notesSlide" Target="/ppt/notesSlides/notesSlide11.xml" Id="R69ef03b6b7864c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55691e69e49eb" /><Relationship Type="http://schemas.openxmlformats.org/officeDocument/2006/relationships/image" Target="/ppt/media/image2.png" Id="Re23294da82cc44f0" /><Relationship Type="http://schemas.openxmlformats.org/officeDocument/2006/relationships/image" Target="/ppt/media/image5.jpeg" Id="R902fb83f65eb4604" /><Relationship Type="http://schemas.openxmlformats.org/officeDocument/2006/relationships/notesSlide" Target="/ppt/notesSlides/notesSlide12.xml" Id="Rf82e37c509ea4f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336d7a71b4f9c" /><Relationship Type="http://schemas.openxmlformats.org/officeDocument/2006/relationships/notesSlide" Target="/ppt/notesSlides/notesSlide13.xml" Id="Rd52c00a8f6474b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a71f539ce4791" /><Relationship Type="http://schemas.openxmlformats.org/officeDocument/2006/relationships/image" Target="/ppt/media/image.png" Id="R61064e3536f640ce" /><Relationship Type="http://schemas.openxmlformats.org/officeDocument/2006/relationships/notesSlide" Target="/ppt/notesSlides/notesSlide14.xml" Id="Rfc7d82c906324f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db647e3984f5d" /><Relationship Type="http://schemas.openxmlformats.org/officeDocument/2006/relationships/image" Target="/ppt/media/image.png" Id="R61fef656a53041e7" /><Relationship Type="http://schemas.openxmlformats.org/officeDocument/2006/relationships/notesSlide" Target="/ppt/notesSlides/notesSlide15.xml" Id="R3d69da294bcf42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2f6bfc7ba4dd9" /><Relationship Type="http://schemas.openxmlformats.org/officeDocument/2006/relationships/notesSlide" Target="/ppt/notesSlides/notesSlide16.xml" Id="R59e486abb4c14e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84b0124574903" /><Relationship Type="http://schemas.openxmlformats.org/officeDocument/2006/relationships/notesSlide" Target="/ppt/notesSlides/notesSlide17.xml" Id="R07a51dd7c6124d9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a6df2820147c4" /><Relationship Type="http://schemas.openxmlformats.org/officeDocument/2006/relationships/image" Target="/ppt/media/image3.png" Id="Re5fbce0ef18d4e3d" /><Relationship Type="http://schemas.openxmlformats.org/officeDocument/2006/relationships/image" Target="/ppt/media/image4.png" Id="Rb8f287a6f6b44b62" /><Relationship Type="http://schemas.openxmlformats.org/officeDocument/2006/relationships/notesSlide" Target="/ppt/notesSlides/notesSlide18.xml" Id="R8e5efe365a5748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b1ed7728f49be" /><Relationship Type="http://schemas.openxmlformats.org/officeDocument/2006/relationships/image" Target="/ppt/media/image.png" Id="R73d05b9934934fbd" /><Relationship Type="http://schemas.openxmlformats.org/officeDocument/2006/relationships/notesSlide" Target="/ppt/notesSlides/notesSlide19.xml" Id="Re81f03d0642844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c3111135c4302" /><Relationship Type="http://schemas.openxmlformats.org/officeDocument/2006/relationships/notesSlide" Target="/ppt/notesSlides/notesSlide20.xml" Id="Rb514cd014c9745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61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529af7f18468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7076037" y="1389528"/>
            <a:ext cx="5115963" cy="407894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7D3246-DE4D-4764-8742-EE2AEFB8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14287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661B18"/>
              </a:gs>
              <a:gs pos="100000">
                <a:srgbClr val="661B1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a4168d4f74107"/>
          <a:stretch xmlns:a="http://schemas.openxmlformats.org/drawingml/2006/main"/>
        </p:blipFill>
        <p:spPr>
          <a:xfrm xmlns:a="http://schemas.openxmlformats.org/drawingml/2006/main">
            <a:off x="666750" y="552450"/>
            <a:ext cx="1000125" cy="1000125"/>
          </a:xfrm>
          <a:prstGeom xmlns:a="http://schemas.openxmlformats.org/drawingml/2006/main" prst="ellipse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D41FB49-F07B-488C-B82E-17832078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49" y="1979755"/>
            <a:ext cx="6194403" cy="668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600" b="1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investment?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E8E7594-499B-4A35-90C0-D5509DD5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49" y="2690812"/>
            <a:ext cx="6194403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 u="none">
                <a:solidFill>
                  <a:srgbClr val="F2DEDA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F2DEDA"/>
                </a:solidFill>
                <a:latin typeface="Arial"/>
                <a:ea typeface="Arial"/>
                <a:cs typeface="Arial"/>
              </a:rPr>
              <a:t>Financial investment, speculation and saving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1519DC90-3D29-467D-A344-F53D0131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66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0BE72F-C4D5-41DD-A5CA-78E800F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49"/>
            <a:ext cx="5847516" cy="1466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 1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Investment and Financial Decision-Making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0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Grade 9</a:t>
            </a:r>
          </a:p>
        </p:txBody>
      </p:sp>
    </p:spTree>
    <p:extLst>
      <p:ext uri="{BB962C8B-B14F-4D97-AF65-F5344CB8AC3E}">
        <p14:creationId xmlns:p14="http://schemas.microsoft.com/office/powerpoint/2010/main" val="974097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E34E12-6B44-42D1-B9BC-AC0137B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858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1B18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CC38C4-6606-42C2-9906-A10101F1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1200" b="1" i="0" u="none">
                <a:solidFill>
                  <a:srgbClr val="731F1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652947-6A33-40B0-A333-DF71682F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3000" b="1" i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Two people buy the same shares.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DF8E12-A934-4C47-A97B-417FBDF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7243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3000" b="1" i="0" u="none">
                <a:solidFill>
                  <a:srgbClr val="731F1B"/>
                </a:solidFill>
                <a:latin typeface="Arial"/>
                <a:ea typeface="Arial"/>
                <a:cs typeface="Arial"/>
              </a:rPr>
              <a:t>Can one be investing</a:t>
            </a:r>
            <a:endParaRPr sz="4350" b="1" i="0">
              <a:solidFill>
                <a:srgbClr val="661B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F4FBC13-276D-4186-A737-B40041F1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3000" b="1" i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while the other is speculating?</a:t>
            </a:r>
          </a:p>
        </p:txBody>
      </p:sp>
      <p:sp>
        <p:nvSpPr>
          <p:cNvPr id="14" name="opening-accent-3">
            <a:extLst xmlns:a="http://schemas.openxmlformats.org/drawingml/2006/main">
              <a:ext uri="{FF2B5EF4-FFF2-40B4-BE49-F238E27FC236}">
                <a16:creationId xmlns:a16="http://schemas.microsoft.com/office/drawing/2014/main" id="{446BD325-F0C4-4B23-ADA8-B974A8F8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76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92616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731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C2CF28C-D988-4DBD-A990-7AEB96C4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48000"/>
            <a:ext cx="8801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B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a388ecbd341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57200"/>
            <a:ext cx="781050" cy="781050"/>
          </a:xfrm>
          <a:prstGeom xmlns:a="http://schemas.openxmlformats.org/drawingml/2006/main" prst="ellipse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9360A5-022D-49E4-B034-6E64664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decisions to make accurately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85A1AC78-B2CE-4BD3-9DE1-86C1F329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22F4103-80AF-4706-B6B7-97607281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2550" b="1" i="0" u="none" cap="none" spc="0">
                <a:ln>
                  <a:noFill/>
                </a:ln>
                <a:solidFill>
                  <a:srgbClr val="731F1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170E1BB-8AC0-4281-BE4B-03BD8EC5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238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12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DISTINGUISH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8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financial investment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(金融投资)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speculation (投机)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saving (储蓄)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041AC34-D746-4D7C-8D41-56A61F0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7B7"/>
          </a:solidFill>
          <a:ln xmlns:a="http://schemas.openxmlformats.org/drawingml/2006/main" w="9525">
            <a:solidFill>
              <a:srgbClr val="2EB7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F9FC2A2-1B69-4F4A-8184-6C559AF5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857B46D-A094-46F9-BB59-BF144708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3238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12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CLASSIFY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8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purpose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payoff basis (回报依据)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liquidity (流动性)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33F747BF-FAEA-7BE5-47B0-715564A1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C4A071-0522-AFBE-A7D2-F1816F7B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2550" b="1" i="0" u="none" cap="none" spc="0">
                <a:ln>
                  <a:noFill/>
                </a:ln>
                <a:solidFill>
                  <a:srgbClr val="731F1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EA94408-2119-E290-C210-F82BB207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3238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12"/>
              </a:spcAft>
              <a:buClrTx/>
              <a:buSzTx/>
              <a:buFontTx/>
              <a:buNone/>
              <a:defRPr sz="1500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JUSTIFY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8"/>
              </a:spcAft>
              <a:buClrTx/>
              <a:buSzTx/>
              <a:buFontTx/>
              <a:buNone/>
              <a:defRPr sz="1500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one decisive clue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+ reject the nearest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00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category</a:t>
            </a:r>
          </a:p>
        </p:txBody>
      </p:sp>
    </p:spTree>
    <p:extLst>
      <p:ext uri="{BB962C8B-B14F-4D97-AF65-F5344CB8AC3E}">
        <p14:creationId xmlns:p14="http://schemas.microsoft.com/office/powerpoint/2010/main" val="2555975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5C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12B514-C2E7-77B8-0AAE-D50FBE24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858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>
                <a:solidFill>
                  <a:srgbClr val="661B18"/>
                </a:solidFill>
                <a:latin typeface="Arial"/>
                <a:ea typeface="Arial"/>
                <a:cs typeface="Arial"/>
              </a:defRPr>
            </a:pPr>
            <a:endParaRPr sz="1200" b="1" i="0" u="none" kern="1200" cap="none" spc="0" baseline="0">
              <a:ln>
                <a:noFill/>
              </a:ln>
              <a:solidFill>
                <a:srgbClr val="661B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DED92D8-7D17-C938-6D7B-E2FBC7CC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1481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75" b="1" i="0">
                <a:solidFill>
                  <a:srgbClr val="1F1A17"/>
                </a:solidFill>
                <a:latin typeface="Arial"/>
                <a:ea typeface="Arial"/>
                <a:cs typeface="Arial"/>
              </a:defRPr>
            </a:pPr>
            <a:endParaRPr sz="3675" b="1" i="0" u="none" kern="1200" cap="none" spc="0" baseline="0">
              <a:ln>
                <a:noFill/>
              </a:ln>
              <a:solidFill>
                <a:srgbClr val="1F1A1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C71AEF9-F580-820F-4C94-B350907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028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1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money decisions</a:t>
            </a:r>
            <a:endParaRPr sz="3525" i="0" u="none" cap="none" spc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0DF140-B6A8-1188-BC20-EFE3462C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731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75" b="1" i="0">
                <a:solidFill>
                  <a:srgbClr val="1F1A17"/>
                </a:solidFill>
                <a:latin typeface="Arial"/>
                <a:ea typeface="Arial"/>
                <a:cs typeface="Arial"/>
              </a:defRPr>
            </a:pPr>
            <a:endParaRPr sz="3375" b="1" i="0" u="none" kern="1200" cap="none" spc="0" baseline="0">
              <a:ln>
                <a:noFill/>
              </a:ln>
              <a:solidFill>
                <a:srgbClr val="1F1A1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divider-rule">
            <a:extLst xmlns:a="http://schemas.openxmlformats.org/drawingml/2006/main">
              <a:ext uri="{FF2B5EF4-FFF2-40B4-BE49-F238E27FC236}">
                <a16:creationId xmlns:a16="http://schemas.microsoft.com/office/drawing/2014/main" id="{264C9E2B-B2CA-352E-607D-BDB362AA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066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1269F88-2A88-4B96-592E-A0CB1E42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963" y="2973545"/>
            <a:ext cx="9144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04170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3C0B2FC-A069-4778-97E8-6A1FB4C9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8334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625" b="1" i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Financial investment seeks return—not certainty</a:t>
            </a:r>
          </a:p>
        </p:txBody>
      </p:sp>
      <p:sp>
        <p:nvSpPr>
          <p:cNvPr id="2" name="Rectangle: Rounded Corners 1">
            <a:extLst xmlns:a="http://schemas.openxmlformats.org/drawingml/2006/main">
              <a:ext uri="{FF2B5EF4-FFF2-40B4-BE49-F238E27FC236}">
                <a16:creationId xmlns:a16="http://schemas.microsoft.com/office/drawing/2014/main" id="{0F1BF5C4-7712-4D8A-BEBE-031D023C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2BD2F9-CE61-498F-9A33-0C38BEE6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1125" b="1" i="0" u="none">
                <a:solidFill>
                  <a:srgbClr val="731F1B"/>
                </a:solidFill>
                <a:latin typeface="Arial"/>
                <a:ea typeface="Arial"/>
                <a:cs typeface="Arial"/>
              </a:rPr>
              <a:t>1/3</a:t>
            </a: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7D43F009-87E7-43ED-A969-4CE30A5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619750" cy="527685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CF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B3E8328-0610-467F-9E6C-3B0E30E1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" indent="-20">
              <a:lnSpc>
                <a:spcPct val="106000"/>
              </a:lnSpc>
              <a:spcBef>
                <a:spcPts val="0"/>
              </a:spcBef>
              <a:spcAft>
                <a:spcPts val="27"/>
              </a:spcAft>
              <a:buNone/>
              <a:defRPr sz="2025">
                <a:solidFill>
                  <a:srgbClr val="171514"/>
                </a:solidFill>
              </a:defRPr>
            </a:pPr>
            <a:endParaRPr/>
          </a:p>
        </p:txBody>
      </p:sp>
      <p:sp>
        <p:nvSpPr>
          <p:cNvPr id="33" name="ts-progress-7">
            <a:extLst xmlns:a="http://schemas.openxmlformats.org/drawingml/2006/main">
              <a:ext uri="{FF2B5EF4-FFF2-40B4-BE49-F238E27FC236}">
                <a16:creationId xmlns:a16="http://schemas.microsoft.com/office/drawing/2014/main" id="{F7C0BF7B-F211-42E2-979D-F296C5B3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ts-progress-active-7">
            <a:extLst xmlns:a="http://schemas.openxmlformats.org/drawingml/2006/main">
              <a:ext uri="{FF2B5EF4-FFF2-40B4-BE49-F238E27FC236}">
                <a16:creationId xmlns:a16="http://schemas.microsoft.com/office/drawing/2014/main" id="{0987C63A-D485-450D-8AD9-565722DA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example-text-6-1">
            <a:extLst xmlns:a="http://schemas.openxmlformats.org/drawingml/2006/main">
              <a:ext uri="{FF2B5EF4-FFF2-40B4-BE49-F238E27FC236}">
                <a16:creationId xmlns:a16="http://schemas.microsoft.com/office/drawing/2014/main" id="{2BF8C125-F05A-C465-7FFA-52FBB3C0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05000"/>
            <a:ext cx="45720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18"/>
              </a:spcAft>
              <a:buNone/>
              <a:defRPr sz="1575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Financial investment (金融投资)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18"/>
              </a:spcAft>
              <a:buNone/>
              <a:defRPr sz="1575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Putting money into an asset (资产) to seek future total return (总回报).</a:t>
            </a:r>
          </a:p>
          <a:p xmlns:a="http://schemas.openxmlformats.org/drawingml/2006/main">
            <a:pPr marL="24" indent="-14" algn="l">
              <a:lnSpc>
                <a:spcPct val="104000"/>
              </a:lnSpc>
              <a:spcAft>
                <a:spcPts val="10"/>
              </a:spcAft>
              <a:buNone/>
              <a:defRPr sz="1575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Evidence can support the expectation.</a:t>
            </a:r>
          </a:p>
          <a:p xmlns:a="http://schemas.openxmlformats.org/drawingml/2006/main">
            <a:pPr marL="24" indent="-14" algn="l">
              <a:lnSpc>
                <a:spcPct val="104000"/>
              </a:lnSpc>
              <a:buNone/>
              <a:defRPr sz="1575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Possible loss (可能亏损) remains.</a:t>
            </a:r>
          </a:p>
        </p:txBody>
      </p:sp>
      <p:sp>
        <p:nvSpPr>
          <p:cNvPr id="36" name="ts-progress-10-1">
            <a:extLst xmlns:a="http://schemas.openxmlformats.org/drawingml/2006/main">
              <a:ext uri="{FF2B5EF4-FFF2-40B4-BE49-F238E27FC236}">
                <a16:creationId xmlns:a16="http://schemas.microsoft.com/office/drawing/2014/main" id="{46452EB7-A17B-4E6A-89D9-2ACFF06C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s-progress-10-2">
            <a:extLst xmlns:a="http://schemas.openxmlformats.org/drawingml/2006/main">
              <a:ext uri="{FF2B5EF4-FFF2-40B4-BE49-F238E27FC236}">
                <a16:creationId xmlns:a16="http://schemas.microsoft.com/office/drawing/2014/main" id="{FFC8786B-EABC-4E51-9CDC-52B6AD7B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s-progress-10-3">
            <a:extLst xmlns:a="http://schemas.openxmlformats.org/drawingml/2006/main">
              <a:ext uri="{FF2B5EF4-FFF2-40B4-BE49-F238E27FC236}">
                <a16:creationId xmlns:a16="http://schemas.microsoft.com/office/drawing/2014/main" id="{B222C13A-6141-435A-9566-E9E3C292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s-progress-10-4">
            <a:extLst xmlns:a="http://schemas.openxmlformats.org/drawingml/2006/main">
              <a:ext uri="{FF2B5EF4-FFF2-40B4-BE49-F238E27FC236}">
                <a16:creationId xmlns:a16="http://schemas.microsoft.com/office/drawing/2014/main" id="{376029A3-0DB8-4B0B-B546-9F87CF5A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s-progress-10-5">
            <a:extLst xmlns:a="http://schemas.openxmlformats.org/drawingml/2006/main">
              <a:ext uri="{FF2B5EF4-FFF2-40B4-BE49-F238E27FC236}">
                <a16:creationId xmlns:a16="http://schemas.microsoft.com/office/drawing/2014/main" id="{E224F391-60D9-4DF5-B3B7-774752E7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s-progress-10-6">
            <a:extLst xmlns:a="http://schemas.openxmlformats.org/drawingml/2006/main">
              <a:ext uri="{FF2B5EF4-FFF2-40B4-BE49-F238E27FC236}">
                <a16:creationId xmlns:a16="http://schemas.microsoft.com/office/drawing/2014/main" id="{802E7692-A57A-41AA-AC15-069C1EAE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s-progress-10-7">
            <a:extLst xmlns:a="http://schemas.openxmlformats.org/drawingml/2006/main">
              <a:ext uri="{FF2B5EF4-FFF2-40B4-BE49-F238E27FC236}">
                <a16:creationId xmlns:a16="http://schemas.microsoft.com/office/drawing/2014/main" id="{5844DEDD-1FEC-441D-A44E-B220EDA7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s-progress-10-8">
            <a:extLst xmlns:a="http://schemas.openxmlformats.org/drawingml/2006/main">
              <a:ext uri="{FF2B5EF4-FFF2-40B4-BE49-F238E27FC236}">
                <a16:creationId xmlns:a16="http://schemas.microsoft.com/office/drawing/2014/main" id="{53674ADF-4A16-43F3-ACD6-FDB1CE32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59b18e2c349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383218" y="1466850"/>
            <a:ext cx="3871688" cy="5146118"/>
          </a:xfrm>
          <a:prstGeom xmlns:a="http://schemas.openxmlformats.org/drawingml/2006/main" prst="rect">
            <a:avLst/>
          </a:prstGeom>
        </p:spPr>
      </p:pic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CF3A9CE-D33B-75EB-BD8D-C93E3D07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 u="none">
                <a:solidFill>
                  <a:srgbClr val="5A5350"/>
                </a:solidFill>
                <a:latin typeface="Arial"/>
                <a:ea typeface="Arial"/>
                <a:cs typeface="Arial"/>
              </a:defRPr>
            </a:pPr>
            <a:r>
              <a:rPr sz="900" b="0" i="1" u="none">
                <a:solidFill>
                  <a:srgbClr val="5A5350"/>
                </a:solidFill>
                <a:latin typeface="Arial"/>
                <a:ea typeface="Arial"/>
                <a:cs typeface="Arial"/>
              </a:rPr>
              <a:t>Photo: Investment Analysis visual archive.</a:t>
            </a:r>
            <a:endParaRPr sz="1600" i="1"/>
          </a:p>
        </p:txBody>
      </p:sp>
    </p:spTree>
    <p:extLst>
      <p:ext uri="{BB962C8B-B14F-4D97-AF65-F5344CB8AC3E}">
        <p14:creationId xmlns:p14="http://schemas.microsoft.com/office/powerpoint/2010/main" val="2431310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731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C2CF28C-D988-4DBD-A990-7AEB96C4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48000"/>
            <a:ext cx="8801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B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db553fd2344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57200"/>
            <a:ext cx="781050" cy="781050"/>
          </a:xfrm>
          <a:prstGeom xmlns:a="http://schemas.openxmlformats.org/drawingml/2006/main" prst="ellipse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9360A5-022D-49E4-B034-6E64664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 i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Total return (总回报) = income + change in market value (市场价值)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85A1AC78-B2CE-4BD3-9DE1-86C1F329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22F4103-80AF-4706-B6B7-97607281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2550" b="1" i="0" u="none" cap="none" spc="0">
                <a:ln>
                  <a:noFill/>
                </a:ln>
                <a:solidFill>
                  <a:srgbClr val="731F1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170E1BB-8AC0-4281-BE4B-03BD8EC5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238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12"/>
              </a:spcAft>
              <a:buClrTx/>
              <a:buSzTx/>
              <a:buFontTx/>
              <a:buNone/>
              <a:defRPr sz="157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INCOME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8"/>
              </a:spcAft>
              <a:buClrTx/>
              <a:buSzTx/>
              <a:buFontTx/>
              <a:buNone/>
              <a:defRPr sz="157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interest · dividends (股息) · net rent (净租金)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041AC34-D746-4D7C-8D41-56A61F0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7B7"/>
          </a:solidFill>
          <a:ln xmlns:a="http://schemas.openxmlformats.org/drawingml/2006/main" w="9525">
            <a:solidFill>
              <a:srgbClr val="2EB7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F9FC2A2-1B69-4F4A-8184-6C559AF5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857B46D-A094-46F9-BB59-BF144708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3238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12"/>
              </a:spcAft>
              <a:buClrTx/>
              <a:buSzTx/>
              <a:buFontTx/>
              <a:buNone/>
              <a:defRPr sz="1575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PLUS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8"/>
              </a:spcAft>
              <a:buClrTx/>
              <a:buSzTx/>
              <a:buFontTx/>
              <a:buNone/>
              <a:defRPr sz="1575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both parts count over the same period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33F747BF-FAEA-7BE5-47B0-715564A1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C4A071-0522-AFBE-A7D2-F1816F7B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2550" b="1" i="0" u="none" cap="none" spc="0">
                <a:ln>
                  <a:noFill/>
                </a:ln>
                <a:solidFill>
                  <a:srgbClr val="731F1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EA94408-2119-E290-C210-F82BB207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3238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12"/>
              </a:spcAft>
              <a:buClrTx/>
              <a:buSzTx/>
              <a:buFontTx/>
              <a:buNone/>
              <a:defRPr sz="157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VALUE CHANGE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8"/>
              </a:spcAft>
              <a:buClrTx/>
              <a:buSzTx/>
              <a:buFontTx/>
              <a:buNone/>
              <a:defRPr sz="1575" b="0" u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 u="none" cap="none" spc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capital gain (资本利得) or capital loss (资本损失)</a:t>
            </a:r>
          </a:p>
        </p:txBody>
      </p:sp>
    </p:spTree>
    <p:extLst>
      <p:ext uri="{BB962C8B-B14F-4D97-AF65-F5344CB8AC3E}">
        <p14:creationId xmlns:p14="http://schemas.microsoft.com/office/powerpoint/2010/main" val="2555975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s-overview-title">
            <a:extLst xmlns:a="http://schemas.openxmlformats.org/drawingml/2006/main">
              <a:ext uri="{FF2B5EF4-FFF2-40B4-BE49-F238E27FC236}">
                <a16:creationId xmlns:a16="http://schemas.microsoft.com/office/drawing/2014/main" id="{D11C19CD-4710-45F6-93FF-36F598FD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550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550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The asset changes the return—and the loss route</a:t>
            </a:r>
          </a:p>
        </p:txBody>
      </p:sp>
      <p:sp>
        <p:nvSpPr>
          <p:cNvPr id="3" name="ts-overview-title-rule">
            <a:extLst xmlns:a="http://schemas.openxmlformats.org/drawingml/2006/main">
              <a:ext uri="{FF2B5EF4-FFF2-40B4-BE49-F238E27FC236}">
                <a16:creationId xmlns:a16="http://schemas.microsoft.com/office/drawing/2014/main" id="{54657DD4-8CFD-4244-A4AE-C8E845ED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solidFill>
              <a:srgbClr val="731F1B"/>
            </a:solidFill>
            <a:prstDash val="solid"/>
          </a:ln>
        </p:spPr>
      </p:sp>
      <p:sp>
        <p:nvSpPr>
          <p:cNvPr id="4" name="ts-overview-box-1">
            <a:extLst xmlns:a="http://schemas.openxmlformats.org/drawingml/2006/main">
              <a:ext uri="{FF2B5EF4-FFF2-40B4-BE49-F238E27FC236}">
                <a16:creationId xmlns:a16="http://schemas.microsoft.com/office/drawing/2014/main" id="{F2047D30-5D90-4A4B-BE7C-6F78A519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5" name="ts-overview-accent-1">
            <a:extLst xmlns:a="http://schemas.openxmlformats.org/drawingml/2006/main">
              <a:ext uri="{FF2B5EF4-FFF2-40B4-BE49-F238E27FC236}">
                <a16:creationId xmlns:a16="http://schemas.microsoft.com/office/drawing/2014/main" id="{E5A95E4B-6D5E-4463-A92F-499BCD62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s-overview-number-1">
            <a:extLst xmlns:a="http://schemas.openxmlformats.org/drawingml/2006/main">
              <a:ext uri="{FF2B5EF4-FFF2-40B4-BE49-F238E27FC236}">
                <a16:creationId xmlns:a16="http://schemas.microsoft.com/office/drawing/2014/main" id="{9719048A-CE35-4C09-87EB-006B35C2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s-overview-label-1">
            <a:extLst xmlns:a="http://schemas.openxmlformats.org/drawingml/2006/main">
              <a:ext uri="{FF2B5EF4-FFF2-40B4-BE49-F238E27FC236}">
                <a16:creationId xmlns:a16="http://schemas.microsoft.com/office/drawing/2014/main" id="{AAC94DAA-76F8-4993-A882-3F9A97F9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1430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STOCKS (股票)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Dividends + change in share price</a:t>
            </a:r>
          </a:p>
        </p:txBody>
      </p:sp>
      <p:sp>
        <p:nvSpPr>
          <p:cNvPr id="8" name="ts-overview-box-2">
            <a:extLst xmlns:a="http://schemas.openxmlformats.org/drawingml/2006/main">
              <a:ext uri="{FF2B5EF4-FFF2-40B4-BE49-F238E27FC236}">
                <a16:creationId xmlns:a16="http://schemas.microsoft.com/office/drawing/2014/main" id="{3E7F38E8-BDD9-4002-B84A-FDD97E0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9" name="ts-overview-accent-2">
            <a:extLst xmlns:a="http://schemas.openxmlformats.org/drawingml/2006/main">
              <a:ext uri="{FF2B5EF4-FFF2-40B4-BE49-F238E27FC236}">
                <a16:creationId xmlns:a16="http://schemas.microsoft.com/office/drawing/2014/main" id="{BF361100-95AC-4C66-B94F-32FA243B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s-overview-number-2">
            <a:extLst xmlns:a="http://schemas.openxmlformats.org/drawingml/2006/main">
              <a:ext uri="{FF2B5EF4-FFF2-40B4-BE49-F238E27FC236}">
                <a16:creationId xmlns:a16="http://schemas.microsoft.com/office/drawing/2014/main" id="{097A83E8-F536-407A-92A8-7E53CBD0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1" name="ts-overview-label-2">
            <a:extLst xmlns:a="http://schemas.openxmlformats.org/drawingml/2006/main">
              <a:ext uri="{FF2B5EF4-FFF2-40B4-BE49-F238E27FC236}">
                <a16:creationId xmlns:a16="http://schemas.microsoft.com/office/drawing/2014/main" id="{532EE230-F7A6-451C-B032-098B8679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384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LOSS ROUTE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Price fall; dividend cut or omitted</a:t>
            </a:r>
          </a:p>
        </p:txBody>
      </p:sp>
      <p:sp>
        <p:nvSpPr>
          <p:cNvPr id="12" name="ts-overview-box-3">
            <a:extLst xmlns:a="http://schemas.openxmlformats.org/drawingml/2006/main">
              <a:ext uri="{FF2B5EF4-FFF2-40B4-BE49-F238E27FC236}">
                <a16:creationId xmlns:a16="http://schemas.microsoft.com/office/drawing/2014/main" id="{D994ABED-1AB2-4278-A046-91C7638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13" name="ts-overview-accent-3">
            <a:extLst xmlns:a="http://schemas.openxmlformats.org/drawingml/2006/main">
              <a:ext uri="{FF2B5EF4-FFF2-40B4-BE49-F238E27FC236}">
                <a16:creationId xmlns:a16="http://schemas.microsoft.com/office/drawing/2014/main" id="{7F731975-3942-41F5-B01C-A04B4A9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s-overview-number-3">
            <a:extLst xmlns:a="http://schemas.openxmlformats.org/drawingml/2006/main">
              <a:ext uri="{FF2B5EF4-FFF2-40B4-BE49-F238E27FC236}">
                <a16:creationId xmlns:a16="http://schemas.microsoft.com/office/drawing/2014/main" id="{39E2EE0C-565C-4569-9B57-CDA82223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ts-overview-label-3">
            <a:extLst xmlns:a="http://schemas.openxmlformats.org/drawingml/2006/main">
              <a:ext uri="{FF2B5EF4-FFF2-40B4-BE49-F238E27FC236}">
                <a16:creationId xmlns:a16="http://schemas.microsoft.com/office/drawing/2014/main" id="{63E1345A-9187-4403-8451-1560D6B9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BONDS (债券)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Coupon interest (票息) + change in bond price</a:t>
            </a:r>
          </a:p>
        </p:txBody>
      </p:sp>
      <p:sp>
        <p:nvSpPr>
          <p:cNvPr id="16" name="ts-overview-box-4">
            <a:extLst xmlns:a="http://schemas.openxmlformats.org/drawingml/2006/main">
              <a:ext uri="{FF2B5EF4-FFF2-40B4-BE49-F238E27FC236}">
                <a16:creationId xmlns:a16="http://schemas.microsoft.com/office/drawing/2014/main" id="{F75516CB-92D1-4788-BDD2-061D2C1B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17" name="ts-overview-accent-4">
            <a:extLst xmlns:a="http://schemas.openxmlformats.org/drawingml/2006/main">
              <a:ext uri="{FF2B5EF4-FFF2-40B4-BE49-F238E27FC236}">
                <a16:creationId xmlns:a16="http://schemas.microsoft.com/office/drawing/2014/main" id="{BA3D2E04-919C-4A82-A019-A5299B75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s-overview-number-4">
            <a:extLst xmlns:a="http://schemas.openxmlformats.org/drawingml/2006/main">
              <a:ext uri="{FF2B5EF4-FFF2-40B4-BE49-F238E27FC236}">
                <a16:creationId xmlns:a16="http://schemas.microsoft.com/office/drawing/2014/main" id="{A429C958-E24B-45BD-9822-F0057E81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9" name="ts-overview-label-4">
            <a:extLst xmlns:a="http://schemas.openxmlformats.org/drawingml/2006/main">
              <a:ext uri="{FF2B5EF4-FFF2-40B4-BE49-F238E27FC236}">
                <a16:creationId xmlns:a16="http://schemas.microsoft.com/office/drawing/2014/main" id="{BAD07ACA-0E25-4141-B66B-5873054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292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LOSS ROUTE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Missed payments, default (违约) or lower sale price</a:t>
            </a:r>
          </a:p>
        </p:txBody>
      </p:sp>
      <p:sp>
        <p:nvSpPr>
          <p:cNvPr id="20" name="ts-overview-box-5">
            <a:extLst xmlns:a="http://schemas.openxmlformats.org/drawingml/2006/main">
              <a:ext uri="{FF2B5EF4-FFF2-40B4-BE49-F238E27FC236}">
                <a16:creationId xmlns:a16="http://schemas.microsoft.com/office/drawing/2014/main" id="{422BA327-35CC-4625-9694-509E5631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668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21" name="ts-overview-accent-5">
            <a:extLst xmlns:a="http://schemas.openxmlformats.org/drawingml/2006/main">
              <a:ext uri="{FF2B5EF4-FFF2-40B4-BE49-F238E27FC236}">
                <a16:creationId xmlns:a16="http://schemas.microsoft.com/office/drawing/2014/main" id="{8D74E557-E367-4D3F-AAFF-C9A4326B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s-overview-number-5">
            <a:extLst xmlns:a="http://schemas.openxmlformats.org/drawingml/2006/main">
              <a:ext uri="{FF2B5EF4-FFF2-40B4-BE49-F238E27FC236}">
                <a16:creationId xmlns:a16="http://schemas.microsoft.com/office/drawing/2014/main" id="{22A782B4-EBE1-42A1-8922-A790885C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ts-overview-label-5">
            <a:extLst xmlns:a="http://schemas.openxmlformats.org/drawingml/2006/main">
              <a:ext uri="{FF2B5EF4-FFF2-40B4-BE49-F238E27FC236}">
                <a16:creationId xmlns:a16="http://schemas.microsoft.com/office/drawing/2014/main" id="{7CAD1088-E897-44DB-949E-3DFC9058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1430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PROPERTY (房地产)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Net rental income + change in property value</a:t>
            </a:r>
          </a:p>
        </p:txBody>
      </p:sp>
      <p:sp>
        <p:nvSpPr>
          <p:cNvPr id="24" name="ts-overview-box-6">
            <a:extLst xmlns:a="http://schemas.openxmlformats.org/drawingml/2006/main">
              <a:ext uri="{FF2B5EF4-FFF2-40B4-BE49-F238E27FC236}">
                <a16:creationId xmlns:a16="http://schemas.microsoft.com/office/drawing/2014/main" id="{D5862F73-FEB9-4FFB-AB33-B684042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25" name="ts-overview-accent-6">
            <a:extLst xmlns:a="http://schemas.openxmlformats.org/drawingml/2006/main">
              <a:ext uri="{FF2B5EF4-FFF2-40B4-BE49-F238E27FC236}">
                <a16:creationId xmlns:a16="http://schemas.microsoft.com/office/drawing/2014/main" id="{5F33E03F-29C9-4128-9925-A059F4CE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s-overview-number-6">
            <a:extLst xmlns:a="http://schemas.openxmlformats.org/drawingml/2006/main">
              <a:ext uri="{FF2B5EF4-FFF2-40B4-BE49-F238E27FC236}">
                <a16:creationId xmlns:a16="http://schemas.microsoft.com/office/drawing/2014/main" id="{EF2F22C6-AF38-4888-B228-AC9DD0CC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7" name="ts-overview-label-6">
            <a:extLst xmlns:a="http://schemas.openxmlformats.org/drawingml/2006/main">
              <a:ext uri="{FF2B5EF4-FFF2-40B4-BE49-F238E27FC236}">
                <a16:creationId xmlns:a16="http://schemas.microsoft.com/office/drawing/2014/main" id="{CD6CE4BC-A719-40D8-957E-BD37B51A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LOSS ROUTE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Vacancy, costs or lower sale price</a:t>
            </a:r>
          </a:p>
        </p:txBody>
      </p:sp>
      <p:sp>
        <p:nvSpPr>
          <p:cNvPr id="28" name="ts-overview-box-7">
            <a:extLst xmlns:a="http://schemas.openxmlformats.org/drawingml/2006/main">
              <a:ext uri="{FF2B5EF4-FFF2-40B4-BE49-F238E27FC236}">
                <a16:creationId xmlns:a16="http://schemas.microsoft.com/office/drawing/2014/main" id="{EBDCAE40-E9FE-4225-A732-F335A56C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29" name="ts-overview-accent-7">
            <a:extLst xmlns:a="http://schemas.openxmlformats.org/drawingml/2006/main">
              <a:ext uri="{FF2B5EF4-FFF2-40B4-BE49-F238E27FC236}">
                <a16:creationId xmlns:a16="http://schemas.microsoft.com/office/drawing/2014/main" id="{BBDFB1BF-90BE-46EC-A884-72615A7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s-overview-number-7">
            <a:extLst xmlns:a="http://schemas.openxmlformats.org/drawingml/2006/main">
              <a:ext uri="{FF2B5EF4-FFF2-40B4-BE49-F238E27FC236}">
                <a16:creationId xmlns:a16="http://schemas.microsoft.com/office/drawing/2014/main" id="{20643632-E77E-4985-9108-567BCBD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1" name="ts-overview-label-7">
            <a:extLst xmlns:a="http://schemas.openxmlformats.org/drawingml/2006/main">
              <a:ext uri="{FF2B5EF4-FFF2-40B4-BE49-F238E27FC236}">
                <a16:creationId xmlns:a16="http://schemas.microsoft.com/office/drawing/2014/main" id="{A00B9FB3-AED6-4860-A5A5-28BBD7F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INDEX FUND (指数基金)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Distributions (分配收益) + change in fund value</a:t>
            </a:r>
          </a:p>
        </p:txBody>
      </p:sp>
      <p:sp>
        <p:nvSpPr>
          <p:cNvPr id="32" name="ts-overview-box-8">
            <a:extLst xmlns:a="http://schemas.openxmlformats.org/drawingml/2006/main">
              <a:ext uri="{FF2B5EF4-FFF2-40B4-BE49-F238E27FC236}">
                <a16:creationId xmlns:a16="http://schemas.microsoft.com/office/drawing/2014/main" id="{DBBF2D5F-A903-498D-BC60-08F572EB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33" name="ts-overview-accent-8">
            <a:extLst xmlns:a="http://schemas.openxmlformats.org/drawingml/2006/main">
              <a:ext uri="{FF2B5EF4-FFF2-40B4-BE49-F238E27FC236}">
                <a16:creationId xmlns:a16="http://schemas.microsoft.com/office/drawing/2014/main" id="{3D09551C-1243-47E6-86A3-58198E18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s-overview-number-8">
            <a:extLst xmlns:a="http://schemas.openxmlformats.org/drawingml/2006/main">
              <a:ext uri="{FF2B5EF4-FFF2-40B4-BE49-F238E27FC236}">
                <a16:creationId xmlns:a16="http://schemas.microsoft.com/office/drawing/2014/main" id="{18B266AC-967B-4BC9-8FC5-AEDB7887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38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5" name="ts-overview-label-8">
            <a:extLst xmlns:a="http://schemas.openxmlformats.org/drawingml/2006/main">
              <a:ext uri="{FF2B5EF4-FFF2-40B4-BE49-F238E27FC236}">
                <a16:creationId xmlns:a16="http://schemas.microsoft.com/office/drawing/2014/main" id="{F4617A38-9500-490A-94D7-D5021C9B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292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LOSS ROUTE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Fees and a fall in market value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E63579F-4E0F-8C6D-AA34-E955C75D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356350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u="none">
                <a:solidFill>
                  <a:srgbClr val="5A5350"/>
                </a:solidFill>
                <a:latin typeface="Arial"/>
                <a:ea typeface="Arial"/>
                <a:cs typeface="Arial"/>
              </a:defRPr>
            </a:pPr>
            <a:r>
              <a:rPr sz="975" b="0" i="1" u="none">
                <a:solidFill>
                  <a:srgbClr val="5A5350"/>
                </a:solidFill>
                <a:latin typeface="Arial"/>
                <a:ea typeface="Arial"/>
                <a:cs typeface="Arial"/>
              </a:rPr>
              <a:t>Possible capital gain is never guaranteed.</a:t>
            </a:r>
            <a:endParaRPr i="1"/>
          </a:p>
        </p:txBody>
      </p:sp>
    </p:spTree>
    <p:extLst>
      <p:ext uri="{BB962C8B-B14F-4D97-AF65-F5344CB8AC3E}">
        <p14:creationId xmlns:p14="http://schemas.microsoft.com/office/powerpoint/2010/main" val="27814369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3C0B2FC-A069-4778-97E8-6A1FB4C9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8334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625" b="1" i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Speculation depends mainly on a price prediction</a:t>
            </a:r>
          </a:p>
        </p:txBody>
      </p:sp>
      <p:sp>
        <p:nvSpPr>
          <p:cNvPr id="2" name="Rectangle: Rounded Corners 1">
            <a:extLst xmlns:a="http://schemas.openxmlformats.org/drawingml/2006/main">
              <a:ext uri="{FF2B5EF4-FFF2-40B4-BE49-F238E27FC236}">
                <a16:creationId xmlns:a16="http://schemas.microsoft.com/office/drawing/2014/main" id="{0F1BF5C4-7712-4D8A-BEBE-031D023C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2BD2F9-CE61-498F-9A33-0C38BEE6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1125" b="1" i="0" u="none">
                <a:solidFill>
                  <a:srgbClr val="731F1B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7D43F009-87E7-43ED-A969-4CE30A5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619750" cy="476250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CF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33" name="ts-progress-10">
            <a:extLst xmlns:a="http://schemas.openxmlformats.org/drawingml/2006/main">
              <a:ext uri="{FF2B5EF4-FFF2-40B4-BE49-F238E27FC236}">
                <a16:creationId xmlns:a16="http://schemas.microsoft.com/office/drawing/2014/main" id="{55CFD5CA-43A5-4049-85E1-C6B7E2E8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ts-progress-active-10">
            <a:extLst xmlns:a="http://schemas.openxmlformats.org/drawingml/2006/main">
              <a:ext uri="{FF2B5EF4-FFF2-40B4-BE49-F238E27FC236}">
                <a16:creationId xmlns:a16="http://schemas.microsoft.com/office/drawing/2014/main" id="{9B6CE430-6251-463C-BEB8-E3E2F3D5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example-text-6-1">
            <a:extLst xmlns:a="http://schemas.openxmlformats.org/drawingml/2006/main">
              <a:ext uri="{FF2B5EF4-FFF2-40B4-BE49-F238E27FC236}">
                <a16:creationId xmlns:a16="http://schemas.microsoft.com/office/drawing/2014/main" id="{66A05310-0720-36F4-B95F-F616EC62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05000"/>
            <a:ext cx="4572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18"/>
              </a:spcAft>
              <a:buNone/>
              <a:def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Speculation (投机)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18"/>
              </a:spcAft>
              <a:buNone/>
              <a:def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Trading mainly to gain from a predicted price change (预测的价格变动).</a:t>
            </a:r>
          </a:p>
          <a:p xmlns:a="http://schemas.openxmlformats.org/drawingml/2006/main">
            <a:pPr marL="24" indent="-14" algn="l">
              <a:lnSpc>
                <a:spcPct val="104000"/>
              </a:lnSpc>
              <a:spcAft>
                <a:spcPts val="10"/>
              </a:spcAft>
              <a:buNone/>
              <a:def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Income or underlying value (基础价值) is not the main basis.</a:t>
            </a:r>
          </a:p>
          <a:p xmlns:a="http://schemas.openxmlformats.org/drawingml/2006/main">
            <a:pPr marL="24" indent="-14" algn="l">
              <a:lnSpc>
                <a:spcPct val="104000"/>
              </a:lnSpc>
              <a:buNone/>
              <a:def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Careful research can still support speculation.</a:t>
            </a:r>
          </a:p>
        </p:txBody>
      </p:sp>
      <p:sp>
        <p:nvSpPr>
          <p:cNvPr id="36" name="ts-progress-13-1">
            <a:extLst xmlns:a="http://schemas.openxmlformats.org/drawingml/2006/main">
              <a:ext uri="{FF2B5EF4-FFF2-40B4-BE49-F238E27FC236}">
                <a16:creationId xmlns:a16="http://schemas.microsoft.com/office/drawing/2014/main" id="{0ED2EDF3-2B45-47D7-A3A9-BFFB66B4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s-progress-13-2">
            <a:extLst xmlns:a="http://schemas.openxmlformats.org/drawingml/2006/main">
              <a:ext uri="{FF2B5EF4-FFF2-40B4-BE49-F238E27FC236}">
                <a16:creationId xmlns:a16="http://schemas.microsoft.com/office/drawing/2014/main" id="{02F45656-D3D4-478A-A5FB-15C89FE0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s-progress-13-3">
            <a:extLst xmlns:a="http://schemas.openxmlformats.org/drawingml/2006/main">
              <a:ext uri="{FF2B5EF4-FFF2-40B4-BE49-F238E27FC236}">
                <a16:creationId xmlns:a16="http://schemas.microsoft.com/office/drawing/2014/main" id="{4596B47C-AAB7-4A5F-945D-69739532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s-progress-13-4">
            <a:extLst xmlns:a="http://schemas.openxmlformats.org/drawingml/2006/main">
              <a:ext uri="{FF2B5EF4-FFF2-40B4-BE49-F238E27FC236}">
                <a16:creationId xmlns:a16="http://schemas.microsoft.com/office/drawing/2014/main" id="{E332935D-91AB-4D38-98A3-807C3C7B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s-progress-13-5">
            <a:extLst xmlns:a="http://schemas.openxmlformats.org/drawingml/2006/main">
              <a:ext uri="{FF2B5EF4-FFF2-40B4-BE49-F238E27FC236}">
                <a16:creationId xmlns:a16="http://schemas.microsoft.com/office/drawing/2014/main" id="{47A8B711-09A7-44F9-922F-725C9C96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s-progress-13-6">
            <a:extLst xmlns:a="http://schemas.openxmlformats.org/drawingml/2006/main">
              <a:ext uri="{FF2B5EF4-FFF2-40B4-BE49-F238E27FC236}">
                <a16:creationId xmlns:a16="http://schemas.microsoft.com/office/drawing/2014/main" id="{5DFDFB7B-DB0C-4BF4-8C2F-BED97EAA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s-progress-13-7">
            <a:extLst xmlns:a="http://schemas.openxmlformats.org/drawingml/2006/main">
              <a:ext uri="{FF2B5EF4-FFF2-40B4-BE49-F238E27FC236}">
                <a16:creationId xmlns:a16="http://schemas.microsoft.com/office/drawing/2014/main" id="{0E33F067-7073-474B-95DD-EBF2B851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s-progress-13-8">
            <a:extLst xmlns:a="http://schemas.openxmlformats.org/drawingml/2006/main">
              <a:ext uri="{FF2B5EF4-FFF2-40B4-BE49-F238E27FC236}">
                <a16:creationId xmlns:a16="http://schemas.microsoft.com/office/drawing/2014/main" id="{73BA0048-7A89-48ED-B927-241FDEE9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bb3fc124b467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xmlns:a="http://schemas.openxmlformats.org/drawingml/2006/main" l="50261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8CD97EE-BE56-BFF1-AB8A-441A3F39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1531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 u="none">
                <a:solidFill>
                  <a:srgbClr val="5A5350"/>
                </a:solidFill>
                <a:latin typeface="Arial"/>
                <a:ea typeface="Arial"/>
                <a:cs typeface="Arial"/>
              </a:defRPr>
            </a:pPr>
            <a:r>
              <a:rPr sz="900" b="0" i="1" u="none">
                <a:solidFill>
                  <a:srgbClr val="5A5350"/>
                </a:solidFill>
                <a:latin typeface="Arial"/>
                <a:ea typeface="Arial"/>
                <a:cs typeface="Arial"/>
              </a:rPr>
              <a:t>Photo: StockRadars Co. / Pexels.</a:t>
            </a:r>
            <a:endParaRPr i="1"/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c644007c34f9f"/>
          <a:srcRect xmlns:a="http://schemas.openxmlformats.org/drawingml/2006/main" l="27662" t="0" r="276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198" y="1390650"/>
            <a:ext cx="3782554" cy="47625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083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11161BAA-DD6C-FBC5-DFB9-B719C7E9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 i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Expected payoff basis (预期回报依据) separates the decisions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909C605-B6DE-998E-F68C-16A14A1C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52550"/>
            <a:ext cx="8382000" cy="203835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u="none">
                <a:solidFill>
                  <a:srgbClr val="2EB7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u="none">
                <a:solidFill>
                  <a:srgbClr val="2EB7B7"/>
                </a:solidFill>
                <a:latin typeface="Microsoft YaHei"/>
                <a:ea typeface="Microsoft YaHei"/>
                <a:cs typeface="Microsoft YaHei"/>
              </a:rPr>
              <a:t>Financial investment (金融投资)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CAB7A69-84EE-22D0-A55E-84689A2E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77724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04000"/>
              </a:lnSpc>
              <a:spcAft>
                <a:spcPts val="8"/>
              </a:spcAft>
              <a:buNone/>
              <a:def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Expected income and/or evidence about underlying value (基础价值).</a:t>
            </a:r>
          </a:p>
          <a:p xmlns:a="http://schemas.openxmlformats.org/drawingml/2006/main">
            <a:pPr marL="24" indent="-14" algn="l">
              <a:lnSpc>
                <a:spcPct val="104000"/>
              </a:lnSpc>
              <a:buNone/>
              <a:def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Possible loss is accepted.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C2C65D54-45DD-45F0-686B-FC3AEBD9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76650"/>
            <a:ext cx="8382000" cy="2495550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u="none">
                <a:solidFill>
                  <a:srgbClr val="731F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u="none">
                <a:solidFill>
                  <a:srgbClr val="731F1B"/>
                </a:solidFill>
                <a:latin typeface="Microsoft YaHei"/>
                <a:ea typeface="Microsoft YaHei"/>
                <a:cs typeface="Microsoft YaHei"/>
              </a:rPr>
              <a:t>Speculation (投机)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9A7C4-BB4A-A8E7-2D35-5A93CE75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7772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" indent="-14" algn="l">
              <a:lnSpc>
                <a:spcPct val="104000"/>
              </a:lnSpc>
              <a:spcAft>
                <a:spcPts val="8"/>
              </a:spcAft>
              <a:buNone/>
              <a:defRPr sz="1500" b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Predicted price change is the main basis.</a:t>
            </a:r>
          </a:p>
          <a:p xmlns:a="http://schemas.openxmlformats.org/drawingml/2006/main">
            <a:pPr marL="24" indent="-14" algn="l">
              <a:lnSpc>
                <a:spcPct val="104000"/>
              </a:lnSpc>
              <a:buNone/>
              <a:defRPr sz="1500" b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Research quality alone does not decide the category.</a:t>
            </a:r>
          </a:p>
        </p:txBody>
      </p:sp>
      <p:sp>
        <p:nvSpPr>
          <p:cNvPr id="34" name="reworked-level-accent-64">
            <a:extLst xmlns:a="http://schemas.openxmlformats.org/drawingml/2006/main">
              <a:ext uri="{FF2B5EF4-FFF2-40B4-BE49-F238E27FC236}">
                <a16:creationId xmlns:a16="http://schemas.microsoft.com/office/drawing/2014/main" id="{7CEDD5A8-663E-B4DE-67FD-FD839A63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52550"/>
            <a:ext cx="8382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F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reworked-level-accent-636">
            <a:extLst xmlns:a="http://schemas.openxmlformats.org/drawingml/2006/main">
              <a:ext uri="{FF2B5EF4-FFF2-40B4-BE49-F238E27FC236}">
                <a16:creationId xmlns:a16="http://schemas.microsoft.com/office/drawing/2014/main" id="{9FBB0E69-AA4D-831D-E77E-96C6E492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76650"/>
            <a:ext cx="83820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545f8309b48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b880db92440bd"/>
          <a:srcRect xmlns:a="http://schemas.openxmlformats.org/drawingml/2006/main" l="27796" t="0" r="277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905000"/>
            <a:ext cx="2857500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5645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EB06B57-492F-90C4-E8EF-3A8F5075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070" y="1713648"/>
            <a:ext cx="5476575" cy="999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575" b="1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INVESTOR →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575" b="1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dividends + evidence about long-term value</a:t>
            </a:r>
            <a:endParaRPr sz="2100">
              <a:solidFill>
                <a:srgbClr val="17151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FD8F61F-646C-9D66-2952-489915D6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603" y="5160366"/>
            <a:ext cx="5476575" cy="999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575" b="1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SPECULATOR ←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575" b="1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predicted price move after an announcement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DE5D45-69CB-7F5B-A910-AE761116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715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The same shares can support two different decisions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1437F22D-BA8F-BBF5-8418-27CC1B62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1B18"/>
          </a:solidFill>
          <a:ln xmlns:a="http://schemas.openxmlformats.org/drawingml/2006/main" w="9525">
            <a:solidFill>
              <a:srgbClr val="661B18"/>
            </a:solidFill>
            <a:prstDash val="solid"/>
          </a:ln>
        </p:spPr>
      </p:sp>
      <p:pic>
        <p:nvPicPr>
          <p:cNvPr id="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2a5d5707542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51505" y="1946042"/>
            <a:ext cx="4212000" cy="4212000"/>
          </a:xfrm>
          <a:prstGeom xmlns:a="http://schemas.openxmlformats.org/drawingml/2006/main" prst="rect">
            <a:avLst/>
          </a:prstGeom>
        </p:spPr>
      </p:pic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0822e4d1e48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75899" y="1946042"/>
            <a:ext cx="2600910" cy="4212000"/>
          </a:xfrm>
          <a:prstGeom xmlns:a="http://schemas.openxmlformats.org/drawingml/2006/main" prst="rect">
            <a:avLst/>
          </a:prstGeom>
        </p:spPr>
      </p:pic>
      <p:sp>
        <p:nvSpPr>
          <p:cNvPr id="11" name="Arrow: Right 10">
            <a:extLst xmlns:a="http://schemas.openxmlformats.org/drawingml/2006/main">
              <a:ext uri="{FF2B5EF4-FFF2-40B4-BE49-F238E27FC236}">
                <a16:creationId xmlns:a16="http://schemas.microsoft.com/office/drawing/2014/main" id="{913EA986-1451-8BFE-E19D-640E63A8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654" y="2677250"/>
            <a:ext cx="4609476" cy="11317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Arrow: Right 13">
            <a:extLst xmlns:a="http://schemas.openxmlformats.org/drawingml/2006/main">
              <a:ext uri="{FF2B5EF4-FFF2-40B4-BE49-F238E27FC236}">
                <a16:creationId xmlns:a16="http://schemas.microsoft.com/office/drawing/2014/main" id="{62097EE5-0F0C-8550-261A-E4A6364A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765122" y="3905971"/>
            <a:ext cx="4609475" cy="11317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3285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731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25013B6-6DF9-D2E9-146C-5430EE8B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0287000" cy="3246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75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“The asset does not decide the category.”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5334A54-573E-52DF-2B3E-399726A8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05300"/>
            <a:ext cx="8001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9"/>
              </a:spcAft>
              <a:buClrTx/>
              <a:buSzTx/>
              <a:buFontTx/>
              <a:buNone/>
              <a:defRPr sz="1275" b="0" u="none">
                <a:solidFill>
                  <a:srgbClr val="F2DE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 u="none" cap="none" spc="0">
                <a:ln>
                  <a:noFill/>
                </a:ln>
                <a:solidFill>
                  <a:srgbClr val="F2DEDA"/>
                </a:solidFill>
                <a:latin typeface="Microsoft YaHei"/>
                <a:ea typeface="Microsoft YaHei"/>
                <a:cs typeface="Microsoft YaHei"/>
              </a:rPr>
              <a:t>Classify by the main purpose and expected payoff basis (预期回报依据).</a:t>
            </a:r>
          </a:p>
        </p:txBody>
      </p:sp>
    </p:spTree>
    <p:extLst>
      <p:ext uri="{BB962C8B-B14F-4D97-AF65-F5344CB8AC3E}">
        <p14:creationId xmlns:p14="http://schemas.microsoft.com/office/powerpoint/2010/main" val="3187861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3C0B2FC-A069-4778-97E8-6A1FB4C9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8334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625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625" b="1" i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Saving prioritises safety and access</a:t>
            </a:r>
          </a:p>
        </p:txBody>
      </p:sp>
      <p:sp>
        <p:nvSpPr>
          <p:cNvPr id="2" name="Rectangle: Rounded Corners 1">
            <a:extLst xmlns:a="http://schemas.openxmlformats.org/drawingml/2006/main">
              <a:ext uri="{FF2B5EF4-FFF2-40B4-BE49-F238E27FC236}">
                <a16:creationId xmlns:a16="http://schemas.microsoft.com/office/drawing/2014/main" id="{0F1BF5C4-7712-4D8A-BEBE-031D023C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2BD2F9-CE61-498F-9A33-0C38BEE6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1125" b="1" i="0" u="none">
                <a:solidFill>
                  <a:srgbClr val="731F1B"/>
                </a:solidFill>
                <a:latin typeface="Arial"/>
                <a:ea typeface="Arial"/>
                <a:cs typeface="Arial"/>
              </a:rPr>
              <a:t>3/3</a:t>
            </a: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7D43F009-87E7-43ED-A969-4CE30A5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619750" cy="4762500"/>
          </a:xfrm>
          <a:prstGeom xmlns:a="http://schemas.openxmlformats.org/drawingml/2006/main" prst="roundRect">
            <a:avLst>
              <a:gd name="adj" fmla="val 255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CF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33" name="ts-progress-10">
            <a:extLst xmlns:a="http://schemas.openxmlformats.org/drawingml/2006/main">
              <a:ext uri="{FF2B5EF4-FFF2-40B4-BE49-F238E27FC236}">
                <a16:creationId xmlns:a16="http://schemas.microsoft.com/office/drawing/2014/main" id="{55CFD5CA-43A5-4049-85E1-C6B7E2E8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ts-progress-active-10">
            <a:extLst xmlns:a="http://schemas.openxmlformats.org/drawingml/2006/main">
              <a:ext uri="{FF2B5EF4-FFF2-40B4-BE49-F238E27FC236}">
                <a16:creationId xmlns:a16="http://schemas.microsoft.com/office/drawing/2014/main" id="{9B6CE430-6251-463C-BEB8-E3E2F3D5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example-text-6-1">
            <a:extLst xmlns:a="http://schemas.openxmlformats.org/drawingml/2006/main">
              <a:ext uri="{FF2B5EF4-FFF2-40B4-BE49-F238E27FC236}">
                <a16:creationId xmlns:a16="http://schemas.microsoft.com/office/drawing/2014/main" id="{66A05310-0720-36F4-B95F-F616EC62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05000"/>
            <a:ext cx="4572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spcAft>
                <a:spcPts val="18"/>
              </a:spcAft>
              <a:buNone/>
              <a:def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Saving (储蓄)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18"/>
              </a:spcAft>
              <a:buNone/>
              <a:def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Current income not spent now.</a:t>
            </a:r>
          </a:p>
          <a:p xmlns:a="http://schemas.openxmlformats.org/drawingml/2006/main">
            <a:pPr marL="24" indent="-14" algn="l">
              <a:lnSpc>
                <a:spcPct val="104000"/>
              </a:lnSpc>
              <a:spcAft>
                <a:spcPts val="10"/>
              </a:spcAft>
              <a:buNone/>
              <a:def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Capital preservation (保本) and liquidity (流动性) matter most.</a:t>
            </a:r>
          </a:p>
          <a:p xmlns:a="http://schemas.openxmlformats.org/drawingml/2006/main">
            <a:pPr marL="24" indent="-14" algn="l">
              <a:lnSpc>
                <a:spcPct val="104000"/>
              </a:lnSpc>
              <a:buNone/>
              <a:def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Interest does not automatically make saving a financial investment.</a:t>
            </a:r>
          </a:p>
        </p:txBody>
      </p:sp>
      <p:sp>
        <p:nvSpPr>
          <p:cNvPr id="36" name="ts-progress-13-1">
            <a:extLst xmlns:a="http://schemas.openxmlformats.org/drawingml/2006/main">
              <a:ext uri="{FF2B5EF4-FFF2-40B4-BE49-F238E27FC236}">
                <a16:creationId xmlns:a16="http://schemas.microsoft.com/office/drawing/2014/main" id="{0ED2EDF3-2B45-47D7-A3A9-BFFB66B4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s-progress-13-2">
            <a:extLst xmlns:a="http://schemas.openxmlformats.org/drawingml/2006/main">
              <a:ext uri="{FF2B5EF4-FFF2-40B4-BE49-F238E27FC236}">
                <a16:creationId xmlns:a16="http://schemas.microsoft.com/office/drawing/2014/main" id="{02F45656-D3D4-478A-A5FB-15C89FE0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s-progress-13-3">
            <a:extLst xmlns:a="http://schemas.openxmlformats.org/drawingml/2006/main">
              <a:ext uri="{FF2B5EF4-FFF2-40B4-BE49-F238E27FC236}">
                <a16:creationId xmlns:a16="http://schemas.microsoft.com/office/drawing/2014/main" id="{4596B47C-AAB7-4A5F-945D-69739532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s-progress-13-4">
            <a:extLst xmlns:a="http://schemas.openxmlformats.org/drawingml/2006/main">
              <a:ext uri="{FF2B5EF4-FFF2-40B4-BE49-F238E27FC236}">
                <a16:creationId xmlns:a16="http://schemas.microsoft.com/office/drawing/2014/main" id="{E332935D-91AB-4D38-98A3-807C3C7B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s-progress-13-5">
            <a:extLst xmlns:a="http://schemas.openxmlformats.org/drawingml/2006/main">
              <a:ext uri="{FF2B5EF4-FFF2-40B4-BE49-F238E27FC236}">
                <a16:creationId xmlns:a16="http://schemas.microsoft.com/office/drawing/2014/main" id="{47A8B711-09A7-44F9-922F-725C9C96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s-progress-13-6">
            <a:extLst xmlns:a="http://schemas.openxmlformats.org/drawingml/2006/main">
              <a:ext uri="{FF2B5EF4-FFF2-40B4-BE49-F238E27FC236}">
                <a16:creationId xmlns:a16="http://schemas.microsoft.com/office/drawing/2014/main" id="{5DFDFB7B-DB0C-4BF4-8C2F-BED97EAA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s-progress-13-7">
            <a:extLst xmlns:a="http://schemas.openxmlformats.org/drawingml/2006/main">
              <a:ext uri="{FF2B5EF4-FFF2-40B4-BE49-F238E27FC236}">
                <a16:creationId xmlns:a16="http://schemas.microsoft.com/office/drawing/2014/main" id="{0E33F067-7073-474B-95DD-EBF2B851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s-progress-13-8">
            <a:extLst xmlns:a="http://schemas.openxmlformats.org/drawingml/2006/main">
              <a:ext uri="{FF2B5EF4-FFF2-40B4-BE49-F238E27FC236}">
                <a16:creationId xmlns:a16="http://schemas.microsoft.com/office/drawing/2014/main" id="{73BA0048-7A89-48ED-B927-241FDEE9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952500"/>
            <a:ext cx="238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1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294da82cc44f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xmlns:a="http://schemas.openxmlformats.org/drawingml/2006/main" l="50261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8CD97EE-BE56-BFF1-AB8A-441A3F39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436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 u="none">
                <a:solidFill>
                  <a:srgbClr val="5A5350"/>
                </a:solidFill>
                <a:latin typeface="Arial"/>
                <a:ea typeface="Arial"/>
                <a:cs typeface="Arial"/>
              </a:defRPr>
            </a:pPr>
            <a:r>
              <a:rPr sz="900" b="0" i="1" u="none">
                <a:solidFill>
                  <a:srgbClr val="5A5350"/>
                </a:solidFill>
                <a:latin typeface="Arial"/>
                <a:ea typeface="Arial"/>
                <a:cs typeface="Arial"/>
              </a:rPr>
              <a:t>Photo: Investment Analysis visual archive.</a:t>
            </a:r>
            <a:endParaRPr i="1"/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fb83f65eb4604"/>
          <a:srcRect xmlns:a="http://schemas.openxmlformats.org/drawingml/2006/main" l="0" t="8031" r="0" b="80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8198" y="1390650"/>
            <a:ext cx="3782554" cy="47625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083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E34E12-6B44-42D1-B9BC-AC0137B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858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1B18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CC38C4-6606-42C2-9906-A10101F1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1200" b="1" i="0" u="none">
                <a:solidFill>
                  <a:srgbClr val="731F1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652947-6A33-40B0-A333-DF71682F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775" b="1" i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What is the money mainly for?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DF8E12-A934-4C47-A97B-417FBDF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7243"/>
            <a:ext cx="1009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2775" b="1" i="0" u="none">
                <a:solidFill>
                  <a:srgbClr val="731F1B"/>
                </a:solidFill>
                <a:latin typeface="Arial"/>
                <a:ea typeface="Arial"/>
                <a:cs typeface="Arial"/>
              </a:rPr>
              <a:t>Where should the payoff come from?</a:t>
            </a:r>
            <a:endParaRPr sz="4350" b="1" i="0">
              <a:solidFill>
                <a:srgbClr val="661B1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F4FBC13-276D-4186-A737-B40041F1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75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775" b="1" i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How important are safety and ready access?</a:t>
            </a:r>
          </a:p>
        </p:txBody>
      </p:sp>
      <p:sp>
        <p:nvSpPr>
          <p:cNvPr id="14" name="opening-accent-3">
            <a:extLst xmlns:a="http://schemas.openxmlformats.org/drawingml/2006/main">
              <a:ext uri="{FF2B5EF4-FFF2-40B4-BE49-F238E27FC236}">
                <a16:creationId xmlns:a16="http://schemas.microsoft.com/office/drawing/2014/main" id="{446BD325-F0C4-4B23-ADA8-B974A8F8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76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92616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731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64e3536f640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57200"/>
            <a:ext cx="781050" cy="781050"/>
          </a:xfrm>
          <a:prstGeom xmlns:a="http://schemas.openxmlformats.org/drawingml/2006/main" prst="ellipse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9360A5-022D-49E4-B034-6E64664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775" b="1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classifier: decide, defend, record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85A1AC78-B2CE-4BD3-9DE1-86C1F329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22F4103-80AF-4706-B6B7-97607281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731F1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170E1BB-8AC0-4281-BE4B-03BD8EC5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813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Use handout rows 4–13.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Classify silently: investment, speculation or saving.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041AC34-D746-4D7C-8D41-56A61F0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F9FC2A2-1B69-4F4A-8184-6C559AF5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731F1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857B46D-A094-46F9-BB59-BF144708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48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Resolve one disagreement.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 one boundary rule + one evidence row.</a:t>
            </a:r>
          </a:p>
        </p:txBody>
      </p:sp>
    </p:spTree>
    <p:extLst>
      <p:ext uri="{BB962C8B-B14F-4D97-AF65-F5344CB8AC3E}">
        <p14:creationId xmlns:p14="http://schemas.microsoft.com/office/powerpoint/2010/main" val="5645210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731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C2CF28C-D988-4DBD-A990-7AEB96C4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48000"/>
            <a:ext cx="8801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B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ef656a53041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57200"/>
            <a:ext cx="781050" cy="781050"/>
          </a:xfrm>
          <a:prstGeom xmlns:a="http://schemas.openxmlformats.org/drawingml/2006/main" prst="ellipse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9360A5-022D-49E4-B034-6E64664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 b="1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the pattern—not the asset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85A1AC78-B2CE-4BD3-9DE1-86C1F329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22F4103-80AF-4706-B6B7-97607281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731F1B"/>
                </a:solidFill>
                <a:latin typeface="Arial"/>
                <a:ea typeface="Arial"/>
                <a:cs typeface="Arial"/>
              </a:rPr>
              <a:t>INV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170E1BB-8AC0-4281-BE4B-03BD8EC5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238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12"/>
              </a:spcAft>
              <a:buClrTx/>
              <a:buSzTx/>
              <a:buFontTx/>
              <a:buNone/>
              <a:defRPr sz="1575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INVESTMENT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8"/>
              </a:spcAft>
              <a:buClrTx/>
              <a:buSzTx/>
              <a:buFontTx/>
              <a:buNone/>
              <a:defRPr sz="1575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Amina · Chloe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Eva · George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041AC34-D746-4D7C-8D41-56A61F0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7B7"/>
          </a:solidFill>
          <a:ln xmlns:a="http://schemas.openxmlformats.org/drawingml/2006/main" w="9525">
            <a:solidFill>
              <a:srgbClr val="2EB7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F9FC2A2-1B69-4F4A-8184-6C559AF5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857B46D-A094-46F9-BB59-BF144708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3238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12"/>
              </a:spcAft>
              <a:buClrTx/>
              <a:buSzTx/>
              <a:buFontTx/>
              <a:buNone/>
              <a:defRPr sz="1575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SPECULATION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8"/>
              </a:spcAft>
              <a:buClrTx/>
              <a:buSzTx/>
              <a:buFontTx/>
              <a:buNone/>
              <a:defRPr sz="1575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Bao · Hadi · Iris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33F747BF-FAEA-7BE5-47B0-715564A1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4C4A071-0522-AFBE-A7D2-F1816F7B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028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25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1725" b="1" i="0" u="none" cap="none" spc="0">
                <a:ln>
                  <a:noFill/>
                </a:ln>
                <a:solidFill>
                  <a:srgbClr val="731F1B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EA94408-2119-E290-C210-F82BB207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3238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12"/>
              </a:spcAft>
              <a:buClrTx/>
              <a:buSzTx/>
              <a:buFontTx/>
              <a:buNone/>
              <a:defRPr sz="1575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SAVING</a:t>
            </a:r>
          </a:p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8"/>
              </a:spcAft>
              <a:buClrTx/>
              <a:buSzTx/>
              <a:buFontTx/>
              <a:buNone/>
              <a:defRPr sz="1575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Daniel · Farah · Jun</a:t>
            </a:r>
          </a:p>
        </p:txBody>
      </p:sp>
    </p:spTree>
    <p:extLst>
      <p:ext uri="{BB962C8B-B14F-4D97-AF65-F5344CB8AC3E}">
        <p14:creationId xmlns:p14="http://schemas.microsoft.com/office/powerpoint/2010/main" val="25559752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s-overview-title">
            <a:extLst xmlns:a="http://schemas.openxmlformats.org/drawingml/2006/main">
              <a:ext uri="{FF2B5EF4-FFF2-40B4-BE49-F238E27FC236}">
                <a16:creationId xmlns:a16="http://schemas.microsoft.com/office/drawing/2014/main" id="{D11C19CD-4710-45F6-93FF-36F598FD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700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700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Same shares. Different categories. Why?</a:t>
            </a:r>
          </a:p>
        </p:txBody>
      </p:sp>
      <p:sp>
        <p:nvSpPr>
          <p:cNvPr id="3" name="ts-overview-title-rule">
            <a:extLst xmlns:a="http://schemas.openxmlformats.org/drawingml/2006/main">
              <a:ext uri="{FF2B5EF4-FFF2-40B4-BE49-F238E27FC236}">
                <a16:creationId xmlns:a16="http://schemas.microsoft.com/office/drawing/2014/main" id="{54657DD4-8CFD-4244-A4AE-C8E845ED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solidFill>
              <a:srgbClr val="731F1B"/>
            </a:solidFill>
            <a:prstDash val="solid"/>
          </a:ln>
        </p:spPr>
      </p:sp>
      <p:sp>
        <p:nvSpPr>
          <p:cNvPr id="4" name="ts-overview-box-1">
            <a:extLst xmlns:a="http://schemas.openxmlformats.org/drawingml/2006/main">
              <a:ext uri="{FF2B5EF4-FFF2-40B4-BE49-F238E27FC236}">
                <a16:creationId xmlns:a16="http://schemas.microsoft.com/office/drawing/2014/main" id="{F2047D30-5D90-4A4B-BE7C-6F78A519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5" name="ts-overview-accent-1">
            <a:extLst xmlns:a="http://schemas.openxmlformats.org/drawingml/2006/main">
              <a:ext uri="{FF2B5EF4-FFF2-40B4-BE49-F238E27FC236}">
                <a16:creationId xmlns:a16="http://schemas.microsoft.com/office/drawing/2014/main" id="{E5A95E4B-6D5E-4463-A92F-499BCD62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s-overview-number-1">
            <a:extLst xmlns:a="http://schemas.openxmlformats.org/drawingml/2006/main">
              <a:ext uri="{FF2B5EF4-FFF2-40B4-BE49-F238E27FC236}">
                <a16:creationId xmlns:a16="http://schemas.microsoft.com/office/drawing/2014/main" id="{9719048A-CE35-4C09-87EB-006B35C2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ts-overview-label-1">
            <a:extLst xmlns:a="http://schemas.openxmlformats.org/drawingml/2006/main">
              <a:ext uri="{FF2B5EF4-FFF2-40B4-BE49-F238E27FC236}">
                <a16:creationId xmlns:a16="http://schemas.microsoft.com/office/drawing/2014/main" id="{AAC94DAA-76F8-4993-A882-3F9A97F9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1430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The asset name decides.</a:t>
            </a:r>
          </a:p>
        </p:txBody>
      </p:sp>
      <p:sp>
        <p:nvSpPr>
          <p:cNvPr id="8" name="ts-overview-box-2">
            <a:extLst xmlns:a="http://schemas.openxmlformats.org/drawingml/2006/main">
              <a:ext uri="{FF2B5EF4-FFF2-40B4-BE49-F238E27FC236}">
                <a16:creationId xmlns:a16="http://schemas.microsoft.com/office/drawing/2014/main" id="{3E7F38E8-BDD9-4002-B84A-FDD97E0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9" name="ts-overview-accent-2">
            <a:extLst xmlns:a="http://schemas.openxmlformats.org/drawingml/2006/main">
              <a:ext uri="{FF2B5EF4-FFF2-40B4-BE49-F238E27FC236}">
                <a16:creationId xmlns:a16="http://schemas.microsoft.com/office/drawing/2014/main" id="{BF361100-95AC-4C66-B94F-32FA243B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s-overview-number-2">
            <a:extLst xmlns:a="http://schemas.openxmlformats.org/drawingml/2006/main">
              <a:ext uri="{FF2B5EF4-FFF2-40B4-BE49-F238E27FC236}">
                <a16:creationId xmlns:a16="http://schemas.microsoft.com/office/drawing/2014/main" id="{097A83E8-F536-407A-92A8-7E53CBD0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" name="ts-overview-label-2">
            <a:extLst xmlns:a="http://schemas.openxmlformats.org/drawingml/2006/main">
              <a:ext uri="{FF2B5EF4-FFF2-40B4-BE49-F238E27FC236}">
                <a16:creationId xmlns:a16="http://schemas.microsoft.com/office/drawing/2014/main" id="{532EE230-F7A6-451C-B032-098B8679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384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A higher purchase price means speculation.</a:t>
            </a:r>
          </a:p>
        </p:txBody>
      </p:sp>
      <p:sp>
        <p:nvSpPr>
          <p:cNvPr id="12" name="ts-overview-box-3">
            <a:extLst xmlns:a="http://schemas.openxmlformats.org/drawingml/2006/main">
              <a:ext uri="{FF2B5EF4-FFF2-40B4-BE49-F238E27FC236}">
                <a16:creationId xmlns:a16="http://schemas.microsoft.com/office/drawing/2014/main" id="{D994ABED-1AB2-4278-A046-91C7638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s-overview-accent-3">
            <a:extLst xmlns:a="http://schemas.openxmlformats.org/drawingml/2006/main">
              <a:ext uri="{FF2B5EF4-FFF2-40B4-BE49-F238E27FC236}">
                <a16:creationId xmlns:a16="http://schemas.microsoft.com/office/drawing/2014/main" id="{7F731975-3942-41F5-B01C-A04B4A9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ts-overview-number-3">
            <a:extLst xmlns:a="http://schemas.openxmlformats.org/drawingml/2006/main">
              <a:ext uri="{FF2B5EF4-FFF2-40B4-BE49-F238E27FC236}">
                <a16:creationId xmlns:a16="http://schemas.microsoft.com/office/drawing/2014/main" id="{39E2EE0C-565C-4569-9B57-CDA82223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ts-overview-label-3">
            <a:extLst xmlns:a="http://schemas.openxmlformats.org/drawingml/2006/main">
              <a:ext uri="{FF2B5EF4-FFF2-40B4-BE49-F238E27FC236}">
                <a16:creationId xmlns:a16="http://schemas.microsoft.com/office/drawing/2014/main" id="{63E1345A-9187-4403-8451-1560D6B9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ts-overview-box-4">
            <a:extLst xmlns:a="http://schemas.openxmlformats.org/drawingml/2006/main">
              <a:ext uri="{FF2B5EF4-FFF2-40B4-BE49-F238E27FC236}">
                <a16:creationId xmlns:a16="http://schemas.microsoft.com/office/drawing/2014/main" id="{F75516CB-92D1-4788-BDD2-061D2C1B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ts-overview-accent-4">
            <a:extLst xmlns:a="http://schemas.openxmlformats.org/drawingml/2006/main">
              <a:ext uri="{FF2B5EF4-FFF2-40B4-BE49-F238E27FC236}">
                <a16:creationId xmlns:a16="http://schemas.microsoft.com/office/drawing/2014/main" id="{BA3D2E04-919C-4A82-A019-A5299B75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ts-overview-number-4">
            <a:extLst xmlns:a="http://schemas.openxmlformats.org/drawingml/2006/main">
              <a:ext uri="{FF2B5EF4-FFF2-40B4-BE49-F238E27FC236}">
                <a16:creationId xmlns:a16="http://schemas.microsoft.com/office/drawing/2014/main" id="{A429C958-E24B-45BD-9822-F0057E81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ts-overview-label-4">
            <a:extLst xmlns:a="http://schemas.openxmlformats.org/drawingml/2006/main">
              <a:ext uri="{FF2B5EF4-FFF2-40B4-BE49-F238E27FC236}">
                <a16:creationId xmlns:a16="http://schemas.microsoft.com/office/drawing/2014/main" id="{BAD07ACA-0E25-4141-B66B-5873054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292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0" name="ts-overview-box-5">
            <a:extLst xmlns:a="http://schemas.openxmlformats.org/drawingml/2006/main">
              <a:ext uri="{FF2B5EF4-FFF2-40B4-BE49-F238E27FC236}">
                <a16:creationId xmlns:a16="http://schemas.microsoft.com/office/drawing/2014/main" id="{422BA327-35CC-4625-9694-509E5631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668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21" name="ts-overview-accent-5">
            <a:extLst xmlns:a="http://schemas.openxmlformats.org/drawingml/2006/main">
              <a:ext uri="{FF2B5EF4-FFF2-40B4-BE49-F238E27FC236}">
                <a16:creationId xmlns:a16="http://schemas.microsoft.com/office/drawing/2014/main" id="{8D74E557-E367-4D3F-AAFF-C9A4326B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s-overview-number-5">
            <a:extLst xmlns:a="http://schemas.openxmlformats.org/drawingml/2006/main">
              <a:ext uri="{FF2B5EF4-FFF2-40B4-BE49-F238E27FC236}">
                <a16:creationId xmlns:a16="http://schemas.microsoft.com/office/drawing/2014/main" id="{22A782B4-EBE1-42A1-8922-A790885C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ts-overview-label-5">
            <a:extLst xmlns:a="http://schemas.openxmlformats.org/drawingml/2006/main">
              <a:ext uri="{FF2B5EF4-FFF2-40B4-BE49-F238E27FC236}">
                <a16:creationId xmlns:a16="http://schemas.microsoft.com/office/drawing/2014/main" id="{7CAD1088-E897-44DB-949E-3DFC9058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1430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Their expected payoff basis (预期回报依据) can differ.</a:t>
            </a:r>
          </a:p>
        </p:txBody>
      </p:sp>
      <p:sp>
        <p:nvSpPr>
          <p:cNvPr id="24" name="ts-overview-box-6">
            <a:extLst xmlns:a="http://schemas.openxmlformats.org/drawingml/2006/main">
              <a:ext uri="{FF2B5EF4-FFF2-40B4-BE49-F238E27FC236}">
                <a16:creationId xmlns:a16="http://schemas.microsoft.com/office/drawing/2014/main" id="{D5862F73-FEB9-4FFB-AB33-B684042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25" name="ts-overview-accent-6">
            <a:extLst xmlns:a="http://schemas.openxmlformats.org/drawingml/2006/main">
              <a:ext uri="{FF2B5EF4-FFF2-40B4-BE49-F238E27FC236}">
                <a16:creationId xmlns:a16="http://schemas.microsoft.com/office/drawing/2014/main" id="{5F33E03F-29C9-4128-9925-A059F4CE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s-overview-number-6">
            <a:extLst xmlns:a="http://schemas.openxmlformats.org/drawingml/2006/main">
              <a:ext uri="{FF2B5EF4-FFF2-40B4-BE49-F238E27FC236}">
                <a16:creationId xmlns:a16="http://schemas.microsoft.com/office/drawing/2014/main" id="{EF2F22C6-AF38-4888-B228-AC9DD0CC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7" name="ts-overview-label-6">
            <a:extLst xmlns:a="http://schemas.openxmlformats.org/drawingml/2006/main">
              <a:ext uri="{FF2B5EF4-FFF2-40B4-BE49-F238E27FC236}">
                <a16:creationId xmlns:a16="http://schemas.microsoft.com/office/drawing/2014/main" id="{CD6CE4BC-A719-40D8-957E-BD37B51A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A shorter holding period (持有期) is always speculation.</a:t>
            </a:r>
          </a:p>
        </p:txBody>
      </p:sp>
      <p:sp>
        <p:nvSpPr>
          <p:cNvPr id="28" name="ts-overview-box-7">
            <a:extLst xmlns:a="http://schemas.openxmlformats.org/drawingml/2006/main">
              <a:ext uri="{FF2B5EF4-FFF2-40B4-BE49-F238E27FC236}">
                <a16:creationId xmlns:a16="http://schemas.microsoft.com/office/drawing/2014/main" id="{EBDCAE40-E9FE-4225-A732-F335A56C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ts-overview-accent-7">
            <a:extLst xmlns:a="http://schemas.openxmlformats.org/drawingml/2006/main">
              <a:ext uri="{FF2B5EF4-FFF2-40B4-BE49-F238E27FC236}">
                <a16:creationId xmlns:a16="http://schemas.microsoft.com/office/drawing/2014/main" id="{BBDFB1BF-90BE-46EC-A884-72615A7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ts-overview-number-7">
            <a:extLst xmlns:a="http://schemas.openxmlformats.org/drawingml/2006/main">
              <a:ext uri="{FF2B5EF4-FFF2-40B4-BE49-F238E27FC236}">
                <a16:creationId xmlns:a16="http://schemas.microsoft.com/office/drawing/2014/main" id="{20643632-E77E-4985-9108-567BCBD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" name="ts-overview-label-7">
            <a:extLst xmlns:a="http://schemas.openxmlformats.org/drawingml/2006/main">
              <a:ext uri="{FF2B5EF4-FFF2-40B4-BE49-F238E27FC236}">
                <a16:creationId xmlns:a16="http://schemas.microsoft.com/office/drawing/2014/main" id="{A00B9FB3-AED6-4860-A5A5-28BBD7F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2" name="ts-overview-box-8">
            <a:extLst xmlns:a="http://schemas.openxmlformats.org/drawingml/2006/main">
              <a:ext uri="{FF2B5EF4-FFF2-40B4-BE49-F238E27FC236}">
                <a16:creationId xmlns:a16="http://schemas.microsoft.com/office/drawing/2014/main" id="{DBBF2D5F-A903-498D-BC60-08F572EB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ts-overview-accent-8">
            <a:extLst xmlns:a="http://schemas.openxmlformats.org/drawingml/2006/main">
              <a:ext uri="{FF2B5EF4-FFF2-40B4-BE49-F238E27FC236}">
                <a16:creationId xmlns:a16="http://schemas.microsoft.com/office/drawing/2014/main" id="{3D09551C-1243-47E6-86A3-58198E18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ts-overview-number-8">
            <a:extLst xmlns:a="http://schemas.openxmlformats.org/drawingml/2006/main">
              <a:ext uri="{FF2B5EF4-FFF2-40B4-BE49-F238E27FC236}">
                <a16:creationId xmlns:a16="http://schemas.microsoft.com/office/drawing/2014/main" id="{18B266AC-967B-4BC9-8FC5-AEDB7887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38750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5" name="ts-overview-label-8">
            <a:extLst xmlns:a="http://schemas.openxmlformats.org/drawingml/2006/main">
              <a:ext uri="{FF2B5EF4-FFF2-40B4-BE49-F238E27FC236}">
                <a16:creationId xmlns:a16="http://schemas.microsoft.com/office/drawing/2014/main" id="{F4617A38-9500-490A-94D7-D5021C9B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292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E63579F-4E0F-8C6D-AA34-E955C75D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356350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u="none">
                <a:solidFill>
                  <a:srgbClr val="5A5350"/>
                </a:solidFill>
                <a:latin typeface="Arial"/>
                <a:ea typeface="Arial"/>
                <a:cs typeface="Arial"/>
              </a:defRPr>
            </a:pPr>
            <a:r>
              <a:rPr sz="975" b="0" i="1" u="none">
                <a:solidFill>
                  <a:srgbClr val="5A5350"/>
                </a:solidFill>
                <a:latin typeface="Arial"/>
                <a:ea typeface="Arial"/>
                <a:cs typeface="Arial"/>
              </a:rPr>
              <a:t>Vote first. Then explain one rejected option.</a:t>
            </a:r>
            <a:endParaRPr i="1"/>
          </a:p>
        </p:txBody>
      </p:sp>
    </p:spTree>
    <p:extLst>
      <p:ext uri="{BB962C8B-B14F-4D97-AF65-F5344CB8AC3E}">
        <p14:creationId xmlns:p14="http://schemas.microsoft.com/office/powerpoint/2010/main" val="27814369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s-overview-title">
            <a:extLst xmlns:a="http://schemas.openxmlformats.org/drawingml/2006/main">
              <a:ext uri="{FF2B5EF4-FFF2-40B4-BE49-F238E27FC236}">
                <a16:creationId xmlns:a16="http://schemas.microsoft.com/office/drawing/2014/main" id="{D11C19CD-4710-45F6-93FF-36F598FD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32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32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Answer: C — expected payoff bases can differ</a:t>
            </a:r>
          </a:p>
        </p:txBody>
      </p:sp>
      <p:sp>
        <p:nvSpPr>
          <p:cNvPr id="3" name="ts-overview-title-rule">
            <a:extLst xmlns:a="http://schemas.openxmlformats.org/drawingml/2006/main">
              <a:ext uri="{FF2B5EF4-FFF2-40B4-BE49-F238E27FC236}">
                <a16:creationId xmlns:a16="http://schemas.microsoft.com/office/drawing/2014/main" id="{54657DD4-8CFD-4244-A4AE-C8E845ED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solidFill>
              <a:srgbClr val="731F1B"/>
            </a:solidFill>
            <a:prstDash val="solid"/>
          </a:ln>
        </p:spPr>
      </p:sp>
      <p:sp>
        <p:nvSpPr>
          <p:cNvPr id="4" name="ts-overview-box-1">
            <a:extLst xmlns:a="http://schemas.openxmlformats.org/drawingml/2006/main">
              <a:ext uri="{FF2B5EF4-FFF2-40B4-BE49-F238E27FC236}">
                <a16:creationId xmlns:a16="http://schemas.microsoft.com/office/drawing/2014/main" id="{F2047D30-5D90-4A4B-BE7C-6F78A519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5" name="ts-overview-accent-1">
            <a:extLst xmlns:a="http://schemas.openxmlformats.org/drawingml/2006/main">
              <a:ext uri="{FF2B5EF4-FFF2-40B4-BE49-F238E27FC236}">
                <a16:creationId xmlns:a16="http://schemas.microsoft.com/office/drawing/2014/main" id="{E5A95E4B-6D5E-4463-A92F-499BCD62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s-overview-number-1">
            <a:extLst xmlns:a="http://schemas.openxmlformats.org/drawingml/2006/main">
              <a:ext uri="{FF2B5EF4-FFF2-40B4-BE49-F238E27FC236}">
                <a16:creationId xmlns:a16="http://schemas.microsoft.com/office/drawing/2014/main" id="{9719048A-CE35-4C09-87EB-006B35C2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ts-overview-label-1">
            <a:extLst xmlns:a="http://schemas.openxmlformats.org/drawingml/2006/main">
              <a:ext uri="{FF2B5EF4-FFF2-40B4-BE49-F238E27FC236}">
                <a16:creationId xmlns:a16="http://schemas.microsoft.com/office/drawing/2014/main" id="{AAC94DAA-76F8-4993-A882-3F9A97F9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1430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The asset name decides.</a:t>
            </a:r>
          </a:p>
        </p:txBody>
      </p:sp>
      <p:sp>
        <p:nvSpPr>
          <p:cNvPr id="8" name="ts-overview-box-2">
            <a:extLst xmlns:a="http://schemas.openxmlformats.org/drawingml/2006/main">
              <a:ext uri="{FF2B5EF4-FFF2-40B4-BE49-F238E27FC236}">
                <a16:creationId xmlns:a16="http://schemas.microsoft.com/office/drawing/2014/main" id="{3E7F38E8-BDD9-4002-B84A-FDD97E0F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9" name="ts-overview-accent-2">
            <a:extLst xmlns:a="http://schemas.openxmlformats.org/drawingml/2006/main">
              <a:ext uri="{FF2B5EF4-FFF2-40B4-BE49-F238E27FC236}">
                <a16:creationId xmlns:a16="http://schemas.microsoft.com/office/drawing/2014/main" id="{BF361100-95AC-4C66-B94F-32FA243B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s-overview-number-2">
            <a:extLst xmlns:a="http://schemas.openxmlformats.org/drawingml/2006/main">
              <a:ext uri="{FF2B5EF4-FFF2-40B4-BE49-F238E27FC236}">
                <a16:creationId xmlns:a16="http://schemas.microsoft.com/office/drawing/2014/main" id="{097A83E8-F536-407A-92A8-7E53CBD0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" name="ts-overview-label-2">
            <a:extLst xmlns:a="http://schemas.openxmlformats.org/drawingml/2006/main">
              <a:ext uri="{FF2B5EF4-FFF2-40B4-BE49-F238E27FC236}">
                <a16:creationId xmlns:a16="http://schemas.microsoft.com/office/drawing/2014/main" id="{532EE230-F7A6-451C-B032-098B8679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384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>A higher purchase price means speculation.</a:t>
            </a:r>
          </a:p>
        </p:txBody>
      </p:sp>
      <p:sp>
        <p:nvSpPr>
          <p:cNvPr id="12" name="ts-overview-box-3">
            <a:extLst xmlns:a="http://schemas.openxmlformats.org/drawingml/2006/main">
              <a:ext uri="{FF2B5EF4-FFF2-40B4-BE49-F238E27FC236}">
                <a16:creationId xmlns:a16="http://schemas.microsoft.com/office/drawing/2014/main" id="{D994ABED-1AB2-4278-A046-91C7638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s-overview-accent-3">
            <a:extLst xmlns:a="http://schemas.openxmlformats.org/drawingml/2006/main">
              <a:ext uri="{FF2B5EF4-FFF2-40B4-BE49-F238E27FC236}">
                <a16:creationId xmlns:a16="http://schemas.microsoft.com/office/drawing/2014/main" id="{7F731975-3942-41F5-B01C-A04B4A9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ts-overview-number-3">
            <a:extLst xmlns:a="http://schemas.openxmlformats.org/drawingml/2006/main">
              <a:ext uri="{FF2B5EF4-FFF2-40B4-BE49-F238E27FC236}">
                <a16:creationId xmlns:a16="http://schemas.microsoft.com/office/drawing/2014/main" id="{39E2EE0C-565C-4569-9B57-CDA82223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5" name="ts-overview-label-3">
            <a:extLst xmlns:a="http://schemas.openxmlformats.org/drawingml/2006/main">
              <a:ext uri="{FF2B5EF4-FFF2-40B4-BE49-F238E27FC236}">
                <a16:creationId xmlns:a16="http://schemas.microsoft.com/office/drawing/2014/main" id="{63E1345A-9187-4403-8451-1560D6B9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ts-overview-box-4">
            <a:extLst xmlns:a="http://schemas.openxmlformats.org/drawingml/2006/main">
              <a:ext uri="{FF2B5EF4-FFF2-40B4-BE49-F238E27FC236}">
                <a16:creationId xmlns:a16="http://schemas.microsoft.com/office/drawing/2014/main" id="{F75516CB-92D1-4788-BDD2-061D2C1B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ts-overview-accent-4">
            <a:extLst xmlns:a="http://schemas.openxmlformats.org/drawingml/2006/main">
              <a:ext uri="{FF2B5EF4-FFF2-40B4-BE49-F238E27FC236}">
                <a16:creationId xmlns:a16="http://schemas.microsoft.com/office/drawing/2014/main" id="{BA3D2E04-919C-4A82-A019-A5299B75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ts-overview-number-4">
            <a:extLst xmlns:a="http://schemas.openxmlformats.org/drawingml/2006/main">
              <a:ext uri="{FF2B5EF4-FFF2-40B4-BE49-F238E27FC236}">
                <a16:creationId xmlns:a16="http://schemas.microsoft.com/office/drawing/2014/main" id="{A429C958-E24B-45BD-9822-F0057E81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9" name="ts-overview-label-4">
            <a:extLst xmlns:a="http://schemas.openxmlformats.org/drawingml/2006/main">
              <a:ext uri="{FF2B5EF4-FFF2-40B4-BE49-F238E27FC236}">
                <a16:creationId xmlns:a16="http://schemas.microsoft.com/office/drawing/2014/main" id="{BAD07ACA-0E25-4141-B66B-5873054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292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0" name="ts-overview-box-5">
            <a:extLst xmlns:a="http://schemas.openxmlformats.org/drawingml/2006/main">
              <a:ext uri="{FF2B5EF4-FFF2-40B4-BE49-F238E27FC236}">
                <a16:creationId xmlns:a16="http://schemas.microsoft.com/office/drawing/2014/main" id="{422BA327-35CC-4625-9694-509E5631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668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2DE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21" name="ts-overview-accent-5">
            <a:extLst xmlns:a="http://schemas.openxmlformats.org/drawingml/2006/main">
              <a:ext uri="{FF2B5EF4-FFF2-40B4-BE49-F238E27FC236}">
                <a16:creationId xmlns:a16="http://schemas.microsoft.com/office/drawing/2014/main" id="{8D74E557-E367-4D3F-AAFF-C9A4326B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s-overview-number-5">
            <a:extLst xmlns:a="http://schemas.openxmlformats.org/drawingml/2006/main">
              <a:ext uri="{FF2B5EF4-FFF2-40B4-BE49-F238E27FC236}">
                <a16:creationId xmlns:a16="http://schemas.microsoft.com/office/drawing/2014/main" id="{22A782B4-EBE1-42A1-8922-A790885C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ts-overview-label-5">
            <a:extLst xmlns:a="http://schemas.openxmlformats.org/drawingml/2006/main">
              <a:ext uri="{FF2B5EF4-FFF2-40B4-BE49-F238E27FC236}">
                <a16:creationId xmlns:a16="http://schemas.microsoft.com/office/drawing/2014/main" id="{7CAD1088-E897-44DB-949E-3DFC9058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1430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75" b="1" u="none">
                <a:solidFill>
                  <a:srgbClr val="731F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u="none" cap="none" spc="0">
                <a:ln>
                  <a:noFill/>
                </a:ln>
                <a:solidFill>
                  <a:srgbClr val="731F1B"/>
                </a:solidFill>
                <a:latin typeface="Microsoft YaHei"/>
                <a:ea typeface="Microsoft YaHei"/>
                <a:cs typeface="Microsoft YaHei"/>
              </a:rPr>
              <a:t>Their expected payoff basis (预期回报依据) can differ.</a:t>
            </a:r>
          </a:p>
        </p:txBody>
      </p:sp>
      <p:sp>
        <p:nvSpPr>
          <p:cNvPr id="24" name="ts-overview-box-6">
            <a:extLst xmlns:a="http://schemas.openxmlformats.org/drawingml/2006/main">
              <a:ext uri="{FF2B5EF4-FFF2-40B4-BE49-F238E27FC236}">
                <a16:creationId xmlns:a16="http://schemas.microsoft.com/office/drawing/2014/main" id="{D5862F73-FEB9-4FFB-AB33-B684042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25" name="ts-overview-accent-6">
            <a:extLst xmlns:a="http://schemas.openxmlformats.org/drawingml/2006/main">
              <a:ext uri="{FF2B5EF4-FFF2-40B4-BE49-F238E27FC236}">
                <a16:creationId xmlns:a16="http://schemas.microsoft.com/office/drawing/2014/main" id="{5F33E03F-29C9-4128-9925-A059F4CE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s-overview-number-6">
            <a:extLst xmlns:a="http://schemas.openxmlformats.org/drawingml/2006/main">
              <a:ext uri="{FF2B5EF4-FFF2-40B4-BE49-F238E27FC236}">
                <a16:creationId xmlns:a16="http://schemas.microsoft.com/office/drawing/2014/main" id="{EF2F22C6-AF38-4888-B228-AC9DD0CC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479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7" name="ts-overview-label-6">
            <a:extLst xmlns:a="http://schemas.openxmlformats.org/drawingml/2006/main">
              <a:ext uri="{FF2B5EF4-FFF2-40B4-BE49-F238E27FC236}">
                <a16:creationId xmlns:a16="http://schemas.microsoft.com/office/drawing/2014/main" id="{CD6CE4BC-A719-40D8-957E-BD37B51A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384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350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 u="none" cap="none" spc="0">
                <a:ln>
                  <a:noFill/>
                </a:ln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A shorter holding period (持有期) is always speculation.</a:t>
            </a:r>
          </a:p>
        </p:txBody>
      </p:sp>
      <p:sp>
        <p:nvSpPr>
          <p:cNvPr id="28" name="ts-overview-box-7">
            <a:extLst xmlns:a="http://schemas.openxmlformats.org/drawingml/2006/main">
              <a:ext uri="{FF2B5EF4-FFF2-40B4-BE49-F238E27FC236}">
                <a16:creationId xmlns:a16="http://schemas.microsoft.com/office/drawing/2014/main" id="{EBDCAE40-E9FE-4225-A732-F335A56C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ts-overview-accent-7">
            <a:extLst xmlns:a="http://schemas.openxmlformats.org/drawingml/2006/main">
              <a:ext uri="{FF2B5EF4-FFF2-40B4-BE49-F238E27FC236}">
                <a16:creationId xmlns:a16="http://schemas.microsoft.com/office/drawing/2014/main" id="{BBDFB1BF-90BE-46EC-A884-72615A7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ts-overview-number-7">
            <a:extLst xmlns:a="http://schemas.openxmlformats.org/drawingml/2006/main">
              <a:ext uri="{FF2B5EF4-FFF2-40B4-BE49-F238E27FC236}">
                <a16:creationId xmlns:a16="http://schemas.microsoft.com/office/drawing/2014/main" id="{20643632-E77E-4985-9108-567BCBD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43350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1" name="ts-overview-label-7">
            <a:extLst xmlns:a="http://schemas.openxmlformats.org/drawingml/2006/main">
              <a:ext uri="{FF2B5EF4-FFF2-40B4-BE49-F238E27FC236}">
                <a16:creationId xmlns:a16="http://schemas.microsoft.com/office/drawing/2014/main" id="{A00B9FB3-AED6-4860-A5A5-28BBD7F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338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2" name="ts-overview-box-8">
            <a:extLst xmlns:a="http://schemas.openxmlformats.org/drawingml/2006/main">
              <a:ext uri="{FF2B5EF4-FFF2-40B4-BE49-F238E27FC236}">
                <a16:creationId xmlns:a16="http://schemas.microsoft.com/office/drawing/2014/main" id="{DBBF2D5F-A903-498D-BC60-08F572EB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295900" cy="1104900"/>
          </a:xfrm>
          <a:prstGeom xmlns:a="http://schemas.openxmlformats.org/drawingml/2006/main" prst="roundRect">
            <a:avLst>
              <a:gd name="adj" fmla="val 793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ts-overview-accent-8">
            <a:extLst xmlns:a="http://schemas.openxmlformats.org/drawingml/2006/main">
              <a:ext uri="{FF2B5EF4-FFF2-40B4-BE49-F238E27FC236}">
                <a16:creationId xmlns:a16="http://schemas.microsoft.com/office/drawing/2014/main" id="{3D09551C-1243-47E6-86A3-58198E18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ts-overview-number-8">
            <a:extLst xmlns:a="http://schemas.openxmlformats.org/drawingml/2006/main">
              <a:ext uri="{FF2B5EF4-FFF2-40B4-BE49-F238E27FC236}">
                <a16:creationId xmlns:a16="http://schemas.microsoft.com/office/drawing/2014/main" id="{18B266AC-967B-4BC9-8FC5-AEDB7887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38750"/>
            <a:ext cx="533400" cy="533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5" name="ts-overview-label-8">
            <a:extLst xmlns:a="http://schemas.openxmlformats.org/drawingml/2006/main">
              <a:ext uri="{FF2B5EF4-FFF2-40B4-BE49-F238E27FC236}">
                <a16:creationId xmlns:a16="http://schemas.microsoft.com/office/drawing/2014/main" id="{F4617A38-9500-490A-94D7-D5021C9B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29200"/>
            <a:ext cx="4229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75" b="1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201D1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E63579F-4E0F-8C6D-AA34-E955C75D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356350"/>
            <a:ext cx="609600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u="none">
                <a:solidFill>
                  <a:srgbClr val="5A5350"/>
                </a:solidFill>
                <a:latin typeface="Arial"/>
                <a:ea typeface="Arial"/>
                <a:cs typeface="Arial"/>
              </a:defRPr>
            </a:pPr>
            <a:r>
              <a:rPr sz="975" b="0" i="1" u="none">
                <a:solidFill>
                  <a:srgbClr val="5A5350"/>
                </a:solidFill>
                <a:latin typeface="Arial"/>
                <a:ea typeface="Arial"/>
                <a:cs typeface="Arial"/>
              </a:rPr>
              <a:t>Asset name, risk and holding period alone do not decide.</a:t>
            </a:r>
            <a:endParaRPr i="1"/>
          </a:p>
        </p:txBody>
      </p:sp>
    </p:spTree>
    <p:extLst>
      <p:ext uri="{BB962C8B-B14F-4D97-AF65-F5344CB8AC3E}">
        <p14:creationId xmlns:p14="http://schemas.microsoft.com/office/powerpoint/2010/main" val="278143697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EB06B57-492F-90C4-E8EF-3A8F5075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070" y="1713648"/>
            <a:ext cx="5476575" cy="999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MINA →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42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No emergency fund (应急资金).</a:t>
            </a:r>
            <a:endParaRPr sz="2100">
              <a:solidFill>
                <a:srgbClr val="171514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4000"/>
              </a:lnSpc>
              <a:buNone/>
              <a:defRPr sz="142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u="none">
                <a:solidFill>
                  <a:srgbClr val="201D1B"/>
                </a:solidFill>
                <a:latin typeface="Microsoft YaHei"/>
                <a:ea typeface="Microsoft YaHei"/>
                <a:cs typeface="Microsoft YaHei"/>
              </a:rPr>
              <a:t>Save first? Why?</a:t>
            </a:r>
            <a:endParaRPr sz="2100">
              <a:solidFill>
                <a:srgbClr val="17151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FD8F61F-646C-9D66-2952-489915D6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603" y="5160366"/>
            <a:ext cx="5476575" cy="999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425" b="1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LEO ←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42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425" b="1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Laptop in six months; cannot afford a loss.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425" b="1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1425" b="1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Save or invest? Why?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FDE5D45-69CB-7F5B-A910-AE761116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10715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Partner decision: should the money remain saved?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1437F22D-BA8F-BBF5-8418-27CC1B62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838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1B18"/>
          </a:solidFill>
          <a:ln xmlns:a="http://schemas.openxmlformats.org/drawingml/2006/main" w="9525">
            <a:solidFill>
              <a:srgbClr val="661B18"/>
            </a:solidFill>
            <a:prstDash val="solid"/>
          </a:ln>
        </p:spPr>
      </p:sp>
      <p:pic>
        <p:nvPicPr>
          <p:cNvPr id="2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bce0ef18d4e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51505" y="1946042"/>
            <a:ext cx="4212000" cy="4212000"/>
          </a:xfrm>
          <a:prstGeom xmlns:a="http://schemas.openxmlformats.org/drawingml/2006/main" prst="rect">
            <a:avLst/>
          </a:prstGeom>
        </p:spPr>
      </p:pic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287a6f6b44b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75899" y="1946042"/>
            <a:ext cx="2600910" cy="4212000"/>
          </a:xfrm>
          <a:prstGeom xmlns:a="http://schemas.openxmlformats.org/drawingml/2006/main" prst="rect">
            <a:avLst/>
          </a:prstGeom>
        </p:spPr>
      </p:pic>
      <p:sp>
        <p:nvSpPr>
          <p:cNvPr id="11" name="Arrow: Right 10">
            <a:extLst xmlns:a="http://schemas.openxmlformats.org/drawingml/2006/main">
              <a:ext uri="{FF2B5EF4-FFF2-40B4-BE49-F238E27FC236}">
                <a16:creationId xmlns:a16="http://schemas.microsoft.com/office/drawing/2014/main" id="{913EA986-1451-8BFE-E19D-640E63A8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654" y="2677250"/>
            <a:ext cx="4609476" cy="11317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tx2">
              <a:lumMod val="25000"/>
              <a:lumOff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Arrow: Right 13">
            <a:extLst xmlns:a="http://schemas.openxmlformats.org/drawingml/2006/main">
              <a:ext uri="{FF2B5EF4-FFF2-40B4-BE49-F238E27FC236}">
                <a16:creationId xmlns:a16="http://schemas.microsoft.com/office/drawing/2014/main" id="{62097EE5-0F0C-8550-261A-E4A6364A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765122" y="3905971"/>
            <a:ext cx="4609475" cy="1131757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32853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731F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05b9934934f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57200"/>
            <a:ext cx="781050" cy="781050"/>
          </a:xfrm>
          <a:prstGeom xmlns:a="http://schemas.openxmlformats.org/drawingml/2006/main" prst="ellipse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9360A5-022D-49E4-B034-6E64664F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839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50" b="1" i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Individual exit judgement</a:t>
            </a:r>
          </a:p>
        </p:txBody>
      </p:sp>
      <p:sp>
        <p:nvSpPr>
          <p:cNvPr id="5" name="Oval 4">
            <a:extLst xmlns:a="http://schemas.openxmlformats.org/drawingml/2006/main">
              <a:ext uri="{FF2B5EF4-FFF2-40B4-BE49-F238E27FC236}">
                <a16:creationId xmlns:a16="http://schemas.microsoft.com/office/drawing/2014/main" id="{85A1AC78-B2CE-4BD3-9DE1-86C1F329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22F4103-80AF-4706-B6B7-97607281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731F1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170E1BB-8AC0-4281-BE4B-03BD8EC5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813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Sofia buys gold after careful research.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She expects an inflation announcement to lift its price within six months; it pays no income.</a:t>
            </a:r>
          </a:p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Classify and cite one decisive clue.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041AC34-D746-4D7C-8D41-56A61F0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F9FC2A2-1B69-4F4A-8184-6C559AF5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25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2025" b="1" i="0" u="none" cap="none" spc="0">
                <a:ln>
                  <a:noFill/>
                </a:ln>
                <a:solidFill>
                  <a:srgbClr val="731F1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857B46D-A094-46F9-BB59-BF144708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4815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575" b="0" u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is the nearest alternative category weaker?</a:t>
            </a:r>
          </a:p>
        </p:txBody>
      </p:sp>
    </p:spTree>
    <p:extLst>
      <p:ext uri="{BB962C8B-B14F-4D97-AF65-F5344CB8AC3E}">
        <p14:creationId xmlns:p14="http://schemas.microsoft.com/office/powerpoint/2010/main" val="5645210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7F6">
            <a:alpha val="50196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E34E12-6B44-42D1-B9BC-AC0137B7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858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1B18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652947-6A33-40B0-A333-DF71682F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550" b="1" i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Yes—the same shares can be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EDF8E12-A934-4C47-A97B-417FBDF7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 i="0" u="none">
                <a:solidFill>
                  <a:srgbClr val="731F1B"/>
                </a:solidFill>
                <a:latin typeface="Arial"/>
                <a:ea typeface="Arial"/>
                <a:cs typeface="Arial"/>
              </a:defRPr>
            </a:pPr>
            <a:r>
              <a:rPr sz="2550" b="1" i="0" u="none">
                <a:solidFill>
                  <a:srgbClr val="731F1B"/>
                </a:solidFill>
                <a:latin typeface="Arial"/>
                <a:ea typeface="Arial"/>
                <a:cs typeface="Arial"/>
              </a:rPr>
              <a:t>financial investment for one person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F4FBC13-276D-4186-A737-B40041F1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400" b="1" i="0" u="none">
                <a:solidFill>
                  <a:srgbClr val="201D1B"/>
                </a:solidFill>
                <a:latin typeface="Arial"/>
                <a:ea typeface="Arial"/>
                <a:cs typeface="Arial"/>
              </a:defRPr>
            </a:pPr>
            <a:r>
              <a:rPr sz="2400" b="1" i="0" u="none">
                <a:solidFill>
                  <a:srgbClr val="201D1B"/>
                </a:solidFill>
                <a:latin typeface="Arial"/>
                <a:ea typeface="Arial"/>
                <a:cs typeface="Arial"/>
              </a:rPr>
              <a:t>and speculation for another—because the decision basis differs.</a:t>
            </a:r>
          </a:p>
        </p:txBody>
      </p:sp>
      <p:sp>
        <p:nvSpPr>
          <p:cNvPr id="14" name="opening-accent-2">
            <a:extLst xmlns:a="http://schemas.openxmlformats.org/drawingml/2006/main">
              <a:ext uri="{FF2B5EF4-FFF2-40B4-BE49-F238E27FC236}">
                <a16:creationId xmlns:a16="http://schemas.microsoft.com/office/drawing/2014/main" id="{9A6C56B2-15F0-48D6-9EC2-83B55E02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762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1F1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6626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2026-08-29T03:04:36.7600000Z</dcterms:created>
  <dcterms:modified xsi:type="dcterms:W3CDTF">2026-08-29T03:04:36.7600000Z</dcterms:modified>
</coreProperties>
</file>