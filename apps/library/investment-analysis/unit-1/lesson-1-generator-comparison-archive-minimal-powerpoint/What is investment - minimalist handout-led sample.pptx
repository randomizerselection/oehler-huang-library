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537baa454e4aa1" /><Relationship Type="http://schemas.openxmlformats.org/officeDocument/2006/relationships/extended-properties" Target="/docProps/app.xml" Id="R5e982655927e46cb" /><Relationship Type="http://schemas.openxmlformats.org/officeDocument/2006/relationships/officeDocument" Target="/ppt/presentation.xml" Id="Ref7e9eff5fd84a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a771a75e38495c"/>
  </p:sldMasterIdLst>
  <p:notesMasterIdLst>
    <p:notesMasterId xmlns:r="http://schemas.openxmlformats.org/officeDocument/2006/relationships" r:id="R876e3dd1fc524a37"/>
  </p:notesMasterIdLst>
  <p:sldIdLst>
    <p:sldId xmlns:r="http://schemas.openxmlformats.org/officeDocument/2006/relationships" id="256" r:id="R5ac3139f2be346af"/>
    <p:sldId xmlns:r="http://schemas.openxmlformats.org/officeDocument/2006/relationships" id="257" r:id="R4e5b96d4a22f40f5"/>
    <p:sldId xmlns:r="http://schemas.openxmlformats.org/officeDocument/2006/relationships" id="258" r:id="Rd7cd6fee0c144bf2"/>
    <p:sldId xmlns:r="http://schemas.openxmlformats.org/officeDocument/2006/relationships" id="259" r:id="R521a25f0523c47d5"/>
    <p:sldId xmlns:r="http://schemas.openxmlformats.org/officeDocument/2006/relationships" id="260" r:id="R66f4d7c1978d4acd"/>
    <p:sldId xmlns:r="http://schemas.openxmlformats.org/officeDocument/2006/relationships" id="261" r:id="R7c7c69ddee464c39"/>
    <p:sldId xmlns:r="http://schemas.openxmlformats.org/officeDocument/2006/relationships" id="262" r:id="R7fe9a72fafb54950"/>
    <p:sldId xmlns:r="http://schemas.openxmlformats.org/officeDocument/2006/relationships" id="263" r:id="R01edd7cabafb4d2a"/>
    <p:sldId xmlns:r="http://schemas.openxmlformats.org/officeDocument/2006/relationships" id="264" r:id="R68d989bd2d14445c"/>
    <p:sldId xmlns:r="http://schemas.openxmlformats.org/officeDocument/2006/relationships" id="265" r:id="Rd0561d762f3e46ea"/>
    <p:sldId xmlns:r="http://schemas.openxmlformats.org/officeDocument/2006/relationships" id="266" r:id="R8428b82dafbe4325"/>
    <p:sldId xmlns:r="http://schemas.openxmlformats.org/officeDocument/2006/relationships" id="267" r:id="R89f10f1f4c474309"/>
    <p:sldId xmlns:r="http://schemas.openxmlformats.org/officeDocument/2006/relationships" id="268" r:id="Ra92ed8cdb4d24413"/>
    <p:sldId xmlns:r="http://schemas.openxmlformats.org/officeDocument/2006/relationships" id="269" r:id="Ra02865c42437458b"/>
    <p:sldId xmlns:r="http://schemas.openxmlformats.org/officeDocument/2006/relationships" id="270" r:id="Rec70cd80e6644abf"/>
    <p:sldId xmlns:r="http://schemas.openxmlformats.org/officeDocument/2006/relationships" id="271" r:id="R2843083b6be84ebc"/>
    <p:sldId xmlns:r="http://schemas.openxmlformats.org/officeDocument/2006/relationships" id="272" r:id="Rfbb4685fa20541dd"/>
    <p:sldId xmlns:r="http://schemas.openxmlformats.org/officeDocument/2006/relationships" id="273" r:id="R49c38dd9332c4a4c"/>
    <p:sldId xmlns:r="http://schemas.openxmlformats.org/officeDocument/2006/relationships" id="274" r:id="R93f01d78c09d46f1"/>
    <p:sldId xmlns:r="http://schemas.openxmlformats.org/officeDocument/2006/relationships" id="275" r:id="R14bf60f68e1e41c0"/>
    <p:sldId xmlns:r="http://schemas.openxmlformats.org/officeDocument/2006/relationships" id="276" r:id="Rd2bc252656af4c4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e96f2edcf5456a" /><Relationship Type="http://schemas.openxmlformats.org/officeDocument/2006/relationships/slideMaster" Target="/ppt/slideMasters/slideMaster1.xml" Id="Rf4a771a75e38495c" /><Relationship Type="http://schemas.openxmlformats.org/officeDocument/2006/relationships/notesMaster" Target="/ppt/notesMasters/notesMaster1.xml" Id="R876e3dd1fc524a37" /><Relationship Type="http://schemas.openxmlformats.org/officeDocument/2006/relationships/presProps" Target="/ppt/presProps.xml" Id="R3adc6512084542b2" /><Relationship Type="http://schemas.openxmlformats.org/officeDocument/2006/relationships/tableStyles" Target="/ppt/tableStyles.xml" Id="R11b4d207824f4df4" /><Relationship Type="http://schemas.openxmlformats.org/officeDocument/2006/relationships/slide" Target="/ppt/slides/slide1.xml" Id="R5ac3139f2be346af" /><Relationship Type="http://schemas.openxmlformats.org/officeDocument/2006/relationships/slide" Target="/ppt/slides/slide2.xml" Id="R4e5b96d4a22f40f5" /><Relationship Type="http://schemas.openxmlformats.org/officeDocument/2006/relationships/slide" Target="/ppt/slides/slide3.xml" Id="Rd7cd6fee0c144bf2" /><Relationship Type="http://schemas.openxmlformats.org/officeDocument/2006/relationships/slide" Target="/ppt/slides/slide4.xml" Id="R521a25f0523c47d5" /><Relationship Type="http://schemas.openxmlformats.org/officeDocument/2006/relationships/slide" Target="/ppt/slides/slide5.xml" Id="R66f4d7c1978d4acd" /><Relationship Type="http://schemas.openxmlformats.org/officeDocument/2006/relationships/slide" Target="/ppt/slides/slide6.xml" Id="R7c7c69ddee464c39" /><Relationship Type="http://schemas.openxmlformats.org/officeDocument/2006/relationships/slide" Target="/ppt/slides/slide7.xml" Id="R7fe9a72fafb54950" /><Relationship Type="http://schemas.openxmlformats.org/officeDocument/2006/relationships/slide" Target="/ppt/slides/slide8.xml" Id="R01edd7cabafb4d2a" /><Relationship Type="http://schemas.openxmlformats.org/officeDocument/2006/relationships/slide" Target="/ppt/slides/slide9.xml" Id="R68d989bd2d14445c" /><Relationship Type="http://schemas.openxmlformats.org/officeDocument/2006/relationships/slide" Target="/ppt/slides/slide10.xml" Id="Rd0561d762f3e46ea" /><Relationship Type="http://schemas.openxmlformats.org/officeDocument/2006/relationships/slide" Target="/ppt/slides/slide11.xml" Id="R8428b82dafbe4325" /><Relationship Type="http://schemas.openxmlformats.org/officeDocument/2006/relationships/slide" Target="/ppt/slides/slide12.xml" Id="R89f10f1f4c474309" /><Relationship Type="http://schemas.openxmlformats.org/officeDocument/2006/relationships/slide" Target="/ppt/slides/slide13.xml" Id="Ra92ed8cdb4d24413" /><Relationship Type="http://schemas.openxmlformats.org/officeDocument/2006/relationships/slide" Target="/ppt/slides/slide14.xml" Id="Ra02865c42437458b" /><Relationship Type="http://schemas.openxmlformats.org/officeDocument/2006/relationships/slide" Target="/ppt/slides/slide15.xml" Id="Rec70cd80e6644abf" /><Relationship Type="http://schemas.openxmlformats.org/officeDocument/2006/relationships/slide" Target="/ppt/slides/slide16.xml" Id="R2843083b6be84ebc" /><Relationship Type="http://schemas.openxmlformats.org/officeDocument/2006/relationships/slide" Target="/ppt/slides/slide17.xml" Id="Rfbb4685fa20541dd" /><Relationship Type="http://schemas.openxmlformats.org/officeDocument/2006/relationships/slide" Target="/ppt/slides/slide18.xml" Id="R49c38dd9332c4a4c" /><Relationship Type="http://schemas.openxmlformats.org/officeDocument/2006/relationships/slide" Target="/ppt/slides/slide19.xml" Id="R93f01d78c09d46f1" /><Relationship Type="http://schemas.openxmlformats.org/officeDocument/2006/relationships/slide" Target="/ppt/slides/slide20.xml" Id="R14bf60f68e1e41c0" /><Relationship Type="http://schemas.openxmlformats.org/officeDocument/2006/relationships/slide" Target="/ppt/slides/slide21.xml" Id="Rd2bc252656af4c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1e380545f548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9cd18f573e4da7" /><Relationship Type="http://schemas.openxmlformats.org/officeDocument/2006/relationships/notesMaster" Target="/ppt/notesMasters/notesMaster1.xml" Id="Re3482637c3744a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32ff360c774ce5" /><Relationship Type="http://schemas.openxmlformats.org/officeDocument/2006/relationships/notesMaster" Target="/ppt/notesMasters/notesMaster1.xml" Id="R8fee671f97624e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ffa24f772d4059" /><Relationship Type="http://schemas.openxmlformats.org/officeDocument/2006/relationships/notesMaster" Target="/ppt/notesMasters/notesMaster1.xml" Id="R44c629df070c4f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2c9630ba6e45bb" /><Relationship Type="http://schemas.openxmlformats.org/officeDocument/2006/relationships/notesMaster" Target="/ppt/notesMasters/notesMaster1.xml" Id="Rb1ae5290c9a44e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a504d873054371" /><Relationship Type="http://schemas.openxmlformats.org/officeDocument/2006/relationships/notesMaster" Target="/ppt/notesMasters/notesMaster1.xml" Id="Rddc2dcdb83284f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5a8746797846d4" /><Relationship Type="http://schemas.openxmlformats.org/officeDocument/2006/relationships/notesMaster" Target="/ppt/notesMasters/notesMaster1.xml" Id="R9edf0b5d5b734f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ba346801c7462f" /><Relationship Type="http://schemas.openxmlformats.org/officeDocument/2006/relationships/notesMaster" Target="/ppt/notesMasters/notesMaster1.xml" Id="Ra84c8b3254e148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09e008d8614272" /><Relationship Type="http://schemas.openxmlformats.org/officeDocument/2006/relationships/notesMaster" Target="/ppt/notesMasters/notesMaster1.xml" Id="R51c29dd4077942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062bf61837404f" /><Relationship Type="http://schemas.openxmlformats.org/officeDocument/2006/relationships/notesMaster" Target="/ppt/notesMasters/notesMaster1.xml" Id="R09136c0f77ad41d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18d0a02a4574dc8" /><Relationship Type="http://schemas.openxmlformats.org/officeDocument/2006/relationships/notesMaster" Target="/ppt/notesMasters/notesMaster1.xml" Id="Re2bc466da0ac43c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966d2964dfa4cbc" /><Relationship Type="http://schemas.openxmlformats.org/officeDocument/2006/relationships/notesMaster" Target="/ppt/notesMasters/notesMaster1.xml" Id="Recda1f4fe10a451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166bc8f08524c71" /><Relationship Type="http://schemas.openxmlformats.org/officeDocument/2006/relationships/notesMaster" Target="/ppt/notesMasters/notesMaster1.xml" Id="R84a61a620862438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8dfa7e8a4f84b8e" /><Relationship Type="http://schemas.openxmlformats.org/officeDocument/2006/relationships/notesMaster" Target="/ppt/notesMasters/notesMaster1.xml" Id="R98fe2734f3bb462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50bdcd3bd404a2b" /><Relationship Type="http://schemas.openxmlformats.org/officeDocument/2006/relationships/notesMaster" Target="/ppt/notesMasters/notesMaster1.xml" Id="R48f660f560744cf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12b6e184b9e4552" /><Relationship Type="http://schemas.openxmlformats.org/officeDocument/2006/relationships/notesMaster" Target="/ppt/notesMasters/notesMaster1.xml" Id="R5785796029004ae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dd5f13a6ff341ac" /><Relationship Type="http://schemas.openxmlformats.org/officeDocument/2006/relationships/notesMaster" Target="/ppt/notesMasters/notesMaster1.xml" Id="R0b7865dcd71a409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603ca59a69a494c" /><Relationship Type="http://schemas.openxmlformats.org/officeDocument/2006/relationships/notesMaster" Target="/ppt/notesMasters/notesMaster1.xml" Id="R723b269616b7490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ffa171f207c4eb5" /><Relationship Type="http://schemas.openxmlformats.org/officeDocument/2006/relationships/notesMaster" Target="/ppt/notesMasters/notesMaster1.xml" Id="R57373c935beb4c6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b2d1506010e4ea0" /><Relationship Type="http://schemas.openxmlformats.org/officeDocument/2006/relationships/notesMaster" Target="/ppt/notesMasters/notesMaster1.xml" Id="R939ffa8f77e540f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5c38820fa7d4713" /><Relationship Type="http://schemas.openxmlformats.org/officeDocument/2006/relationships/notesMaster" Target="/ppt/notesMasters/notesMaster1.xml" Id="R498de043c7ac43d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5ce7e4780684da7" /><Relationship Type="http://schemas.openxmlformats.org/officeDocument/2006/relationships/notesMaster" Target="/ppt/notesMasters/notesMaster1.xml" Id="Rce5fa681344a41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keep Handout Version 24 open throughout. Ask for a one-sentence initial answer; do not correct it yet.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Handout: Oehler-Huang Library, Investment Version 24 (local classroom source).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Hook: two people can buy the same asset for different reasons. Ask what information would be needed before classifying either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Handout: Oehler-Huang Library, Investment Version 24 (local classroom source).</a:t>
            </a:r>
          </a:p>
          <a:p xmlns:a="http://schemas.openxmlformats.org/drawingml/2006/main">
            <a:r>
              <a:t>- Image: user-provided classroom illustration, speculator-investor-race.png (local course asset).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Three objectives: define financial investment, speculation and saving; distinguish them by the main basis of the decision; justify a classification with a specific clue.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Handout: Oehler-Huang Library, Investment Version 24 (local classroom source).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write: (1) What is the money mainly meant to do? (2) Where is the expected return mainly meant to come from? These are decision questions, not asset labels.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Handout: Oehler-Huang Library, Investment Version 24 (local classroom source).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read the financial investment definition and examples on page 1. Ask them to identify the asset, expected return and possible loss in one example.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Handout: Oehler-Huang Library, Investment Version 24 (local classroom source).</a:t>
            </a:r>
          </a:p>
          <a:p xmlns:a="http://schemas.openxmlformats.org/drawingml/2006/main">
            <a:r>
              <a:t>- Graphic: Oehler-Huang Library, purpose-built investment definition graphic (local course asset).</a:t>
            </a:r>
          </a:p>
          <a:p xmlns:a="http://schemas.openxmlformats.org/drawingml/2006/main">
            <a:r>
              <a:t>- Definition reference: Investor.gov, Introduction to Investing — https://www.investor.gov/introduction-investing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Clarify that total return has two components: income and the change in market value. Either component can be zero or negative.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Handout: Oehler-Huang Library, Investment Version 24 (local classroom source).</a:t>
            </a:r>
          </a:p>
          <a:p xmlns:a="http://schemas.openxmlformats.org/drawingml/2006/main">
            <a:r>
              <a:t>- Definition reference: Investor.gov, Introduction to Investing — https://www.investor.gov/introduction-investing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Elicit examples such as earnings, rental income, bond terms, fees and risks. Evidence can support an expectation; it cannot remove possible loss.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Handout: Oehler-Huang Library, Investment Version 24 (local classroom source).</a:t>
            </a:r>
          </a:p>
          <a:p xmlns:a="http://schemas.openxmlformats.org/drawingml/2006/main">
            <a:r>
              <a:t>- Image: Pexels / RDNE Stock project — https://www.pexels.com/photo/white-papers-on-the-table-7821708/</a:t>
            </a:r>
          </a:p>
          <a:p xmlns:a="http://schemas.openxmlformats.org/drawingml/2006/main">
            <a:r>
              <a:t>- Definition reference: Investor.gov, Introduction to Investing — https://www.investor.gov/introduction-investing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state the limit aloud: evidence can support an expected return, but possible loss remains.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Handout: Oehler-Huang Library, Investment Version 24 (local classroom source).</a:t>
            </a:r>
          </a:p>
          <a:p xmlns:a="http://schemas.openxmlformats.org/drawingml/2006/main">
            <a:r>
              <a:t>- Definition reference: Investor.gov, Introduction to Investing — https://www.investor.gov/introduction-investing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classify from the image alone. Ask what the person expects to cause the profit. Move to speculation only when predicted price change is the main basis.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Handout: Oehler-Huang Library, Investment Version 24 (local classroom source).</a:t>
            </a:r>
          </a:p>
          <a:p xmlns:a="http://schemas.openxmlformats.org/drawingml/2006/main">
            <a:r>
              <a:t>- Image: Pexels / StockRadars Co. — https://www.pexels.com/photo/smartphone-displaying-stock-trading-app-interface-28682345/</a:t>
            </a:r>
          </a:p>
          <a:p xmlns:a="http://schemas.openxmlformats.org/drawingml/2006/main">
            <a:r>
              <a:t>- Definition reference: FINRA Regulatory Notice 18-24 — https://www.finra.org/rules-guidance/notices/18-24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complete the rule aloud: if predicted price change is the main basis for the trade, classify it as speculation. Careful research does not automatically change that payoff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Handout: Oehler-Huang Library, Investment Version 24 (local classroom source).</a:t>
            </a:r>
          </a:p>
          <a:p xmlns:a="http://schemas.openxmlformats.org/drawingml/2006/main">
            <a:r>
              <a:t>- Definition reference: FINRA Regulatory Notice 18-24 — https://www.finra.org/rules-guidance/notices/18-24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infer the priorities of saving before reading the definition: keeping the amount available and limiting the chance of loss.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Handout: Oehler-Huang Library, Investment Version 24 (local classroom source).</a:t>
            </a:r>
          </a:p>
          <a:p xmlns:a="http://schemas.openxmlformats.org/drawingml/2006/main">
            <a:r>
              <a:t>- Image: Wikimedia Commons / Ken Teegardin / CC BY-SA 2.0 — https://commons.wikimedia.org/wiki/File:Deposit_Into_Piggy_Bank_Savings_Account_(6093700157).jpg</a:t>
            </a:r>
          </a:p>
          <a:p xmlns:a="http://schemas.openxmlformats.org/drawingml/2006/main">
            <a:r>
              <a:t>- Definition reference: Investor.gov, Saving and Investing — https://www.investor.gov/additional-resources/general-resources/publications-research/info-sheets/saving-investing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state the saving priorities aloud: capital preservation and liquidity. Interest does not automatically make saving an investment.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Handout: Oehler-Huang Library, Investment Version 24 (local classroom source).</a:t>
            </a:r>
          </a:p>
          <a:p xmlns:a="http://schemas.openxmlformats.org/drawingml/2006/main">
            <a:r>
              <a:t>- Definition reference: Investor.gov, Saving and Investing — https://www.investor.gov/additional-resources/general-resources/publications-research/info-sheets/saving-investing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page 1 grid. Stress that the same financial product can sometimes be used for different purposes; classify the decision by its main purpose and basis.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Handout: Oehler-Huang Library, Investment Version 24 (local classroom source).</a:t>
            </a:r>
          </a:p>
          <a:p xmlns:a="http://schemas.openxmlformats.org/drawingml/2006/main">
            <a:r>
              <a:t>- Definition reference: Investor.gov, Introduction to Investing — https://www.investor.gov/introduction-investing</a:t>
            </a:r>
          </a:p>
          <a:p xmlns:a="http://schemas.openxmlformats.org/drawingml/2006/main">
            <a:r>
              <a:t>- Definition reference: FINRA Regulatory Notice 18-24 — https://www.finra.org/rules-guidance/notices/18-24</a:t>
            </a:r>
          </a:p>
          <a:p xmlns:a="http://schemas.openxmlformats.org/drawingml/2006/main">
            <a:r>
              <a:t>- Definition reference: Investor.gov, Saving and Investing — https://www.investor.gov/additional-resources/general-resources/publications-research/info-sheets/saving-investing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complete cases A–D. Cold-call: category first, then the exact clue. Press for why the nearest alternative is weaker.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Handout: Oehler-Huang Library, Investment Version 24 (local classroom source).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complete cases E–J. Require a boundary statement: not saving because..., or not investment because....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Handout: Oehler-Huang Library, Investment Version 24 (local classroom source).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answer the five multiple-choice questions independently. For one question, they must explain why a tempting distractor is wrong.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Handout: Oehler-Huang Library, Investment Version 24 (local classroom source).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Revisit the opening question. Students should now say that an asset name alone is insufficient; the main purpose and basis of expected return determine the category.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Handout: Oehler-Huang Library, Investment Version 24 (local classroom source).</a:t>
            </a:r>
          </a:p>
          <a:p xmlns:a="http://schemas.openxmlformats.org/drawingml/2006/main">
            <a:r>
              <a:t>- Image: Pexels / StockRadars Co. — https://www.pexels.com/photo/smartphone-displaying-stock-market-data-28682351/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Short answers have no projected case text because it is on the handout. Students answer Mina and Leo using emergency fund, time horizon, liquidity, capital preservation and possible loss.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Handout: Oehler-Huang Library, Investment Version 24 (local classroom source).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read Nora's case. Elicit that a share-price loss does not cancel the debt.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Handout: Oehler-Huang Library, Investment Version 24 (local classroom source).</a:t>
            </a:r>
          </a:p>
          <a:p xmlns:a="http://schemas.openxmlformats.org/drawingml/2006/main">
            <a:r>
              <a:t>- Image: Pexels / StockRadars Co. — https://www.pexels.com/photo/smartphone-display-of-stock-market-application-28682350/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write: Borrowing can magnify loss because the repayment obligation remains even when the asset price falls.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Handout: Oehler-Huang Library, Investment Version 24 (local classroom source).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Exit sentence: classify one new example, cite the decisive clue, and distinguish it from the nearest alternative. Collect or sample notebooks before students leave.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Handout: Oehler-Huang Library, Investment Version 24 (local classroom source).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8769c4827248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9d1f9a20f84ffc" /><Relationship Type="http://schemas.openxmlformats.org/officeDocument/2006/relationships/slideLayout" Target="/ppt/slideLayouts/slideLayout1.xml" Id="R5f19910a70b14d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19910a70b14d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a8294a4ebf41d3" /><Relationship Type="http://schemas.openxmlformats.org/officeDocument/2006/relationships/notesSlide" Target="/ppt/notesSlides/notesSlide1.xml" Id="R4d1ef8abc0dd42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38839f165d4d62" /><Relationship Type="http://schemas.openxmlformats.org/officeDocument/2006/relationships/image" Target="/ppt/media/image.png" Id="Rd1ac685bc1c74ad5" /><Relationship Type="http://schemas.openxmlformats.org/officeDocument/2006/relationships/notesSlide" Target="/ppt/notesSlides/notesSlide2.xml" Id="R8818c621306247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adce1602d84efc" /><Relationship Type="http://schemas.openxmlformats.org/officeDocument/2006/relationships/notesSlide" Target="/ppt/notesSlides/notesSlide3.xml" Id="Rd4e91adde6234b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432fa5c6a4aa9" /><Relationship Type="http://schemas.openxmlformats.org/officeDocument/2006/relationships/notesSlide" Target="/ppt/notesSlides/notesSlide4.xml" Id="Rb642d49a57d34e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48079a1b8840c2" /><Relationship Type="http://schemas.openxmlformats.org/officeDocument/2006/relationships/image" Target="/ppt/media/image2.png" Id="Re649026ea6f24359" /><Relationship Type="http://schemas.openxmlformats.org/officeDocument/2006/relationships/notesSlide" Target="/ppt/notesSlides/notesSlide5.xml" Id="Rdcb666cdae0a46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7166952c974ca8" /><Relationship Type="http://schemas.openxmlformats.org/officeDocument/2006/relationships/notesSlide" Target="/ppt/notesSlides/notesSlide6.xml" Id="Rc1a712050a0949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997071d5e94131" /><Relationship Type="http://schemas.openxmlformats.org/officeDocument/2006/relationships/image" Target="/ppt/media/image.jpeg" Id="R007dddb887004326" /><Relationship Type="http://schemas.openxmlformats.org/officeDocument/2006/relationships/notesSlide" Target="/ppt/notesSlides/notesSlide7.xml" Id="Rb6c0e659bff947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996e5c1c9b4b44" /><Relationship Type="http://schemas.openxmlformats.org/officeDocument/2006/relationships/notesSlide" Target="/ppt/notesSlides/notesSlide8.xml" Id="R9c7c7e7a1a56421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dd3b7c19114bd9" /><Relationship Type="http://schemas.openxmlformats.org/officeDocument/2006/relationships/image" Target="/ppt/media/image2.jpeg" Id="R1311abf46b3240a2" /><Relationship Type="http://schemas.openxmlformats.org/officeDocument/2006/relationships/notesSlide" Target="/ppt/notesSlides/notesSlide9.xml" Id="R2354b418072246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31e2cd19e4bc2" /><Relationship Type="http://schemas.openxmlformats.org/officeDocument/2006/relationships/notesSlide" Target="/ppt/notesSlides/notesSlide10.xml" Id="R89e82b1559384d1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6846b2e4cd489b" /><Relationship Type="http://schemas.openxmlformats.org/officeDocument/2006/relationships/image" Target="/ppt/media/image3.jpeg" Id="R105930c67ec54350" /><Relationship Type="http://schemas.openxmlformats.org/officeDocument/2006/relationships/notesSlide" Target="/ppt/notesSlides/notesSlide11.xml" Id="Rf00c9bf6f0bb4fd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f95ff2ee944a86" /><Relationship Type="http://schemas.openxmlformats.org/officeDocument/2006/relationships/notesSlide" Target="/ppt/notesSlides/notesSlide12.xml" Id="Rc4549bdde753430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067682b9b14984" /><Relationship Type="http://schemas.openxmlformats.org/officeDocument/2006/relationships/notesSlide" Target="/ppt/notesSlides/notesSlide13.xml" Id="Ra6959932e7ef4b4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2949c7414e4cbf" /><Relationship Type="http://schemas.openxmlformats.org/officeDocument/2006/relationships/notesSlide" Target="/ppt/notesSlides/notesSlide14.xml" Id="R275f5c6b9c2e41a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de2e2b53b44906" /><Relationship Type="http://schemas.openxmlformats.org/officeDocument/2006/relationships/notesSlide" Target="/ppt/notesSlides/notesSlide15.xml" Id="Rc17926b7393b438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aa68297a4e4282" /><Relationship Type="http://schemas.openxmlformats.org/officeDocument/2006/relationships/notesSlide" Target="/ppt/notesSlides/notesSlide16.xml" Id="Ra7c9f1eabbd6476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1d0094fceb4a6a" /><Relationship Type="http://schemas.openxmlformats.org/officeDocument/2006/relationships/image" Target="/ppt/media/image4.jpeg" Id="R5f4d5a6cf5444556" /><Relationship Type="http://schemas.openxmlformats.org/officeDocument/2006/relationships/notesSlide" Target="/ppt/notesSlides/notesSlide17.xml" Id="R3488d6ffa74041d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a23e027ee441b" /><Relationship Type="http://schemas.openxmlformats.org/officeDocument/2006/relationships/notesSlide" Target="/ppt/notesSlides/notesSlide18.xml" Id="R15f763c69b9b4ad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2cf57ce894f07" /><Relationship Type="http://schemas.openxmlformats.org/officeDocument/2006/relationships/image" Target="/ppt/media/image5.jpeg" Id="R981155dab2e54523" /><Relationship Type="http://schemas.openxmlformats.org/officeDocument/2006/relationships/notesSlide" Target="/ppt/notesSlides/notesSlide19.xml" Id="R990287f7f142483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628564539245c7" /><Relationship Type="http://schemas.openxmlformats.org/officeDocument/2006/relationships/notesSlide" Target="/ppt/notesSlides/notesSlide20.xml" Id="R7b345652be2948c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447d850ced4324" /><Relationship Type="http://schemas.openxmlformats.org/officeDocument/2006/relationships/notesSlide" Target="/ppt/notesSlides/notesSlide21.xml" Id="Rf30e0b291e7b47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E3EF1968-BDF6-40D4-812B-4B72D0FD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46"/>
                </a:solidFill>
              </a:defRPr>
            </a:pPr>
            <a:r>
              <a:rPr sz="1350" b="1">
                <a:solidFill>
                  <a:srgbClr val="256346"/>
                </a:solidFill>
              </a:rPr>
              <a:t>INVESTMENT ANALYSIS · LESSON 1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F202D06-EDEE-4691-A8F5-2ED0F7CE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9334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050" b="1">
                <a:solidFill>
                  <a:srgbClr val="111713"/>
                </a:solidFill>
              </a:defRPr>
            </a:pPr>
            <a:r>
              <a:rPr sz="7050" b="1">
                <a:solidFill>
                  <a:srgbClr val="111713"/>
                </a:solidFill>
              </a:rPr>
              <a:t>What is</a:t>
            </a:r>
          </a:p>
          <a:p xmlns:a="http://schemas.openxmlformats.org/drawingml/2006/main">
            <a:pPr algn="l">
              <a:defRPr sz="7050" b="1">
                <a:solidFill>
                  <a:srgbClr val="111713"/>
                </a:solidFill>
              </a:defRPr>
            </a:pPr>
            <a:r>
              <a:rPr sz="7050" b="1">
                <a:solidFill>
                  <a:srgbClr val="111713"/>
                </a:solidFill>
              </a:rPr>
              <a:t>investment?</a:t>
            </a:r>
          </a:p>
        </p:txBody>
      </p:sp>
      <p:sp>
        <p:nvSpPr>
          <p:cNvPr id="3" name="cover-zh">
            <a:extLst xmlns:a="http://schemas.openxmlformats.org/drawingml/2006/main">
              <a:ext uri="{FF2B5EF4-FFF2-40B4-BE49-F238E27FC236}">
                <a16:creationId xmlns:a16="http://schemas.microsoft.com/office/drawing/2014/main" id="{CFE904C3-7F99-4735-8D35-1D97A75C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0070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3605A"/>
                </a:solidFill>
              </a:defRPr>
            </a:pPr>
            <a:r>
              <a:rPr sz="1950" b="1">
                <a:solidFill>
                  <a:srgbClr val="53605A"/>
                </a:solidFill>
              </a:rPr>
              <a:t>什么是投资？</a:t>
            </a:r>
          </a:p>
        </p:txBody>
      </p:sp>
      <p:sp>
        <p:nvSpPr>
          <p:cNvPr id="4" name="cue-1">
            <a:extLst xmlns:a="http://schemas.openxmlformats.org/drawingml/2006/main">
              <a:ext uri="{FF2B5EF4-FFF2-40B4-BE49-F238E27FC236}">
                <a16:creationId xmlns:a16="http://schemas.microsoft.com/office/drawing/2014/main" id="{D6969505-9DB8-4132-91E5-00645FBFB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46"/>
                </a:solidFill>
              </a:defRPr>
            </a:pPr>
            <a:r>
              <a:rPr sz="1200" b="1">
                <a:solidFill>
                  <a:srgbClr val="256346"/>
                </a:solidFill>
              </a:rPr>
              <a:t>HANDOUT READY</a:t>
            </a:r>
          </a:p>
        </p:txBody>
      </p:sp>
      <p:sp>
        <p:nvSpPr>
          <p:cNvPr id="5" name="count-1">
            <a:extLst xmlns:a="http://schemas.openxmlformats.org/drawingml/2006/main">
              <a:ext uri="{FF2B5EF4-FFF2-40B4-BE49-F238E27FC236}">
                <a16:creationId xmlns:a16="http://schemas.microsoft.com/office/drawing/2014/main" id="{314F385C-437B-4BEB-9B9D-9287B700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05A"/>
                </a:solidFill>
              </a:defRPr>
            </a:pPr>
            <a:r>
              <a:rPr sz="1200" b="1">
                <a:solidFill>
                  <a:srgbClr val="53605A"/>
                </a:solidFill>
              </a:rPr>
              <a:t>01 / 21</a:t>
            </a:r>
          </a:p>
        </p:txBody>
      </p:sp>
      <p:sp>
        <p:nvSpPr>
          <p:cNvPr id="6" name="progress-1">
            <a:extLst xmlns:a="http://schemas.openxmlformats.org/drawingml/2006/main">
              <a:ext uri="{FF2B5EF4-FFF2-40B4-BE49-F238E27FC236}">
                <a16:creationId xmlns:a16="http://schemas.microsoft.com/office/drawing/2014/main" id="{AABE135C-5F63-4702-9BD4-B61D5C7B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10375"/>
            <a:ext cx="580571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4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151883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0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ac685bc1c74ad5"/>
          <a:srcRect xmlns:a="http://schemas.openxmlformats.org/drawingml/2006/main" l="4459" t="0" r="44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477000"/>
          </a:xfrm>
          <a:prstGeom xmlns:a="http://schemas.openxmlformats.org/drawingml/2006/main" prst="rect">
            <a:avLst/>
          </a:prstGeom>
        </p:spPr>
      </p:pic>
      <p:sp>
        <p:nvSpPr>
          <p:cNvPr id="2" name="question-panel-2">
            <a:extLst xmlns:a="http://schemas.openxmlformats.org/drawingml/2006/main">
              <a:ext uri="{FF2B5EF4-FFF2-40B4-BE49-F238E27FC236}">
                <a16:creationId xmlns:a16="http://schemas.microsoft.com/office/drawing/2014/main" id="{7B056339-2422-4155-A8CB-0C9B6838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287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question-2">
            <a:extLst xmlns:a="http://schemas.openxmlformats.org/drawingml/2006/main">
              <a:ext uri="{FF2B5EF4-FFF2-40B4-BE49-F238E27FC236}">
                <a16:creationId xmlns:a16="http://schemas.microsoft.com/office/drawing/2014/main" id="{6A59F729-CE6C-49B0-8378-C020EF7A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0"/>
            <a:ext cx="9791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713"/>
                </a:solidFill>
              </a:defRPr>
            </a:pPr>
            <a:r>
              <a:rPr sz="4350" b="1">
                <a:solidFill>
                  <a:srgbClr val="111713"/>
                </a:solidFill>
              </a:rPr>
              <a:t>Same asset. Different decision?</a:t>
            </a:r>
          </a:p>
        </p:txBody>
      </p:sp>
      <p:sp>
        <p:nvSpPr>
          <p:cNvPr id="4" name="question-small-2">
            <a:extLst xmlns:a="http://schemas.openxmlformats.org/drawingml/2006/main">
              <a:ext uri="{FF2B5EF4-FFF2-40B4-BE49-F238E27FC236}">
                <a16:creationId xmlns:a16="http://schemas.microsoft.com/office/drawing/2014/main" id="{E0CF9CD0-8D3B-4362-8FCB-9A71A48A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340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46"/>
                </a:solidFill>
              </a:defRPr>
            </a:pPr>
            <a:r>
              <a:rPr sz="1350" b="1">
                <a:solidFill>
                  <a:srgbClr val="256346"/>
                </a:solidFill>
              </a:rPr>
              <a:t>THINK · PAIR · SHARE</a:t>
            </a:r>
          </a:p>
        </p:txBody>
      </p:sp>
      <p:sp>
        <p:nvSpPr>
          <p:cNvPr id="5" name="footer-bar-2">
            <a:extLst xmlns:a="http://schemas.openxmlformats.org/drawingml/2006/main">
              <a:ext uri="{FF2B5EF4-FFF2-40B4-BE49-F238E27FC236}">
                <a16:creationId xmlns:a16="http://schemas.microsoft.com/office/drawing/2014/main" id="{E1EA620E-2276-4BA2-8C52-4FB0F918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ue-2">
            <a:extLst xmlns:a="http://schemas.openxmlformats.org/drawingml/2006/main">
              <a:ext uri="{FF2B5EF4-FFF2-40B4-BE49-F238E27FC236}">
                <a16:creationId xmlns:a16="http://schemas.microsoft.com/office/drawing/2014/main" id="{F85FD32E-3FFC-4AE8-B3E1-7A51E7C3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NO WRITING YET</a:t>
            </a:r>
          </a:p>
        </p:txBody>
      </p:sp>
      <p:sp>
        <p:nvSpPr>
          <p:cNvPr id="7" name="count-2">
            <a:extLst xmlns:a="http://schemas.openxmlformats.org/drawingml/2006/main">
              <a:ext uri="{FF2B5EF4-FFF2-40B4-BE49-F238E27FC236}">
                <a16:creationId xmlns:a16="http://schemas.microsoft.com/office/drawing/2014/main" id="{C54B0FB7-A381-49CC-901A-4EA31CC1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02 / 21</a:t>
            </a:r>
          </a:p>
        </p:txBody>
      </p:sp>
      <p:sp>
        <p:nvSpPr>
          <p:cNvPr id="8" name="progress-2">
            <a:extLst xmlns:a="http://schemas.openxmlformats.org/drawingml/2006/main">
              <a:ext uri="{FF2B5EF4-FFF2-40B4-BE49-F238E27FC236}">
                <a16:creationId xmlns:a16="http://schemas.microsoft.com/office/drawing/2014/main" id="{BADE0160-880B-4DBC-AC55-CF4626D7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10375"/>
            <a:ext cx="116114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4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200984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bjective-number-1">
            <a:extLst xmlns:a="http://schemas.openxmlformats.org/drawingml/2006/main">
              <a:ext uri="{FF2B5EF4-FFF2-40B4-BE49-F238E27FC236}">
                <a16:creationId xmlns:a16="http://schemas.microsoft.com/office/drawing/2014/main" id="{E12B2EBB-AAD6-4395-ABBA-3615B05E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066800"/>
            <a:ext cx="80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3605A"/>
                </a:solidFill>
              </a:defRPr>
            </a:pPr>
            <a:r>
              <a:rPr sz="1500" b="1">
                <a:solidFill>
                  <a:srgbClr val="53605A"/>
                </a:solidFill>
              </a:rPr>
              <a:t>01</a:t>
            </a:r>
          </a:p>
        </p:txBody>
      </p:sp>
      <p:sp>
        <p:nvSpPr>
          <p:cNvPr id="2" name="objective-1">
            <a:extLst xmlns:a="http://schemas.openxmlformats.org/drawingml/2006/main">
              <a:ext uri="{FF2B5EF4-FFF2-40B4-BE49-F238E27FC236}">
                <a16:creationId xmlns:a16="http://schemas.microsoft.com/office/drawing/2014/main" id="{6FFB3B09-31A4-4C4B-9D25-1767D9CD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781050"/>
            <a:ext cx="876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111713"/>
                </a:solidFill>
              </a:defRPr>
            </a:pPr>
            <a:r>
              <a:rPr sz="6150" b="1">
                <a:solidFill>
                  <a:srgbClr val="111713"/>
                </a:solidFill>
              </a:rPr>
              <a:t>DEFINE</a:t>
            </a:r>
          </a:p>
        </p:txBody>
      </p:sp>
      <p:sp>
        <p:nvSpPr>
          <p:cNvPr id="3" name="objective-number-2">
            <a:extLst xmlns:a="http://schemas.openxmlformats.org/drawingml/2006/main">
              <a:ext uri="{FF2B5EF4-FFF2-40B4-BE49-F238E27FC236}">
                <a16:creationId xmlns:a16="http://schemas.microsoft.com/office/drawing/2014/main" id="{4C091B22-7CB2-4ED4-ABCB-CB7BE2EE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67000"/>
            <a:ext cx="80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3605A"/>
                </a:solidFill>
              </a:defRPr>
            </a:pPr>
            <a:r>
              <a:rPr sz="1500" b="1">
                <a:solidFill>
                  <a:srgbClr val="53605A"/>
                </a:solidFill>
              </a:rPr>
              <a:t>02</a:t>
            </a:r>
          </a:p>
        </p:txBody>
      </p:sp>
      <p:sp>
        <p:nvSpPr>
          <p:cNvPr id="4" name="objective-2">
            <a:extLst xmlns:a="http://schemas.openxmlformats.org/drawingml/2006/main">
              <a:ext uri="{FF2B5EF4-FFF2-40B4-BE49-F238E27FC236}">
                <a16:creationId xmlns:a16="http://schemas.microsoft.com/office/drawing/2014/main" id="{4177CF91-1CEB-45FF-8DB7-3057EEBA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381250"/>
            <a:ext cx="876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256346"/>
                </a:solidFill>
              </a:defRPr>
            </a:pPr>
            <a:r>
              <a:rPr sz="6150" b="1">
                <a:solidFill>
                  <a:srgbClr val="256346"/>
                </a:solidFill>
              </a:rPr>
              <a:t>DISTINGUISH</a:t>
            </a:r>
          </a:p>
        </p:txBody>
      </p:sp>
      <p:sp>
        <p:nvSpPr>
          <p:cNvPr id="5" name="objective-number-3">
            <a:extLst xmlns:a="http://schemas.openxmlformats.org/drawingml/2006/main">
              <a:ext uri="{FF2B5EF4-FFF2-40B4-BE49-F238E27FC236}">
                <a16:creationId xmlns:a16="http://schemas.microsoft.com/office/drawing/2014/main" id="{DAEB45AE-7049-4282-B140-44866C37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80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3605A"/>
                </a:solidFill>
              </a:defRPr>
            </a:pPr>
            <a:r>
              <a:rPr sz="1500" b="1">
                <a:solidFill>
                  <a:srgbClr val="53605A"/>
                </a:solidFill>
              </a:rPr>
              <a:t>03</a:t>
            </a:r>
          </a:p>
        </p:txBody>
      </p:sp>
      <p:sp>
        <p:nvSpPr>
          <p:cNvPr id="6" name="objective-3">
            <a:extLst xmlns:a="http://schemas.openxmlformats.org/drawingml/2006/main">
              <a:ext uri="{FF2B5EF4-FFF2-40B4-BE49-F238E27FC236}">
                <a16:creationId xmlns:a16="http://schemas.microsoft.com/office/drawing/2014/main" id="{C49ACA6E-3E90-47E3-94FD-2CD5C293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981450"/>
            <a:ext cx="876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111713"/>
                </a:solidFill>
              </a:defRPr>
            </a:pPr>
            <a:r>
              <a:rPr sz="6150" b="1">
                <a:solidFill>
                  <a:srgbClr val="111713"/>
                </a:solidFill>
              </a:rPr>
              <a:t>JUSTIFY</a:t>
            </a:r>
          </a:p>
        </p:txBody>
      </p:sp>
      <p:sp>
        <p:nvSpPr>
          <p:cNvPr id="7" name="cue-3">
            <a:extLst xmlns:a="http://schemas.openxmlformats.org/drawingml/2006/main">
              <a:ext uri="{FF2B5EF4-FFF2-40B4-BE49-F238E27FC236}">
                <a16:creationId xmlns:a16="http://schemas.microsoft.com/office/drawing/2014/main" id="{767D36F0-580D-4A2A-9927-B9EC51CE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46"/>
                </a:solidFill>
              </a:defRPr>
            </a:pPr>
            <a:r>
              <a:rPr sz="1200" b="1">
                <a:solidFill>
                  <a:srgbClr val="256346"/>
                </a:solidFill>
              </a:rPr>
              <a:t>HANDOUT + NOTEBOOK</a:t>
            </a:r>
          </a:p>
        </p:txBody>
      </p:sp>
      <p:sp>
        <p:nvSpPr>
          <p:cNvPr id="8" name="count-3">
            <a:extLst xmlns:a="http://schemas.openxmlformats.org/drawingml/2006/main">
              <a:ext uri="{FF2B5EF4-FFF2-40B4-BE49-F238E27FC236}">
                <a16:creationId xmlns:a16="http://schemas.microsoft.com/office/drawing/2014/main" id="{92F75DEB-B95E-441E-BD5F-3BD093F7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05A"/>
                </a:solidFill>
              </a:defRPr>
            </a:pPr>
            <a:r>
              <a:rPr sz="1200" b="1">
                <a:solidFill>
                  <a:srgbClr val="53605A"/>
                </a:solidFill>
              </a:rPr>
              <a:t>03 / 21</a:t>
            </a:r>
          </a:p>
        </p:txBody>
      </p:sp>
      <p:sp>
        <p:nvSpPr>
          <p:cNvPr id="9" name="progress-3">
            <a:extLst xmlns:a="http://schemas.openxmlformats.org/drawingml/2006/main">
              <a:ext uri="{FF2B5EF4-FFF2-40B4-BE49-F238E27FC236}">
                <a16:creationId xmlns:a16="http://schemas.microsoft.com/office/drawing/2014/main" id="{BC44F2A8-A5CF-4BD6-BDEB-7590835E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10375"/>
            <a:ext cx="1741714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4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234394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keyword-4-1">
            <a:extLst xmlns:a="http://schemas.openxmlformats.org/drawingml/2006/main">
              <a:ext uri="{FF2B5EF4-FFF2-40B4-BE49-F238E27FC236}">
                <a16:creationId xmlns:a16="http://schemas.microsoft.com/office/drawing/2014/main" id="{60704958-65F5-4DA3-AE50-99EC76D3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52550"/>
            <a:ext cx="885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111713"/>
                </a:solidFill>
              </a:defRPr>
            </a:pPr>
            <a:r>
              <a:rPr sz="6150" b="1">
                <a:solidFill>
                  <a:srgbClr val="111713"/>
                </a:solidFill>
              </a:rPr>
              <a:t>PURPOSE</a:t>
            </a:r>
          </a:p>
        </p:txBody>
      </p:sp>
      <p:sp>
        <p:nvSpPr>
          <p:cNvPr id="2" name="keyword-4-2">
            <a:extLst xmlns:a="http://schemas.openxmlformats.org/drawingml/2006/main">
              <a:ext uri="{FF2B5EF4-FFF2-40B4-BE49-F238E27FC236}">
                <a16:creationId xmlns:a16="http://schemas.microsoft.com/office/drawing/2014/main" id="{73A19B33-506D-4F54-8062-B9226427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9900"/>
            <a:ext cx="885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256346"/>
                </a:solidFill>
              </a:defRPr>
            </a:pPr>
            <a:r>
              <a:rPr sz="6150" b="1">
                <a:solidFill>
                  <a:srgbClr val="256346"/>
                </a:solidFill>
              </a:rPr>
              <a:t>RETURN SOURCE</a:t>
            </a:r>
          </a:p>
        </p:txBody>
      </p:sp>
      <p:sp>
        <p:nvSpPr>
          <p:cNvPr id="3" name="support-4">
            <a:extLst xmlns:a="http://schemas.openxmlformats.org/drawingml/2006/main">
              <a:ext uri="{FF2B5EF4-FFF2-40B4-BE49-F238E27FC236}">
                <a16:creationId xmlns:a16="http://schemas.microsoft.com/office/drawing/2014/main" id="{5B97353D-625F-460D-9700-16A2A349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625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3605A"/>
                </a:solidFill>
              </a:defRPr>
            </a:pPr>
            <a:r>
              <a:rPr sz="1800" b="1">
                <a:solidFill>
                  <a:srgbClr val="53605A"/>
                </a:solidFill>
              </a:rPr>
              <a:t>Two questions before any label.</a:t>
            </a:r>
          </a:p>
        </p:txBody>
      </p:sp>
      <p:sp>
        <p:nvSpPr>
          <p:cNvPr id="4" name="cue-4">
            <a:extLst xmlns:a="http://schemas.openxmlformats.org/drawingml/2006/main">
              <a:ext uri="{FF2B5EF4-FFF2-40B4-BE49-F238E27FC236}">
                <a16:creationId xmlns:a16="http://schemas.microsoft.com/office/drawing/2014/main" id="{82DF7EC2-96EB-4E10-8440-C03B6C42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46"/>
                </a:solidFill>
              </a:defRPr>
            </a:pPr>
            <a:r>
              <a:rPr sz="1200" b="1">
                <a:solidFill>
                  <a:srgbClr val="256346"/>
                </a:solidFill>
              </a:rPr>
              <a:t>NOTEBOOK · WRITE THE TWO QUESTIONS</a:t>
            </a:r>
          </a:p>
        </p:txBody>
      </p:sp>
      <p:sp>
        <p:nvSpPr>
          <p:cNvPr id="5" name="count-4">
            <a:extLst xmlns:a="http://schemas.openxmlformats.org/drawingml/2006/main">
              <a:ext uri="{FF2B5EF4-FFF2-40B4-BE49-F238E27FC236}">
                <a16:creationId xmlns:a16="http://schemas.microsoft.com/office/drawing/2014/main" id="{D0A48CEC-3595-4669-ADF9-3D61E704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05A"/>
                </a:solidFill>
              </a:defRPr>
            </a:pPr>
            <a:r>
              <a:rPr sz="1200" b="1">
                <a:solidFill>
                  <a:srgbClr val="53605A"/>
                </a:solidFill>
              </a:rPr>
              <a:t>04 / 21</a:t>
            </a:r>
          </a:p>
        </p:txBody>
      </p:sp>
      <p:sp>
        <p:nvSpPr>
          <p:cNvPr id="6" name="progress-4">
            <a:extLst xmlns:a="http://schemas.openxmlformats.org/drawingml/2006/main">
              <a:ext uri="{FF2B5EF4-FFF2-40B4-BE49-F238E27FC236}">
                <a16:creationId xmlns:a16="http://schemas.microsoft.com/office/drawing/2014/main" id="{53770FEC-8243-471E-91D4-395DC1CF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10375"/>
            <a:ext cx="2322286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4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82995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0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49026ea6f24359"/>
          <a:stretch xmlns:a="http://schemas.openxmlformats.org/drawingml/2006/main"/>
        </p:blipFill>
        <p:spPr>
          <a:xfrm xmlns:a="http://schemas.openxmlformats.org/drawingml/2006/main">
            <a:off x="400050" y="1596390"/>
            <a:ext cx="11391900" cy="3417570"/>
          </a:xfrm>
          <a:prstGeom xmlns:a="http://schemas.openxmlformats.org/drawingml/2006/main" prst="rect">
            <a:avLst/>
          </a:prstGeom>
        </p:spPr>
      </p:pic>
      <p:sp>
        <p:nvSpPr>
          <p:cNvPr id="2" name="footer-bar-5">
            <a:extLst xmlns:a="http://schemas.openxmlformats.org/drawingml/2006/main">
              <a:ext uri="{FF2B5EF4-FFF2-40B4-BE49-F238E27FC236}">
                <a16:creationId xmlns:a16="http://schemas.microsoft.com/office/drawing/2014/main" id="{9A8297D3-AEBF-40C5-93F2-B55812A4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ue-5">
            <a:extLst xmlns:a="http://schemas.openxmlformats.org/drawingml/2006/main">
              <a:ext uri="{FF2B5EF4-FFF2-40B4-BE49-F238E27FC236}">
                <a16:creationId xmlns:a16="http://schemas.microsoft.com/office/drawing/2014/main" id="{98C715C5-3C3E-4FF9-9FE3-A157F0E3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HANDOUT · PAGE 1</a:t>
            </a:r>
          </a:p>
        </p:txBody>
      </p:sp>
      <p:sp>
        <p:nvSpPr>
          <p:cNvPr id="4" name="count-5">
            <a:extLst xmlns:a="http://schemas.openxmlformats.org/drawingml/2006/main">
              <a:ext uri="{FF2B5EF4-FFF2-40B4-BE49-F238E27FC236}">
                <a16:creationId xmlns:a16="http://schemas.microsoft.com/office/drawing/2014/main" id="{00AE5EF2-60B6-4606-BD5D-E40F4507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05 / 21</a:t>
            </a:r>
          </a:p>
        </p:txBody>
      </p:sp>
      <p:sp>
        <p:nvSpPr>
          <p:cNvPr id="5" name="progress-5">
            <a:extLst xmlns:a="http://schemas.openxmlformats.org/drawingml/2006/main">
              <a:ext uri="{FF2B5EF4-FFF2-40B4-BE49-F238E27FC236}">
                <a16:creationId xmlns:a16="http://schemas.microsoft.com/office/drawing/2014/main" id="{0DB1128F-73C3-44A6-9274-4F733EAB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10375"/>
            <a:ext cx="2902857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4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330371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keyword-6-1">
            <a:extLst xmlns:a="http://schemas.openxmlformats.org/drawingml/2006/main">
              <a:ext uri="{FF2B5EF4-FFF2-40B4-BE49-F238E27FC236}">
                <a16:creationId xmlns:a16="http://schemas.microsoft.com/office/drawing/2014/main" id="{B456D443-B852-4CBE-ADE9-7D797443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8858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200" b="1">
                <a:solidFill>
                  <a:srgbClr val="111713"/>
                </a:solidFill>
              </a:defRPr>
            </a:pPr>
            <a:r>
              <a:rPr sz="7200" b="1">
                <a:solidFill>
                  <a:srgbClr val="111713"/>
                </a:solidFill>
              </a:rPr>
              <a:t>TOTAL RETURN</a:t>
            </a:r>
          </a:p>
        </p:txBody>
      </p:sp>
      <p:sp>
        <p:nvSpPr>
          <p:cNvPr id="2" name="keyword-zh-6-1">
            <a:extLst xmlns:a="http://schemas.openxmlformats.org/drawingml/2006/main">
              <a:ext uri="{FF2B5EF4-FFF2-40B4-BE49-F238E27FC236}">
                <a16:creationId xmlns:a16="http://schemas.microsoft.com/office/drawing/2014/main" id="{FBB32278-93A9-4689-85CF-3A94C2B8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955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53605A"/>
                </a:solidFill>
              </a:defRPr>
            </a:pPr>
            <a:r>
              <a:rPr sz="1650" b="1">
                <a:solidFill>
                  <a:srgbClr val="53605A"/>
                </a:solidFill>
              </a:rPr>
              <a:t>总回报</a:t>
            </a:r>
          </a:p>
        </p:txBody>
      </p:sp>
      <p:sp>
        <p:nvSpPr>
          <p:cNvPr id="3" name="support-6">
            <a:extLst xmlns:a="http://schemas.openxmlformats.org/drawingml/2006/main">
              <a:ext uri="{FF2B5EF4-FFF2-40B4-BE49-F238E27FC236}">
                <a16:creationId xmlns:a16="http://schemas.microsoft.com/office/drawing/2014/main" id="{303189FC-5642-4AD8-BE83-3FC9B2E3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713"/>
                </a:solidFill>
              </a:defRPr>
            </a:pPr>
            <a:r>
              <a:rPr sz="2850" b="1">
                <a:solidFill>
                  <a:srgbClr val="111713"/>
                </a:solidFill>
              </a:rPr>
              <a:t>income + change in market value</a:t>
            </a:r>
          </a:p>
        </p:txBody>
      </p:sp>
      <p:sp>
        <p:nvSpPr>
          <p:cNvPr id="4" name="cue-6">
            <a:extLst xmlns:a="http://schemas.openxmlformats.org/drawingml/2006/main">
              <a:ext uri="{FF2B5EF4-FFF2-40B4-BE49-F238E27FC236}">
                <a16:creationId xmlns:a16="http://schemas.microsoft.com/office/drawing/2014/main" id="{3FC1F85E-5910-41BE-804A-2F509785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46"/>
                </a:solidFill>
              </a:defRPr>
            </a:pPr>
            <a:r>
              <a:rPr sz="1200" b="1">
                <a:solidFill>
                  <a:srgbClr val="256346"/>
                </a:solidFill>
              </a:rPr>
              <a:t>NOTEBOOK · COPY THE RELATIONSHIP</a:t>
            </a:r>
          </a:p>
        </p:txBody>
      </p:sp>
      <p:sp>
        <p:nvSpPr>
          <p:cNvPr id="5" name="count-6">
            <a:extLst xmlns:a="http://schemas.openxmlformats.org/drawingml/2006/main">
              <a:ext uri="{FF2B5EF4-FFF2-40B4-BE49-F238E27FC236}">
                <a16:creationId xmlns:a16="http://schemas.microsoft.com/office/drawing/2014/main" id="{24049B57-308C-4280-93B9-5B91D617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05A"/>
                </a:solidFill>
              </a:defRPr>
            </a:pPr>
            <a:r>
              <a:rPr sz="1200" b="1">
                <a:solidFill>
                  <a:srgbClr val="53605A"/>
                </a:solidFill>
              </a:rPr>
              <a:t>06 / 21</a:t>
            </a:r>
          </a:p>
        </p:txBody>
      </p:sp>
      <p:sp>
        <p:nvSpPr>
          <p:cNvPr id="6" name="progress-6">
            <a:extLst xmlns:a="http://schemas.openxmlformats.org/drawingml/2006/main">
              <a:ext uri="{FF2B5EF4-FFF2-40B4-BE49-F238E27FC236}">
                <a16:creationId xmlns:a16="http://schemas.microsoft.com/office/drawing/2014/main" id="{EEC7B5EF-BB45-4069-9C39-DDCF02CC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10375"/>
            <a:ext cx="3483429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4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350186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0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7dddb887004326"/>
          <a:srcRect xmlns:a="http://schemas.openxmlformats.org/drawingml/2006/main" l="0" t="10156" r="0" b="101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477000"/>
          </a:xfrm>
          <a:prstGeom xmlns:a="http://schemas.openxmlformats.org/drawingml/2006/main" prst="rect">
            <a:avLst/>
          </a:prstGeom>
        </p:spPr>
      </p:pic>
      <p:sp>
        <p:nvSpPr>
          <p:cNvPr id="2" name="question-panel-7">
            <a:extLst xmlns:a="http://schemas.openxmlformats.org/drawingml/2006/main">
              <a:ext uri="{FF2B5EF4-FFF2-40B4-BE49-F238E27FC236}">
                <a16:creationId xmlns:a16="http://schemas.microsoft.com/office/drawing/2014/main" id="{3513F86A-C438-4726-B7FC-9D73E97A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287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question-7">
            <a:extLst xmlns:a="http://schemas.openxmlformats.org/drawingml/2006/main">
              <a:ext uri="{FF2B5EF4-FFF2-40B4-BE49-F238E27FC236}">
                <a16:creationId xmlns:a16="http://schemas.microsoft.com/office/drawing/2014/main" id="{9D9948A4-A7CE-40CD-8311-046F04AA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9791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713"/>
                </a:solidFill>
              </a:defRPr>
            </a:pPr>
            <a:r>
              <a:rPr sz="4050" b="1">
                <a:solidFill>
                  <a:srgbClr val="111713"/>
                </a:solidFill>
              </a:rPr>
              <a:t>What would count as evidence?</a:t>
            </a:r>
          </a:p>
        </p:txBody>
      </p:sp>
      <p:sp>
        <p:nvSpPr>
          <p:cNvPr id="4" name="footer-bar-7">
            <a:extLst xmlns:a="http://schemas.openxmlformats.org/drawingml/2006/main">
              <a:ext uri="{FF2B5EF4-FFF2-40B4-BE49-F238E27FC236}">
                <a16:creationId xmlns:a16="http://schemas.microsoft.com/office/drawing/2014/main" id="{398B72C5-E162-4A32-A5CF-ED35B82B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ue-7">
            <a:extLst xmlns:a="http://schemas.openxmlformats.org/drawingml/2006/main">
              <a:ext uri="{FF2B5EF4-FFF2-40B4-BE49-F238E27FC236}">
                <a16:creationId xmlns:a16="http://schemas.microsoft.com/office/drawing/2014/main" id="{F283A536-E84B-411F-8C9D-4FCECC29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HANDOUT · INVESTMENT EXAMPLES</a:t>
            </a:r>
          </a:p>
        </p:txBody>
      </p:sp>
      <p:sp>
        <p:nvSpPr>
          <p:cNvPr id="6" name="count-7">
            <a:extLst xmlns:a="http://schemas.openxmlformats.org/drawingml/2006/main">
              <a:ext uri="{FF2B5EF4-FFF2-40B4-BE49-F238E27FC236}">
                <a16:creationId xmlns:a16="http://schemas.microsoft.com/office/drawing/2014/main" id="{7FDF92AA-8A16-4939-9F2D-459C4543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07 / 21</a:t>
            </a:r>
          </a:p>
        </p:txBody>
      </p:sp>
      <p:sp>
        <p:nvSpPr>
          <p:cNvPr id="7" name="progress-7">
            <a:extLst xmlns:a="http://schemas.openxmlformats.org/drawingml/2006/main">
              <a:ext uri="{FF2B5EF4-FFF2-40B4-BE49-F238E27FC236}">
                <a16:creationId xmlns:a16="http://schemas.microsoft.com/office/drawing/2014/main" id="{93A38CE6-9B95-43B7-96B5-5F8CA6CD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10375"/>
            <a:ext cx="406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4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474879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keyword-8-1">
            <a:extLst xmlns:a="http://schemas.openxmlformats.org/drawingml/2006/main">
              <a:ext uri="{FF2B5EF4-FFF2-40B4-BE49-F238E27FC236}">
                <a16:creationId xmlns:a16="http://schemas.microsoft.com/office/drawing/2014/main" id="{5EC07F33-4059-4946-AD1C-D3D2D808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52550"/>
            <a:ext cx="885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111713"/>
                </a:solidFill>
              </a:defRPr>
            </a:pPr>
            <a:r>
              <a:rPr sz="6150" b="1">
                <a:solidFill>
                  <a:srgbClr val="111713"/>
                </a:solidFill>
              </a:rPr>
              <a:t>EVIDENCE</a:t>
            </a:r>
          </a:p>
        </p:txBody>
      </p:sp>
      <p:sp>
        <p:nvSpPr>
          <p:cNvPr id="2" name="keyword-8-2">
            <a:extLst xmlns:a="http://schemas.openxmlformats.org/drawingml/2006/main">
              <a:ext uri="{FF2B5EF4-FFF2-40B4-BE49-F238E27FC236}">
                <a16:creationId xmlns:a16="http://schemas.microsoft.com/office/drawing/2014/main" id="{E7F0386C-CC1D-4DDE-856B-8E14DC2E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9900"/>
            <a:ext cx="885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256346"/>
                </a:solidFill>
              </a:defRPr>
            </a:pPr>
            <a:r>
              <a:rPr sz="6150" b="1">
                <a:solidFill>
                  <a:srgbClr val="256346"/>
                </a:solidFill>
              </a:rPr>
              <a:t>≠ CERTAINTY</a:t>
            </a:r>
          </a:p>
        </p:txBody>
      </p:sp>
      <p:sp>
        <p:nvSpPr>
          <p:cNvPr id="3" name="support-8">
            <a:extLst xmlns:a="http://schemas.openxmlformats.org/drawingml/2006/main">
              <a:ext uri="{FF2B5EF4-FFF2-40B4-BE49-F238E27FC236}">
                <a16:creationId xmlns:a16="http://schemas.microsoft.com/office/drawing/2014/main" id="{7F9ACA66-3BE0-435C-B3FB-95D6294C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625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3605A"/>
                </a:solidFill>
              </a:defRPr>
            </a:pPr>
            <a:r>
              <a:rPr sz="1800" b="1">
                <a:solidFill>
                  <a:srgbClr val="53605A"/>
                </a:solidFill>
              </a:rPr>
              <a:t>An informed investment can still lose money.</a:t>
            </a:r>
          </a:p>
        </p:txBody>
      </p:sp>
      <p:sp>
        <p:nvSpPr>
          <p:cNvPr id="4" name="cue-8">
            <a:extLst xmlns:a="http://schemas.openxmlformats.org/drawingml/2006/main">
              <a:ext uri="{FF2B5EF4-FFF2-40B4-BE49-F238E27FC236}">
                <a16:creationId xmlns:a16="http://schemas.microsoft.com/office/drawing/2014/main" id="{A9A943F2-818F-4077-BA4C-44A90A07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46"/>
                </a:solidFill>
              </a:defRPr>
            </a:pPr>
            <a:r>
              <a:rPr sz="1200" b="1">
                <a:solidFill>
                  <a:srgbClr val="256346"/>
                </a:solidFill>
              </a:rPr>
              <a:t>HANDOUT · DISCUSS THE LIMIT</a:t>
            </a:r>
          </a:p>
        </p:txBody>
      </p:sp>
      <p:sp>
        <p:nvSpPr>
          <p:cNvPr id="5" name="count-8">
            <a:extLst xmlns:a="http://schemas.openxmlformats.org/drawingml/2006/main">
              <a:ext uri="{FF2B5EF4-FFF2-40B4-BE49-F238E27FC236}">
                <a16:creationId xmlns:a16="http://schemas.microsoft.com/office/drawing/2014/main" id="{CAF38C46-4A9F-466C-BE71-12CB60B9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05A"/>
                </a:solidFill>
              </a:defRPr>
            </a:pPr>
            <a:r>
              <a:rPr sz="1200" b="1">
                <a:solidFill>
                  <a:srgbClr val="53605A"/>
                </a:solidFill>
              </a:rPr>
              <a:t>08 / 21</a:t>
            </a:r>
          </a:p>
        </p:txBody>
      </p:sp>
      <p:sp>
        <p:nvSpPr>
          <p:cNvPr id="6" name="progress-8">
            <a:extLst xmlns:a="http://schemas.openxmlformats.org/drawingml/2006/main">
              <a:ext uri="{FF2B5EF4-FFF2-40B4-BE49-F238E27FC236}">
                <a16:creationId xmlns:a16="http://schemas.microsoft.com/office/drawing/2014/main" id="{A5BA6F74-AD32-40C5-80EF-FAD509DF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10375"/>
            <a:ext cx="4644571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4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45321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0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11abf46b3240a2"/>
          <a:srcRect xmlns:a="http://schemas.openxmlformats.org/drawingml/2006/main" l="0" t="2778" r="0" b="27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477000"/>
          </a:xfrm>
          <a:prstGeom xmlns:a="http://schemas.openxmlformats.org/drawingml/2006/main" prst="rect">
            <a:avLst/>
          </a:prstGeom>
        </p:spPr>
      </p:pic>
      <p:sp>
        <p:nvSpPr>
          <p:cNvPr id="2" name="question-panel-9">
            <a:extLst xmlns:a="http://schemas.openxmlformats.org/drawingml/2006/main">
              <a:ext uri="{FF2B5EF4-FFF2-40B4-BE49-F238E27FC236}">
                <a16:creationId xmlns:a16="http://schemas.microsoft.com/office/drawing/2014/main" id="{6A6AB288-0662-431C-A9A7-BA888488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287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question-9">
            <a:extLst xmlns:a="http://schemas.openxmlformats.org/drawingml/2006/main">
              <a:ext uri="{FF2B5EF4-FFF2-40B4-BE49-F238E27FC236}">
                <a16:creationId xmlns:a16="http://schemas.microsoft.com/office/drawing/2014/main" id="{9F31D96D-A565-4B70-B709-A3B0B37E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9791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713"/>
                </a:solidFill>
              </a:defRPr>
            </a:pPr>
            <a:r>
              <a:rPr sz="3750" b="1">
                <a:solidFill>
                  <a:srgbClr val="111713"/>
                </a:solidFill>
              </a:rPr>
              <a:t>What is the trade mainly relying on?</a:t>
            </a:r>
          </a:p>
        </p:txBody>
      </p:sp>
      <p:sp>
        <p:nvSpPr>
          <p:cNvPr id="4" name="footer-bar-9">
            <a:extLst xmlns:a="http://schemas.openxmlformats.org/drawingml/2006/main">
              <a:ext uri="{FF2B5EF4-FFF2-40B4-BE49-F238E27FC236}">
                <a16:creationId xmlns:a16="http://schemas.microsoft.com/office/drawing/2014/main" id="{745B3B36-3CE0-47D7-8569-942CB034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ue-9">
            <a:extLst xmlns:a="http://schemas.openxmlformats.org/drawingml/2006/main">
              <a:ext uri="{FF2B5EF4-FFF2-40B4-BE49-F238E27FC236}">
                <a16:creationId xmlns:a16="http://schemas.microsoft.com/office/drawing/2014/main" id="{B1691FB0-C951-452B-97A1-1781CC25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HANDOUT · SPECULATION</a:t>
            </a:r>
          </a:p>
        </p:txBody>
      </p:sp>
      <p:sp>
        <p:nvSpPr>
          <p:cNvPr id="6" name="count-9">
            <a:extLst xmlns:a="http://schemas.openxmlformats.org/drawingml/2006/main">
              <a:ext uri="{FF2B5EF4-FFF2-40B4-BE49-F238E27FC236}">
                <a16:creationId xmlns:a16="http://schemas.microsoft.com/office/drawing/2014/main" id="{CEAC02A2-913A-41A1-83D8-3272ABDC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09 / 21</a:t>
            </a:r>
          </a:p>
        </p:txBody>
      </p:sp>
      <p:sp>
        <p:nvSpPr>
          <p:cNvPr id="7" name="progress-9">
            <a:extLst xmlns:a="http://schemas.openxmlformats.org/drawingml/2006/main">
              <a:ext uri="{FF2B5EF4-FFF2-40B4-BE49-F238E27FC236}">
                <a16:creationId xmlns:a16="http://schemas.microsoft.com/office/drawing/2014/main" id="{BD7027B2-D183-4761-A36C-3E7FE941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10375"/>
            <a:ext cx="522514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4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33314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keyword-10-1">
            <a:extLst xmlns:a="http://schemas.openxmlformats.org/drawingml/2006/main">
              <a:ext uri="{FF2B5EF4-FFF2-40B4-BE49-F238E27FC236}">
                <a16:creationId xmlns:a16="http://schemas.microsoft.com/office/drawing/2014/main" id="{D1EFE9DB-3B60-4C7E-9CB2-B4AC021A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52625"/>
            <a:ext cx="8858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111713"/>
                </a:solidFill>
              </a:defRPr>
            </a:pPr>
            <a:r>
              <a:rPr sz="6150" b="1">
                <a:solidFill>
                  <a:srgbClr val="111713"/>
                </a:solidFill>
              </a:rPr>
              <a:t>PRICE PREDICTION</a:t>
            </a:r>
          </a:p>
        </p:txBody>
      </p:sp>
      <p:sp>
        <p:nvSpPr>
          <p:cNvPr id="2" name="keyword-zh-10-1">
            <a:extLst xmlns:a="http://schemas.openxmlformats.org/drawingml/2006/main">
              <a:ext uri="{FF2B5EF4-FFF2-40B4-BE49-F238E27FC236}">
                <a16:creationId xmlns:a16="http://schemas.microsoft.com/office/drawing/2014/main" id="{8B119F0C-62DC-47AA-8254-53C2BDB1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955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53605A"/>
                </a:solidFill>
              </a:defRPr>
            </a:pPr>
            <a:r>
              <a:rPr sz="1650" b="1">
                <a:solidFill>
                  <a:srgbClr val="53605A"/>
                </a:solidFill>
              </a:rPr>
              <a:t>价格预测</a:t>
            </a:r>
          </a:p>
        </p:txBody>
      </p:sp>
      <p:sp>
        <p:nvSpPr>
          <p:cNvPr id="3" name="support-10">
            <a:extLst xmlns:a="http://schemas.openxmlformats.org/drawingml/2006/main">
              <a:ext uri="{FF2B5EF4-FFF2-40B4-BE49-F238E27FC236}">
                <a16:creationId xmlns:a16="http://schemas.microsoft.com/office/drawing/2014/main" id="{2AAB7300-3930-4888-B385-73F4C9E2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3605A"/>
                </a:solidFill>
              </a:defRPr>
            </a:pPr>
            <a:r>
              <a:rPr sz="1800" b="1">
                <a:solidFill>
                  <a:srgbClr val="53605A"/>
                </a:solidFill>
              </a:rPr>
              <a:t>main basis → speculation (投机)</a:t>
            </a:r>
          </a:p>
        </p:txBody>
      </p:sp>
      <p:sp>
        <p:nvSpPr>
          <p:cNvPr id="4" name="cue-10">
            <a:extLst xmlns:a="http://schemas.openxmlformats.org/drawingml/2006/main">
              <a:ext uri="{FF2B5EF4-FFF2-40B4-BE49-F238E27FC236}">
                <a16:creationId xmlns:a16="http://schemas.microsoft.com/office/drawing/2014/main" id="{A157DC51-88C7-4F06-9DE6-73291DBD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46"/>
                </a:solidFill>
              </a:defRPr>
            </a:pPr>
            <a:r>
              <a:rPr sz="1200" b="1">
                <a:solidFill>
                  <a:srgbClr val="256346"/>
                </a:solidFill>
              </a:rPr>
              <a:t>HANDOUT · TEST THE RULE</a:t>
            </a:r>
          </a:p>
        </p:txBody>
      </p:sp>
      <p:sp>
        <p:nvSpPr>
          <p:cNvPr id="5" name="count-10">
            <a:extLst xmlns:a="http://schemas.openxmlformats.org/drawingml/2006/main">
              <a:ext uri="{FF2B5EF4-FFF2-40B4-BE49-F238E27FC236}">
                <a16:creationId xmlns:a16="http://schemas.microsoft.com/office/drawing/2014/main" id="{82CB18B5-6B99-46CD-9575-5F14C306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05A"/>
                </a:solidFill>
              </a:defRPr>
            </a:pPr>
            <a:r>
              <a:rPr sz="1200" b="1">
                <a:solidFill>
                  <a:srgbClr val="53605A"/>
                </a:solidFill>
              </a:rPr>
              <a:t>10 / 21</a:t>
            </a:r>
          </a:p>
        </p:txBody>
      </p:sp>
      <p:sp>
        <p:nvSpPr>
          <p:cNvPr id="6" name="progress-10">
            <a:extLst xmlns:a="http://schemas.openxmlformats.org/drawingml/2006/main">
              <a:ext uri="{FF2B5EF4-FFF2-40B4-BE49-F238E27FC236}">
                <a16:creationId xmlns:a16="http://schemas.microsoft.com/office/drawing/2014/main" id="{FF1647D3-2B66-48B1-BFCA-215819BD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10375"/>
            <a:ext cx="5805714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4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608120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0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5930c67ec54350"/>
          <a:srcRect xmlns:a="http://schemas.openxmlformats.org/drawingml/2006/main" l="0" t="8197" r="0" b="81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477000"/>
          </a:xfrm>
          <a:prstGeom xmlns:a="http://schemas.openxmlformats.org/drawingml/2006/main" prst="rect">
            <a:avLst/>
          </a:prstGeom>
        </p:spPr>
      </p:pic>
      <p:sp>
        <p:nvSpPr>
          <p:cNvPr id="2" name="question-panel-11">
            <a:extLst xmlns:a="http://schemas.openxmlformats.org/drawingml/2006/main">
              <a:ext uri="{FF2B5EF4-FFF2-40B4-BE49-F238E27FC236}">
                <a16:creationId xmlns:a16="http://schemas.microsoft.com/office/drawing/2014/main" id="{0C47C28B-BB49-4588-B785-6275E777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287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question-11">
            <a:extLst xmlns:a="http://schemas.openxmlformats.org/drawingml/2006/main">
              <a:ext uri="{FF2B5EF4-FFF2-40B4-BE49-F238E27FC236}">
                <a16:creationId xmlns:a16="http://schemas.microsoft.com/office/drawing/2014/main" id="{54C71555-2588-43A5-B9DD-D7FB91B6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9791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713"/>
                </a:solidFill>
              </a:defRPr>
            </a:pPr>
            <a:r>
              <a:rPr sz="4050" b="1">
                <a:solidFill>
                  <a:srgbClr val="111713"/>
                </a:solidFill>
              </a:rPr>
              <a:t>What matters more than return?</a:t>
            </a:r>
          </a:p>
        </p:txBody>
      </p:sp>
      <p:sp>
        <p:nvSpPr>
          <p:cNvPr id="4" name="footer-bar-11">
            <a:extLst xmlns:a="http://schemas.openxmlformats.org/drawingml/2006/main">
              <a:ext uri="{FF2B5EF4-FFF2-40B4-BE49-F238E27FC236}">
                <a16:creationId xmlns:a16="http://schemas.microsoft.com/office/drawing/2014/main" id="{F07AE05A-9754-4209-86B4-FD64F74F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ue-11">
            <a:extLst xmlns:a="http://schemas.openxmlformats.org/drawingml/2006/main">
              <a:ext uri="{FF2B5EF4-FFF2-40B4-BE49-F238E27FC236}">
                <a16:creationId xmlns:a16="http://schemas.microsoft.com/office/drawing/2014/main" id="{AD43BEE4-3C9C-4BDB-88D1-66CE4060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HANDOUT · SAVING</a:t>
            </a:r>
          </a:p>
        </p:txBody>
      </p:sp>
      <p:sp>
        <p:nvSpPr>
          <p:cNvPr id="6" name="count-11">
            <a:extLst xmlns:a="http://schemas.openxmlformats.org/drawingml/2006/main">
              <a:ext uri="{FF2B5EF4-FFF2-40B4-BE49-F238E27FC236}">
                <a16:creationId xmlns:a16="http://schemas.microsoft.com/office/drawing/2014/main" id="{A7998A39-7036-4CA5-98AA-55EE3B4B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11 / 21</a:t>
            </a:r>
          </a:p>
        </p:txBody>
      </p:sp>
      <p:sp>
        <p:nvSpPr>
          <p:cNvPr id="7" name="progress-11">
            <a:extLst xmlns:a="http://schemas.openxmlformats.org/drawingml/2006/main">
              <a:ext uri="{FF2B5EF4-FFF2-40B4-BE49-F238E27FC236}">
                <a16:creationId xmlns:a16="http://schemas.microsoft.com/office/drawing/2014/main" id="{F7B33C32-8C57-4C53-8BD3-5F4528F7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10375"/>
            <a:ext cx="6386286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4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658465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eyword-12-1">
            <a:extLst xmlns:a="http://schemas.openxmlformats.org/drawingml/2006/main">
              <a:ext uri="{FF2B5EF4-FFF2-40B4-BE49-F238E27FC236}">
                <a16:creationId xmlns:a16="http://schemas.microsoft.com/office/drawing/2014/main" id="{58F1BE18-6DEA-4143-A6A5-2CD9179C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52550"/>
            <a:ext cx="885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111713"/>
                </a:solidFill>
              </a:defRPr>
            </a:pPr>
            <a:r>
              <a:rPr sz="5850" b="1">
                <a:solidFill>
                  <a:srgbClr val="111713"/>
                </a:solidFill>
              </a:rPr>
              <a:t>PRESERVATION</a:t>
            </a:r>
          </a:p>
        </p:txBody>
      </p:sp>
      <p:sp>
        <p:nvSpPr>
          <p:cNvPr id="2" name="keyword-zh-12-1">
            <a:extLst xmlns:a="http://schemas.openxmlformats.org/drawingml/2006/main">
              <a:ext uri="{FF2B5EF4-FFF2-40B4-BE49-F238E27FC236}">
                <a16:creationId xmlns:a16="http://schemas.microsoft.com/office/drawing/2014/main" id="{51EC251E-F394-4E29-9940-2986913D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8764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53605A"/>
                </a:solidFill>
              </a:defRPr>
            </a:pPr>
            <a:r>
              <a:rPr sz="1650" b="1">
                <a:solidFill>
                  <a:srgbClr val="53605A"/>
                </a:solidFill>
              </a:rPr>
              <a:t>保本</a:t>
            </a:r>
          </a:p>
        </p:txBody>
      </p:sp>
      <p:sp>
        <p:nvSpPr>
          <p:cNvPr id="3" name="keyword-12-2">
            <a:extLst xmlns:a="http://schemas.openxmlformats.org/drawingml/2006/main">
              <a:ext uri="{FF2B5EF4-FFF2-40B4-BE49-F238E27FC236}">
                <a16:creationId xmlns:a16="http://schemas.microsoft.com/office/drawing/2014/main" id="{F93C2A7A-0B85-484C-A29E-C4B97F17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9900"/>
            <a:ext cx="885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256346"/>
                </a:solidFill>
              </a:defRPr>
            </a:pPr>
            <a:r>
              <a:rPr sz="5850" b="1">
                <a:solidFill>
                  <a:srgbClr val="256346"/>
                </a:solidFill>
              </a:rPr>
              <a:t>LIQUIDITY</a:t>
            </a:r>
          </a:p>
        </p:txBody>
      </p:sp>
      <p:sp>
        <p:nvSpPr>
          <p:cNvPr id="4" name="keyword-zh-12-2">
            <a:extLst xmlns:a="http://schemas.openxmlformats.org/drawingml/2006/main">
              <a:ext uri="{FF2B5EF4-FFF2-40B4-BE49-F238E27FC236}">
                <a16:creationId xmlns:a16="http://schemas.microsoft.com/office/drawing/2014/main" id="{1DE6C5DE-18CB-425A-B4F0-5ED995A4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53377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53605A"/>
                </a:solidFill>
              </a:defRPr>
            </a:pPr>
            <a:r>
              <a:rPr sz="1650" b="1">
                <a:solidFill>
                  <a:srgbClr val="53605A"/>
                </a:solidFill>
              </a:rPr>
              <a:t>流动性</a:t>
            </a:r>
          </a:p>
        </p:txBody>
      </p:sp>
      <p:sp>
        <p:nvSpPr>
          <p:cNvPr id="5" name="support-12">
            <a:extLst xmlns:a="http://schemas.openxmlformats.org/drawingml/2006/main">
              <a:ext uri="{FF2B5EF4-FFF2-40B4-BE49-F238E27FC236}">
                <a16:creationId xmlns:a16="http://schemas.microsoft.com/office/drawing/2014/main" id="{9243BCFD-4E99-4BD2-9AAF-21898066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625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3605A"/>
                </a:solidFill>
              </a:defRPr>
            </a:pPr>
            <a:r>
              <a:rPr sz="1800" b="1">
                <a:solidFill>
                  <a:srgbClr val="53605A"/>
                </a:solidFill>
              </a:rPr>
              <a:t>main priorities → saving (储蓄)</a:t>
            </a:r>
          </a:p>
        </p:txBody>
      </p:sp>
      <p:sp>
        <p:nvSpPr>
          <p:cNvPr id="6" name="cue-12">
            <a:extLst xmlns:a="http://schemas.openxmlformats.org/drawingml/2006/main">
              <a:ext uri="{FF2B5EF4-FFF2-40B4-BE49-F238E27FC236}">
                <a16:creationId xmlns:a16="http://schemas.microsoft.com/office/drawing/2014/main" id="{0DC57DBD-A3E0-429C-B4D4-9AE91EB8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46"/>
                </a:solidFill>
              </a:defRPr>
            </a:pPr>
            <a:r>
              <a:rPr sz="1200" b="1">
                <a:solidFill>
                  <a:srgbClr val="256346"/>
                </a:solidFill>
              </a:rPr>
              <a:t>HANDOUT · COMPARE PRIORITIES</a:t>
            </a:r>
          </a:p>
        </p:txBody>
      </p:sp>
      <p:sp>
        <p:nvSpPr>
          <p:cNvPr id="7" name="count-12">
            <a:extLst xmlns:a="http://schemas.openxmlformats.org/drawingml/2006/main">
              <a:ext uri="{FF2B5EF4-FFF2-40B4-BE49-F238E27FC236}">
                <a16:creationId xmlns:a16="http://schemas.microsoft.com/office/drawing/2014/main" id="{79080304-7832-45DB-8E6C-A492EFAF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05A"/>
                </a:solidFill>
              </a:defRPr>
            </a:pPr>
            <a:r>
              <a:rPr sz="1200" b="1">
                <a:solidFill>
                  <a:srgbClr val="53605A"/>
                </a:solidFill>
              </a:rPr>
              <a:t>12 / 21</a:t>
            </a:r>
          </a:p>
        </p:txBody>
      </p:sp>
      <p:sp>
        <p:nvSpPr>
          <p:cNvPr id="8" name="progress-12">
            <a:extLst xmlns:a="http://schemas.openxmlformats.org/drawingml/2006/main">
              <a:ext uri="{FF2B5EF4-FFF2-40B4-BE49-F238E27FC236}">
                <a16:creationId xmlns:a16="http://schemas.microsoft.com/office/drawing/2014/main" id="{61670788-6078-46A5-B816-C31841B4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10375"/>
            <a:ext cx="6966857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4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210358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eyword-13-1">
            <a:extLst xmlns:a="http://schemas.openxmlformats.org/drawingml/2006/main">
              <a:ext uri="{FF2B5EF4-FFF2-40B4-BE49-F238E27FC236}">
                <a16:creationId xmlns:a16="http://schemas.microsoft.com/office/drawing/2014/main" id="{FC68C370-4811-4DA7-A22E-ABBD80FA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62000"/>
            <a:ext cx="8858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111713"/>
                </a:solidFill>
              </a:defRPr>
            </a:pPr>
            <a:r>
              <a:rPr sz="5550" b="1">
                <a:solidFill>
                  <a:srgbClr val="111713"/>
                </a:solidFill>
              </a:rPr>
              <a:t>INVESTMENT</a:t>
            </a:r>
          </a:p>
        </p:txBody>
      </p:sp>
      <p:sp>
        <p:nvSpPr>
          <p:cNvPr id="2" name="keyword-zh-13-1">
            <a:extLst xmlns:a="http://schemas.openxmlformats.org/drawingml/2006/main">
              <a:ext uri="{FF2B5EF4-FFF2-40B4-BE49-F238E27FC236}">
                <a16:creationId xmlns:a16="http://schemas.microsoft.com/office/drawing/2014/main" id="{2DB38A5C-2D25-4848-B881-750A60A3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20967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53605A"/>
                </a:solidFill>
              </a:defRPr>
            </a:pPr>
            <a:r>
              <a:rPr sz="1650" b="1">
                <a:solidFill>
                  <a:srgbClr val="53605A"/>
                </a:solidFill>
              </a:rPr>
              <a:t>投资</a:t>
            </a:r>
          </a:p>
        </p:txBody>
      </p:sp>
      <p:sp>
        <p:nvSpPr>
          <p:cNvPr id="3" name="keyword-13-2">
            <a:extLst xmlns:a="http://schemas.openxmlformats.org/drawingml/2006/main">
              <a:ext uri="{FF2B5EF4-FFF2-40B4-BE49-F238E27FC236}">
                <a16:creationId xmlns:a16="http://schemas.microsoft.com/office/drawing/2014/main" id="{76DCB5E7-1ABF-4408-B34E-4EEDF7FF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8858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256346"/>
                </a:solidFill>
              </a:defRPr>
            </a:pPr>
            <a:r>
              <a:rPr sz="5550" b="1">
                <a:solidFill>
                  <a:srgbClr val="256346"/>
                </a:solidFill>
              </a:rPr>
              <a:t>SPECULATION</a:t>
            </a:r>
          </a:p>
        </p:txBody>
      </p:sp>
      <p:sp>
        <p:nvSpPr>
          <p:cNvPr id="4" name="keyword-zh-13-2">
            <a:extLst xmlns:a="http://schemas.openxmlformats.org/drawingml/2006/main">
              <a:ext uri="{FF2B5EF4-FFF2-40B4-BE49-F238E27FC236}">
                <a16:creationId xmlns:a16="http://schemas.microsoft.com/office/drawing/2014/main" id="{E84100DC-177E-465F-8D71-F6377902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8127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53605A"/>
                </a:solidFill>
              </a:defRPr>
            </a:pPr>
            <a:r>
              <a:rPr sz="1650" b="1">
                <a:solidFill>
                  <a:srgbClr val="53605A"/>
                </a:solidFill>
              </a:rPr>
              <a:t>投机</a:t>
            </a:r>
          </a:p>
        </p:txBody>
      </p:sp>
      <p:sp>
        <p:nvSpPr>
          <p:cNvPr id="5" name="keyword-13-3">
            <a:extLst xmlns:a="http://schemas.openxmlformats.org/drawingml/2006/main">
              <a:ext uri="{FF2B5EF4-FFF2-40B4-BE49-F238E27FC236}">
                <a16:creationId xmlns:a16="http://schemas.microsoft.com/office/drawing/2014/main" id="{2EDB0089-2019-4A2E-A731-A5758498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8858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256346"/>
                </a:solidFill>
              </a:defRPr>
            </a:pPr>
            <a:r>
              <a:rPr sz="5550" b="1">
                <a:solidFill>
                  <a:srgbClr val="256346"/>
                </a:solidFill>
              </a:rPr>
              <a:t>SAVING</a:t>
            </a:r>
          </a:p>
        </p:txBody>
      </p:sp>
      <p:sp>
        <p:nvSpPr>
          <p:cNvPr id="6" name="keyword-zh-13-3">
            <a:extLst xmlns:a="http://schemas.openxmlformats.org/drawingml/2006/main">
              <a:ext uri="{FF2B5EF4-FFF2-40B4-BE49-F238E27FC236}">
                <a16:creationId xmlns:a16="http://schemas.microsoft.com/office/drawing/2014/main" id="{3A2D256E-F20A-4231-96F4-982547F1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95287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53605A"/>
                </a:solidFill>
              </a:defRPr>
            </a:pPr>
            <a:r>
              <a:rPr sz="1650" b="1">
                <a:solidFill>
                  <a:srgbClr val="53605A"/>
                </a:solidFill>
              </a:rPr>
              <a:t>储蓄</a:t>
            </a:r>
          </a:p>
        </p:txBody>
      </p:sp>
      <p:sp>
        <p:nvSpPr>
          <p:cNvPr id="7" name="support-13">
            <a:extLst xmlns:a="http://schemas.openxmlformats.org/drawingml/2006/main">
              <a:ext uri="{FF2B5EF4-FFF2-40B4-BE49-F238E27FC236}">
                <a16:creationId xmlns:a16="http://schemas.microsoft.com/office/drawing/2014/main" id="{85918E92-BFB4-4E94-853A-ADF25795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9587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3605A"/>
                </a:solidFill>
              </a:defRPr>
            </a:pPr>
            <a:r>
              <a:rPr sz="1800" b="1">
                <a:solidFill>
                  <a:srgbClr val="53605A"/>
                </a:solidFill>
              </a:rPr>
              <a:t>Three categories. One main purpose.</a:t>
            </a:r>
          </a:p>
        </p:txBody>
      </p:sp>
      <p:sp>
        <p:nvSpPr>
          <p:cNvPr id="8" name="cue-13">
            <a:extLst xmlns:a="http://schemas.openxmlformats.org/drawingml/2006/main">
              <a:ext uri="{FF2B5EF4-FFF2-40B4-BE49-F238E27FC236}">
                <a16:creationId xmlns:a16="http://schemas.microsoft.com/office/drawing/2014/main" id="{C5E9DB50-D4E4-4221-B06E-E81B53B7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46"/>
                </a:solidFill>
              </a:defRPr>
            </a:pPr>
            <a:r>
              <a:rPr sz="1200" b="1">
                <a:solidFill>
                  <a:srgbClr val="256346"/>
                </a:solidFill>
              </a:rPr>
              <a:t>HANDOUT · COMPARISON GRID</a:t>
            </a:r>
          </a:p>
        </p:txBody>
      </p:sp>
      <p:sp>
        <p:nvSpPr>
          <p:cNvPr id="9" name="count-13">
            <a:extLst xmlns:a="http://schemas.openxmlformats.org/drawingml/2006/main">
              <a:ext uri="{FF2B5EF4-FFF2-40B4-BE49-F238E27FC236}">
                <a16:creationId xmlns:a16="http://schemas.microsoft.com/office/drawing/2014/main" id="{9323D3D0-B6D1-47D5-9E9A-3DFB9862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05A"/>
                </a:solidFill>
              </a:defRPr>
            </a:pPr>
            <a:r>
              <a:rPr sz="1200" b="1">
                <a:solidFill>
                  <a:srgbClr val="53605A"/>
                </a:solidFill>
              </a:rPr>
              <a:t>13 / 21</a:t>
            </a:r>
          </a:p>
        </p:txBody>
      </p:sp>
      <p:sp>
        <p:nvSpPr>
          <p:cNvPr id="10" name="progress-13">
            <a:extLst xmlns:a="http://schemas.openxmlformats.org/drawingml/2006/main">
              <a:ext uri="{FF2B5EF4-FFF2-40B4-BE49-F238E27FC236}">
                <a16:creationId xmlns:a16="http://schemas.microsoft.com/office/drawing/2014/main" id="{521DC564-BAB7-440C-96D3-9FEAA796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10375"/>
            <a:ext cx="7547429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4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915079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work-page-14">
            <a:extLst xmlns:a="http://schemas.openxmlformats.org/drawingml/2006/main">
              <a:ext uri="{FF2B5EF4-FFF2-40B4-BE49-F238E27FC236}">
                <a16:creationId xmlns:a16="http://schemas.microsoft.com/office/drawing/2014/main" id="{DC046AA8-1861-4E1F-82E6-74D01258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6680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46"/>
                </a:solidFill>
              </a:defRPr>
            </a:pPr>
            <a:r>
              <a:rPr sz="2100" b="1">
                <a:solidFill>
                  <a:srgbClr val="256346"/>
                </a:solidFill>
              </a:rPr>
              <a:t>HANDOUT · PAGE 2</a:t>
            </a:r>
          </a:p>
        </p:txBody>
      </p:sp>
      <p:sp>
        <p:nvSpPr>
          <p:cNvPr id="2" name="work-cases-14">
            <a:extLst xmlns:a="http://schemas.openxmlformats.org/drawingml/2006/main">
              <a:ext uri="{FF2B5EF4-FFF2-40B4-BE49-F238E27FC236}">
                <a16:creationId xmlns:a16="http://schemas.microsoft.com/office/drawing/2014/main" id="{B6BE2B3F-DD52-422E-BC34-8F37857F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6191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700" b="1">
                <a:solidFill>
                  <a:srgbClr val="111713"/>
                </a:solidFill>
              </a:defRPr>
            </a:pPr>
            <a:r>
              <a:rPr sz="11700" b="1">
                <a:solidFill>
                  <a:srgbClr val="111713"/>
                </a:solidFill>
              </a:rPr>
              <a:t>A–D</a:t>
            </a:r>
          </a:p>
        </p:txBody>
      </p:sp>
      <p:sp>
        <p:nvSpPr>
          <p:cNvPr id="3" name="work-action-14">
            <a:extLst xmlns:a="http://schemas.openxmlformats.org/drawingml/2006/main">
              <a:ext uri="{FF2B5EF4-FFF2-40B4-BE49-F238E27FC236}">
                <a16:creationId xmlns:a16="http://schemas.microsoft.com/office/drawing/2014/main" id="{44ED8A15-63DD-403C-9563-6D7B4C3A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609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3605A"/>
                </a:solidFill>
              </a:defRPr>
            </a:pPr>
            <a:r>
              <a:rPr sz="2400" b="1">
                <a:solidFill>
                  <a:srgbClr val="53605A"/>
                </a:solidFill>
              </a:rPr>
              <a:t>Classify. Cite one decisive clue.</a:t>
            </a:r>
          </a:p>
        </p:txBody>
      </p:sp>
      <p:sp>
        <p:nvSpPr>
          <p:cNvPr id="4" name="cue-14">
            <a:extLst xmlns:a="http://schemas.openxmlformats.org/drawingml/2006/main">
              <a:ext uri="{FF2B5EF4-FFF2-40B4-BE49-F238E27FC236}">
                <a16:creationId xmlns:a16="http://schemas.microsoft.com/office/drawing/2014/main" id="{DFB0A437-AE98-47D5-9986-B042B26E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46"/>
                </a:solidFill>
              </a:defRPr>
            </a:pPr>
            <a:r>
              <a:rPr sz="1200" b="1">
                <a:solidFill>
                  <a:srgbClr val="256346"/>
                </a:solidFill>
              </a:rPr>
              <a:t>PAIRS · 3 MINUTES</a:t>
            </a:r>
          </a:p>
        </p:txBody>
      </p:sp>
      <p:sp>
        <p:nvSpPr>
          <p:cNvPr id="5" name="count-14">
            <a:extLst xmlns:a="http://schemas.openxmlformats.org/drawingml/2006/main">
              <a:ext uri="{FF2B5EF4-FFF2-40B4-BE49-F238E27FC236}">
                <a16:creationId xmlns:a16="http://schemas.microsoft.com/office/drawing/2014/main" id="{374FE7C1-D33C-4AEC-8161-3C9CA522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05A"/>
                </a:solidFill>
              </a:defRPr>
            </a:pPr>
            <a:r>
              <a:rPr sz="1200" b="1">
                <a:solidFill>
                  <a:srgbClr val="53605A"/>
                </a:solidFill>
              </a:rPr>
              <a:t>14 / 21</a:t>
            </a:r>
          </a:p>
        </p:txBody>
      </p:sp>
      <p:sp>
        <p:nvSpPr>
          <p:cNvPr id="6" name="progress-14">
            <a:extLst xmlns:a="http://schemas.openxmlformats.org/drawingml/2006/main">
              <a:ext uri="{FF2B5EF4-FFF2-40B4-BE49-F238E27FC236}">
                <a16:creationId xmlns:a16="http://schemas.microsoft.com/office/drawing/2014/main" id="{3EA4ED12-E92A-44A5-9FE5-216C6F7B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10375"/>
            <a:ext cx="8128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4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6608508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3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work-page-15">
            <a:extLst xmlns:a="http://schemas.openxmlformats.org/drawingml/2006/main">
              <a:ext uri="{FF2B5EF4-FFF2-40B4-BE49-F238E27FC236}">
                <a16:creationId xmlns:a16="http://schemas.microsoft.com/office/drawing/2014/main" id="{9B17EF11-DDE1-4691-A671-B8CBE0E2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6680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46"/>
                </a:solidFill>
              </a:defRPr>
            </a:pPr>
            <a:r>
              <a:rPr sz="2100" b="1">
                <a:solidFill>
                  <a:srgbClr val="256346"/>
                </a:solidFill>
              </a:rPr>
              <a:t>HANDOUT · PAGE 2</a:t>
            </a:r>
          </a:p>
        </p:txBody>
      </p:sp>
      <p:sp>
        <p:nvSpPr>
          <p:cNvPr id="2" name="work-cases-15">
            <a:extLst xmlns:a="http://schemas.openxmlformats.org/drawingml/2006/main">
              <a:ext uri="{FF2B5EF4-FFF2-40B4-BE49-F238E27FC236}">
                <a16:creationId xmlns:a16="http://schemas.microsoft.com/office/drawing/2014/main" id="{40378C80-FEDE-425D-8A98-E4D4AC3C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6191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700" b="1">
                <a:solidFill>
                  <a:srgbClr val="111713"/>
                </a:solidFill>
              </a:defRPr>
            </a:pPr>
            <a:r>
              <a:rPr sz="11700" b="1">
                <a:solidFill>
                  <a:srgbClr val="111713"/>
                </a:solidFill>
              </a:rPr>
              <a:t>E–J</a:t>
            </a:r>
          </a:p>
        </p:txBody>
      </p:sp>
      <p:sp>
        <p:nvSpPr>
          <p:cNvPr id="3" name="work-action-15">
            <a:extLst xmlns:a="http://schemas.openxmlformats.org/drawingml/2006/main">
              <a:ext uri="{FF2B5EF4-FFF2-40B4-BE49-F238E27FC236}">
                <a16:creationId xmlns:a16="http://schemas.microsoft.com/office/drawing/2014/main" id="{BB21E5F7-BA0A-443A-A05A-089D16AD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609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3605A"/>
                </a:solidFill>
              </a:defRPr>
            </a:pPr>
            <a:r>
              <a:rPr sz="2400" b="1">
                <a:solidFill>
                  <a:srgbClr val="53605A"/>
                </a:solidFill>
              </a:rPr>
              <a:t>Classify. Reject one nearby category.</a:t>
            </a:r>
          </a:p>
        </p:txBody>
      </p:sp>
      <p:sp>
        <p:nvSpPr>
          <p:cNvPr id="4" name="cue-15">
            <a:extLst xmlns:a="http://schemas.openxmlformats.org/drawingml/2006/main">
              <a:ext uri="{FF2B5EF4-FFF2-40B4-BE49-F238E27FC236}">
                <a16:creationId xmlns:a16="http://schemas.microsoft.com/office/drawing/2014/main" id="{5F7F3F9D-5DD0-47CB-8D0B-06D3BADA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46"/>
                </a:solidFill>
              </a:defRPr>
            </a:pPr>
            <a:r>
              <a:rPr sz="1200" b="1">
                <a:solidFill>
                  <a:srgbClr val="256346"/>
                </a:solidFill>
              </a:rPr>
              <a:t>PAIRS · 5 MINUTES</a:t>
            </a:r>
          </a:p>
        </p:txBody>
      </p:sp>
      <p:sp>
        <p:nvSpPr>
          <p:cNvPr id="5" name="count-15">
            <a:extLst xmlns:a="http://schemas.openxmlformats.org/drawingml/2006/main">
              <a:ext uri="{FF2B5EF4-FFF2-40B4-BE49-F238E27FC236}">
                <a16:creationId xmlns:a16="http://schemas.microsoft.com/office/drawing/2014/main" id="{F1AC1D6B-11D4-4793-9BF5-39E2035B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05A"/>
                </a:solidFill>
              </a:defRPr>
            </a:pPr>
            <a:r>
              <a:rPr sz="1200" b="1">
                <a:solidFill>
                  <a:srgbClr val="53605A"/>
                </a:solidFill>
              </a:rPr>
              <a:t>15 / 21</a:t>
            </a:r>
          </a:p>
        </p:txBody>
      </p:sp>
      <p:sp>
        <p:nvSpPr>
          <p:cNvPr id="6" name="progress-15">
            <a:extLst xmlns:a="http://schemas.openxmlformats.org/drawingml/2006/main">
              <a:ext uri="{FF2B5EF4-FFF2-40B4-BE49-F238E27FC236}">
                <a16:creationId xmlns:a16="http://schemas.microsoft.com/office/drawing/2014/main" id="{CFFD0691-0E44-40EC-B739-9A721763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10375"/>
            <a:ext cx="8708571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4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433168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3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keyword-16-1">
            <a:extLst xmlns:a="http://schemas.openxmlformats.org/drawingml/2006/main">
              <a:ext uri="{FF2B5EF4-FFF2-40B4-BE49-F238E27FC236}">
                <a16:creationId xmlns:a16="http://schemas.microsoft.com/office/drawing/2014/main" id="{12BF7E00-D2FA-4FE0-B802-E4A8C574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52550"/>
            <a:ext cx="885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111713"/>
                </a:solidFill>
              </a:defRPr>
            </a:pPr>
            <a:r>
              <a:rPr sz="6150" b="1">
                <a:solidFill>
                  <a:srgbClr val="111713"/>
                </a:solidFill>
              </a:rPr>
              <a:t>ONE ANSWER</a:t>
            </a:r>
          </a:p>
        </p:txBody>
      </p:sp>
      <p:sp>
        <p:nvSpPr>
          <p:cNvPr id="2" name="keyword-16-2">
            <a:extLst xmlns:a="http://schemas.openxmlformats.org/drawingml/2006/main">
              <a:ext uri="{FF2B5EF4-FFF2-40B4-BE49-F238E27FC236}">
                <a16:creationId xmlns:a16="http://schemas.microsoft.com/office/drawing/2014/main" id="{7ED09153-C94C-4CAB-9EF5-EEA68EBF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9900"/>
            <a:ext cx="885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256346"/>
                </a:solidFill>
              </a:defRPr>
            </a:pPr>
            <a:r>
              <a:rPr sz="6150" b="1">
                <a:solidFill>
                  <a:srgbClr val="256346"/>
                </a:solidFill>
              </a:rPr>
              <a:t>ONE REASON</a:t>
            </a:r>
          </a:p>
        </p:txBody>
      </p:sp>
      <p:sp>
        <p:nvSpPr>
          <p:cNvPr id="3" name="support-16">
            <a:extLst xmlns:a="http://schemas.openxmlformats.org/drawingml/2006/main">
              <a:ext uri="{FF2B5EF4-FFF2-40B4-BE49-F238E27FC236}">
                <a16:creationId xmlns:a16="http://schemas.microsoft.com/office/drawing/2014/main" id="{F053D513-CCC5-49D0-88DF-041E6D14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625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3605A"/>
                </a:solidFill>
              </a:defRPr>
            </a:pPr>
            <a:r>
              <a:rPr sz="1800" b="1">
                <a:solidFill>
                  <a:srgbClr val="53605A"/>
                </a:solidFill>
              </a:rPr>
              <a:t>Explain why one distractor is wrong.</a:t>
            </a:r>
          </a:p>
        </p:txBody>
      </p:sp>
      <p:sp>
        <p:nvSpPr>
          <p:cNvPr id="4" name="cue-16">
            <a:extLst xmlns:a="http://schemas.openxmlformats.org/drawingml/2006/main">
              <a:ext uri="{FF2B5EF4-FFF2-40B4-BE49-F238E27FC236}">
                <a16:creationId xmlns:a16="http://schemas.microsoft.com/office/drawing/2014/main" id="{D5133131-54FA-4339-BC96-9467219C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46"/>
                </a:solidFill>
              </a:defRPr>
            </a:pPr>
            <a:r>
              <a:rPr sz="1200" b="1">
                <a:solidFill>
                  <a:srgbClr val="256346"/>
                </a:solidFill>
              </a:rPr>
              <a:t>HANDOUT · PAGE 3</a:t>
            </a:r>
          </a:p>
        </p:txBody>
      </p:sp>
      <p:sp>
        <p:nvSpPr>
          <p:cNvPr id="5" name="count-16">
            <a:extLst xmlns:a="http://schemas.openxmlformats.org/drawingml/2006/main">
              <a:ext uri="{FF2B5EF4-FFF2-40B4-BE49-F238E27FC236}">
                <a16:creationId xmlns:a16="http://schemas.microsoft.com/office/drawing/2014/main" id="{8C39BF58-C60F-4872-BEF3-3B01D791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05A"/>
                </a:solidFill>
              </a:defRPr>
            </a:pPr>
            <a:r>
              <a:rPr sz="1200" b="1">
                <a:solidFill>
                  <a:srgbClr val="53605A"/>
                </a:solidFill>
              </a:rPr>
              <a:t>16 / 21</a:t>
            </a:r>
          </a:p>
        </p:txBody>
      </p:sp>
      <p:sp>
        <p:nvSpPr>
          <p:cNvPr id="6" name="progress-16">
            <a:extLst xmlns:a="http://schemas.openxmlformats.org/drawingml/2006/main">
              <a:ext uri="{FF2B5EF4-FFF2-40B4-BE49-F238E27FC236}">
                <a16:creationId xmlns:a16="http://schemas.microsoft.com/office/drawing/2014/main" id="{A863C9E4-2B22-4A4F-AE2A-5C78A968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10375"/>
            <a:ext cx="928914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4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480257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0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4d5a6cf5444556"/>
          <a:srcRect xmlns:a="http://schemas.openxmlformats.org/drawingml/2006/main" l="0" t="2778" r="0" b="27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477000"/>
          </a:xfrm>
          <a:prstGeom xmlns:a="http://schemas.openxmlformats.org/drawingml/2006/main" prst="rect">
            <a:avLst/>
          </a:prstGeom>
        </p:spPr>
      </p:pic>
      <p:sp>
        <p:nvSpPr>
          <p:cNvPr id="2" name="question-panel-17">
            <a:extLst xmlns:a="http://schemas.openxmlformats.org/drawingml/2006/main">
              <a:ext uri="{FF2B5EF4-FFF2-40B4-BE49-F238E27FC236}">
                <a16:creationId xmlns:a16="http://schemas.microsoft.com/office/drawing/2014/main" id="{D820102C-81C4-41EE-B416-054042C0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287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question-17">
            <a:extLst xmlns:a="http://schemas.openxmlformats.org/drawingml/2006/main">
              <a:ext uri="{FF2B5EF4-FFF2-40B4-BE49-F238E27FC236}">
                <a16:creationId xmlns:a16="http://schemas.microsoft.com/office/drawing/2014/main" id="{ED662A92-1992-49EF-AA22-A8C1F416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0"/>
            <a:ext cx="9791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713"/>
                </a:solidFill>
              </a:defRPr>
            </a:pPr>
            <a:r>
              <a:rPr sz="4350" b="1">
                <a:solidFill>
                  <a:srgbClr val="111713"/>
                </a:solidFill>
              </a:rPr>
              <a:t>Same asset. Same decision?</a:t>
            </a:r>
          </a:p>
        </p:txBody>
      </p:sp>
      <p:sp>
        <p:nvSpPr>
          <p:cNvPr id="4" name="question-small-17">
            <a:extLst xmlns:a="http://schemas.openxmlformats.org/drawingml/2006/main">
              <a:ext uri="{FF2B5EF4-FFF2-40B4-BE49-F238E27FC236}">
                <a16:creationId xmlns:a16="http://schemas.microsoft.com/office/drawing/2014/main" id="{467743EF-B7B0-4E17-97E8-59D1E7A0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340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46"/>
                </a:solidFill>
              </a:defRPr>
            </a:pPr>
            <a:r>
              <a:rPr sz="1350" b="1">
                <a:solidFill>
                  <a:srgbClr val="256346"/>
                </a:solidFill>
              </a:rPr>
              <a:t>PURPOSE AND BASIS DECIDE</a:t>
            </a:r>
          </a:p>
        </p:txBody>
      </p:sp>
      <p:sp>
        <p:nvSpPr>
          <p:cNvPr id="5" name="footer-bar-17">
            <a:extLst xmlns:a="http://schemas.openxmlformats.org/drawingml/2006/main">
              <a:ext uri="{FF2B5EF4-FFF2-40B4-BE49-F238E27FC236}">
                <a16:creationId xmlns:a16="http://schemas.microsoft.com/office/drawing/2014/main" id="{8E89CAC7-9FE0-4421-8A87-2340AAB3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ue-17">
            <a:extLst xmlns:a="http://schemas.openxmlformats.org/drawingml/2006/main">
              <a:ext uri="{FF2B5EF4-FFF2-40B4-BE49-F238E27FC236}">
                <a16:creationId xmlns:a16="http://schemas.microsoft.com/office/drawing/2014/main" id="{AE0CCABA-F955-490A-A6C1-883DF0C6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RETURN TO THE HOOK</a:t>
            </a:r>
          </a:p>
        </p:txBody>
      </p:sp>
      <p:sp>
        <p:nvSpPr>
          <p:cNvPr id="7" name="count-17">
            <a:extLst xmlns:a="http://schemas.openxmlformats.org/drawingml/2006/main">
              <a:ext uri="{FF2B5EF4-FFF2-40B4-BE49-F238E27FC236}">
                <a16:creationId xmlns:a16="http://schemas.microsoft.com/office/drawing/2014/main" id="{8E80C410-27F2-470F-B1CD-E09BE97E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17 / 21</a:t>
            </a:r>
          </a:p>
        </p:txBody>
      </p:sp>
      <p:sp>
        <p:nvSpPr>
          <p:cNvPr id="8" name="progress-17">
            <a:extLst xmlns:a="http://schemas.openxmlformats.org/drawingml/2006/main">
              <a:ext uri="{FF2B5EF4-FFF2-40B4-BE49-F238E27FC236}">
                <a16:creationId xmlns:a16="http://schemas.microsoft.com/office/drawing/2014/main" id="{77909D33-A5C7-4B0E-8D50-0E8DA3DE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10375"/>
            <a:ext cx="9869714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4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6648011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3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keyword-18-1">
            <a:extLst xmlns:a="http://schemas.openxmlformats.org/drawingml/2006/main">
              <a:ext uri="{FF2B5EF4-FFF2-40B4-BE49-F238E27FC236}">
                <a16:creationId xmlns:a16="http://schemas.microsoft.com/office/drawing/2014/main" id="{72E54AEA-5E80-4470-A05E-3C1658C5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52550"/>
            <a:ext cx="885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11713"/>
                </a:solidFill>
              </a:defRPr>
            </a:pPr>
            <a:r>
              <a:rPr sz="4950" b="1">
                <a:solidFill>
                  <a:srgbClr val="111713"/>
                </a:solidFill>
              </a:rPr>
              <a:t>WHEN NEEDED?</a:t>
            </a:r>
          </a:p>
        </p:txBody>
      </p:sp>
      <p:sp>
        <p:nvSpPr>
          <p:cNvPr id="2" name="keyword-18-2">
            <a:extLst xmlns:a="http://schemas.openxmlformats.org/drawingml/2006/main">
              <a:ext uri="{FF2B5EF4-FFF2-40B4-BE49-F238E27FC236}">
                <a16:creationId xmlns:a16="http://schemas.microsoft.com/office/drawing/2014/main" id="{335382F2-D58C-47C8-B3A0-12B2C751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9900"/>
            <a:ext cx="885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256346"/>
                </a:solidFill>
              </a:defRPr>
            </a:pPr>
            <a:r>
              <a:rPr sz="4950" b="1">
                <a:solidFill>
                  <a:srgbClr val="256346"/>
                </a:solidFill>
              </a:rPr>
              <a:t>CAN LOSS BE AFFORDED?</a:t>
            </a:r>
          </a:p>
        </p:txBody>
      </p:sp>
      <p:sp>
        <p:nvSpPr>
          <p:cNvPr id="3" name="support-18">
            <a:extLst xmlns:a="http://schemas.openxmlformats.org/drawingml/2006/main">
              <a:ext uri="{FF2B5EF4-FFF2-40B4-BE49-F238E27FC236}">
                <a16:creationId xmlns:a16="http://schemas.microsoft.com/office/drawing/2014/main" id="{395602CD-3191-4FEA-8290-D650F5F0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625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3605A"/>
                </a:solidFill>
              </a:defRPr>
            </a:pPr>
            <a:r>
              <a:rPr sz="1800" b="1">
                <a:solidFill>
                  <a:srgbClr val="53605A"/>
                </a:solidFill>
              </a:rPr>
              <a:t>Mina + Leo</a:t>
            </a:r>
          </a:p>
        </p:txBody>
      </p:sp>
      <p:sp>
        <p:nvSpPr>
          <p:cNvPr id="4" name="cue-18">
            <a:extLst xmlns:a="http://schemas.openxmlformats.org/drawingml/2006/main">
              <a:ext uri="{FF2B5EF4-FFF2-40B4-BE49-F238E27FC236}">
                <a16:creationId xmlns:a16="http://schemas.microsoft.com/office/drawing/2014/main" id="{9AB46383-3F6A-46C2-8C32-7550993E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46"/>
                </a:solidFill>
              </a:defRPr>
            </a:pPr>
            <a:r>
              <a:rPr sz="1200" b="1">
                <a:solidFill>
                  <a:srgbClr val="256346"/>
                </a:solidFill>
              </a:rPr>
              <a:t>HANDOUT · PAGE 4</a:t>
            </a:r>
          </a:p>
        </p:txBody>
      </p:sp>
      <p:sp>
        <p:nvSpPr>
          <p:cNvPr id="5" name="count-18">
            <a:extLst xmlns:a="http://schemas.openxmlformats.org/drawingml/2006/main">
              <a:ext uri="{FF2B5EF4-FFF2-40B4-BE49-F238E27FC236}">
                <a16:creationId xmlns:a16="http://schemas.microsoft.com/office/drawing/2014/main" id="{DBF01EA8-D010-4646-9AF5-1BF0FD33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05A"/>
                </a:solidFill>
              </a:defRPr>
            </a:pPr>
            <a:r>
              <a:rPr sz="1200" b="1">
                <a:solidFill>
                  <a:srgbClr val="53605A"/>
                </a:solidFill>
              </a:rPr>
              <a:t>18 / 21</a:t>
            </a:r>
          </a:p>
        </p:txBody>
      </p:sp>
      <p:sp>
        <p:nvSpPr>
          <p:cNvPr id="6" name="progress-18">
            <a:extLst xmlns:a="http://schemas.openxmlformats.org/drawingml/2006/main">
              <a:ext uri="{FF2B5EF4-FFF2-40B4-BE49-F238E27FC236}">
                <a16:creationId xmlns:a16="http://schemas.microsoft.com/office/drawing/2014/main" id="{56E0A68B-6AC4-4EA3-9949-D16BA2F5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10375"/>
            <a:ext cx="10450286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4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5772045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0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1155dab2e54523"/>
          <a:srcRect xmlns:a="http://schemas.openxmlformats.org/drawingml/2006/main" l="0" t="2778" r="0" b="27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477000"/>
          </a:xfrm>
          <a:prstGeom xmlns:a="http://schemas.openxmlformats.org/drawingml/2006/main" prst="rect">
            <a:avLst/>
          </a:prstGeom>
        </p:spPr>
      </p:pic>
      <p:sp>
        <p:nvSpPr>
          <p:cNvPr id="2" name="question-panel-19">
            <a:extLst xmlns:a="http://schemas.openxmlformats.org/drawingml/2006/main">
              <a:ext uri="{FF2B5EF4-FFF2-40B4-BE49-F238E27FC236}">
                <a16:creationId xmlns:a16="http://schemas.microsoft.com/office/drawing/2014/main" id="{722979B2-55FE-48EE-B7A3-93A9A5A1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287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question-19">
            <a:extLst xmlns:a="http://schemas.openxmlformats.org/drawingml/2006/main">
              <a:ext uri="{FF2B5EF4-FFF2-40B4-BE49-F238E27FC236}">
                <a16:creationId xmlns:a16="http://schemas.microsoft.com/office/drawing/2014/main" id="{7E33F8AB-C145-4AB8-B16C-C0B71489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9791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713"/>
                </a:solidFill>
              </a:defRPr>
            </a:pPr>
            <a:r>
              <a:rPr sz="4050" b="1">
                <a:solidFill>
                  <a:srgbClr val="111713"/>
                </a:solidFill>
              </a:rPr>
              <a:t>The price falls. What remains?</a:t>
            </a:r>
          </a:p>
        </p:txBody>
      </p:sp>
      <p:sp>
        <p:nvSpPr>
          <p:cNvPr id="4" name="footer-bar-19">
            <a:extLst xmlns:a="http://schemas.openxmlformats.org/drawingml/2006/main">
              <a:ext uri="{FF2B5EF4-FFF2-40B4-BE49-F238E27FC236}">
                <a16:creationId xmlns:a16="http://schemas.microsoft.com/office/drawing/2014/main" id="{4950D269-1F14-4EE3-8CF2-2995C4D3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ue-19">
            <a:extLst xmlns:a="http://schemas.openxmlformats.org/drawingml/2006/main">
              <a:ext uri="{FF2B5EF4-FFF2-40B4-BE49-F238E27FC236}">
                <a16:creationId xmlns:a16="http://schemas.microsoft.com/office/drawing/2014/main" id="{7A63E32D-10F9-43E6-9DB7-3527DB79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HANDOUT · NORA</a:t>
            </a:r>
          </a:p>
        </p:txBody>
      </p:sp>
      <p:sp>
        <p:nvSpPr>
          <p:cNvPr id="6" name="count-19">
            <a:extLst xmlns:a="http://schemas.openxmlformats.org/drawingml/2006/main">
              <a:ext uri="{FF2B5EF4-FFF2-40B4-BE49-F238E27FC236}">
                <a16:creationId xmlns:a16="http://schemas.microsoft.com/office/drawing/2014/main" id="{456FE3FE-49CB-4DB3-973B-7232C9D5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19 / 21</a:t>
            </a:r>
          </a:p>
        </p:txBody>
      </p:sp>
      <p:sp>
        <p:nvSpPr>
          <p:cNvPr id="7" name="progress-19">
            <a:extLst xmlns:a="http://schemas.openxmlformats.org/drawingml/2006/main">
              <a:ext uri="{FF2B5EF4-FFF2-40B4-BE49-F238E27FC236}">
                <a16:creationId xmlns:a16="http://schemas.microsoft.com/office/drawing/2014/main" id="{C6A63B95-6897-475F-A33B-EA176CBE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10375"/>
            <a:ext cx="11030857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4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4053234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3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eyword-20-1">
            <a:extLst xmlns:a="http://schemas.openxmlformats.org/drawingml/2006/main">
              <a:ext uri="{FF2B5EF4-FFF2-40B4-BE49-F238E27FC236}">
                <a16:creationId xmlns:a16="http://schemas.microsoft.com/office/drawing/2014/main" id="{EA1708E0-F25E-48DD-8416-7232CC0F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52550"/>
            <a:ext cx="885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11713"/>
                </a:solidFill>
              </a:defRPr>
            </a:pPr>
            <a:r>
              <a:rPr sz="4500" b="1">
                <a:solidFill>
                  <a:srgbClr val="111713"/>
                </a:solidFill>
              </a:rPr>
              <a:t>BORROWED MONEY</a:t>
            </a:r>
          </a:p>
        </p:txBody>
      </p:sp>
      <p:sp>
        <p:nvSpPr>
          <p:cNvPr id="2" name="keyword-zh-20-1">
            <a:extLst xmlns:a="http://schemas.openxmlformats.org/drawingml/2006/main">
              <a:ext uri="{FF2B5EF4-FFF2-40B4-BE49-F238E27FC236}">
                <a16:creationId xmlns:a16="http://schemas.microsoft.com/office/drawing/2014/main" id="{430B5B69-6FB3-4202-BA85-A13D8457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8764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53605A"/>
                </a:solidFill>
              </a:defRPr>
            </a:pPr>
            <a:r>
              <a:rPr sz="1650" b="1">
                <a:solidFill>
                  <a:srgbClr val="53605A"/>
                </a:solidFill>
              </a:rPr>
              <a:t>借入资金</a:t>
            </a:r>
          </a:p>
        </p:txBody>
      </p:sp>
      <p:sp>
        <p:nvSpPr>
          <p:cNvPr id="3" name="keyword-20-2">
            <a:extLst xmlns:a="http://schemas.openxmlformats.org/drawingml/2006/main">
              <a:ext uri="{FF2B5EF4-FFF2-40B4-BE49-F238E27FC236}">
                <a16:creationId xmlns:a16="http://schemas.microsoft.com/office/drawing/2014/main" id="{336F4CB2-D4DC-4F3C-8CB9-6DE0B8A4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9900"/>
            <a:ext cx="885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256346"/>
                </a:solidFill>
              </a:defRPr>
            </a:pPr>
            <a:r>
              <a:rPr sz="4500" b="1">
                <a:solidFill>
                  <a:srgbClr val="256346"/>
                </a:solidFill>
              </a:rPr>
              <a:t>REPAYMENT REMAINS</a:t>
            </a:r>
          </a:p>
        </p:txBody>
      </p:sp>
      <p:sp>
        <p:nvSpPr>
          <p:cNvPr id="4" name="keyword-zh-20-2">
            <a:extLst xmlns:a="http://schemas.openxmlformats.org/drawingml/2006/main">
              <a:ext uri="{FF2B5EF4-FFF2-40B4-BE49-F238E27FC236}">
                <a16:creationId xmlns:a16="http://schemas.microsoft.com/office/drawing/2014/main" id="{BAAD6D95-8F04-4A91-BB10-D7855AAA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53377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53605A"/>
                </a:solidFill>
              </a:defRPr>
            </a:pPr>
            <a:r>
              <a:rPr sz="1650" b="1">
                <a:solidFill>
                  <a:srgbClr val="53605A"/>
                </a:solidFill>
              </a:rPr>
              <a:t>偿还义务</a:t>
            </a:r>
          </a:p>
        </p:txBody>
      </p:sp>
      <p:sp>
        <p:nvSpPr>
          <p:cNvPr id="5" name="support-20">
            <a:extLst xmlns:a="http://schemas.openxmlformats.org/drawingml/2006/main">
              <a:ext uri="{FF2B5EF4-FFF2-40B4-BE49-F238E27FC236}">
                <a16:creationId xmlns:a16="http://schemas.microsoft.com/office/drawing/2014/main" id="{020296DF-E3FB-452C-9C0A-F9158CD4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625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3605A"/>
                </a:solidFill>
              </a:defRPr>
            </a:pPr>
            <a:r>
              <a:rPr sz="1800" b="1">
                <a:solidFill>
                  <a:srgbClr val="53605A"/>
                </a:solidFill>
              </a:rPr>
              <a:t>Borrowing magnifies possible loss (可能亏损).</a:t>
            </a:r>
          </a:p>
        </p:txBody>
      </p:sp>
      <p:sp>
        <p:nvSpPr>
          <p:cNvPr id="6" name="cue-20">
            <a:extLst xmlns:a="http://schemas.openxmlformats.org/drawingml/2006/main">
              <a:ext uri="{FF2B5EF4-FFF2-40B4-BE49-F238E27FC236}">
                <a16:creationId xmlns:a16="http://schemas.microsoft.com/office/drawing/2014/main" id="{C775D22C-5DA8-439B-8BBD-EC240201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46"/>
                </a:solidFill>
              </a:defRPr>
            </a:pPr>
            <a:r>
              <a:rPr sz="1200" b="1">
                <a:solidFill>
                  <a:srgbClr val="256346"/>
                </a:solidFill>
              </a:rPr>
              <a:t>NOTEBOOK · ONE RULE</a:t>
            </a:r>
          </a:p>
        </p:txBody>
      </p:sp>
      <p:sp>
        <p:nvSpPr>
          <p:cNvPr id="7" name="count-20">
            <a:extLst xmlns:a="http://schemas.openxmlformats.org/drawingml/2006/main">
              <a:ext uri="{FF2B5EF4-FFF2-40B4-BE49-F238E27FC236}">
                <a16:creationId xmlns:a16="http://schemas.microsoft.com/office/drawing/2014/main" id="{028013AE-0249-4D5C-99E2-A4BAB329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05A"/>
                </a:solidFill>
              </a:defRPr>
            </a:pPr>
            <a:r>
              <a:rPr sz="1200" b="1">
                <a:solidFill>
                  <a:srgbClr val="53605A"/>
                </a:solidFill>
              </a:rPr>
              <a:t>20 / 21</a:t>
            </a:r>
          </a:p>
        </p:txBody>
      </p:sp>
      <p:sp>
        <p:nvSpPr>
          <p:cNvPr id="8" name="progress-20">
            <a:extLst xmlns:a="http://schemas.openxmlformats.org/drawingml/2006/main">
              <a:ext uri="{FF2B5EF4-FFF2-40B4-BE49-F238E27FC236}">
                <a16:creationId xmlns:a16="http://schemas.microsoft.com/office/drawing/2014/main" id="{F65D751F-4B2D-47C5-8AF0-21AF7A3C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10375"/>
            <a:ext cx="11611429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4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348969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3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keyword-21-1">
            <a:extLst xmlns:a="http://schemas.openxmlformats.org/drawingml/2006/main">
              <a:ext uri="{FF2B5EF4-FFF2-40B4-BE49-F238E27FC236}">
                <a16:creationId xmlns:a16="http://schemas.microsoft.com/office/drawing/2014/main" id="{732E900C-8979-4C31-9648-7FEBE202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62000"/>
            <a:ext cx="8858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111713"/>
                </a:solidFill>
              </a:defRPr>
            </a:pPr>
            <a:r>
              <a:rPr sz="5850" b="1">
                <a:solidFill>
                  <a:srgbClr val="111713"/>
                </a:solidFill>
              </a:rPr>
              <a:t>CATEGORY</a:t>
            </a:r>
          </a:p>
        </p:txBody>
      </p:sp>
      <p:sp>
        <p:nvSpPr>
          <p:cNvPr id="2" name="keyword-21-2">
            <a:extLst xmlns:a="http://schemas.openxmlformats.org/drawingml/2006/main">
              <a:ext uri="{FF2B5EF4-FFF2-40B4-BE49-F238E27FC236}">
                <a16:creationId xmlns:a16="http://schemas.microsoft.com/office/drawing/2014/main" id="{D8ECDB05-2EE6-4477-A84D-7B4DAF08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8858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256346"/>
                </a:solidFill>
              </a:defRPr>
            </a:pPr>
            <a:r>
              <a:rPr sz="5850" b="1">
                <a:solidFill>
                  <a:srgbClr val="256346"/>
                </a:solidFill>
              </a:rPr>
              <a:t>CLUE</a:t>
            </a:r>
          </a:p>
        </p:txBody>
      </p:sp>
      <p:sp>
        <p:nvSpPr>
          <p:cNvPr id="3" name="keyword-21-3">
            <a:extLst xmlns:a="http://schemas.openxmlformats.org/drawingml/2006/main">
              <a:ext uri="{FF2B5EF4-FFF2-40B4-BE49-F238E27FC236}">
                <a16:creationId xmlns:a16="http://schemas.microsoft.com/office/drawing/2014/main" id="{77EF07F4-4847-484D-9CD0-3F35B8AB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8858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256346"/>
                </a:solidFill>
              </a:defRPr>
            </a:pPr>
            <a:r>
              <a:rPr sz="5850" b="1">
                <a:solidFill>
                  <a:srgbClr val="256346"/>
                </a:solidFill>
              </a:rPr>
              <a:t>BOUNDARY</a:t>
            </a:r>
          </a:p>
        </p:txBody>
      </p:sp>
      <p:sp>
        <p:nvSpPr>
          <p:cNvPr id="4" name="support-21">
            <a:extLst xmlns:a="http://schemas.openxmlformats.org/drawingml/2006/main">
              <a:ext uri="{FF2B5EF4-FFF2-40B4-BE49-F238E27FC236}">
                <a16:creationId xmlns:a16="http://schemas.microsoft.com/office/drawing/2014/main" id="{12496A85-9CEE-43DB-94D8-6294DE34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9587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3605A"/>
                </a:solidFill>
              </a:defRPr>
            </a:pPr>
            <a:r>
              <a:rPr sz="1800" b="1">
                <a:solidFill>
                  <a:srgbClr val="53605A"/>
                </a:solidFill>
              </a:rPr>
              <a:t>One sentence. Three parts.</a:t>
            </a:r>
          </a:p>
        </p:txBody>
      </p:sp>
      <p:sp>
        <p:nvSpPr>
          <p:cNvPr id="5" name="cue-21">
            <a:extLst xmlns:a="http://schemas.openxmlformats.org/drawingml/2006/main">
              <a:ext uri="{FF2B5EF4-FFF2-40B4-BE49-F238E27FC236}">
                <a16:creationId xmlns:a16="http://schemas.microsoft.com/office/drawing/2014/main" id="{1DFAA366-84FD-4A07-993E-4C31CCDF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46"/>
                </a:solidFill>
              </a:defRPr>
            </a:pPr>
            <a:r>
              <a:rPr sz="1200" b="1">
                <a:solidFill>
                  <a:srgbClr val="256346"/>
                </a:solidFill>
              </a:rPr>
              <a:t>EXIT · NOTEBOOK</a:t>
            </a:r>
          </a:p>
        </p:txBody>
      </p:sp>
      <p:sp>
        <p:nvSpPr>
          <p:cNvPr id="6" name="count-21">
            <a:extLst xmlns:a="http://schemas.openxmlformats.org/drawingml/2006/main">
              <a:ext uri="{FF2B5EF4-FFF2-40B4-BE49-F238E27FC236}">
                <a16:creationId xmlns:a16="http://schemas.microsoft.com/office/drawing/2014/main" id="{6DBC4710-71E8-4268-BAC3-56C1E32D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05A"/>
                </a:solidFill>
              </a:defRPr>
            </a:pPr>
            <a:r>
              <a:rPr sz="1200" b="1">
                <a:solidFill>
                  <a:srgbClr val="53605A"/>
                </a:solidFill>
              </a:rPr>
              <a:t>21 / 21</a:t>
            </a:r>
          </a:p>
        </p:txBody>
      </p:sp>
      <p:sp>
        <p:nvSpPr>
          <p:cNvPr id="7" name="progress-21">
            <a:extLst xmlns:a="http://schemas.openxmlformats.org/drawingml/2006/main">
              <a:ext uri="{FF2B5EF4-FFF2-40B4-BE49-F238E27FC236}">
                <a16:creationId xmlns:a16="http://schemas.microsoft.com/office/drawing/2014/main" id="{C726EA72-FC3C-4F2E-B3D9-CA30266A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10375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4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757837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2026-08-23T07:07:11.7790000Z</dcterms:created>
  <dcterms:modified xsi:type="dcterms:W3CDTF">2026-08-23T07:07:11.7790000Z</dcterms:modified>
</coreProperties>
</file>