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58fe08a1fd4c22" /><Relationship Type="http://schemas.openxmlformats.org/officeDocument/2006/relationships/extended-properties" Target="/docProps/app.xml" Id="R8ec6543fa256446b" /><Relationship Type="http://schemas.openxmlformats.org/officeDocument/2006/relationships/officeDocument" Target="/ppt/presentation.xml" Id="R0c539f7c534e4e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71815f1bc946f0"/>
  </p:sldMasterIdLst>
  <p:notesMasterIdLst>
    <p:notesMasterId xmlns:r="http://schemas.openxmlformats.org/officeDocument/2006/relationships" r:id="R1b11473e71f44568"/>
  </p:notesMasterIdLst>
  <p:sldIdLst>
    <p:sldId xmlns:r="http://schemas.openxmlformats.org/officeDocument/2006/relationships" id="256" r:id="Reae0005c626b4fb6"/>
    <p:sldId xmlns:r="http://schemas.openxmlformats.org/officeDocument/2006/relationships" id="257" r:id="R8c3178b066994378"/>
    <p:sldId xmlns:r="http://schemas.openxmlformats.org/officeDocument/2006/relationships" id="258" r:id="R2438cc3901ec41a9"/>
    <p:sldId xmlns:r="http://schemas.openxmlformats.org/officeDocument/2006/relationships" id="259" r:id="Rc4da6685aaae49e2"/>
    <p:sldId xmlns:r="http://schemas.openxmlformats.org/officeDocument/2006/relationships" id="260" r:id="R661d9eaa7c6e402d"/>
    <p:sldId xmlns:r="http://schemas.openxmlformats.org/officeDocument/2006/relationships" id="261" r:id="Re908c1815a2246fe"/>
    <p:sldId xmlns:r="http://schemas.openxmlformats.org/officeDocument/2006/relationships" id="262" r:id="Rda50cf1397be423b"/>
    <p:sldId xmlns:r="http://schemas.openxmlformats.org/officeDocument/2006/relationships" id="263" r:id="R1f00d41e71634471"/>
    <p:sldId xmlns:r="http://schemas.openxmlformats.org/officeDocument/2006/relationships" id="264" r:id="Rc3fcff7a9c0b4cf6"/>
    <p:sldId xmlns:r="http://schemas.openxmlformats.org/officeDocument/2006/relationships" id="265" r:id="Rce264776755448ee"/>
    <p:sldId xmlns:r="http://schemas.openxmlformats.org/officeDocument/2006/relationships" id="266" r:id="R75258bc214984d1a"/>
    <p:sldId xmlns:r="http://schemas.openxmlformats.org/officeDocument/2006/relationships" id="267" r:id="R0a5de47d0e2f4fd5"/>
    <p:sldId xmlns:r="http://schemas.openxmlformats.org/officeDocument/2006/relationships" id="268" r:id="R534f7d13453a4863"/>
    <p:sldId xmlns:r="http://schemas.openxmlformats.org/officeDocument/2006/relationships" id="269" r:id="Ra373795028c248b2"/>
    <p:sldId xmlns:r="http://schemas.openxmlformats.org/officeDocument/2006/relationships" id="270" r:id="Redd45222f92e4edc"/>
    <p:sldId xmlns:r="http://schemas.openxmlformats.org/officeDocument/2006/relationships" id="271" r:id="R7fa9a6428fce4e36"/>
    <p:sldId xmlns:r="http://schemas.openxmlformats.org/officeDocument/2006/relationships" id="272" r:id="R627551b44c63400d"/>
    <p:sldId xmlns:r="http://schemas.openxmlformats.org/officeDocument/2006/relationships" id="273" r:id="Rb2e9a279ccc542f7"/>
    <p:sldId xmlns:r="http://schemas.openxmlformats.org/officeDocument/2006/relationships" id="274" r:id="R296128dbee244126"/>
    <p:sldId xmlns:r="http://schemas.openxmlformats.org/officeDocument/2006/relationships" id="275" r:id="Rd459121bd55a43dd"/>
    <p:sldId xmlns:r="http://schemas.openxmlformats.org/officeDocument/2006/relationships" id="276" r:id="R9d7a3d6b90264cc7"/>
    <p:sldId xmlns:r="http://schemas.openxmlformats.org/officeDocument/2006/relationships" id="277" r:id="Rd6d7d4ead5ed43b4"/>
    <p:sldId xmlns:r="http://schemas.openxmlformats.org/officeDocument/2006/relationships" id="278" r:id="R345285f41f2a417c"/>
    <p:sldId xmlns:r="http://schemas.openxmlformats.org/officeDocument/2006/relationships" id="279" r:id="Re8602506ce99443d"/>
    <p:sldId xmlns:r="http://schemas.openxmlformats.org/officeDocument/2006/relationships" id="280" r:id="R2559dc21bd0642e0"/>
    <p:sldId xmlns:r="http://schemas.openxmlformats.org/officeDocument/2006/relationships" id="281" r:id="R113fcdb93c924978"/>
    <p:sldId xmlns:r="http://schemas.openxmlformats.org/officeDocument/2006/relationships" id="282" r:id="R7d82b634cc2943c6"/>
    <p:sldId xmlns:r="http://schemas.openxmlformats.org/officeDocument/2006/relationships" id="283" r:id="Rfa5a72497cad4f86"/>
    <p:sldId xmlns:r="http://schemas.openxmlformats.org/officeDocument/2006/relationships" id="284" r:id="Refa54270cc304a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8eeac3986a4db6" /><Relationship Type="http://schemas.openxmlformats.org/officeDocument/2006/relationships/slideMaster" Target="/ppt/slideMasters/slideMaster1.xml" Id="R1571815f1bc946f0" /><Relationship Type="http://schemas.openxmlformats.org/officeDocument/2006/relationships/notesMaster" Target="/ppt/notesMasters/notesMaster1.xml" Id="R1b11473e71f44568" /><Relationship Type="http://schemas.openxmlformats.org/officeDocument/2006/relationships/presProps" Target="/ppt/presProps.xml" Id="R2626ebaf121e4856" /><Relationship Type="http://schemas.openxmlformats.org/officeDocument/2006/relationships/viewProps" Target="/ppt/viewProps.xml" Id="Re0cbd7d084814495" /><Relationship Type="http://schemas.openxmlformats.org/officeDocument/2006/relationships/tableStyles" Target="/ppt/tableStyles.xml" Id="R169b8d6a9f8f4b2b" /><Relationship Type="http://schemas.openxmlformats.org/officeDocument/2006/relationships/slide" Target="/ppt/slides/slide1.xml" Id="Reae0005c626b4fb6" /><Relationship Type="http://schemas.openxmlformats.org/officeDocument/2006/relationships/slide" Target="/ppt/slides/slide2.xml" Id="R8c3178b066994378" /><Relationship Type="http://schemas.openxmlformats.org/officeDocument/2006/relationships/slide" Target="/ppt/slides/slide3.xml" Id="R2438cc3901ec41a9" /><Relationship Type="http://schemas.openxmlformats.org/officeDocument/2006/relationships/slide" Target="/ppt/slides/slide4.xml" Id="Rc4da6685aaae49e2" /><Relationship Type="http://schemas.openxmlformats.org/officeDocument/2006/relationships/slide" Target="/ppt/slides/slide5.xml" Id="R661d9eaa7c6e402d" /><Relationship Type="http://schemas.openxmlformats.org/officeDocument/2006/relationships/slide" Target="/ppt/slides/slide6.xml" Id="Re908c1815a2246fe" /><Relationship Type="http://schemas.openxmlformats.org/officeDocument/2006/relationships/slide" Target="/ppt/slides/slide7.xml" Id="Rda50cf1397be423b" /><Relationship Type="http://schemas.openxmlformats.org/officeDocument/2006/relationships/slide" Target="/ppt/slides/slide8.xml" Id="R1f00d41e71634471" /><Relationship Type="http://schemas.openxmlformats.org/officeDocument/2006/relationships/slide" Target="/ppt/slides/slide9.xml" Id="Rc3fcff7a9c0b4cf6" /><Relationship Type="http://schemas.openxmlformats.org/officeDocument/2006/relationships/slide" Target="/ppt/slides/slide10.xml" Id="Rce264776755448ee" /><Relationship Type="http://schemas.openxmlformats.org/officeDocument/2006/relationships/slide" Target="/ppt/slides/slide11.xml" Id="R75258bc214984d1a" /><Relationship Type="http://schemas.openxmlformats.org/officeDocument/2006/relationships/slide" Target="/ppt/slides/slide12.xml" Id="R0a5de47d0e2f4fd5" /><Relationship Type="http://schemas.openxmlformats.org/officeDocument/2006/relationships/slide" Target="/ppt/slides/slide13.xml" Id="R534f7d13453a4863" /><Relationship Type="http://schemas.openxmlformats.org/officeDocument/2006/relationships/slide" Target="/ppt/slides/slide14.xml" Id="Ra373795028c248b2" /><Relationship Type="http://schemas.openxmlformats.org/officeDocument/2006/relationships/slide" Target="/ppt/slides/slide15.xml" Id="Redd45222f92e4edc" /><Relationship Type="http://schemas.openxmlformats.org/officeDocument/2006/relationships/slide" Target="/ppt/slides/slide16.xml" Id="R7fa9a6428fce4e36" /><Relationship Type="http://schemas.openxmlformats.org/officeDocument/2006/relationships/slide" Target="/ppt/slides/slide17.xml" Id="R627551b44c63400d" /><Relationship Type="http://schemas.openxmlformats.org/officeDocument/2006/relationships/slide" Target="/ppt/slides/slide18.xml" Id="Rb2e9a279ccc542f7" /><Relationship Type="http://schemas.openxmlformats.org/officeDocument/2006/relationships/slide" Target="/ppt/slides/slide19.xml" Id="R296128dbee244126" /><Relationship Type="http://schemas.openxmlformats.org/officeDocument/2006/relationships/slide" Target="/ppt/slides/slide20.xml" Id="Rd459121bd55a43dd" /><Relationship Type="http://schemas.openxmlformats.org/officeDocument/2006/relationships/slide" Target="/ppt/slides/slide21.xml" Id="R9d7a3d6b90264cc7" /><Relationship Type="http://schemas.openxmlformats.org/officeDocument/2006/relationships/slide" Target="/ppt/slides/slide22.xml" Id="Rd6d7d4ead5ed43b4" /><Relationship Type="http://schemas.openxmlformats.org/officeDocument/2006/relationships/slide" Target="/ppt/slides/slide23.xml" Id="R345285f41f2a417c" /><Relationship Type="http://schemas.openxmlformats.org/officeDocument/2006/relationships/slide" Target="/ppt/slides/slide24.xml" Id="Re8602506ce99443d" /><Relationship Type="http://schemas.openxmlformats.org/officeDocument/2006/relationships/slide" Target="/ppt/slides/slide25.xml" Id="R2559dc21bd0642e0" /><Relationship Type="http://schemas.openxmlformats.org/officeDocument/2006/relationships/slide" Target="/ppt/slides/slide26.xml" Id="R113fcdb93c924978" /><Relationship Type="http://schemas.openxmlformats.org/officeDocument/2006/relationships/slide" Target="/ppt/slides/slide27.xml" Id="R7d82b634cc2943c6" /><Relationship Type="http://schemas.openxmlformats.org/officeDocument/2006/relationships/slide" Target="/ppt/slides/slide28.xml" Id="Rfa5a72497cad4f86" /><Relationship Type="http://schemas.openxmlformats.org/officeDocument/2006/relationships/slide" Target="/ppt/slides/slide29.xml" Id="Refa54270cc304a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4a7a7d887543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d114ee98aa406a" /><Relationship Type="http://schemas.openxmlformats.org/officeDocument/2006/relationships/notesMaster" Target="/ppt/notesMasters/notesMaster1.xml" Id="R2acb0dc9a8544f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d883db76d64e02" /><Relationship Type="http://schemas.openxmlformats.org/officeDocument/2006/relationships/notesMaster" Target="/ppt/notesMasters/notesMaster1.xml" Id="R388c4eb69a404d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3a8f5f85f544cb" /><Relationship Type="http://schemas.openxmlformats.org/officeDocument/2006/relationships/notesMaster" Target="/ppt/notesMasters/notesMaster1.xml" Id="Red025df4c5b443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885cb65fb74fa8" /><Relationship Type="http://schemas.openxmlformats.org/officeDocument/2006/relationships/notesMaster" Target="/ppt/notesMasters/notesMaster1.xml" Id="R04f5730e8eb94e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9d22e33d7c4a30" /><Relationship Type="http://schemas.openxmlformats.org/officeDocument/2006/relationships/notesMaster" Target="/ppt/notesMasters/notesMaster1.xml" Id="R28ef91ddd11043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5aea052bf5402e" /><Relationship Type="http://schemas.openxmlformats.org/officeDocument/2006/relationships/notesMaster" Target="/ppt/notesMasters/notesMaster1.xml" Id="R00f26f3641c043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bc0c56af354e33" /><Relationship Type="http://schemas.openxmlformats.org/officeDocument/2006/relationships/notesMaster" Target="/ppt/notesMasters/notesMaster1.xml" Id="R1542048f0cba43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2a5ffcf22b4bfd" /><Relationship Type="http://schemas.openxmlformats.org/officeDocument/2006/relationships/notesMaster" Target="/ppt/notesMasters/notesMaster1.xml" Id="R4a569d7e978741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6aef71b8804ae0" /><Relationship Type="http://schemas.openxmlformats.org/officeDocument/2006/relationships/notesMaster" Target="/ppt/notesMasters/notesMaster1.xml" Id="R850de933c97b42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09baa9e6174620" /><Relationship Type="http://schemas.openxmlformats.org/officeDocument/2006/relationships/notesMaster" Target="/ppt/notesMasters/notesMaster1.xml" Id="R2e5f0699d50e41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8e27ac348244d2" /><Relationship Type="http://schemas.openxmlformats.org/officeDocument/2006/relationships/notesMaster" Target="/ppt/notesMasters/notesMaster1.xml" Id="R3e573250931049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79e56f8eee43fd" /><Relationship Type="http://schemas.openxmlformats.org/officeDocument/2006/relationships/notesMaster" Target="/ppt/notesMasters/notesMaster1.xml" Id="Rabf0986f722742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9f283b7db04258" /><Relationship Type="http://schemas.openxmlformats.org/officeDocument/2006/relationships/notesMaster" Target="/ppt/notesMasters/notesMaster1.xml" Id="Rc6c5ebe1c19849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d2c620a3334a92" /><Relationship Type="http://schemas.openxmlformats.org/officeDocument/2006/relationships/notesMaster" Target="/ppt/notesMasters/notesMaster1.xml" Id="Ra8e57a2f51f641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9a3dfab9684b6b" /><Relationship Type="http://schemas.openxmlformats.org/officeDocument/2006/relationships/notesMaster" Target="/ppt/notesMasters/notesMaster1.xml" Id="Rd338a929d67e4b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663d049277d460f" /><Relationship Type="http://schemas.openxmlformats.org/officeDocument/2006/relationships/notesMaster" Target="/ppt/notesMasters/notesMaster1.xml" Id="Ra007140b368a4b3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0d0da065a94ff5" /><Relationship Type="http://schemas.openxmlformats.org/officeDocument/2006/relationships/notesMaster" Target="/ppt/notesMasters/notesMaster1.xml" Id="R34d1a4c778e648b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2d8beaaa7d547d2" /><Relationship Type="http://schemas.openxmlformats.org/officeDocument/2006/relationships/notesMaster" Target="/ppt/notesMasters/notesMaster1.xml" Id="R74d28e3babf44aa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1d104af8e384be7" /><Relationship Type="http://schemas.openxmlformats.org/officeDocument/2006/relationships/notesMaster" Target="/ppt/notesMasters/notesMaster1.xml" Id="Ra22c092e79cd453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62019043aaa41ec" /><Relationship Type="http://schemas.openxmlformats.org/officeDocument/2006/relationships/notesMaster" Target="/ppt/notesMasters/notesMaster1.xml" Id="R830a067afaaf4a7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eb18a751a3a4989" /><Relationship Type="http://schemas.openxmlformats.org/officeDocument/2006/relationships/notesMaster" Target="/ppt/notesMasters/notesMaster1.xml" Id="Rff10032c577744e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81ff38073134400" /><Relationship Type="http://schemas.openxmlformats.org/officeDocument/2006/relationships/notesMaster" Target="/ppt/notesMasters/notesMaster1.xml" Id="R20e87dfacfd84f8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132b83700024f2c" /><Relationship Type="http://schemas.openxmlformats.org/officeDocument/2006/relationships/notesMaster" Target="/ppt/notesMasters/notesMaster1.xml" Id="Re3e1dd4bff3d4b1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0f5a22148e74f39" /><Relationship Type="http://schemas.openxmlformats.org/officeDocument/2006/relationships/notesMaster" Target="/ppt/notesMasters/notesMaster1.xml" Id="Ra8fb742d124f47f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3161214cf1141d2" /><Relationship Type="http://schemas.openxmlformats.org/officeDocument/2006/relationships/notesMaster" Target="/ppt/notesMasters/notesMaster1.xml" Id="R84ccf08599784f6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e25035914bc455d" /><Relationship Type="http://schemas.openxmlformats.org/officeDocument/2006/relationships/notesMaster" Target="/ppt/notesMasters/notesMaster1.xml" Id="R08cc389b1ed8460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faf398bd0dc4017" /><Relationship Type="http://schemas.openxmlformats.org/officeDocument/2006/relationships/notesMaster" Target="/ppt/notesMasters/notesMaster1.xml" Id="R46521861a7d2430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d4947fce7fa40b4" /><Relationship Type="http://schemas.openxmlformats.org/officeDocument/2006/relationships/notesMaster" Target="/ppt/notesMasters/notesMaster1.xml" Id="R2f439539b49340d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bd29df742e34c6f" /><Relationship Type="http://schemas.openxmlformats.org/officeDocument/2006/relationships/notesMaster" Target="/ppt/notesMasters/notesMaster1.xml" Id="Rd1f82fd4b6e448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https://www.apec2026.cn/node_196.html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judgement: students choose yes or no, then name the information they would need. Do not introduce the labels investment, speculation or saving yet. Return to this decision on slide 24.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C:/Users/oehle/Documents/igcse-term-outlines/outputs/investment-course-one-semester/Investment and Financial Decision-Making - 2026-27 Semester 1 Bilingual Department Leadership Learning Summary.pdf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https://www.pexels.com/photo/smartphone-displaying-stock-trading-app-interface-28682345/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two-lesson learning contract. The first two outcomes dominate Lesson 1; the last two are revisited and extended in Lesson 2.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C:/Users/oehle/Documents/igcse-term-outlines/outputs/investment-course-one-semester/Investment and Financial Decision-Making - 2026-27 Semester 1 Bilingual Department Leadership Learning Summary.pdf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https://uk.finance.yahoo.com/news/investing-money-savings-risks-finances-050038406.html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https://www.kiplinger.com/investing/ways-your-phone-can-help-you-weather-market-volatility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Figures are pre-2022 stock-split prices, as reported by the SEC.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https://www.sec.gov/files/staff-report-equity-options-market-struction-conditions-early-2021.pdf</a:t>
            </a:r>
          </a:p>
          <a:p xmlns:a="http://schemas.openxmlformats.org/drawingml/2006/main">
            <a:r>
              <a:t>- https://www.cnbc.com/2019/03/27/gamestop-doubling-down-on-its-investment-in-surging-esports-industry.html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Barber and Odean sample period: 1991-1996. Historical evidence does not predict every trader's result.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https://faculty.haas.berkeley.edu/odean/papers/returns/individual_investor_performance_final.pdf</a:t>
            </a:r>
          </a:p>
          <a:p xmlns:a="http://schemas.openxmlformats.org/drawingml/2006/main">
            <a:r>
              <a:t>- https://ec.ltn.com.tw/article/breakingnews/3466782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False. A short holding period alone does not decide the category. The decisive clue is the expected payoff basis: speculation relies mainly on a predicted price change rather than expected income or evidence about underlying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C:/Users/oehle/Documents/igcse-term-outlines/outputs/investment-course-one-semester/Investment and Financial Decision-Making - 2026-27 Semester 1 Bilingual Department Leadership Learning Summary.pdf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https://www.stats.gov.cn/english/PressRelease/202602/t20260228_1962661.html</a:t>
            </a:r>
          </a:p>
          <a:p xmlns:a="http://schemas.openxmlformats.org/drawingml/2006/main">
            <a:r>
              <a:t>- https://www.cca.org.mx/CCA_cursos/finanzas_personales/html/modulo3/modulo3-13.html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https://www.cnbc.com/2019/12/18/how-to-build-an-emergency-savings-fund.html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https://www.lepoint.fr/eureka/pourquoi-les-tirelires-ont-elles-la-forme-d-un-cochon-27-09-2024-2571328_4706.php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No. Earning interest does not automatically change saving into financial investment. If the main purpose is a near-term need, capital preservation and liquidity, the decision can remain saving.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C:/Users/oehle/Documents/igcse-term-outlines/outputs/investment-course-one-semester/Investment and Financial Decision-Making - 2026-27 Semester 1 Bilingual Department Leadership Learning Summary.pdf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https://www.chinadailyhk.com/hk/article/605229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as of 31 December 2025. The USD illustration excludes fees, taxes and currency effects.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https://www.spglobal.com/spdji/en/commentary/article/us-equities-market-attributes/</a:t>
            </a:r>
          </a:p>
          <a:p xmlns:a="http://schemas.openxmlformats.org/drawingml/2006/main">
            <a:r>
              <a:t>- https://www.nst.com.my/business/corporate/2026/02/1371314/stocks-fluctuate-after-wall-street-ai-fuelled-sell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B. Decisive clue: the expected payoff is supported by income and/or evidence about underlying value, while possible loss is accepted.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A. Decisive clue: the money is for a known near-term need, so liquidity and capital preservation matter most.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C. Decisive clue: the decision relies on a rumour and a predicted short-term price rise, with borrowing increasing possible loss.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C. Decisive clue: saving can prioritise capital preservation and liquidity even when it earns interest.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C. Decisive clue: classify the decision by its expected payoff basis and evidence, not by the asset name.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C:/Users/oehle/Documents/igcse-term-outlines/outputs/investment-course-one-semester/Investment and Financial Decision-Making - 2026-27 Semester 1 Bilingual Department Leadership Learning Summary.pdf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https://www.hanseaticbank.de/klarmacher/vorsorgen/die-betriebliche-altersvorsorge-kuendigen-geht-das-ueberhaupt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C:/Users/oehle/Documents/igcse-term-outlines/outputs/investment-course-one-semester/Investment and Financial Decision-Making - 2026-27 Semester 1 Bilingual Department Leadership Learning Summary.pdf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https://www.coursehero.com/blog/product-team/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C:/Users/oehle/Documents/igcse-term-outlines/outputs/investment-course-one-semester/Investment and Financial Decision-Making - 2026-27 Semester 1 Bilingual Department Leadership Learning Summary.pdf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now return to slide 2 and improve their first judgement using evidence, possible loss and the expected payoff basis.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C:/Users/oehle/Documents/igcse-term-outlines/outputs/investment-course-one-semester/Investment and Financial Decision-Making - 2026-27 Semester 1 Bilingual Department Leadership Learning Summary.pdf</a:t>
            </a:r>
          </a:p>
          <a:p xmlns:a="http://schemas.openxmlformats.org/drawingml/2006/main">
            <a:r>
              <a:t>- https://www.tori.ng/news/73034/nigerian-stock-market-investors-gain-n175b.html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C:/Users/oehle/Documents/igcse-term-outlines/outputs/investment-course-one-semester/Investment and Financial Decision-Making - 2026-27 Semester 1 Bilingual Department Leadership Learning Summary.pdf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this as an individual response. A strong answer should classify the proposed borrowing-and-tip decision as speculation, cite the rumour/predicted price change and repayment obligation, explain why investment or saving is weaker, and name evidence that would be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C:/Users/oehle/Documents/igcse-term-outlines/outputs/investment-course-one-semester/Investment and Financial Decision-Making - 2026-27 Semester 1 Bilingual Department Leadership Learning Summary.pdf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118c99c63c46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48bdf3a10c4f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95ca038f3f43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20ee74ae04a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bdb6e29d0f41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b2897d65194d7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c138beddee481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00dfae04d141a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ea8e6d74414e0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503212c6643f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a228525ecd450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a6c79a4d3e42c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740C31-A7E6-CF6F-6C74-398A96ED896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14258B1-786C-CCDE-E680-48165EEA15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AEB133B-4E15-ECE7-D9A7-3CFA443315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2FE4D9C-58CB-8113-DFC3-F45C05B8C6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4AB8E9-4CBA-44A4-995B-F8B448F130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639949-CD78-E643-0AAD-859E09FDD0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2A8F88A-00F8-FABD-6623-7925E9E14C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2E1F7E2-A114-EA69-8513-1075CA7750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9A6A31-52B9-93FA-BFD3-A1AFDA93EE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1B0C23-1B47-BE09-9A93-F060C7A12D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1419C6-2CAE-566B-B33F-F3A6EA06CE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ADA953B-4D3B-D56E-B9D8-F62A934DC1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4FA94B-1175-F7C9-B2E9-1ADDBF4C6C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FEE77B-5F23-75ED-FE40-7877CD43F1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551DF6-61B4-3433-1503-1257F0935C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189D28-4BBA-6A41-F0CD-E00915C08F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BC85A29-ED15-2702-3077-3660312DC9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E1BF950-9049-EE20-5B7F-B28BF7739D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0A14AD9-934F-5C6D-BEF8-5F1812876C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016DC94-16E8-4028-B91C-E0793D8AC2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4C2C6C0-E46F-838C-2235-BB949C2CD4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987481-28C9-36B8-BB5A-A48EB5BFE6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3935DB-018C-2AC2-55DD-4618F60DB9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5D95862-0413-B47F-5EA6-F8C658133FB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8CE1305-8D0D-E5C7-E787-20ACC29B3D9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3188980-E579-DEE1-5828-BCDCC6AD1C4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029A561-CCB2-1174-F947-83A5BAC81C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7B90D5B-48EB-6D16-19FF-B121C98D94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AB32215-F36B-8982-15B3-9ADF1B1253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D0C8A60-5317-9D60-55E0-A5C712D22E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21AB46B-BEB8-0075-E4F0-FFD4DAB9FE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9ED68B8-2C17-DB9F-98CA-7774C21DCA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251ADF9-B6D2-3B08-0067-5D70FA2D53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259CB8C-5882-D7F9-0C5F-5CAE7BB8CB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C5A38BF-916A-394C-A009-EA8384497D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01AC420-6534-BA75-9579-11901021DA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54C0B0-D4EF-8BE0-3D87-434572F0D2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DEB04DA-348F-0CA0-3EB3-6B5B5E66D3F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A024A34-06D8-8410-DAA7-584D665414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1C790C3-85ED-A42A-E800-B96767E89D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FC8CE1A-3A99-4FA9-0273-D6593A0C72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825D52D-C5CB-071F-A944-F988937724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9A96CC-38AC-1EF5-648E-E7F422D731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D0507D7-2DF6-FAC2-D4BB-A4AB3244AF0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FBF6656-6D39-2FD8-5252-482351FF6B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0CA16A1-82B5-DA65-7D5C-1071657EA5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2523671-72F7-98E8-B10C-E2B3321B3C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A0913F0-CB9B-234C-E784-84F1D5C9D9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757AC8-A107-6BEF-E21C-C9F2BB83AE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E64E386-D025-1C80-A103-5968FBBCBA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92B3C2C-FD10-2FF9-27A8-1744C93C66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BEEF54-8ADC-991C-7D9C-C7C12EA43B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079658-DCDC-95B9-20D6-1ACA48D1B1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99EDAE0-532D-25E1-1EA2-CA7D31C2BB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C223E2A-A142-D64E-7901-D79B21152B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DD5A47-47AF-2E22-3F5F-00D8029CCB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C6E2697-B3A1-C43C-9380-7183DFA939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D8AFB7-62EB-363B-3021-3BA01BEEB6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27b70e8ff34750" /><Relationship Type="http://schemas.openxmlformats.org/officeDocument/2006/relationships/slideLayout" Target="/ppt/slideLayouts/slideLayout1.xml" Id="Re5b508d4166d4fe3" /><Relationship Type="http://schemas.openxmlformats.org/officeDocument/2006/relationships/slideLayout" Target="/ppt/slideLayouts/slideLayout2.xml" Id="Rd43be9ed563041ff" /><Relationship Type="http://schemas.openxmlformats.org/officeDocument/2006/relationships/slideLayout" Target="/ppt/slideLayouts/slideLayout3.xml" Id="R58d60ec291db4bf6" /><Relationship Type="http://schemas.openxmlformats.org/officeDocument/2006/relationships/slideLayout" Target="/ppt/slideLayouts/slideLayout4.xml" Id="R01df038969ee426d" /><Relationship Type="http://schemas.openxmlformats.org/officeDocument/2006/relationships/slideLayout" Target="/ppt/slideLayouts/slideLayout5.xml" Id="Ra36618418fd342ac" /><Relationship Type="http://schemas.openxmlformats.org/officeDocument/2006/relationships/slideLayout" Target="/ppt/slideLayouts/slideLayout6.xml" Id="R45caca18da6d40fa" /><Relationship Type="http://schemas.openxmlformats.org/officeDocument/2006/relationships/slideLayout" Target="/ppt/slideLayouts/slideLayout7.xml" Id="Rb8fa3da710bc4bda" /><Relationship Type="http://schemas.openxmlformats.org/officeDocument/2006/relationships/slideLayout" Target="/ppt/slideLayouts/slideLayout8.xml" Id="R5b20cb268f6c42f7" /><Relationship Type="http://schemas.openxmlformats.org/officeDocument/2006/relationships/slideLayout" Target="/ppt/slideLayouts/slideLayout9.xml" Id="Rfeb2cb5b0c834a72" /><Relationship Type="http://schemas.openxmlformats.org/officeDocument/2006/relationships/slideLayout" Target="/ppt/slideLayouts/slideLayout10.xml" Id="Rb2dc984add46474d" /><Relationship Type="http://schemas.openxmlformats.org/officeDocument/2006/relationships/slideLayout" Target="/ppt/slideLayouts/slideLayout11.xml" Id="Rf40c144bf28a4bd0" /><Relationship Type="http://schemas.openxmlformats.org/officeDocument/2006/relationships/slideLayout" Target="/ppt/slideLayouts/slideLayout12.xml" Id="R233addffe9f8490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6D20DC8-DCE3-A103-1D88-A82751FCCC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BB9AD6-1C43-4F75-D382-EAEFBD03A2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504F01-46CE-D06D-2D4D-3BA090E33CD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6A5B816-E33A-EA33-5019-C0C206A326D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0F2935-C73C-9292-EF27-B601E8004AB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b508d4166d4fe3"/>
    <p:sldLayoutId xmlns:r="http://schemas.openxmlformats.org/officeDocument/2006/relationships" id="2147483650" r:id="Rd43be9ed563041ff"/>
    <p:sldLayoutId xmlns:r="http://schemas.openxmlformats.org/officeDocument/2006/relationships" id="2147483651" r:id="R58d60ec291db4bf6"/>
    <p:sldLayoutId xmlns:r="http://schemas.openxmlformats.org/officeDocument/2006/relationships" id="2147483652" r:id="R01df038969ee426d"/>
    <p:sldLayoutId xmlns:r="http://schemas.openxmlformats.org/officeDocument/2006/relationships" id="2147483653" r:id="Ra36618418fd342ac"/>
    <p:sldLayoutId xmlns:r="http://schemas.openxmlformats.org/officeDocument/2006/relationships" id="2147483654" r:id="R45caca18da6d40fa"/>
    <p:sldLayoutId xmlns:r="http://schemas.openxmlformats.org/officeDocument/2006/relationships" id="2147483655" r:id="Rb8fa3da710bc4bda"/>
    <p:sldLayoutId xmlns:r="http://schemas.openxmlformats.org/officeDocument/2006/relationships" id="2147483656" r:id="R5b20cb268f6c42f7"/>
    <p:sldLayoutId xmlns:r="http://schemas.openxmlformats.org/officeDocument/2006/relationships" id="2147483657" r:id="Rfeb2cb5b0c834a72"/>
    <p:sldLayoutId xmlns:r="http://schemas.openxmlformats.org/officeDocument/2006/relationships" id="2147483658" r:id="Rb2dc984add46474d"/>
    <p:sldLayoutId xmlns:r="http://schemas.openxmlformats.org/officeDocument/2006/relationships" id="2147483659" r:id="Rf40c144bf28a4bd0"/>
    <p:sldLayoutId xmlns:r="http://schemas.openxmlformats.org/officeDocument/2006/relationships" id="2147483660" r:id="R233addffe9f8490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4c4c544f840c8" /><Relationship Type="http://schemas.openxmlformats.org/officeDocument/2006/relationships/image" Target="/ppt/media/image.jpeg" Id="R87b3bee49fa6499f" /><Relationship Type="http://schemas.openxmlformats.org/officeDocument/2006/relationships/notesSlide" Target="/ppt/notesSlides/notesSlide1.xml" Id="Re74f85f557bb4c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3dfd4615804ffd" /><Relationship Type="http://schemas.openxmlformats.org/officeDocument/2006/relationships/image" Target="/ppt/media/image2.jpeg" Id="Ra3e96bf1ade4443e" /><Relationship Type="http://schemas.openxmlformats.org/officeDocument/2006/relationships/notesSlide" Target="/ppt/notesSlides/notesSlide2.xml" Id="Rf102cb0600f34c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140f392426043c4" /><Relationship Type="http://schemas.openxmlformats.org/officeDocument/2006/relationships/notesSlide" Target="/ppt/notesSlides/notesSlide3.xml" Id="Rbbb691c3214844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9bc90645de4ba1" /><Relationship Type="http://schemas.openxmlformats.org/officeDocument/2006/relationships/image" Target="/ppt/media/image3.jpeg" Id="R71fcfa828d6a4671" /><Relationship Type="http://schemas.openxmlformats.org/officeDocument/2006/relationships/notesSlide" Target="/ppt/notesSlides/notesSlide4.xml" Id="R9aa1db9e8ce84f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83b97359734b81" /><Relationship Type="http://schemas.openxmlformats.org/officeDocument/2006/relationships/image" Target="/ppt/media/image4.jpeg" Id="R76f89c9574544665" /><Relationship Type="http://schemas.openxmlformats.org/officeDocument/2006/relationships/notesSlide" Target="/ppt/notesSlides/notesSlide5.xml" Id="Rf352446590254d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b0cab22f094fe5" /><Relationship Type="http://schemas.openxmlformats.org/officeDocument/2006/relationships/image" Target="/ppt/media/image5.jpeg" Id="R798aa8549d804a98" /><Relationship Type="http://schemas.openxmlformats.org/officeDocument/2006/relationships/notesSlide" Target="/ppt/notesSlides/notesSlide6.xml" Id="Ref23a6abbf1a41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6b066842d94eba" /><Relationship Type="http://schemas.openxmlformats.org/officeDocument/2006/relationships/image" Target="/ppt/media/image6.jpeg" Id="R500d5d10456040fe" /><Relationship Type="http://schemas.openxmlformats.org/officeDocument/2006/relationships/notesSlide" Target="/ppt/notesSlides/notesSlide7.xml" Id="Rf5ef711e5fbb43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e0f8e766fc4adc" /><Relationship Type="http://schemas.openxmlformats.org/officeDocument/2006/relationships/notesSlide" Target="/ppt/notesSlides/notesSlide8.xml" Id="Rd8bc36e80f1b47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4dd50ebe584fd0" /><Relationship Type="http://schemas.openxmlformats.org/officeDocument/2006/relationships/image" Target="/ppt/media/image7.jpeg" Id="Rc80b4d79fe454d9d" /><Relationship Type="http://schemas.openxmlformats.org/officeDocument/2006/relationships/notesSlide" Target="/ppt/notesSlides/notesSlide9.xml" Id="R44dd4ce955d744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fe88f263a7408c" /><Relationship Type="http://schemas.openxmlformats.org/officeDocument/2006/relationships/image" Target="/ppt/media/image8.jpeg" Id="R8d7ceb4602e4474a" /><Relationship Type="http://schemas.openxmlformats.org/officeDocument/2006/relationships/notesSlide" Target="/ppt/notesSlides/notesSlide10.xml" Id="R2d8421c1028149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06366513904a98" /><Relationship Type="http://schemas.openxmlformats.org/officeDocument/2006/relationships/image" Target="/ppt/media/image9.jpeg" Id="Re28a0ad560ee4005" /><Relationship Type="http://schemas.openxmlformats.org/officeDocument/2006/relationships/notesSlide" Target="/ppt/notesSlides/notesSlide11.xml" Id="R244bc1b361a34d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9e0123255e4e59" /><Relationship Type="http://schemas.openxmlformats.org/officeDocument/2006/relationships/notesSlide" Target="/ppt/notesSlides/notesSlide12.xml" Id="R11ecd2c493dc4b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9ffd2077124c01" /><Relationship Type="http://schemas.openxmlformats.org/officeDocument/2006/relationships/image" Target="/ppt/media/image.png" Id="R54937a3f4ef84b13" /><Relationship Type="http://schemas.openxmlformats.org/officeDocument/2006/relationships/notesSlide" Target="/ppt/notesSlides/notesSlide13.xml" Id="Rb4617d6d0eac40c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0b0479e3b3433a" /><Relationship Type="http://schemas.openxmlformats.org/officeDocument/2006/relationships/image" Target="/ppt/media/image10.jpeg" Id="R8004235364f34e2d" /><Relationship Type="http://schemas.openxmlformats.org/officeDocument/2006/relationships/notesSlide" Target="/ppt/notesSlides/notesSlide14.xml" Id="Rf05820683eba499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99c2adc2494217" /><Relationship Type="http://schemas.openxmlformats.org/officeDocument/2006/relationships/notesSlide" Target="/ppt/notesSlides/notesSlide15.xml" Id="Rf3b24fb0682b4d4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ebae8eb0744c2c" /><Relationship Type="http://schemas.openxmlformats.org/officeDocument/2006/relationships/notesSlide" Target="/ppt/notesSlides/notesSlide16.xml" Id="R1dfe327ba34448c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bacc65ed494dd6" /><Relationship Type="http://schemas.openxmlformats.org/officeDocument/2006/relationships/notesSlide" Target="/ppt/notesSlides/notesSlide17.xml" Id="Rd2cbc1568bf942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a46102d8b74432" /><Relationship Type="http://schemas.openxmlformats.org/officeDocument/2006/relationships/notesSlide" Target="/ppt/notesSlides/notesSlide18.xml" Id="R2cdd77c3e49b47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e6746721314bcb" /><Relationship Type="http://schemas.openxmlformats.org/officeDocument/2006/relationships/notesSlide" Target="/ppt/notesSlides/notesSlide19.xml" Id="Rde17bd8c992242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c7a0c791f04791" /><Relationship Type="http://schemas.openxmlformats.org/officeDocument/2006/relationships/notesSlide" Target="/ppt/notesSlides/notesSlide20.xml" Id="R097520dd65974c8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7dc4fd55134eee" /><Relationship Type="http://schemas.openxmlformats.org/officeDocument/2006/relationships/notesSlide" Target="/ppt/notesSlides/notesSlide21.xml" Id="R655df79fa5ee4fa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16a1ab494c4553" /><Relationship Type="http://schemas.openxmlformats.org/officeDocument/2006/relationships/notesSlide" Target="/ppt/notesSlides/notesSlide22.xml" Id="R3ef129f6757f4cc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7df44f98374942" /><Relationship Type="http://schemas.openxmlformats.org/officeDocument/2006/relationships/image" Target="/ppt/media/image11.jpeg" Id="R278227a499c84a6f" /><Relationship Type="http://schemas.openxmlformats.org/officeDocument/2006/relationships/notesSlide" Target="/ppt/notesSlides/notesSlide23.xml" Id="R1349cbfac1144b9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1da7c868494906" /><Relationship Type="http://schemas.openxmlformats.org/officeDocument/2006/relationships/notesSlide" Target="/ppt/notesSlides/notesSlide24.xml" Id="Rc729e8be5a1b4c9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be08740f3a4865" /><Relationship Type="http://schemas.openxmlformats.org/officeDocument/2006/relationships/image" Target="/ppt/media/image12.jpeg" Id="Rbead88866bce473e" /><Relationship Type="http://schemas.openxmlformats.org/officeDocument/2006/relationships/notesSlide" Target="/ppt/notesSlides/notesSlide25.xml" Id="Rf7bc976952cb43c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30fbc3565549ab" /><Relationship Type="http://schemas.openxmlformats.org/officeDocument/2006/relationships/notesSlide" Target="/ppt/notesSlides/notesSlide26.xml" Id="R5944a767c086427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834c5db27d47eb" /><Relationship Type="http://schemas.openxmlformats.org/officeDocument/2006/relationships/image" Target="/ppt/media/image13.jpeg" Id="R83d97d2c7d2d45a0" /><Relationship Type="http://schemas.openxmlformats.org/officeDocument/2006/relationships/notesSlide" Target="/ppt/notesSlides/notesSlide27.xml" Id="R788ac383cdeb424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8a6ae111b1484c" /><Relationship Type="http://schemas.openxmlformats.org/officeDocument/2006/relationships/notesSlide" Target="/ppt/notesSlides/notesSlide28.xml" Id="R571a9cbe7d9a468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bfd573a14f4cb6" /><Relationship Type="http://schemas.openxmlformats.org/officeDocument/2006/relationships/notesSlide" Target="/ppt/notesSlides/notesSlide29.xml" Id="Ra763f0b7079f45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2919CBF-0058-21C9-4F26-33DE43F7876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000250"/>
            <a:ext cx="5334000" cy="2000250"/>
          </a:xfr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4000"/>
              </a:lnSpc>
              <a:buNone/>
              <a:defRPr sz="39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What is</a:t>
            </a:r>
          </a:p>
          <a:p xmlns:a="http://schemas.openxmlformats.org/drawingml/2006/main">
            <a:pPr marL="0" indent="0" algn="l">
              <a:lnSpc>
                <a:spcPct val="94000"/>
              </a:lnSpc>
              <a:buNone/>
              <a:defRPr sz="39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investment?</a:t>
            </a:r>
          </a:p>
        </p:txBody>
      </p:sp>
      <p:pic>
        <p:nvPicPr>
          <p:cNvPr id="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3bee49fa6499f"/>
          <a:srcRect xmlns:a="http://schemas.openxmlformats.org/drawingml/2006/main" l="27344" t="0" r="273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617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CE2FAC-3797-2F00-FAC9-EFDF7014C0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685800"/>
            <a:ext cx="5619750" cy="5429250"/>
          </a:xfr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8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A friend says a share price will rise tomorrow.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28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Would you borrow ¥1,000 to buy it?</a:t>
            </a:r>
          </a:p>
          <a:p xmlns:a="http://schemas.openxmlformats.org/drawingml/2006/main">
            <a:pPr marL="0" indent="0" algn="l">
              <a:lnSpc>
                <a:spcPct val="94000"/>
              </a:lnSpc>
              <a:buNone/>
              <a:defRPr sz="3075" b="1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endParaRPr sz="2850" b="1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28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06C5B"/>
                </a:solidFill>
                <a:latin typeface="Microsoft YaHei"/>
                <a:ea typeface="Microsoft YaHei"/>
                <a:cs typeface="Microsoft YaHei"/>
              </a:rPr>
              <a:t>What would you need to know first?</a:t>
            </a:r>
          </a:p>
          <a:p xmlns:a="http://schemas.openxmlformats.org/drawingml/2006/main">
            <a:pPr marL="0" indent="0" algn="l">
              <a:lnSpc>
                <a:spcPct val="94000"/>
              </a:lnSpc>
              <a:buNone/>
              <a:defRPr sz="3075" b="1">
                <a:solidFill>
                  <a:srgbClr val="FCFBF8"/>
                </a:solidFill>
                <a:latin typeface="Microsoft YaHei"/>
                <a:ea typeface="Microsoft YaHei"/>
                <a:cs typeface="Microsoft YaHei"/>
              </a:defRPr>
            </a:pPr>
            <a:endParaRPr sz="2025" b="1">
              <a:solidFill>
                <a:srgbClr val="F06C5B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28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872"/>
                </a:solidFill>
                <a:latin typeface="Microsoft YaHei"/>
                <a:ea typeface="Microsoft YaHei"/>
                <a:cs typeface="Microsoft YaHei"/>
              </a:rPr>
              <a:t>朋友说某只股票明天会涨。你会借¥1,000买入吗？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28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872"/>
                </a:solidFill>
                <a:latin typeface="Microsoft YaHei"/>
                <a:ea typeface="Microsoft YaHei"/>
                <a:cs typeface="Microsoft YaHei"/>
              </a:rPr>
              <a:t>你首先需要知道什么？</a:t>
            </a:r>
          </a:p>
        </p:txBody>
      </p:sp>
      <p:pic>
        <p:nvPicPr>
          <p:cNvPr id="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96bf1ade4443e"/>
          <a:srcRect xmlns:a="http://schemas.openxmlformats.org/drawingml/2006/main" l="28125" t="0" r="28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8319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7B658CE-3172-4D06-9EE4-5623DF7F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TWO-LESSON DESTINATION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F7C2B5A6-CBFD-40C2-BDE9-231F71FE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you will be able to do</a:t>
            </a:r>
          </a:p>
        </p:txBody>
      </p:sp>
      <p:cxnSp>
        <p:nvCxnSpPr>
          <p:cNvPr id="69" name="Straight Arrow Connector 56"/>
          <p:cNvCxnSpPr/>
          <p:nvPr/>
        </p:nvCxnSpPr>
        <p:spPr>
          <a:xfrm xmlns:a="http://schemas.openxmlformats.org/drawingml/2006/main">
            <a:off x="571500" y="1171575"/>
            <a:ext cx="11049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90C883C-DDEB-4A19-BAAD-36A23EBD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Course map | Investment lesson 1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2976100-A571-4CD4-AA1C-815EC735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16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9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72" name="Straight Arrow Connector 59"/>
          <p:cNvCxnSpPr/>
          <p:nvPr/>
        </p:nvCxnSpPr>
        <p:spPr>
          <a:xfrm xmlns:a="http://schemas.openxmlformats.org/drawingml/2006/main">
            <a:off x="1028831" y="2405292"/>
            <a:ext cx="9906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E1CA9BA0-9B83-47C7-A839-4296F643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956" y="2005242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0DCE83B-A221-4093-8A02-176F5D64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20478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Distinguish investment, speculation and saving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8D4255C-6E2A-4926-8D3E-424BFF4D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456" y="2005242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2014F48-B8AA-4F11-BE67-0E8467AE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62300"/>
            <a:ext cx="20478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 i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Calculate simple investment returns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18657CC7-0699-4D6F-81BB-34E360ED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956" y="2005242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91B6A0D-26CE-4709-A4C0-5E8168C5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62300"/>
            <a:ext cx="20478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Give relevant examples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267EEE1D-B829-4DBE-87B3-1EB7F6F0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456" y="2005242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2C70F6F-C4B2-4E8C-A85B-6175630C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62300"/>
            <a:ext cx="20478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0" i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Justify each classification</a:t>
            </a:r>
            <a:endParaRPr sz="1650" b="0" i="0">
              <a:solidFill>
                <a:srgbClr val="59616B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82883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CE2FAC-3797-2F00-FAC9-EFDF7014C0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Is this investment?</a:t>
            </a:r>
          </a:p>
        </p:txBody>
      </p:sp>
      <p:pic>
        <p:nvPicPr>
          <p:cNvPr id="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cfa828d6a4671"/>
          <a:srcRect xmlns:a="http://schemas.openxmlformats.org/drawingml/2006/main" l="0" t="16703" r="0" b="167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381125"/>
            <a:ext cx="11049000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2799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A7C310-9AEA-6F2B-EE01-6FA6FF112E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1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Speculation (</a:t>
            </a:r>
            <a:r>
              <a:rPr sz="320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投机</a:t>
            </a:r>
            <a:r>
              <a:rPr sz="320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3150" b="1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C597231-263E-783D-6E31-CF9FD18239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49" y="1619249"/>
            <a:ext cx="6238547" cy="4939205"/>
          </a:xfr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Trading mainly</a:t>
            </a:r>
            <a:r>
              <a:rPr sz="24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to profit from a </a:t>
            </a:r>
            <a:r>
              <a:rPr sz="240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predicted price change (</a:t>
            </a:r>
            <a:r>
              <a:rPr sz="240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预测的价格变动</a:t>
            </a:r>
            <a:r>
              <a:rPr sz="240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)</a:t>
            </a:r>
            <a:r>
              <a:rPr sz="24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.</a:t>
            </a:r>
          </a:p>
          <a:p xmlns:a="http://schemas.openxmlformats.org/drawingml/2006/main">
            <a:pPr marL="0" indent="0">
              <a:buNone/>
            </a:pPr>
            <a:endParaRPr sz="2000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Income or underlying value (</a:t>
            </a:r>
            <a:r>
              <a:rPr sz="20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基础价值</a:t>
            </a:r>
            <a:r>
              <a:rPr sz="20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 </a:t>
            </a:r>
            <a:r>
              <a:rPr sz="200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is not the main basis</a:t>
            </a:r>
            <a:r>
              <a:rPr sz="20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.</a:t>
            </a:r>
          </a:p>
          <a:p xmlns:a="http://schemas.openxmlformats.org/drawingml/2006/main">
            <a:pPr marL="0" indent="0">
              <a:buNone/>
            </a:pPr>
            <a:endParaRPr sz="2000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Examples:</a:t>
            </a:r>
            <a:endParaRPr sz="2000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• shares bought after a rumour, gold bought for rapid resale</a:t>
            </a:r>
            <a:endParaRPr sz="2000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• currency traded after an exchange-rate prediction.</a:t>
            </a:r>
          </a:p>
        </p:txBody>
      </p:sp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f89c9574544665"/>
          <a:srcRect xmlns:a="http://schemas.openxmlformats.org/drawingml/2006/main" l="15906" t="0" r="159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524000"/>
            <a:ext cx="428625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245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F15517-CDD8-0040-069F-F483AD3769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33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A rapid price rise can reverse quickly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73F7D2-DB71-7501-0B9F-A64C759F91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0" y="1619250"/>
            <a:ext cx="5143500" cy="4095750"/>
          </a:xfr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GameStop, January 2021</a:t>
            </a:r>
          </a:p>
          <a:p xmlns:a="http://schemas.openxmlformats.org/drawingml/2006/main">
            <a:pPr marL="0" indent="0">
              <a:buNone/>
            </a:pPr>
            <a:endParaRPr sz="187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• More than </a:t>
            </a: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1,600%</a:t>
            </a: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rise from the 11 January close to the 27 January close</a:t>
            </a:r>
          </a:p>
          <a:p xmlns:a="http://schemas.openxmlformats.org/drawingml/2006/main">
            <a:pPr marL="0" indent="0">
              <a:buNone/>
            </a:pPr>
            <a:endParaRPr sz="187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USD 483</a:t>
            </a: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intraday high on 28 January</a:t>
            </a:r>
          </a:p>
          <a:p xmlns:a="http://schemas.openxmlformats.org/drawingml/2006/main">
            <a:pPr marL="0" indent="0">
              <a:buNone/>
            </a:pPr>
            <a:endParaRPr sz="187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• More than </a:t>
            </a:r>
            <a:r>
              <a:rPr sz="1875" b="1">
                <a:solidFill>
                  <a:srgbClr val="F06C5B"/>
                </a:solidFill>
                <a:latin typeface="Microsoft YaHei"/>
                <a:ea typeface="Microsoft YaHei"/>
                <a:cs typeface="Microsoft YaHei"/>
              </a:rPr>
              <a:t>86%</a:t>
            </a: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fall from that high by the end of the first week of February</a:t>
            </a:r>
          </a:p>
        </p:txBody>
      </p:sp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aa8549d804a98"/>
          <a:srcRect xmlns:a="http://schemas.openxmlformats.org/drawingml/2006/main" l="14205" t="0" r="142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524000"/>
            <a:ext cx="53340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7057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0E350D-62E9-DC1D-DA04-0495D7DC94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33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Why may speculation be a bad idea?</a:t>
            </a:r>
            <a:endParaRPr sz="3300" b="1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4373F09-016D-841D-6A42-E084F25682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666875"/>
            <a:ext cx="6096000" cy="3905250"/>
          </a:xfr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One reason is the cost of frequent trading.</a:t>
            </a:r>
          </a:p>
          <a:p xmlns:a="http://schemas.openxmlformats.org/drawingml/2006/main">
            <a:pPr marL="0" indent="0">
              <a:buNone/>
            </a:pPr>
            <a:endParaRPr sz="1800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A study of 66,465 households found annual returns of:</a:t>
            </a:r>
          </a:p>
          <a:p xmlns:a="http://schemas.openxmlformats.org/drawingml/2006/main">
            <a:pPr marL="0" indent="0">
              <a:buNone/>
            </a:pPr>
            <a:endParaRPr sz="1800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Most-active households: </a:t>
            </a:r>
            <a:r>
              <a:rPr sz="180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11.4%</a:t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Market: </a:t>
            </a:r>
            <a:r>
              <a:rPr sz="180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17.9%</a:t>
            </a:r>
          </a:p>
          <a:p xmlns:a="http://schemas.openxmlformats.org/drawingml/2006/main">
            <a:pPr marL="0" indent="0">
              <a:buNone/>
            </a:pPr>
            <a:endParaRPr sz="1800" b="1">
              <a:solidFill>
                <a:srgbClr val="2B5D7E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Trading costs reduced the net return</a:t>
            </a: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of the most-active group.</a:t>
            </a:r>
          </a:p>
        </p:txBody>
      </p:sp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d5d10456040fe"/>
          <a:srcRect xmlns:a="http://schemas.openxmlformats.org/drawingml/2006/main" l="15894" t="0" r="158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619250"/>
            <a:ext cx="4095750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2147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9288C4-40B9-6D1F-241D-AB956C980A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514350"/>
            <a:ext cx="10972800" cy="781050"/>
          </a:xfr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Quick check: speculation (投机)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3AF896F-1FC2-3BA9-F1AA-3F6D5DB30D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000125" y="1809750"/>
            <a:ext cx="10191750" cy="3333750"/>
          </a:xfr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34"/>
              </a:spcAft>
              <a:defRPr sz="26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True or false?</a:t>
            </a:r>
          </a:p>
          <a:p xmlns:a="http://schemas.openxmlformats.org/drawingml/2006/main">
            <a:pPr algn="l">
              <a:spcAft>
                <a:spcPts val="34"/>
              </a:spcAft>
              <a:defRPr sz="26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t>A short holding period </a:t>
            </a:r>
            <a:r>
              <a:rPr sz="2625" b="1">
                <a:solidFill>
                  <a:srgbClr val="F06C5B"/>
                </a:solidFill>
                <a:latin typeface="Microsoft YaHei"/>
                <a:ea typeface="Microsoft YaHei"/>
                <a:cs typeface="Microsoft YaHei"/>
              </a:rPr>
              <a:t>always</a:t>
            </a:r>
            <a:r>
              <a:t> makes a decision speculation.</a:t>
            </a:r>
          </a:p>
          <a:p xmlns:a="http://schemas.openxmlformats.org/drawingml/2006/main">
            <a:pPr algn="l">
              <a:defRPr sz="26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t>Explain using the </a:t>
            </a:r>
            <a:r>
              <a:rPr sz="262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expected payoff basis (预期回报依据)</a:t>
            </a:r>
            <a: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80307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02509-0E28-9548-1D52-4D2555BD8D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33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Saving can earn interest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C8CB7BF-2B08-E222-FD53-2C1D489C3E6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714500"/>
            <a:ext cx="5715000" cy="3714750"/>
          </a:xfr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China, end-2025</a:t>
            </a:r>
          </a:p>
          <a:p xmlns:a="http://schemas.openxmlformats.org/drawingml/2006/main">
            <a:pPr marL="0" indent="0">
              <a:buNone/>
            </a:pPr>
            <a:endParaRPr sz="187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CNY 167.0 trillion</a:t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domestic household deposits</a:t>
            </a:r>
          </a:p>
          <a:p xmlns:a="http://schemas.openxmlformats.org/drawingml/2006/main">
            <a:pPr marL="0" indent="0">
              <a:buNone/>
            </a:pPr>
            <a:endParaRPr sz="187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9.7%</a:t>
            </a: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increase from end-2024</a:t>
            </a:r>
          </a:p>
          <a:p xmlns:a="http://schemas.openxmlformats.org/drawingml/2006/main">
            <a:pPr marL="0" indent="0">
              <a:buNone/>
            </a:pPr>
            <a:endParaRPr sz="187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Saving can serve a near-term need</a:t>
            </a: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even when it earns some interest.</a:t>
            </a:r>
          </a:p>
        </p:txBody>
      </p:sp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b4d79fe454d9d"/>
          <a:srcRect xmlns:a="http://schemas.openxmlformats.org/drawingml/2006/main" l="15148" t="0" r="151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524000"/>
            <a:ext cx="43815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7143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CE3483-6CEA-D277-81EA-0AEE6BE974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33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Is this investment?</a:t>
            </a:r>
          </a:p>
        </p:txBody>
      </p:sp>
      <p:pic>
        <p:nvPicPr>
          <p:cNvPr id="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ceb4602e4474a"/>
          <a:srcRect xmlns:a="http://schemas.openxmlformats.org/drawingml/2006/main" l="0" t="10536" r="0" b="105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381125"/>
            <a:ext cx="11049000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785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9EFB71-D60D-ECD4-E303-237F00B5C7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307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Saving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A917A92-886F-0D21-3EF1-FDB9DCB2B2E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619249"/>
            <a:ext cx="5905500" cy="4750019"/>
          </a:xfr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Saving is current income not spent now.</a:t>
            </a:r>
          </a:p>
          <a:p xmlns:a="http://schemas.openxmlformats.org/drawingml/2006/main">
            <a:pPr marL="0" indent="0">
              <a:buNone/>
            </a:pPr>
            <a:endParaRPr sz="1875" b="1">
              <a:solidFill>
                <a:srgbClr val="2B5D7E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Emphasis:</a:t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capital preservation (</a:t>
            </a: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保本</a:t>
            </a: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liquidity (</a:t>
            </a: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流动性</a:t>
            </a: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 xmlns:a="http://schemas.openxmlformats.org/drawingml/2006/main">
            <a:pPr marL="0" indent="0">
              <a:buNone/>
            </a:pPr>
            <a:endParaRPr sz="1875" b="1">
              <a:solidFill>
                <a:srgbClr val="2B5D7E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Examples:</a:t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• emergency fund (</a:t>
            </a: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应急资金</a:t>
            </a: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• examination fees held for a known date</a:t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• short-term cash buffer (</a:t>
            </a: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现金缓冲</a:t>
            </a: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</p:txBody>
      </p:sp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a0ad560ee4005"/>
          <a:srcRect xmlns:a="http://schemas.openxmlformats.org/drawingml/2006/main" l="11648" t="0" r="116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524000"/>
            <a:ext cx="428625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5384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505F5D-1A26-23EC-DFFB-521A432008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514350"/>
            <a:ext cx="10972800" cy="781050"/>
          </a:xfr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Quick check: saving (储蓄)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4FFB7B5-885A-5695-AEB8-3753BEB7850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000125" y="1714500"/>
            <a:ext cx="10191750" cy="3667125"/>
          </a:xfr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8"/>
              </a:spcAft>
              <a:defRPr sz="25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t>An account pays interest.</a:t>
            </a:r>
          </a:p>
          <a:p xmlns:a="http://schemas.openxmlformats.org/drawingml/2006/main">
            <a:pPr algn="l">
              <a:spcAft>
                <a:spcPts val="28"/>
              </a:spcAft>
              <a:defRPr sz="25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t>Does that </a:t>
            </a:r>
            <a:r>
              <a:rPr sz="2550" b="1">
                <a:solidFill>
                  <a:srgbClr val="F06C5B"/>
                </a:solidFill>
                <a:latin typeface="Microsoft YaHei"/>
                <a:ea typeface="Microsoft YaHei"/>
                <a:cs typeface="Microsoft YaHei"/>
              </a:rPr>
              <a:t>automatically</a:t>
            </a:r>
            <a:r>
              <a:t> make the decision a financial investment?</a:t>
            </a:r>
          </a:p>
          <a:p xmlns:a="http://schemas.openxmlformats.org/drawingml/2006/main">
            <a:pPr algn="l">
              <a:defRPr sz="25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t>Explain using </a:t>
            </a:r>
            <a:r>
              <a:rPr sz="255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purpose</a:t>
            </a:r>
            <a:r>
              <a:t>, </a:t>
            </a:r>
            <a:r>
              <a:rPr sz="255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capital preservation (保本)</a:t>
            </a:r>
            <a:r>
              <a:t> and </a:t>
            </a:r>
            <a:r>
              <a:rPr sz="255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liquidity (流动性)</a:t>
            </a:r>
            <a: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07434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753761-A2BE-A81A-4B2F-6D76C76348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4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Financial investment (</a:t>
            </a:r>
            <a:r>
              <a:rPr sz="360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金融投资</a:t>
            </a:r>
            <a:r>
              <a:rPr sz="360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3450" b="1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B07B61E-E1FF-4706-F5BB-01C14762CD1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619249"/>
            <a:ext cx="6477000" cy="4876143"/>
          </a:xfr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Putting money</a:t>
            </a:r>
            <a:r>
              <a:rPr sz="24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into an asset (</a:t>
            </a:r>
            <a:r>
              <a:rPr sz="24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资产</a:t>
            </a:r>
            <a:r>
              <a:rPr sz="24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 to seek future total return (</a:t>
            </a:r>
            <a:r>
              <a:rPr sz="24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总回报</a:t>
            </a:r>
            <a:r>
              <a:rPr sz="24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 xmlns:a="http://schemas.openxmlformats.org/drawingml/2006/main">
            <a:pPr marL="0" indent="0">
              <a:buNone/>
            </a:pPr>
            <a:endParaRPr sz="187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Total return = income + change in market value</a:t>
            </a:r>
          </a:p>
          <a:p xmlns:a="http://schemas.openxmlformats.org/drawingml/2006/main">
            <a:pPr marL="0" indent="0">
              <a:buNone/>
            </a:pPr>
            <a:endParaRPr sz="1875" b="1">
              <a:solidFill>
                <a:srgbClr val="2B5D7E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06C5B"/>
                </a:solidFill>
                <a:latin typeface="Microsoft YaHei"/>
                <a:ea typeface="Microsoft YaHei"/>
                <a:cs typeface="Microsoft YaHei"/>
              </a:rPr>
              <a:t>Risk: possible loss (</a:t>
            </a:r>
            <a:r>
              <a:rPr sz="1875" b="1">
                <a:solidFill>
                  <a:srgbClr val="F06C5B"/>
                </a:solidFill>
                <a:latin typeface="Microsoft YaHei"/>
                <a:ea typeface="Microsoft YaHei"/>
                <a:cs typeface="Microsoft YaHei"/>
              </a:rPr>
              <a:t>可能亏损</a:t>
            </a:r>
            <a:r>
              <a:rPr sz="1875" b="1">
                <a:solidFill>
                  <a:srgbClr val="F06C5B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 xmlns:a="http://schemas.openxmlformats.org/drawingml/2006/main">
            <a:pPr marL="0" indent="0">
              <a:buNone/>
            </a:pPr>
            <a:endParaRPr sz="1875" b="1">
              <a:solidFill>
                <a:srgbClr val="F06C5B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Examples: stocks, index funds, bonds and property</a:t>
            </a:r>
          </a:p>
        </p:txBody>
      </p:sp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37a3f4ef84b13"/>
          <a:srcRect xmlns:a="http://schemas.openxmlformats.org/drawingml/2006/main" l="26055" t="0" r="260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1524000"/>
            <a:ext cx="3810000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05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E9E8C1-10FE-83F9-57A6-5238B2334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34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Example: Stocks</a:t>
            </a:r>
            <a:endParaRPr sz="3450" b="1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2E726F6-73D6-1461-B458-54DC23A989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571625"/>
            <a:ext cx="5905500" cy="4333875"/>
          </a:xfr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S&amp;P 500, calendar 2025</a:t>
            </a:r>
          </a:p>
          <a:p xmlns:a="http://schemas.openxmlformats.org/drawingml/2006/main">
            <a:pPr marL="0" indent="0">
              <a:buNone/>
            </a:pPr>
            <a:endParaRPr sz="187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Price return: </a:t>
            </a: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16.39%</a:t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Total return with dividends: </a:t>
            </a: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17.88%</a:t>
            </a:r>
          </a:p>
          <a:p xmlns:a="http://schemas.openxmlformats.org/drawingml/2006/main">
            <a:pPr marL="0" indent="0">
              <a:buNone/>
            </a:pPr>
            <a:endParaRPr sz="1875" b="1">
              <a:solidFill>
                <a:srgbClr val="2B5D7E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USD 10,000 would become:</a:t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USD 11,639</a:t>
            </a: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without dividends</a:t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USD 11,788</a:t>
            </a: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with dividends</a:t>
            </a:r>
          </a:p>
          <a:p xmlns:a="http://schemas.openxmlformats.org/drawingml/2006/main">
            <a:pPr marL="0" indent="0">
              <a:buNone/>
            </a:pPr>
            <a:endParaRPr sz="187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The difference came from dividends.</a:t>
            </a:r>
          </a:p>
        </p:txBody>
      </p:sp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4235364f34e2d"/>
          <a:srcRect xmlns:a="http://schemas.openxmlformats.org/drawingml/2006/main" l="17017" t="0" r="170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524000"/>
            <a:ext cx="428625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19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A08E3E-37C7-BC1D-7555-C4FE5DC7B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5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Choose: Investment (投资), speculation (投机) or saving (储蓄)?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1DE0E9-51B1-D256-F5A3-E55CC614F5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81050" y="1381125"/>
            <a:ext cx="10629900" cy="4953000"/>
          </a:xfr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1.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The main basis is expected income and/or evidence about underlying value; possible loss is accepted.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2.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The main reason is a </a:t>
            </a:r>
            <a:r>
              <a:rPr sz="1725" b="1">
                <a:solidFill>
                  <a:srgbClr val="F06C5B"/>
                </a:solidFill>
                <a:latin typeface="Microsoft YaHei"/>
                <a:ea typeface="Microsoft YaHei"/>
                <a:cs typeface="Microsoft YaHei"/>
              </a:rPr>
              <a:t>predicted price change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; income or underlying value is not the main basis.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3.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Money is kept mainly for a </a:t>
            </a:r>
            <a:r>
              <a:rPr sz="1725" b="1">
                <a:solidFill>
                  <a:srgbClr val="2F9B67"/>
                </a:solidFill>
                <a:latin typeface="Microsoft YaHei"/>
                <a:ea typeface="Microsoft YaHei"/>
                <a:cs typeface="Microsoft YaHei"/>
              </a:rPr>
              <a:t>future need, safety and ready access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.</a:t>
            </a:r>
          </a:p>
          <a:p xmlns:a="http://schemas.openxmlformats.org/drawingml/2006/main">
            <a:pPr marL="0" indent="0">
              <a:buNone/>
            </a:pPr>
            <a:endParaRPr sz="172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8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4.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Amina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studies profits, cash flow and debt before buying a diversified share portfolio. She expects dividends and long-term price growth.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5.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Bao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borrows after an online rumour predicts a price rise next week. He will sell after an announcement.</a:t>
            </a:r>
          </a:p>
        </p:txBody>
      </p:sp>
    </p:spTree>
    <p:extLst>
      <p:ext uri="{BB962C8B-B14F-4D97-AF65-F5344CB8AC3E}">
        <p14:creationId xmlns:p14="http://schemas.microsoft.com/office/powerpoint/2010/main" val="9252506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D9BD49-C6E6-D286-FD16-E3C65D51C6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5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Choose: Investment (投资), speculation (投机) or saving (储蓄)?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6D48C89-11B4-44C9-6372-440B1F136E1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81050" y="1381125"/>
            <a:ext cx="10629900" cy="4953000"/>
          </a:xfr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6.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Chloe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estimates rent, maintenance and vacancy costs. She buys a flat mainly for net rental income.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7.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Daniel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needs examination-fee money in eight months, so he uses an easy-access account for safety and liquidity.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8.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Eva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invests for university in ten years using a diversified fund. She reviewed fees and risks and accepts a possible fall in market value.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9.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Farah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keeps an emergency fund in an easy-access account. Quick withdrawal matters more than return.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10.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George</a:t>
            </a: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buys a bond fund for retirement after checking interest income, credit risk, interest-rate risk and fees.</a:t>
            </a:r>
          </a:p>
        </p:txBody>
      </p:sp>
    </p:spTree>
    <p:extLst>
      <p:ext uri="{BB962C8B-B14F-4D97-AF65-F5344CB8AC3E}">
        <p14:creationId xmlns:p14="http://schemas.microsoft.com/office/powerpoint/2010/main" val="42626178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E2C0E1-4A9B-215D-C8CD-FD9389D2D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5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Choose: Investment (投资), speculation (投机) or saving (储蓄)?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1610336-795F-277B-223D-11441AF2603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619250"/>
            <a:ext cx="10515600" cy="4000500"/>
          </a:xfr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20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11.</a:t>
            </a:r>
            <a:r>
              <a:rPr sz="20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Hadi</a:t>
            </a:r>
            <a:r>
              <a:rPr sz="20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buys Bitcoin after an influencer predicts a weekend price jump. He will sell immediately if it happens.</a:t>
            </a:r>
          </a:p>
          <a:p xmlns:a="http://schemas.openxmlformats.org/drawingml/2006/main">
            <a:pPr marL="0" indent="0">
              <a:buNone/>
            </a:pPr>
            <a:endParaRPr sz="202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20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12.</a:t>
            </a:r>
            <a:r>
              <a:rPr sz="20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Iris</a:t>
            </a:r>
            <a:r>
              <a:rPr sz="20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buys foreign currency before a central-bank announcement. Her expected gain depends on a price prediction.</a:t>
            </a:r>
          </a:p>
          <a:p xmlns:a="http://schemas.openxmlformats.org/drawingml/2006/main">
            <a:pPr marL="0" indent="0">
              <a:buNone/>
            </a:pPr>
            <a:endParaRPr sz="202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20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13.</a:t>
            </a:r>
            <a:r>
              <a:rPr sz="20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Jun</a:t>
            </a:r>
            <a:r>
              <a:rPr sz="20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needs tuition money in three months, so he uses an easy-access account for safety and liquidity.</a:t>
            </a:r>
          </a:p>
        </p:txBody>
      </p:sp>
    </p:spTree>
    <p:extLst>
      <p:ext uri="{BB962C8B-B14F-4D97-AF65-F5344CB8AC3E}">
        <p14:creationId xmlns:p14="http://schemas.microsoft.com/office/powerpoint/2010/main" val="5571446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6DCE13-3C03-E181-F9CA-8F5D6DC44D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00" y="590550"/>
            <a:ext cx="1524000" cy="647700"/>
          </a:xfr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5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MCQ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F1E0E34-08C7-D5B0-FB16-1E95872D9A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33625" y="609600"/>
            <a:ext cx="9096375" cy="5619750"/>
          </a:xfr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What is the strongest evidence that a decision is a financial investment (金融投资)?</a:t>
            </a:r>
          </a:p>
          <a:p xmlns:a="http://schemas.openxmlformats.org/drawingml/2006/main">
            <a:pPr marL="0" indent="0">
              <a:buNone/>
            </a:pPr>
            <a:endParaRPr sz="2175" b="1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A.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The asset has risen in price before.</a:t>
            </a:r>
          </a:p>
          <a:p xmlns:a="http://schemas.openxmlformats.org/drawingml/2006/main"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B.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The main basis is expected income and/or evidence about underlying value, while possible loss is accepted.</a:t>
            </a:r>
          </a:p>
          <a:p xmlns:a="http://schemas.openxmlformats.org/drawingml/2006/main"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C.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Money can be withdrawn immediately with no possible loss.</a:t>
            </a:r>
          </a:p>
          <a:p xmlns:a="http://schemas.openxmlformats.org/drawingml/2006/main"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D.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The buyer plans to sell after an unverified rumour.</a:t>
            </a:r>
          </a:p>
        </p:txBody>
      </p:sp>
    </p:spTree>
    <p:extLst>
      <p:ext uri="{BB962C8B-B14F-4D97-AF65-F5344CB8AC3E}">
        <p14:creationId xmlns:p14="http://schemas.microsoft.com/office/powerpoint/2010/main" val="5255962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276B47-845A-DC38-E33E-A2A88CB7E4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00" y="590550"/>
            <a:ext cx="1524000" cy="647700"/>
          </a:xfr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5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MCQ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5F429-E529-97E6-0606-D10EB458EB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33625" y="609600"/>
            <a:ext cx="9096375" cy="5619750"/>
          </a:xfr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Which decision is saving (储蓄) rather than financial investment (金融投资)?</a:t>
            </a:r>
          </a:p>
          <a:p xmlns:a="http://schemas.openxmlformats.org/drawingml/2006/main">
            <a:pPr marL="0" indent="0">
              <a:buNone/>
            </a:pPr>
            <a:endParaRPr sz="2175" b="1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A.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Keeping school-trip money in an easy-access account.</a:t>
            </a:r>
          </a:p>
          <a:p xmlns:a="http://schemas.openxmlformats.org/drawingml/2006/main"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B.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Buying a diversified fund for long-term growth after reviewing its fees and risks.</a:t>
            </a:r>
          </a:p>
          <a:p xmlns:a="http://schemas.openxmlformats.org/drawingml/2006/main"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C.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Buying shares for dividends and long-term value after analysing profits, debt and cash flow.</a:t>
            </a:r>
          </a:p>
          <a:p xmlns:a="http://schemas.openxmlformats.org/drawingml/2006/main"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D.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Buying property mainly for expected net rental income.</a:t>
            </a:r>
          </a:p>
        </p:txBody>
      </p:sp>
    </p:spTree>
    <p:extLst>
      <p:ext uri="{BB962C8B-B14F-4D97-AF65-F5344CB8AC3E}">
        <p14:creationId xmlns:p14="http://schemas.microsoft.com/office/powerpoint/2010/main" val="1622084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5AD8BB-23E8-C4F3-A9DA-31F5CCC0DE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00" y="590550"/>
            <a:ext cx="1524000" cy="647700"/>
          </a:xfr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5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MCQ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BEC868-95C2-1C0D-E1B7-45533405426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33625" y="609600"/>
            <a:ext cx="9096375" cy="5619750"/>
          </a:xfr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Which evidence most clearly indicates speculation (投机)?</a:t>
            </a:r>
          </a:p>
          <a:p xmlns:a="http://schemas.openxmlformats.org/drawingml/2006/main">
            <a:pPr marL="0" indent="0">
              <a:buNone/>
            </a:pPr>
            <a:endParaRPr sz="2175" b="1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A.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Expected bond interest after analysing credit risk.</a:t>
            </a:r>
          </a:p>
          <a:p xmlns:a="http://schemas.openxmlformats.org/drawingml/2006/main"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B.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Expected net rental income after estimating vacancy and maintenance.</a:t>
            </a:r>
          </a:p>
          <a:p xmlns:a="http://schemas.openxmlformats.org/drawingml/2006/main"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C.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Borrowing after a rumour of a next-week price jump and planning a quick sale.</a:t>
            </a:r>
          </a:p>
          <a:p xmlns:a="http://schemas.openxmlformats.org/drawingml/2006/main"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D.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Accepting that a diversified fund held long term can lose value.</a:t>
            </a:r>
          </a:p>
        </p:txBody>
      </p:sp>
    </p:spTree>
    <p:extLst>
      <p:ext uri="{BB962C8B-B14F-4D97-AF65-F5344CB8AC3E}">
        <p14:creationId xmlns:p14="http://schemas.microsoft.com/office/powerpoint/2010/main" val="161204193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276B47-845A-DC38-E33E-A2A88CB7E4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00" y="590550"/>
            <a:ext cx="1524000" cy="647700"/>
          </a:xfr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5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MCQ 4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5F429-E529-97E6-0606-D10EB458EB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33625" y="609600"/>
            <a:ext cx="9096375" cy="5619750"/>
          </a:xfr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Which statement about saving (储蓄) is correct?</a:t>
            </a:r>
          </a:p>
          <a:p xmlns:a="http://schemas.openxmlformats.org/drawingml/2006/main">
            <a:pPr marL="0" indent="0">
              <a:buNone/>
            </a:pPr>
            <a:endParaRPr sz="2175" b="1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A.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Earning interest automatically changes saving into financial investment (金融投资).</a:t>
            </a:r>
          </a:p>
          <a:p xmlns:a="http://schemas.openxmlformats.org/drawingml/2006/main"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B.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Saving cannot lose purchasing power (购买力).</a:t>
            </a:r>
          </a:p>
          <a:p xmlns:a="http://schemas.openxmlformats.org/drawingml/2006/main"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C.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Capital preservation (保本) and liquidity (流动性) can matter more than a high return.</a:t>
            </a:r>
          </a:p>
          <a:p xmlns:a="http://schemas.openxmlformats.org/drawingml/2006/main">
            <a:pPr marL="0" indent="0">
              <a:buNone/>
            </a:pPr>
            <a:endParaRPr sz="1763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D.</a:t>
            </a:r>
            <a:r>
              <a:rPr sz="1763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Saving always means holding cash at home.</a:t>
            </a:r>
          </a:p>
        </p:txBody>
      </p:sp>
    </p:spTree>
    <p:extLst>
      <p:ext uri="{BB962C8B-B14F-4D97-AF65-F5344CB8AC3E}">
        <p14:creationId xmlns:p14="http://schemas.microsoft.com/office/powerpoint/2010/main" val="16220842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5AD8BB-23E8-C4F3-A9DA-31F5CCC0DE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00" y="590550"/>
            <a:ext cx="1524000" cy="647700"/>
          </a:xfr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5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MCQ 5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BEC868-95C2-1C0D-E1B7-45533405426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33625" y="609600"/>
            <a:ext cx="9096375" cy="5619750"/>
          </a:xfr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688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Two people buy the same asset (资产). Why might one be investing (投资) and the other speculating (投机)?</a:t>
            </a:r>
          </a:p>
          <a:p xmlns:a="http://schemas.openxmlformats.org/drawingml/2006/main">
            <a:pPr marL="0" indent="0">
              <a:buNone/>
            </a:pPr>
            <a:endParaRPr sz="2100" b="1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688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A.</a:t>
            </a:r>
            <a:r>
              <a:rPr sz="1688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The asset name decides the category.</a:t>
            </a:r>
          </a:p>
          <a:p xmlns:a="http://schemas.openxmlformats.org/drawingml/2006/main">
            <a:pPr marL="0" indent="0">
              <a:buNone/>
            </a:pPr>
            <a:endParaRPr sz="1688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688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B.</a:t>
            </a:r>
            <a:r>
              <a:rPr sz="1688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The person who pays the higher price is the speculator (投机者).</a:t>
            </a:r>
          </a:p>
          <a:p xmlns:a="http://schemas.openxmlformats.org/drawingml/2006/main">
            <a:pPr marL="0" indent="0">
              <a:buNone/>
            </a:pPr>
            <a:endParaRPr sz="1688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688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C.</a:t>
            </a:r>
            <a:r>
              <a:rPr sz="1688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One bases expected return on income and/or evidence about long-term value; the other mainly on a price prediction (价格预测).</a:t>
            </a:r>
          </a:p>
          <a:p xmlns:a="http://schemas.openxmlformats.org/drawingml/2006/main">
            <a:pPr marL="0" indent="0">
              <a:buNone/>
            </a:pPr>
            <a:endParaRPr sz="1688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5000"/>
              </a:lnSpc>
              <a:buNone/>
              <a:defRPr sz="1688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D.</a:t>
            </a:r>
            <a:r>
              <a:rPr sz="1688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 The person planning to sell sooner is always the speculator (投机者).</a:t>
            </a:r>
          </a:p>
        </p:txBody>
      </p:sp>
    </p:spTree>
    <p:extLst>
      <p:ext uri="{BB962C8B-B14F-4D97-AF65-F5344CB8AC3E}">
        <p14:creationId xmlns:p14="http://schemas.microsoft.com/office/powerpoint/2010/main" val="161204193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4190B7-B771-44F1-2AE6-B30C059E92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9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Short answer question 1: save first or invest now?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F3F9A3A-B398-A25E-EF98-2CDD0E4C28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476375"/>
            <a:ext cx="6334125" cy="4619625"/>
          </a:xfr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Mina receives ¥500 and has no money set aside for emergencies. Should she save some before investing? Explain.</a:t>
            </a:r>
          </a:p>
          <a:p xmlns:a="http://schemas.openxmlformats.org/drawingml/2006/main">
            <a:pPr marL="0" indent="0">
              <a:buNone/>
            </a:pPr>
            <a:endParaRPr sz="1875" b="1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Use at least two terms: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emergency fund (</a:t>
            </a: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应急资金</a:t>
            </a: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liquidity (</a:t>
            </a: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流动性</a:t>
            </a: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essential spending (</a:t>
            </a: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必要支出</a:t>
            </a: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possible loss (</a:t>
            </a: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可能亏损</a:t>
            </a: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</p:txBody>
      </p:sp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227a499c84a6f"/>
          <a:srcRect xmlns:a="http://schemas.openxmlformats.org/drawingml/2006/main" l="23177" t="0" r="231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1524000"/>
            <a:ext cx="40005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1463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0FD62F-AADD-915A-DD6D-C994392E9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90550"/>
            <a:ext cx="10820400" cy="781050"/>
          </a:xfr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A strong answer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5E56F6-0A1D-ADCB-6DF9-639690F61E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23950" y="1952625"/>
            <a:ext cx="9944100" cy="2952750"/>
          </a:xfr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Mina should save some of the ¥500 first.</a:t>
            </a:r>
            <a:r>
              <a:t> She has no </a:t>
            </a:r>
            <a:r>
              <a:rPr sz="255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emergency fund</a:t>
            </a:r>
            <a:r>
              <a:t>, so </a:t>
            </a:r>
            <a:r>
              <a:rPr sz="255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liquidity</a:t>
            </a:r>
            <a:r>
              <a:t> matters: the money may be needed for </a:t>
            </a:r>
            <a:r>
              <a:rPr sz="255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essential spending</a:t>
            </a:r>
            <a:r>
              <a:t>. If she invested all of it, a </a:t>
            </a:r>
            <a:r>
              <a:rPr sz="2550" b="1">
                <a:solidFill>
                  <a:srgbClr val="F06C5B"/>
                </a:solidFill>
                <a:latin typeface="Microsoft YaHei"/>
                <a:ea typeface="Microsoft YaHei"/>
                <a:cs typeface="Microsoft YaHei"/>
              </a:rPr>
              <a:t>possible loss</a:t>
            </a:r>
            <a:r>
              <a:t> could leave her unable to meet an emergency.</a:t>
            </a:r>
          </a:p>
        </p:txBody>
      </p:sp>
    </p:spTree>
    <p:extLst>
      <p:ext uri="{BB962C8B-B14F-4D97-AF65-F5344CB8AC3E}">
        <p14:creationId xmlns:p14="http://schemas.microsoft.com/office/powerpoint/2010/main" val="345785857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EFE464-7ACE-6098-A3B2-6BF9D51E9B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7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Short answer question 2: what matters when money is needed soon?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AC1ADBE-522A-4212-AD09-B33B4169F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476375"/>
            <a:ext cx="6334125" cy="4619625"/>
          </a:xfr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Leo needs the money for a laptop in six months. He wants a higher return but cannot afford a loss. Should he save or invest it? Explain.</a:t>
            </a:r>
          </a:p>
          <a:p xmlns:a="http://schemas.openxmlformats.org/drawingml/2006/main">
            <a:pPr marL="0" indent="0">
              <a:buNone/>
            </a:pPr>
            <a:endParaRPr sz="1875" b="1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Use at least two terms: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time horizon (</a:t>
            </a: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投资期限</a:t>
            </a: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liquidity (</a:t>
            </a: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流动性</a:t>
            </a: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capital preservation (</a:t>
            </a: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保本</a:t>
            </a: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possible loss (</a:t>
            </a: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可能亏损</a:t>
            </a:r>
            <a:r>
              <a:rPr sz="18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</p:txBody>
      </p:sp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d88866bce473e"/>
          <a:srcRect xmlns:a="http://schemas.openxmlformats.org/drawingml/2006/main" l="18191" t="0" r="181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1524000"/>
            <a:ext cx="40005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022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746CA2-4CB7-4F71-15CD-0DF6B09345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90550"/>
            <a:ext cx="10820400" cy="781050"/>
          </a:xfr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A strong answer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BCEECE8-9F37-575D-7AC5-3335588107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23950" y="1952625"/>
            <a:ext cx="9944100" cy="2952750"/>
          </a:xfr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Leo should save the money.</a:t>
            </a:r>
            <a:r>
              <a:t> His </a:t>
            </a:r>
            <a:r>
              <a:rPr sz="255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time horizon</a:t>
            </a:r>
            <a:r>
              <a:t> is only six months, and he needs the money for a known purchase. Because he cannot afford a </a:t>
            </a:r>
            <a:r>
              <a:rPr sz="2550" b="1">
                <a:solidFill>
                  <a:srgbClr val="F06C5B"/>
                </a:solidFill>
                <a:latin typeface="Microsoft YaHei"/>
                <a:ea typeface="Microsoft YaHei"/>
                <a:cs typeface="Microsoft YaHei"/>
              </a:rPr>
              <a:t>possible loss</a:t>
            </a:r>
            <a:r>
              <a:t>, </a:t>
            </a:r>
            <a:r>
              <a:rPr sz="255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capital preservation</a:t>
            </a:r>
            <a:r>
              <a:t> and </a:t>
            </a:r>
            <a:r>
              <a:rPr sz="255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liquidity</a:t>
            </a:r>
            <a:r>
              <a:t> matter more than a higher expected return.</a:t>
            </a:r>
          </a:p>
        </p:txBody>
      </p:sp>
    </p:spTree>
    <p:extLst>
      <p:ext uri="{BB962C8B-B14F-4D97-AF65-F5344CB8AC3E}">
        <p14:creationId xmlns:p14="http://schemas.microsoft.com/office/powerpoint/2010/main" val="24575091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A0C6C6-39CF-0255-47DF-526C3C8413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7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Short answer question 3: why can borrowing make the loss worse?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2AADBC-6F86-CC00-BCEB-8FB4CEDE29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476375"/>
            <a:ext cx="6334125" cy="4619625"/>
          </a:xfr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Nora borrows money to buy shares after an unverified online rumour. She will sell tomorrow if the price rises.</a:t>
            </a:r>
          </a:p>
          <a:p xmlns:a="http://schemas.openxmlformats.org/drawingml/2006/main">
            <a:pPr marL="0" indent="0">
              <a:buNone/>
            </a:pPr>
            <a:endParaRPr sz="1800" b="1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What makes this speculation, and how can borrowing make the loss worse?</a:t>
            </a:r>
          </a:p>
          <a:p xmlns:a="http://schemas.openxmlformats.org/drawingml/2006/main">
            <a:pPr marL="0" indent="0">
              <a:buNone/>
            </a:pPr>
            <a:endParaRPr sz="172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Use at least two terms:</a:t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rumour (传闻) • price prediction (价格预测)</a:t>
            </a: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repayment obligation (偿还义务) • possible loss (可能亏损)</a:t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endParaRPr sz="1725" b="0">
              <a:solidFill>
                <a:srgbClr val="17232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indent="0" algn="l">
              <a:lnSpc>
                <a:spcPct val="104000"/>
              </a:lnSpc>
              <a:buNone/>
              <a:defRPr sz="172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Return to the opening: a price tip is not evidence, and the repayment remains even if the price falls.</a:t>
            </a:r>
          </a:p>
        </p:txBody>
      </p:sp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97d2c7d2d45a0"/>
          <a:srcRect xmlns:a="http://schemas.openxmlformats.org/drawingml/2006/main" l="17146" t="0" r="171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1524000"/>
            <a:ext cx="40005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49463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EB0E53-F788-98D5-24E5-BE5C999839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90550"/>
            <a:ext cx="10820400" cy="781050"/>
          </a:xfr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A strong answer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C93E13-C7DC-3114-7BCE-864CEB625E6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23950" y="1952625"/>
            <a:ext cx="9944100" cy="2952750"/>
          </a:xfr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This is speculation</a:t>
            </a:r>
            <a:r>
              <a:t> because Nora relies on an </a:t>
            </a:r>
            <a:r>
              <a:rPr sz="255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unverified rumour</a:t>
            </a:r>
            <a:r>
              <a:t> and a </a:t>
            </a:r>
            <a:r>
              <a:rPr sz="255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predicted price change</a:t>
            </a:r>
            <a:r>
              <a:t>, not expected income or evidence about underlying value. Borrowing makes the </a:t>
            </a:r>
            <a:r>
              <a:rPr sz="2550" b="1">
                <a:solidFill>
                  <a:srgbClr val="F06C5B"/>
                </a:solidFill>
                <a:latin typeface="Microsoft YaHei"/>
                <a:ea typeface="Microsoft YaHei"/>
                <a:cs typeface="Microsoft YaHei"/>
              </a:rPr>
              <a:t>possible loss</a:t>
            </a:r>
            <a:r>
              <a:t> worse because the </a:t>
            </a:r>
            <a:r>
              <a:rPr sz="255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repayment obligation</a:t>
            </a:r>
            <a:r>
              <a:t> remains even if the share price falls.</a:t>
            </a:r>
          </a:p>
        </p:txBody>
      </p:sp>
    </p:spTree>
    <p:extLst>
      <p:ext uri="{BB962C8B-B14F-4D97-AF65-F5344CB8AC3E}">
        <p14:creationId xmlns:p14="http://schemas.microsoft.com/office/powerpoint/2010/main" val="176457406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F8F103-B4EC-040A-C81A-B082173DEF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514350"/>
            <a:ext cx="10972800" cy="781050"/>
          </a:xfr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Exit ticket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FEA4941-CBA8-99BB-11AE-5303296E15F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476375"/>
            <a:ext cx="10515600" cy="4619625"/>
          </a:xfr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"/>
              </a:spcAft>
              <a:defRPr sz="21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Return to the opening dilemma.</a:t>
            </a:r>
          </a:p>
          <a:p xmlns:a="http://schemas.openxmlformats.org/drawingml/2006/main">
            <a:pPr algn="l">
              <a:spcAft>
                <a:spcPts val="24"/>
              </a:spcAft>
              <a:defRPr sz="21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t>A friend says a share price will rise tomorrow. You would need to borrow ¥1,000 to buy it.</a:t>
            </a:r>
          </a:p>
          <a:p xmlns:a="http://schemas.openxmlformats.org/drawingml/2006/main">
            <a:pPr algn="l">
              <a:spcAft>
                <a:spcPts val="10"/>
              </a:spcAft>
              <a:defRPr sz="21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1. DECIDE</a:t>
            </a:r>
            <a:r>
              <a:t> — Would you borrow? Answer yes or no.</a:t>
            </a:r>
          </a:p>
          <a:p xmlns:a="http://schemas.openxmlformats.org/drawingml/2006/main">
            <a:pPr algn="l">
              <a:spcAft>
                <a:spcPts val="10"/>
              </a:spcAft>
              <a:defRPr sz="21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2. CLASSIFY</a:t>
            </a:r>
            <a:r>
              <a:t> — Investment (投资), speculation (投机) or saving (储蓄)?</a:t>
            </a:r>
          </a:p>
          <a:p xmlns:a="http://schemas.openxmlformats.org/drawingml/2006/main">
            <a:pPr algn="l">
              <a:spcAft>
                <a:spcPts val="10"/>
              </a:spcAft>
              <a:defRPr sz="21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3. JUSTIFY</a:t>
            </a:r>
            <a:r>
              <a:t> — Cite one decisive clue and explain why another category is weaker.</a:t>
            </a:r>
          </a:p>
          <a:p xmlns:a="http://schemas.openxmlformats.org/drawingml/2006/main">
            <a:pPr algn="l">
              <a:defRPr sz="210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4. EVIDENCE</a:t>
            </a:r>
            <a:r>
              <a:t> — Name one piece of information you would need.</a:t>
            </a:r>
          </a:p>
        </p:txBody>
      </p:sp>
    </p:spTree>
    <p:extLst>
      <p:ext uri="{BB962C8B-B14F-4D97-AF65-F5344CB8AC3E}">
        <p14:creationId xmlns:p14="http://schemas.microsoft.com/office/powerpoint/2010/main" val="9771993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2026-08-31T06:11:25.8550000Z</dcterms:created>
  <dcterms:modified xsi:type="dcterms:W3CDTF">2026-08-31T06:11:25.8550000Z</dcterms:modified>
</coreProperties>
</file>