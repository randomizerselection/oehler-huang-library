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f499d717a4a8f" /><Relationship Type="http://schemas.openxmlformats.org/officeDocument/2006/relationships/extended-properties" Target="/docProps/app.xml" Id="R7fc3a031722649b7" /><Relationship Type="http://schemas.openxmlformats.org/officeDocument/2006/relationships/officeDocument" Target="/ppt/presentation.xml" Id="R5424f0ec08c04a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32a5b3e0b4648"/>
  </p:sldMasterIdLst>
  <p:notesMasterIdLst>
    <p:notesMasterId xmlns:r="http://schemas.openxmlformats.org/officeDocument/2006/relationships" r:id="R927884c68c9543cc"/>
  </p:notesMasterIdLst>
  <p:sldIdLst>
    <p:sldId xmlns:r="http://schemas.openxmlformats.org/officeDocument/2006/relationships" id="256" r:id="R952740d441514b1e"/>
    <p:sldId xmlns:r="http://schemas.openxmlformats.org/officeDocument/2006/relationships" id="257" r:id="R92e753df70e04f40"/>
    <p:sldId xmlns:r="http://schemas.openxmlformats.org/officeDocument/2006/relationships" id="258" r:id="Rff607f4de82e4cae"/>
    <p:sldId xmlns:r="http://schemas.openxmlformats.org/officeDocument/2006/relationships" id="259" r:id="Rdd318f10e13e41bf"/>
    <p:sldId xmlns:r="http://schemas.openxmlformats.org/officeDocument/2006/relationships" id="260" r:id="R6dd0ce4b394d478d"/>
    <p:sldId xmlns:r="http://schemas.openxmlformats.org/officeDocument/2006/relationships" id="261" r:id="R450fb3ef546d4aed"/>
    <p:sldId xmlns:r="http://schemas.openxmlformats.org/officeDocument/2006/relationships" id="262" r:id="Rd8929b8f9c544265"/>
    <p:sldId xmlns:r="http://schemas.openxmlformats.org/officeDocument/2006/relationships" id="263" r:id="R4fa64bc516ab490c"/>
    <p:sldId xmlns:r="http://schemas.openxmlformats.org/officeDocument/2006/relationships" id="264" r:id="R97d6d5cfe2024771"/>
    <p:sldId xmlns:r="http://schemas.openxmlformats.org/officeDocument/2006/relationships" id="265" r:id="Rbe7d7d693ed34644"/>
    <p:sldId xmlns:r="http://schemas.openxmlformats.org/officeDocument/2006/relationships" id="266" r:id="R2cb16c6b7548442d"/>
    <p:sldId xmlns:r="http://schemas.openxmlformats.org/officeDocument/2006/relationships" id="267" r:id="R7e7f20b8c578434a"/>
    <p:sldId xmlns:r="http://schemas.openxmlformats.org/officeDocument/2006/relationships" id="268" r:id="R6adfddcef51b43c4"/>
    <p:sldId xmlns:r="http://schemas.openxmlformats.org/officeDocument/2006/relationships" id="269" r:id="Rdfb5ab79b7c44efa"/>
    <p:sldId xmlns:r="http://schemas.openxmlformats.org/officeDocument/2006/relationships" id="270" r:id="Rd68bbc0227cf4f96"/>
    <p:sldId xmlns:r="http://schemas.openxmlformats.org/officeDocument/2006/relationships" id="271" r:id="Rdf6c79e9e8fc45c0"/>
    <p:sldId xmlns:r="http://schemas.openxmlformats.org/officeDocument/2006/relationships" id="272" r:id="R4c71e5c9f24d4e42"/>
    <p:sldId xmlns:r="http://schemas.openxmlformats.org/officeDocument/2006/relationships" id="273" r:id="Ra0bf5551bdf94ffd"/>
    <p:sldId xmlns:r="http://schemas.openxmlformats.org/officeDocument/2006/relationships" id="274" r:id="R5197c8c75e54404a"/>
    <p:sldId xmlns:r="http://schemas.openxmlformats.org/officeDocument/2006/relationships" id="275" r:id="Rcfd0378cc1ca4aa7"/>
    <p:sldId xmlns:r="http://schemas.openxmlformats.org/officeDocument/2006/relationships" id="276" r:id="Rf697eab411114fed"/>
    <p:sldId xmlns:r="http://schemas.openxmlformats.org/officeDocument/2006/relationships" id="277" r:id="R8f9f58a3e9fc48f2"/>
    <p:sldId xmlns:r="http://schemas.openxmlformats.org/officeDocument/2006/relationships" id="278" r:id="R9f7e7af8e7334e76"/>
    <p:sldId xmlns:r="http://schemas.openxmlformats.org/officeDocument/2006/relationships" id="279" r:id="Rc93c86efc0a6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44b6d75a04149" /><Relationship Type="http://schemas.openxmlformats.org/officeDocument/2006/relationships/slideMaster" Target="/ppt/slideMasters/slideMaster1.xml" Id="R3ac32a5b3e0b4648" /><Relationship Type="http://schemas.openxmlformats.org/officeDocument/2006/relationships/notesMaster" Target="/ppt/notesMasters/notesMaster1.xml" Id="R927884c68c9543cc" /><Relationship Type="http://schemas.openxmlformats.org/officeDocument/2006/relationships/presProps" Target="/ppt/presProps.xml" Id="Rb9ee1b8485104309" /><Relationship Type="http://schemas.openxmlformats.org/officeDocument/2006/relationships/viewProps" Target="/ppt/viewProps.xml" Id="Rababa4361c574992" /><Relationship Type="http://schemas.openxmlformats.org/officeDocument/2006/relationships/tableStyles" Target="/ppt/tableStyles.xml" Id="Re66f4aa3a07d4fa1" /><Relationship Type="http://schemas.openxmlformats.org/officeDocument/2006/relationships/slide" Target="/ppt/slides/slide1.xml" Id="R952740d441514b1e" /><Relationship Type="http://schemas.openxmlformats.org/officeDocument/2006/relationships/slide" Target="/ppt/slides/slide2.xml" Id="R92e753df70e04f40" /><Relationship Type="http://schemas.openxmlformats.org/officeDocument/2006/relationships/slide" Target="/ppt/slides/slide3.xml" Id="Rff607f4de82e4cae" /><Relationship Type="http://schemas.openxmlformats.org/officeDocument/2006/relationships/slide" Target="/ppt/slides/slide4.xml" Id="Rdd318f10e13e41bf" /><Relationship Type="http://schemas.openxmlformats.org/officeDocument/2006/relationships/slide" Target="/ppt/slides/slide5.xml" Id="R6dd0ce4b394d478d" /><Relationship Type="http://schemas.openxmlformats.org/officeDocument/2006/relationships/slide" Target="/ppt/slides/slide6.xml" Id="R450fb3ef546d4aed" /><Relationship Type="http://schemas.openxmlformats.org/officeDocument/2006/relationships/slide" Target="/ppt/slides/slide7.xml" Id="Rd8929b8f9c544265" /><Relationship Type="http://schemas.openxmlformats.org/officeDocument/2006/relationships/slide" Target="/ppt/slides/slide8.xml" Id="R4fa64bc516ab490c" /><Relationship Type="http://schemas.openxmlformats.org/officeDocument/2006/relationships/slide" Target="/ppt/slides/slide9.xml" Id="R97d6d5cfe2024771" /><Relationship Type="http://schemas.openxmlformats.org/officeDocument/2006/relationships/slide" Target="/ppt/slides/slide10.xml" Id="Rbe7d7d693ed34644" /><Relationship Type="http://schemas.openxmlformats.org/officeDocument/2006/relationships/slide" Target="/ppt/slides/slide11.xml" Id="R2cb16c6b7548442d" /><Relationship Type="http://schemas.openxmlformats.org/officeDocument/2006/relationships/slide" Target="/ppt/slides/slide12.xml" Id="R7e7f20b8c578434a" /><Relationship Type="http://schemas.openxmlformats.org/officeDocument/2006/relationships/slide" Target="/ppt/slides/slide13.xml" Id="R6adfddcef51b43c4" /><Relationship Type="http://schemas.openxmlformats.org/officeDocument/2006/relationships/slide" Target="/ppt/slides/slide14.xml" Id="Rdfb5ab79b7c44efa" /><Relationship Type="http://schemas.openxmlformats.org/officeDocument/2006/relationships/slide" Target="/ppt/slides/slide15.xml" Id="Rd68bbc0227cf4f96" /><Relationship Type="http://schemas.openxmlformats.org/officeDocument/2006/relationships/slide" Target="/ppt/slides/slide16.xml" Id="Rdf6c79e9e8fc45c0" /><Relationship Type="http://schemas.openxmlformats.org/officeDocument/2006/relationships/slide" Target="/ppt/slides/slide17.xml" Id="R4c71e5c9f24d4e42" /><Relationship Type="http://schemas.openxmlformats.org/officeDocument/2006/relationships/slide" Target="/ppt/slides/slide18.xml" Id="Ra0bf5551bdf94ffd" /><Relationship Type="http://schemas.openxmlformats.org/officeDocument/2006/relationships/slide" Target="/ppt/slides/slide19.xml" Id="R5197c8c75e54404a" /><Relationship Type="http://schemas.openxmlformats.org/officeDocument/2006/relationships/slide" Target="/ppt/slides/slide20.xml" Id="Rcfd0378cc1ca4aa7" /><Relationship Type="http://schemas.openxmlformats.org/officeDocument/2006/relationships/slide" Target="/ppt/slides/slide21.xml" Id="Rf697eab411114fed" /><Relationship Type="http://schemas.openxmlformats.org/officeDocument/2006/relationships/slide" Target="/ppt/slides/slide22.xml" Id="R8f9f58a3e9fc48f2" /><Relationship Type="http://schemas.openxmlformats.org/officeDocument/2006/relationships/slide" Target="/ppt/slides/slide23.xml" Id="R9f7e7af8e7334e76" /><Relationship Type="http://schemas.openxmlformats.org/officeDocument/2006/relationships/slide" Target="/ppt/slides/slide24.xml" Id="Rc93c86efc0a6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9d04292448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4cebf0b2b452a" /><Relationship Type="http://schemas.openxmlformats.org/officeDocument/2006/relationships/notesMaster" Target="/ppt/notesMasters/notesMaster1.xml" Id="Rac836156f9e4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048cee0684030" /><Relationship Type="http://schemas.openxmlformats.org/officeDocument/2006/relationships/notesMaster" Target="/ppt/notesMasters/notesMaster1.xml" Id="R5afef218cff6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54801babc4303" /><Relationship Type="http://schemas.openxmlformats.org/officeDocument/2006/relationships/notesMaster" Target="/ppt/notesMasters/notesMaster1.xml" Id="R72078ce8112e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7f3c94b87472d" /><Relationship Type="http://schemas.openxmlformats.org/officeDocument/2006/relationships/notesMaster" Target="/ppt/notesMasters/notesMaster1.xml" Id="Rd2dc4923991740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6a620c5dc47e8" /><Relationship Type="http://schemas.openxmlformats.org/officeDocument/2006/relationships/notesMaster" Target="/ppt/notesMasters/notesMaster1.xml" Id="R0930021297b7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d668e42204543" /><Relationship Type="http://schemas.openxmlformats.org/officeDocument/2006/relationships/notesMaster" Target="/ppt/notesMasters/notesMaster1.xml" Id="Rcdbdfbfe01384e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8c7e26bd1f44e3" /><Relationship Type="http://schemas.openxmlformats.org/officeDocument/2006/relationships/notesMaster" Target="/ppt/notesMasters/notesMaster1.xml" Id="Rf2f89f2af9db41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e58427d330419c" /><Relationship Type="http://schemas.openxmlformats.org/officeDocument/2006/relationships/notesMaster" Target="/ppt/notesMasters/notesMaster1.xml" Id="R7234077bff9d49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beba1b9bd841ad" /><Relationship Type="http://schemas.openxmlformats.org/officeDocument/2006/relationships/notesMaster" Target="/ppt/notesMasters/notesMaster1.xml" Id="Rbba2b2c5f79142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deaeef9eac4649" /><Relationship Type="http://schemas.openxmlformats.org/officeDocument/2006/relationships/notesMaster" Target="/ppt/notesMasters/notesMaster1.xml" Id="Rbb02ab7451cf47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15c626c7f94fa0" /><Relationship Type="http://schemas.openxmlformats.org/officeDocument/2006/relationships/notesMaster" Target="/ppt/notesMasters/notesMaster1.xml" Id="Rbbe4b59b6d40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eb8304903642b4" /><Relationship Type="http://schemas.openxmlformats.org/officeDocument/2006/relationships/notesMaster" Target="/ppt/notesMasters/notesMaster1.xml" Id="Rb10e263af4c547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91ed86b9e84e83" /><Relationship Type="http://schemas.openxmlformats.org/officeDocument/2006/relationships/notesMaster" Target="/ppt/notesMasters/notesMaster1.xml" Id="R1e654dd1d59a4c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4a3b58a4a4288" /><Relationship Type="http://schemas.openxmlformats.org/officeDocument/2006/relationships/notesMaster" Target="/ppt/notesMasters/notesMaster1.xml" Id="R8e48e85668c848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7cff2b25cd4454" /><Relationship Type="http://schemas.openxmlformats.org/officeDocument/2006/relationships/notesMaster" Target="/ppt/notesMasters/notesMaster1.xml" Id="R799432b674c444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2641968a144cbf" /><Relationship Type="http://schemas.openxmlformats.org/officeDocument/2006/relationships/notesMaster" Target="/ppt/notesMasters/notesMaster1.xml" Id="R17d1e315011344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9aaffdca0a4c64" /><Relationship Type="http://schemas.openxmlformats.org/officeDocument/2006/relationships/notesMaster" Target="/ppt/notesMasters/notesMaster1.xml" Id="R22e9bbe648ba48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742188896140ca" /><Relationship Type="http://schemas.openxmlformats.org/officeDocument/2006/relationships/notesMaster" Target="/ppt/notesMasters/notesMaster1.xml" Id="Re5e8cec1075640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cbfa7f74a9418d" /><Relationship Type="http://schemas.openxmlformats.org/officeDocument/2006/relationships/notesMaster" Target="/ppt/notesMasters/notesMaster1.xml" Id="R68177e31875646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f0d93e667c465a" /><Relationship Type="http://schemas.openxmlformats.org/officeDocument/2006/relationships/notesMaster" Target="/ppt/notesMasters/notesMaster1.xml" Id="R5bcd006ca32944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edd1e768d845c3" /><Relationship Type="http://schemas.openxmlformats.org/officeDocument/2006/relationships/notesMaster" Target="/ppt/notesMasters/notesMaster1.xml" Id="R8eda65ba2abe49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e41cbe22544178" /><Relationship Type="http://schemas.openxmlformats.org/officeDocument/2006/relationships/notesMaster" Target="/ppt/notesMasters/notesMaster1.xml" Id="Ra3646d760e6447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92ed428a0448d3" /><Relationship Type="http://schemas.openxmlformats.org/officeDocument/2006/relationships/notesMaster" Target="/ppt/notesMasters/notesMaster1.xml" Id="R7640434e67b34e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b98da8970e48f9" /><Relationship Type="http://schemas.openxmlformats.org/officeDocument/2006/relationships/notesMaster" Target="/ppt/notesMasters/notesMaster1.xml" Id="R2b4a1f1a893544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https://www.apec2026.cn/node_196.html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judgement: students answer yes or no and give one reason before any definition is taught.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C:/Users/oehle/Documents/oehler-huang-platform/apps/library/assets/js/investment-photos.js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https://uk.finance.yahoo.com/news/investing-money-savings-risks-finances-050038406.html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https://www.cnbc.com/2019/12/18/how-to-build-an-emergency-savings-fund.html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https://www.chinadailyhk.com/hk/article/605229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as of 31 December 2025. The USD illustration excludes fees, taxes and currency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https://www.spglobal.com/spdji/en/commentary/article/us-equities-market-attributes/</a:t>
            </a:r>
          </a:p>
          <a:p xmlns:a="http://schemas.openxmlformats.org/drawingml/2006/main">
            <a:r>
              <a:t>- https://www.nst.com.my/business/corporate/2026/02/1371314/stocks-fluctuate-after-wall-street-ai-fuelled-sell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https://www.kiplinger.com/investing/ways-your-phone-can-help-you-weather-market-volatility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 are pre-2022 stock-split prices, as reported by the SEC.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https://www.sec.gov/files/staff-report-equity-options-market-struction-conditions-early-2021.pdf</a:t>
            </a:r>
          </a:p>
          <a:p xmlns:a="http://schemas.openxmlformats.org/drawingml/2006/main">
            <a:r>
              <a:t>- https://www.cnbc.com/2019/03/27/gamestop-doubling-down-on-its-investment-in-surging-esports-industry.html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Barber and Odean sample period: 1991-1996. Historical evidence does not predict every trader's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https://faculty.haas.berkeley.edu/odean/papers/returns/individual_investor_performance_final.pdf</a:t>
            </a:r>
          </a:p>
          <a:p xmlns:a="http://schemas.openxmlformats.org/drawingml/2006/main">
            <a:r>
              <a:t>- https://ec.ltn.com.tw/article/breakingnews/3466782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https://www.lepoint.fr/eureka/pourquoi-les-tirelires-ont-elles-la-forme-d-un-cochon-27-09-2024-2571328_4706.php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https://www.stats.gov.cn/english/PressRelease/202602/t20260228_1962661.html</a:t>
            </a:r>
          </a:p>
          <a:p xmlns:a="http://schemas.openxmlformats.org/drawingml/2006/main">
            <a:r>
              <a:t>- https://www.cca.org.mx/CCA_cursos/finanzas_personales/html/modulo3/modulo3-13.html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https://www.hanseaticbank.de/klarmacher/vorsorgen/die-betriebliche-altersvorsorge-kuendigen-geht-das-ueberhaupt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https://www.coursehero.com/blog/product-team/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https://www.tori.ng/news/73034/nigerian-stock-market-investors-gain-n175b.html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19148401845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9b48a03b44f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e554270f043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77c7aedd549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1219e69bc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d0aabcd3146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4f89da8024d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750d260a44a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e61095ace45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cd017f24242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6ca1d08504eb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bb22f6407c46da" /><Relationship Type="http://schemas.openxmlformats.org/officeDocument/2006/relationships/slideLayout" Target="/ppt/slideLayouts/slideLayout1.xml" Id="Rdede69090b7e4710" /><Relationship Type="http://schemas.openxmlformats.org/officeDocument/2006/relationships/slideLayout" Target="/ppt/slideLayouts/slideLayout2.xml" Id="R1c90deb3387b470a" /><Relationship Type="http://schemas.openxmlformats.org/officeDocument/2006/relationships/slideLayout" Target="/ppt/slideLayouts/slideLayout3.xml" Id="R12bda53ee68548fd" /><Relationship Type="http://schemas.openxmlformats.org/officeDocument/2006/relationships/slideLayout" Target="/ppt/slideLayouts/slideLayout4.xml" Id="Re5bdb2b496ea48d1" /><Relationship Type="http://schemas.openxmlformats.org/officeDocument/2006/relationships/slideLayout" Target="/ppt/slideLayouts/slideLayout5.xml" Id="R0957c404de674b5f" /><Relationship Type="http://schemas.openxmlformats.org/officeDocument/2006/relationships/slideLayout" Target="/ppt/slideLayouts/slideLayout6.xml" Id="Rd50e9ed8c0d44841" /><Relationship Type="http://schemas.openxmlformats.org/officeDocument/2006/relationships/slideLayout" Target="/ppt/slideLayouts/slideLayout7.xml" Id="R7911f8b289284cca" /><Relationship Type="http://schemas.openxmlformats.org/officeDocument/2006/relationships/slideLayout" Target="/ppt/slideLayouts/slideLayout8.xml" Id="R45818fbb5d7841a7" /><Relationship Type="http://schemas.openxmlformats.org/officeDocument/2006/relationships/slideLayout" Target="/ppt/slideLayouts/slideLayout9.xml" Id="R6625db8ae69a43af" /><Relationship Type="http://schemas.openxmlformats.org/officeDocument/2006/relationships/slideLayout" Target="/ppt/slideLayouts/slideLayout10.xml" Id="Rc4c4b91be2e54dec" /><Relationship Type="http://schemas.openxmlformats.org/officeDocument/2006/relationships/slideLayout" Target="/ppt/slideLayouts/slideLayout11.xml" Id="R521a6cecd81346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e69090b7e4710"/>
    <p:sldLayoutId xmlns:r="http://schemas.openxmlformats.org/officeDocument/2006/relationships" id="2147483650" r:id="R1c90deb3387b470a"/>
    <p:sldLayoutId xmlns:r="http://schemas.openxmlformats.org/officeDocument/2006/relationships" id="2147483651" r:id="R12bda53ee68548fd"/>
    <p:sldLayoutId xmlns:r="http://schemas.openxmlformats.org/officeDocument/2006/relationships" id="2147483652" r:id="Re5bdb2b496ea48d1"/>
    <p:sldLayoutId xmlns:r="http://schemas.openxmlformats.org/officeDocument/2006/relationships" id="2147483653" r:id="R0957c404de674b5f"/>
    <p:sldLayoutId xmlns:r="http://schemas.openxmlformats.org/officeDocument/2006/relationships" id="2147483654" r:id="Rd50e9ed8c0d44841"/>
    <p:sldLayoutId xmlns:r="http://schemas.openxmlformats.org/officeDocument/2006/relationships" id="2147483655" r:id="R7911f8b289284cca"/>
    <p:sldLayoutId xmlns:r="http://schemas.openxmlformats.org/officeDocument/2006/relationships" id="2147483656" r:id="R45818fbb5d7841a7"/>
    <p:sldLayoutId xmlns:r="http://schemas.openxmlformats.org/officeDocument/2006/relationships" id="2147483657" r:id="R6625db8ae69a43af"/>
    <p:sldLayoutId xmlns:r="http://schemas.openxmlformats.org/officeDocument/2006/relationships" id="2147483658" r:id="Rc4c4b91be2e54dec"/>
    <p:sldLayoutId xmlns:r="http://schemas.openxmlformats.org/officeDocument/2006/relationships" id="2147483659" r:id="R521a6cecd813466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e618e2e0b458c" /><Relationship Type="http://schemas.openxmlformats.org/officeDocument/2006/relationships/image" Target="/ppt/media/image.jpeg" Id="Re816658274194853" /><Relationship Type="http://schemas.openxmlformats.org/officeDocument/2006/relationships/notesSlide" Target="/ppt/notesSlides/notesSlide1.xml" Id="R36b0c85255d6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2d6eb583a4ed9" /><Relationship Type="http://schemas.openxmlformats.org/officeDocument/2006/relationships/image" Target="/ppt/media/image.png" Id="R2e9ae621e356495c" /><Relationship Type="http://schemas.openxmlformats.org/officeDocument/2006/relationships/notesSlide" Target="/ppt/notesSlides/notesSlide2.xml" Id="R6115ce6e7be145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17500d3524ca1" /><Relationship Type="http://schemas.openxmlformats.org/officeDocument/2006/relationships/notesSlide" Target="/ppt/notesSlides/notesSlide3.xml" Id="Rcda3cfdb4b3141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e013c902d47cf" /><Relationship Type="http://schemas.openxmlformats.org/officeDocument/2006/relationships/notesSlide" Target="/ppt/notesSlides/notesSlide4.xml" Id="Rdd1939d277db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1819c0d2a461e" /><Relationship Type="http://schemas.openxmlformats.org/officeDocument/2006/relationships/image" Target="/ppt/media/image.png" Id="R78377d9543f34a56" /><Relationship Type="http://schemas.openxmlformats.org/officeDocument/2006/relationships/notesSlide" Target="/ppt/notesSlides/notesSlide5.xml" Id="Rd314d92c5c17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e9773342847cc" /><Relationship Type="http://schemas.openxmlformats.org/officeDocument/2006/relationships/image" Target="/ppt/media/image2.jpeg" Id="Rfdec7342a3b34d5d" /><Relationship Type="http://schemas.openxmlformats.org/officeDocument/2006/relationships/notesSlide" Target="/ppt/notesSlides/notesSlide6.xml" Id="Rd2222ad305db4c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01b754f58468d" /><Relationship Type="http://schemas.openxmlformats.org/officeDocument/2006/relationships/image" Target="/ppt/media/image2.png" Id="R341206660c704942" /><Relationship Type="http://schemas.openxmlformats.org/officeDocument/2006/relationships/notesSlide" Target="/ppt/notesSlides/notesSlide7.xml" Id="Rdf4fd63e910942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3e219bbbd44fc" /><Relationship Type="http://schemas.openxmlformats.org/officeDocument/2006/relationships/image" Target="/ppt/media/image3.jpeg" Id="Rb58392368b0842d8" /><Relationship Type="http://schemas.openxmlformats.org/officeDocument/2006/relationships/notesSlide" Target="/ppt/notesSlides/notesSlide8.xml" Id="Rd5cc4a0e655b44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d5af06db334a0d" /><Relationship Type="http://schemas.openxmlformats.org/officeDocument/2006/relationships/image" Target="/ppt/media/image4.jpeg" Id="R0dddd63e22684812" /><Relationship Type="http://schemas.openxmlformats.org/officeDocument/2006/relationships/notesSlide" Target="/ppt/notesSlides/notesSlide9.xml" Id="R369e6ea29ee34c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3d5c634104c2d" /><Relationship Type="http://schemas.openxmlformats.org/officeDocument/2006/relationships/image" Target="/ppt/media/image5.jpeg" Id="Reac42786e6804018" /><Relationship Type="http://schemas.openxmlformats.org/officeDocument/2006/relationships/notesSlide" Target="/ppt/notesSlides/notesSlide10.xml" Id="R0d31563a353f47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b994b34f749a2" /><Relationship Type="http://schemas.openxmlformats.org/officeDocument/2006/relationships/image" Target="/ppt/media/image6.jpeg" Id="Rb98c6b217f164616" /><Relationship Type="http://schemas.openxmlformats.org/officeDocument/2006/relationships/notesSlide" Target="/ppt/notesSlides/notesSlide11.xml" Id="R63978ae260e240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6925ddb1341a2" /><Relationship Type="http://schemas.openxmlformats.org/officeDocument/2006/relationships/image" Target="/ppt/media/image7.jpeg" Id="R739c072df7fa40a3" /><Relationship Type="http://schemas.openxmlformats.org/officeDocument/2006/relationships/notesSlide" Target="/ppt/notesSlides/notesSlide12.xml" Id="R352737774b7446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cf509ca08f4578" /><Relationship Type="http://schemas.openxmlformats.org/officeDocument/2006/relationships/image" Target="/ppt/media/image8.jpeg" Id="Re945ce8e369046ae" /><Relationship Type="http://schemas.openxmlformats.org/officeDocument/2006/relationships/notesSlide" Target="/ppt/notesSlides/notesSlide13.xml" Id="Raf6a264477f945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a543b564f437c" /><Relationship Type="http://schemas.openxmlformats.org/officeDocument/2006/relationships/notesSlide" Target="/ppt/notesSlides/notesSlide14.xml" Id="Rb072f3e59a5d44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4de23986a4b09" /><Relationship Type="http://schemas.openxmlformats.org/officeDocument/2006/relationships/notesSlide" Target="/ppt/notesSlides/notesSlide15.xml" Id="R31c213d8169945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667ddcb4e24a8e" /><Relationship Type="http://schemas.openxmlformats.org/officeDocument/2006/relationships/notesSlide" Target="/ppt/notesSlides/notesSlide16.xml" Id="Rd7c7b167555646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e41f728b24aea" /><Relationship Type="http://schemas.openxmlformats.org/officeDocument/2006/relationships/notesSlide" Target="/ppt/notesSlides/notesSlide17.xml" Id="Rb91ab0dfa7de45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44470e17d4fae" /><Relationship Type="http://schemas.openxmlformats.org/officeDocument/2006/relationships/notesSlide" Target="/ppt/notesSlides/notesSlide18.xml" Id="Rbbb8a590ce9c47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cd5e97f3e445c" /><Relationship Type="http://schemas.openxmlformats.org/officeDocument/2006/relationships/notesSlide" Target="/ppt/notesSlides/notesSlide19.xml" Id="R3173b9074f8648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955a3e2d94a3a" /><Relationship Type="http://schemas.openxmlformats.org/officeDocument/2006/relationships/notesSlide" Target="/ppt/notesSlides/notesSlide20.xml" Id="R082a2dcbf13045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19dc081a44c23" /><Relationship Type="http://schemas.openxmlformats.org/officeDocument/2006/relationships/notesSlide" Target="/ppt/notesSlides/notesSlide21.xml" Id="R5f27f3eef20d41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47c7e31b34703" /><Relationship Type="http://schemas.openxmlformats.org/officeDocument/2006/relationships/image" Target="/ppt/media/image9.jpeg" Id="R8e5966a60340436a" /><Relationship Type="http://schemas.openxmlformats.org/officeDocument/2006/relationships/notesSlide" Target="/ppt/notesSlides/notesSlide22.xml" Id="R47f2175e649d40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19b902c8844db" /><Relationship Type="http://schemas.openxmlformats.org/officeDocument/2006/relationships/image" Target="/ppt/media/image10.jpeg" Id="R5f7db12a783b4982" /><Relationship Type="http://schemas.openxmlformats.org/officeDocument/2006/relationships/notesSlide" Target="/ppt/notesSlides/notesSlide23.xml" Id="R9ed7e2b70a6e4f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c0d654e174969" /><Relationship Type="http://schemas.openxmlformats.org/officeDocument/2006/relationships/image" Target="/ppt/media/image11.jpeg" Id="Rc21f37174d6042ab" /><Relationship Type="http://schemas.openxmlformats.org/officeDocument/2006/relationships/notesSlide" Target="/ppt/notesSlides/notesSlide24.xml" Id="R025eaa7471d841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919CBF-0058-21C9-4F26-33DE43F787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000250"/>
            <a:ext cx="5334000" cy="200025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4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is</a:t>
            </a:r>
          </a:p>
          <a:p xmlns:a="http://schemas.openxmlformats.org/drawingml/2006/main">
            <a:pPr marL="0" indent="0" algn="l">
              <a:buNone/>
              <a:defRPr sz="4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6658274194853"/>
          <a:srcRect xmlns:a="http://schemas.openxmlformats.org/drawingml/2006/main" l="27344" t="0" r="27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171450"/>
            <a:ext cx="11087100" cy="13144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Two people buy the same shares.</a:t>
            </a:r>
          </a:p>
          <a:p xmlns:a="http://schemas.openxmlformats.org/drawingml/2006/main"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Can one be investing while the other is speculating?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ae621e35649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0" y="1581150"/>
            <a:ext cx="12192000" cy="527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1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42703B-51DC-8D8E-87A0-7F6B5EC37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2000" y="457200"/>
            <a:ext cx="10668000" cy="87630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By the end of this lesson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C424F4-2C58-1457-7D98-A3246D6A96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1600200"/>
            <a:ext cx="10477500" cy="4476750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Define financial investment, speculation and saving</a:t>
            </a:r>
          </a:p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  定义金融投资、投机与储蓄</a:t>
            </a:r>
          </a:p>
          <a:p xmlns:a="http://schemas.openxmlformats.org/drawingml/2006/main">
            <a:pPr marL="0" indent="0" algn="l">
              <a:buNone/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Distinguish decisions by purpose, expected payoff basis, liquidity, evidence and possible loss</a:t>
            </a:r>
          </a:p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  根据目的、预期回报依据、流动性、证据与潜在损失进行区分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Explain what investment is, what it is not, and justify a classification</a:t>
            </a:r>
          </a:p>
          <a:p xmlns:a="http://schemas.openxmlformats.org/drawingml/2006/main">
            <a:pPr marL="0" indent="0" algn="l">
              <a:lnSpc>
                <a:spcPct val="103000"/>
              </a:lnSpc>
              <a:buNone/>
              <a:def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  说明什么是投资、什么不是投资，并论证分类</a:t>
            </a:r>
          </a:p>
        </p:txBody>
      </p:sp>
    </p:spTree>
    <p:extLst>
      <p:ext uri="{BB962C8B-B14F-4D97-AF65-F5344CB8AC3E}">
        <p14:creationId xmlns:p14="http://schemas.microsoft.com/office/powerpoint/2010/main" val="2314305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23850"/>
            <a:ext cx="11277600" cy="7429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322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Classify the decision, not the asset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1371600"/>
            <a:ext cx="10439400" cy="4762500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Main purpose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Expected payoff basis (预期回报依据)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>
                <a:solidFill>
                  <a:srgbClr val="9BD5B7"/>
                </a:solidFill>
                <a:latin typeface="Microsoft YaHei"/>
                <a:ea typeface="Microsoft YaHei"/>
                <a:cs typeface="Microsoft YaHei"/>
              </a:rPr>
              <a:t>Liquidity (流动性)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4.</a:t>
            </a: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Evidence (证据)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5.</a:t>
            </a: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>
                <a:solidFill>
                  <a:srgbClr val="F3A47E"/>
                </a:solidFill>
                <a:latin typeface="Microsoft YaHei"/>
                <a:ea typeface="Microsoft YaHei"/>
                <a:cs typeface="Microsoft YaHei"/>
              </a:rPr>
              <a:t>Possible loss (潜在损失)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These factors explain what investment is—and what it is not.</a:t>
            </a:r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77d9543f34a56"/>
          <a:srcRect xmlns:a="http://schemas.openxmlformats.org/drawingml/2006/main" l="0" t="16703" r="0" b="16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1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c7342a3b34d5d"/>
          <a:srcRect xmlns:a="http://schemas.openxmlformats.org/drawingml/2006/main" l="0" t="10536" r="0" b="10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785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753761-A2BE-A81A-4B2F-6D76C7634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investment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07B61E-E1FF-4706-F5BB-01C14762CD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477000" cy="4191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Financial investment (金融投资) means putting money into an asset (资产) to seek future total return (总回报).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Total return = income + change in market value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Risk: possible loss (可能亏损)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 stocks, index funds, bonds and property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206660c704942"/>
          <a:srcRect xmlns:a="http://schemas.openxmlformats.org/drawingml/2006/main" l="26055" t="0" r="260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524000"/>
            <a:ext cx="38100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E9E8C1-10FE-83F9-57A6-5238B2334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Real example of total return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E726F6-73D6-1461-B458-54DC23A98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571625"/>
            <a:ext cx="5905500" cy="433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S&amp;P 500, calendar 2025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Price return: 16.39%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Total return with dividends: 17.88%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10,000 would become: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11,639 without dividends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11,788 with dividends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difference came from dividends.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392368b0842d8"/>
          <a:srcRect xmlns:a="http://schemas.openxmlformats.org/drawingml/2006/main" l="17017" t="0" r="17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1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A7C310-9AEA-6F2B-EE01-6FA6FF112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597231-263E-783D-6E31-CF9FD18239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5905500" cy="4000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Speculation (投机) means trading mainly to profit from a predicted price change (预测的价格变动).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Income or underlying value (基础价值) is not the main basis.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 shares bought after a rumour, gold bought for rapid resale, or currency traded after an exchange-rate prediction.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dd63e22684812"/>
          <a:srcRect xmlns:a="http://schemas.openxmlformats.org/drawingml/2006/main" l="15906" t="0" r="15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45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F15517-CDD8-0040-069F-F483AD376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Real example of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73F7D2-DB71-7501-0B9F-A64C759F91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0" y="1619250"/>
            <a:ext cx="514350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GameStop, January 2021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More than 1,600% rise from the 11 January close to the 27 January close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USD 483 intraday high on 28 January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More than 86% fall from that high by the end of the first week of February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42786e6804018"/>
          <a:srcRect xmlns:a="http://schemas.openxmlformats.org/drawingml/2006/main" l="14205" t="0" r="1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24000"/>
            <a:ext cx="5334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05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E350D-62E9-DC1D-DA04-0495D7DC9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972800" cy="6096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Why economists usually don’t favour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373F09-016D-841D-6A42-E084F25682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66875"/>
            <a:ext cx="6096000" cy="39052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One reason is the cost of frequent trading.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study of 66,465 households found annual returns of: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Most-active households: 11.4%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Market: 17.9%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Trading costs reduced the net return of the most-active group.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c6b217f164616"/>
          <a:srcRect xmlns:a="http://schemas.openxmlformats.org/drawingml/2006/main" l="15894" t="0" r="15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19250"/>
            <a:ext cx="409575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14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9EFB71-D60D-ECD4-E303-237F00B5C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saving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917A92-886F-0D21-3EF1-FDB9DCB2B2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5905500" cy="409575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Saving is current income not spent now.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Emphasis: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capital preservation (保本)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liquidity (流动性)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emergency fund (应急资金)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examination fees held for a known date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short-term cash buffer (现金缓冲)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c072df7fa40a3"/>
          <a:srcRect xmlns:a="http://schemas.openxmlformats.org/drawingml/2006/main" l="11648" t="0" r="11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384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02509-0E28-9548-1D52-4D2555BD8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 of saving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8CB7BF-2B08-E222-FD53-2C1D489C3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714500"/>
            <a:ext cx="5715000" cy="3714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China, end-2025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CNY 167.0 trillion</a:t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domestic household deposits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9.7% increase from end-2024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Saving can serve a near-term need even when it earns some interest.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5ce8e369046ae"/>
          <a:srcRect xmlns:a="http://schemas.openxmlformats.org/drawingml/2006/main" l="15148" t="0" r="1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24000"/>
            <a:ext cx="4381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43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381125"/>
            <a:ext cx="10782300" cy="49053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1. The main basis is expected income and/or evidence about underlying value; possible loss is accepted.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2. The main reason is a predicted price change; income or underlying value is not the main basis.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3. Money is kept mainly for a future need, safety and ready access.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4. Amina studies profits, cash flow and debt before buying a diversified share portfolio. She expects dividends and long-term price growth.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5. Bao borrows after an online rumour predicts a price rise next week. He will sell after an announcement.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D9BD49-C6E6-D286-FD16-E3C65D51C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D48C89-11B4-44C9-6372-440B1F136E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381125"/>
            <a:ext cx="10782300" cy="49053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6. Chloe estimates rent, maintenance and vacancy costs. She buys a flat mainly for net rental income.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7. Daniel needs examination-fee money in eight months, so he uses an easy-access account for safety and liquidity.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8. Eva invests for university in ten years using a diversified fund. She reviewed fees and risks and accepts a possible fall in market value.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9. Farah keeps an emergency fund in an easy-access account. Quick withdrawal matters more than return.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10. George buys a bond fund for retirement after checking interest income, credit risk, interest-rate risk and fees.</a:t>
            </a:r>
          </a:p>
        </p:txBody>
      </p:sp>
    </p:spTree>
    <p:extLst>
      <p:ext uri="{BB962C8B-B14F-4D97-AF65-F5344CB8AC3E}">
        <p14:creationId xmlns:p14="http://schemas.microsoft.com/office/powerpoint/2010/main" val="42626178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57250" y="1666875"/>
            <a:ext cx="10477500" cy="3810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11. Hadi buys Bitcoin after an influencer predicts a weekend price jump. He will sell immediately if it happens.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12. Iris buys foreign currency before a central-bank announcement. Her expected gain depends on a price prediction.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13. Jun needs tuition money in three months, so he uses an easy-access account for safety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is the strongest evidence that a decision is a financial investment (金融投资)?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The asset has risen in price before.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The main basis is expected income and/or evidence about underlying value, while possible loss is accepted.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Money can be withdrawn immediately with no possible loss.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The buyer plans to sell after an unverified rumour.</a:t>
            </a:r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Which decision is saving (储蓄) rather than financial investment (金融投资)?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Keeping school-trip money in an easy-access account.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Buying a diversified fund for long-term growth after reviewing its fees and risks.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Buying shares for dividends and long-term value after analysing profits, debt and cash flow.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Buying property mainly for expected net rental income.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Which evidence most clearly indicates speculation (投机)?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Expected bond interest after analysing credit risk.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Expected net rental income after estimating vacancy and maintenance.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Borrowing after a rumour of a next-week price jump and planning a quick sale.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Accepting that a diversified fund held long term can lose value.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2286000" cy="6858000"/>
          </a:xfrm>
        </p:spPr>
        <p:txBody>
          <a:bodyPr xmlns:a="http://schemas.openxmlformats.org/drawingml/2006/main" wrap="square" lIns="361950" tIns="51435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34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MCQ 4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514350"/>
            <a:ext cx="8667750" cy="5753100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Which statement about saving (储蓄) is correct?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Earning interest automatically changes saving into financial investment (金融投资).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Saving cannot lose purchasing power (购买力).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Capital preservation (保本) and liquidity (流动性) can matter more than a high return.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Saving always means holding cash at home.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2286000" cy="6858000"/>
          </a:xfrm>
        </p:spPr>
        <p:txBody>
          <a:bodyPr xmlns:a="http://schemas.openxmlformats.org/drawingml/2006/main" wrap="square" lIns="361950" tIns="51435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34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MCQ 5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514350"/>
            <a:ext cx="8667750" cy="5753100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Two people buy the same asset (资产). Why might one be investing (投资) and the other speculating (投机)?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The asset name decides the category.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The person who pays the higher price is the speculator (投机者).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One bases expected return on income and/or evidence about long-term value; the other mainly on a price prediction (价格预测).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FD3E8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800" b="0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rPr>
              <a:t> The person planning to sell sooner is always the speculator (投机者).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19125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Mina receives ¥500 and has no money set aside for emergencies. Should she save some before investing? Explain.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emergency fund (应急资金)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liquidity (流动性)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essential spending (必要支出)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966a60340436a"/>
          <a:srcRect xmlns:a="http://schemas.openxmlformats.org/drawingml/2006/main" l="23177" t="0" r="231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6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EFE464-7ACE-6098-A3B2-6BF9D51E9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C1ADBE-522A-4212-AD09-B33B4169F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19125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Leo needs the money for a laptop in six months. He wants a higher return but cannot afford a loss. Should he save or invest it? Explain.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time horizon (投资期限)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liquidity (流动性)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capital preservation (保本)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db12a783b4982"/>
          <a:srcRect xmlns:a="http://schemas.openxmlformats.org/drawingml/2006/main" l="18191" t="0" r="181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022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A0C6C6-39CF-0255-47DF-526C3C841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2AADBC-6F86-CC00-BCEB-8FB4CEDE29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571625"/>
            <a:ext cx="6191250" cy="4191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Nora borrows money to buy shares after an unverified online rumour. She will sell tomorrow if the price rises.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makes this speculation, and how can borrowing make the loss worse?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rumour (传闻) • price prediction (价格预测)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repayment obligation (偿还义务) • 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f37174d6042ab"/>
          <a:srcRect xmlns:a="http://schemas.openxmlformats.org/drawingml/2006/main" l="17146" t="0" r="171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946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2026-08-31T04:50:07.3070000Z</dcterms:created>
  <dcterms:modified xsi:type="dcterms:W3CDTF">2026-08-31T04:50:07.3070000Z</dcterms:modified>
</coreProperties>
</file>