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6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256" r:id="rId3"/>
    <p:sldId id="3038" r:id="rId4"/>
    <p:sldId id="3096" r:id="rId5"/>
    <p:sldId id="3097" r:id="rId6"/>
    <p:sldId id="3098" r:id="rId7"/>
    <p:sldId id="3099" r:id="rId8"/>
    <p:sldId id="3110" r:id="rId9"/>
    <p:sldId id="3047" r:id="rId10"/>
    <p:sldId id="3048" r:id="rId11"/>
    <p:sldId id="3044" r:id="rId12"/>
    <p:sldId id="3046" r:id="rId13"/>
    <p:sldId id="3094" r:id="rId14"/>
    <p:sldId id="2251" r:id="rId15"/>
    <p:sldId id="2254" r:id="rId16"/>
    <p:sldId id="2253" r:id="rId17"/>
    <p:sldId id="2250" r:id="rId18"/>
    <p:sldId id="2255" r:id="rId19"/>
    <p:sldId id="3111" r:id="rId20"/>
    <p:sldId id="3112" r:id="rId21"/>
    <p:sldId id="3115" r:id="rId22"/>
    <p:sldId id="3116" r:id="rId23"/>
    <p:sldId id="3117" r:id="rId24"/>
    <p:sldId id="3121" r:id="rId25"/>
    <p:sldId id="3122" r:id="rId26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D2FF"/>
    <a:srgbClr val="0F05A5"/>
    <a:srgbClr val="3B4964"/>
    <a:srgbClr val="28973C"/>
    <a:srgbClr val="FBF0D0"/>
    <a:srgbClr val="FDF5EA"/>
    <a:srgbClr val="4472C4"/>
    <a:srgbClr val="303A46"/>
    <a:srgbClr val="070E18"/>
    <a:srgbClr val="CD10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62" autoAdjust="0"/>
  </p:normalViewPr>
  <p:slideViewPr>
    <p:cSldViewPr snapToGrid="0">
      <p:cViewPr>
        <p:scale>
          <a:sx n="66" d="100"/>
          <a:sy n="66" d="100"/>
        </p:scale>
        <p:origin x="806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6D1753-1A15-432B-B6DE-00305C40E39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F7238D-B5C0-4567-BF94-FB7509AB61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C88FB-2B32-4F74-B693-376C62635C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DFC20-EC4E-4AB8-8D6B-9076726FEC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15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web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0"/>
            <a:ext cx="12191999" cy="809326"/>
          </a:xfrm>
          <a:prstGeom prst="rect">
            <a:avLst/>
          </a:prstGeom>
          <a:solidFill>
            <a:srgbClr val="FFFFFF">
              <a:alpha val="80000"/>
            </a:srgbClr>
          </a:solidFill>
          <a:ln w="76200" cap="flat" cmpd="sng" algn="ctr">
            <a:noFill/>
            <a:prstDash val="solid"/>
            <a:miter lim="800000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3200" b="0" dirty="0">
                <a:solidFill>
                  <a:schemeClr val="tx1"/>
                </a:solidFill>
                <a:latin typeface="Calibri" panose="020F0502020204030204" charset="0"/>
              </a:rPr>
              <a:t>3.2.1 the influences on spending, saving and borrowing</a:t>
            </a:r>
            <a:endParaRPr lang="en-GB" altLang="de-DE" sz="3200" b="0" cap="all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2716" y="906881"/>
            <a:ext cx="11446565" cy="166551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4000" dirty="0">
                <a:solidFill>
                  <a:srgbClr val="3B4964"/>
                </a:solidFill>
              </a:rPr>
              <a:t>How do the spending, saving and borrowing patterns of </a:t>
            </a:r>
            <a:r>
              <a:rPr lang="en-US" altLang="zh-CN" sz="4000" b="1" dirty="0">
                <a:solidFill>
                  <a:srgbClr val="3B4964"/>
                </a:solidFill>
              </a:rPr>
              <a:t>young workers </a:t>
            </a:r>
            <a:r>
              <a:rPr lang="en-US" altLang="zh-CN" sz="4000" dirty="0">
                <a:solidFill>
                  <a:srgbClr val="3B4964"/>
                </a:solidFill>
              </a:rPr>
              <a:t>differ from </a:t>
            </a:r>
            <a:r>
              <a:rPr lang="en-US" altLang="zh-CN" sz="4000" b="1" dirty="0">
                <a:solidFill>
                  <a:srgbClr val="3B4964"/>
                </a:solidFill>
              </a:rPr>
              <a:t>older workers</a:t>
            </a:r>
            <a:r>
              <a:rPr lang="en-US" altLang="zh-CN" sz="4000" dirty="0">
                <a:solidFill>
                  <a:srgbClr val="3B4964"/>
                </a:solidFill>
              </a:rPr>
              <a:t>?</a:t>
            </a:r>
            <a:endParaRPr lang="en-US" altLang="zh-CN" sz="4000" dirty="0">
              <a:solidFill>
                <a:srgbClr val="3B4964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04" y="2572398"/>
            <a:ext cx="6425192" cy="4285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74624"/>
            <a:ext cx="12192000" cy="2104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626235"/>
            <a:ext cx="12192000" cy="8445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4800000" scaled="0"/>
            <a:tileRect/>
          </a:gra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777" y="780350"/>
            <a:ext cx="9761010" cy="5799353"/>
          </a:xfrm>
        </p:spPr>
        <p:txBody>
          <a:bodyPr>
            <a:normAutofit/>
          </a:bodyPr>
          <a:lstStyle/>
          <a:p>
            <a:pPr marL="78105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Spending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消费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, saving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储蓄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and borrowing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借钱</a:t>
            </a:r>
            <a:endParaRPr lang="en-US" altLang="zh-CN" sz="3600" dirty="0"/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1"/>
                </a:solidFill>
              </a:rPr>
              <a:t>Why do people save money?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How do the spending, saving and borrowing patterns of young workers differ from older workers?</a:t>
            </a:r>
            <a:endParaRPr lang="en-US" altLang="zh-CN" sz="3200" dirty="0"/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2"/>
                </a:solidFill>
                <a:sym typeface="+mn-ea"/>
              </a:rPr>
              <a:t>Data</a:t>
            </a:r>
            <a:endParaRPr lang="en-US" altLang="zh-CN" sz="3200" dirty="0">
              <a:solidFill>
                <a:schemeClr val="tx2"/>
              </a:solidFill>
              <a:sym typeface="+mn-ea"/>
            </a:endParaRPr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Discussion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615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Explain </a:t>
            </a:r>
            <a:r>
              <a:rPr lang="en-US" altLang="en-GB" dirty="0"/>
              <a:t>the </a:t>
            </a:r>
            <a:r>
              <a:rPr lang="en-GB" dirty="0"/>
              <a:t>motives for saving</a:t>
            </a:r>
            <a:r>
              <a:rPr lang="en-US" altLang="en-GB" dirty="0"/>
              <a:t>.</a:t>
            </a:r>
            <a:br>
              <a:rPr lang="en-GB" dirty="0"/>
            </a:br>
            <a:r>
              <a:rPr lang="en-GB" b="1" dirty="0"/>
              <a:t>Why do people save money?</a:t>
            </a:r>
            <a:endParaRPr lang="en-GB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6045" y="2543969"/>
            <a:ext cx="4514850" cy="2914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8200" y="2404370"/>
            <a:ext cx="6126804" cy="3846801"/>
          </a:xfrm>
        </p:spPr>
        <p:txBody>
          <a:bodyPr>
            <a:normAutofit lnSpcReduction="10000"/>
          </a:bodyPr>
          <a:lstStyle/>
          <a:p>
            <a:pPr marL="514350" indent="-514350">
              <a:lnSpc>
                <a:spcPct val="100000"/>
              </a:lnSpc>
              <a:buAutoNum type="arabicPeriod"/>
            </a:pPr>
            <a:r>
              <a:rPr lang="en-GB" sz="3200" dirty="0"/>
              <a:t>to </a:t>
            </a:r>
            <a:r>
              <a:rPr lang="en-GB" sz="3200" b="1" dirty="0"/>
              <a:t>gain interest </a:t>
            </a:r>
            <a:r>
              <a:rPr lang="en-GB" sz="3200" dirty="0"/>
              <a:t>(return on saving)</a:t>
            </a:r>
            <a:endParaRPr lang="en-GB" sz="32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GB" sz="3200" dirty="0"/>
              <a:t>for the </a:t>
            </a:r>
            <a:r>
              <a:rPr lang="en-GB" sz="3200" b="1" dirty="0"/>
              <a:t>future</a:t>
            </a:r>
            <a:r>
              <a:rPr lang="en-GB" sz="3200" dirty="0"/>
              <a:t> (e.g. for unexpected events, save for pensions)</a:t>
            </a:r>
            <a:endParaRPr lang="en-GB" sz="32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GB" sz="3200" dirty="0"/>
              <a:t>to </a:t>
            </a:r>
            <a:r>
              <a:rPr lang="en-GB" sz="3200" b="1" dirty="0"/>
              <a:t>purchase expensive items</a:t>
            </a:r>
            <a:r>
              <a:rPr lang="en-GB" sz="3200" dirty="0"/>
              <a:t> </a:t>
            </a:r>
            <a:br>
              <a:rPr lang="en-GB" sz="3200" dirty="0"/>
            </a:br>
            <a:r>
              <a:rPr lang="en-GB" sz="3200" dirty="0"/>
              <a:t>(e.g. cars, houses, furniture)</a:t>
            </a:r>
            <a:endParaRPr lang="en-GB" sz="3200" dirty="0"/>
          </a:p>
          <a:p>
            <a:pPr marL="514350" indent="-514350">
              <a:lnSpc>
                <a:spcPct val="100000"/>
              </a:lnSpc>
              <a:buAutoNum type="arabicPeriod"/>
            </a:pPr>
            <a:r>
              <a:rPr lang="en-GB" sz="3200" dirty="0"/>
              <a:t>for children’s </a:t>
            </a:r>
            <a:r>
              <a:rPr lang="en-GB" sz="3200" b="1" dirty="0"/>
              <a:t>education</a:t>
            </a:r>
            <a:endParaRPr lang="en-GB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3776980"/>
            <a:ext cx="12192000" cy="68961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4800000" scaled="0"/>
            <a:tileRect/>
          </a:gra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777" y="780350"/>
            <a:ext cx="9761010" cy="5799353"/>
          </a:xfrm>
        </p:spPr>
        <p:txBody>
          <a:bodyPr>
            <a:normAutofit/>
          </a:bodyPr>
          <a:lstStyle/>
          <a:p>
            <a:pPr marL="78105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Spending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消费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, saving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储蓄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and borrowing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借钱</a:t>
            </a:r>
            <a:endParaRPr lang="en-US" altLang="zh-CN" sz="3600" dirty="0"/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1"/>
                </a:solidFill>
              </a:rPr>
              <a:t>Why do people save money?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How do the spending, saving and borrowing patterns of young workers differ from older workers?</a:t>
            </a:r>
            <a:endParaRPr lang="en-US" altLang="zh-CN" sz="3200" dirty="0"/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2"/>
                </a:solidFill>
                <a:sym typeface="+mn-ea"/>
              </a:rPr>
              <a:t>Data</a:t>
            </a:r>
            <a:endParaRPr lang="en-US" altLang="zh-CN" sz="3200" dirty="0">
              <a:solidFill>
                <a:schemeClr val="tx2"/>
              </a:solidFill>
              <a:sym typeface="+mn-ea"/>
            </a:endParaRPr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Discussion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2716" y="906881"/>
            <a:ext cx="11446565" cy="166551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4000" dirty="0">
                <a:solidFill>
                  <a:srgbClr val="3B4964"/>
                </a:solidFill>
              </a:rPr>
              <a:t>How do the spending, saving and borrowing patterns of </a:t>
            </a:r>
            <a:r>
              <a:rPr lang="en-US" altLang="zh-CN" sz="4000" b="1" dirty="0">
                <a:solidFill>
                  <a:srgbClr val="3B4964"/>
                </a:solidFill>
              </a:rPr>
              <a:t>young workers </a:t>
            </a:r>
            <a:r>
              <a:rPr lang="en-US" altLang="zh-CN" sz="4000" dirty="0">
                <a:solidFill>
                  <a:srgbClr val="3B4964"/>
                </a:solidFill>
              </a:rPr>
              <a:t>differ from </a:t>
            </a:r>
            <a:r>
              <a:rPr lang="en-US" altLang="zh-CN" sz="4000" b="1" dirty="0">
                <a:solidFill>
                  <a:srgbClr val="3B4964"/>
                </a:solidFill>
              </a:rPr>
              <a:t>older workers</a:t>
            </a:r>
            <a:r>
              <a:rPr lang="en-US" altLang="zh-CN" sz="4000" dirty="0">
                <a:solidFill>
                  <a:srgbClr val="3B4964"/>
                </a:solidFill>
              </a:rPr>
              <a:t>?</a:t>
            </a:r>
            <a:endParaRPr lang="en-US" altLang="zh-CN" sz="4000" dirty="0">
              <a:solidFill>
                <a:srgbClr val="3B4964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404" y="2572398"/>
            <a:ext cx="6425192" cy="42856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t="10214"/>
          <a:stretch>
            <a:fillRect/>
          </a:stretch>
        </p:blipFill>
        <p:spPr>
          <a:xfrm>
            <a:off x="3538330" y="0"/>
            <a:ext cx="9414313" cy="6847497"/>
          </a:xfrm>
        </p:spPr>
      </p:pic>
      <p:sp>
        <p:nvSpPr>
          <p:cNvPr id="11" name="文本框 10"/>
          <p:cNvSpPr txBox="1"/>
          <p:nvPr/>
        </p:nvSpPr>
        <p:spPr>
          <a:xfrm>
            <a:off x="7595008" y="788"/>
            <a:ext cx="206498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800" dirty="0"/>
              <a:t>                       </a:t>
            </a:r>
            <a:endParaRPr lang="en-GB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205409" y="421102"/>
            <a:ext cx="3074504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altLang="zh-CN" sz="2800" dirty="0"/>
              <a:t>At which age do people consume most?</a:t>
            </a:r>
            <a:endParaRPr lang="en-GB" altLang="zh-CN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sz="2800" dirty="0"/>
              <a:t>At which age do people borrow most?</a:t>
            </a:r>
            <a:endParaRPr lang="en-GB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altLang="zh-CN" sz="2800" dirty="0"/>
              <a:t>At which age do people save most?</a:t>
            </a:r>
            <a:endParaRPr lang="en-GB" altLang="zh-CN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6433930" y="159492"/>
            <a:ext cx="14161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/>
              <a:t>Income</a:t>
            </a:r>
            <a:endParaRPr lang="en-GB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8188043" y="159492"/>
            <a:ext cx="1534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800" dirty="0"/>
              <a:t>Spending</a:t>
            </a:r>
            <a:endParaRPr lang="en-GB" sz="2800" dirty="0"/>
          </a:p>
        </p:txBody>
      </p:sp>
      <p:sp>
        <p:nvSpPr>
          <p:cNvPr id="9" name="矩形 8"/>
          <p:cNvSpPr/>
          <p:nvPr/>
        </p:nvSpPr>
        <p:spPr>
          <a:xfrm>
            <a:off x="6096000" y="278296"/>
            <a:ext cx="337931" cy="318052"/>
          </a:xfrm>
          <a:prstGeom prst="rect">
            <a:avLst/>
          </a:prstGeom>
          <a:solidFill>
            <a:srgbClr val="0F0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矩形 9"/>
          <p:cNvSpPr/>
          <p:nvPr/>
        </p:nvSpPr>
        <p:spPr>
          <a:xfrm>
            <a:off x="7850112" y="262076"/>
            <a:ext cx="337931" cy="318052"/>
          </a:xfrm>
          <a:prstGeom prst="rect">
            <a:avLst/>
          </a:prstGeom>
          <a:solidFill>
            <a:srgbClr val="A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" t="10214"/>
          <a:stretch>
            <a:fillRect/>
          </a:stretch>
        </p:blipFill>
        <p:spPr>
          <a:xfrm>
            <a:off x="3538330" y="0"/>
            <a:ext cx="9414313" cy="6847497"/>
          </a:xfrm>
        </p:spPr>
      </p:pic>
      <p:sp>
        <p:nvSpPr>
          <p:cNvPr id="11" name="文本框 10"/>
          <p:cNvSpPr txBox="1"/>
          <p:nvPr/>
        </p:nvSpPr>
        <p:spPr>
          <a:xfrm>
            <a:off x="7595008" y="788"/>
            <a:ext cx="2064989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800" dirty="0"/>
              <a:t>                       </a:t>
            </a:r>
            <a:endParaRPr lang="en-GB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215348" y="992313"/>
            <a:ext cx="307450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altLang="zh-CN" sz="2800" dirty="0"/>
              <a:t>Why is consumption highest between ages 45 and 54?</a:t>
            </a:r>
            <a:endParaRPr lang="en-GB" altLang="zh-CN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sz="2800" dirty="0"/>
              <a:t>Why is borrowing highest under age 25?</a:t>
            </a:r>
            <a:endParaRPr lang="en-GB" sz="2800" dirty="0"/>
          </a:p>
          <a:p>
            <a:pPr marL="342900" indent="-342900">
              <a:spcAft>
                <a:spcPts val="1800"/>
              </a:spcAft>
              <a:buFont typeface="+mj-lt"/>
              <a:buAutoNum type="arabicPeriod"/>
            </a:pPr>
            <a:r>
              <a:rPr lang="en-GB" altLang="zh-CN" sz="2800" dirty="0"/>
              <a:t>Why is saving highest between ages 35 and 44?</a:t>
            </a:r>
            <a:endParaRPr lang="en-GB" altLang="zh-CN" sz="2800" dirty="0"/>
          </a:p>
        </p:txBody>
      </p:sp>
      <p:sp>
        <p:nvSpPr>
          <p:cNvPr id="7" name="文本框 6"/>
          <p:cNvSpPr txBox="1"/>
          <p:nvPr/>
        </p:nvSpPr>
        <p:spPr>
          <a:xfrm>
            <a:off x="6433930" y="159492"/>
            <a:ext cx="141618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800" dirty="0"/>
              <a:t>Income</a:t>
            </a:r>
            <a:endParaRPr lang="en-GB" sz="2800" dirty="0"/>
          </a:p>
        </p:txBody>
      </p:sp>
      <p:sp>
        <p:nvSpPr>
          <p:cNvPr id="8" name="文本框 7"/>
          <p:cNvSpPr txBox="1"/>
          <p:nvPr/>
        </p:nvSpPr>
        <p:spPr>
          <a:xfrm>
            <a:off x="8188043" y="159492"/>
            <a:ext cx="1534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2800" dirty="0"/>
              <a:t>Spending</a:t>
            </a:r>
            <a:endParaRPr lang="en-GB" sz="2800" dirty="0"/>
          </a:p>
        </p:txBody>
      </p:sp>
      <p:sp>
        <p:nvSpPr>
          <p:cNvPr id="9" name="矩形 8"/>
          <p:cNvSpPr/>
          <p:nvPr/>
        </p:nvSpPr>
        <p:spPr>
          <a:xfrm>
            <a:off x="6096000" y="278296"/>
            <a:ext cx="337931" cy="318052"/>
          </a:xfrm>
          <a:prstGeom prst="rect">
            <a:avLst/>
          </a:prstGeom>
          <a:solidFill>
            <a:srgbClr val="0F0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矩形 9"/>
          <p:cNvSpPr/>
          <p:nvPr/>
        </p:nvSpPr>
        <p:spPr>
          <a:xfrm>
            <a:off x="7850112" y="262076"/>
            <a:ext cx="337931" cy="318052"/>
          </a:xfrm>
          <a:prstGeom prst="rect">
            <a:avLst/>
          </a:prstGeom>
          <a:solidFill>
            <a:srgbClr val="AFD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9940"/>
            <a:ext cx="12270263" cy="686794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82" y="0"/>
            <a:ext cx="8760218" cy="6858000"/>
          </a:xfrm>
        </p:spPr>
      </p:pic>
      <p:sp>
        <p:nvSpPr>
          <p:cNvPr id="6" name="文本框 5"/>
          <p:cNvSpPr txBox="1"/>
          <p:nvPr/>
        </p:nvSpPr>
        <p:spPr>
          <a:xfrm>
            <a:off x="255105" y="365125"/>
            <a:ext cx="307450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GB" altLang="zh-CN" sz="3200" dirty="0"/>
              <a:t>How does debt (</a:t>
            </a:r>
            <a:r>
              <a:rPr lang="zh-CN" altLang="en-US" sz="3200" dirty="0"/>
              <a:t>债</a:t>
            </a:r>
            <a:r>
              <a:rPr lang="en-GB" altLang="zh-CN" sz="3200" dirty="0"/>
              <a:t>) change over the course of somebody’s l</a:t>
            </a:r>
            <a:r>
              <a:rPr lang="en-US" altLang="zh-CN" sz="3200" dirty="0" err="1"/>
              <a:t>ife</a:t>
            </a:r>
            <a:r>
              <a:rPr lang="en-US" altLang="zh-CN" sz="3200" dirty="0"/>
              <a:t>?</a:t>
            </a:r>
            <a:endParaRPr lang="en-GB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4472305"/>
            <a:ext cx="12192000" cy="84455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4800000" scaled="0"/>
            <a:tileRect/>
          </a:gra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6777" y="780350"/>
            <a:ext cx="9761010" cy="5799353"/>
          </a:xfrm>
        </p:spPr>
        <p:txBody>
          <a:bodyPr>
            <a:normAutofit/>
          </a:bodyPr>
          <a:lstStyle/>
          <a:p>
            <a:pPr marL="78105" indent="0"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Spending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消费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, saving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储蓄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</a:rPr>
              <a:t>and borrowing 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</a:rPr>
              <a:t>借钱</a:t>
            </a:r>
            <a:endParaRPr lang="en-US" altLang="zh-CN" sz="3600" dirty="0"/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1"/>
                </a:solidFill>
              </a:rPr>
              <a:t>Factors that affect the level of consumers expenditure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marL="535305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How do the spending, saving and borrowing patterns of young workers differ from older workers?</a:t>
            </a:r>
            <a:endParaRPr lang="en-US" altLang="zh-CN" sz="3200" dirty="0"/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>
                <a:solidFill>
                  <a:schemeClr val="tx2"/>
                </a:solidFill>
                <a:sym typeface="+mn-ea"/>
              </a:rPr>
              <a:t>Data</a:t>
            </a:r>
            <a:endParaRPr lang="en-US" altLang="zh-CN" sz="3200" dirty="0">
              <a:solidFill>
                <a:schemeClr val="tx2"/>
              </a:solidFill>
              <a:sym typeface="+mn-ea"/>
            </a:endParaRPr>
          </a:p>
          <a:p>
            <a:pPr marL="992505" lvl="1" indent="-457200" fontAlgn="auto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Font typeface="Cambria Math" panose="02040503050406030204" pitchFamily="18" charset="0"/>
              <a:buChar char="⊳"/>
            </a:pPr>
            <a:r>
              <a:rPr lang="en-US" altLang="zh-CN" sz="3200" dirty="0"/>
              <a:t>Discussion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zh-CN" sz="3600" dirty="0">
                <a:latin typeface="+mj-lt"/>
              </a:rPr>
              <a:t>How do the spending, saving and borrowing patterns of young workers differ from older workers?</a:t>
            </a:r>
            <a:endParaRPr lang="en-GB" sz="3600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4345" y="2012950"/>
            <a:ext cx="10984865" cy="376491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3200" dirty="0"/>
              <a:t>Do young workers </a:t>
            </a:r>
            <a:r>
              <a:rPr lang="en-GB" sz="3200" b="1" dirty="0"/>
              <a:t>spend</a:t>
            </a:r>
            <a:r>
              <a:rPr lang="en-GB" sz="3200" dirty="0"/>
              <a:t> more or less?</a:t>
            </a:r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200" b="1" dirty="0"/>
              <a:t>Which goods and services</a:t>
            </a:r>
            <a:r>
              <a:rPr lang="en-GB" sz="3200" dirty="0"/>
              <a:t> do young workers consume more/less than old workers?</a:t>
            </a:r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Do young workers </a:t>
            </a:r>
            <a:r>
              <a:rPr lang="en-GB" sz="3200" b="1" dirty="0"/>
              <a:t>save</a:t>
            </a:r>
            <a:r>
              <a:rPr lang="en-GB" sz="3200" dirty="0"/>
              <a:t> more or less?</a:t>
            </a:r>
            <a:endParaRPr lang="en-GB" sz="3200" dirty="0"/>
          </a:p>
          <a:p>
            <a:pPr marL="514350" indent="-514350">
              <a:buFont typeface="+mj-lt"/>
              <a:buAutoNum type="arabicPeriod"/>
            </a:pPr>
            <a:r>
              <a:rPr lang="en-GB" sz="3200" dirty="0"/>
              <a:t>Do young workers </a:t>
            </a:r>
            <a:r>
              <a:rPr lang="en-GB" sz="3200" b="1" dirty="0"/>
              <a:t>borrow</a:t>
            </a:r>
            <a:r>
              <a:rPr lang="en-GB" sz="3200" dirty="0"/>
              <a:t> more or less?</a:t>
            </a:r>
            <a:endParaRPr lang="en-GB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93"/>
          <a:stretch>
            <a:fillRect/>
          </a:stretch>
        </p:blipFill>
        <p:spPr>
          <a:xfrm>
            <a:off x="7819390" y="3429000"/>
            <a:ext cx="4467860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zh-CN" sz="3200" dirty="0">
                <a:latin typeface="+mj-lt"/>
              </a:rPr>
              <a:t>How do the spending, saving and borrowing patterns of young workers differ from older workers?</a:t>
            </a:r>
            <a:endParaRPr lang="en-GB" sz="3200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99895"/>
            <a:ext cx="10825480" cy="2631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1. Do young workers </a:t>
            </a:r>
            <a:r>
              <a:rPr lang="en-GB" b="1" u="sng" dirty="0">
                <a:solidFill>
                  <a:schemeClr val="accent1">
                    <a:lumMod val="50000"/>
                  </a:schemeClr>
                </a:solidFill>
              </a:rPr>
              <a:t>spend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 more or less</a:t>
            </a:r>
            <a:r>
              <a:rPr lang="en-US" altLang="en-GB" b="1" dirty="0">
                <a:solidFill>
                  <a:schemeClr val="accent1">
                    <a:lumMod val="50000"/>
                  </a:schemeClr>
                </a:solidFill>
              </a:rPr>
              <a:t> than old workers</a:t>
            </a: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GB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GB" dirty="0"/>
              <a:t>may spend </a:t>
            </a:r>
            <a:r>
              <a:rPr lang="en-US" altLang="en-GB" b="1" dirty="0"/>
              <a:t>less</a:t>
            </a:r>
            <a:r>
              <a:rPr lang="en-US" altLang="en-GB" dirty="0"/>
              <a:t> since they are paid lower incomes</a:t>
            </a:r>
            <a:endParaRPr lang="en-US" altLang="en-GB" dirty="0"/>
          </a:p>
          <a:p>
            <a:r>
              <a:rPr lang="en-US" altLang="en-GB" dirty="0"/>
              <a:t>may spend </a:t>
            </a:r>
            <a:r>
              <a:rPr lang="en-US" altLang="en-GB" b="1" dirty="0"/>
              <a:t>a higher percentage of their incomes</a:t>
            </a:r>
            <a:r>
              <a:rPr lang="en-US" altLang="en-GB" dirty="0"/>
              <a:t> as they can’t afford to save (need to afford rent, groceries etc.)</a:t>
            </a:r>
            <a:endParaRPr lang="en-US" altLang="en-GB" dirty="0"/>
          </a:p>
          <a:p>
            <a:r>
              <a:rPr lang="en-GB" dirty="0">
                <a:sym typeface="+mn-ea"/>
              </a:rPr>
              <a:t>may spend </a:t>
            </a:r>
            <a:r>
              <a:rPr lang="en-GB" b="1" dirty="0">
                <a:sym typeface="+mn-ea"/>
              </a:rPr>
              <a:t>more</a:t>
            </a:r>
            <a:r>
              <a:rPr lang="en-GB" dirty="0">
                <a:sym typeface="+mn-ea"/>
              </a:rPr>
              <a:t> as they may not have a family to save for</a:t>
            </a:r>
            <a:endParaRPr lang="en-GB" dirty="0"/>
          </a:p>
          <a:p>
            <a:endParaRPr lang="en-GB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318" y="4243800"/>
            <a:ext cx="4302410" cy="24217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766" y="4243800"/>
            <a:ext cx="3630798" cy="24217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altLang="zh-CN" sz="3200" dirty="0">
                <a:latin typeface="+mj-lt"/>
              </a:rPr>
              <a:t>How do the spending, saving and borrowing patterns of young workers differ from older workers?</a:t>
            </a:r>
            <a:endParaRPr lang="en-GB" sz="3200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17473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2. Do young workers </a:t>
            </a:r>
            <a:r>
              <a:rPr lang="en-GB" sz="2800" b="1" u="sng" dirty="0">
                <a:solidFill>
                  <a:schemeClr val="accent1">
                    <a:lumMod val="50000"/>
                  </a:schemeClr>
                </a:solidFill>
              </a:rPr>
              <a:t>save</a:t>
            </a:r>
            <a:r>
              <a:rPr lang="en-GB" sz="2800" b="1" dirty="0">
                <a:solidFill>
                  <a:schemeClr val="accent1">
                    <a:lumMod val="50000"/>
                  </a:schemeClr>
                </a:solidFill>
              </a:rPr>
              <a:t> more or less?</a:t>
            </a:r>
            <a:endParaRPr lang="en-GB" sz="2800" dirty="0"/>
          </a:p>
          <a:p>
            <a:r>
              <a:rPr lang="en-GB" sz="2800" dirty="0"/>
              <a:t>may save </a:t>
            </a:r>
            <a:r>
              <a:rPr lang="en-GB" sz="2800" b="1" dirty="0"/>
              <a:t>more</a:t>
            </a:r>
            <a:r>
              <a:rPr lang="en-GB" sz="2800" dirty="0"/>
              <a:t> </a:t>
            </a:r>
            <a:r>
              <a:rPr lang="en-US" altLang="en-GB" sz="2800" dirty="0"/>
              <a:t>(</a:t>
            </a:r>
            <a:r>
              <a:rPr lang="en-GB" sz="2800" dirty="0"/>
              <a:t>e.g.</a:t>
            </a:r>
            <a:r>
              <a:rPr lang="en-US" altLang="en-GB" sz="2800" dirty="0"/>
              <a:t> to</a:t>
            </a:r>
            <a:r>
              <a:rPr lang="en-GB" sz="2800" dirty="0"/>
              <a:t> </a:t>
            </a:r>
            <a:r>
              <a:rPr lang="en-GB" sz="2800" b="1" dirty="0"/>
              <a:t>purchase a house</a:t>
            </a:r>
            <a:r>
              <a:rPr lang="en-US" altLang="en-GB" sz="2800" dirty="0"/>
              <a:t>)</a:t>
            </a:r>
            <a:endParaRPr lang="en-GB" sz="2800" dirty="0"/>
          </a:p>
          <a:p>
            <a:r>
              <a:rPr lang="en-GB" sz="2800" dirty="0"/>
              <a:t>may save </a:t>
            </a:r>
            <a:r>
              <a:rPr lang="en-GB" sz="2800" b="1" dirty="0"/>
              <a:t>less</a:t>
            </a:r>
            <a:r>
              <a:rPr lang="en-US" altLang="en-GB" sz="2800" dirty="0"/>
              <a:t>:</a:t>
            </a:r>
            <a:endParaRPr lang="en-US" altLang="en-GB" sz="2800" dirty="0"/>
          </a:p>
          <a:p>
            <a:pPr lvl="1"/>
            <a:r>
              <a:rPr lang="en-US" altLang="en-GB" sz="2800" dirty="0"/>
              <a:t>may </a:t>
            </a:r>
            <a:r>
              <a:rPr lang="en-GB" sz="2800" dirty="0"/>
              <a:t>not have sufficient income</a:t>
            </a:r>
            <a:endParaRPr lang="en-GB" sz="2800" dirty="0"/>
          </a:p>
          <a:p>
            <a:pPr lvl="1"/>
            <a:r>
              <a:rPr lang="en-US" sz="2800" dirty="0"/>
              <a:t>may </a:t>
            </a:r>
            <a:r>
              <a:rPr lang="en-US" altLang="en-GB" sz="2800" dirty="0"/>
              <a:t>not </a:t>
            </a:r>
            <a:r>
              <a:rPr lang="en-US" sz="2800" dirty="0"/>
              <a:t>save</a:t>
            </a:r>
            <a:r>
              <a:rPr lang="en-GB" sz="2800" dirty="0"/>
              <a:t> for retirement</a:t>
            </a:r>
            <a:r>
              <a:rPr lang="en-US" altLang="en-GB" sz="2800" dirty="0"/>
              <a:t> or children’s education yet</a:t>
            </a:r>
            <a:endParaRPr lang="en-US" altLang="zh-CN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020" y="4418330"/>
            <a:ext cx="3908425" cy="21990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4340225"/>
            <a:ext cx="3575050" cy="22345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143"/>
            <a:ext cx="10515600" cy="1325563"/>
          </a:xfrm>
        </p:spPr>
        <p:txBody>
          <a:bodyPr>
            <a:noAutofit/>
          </a:bodyPr>
          <a:lstStyle/>
          <a:p>
            <a:r>
              <a:rPr lang="en-GB" altLang="zh-CN" sz="3200" dirty="0">
                <a:latin typeface="+mj-lt"/>
              </a:rPr>
              <a:t>How do the spending, saving and borrowing patterns of young workers differ from older workers?</a:t>
            </a:r>
            <a:endParaRPr lang="en-GB" sz="3200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37136"/>
            <a:ext cx="105156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3. Which goods and services do young workers consume more/less than old workers?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may spend </a:t>
            </a:r>
            <a:r>
              <a:rPr lang="en-GB" b="1" dirty="0"/>
              <a:t>more</a:t>
            </a:r>
            <a:r>
              <a:rPr lang="en-GB" dirty="0"/>
              <a:t> on high tech products</a:t>
            </a:r>
            <a:r>
              <a:rPr lang="en-US" altLang="en-GB" dirty="0"/>
              <a:t>, entertainment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US" altLang="en-GB" dirty="0"/>
              <a:t>may spend </a:t>
            </a:r>
            <a:r>
              <a:rPr lang="en-US" altLang="en-GB" b="1" dirty="0"/>
              <a:t>less</a:t>
            </a:r>
            <a:r>
              <a:rPr lang="en-US" altLang="en-GB" dirty="0"/>
              <a:t> </a:t>
            </a:r>
            <a:r>
              <a:rPr lang="en-GB" dirty="0"/>
              <a:t>on healthcare</a:t>
            </a:r>
            <a:br>
              <a:rPr lang="en-GB" dirty="0"/>
            </a:br>
            <a:endParaRPr lang="en-GB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530" y="3669482"/>
            <a:ext cx="4514850" cy="30003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8143"/>
            <a:ext cx="10515600" cy="1325563"/>
          </a:xfrm>
        </p:spPr>
        <p:txBody>
          <a:bodyPr>
            <a:noAutofit/>
          </a:bodyPr>
          <a:lstStyle/>
          <a:p>
            <a:r>
              <a:rPr lang="en-GB" altLang="zh-CN" sz="3200" dirty="0">
                <a:latin typeface="+mj-lt"/>
              </a:rPr>
              <a:t>How do the spending, saving and borrowing patterns of young workers differ from older workers?</a:t>
            </a:r>
            <a:endParaRPr lang="en-GB" sz="3200" dirty="0">
              <a:latin typeface="+mj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2730" y="1864956"/>
            <a:ext cx="6398342" cy="434903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4. Do young workers borrow more or less?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may borrow </a:t>
            </a:r>
            <a:r>
              <a:rPr lang="en-GB" b="1" dirty="0"/>
              <a:t>more</a:t>
            </a:r>
            <a:r>
              <a:rPr lang="en-GB" dirty="0"/>
              <a:t> because they may be buying a car</a:t>
            </a:r>
            <a:r>
              <a:rPr lang="en-US" altLang="en-GB" dirty="0"/>
              <a:t> or a </a:t>
            </a:r>
            <a:r>
              <a:rPr lang="en-GB" dirty="0"/>
              <a:t>house</a:t>
            </a:r>
            <a:r>
              <a:rPr lang="en-US" altLang="en-GB" dirty="0"/>
              <a:t> and don’t have sufficient savings</a:t>
            </a:r>
            <a:endParaRPr lang="en-GB" dirty="0"/>
          </a:p>
          <a:p>
            <a:pPr>
              <a:lnSpc>
                <a:spcPct val="110000"/>
              </a:lnSpc>
            </a:pPr>
            <a:r>
              <a:rPr lang="en-GB" dirty="0"/>
              <a:t>may borrow </a:t>
            </a:r>
            <a:r>
              <a:rPr lang="en-GB" b="1" dirty="0"/>
              <a:t>less</a:t>
            </a:r>
            <a:r>
              <a:rPr lang="en-GB" dirty="0"/>
              <a:t> because banks may be more reluctant to lend to young workers </a:t>
            </a:r>
            <a:r>
              <a:rPr lang="en-US" altLang="en-GB" dirty="0"/>
              <a:t>(</a:t>
            </a:r>
            <a:r>
              <a:rPr lang="en-GB" dirty="0"/>
              <a:t>young workers may have less collateral (</a:t>
            </a:r>
            <a:r>
              <a:rPr lang="zh-CN" altLang="en-US" dirty="0"/>
              <a:t>担保</a:t>
            </a:r>
            <a:r>
              <a:rPr lang="en-GB" dirty="0"/>
              <a:t>) and less job security</a:t>
            </a:r>
            <a:r>
              <a:rPr lang="en-US" altLang="en-GB" dirty="0"/>
              <a:t>)</a:t>
            </a:r>
            <a:endParaRPr lang="en-US" altLang="en-GB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210" y="2698711"/>
            <a:ext cx="4375355" cy="2461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31975"/>
          </a:xfrm>
        </p:spPr>
        <p:txBody>
          <a:bodyPr>
            <a:norm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</a:rPr>
              <a:t>In which country do people save most money? Why?</a:t>
            </a:r>
            <a:endParaRPr lang="en-GB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6" t="1068" r="1086" b="4169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600200" y="495300"/>
            <a:ext cx="54864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Why do people spend money?</a:t>
            </a:r>
            <a:br>
              <a:rPr lang="en-GB" dirty="0"/>
            </a:br>
            <a:r>
              <a:rPr lang="en-GB" dirty="0"/>
              <a:t>Why do people save money?</a:t>
            </a:r>
            <a:endParaRPr lang="en-GB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2395"/>
            <a:ext cx="4213668" cy="40038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394" y="2676973"/>
            <a:ext cx="4514850" cy="29146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1. Identify two motives for consumer spending. [2]</a:t>
            </a:r>
            <a:br>
              <a:rPr lang="en-GB" dirty="0"/>
            </a:br>
            <a:r>
              <a:rPr lang="en-GB" b="1" dirty="0"/>
              <a:t>Why do people spend money?</a:t>
            </a:r>
            <a:endParaRPr lang="en-GB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6" b="7738"/>
          <a:stretch>
            <a:fillRect/>
          </a:stretch>
        </p:blipFill>
        <p:spPr>
          <a:xfrm>
            <a:off x="1219200" y="1475885"/>
            <a:ext cx="10020300" cy="5267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1. Identify two motives for consumer spending. [2]</a:t>
            </a:r>
            <a:br>
              <a:rPr lang="en-GB" dirty="0"/>
            </a:br>
            <a:r>
              <a:rPr lang="en-GB" b="1" dirty="0"/>
              <a:t>Why do people spend money?</a:t>
            </a:r>
            <a:endParaRPr lang="en-GB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404370"/>
            <a:ext cx="6692900" cy="31938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3200" dirty="0"/>
              <a:t>to satisfy </a:t>
            </a:r>
            <a:r>
              <a:rPr lang="en-GB" sz="3200" b="1" dirty="0"/>
              <a:t>needs</a:t>
            </a:r>
            <a:r>
              <a:rPr lang="en-GB" sz="3200" dirty="0"/>
              <a:t> (</a:t>
            </a:r>
            <a:r>
              <a:rPr lang="en-GB" sz="3200" dirty="0" err="1"/>
              <a:t>e.g</a:t>
            </a:r>
            <a:r>
              <a:rPr lang="en-GB" sz="3200" dirty="0"/>
              <a:t> food, shelter)</a:t>
            </a:r>
            <a:endParaRPr lang="en-GB" sz="3200" dirty="0"/>
          </a:p>
          <a:p>
            <a:pPr>
              <a:lnSpc>
                <a:spcPct val="100000"/>
              </a:lnSpc>
            </a:pPr>
            <a:r>
              <a:rPr lang="en-GB" sz="3200" dirty="0"/>
              <a:t>to satisfy </a:t>
            </a:r>
            <a:r>
              <a:rPr lang="en-GB" sz="3200" b="1" dirty="0"/>
              <a:t>wants</a:t>
            </a:r>
            <a:r>
              <a:rPr lang="en-GB" sz="3200" dirty="0"/>
              <a:t> (e.g. luxury goods)</a:t>
            </a:r>
            <a:endParaRPr lang="en-GB" sz="3200" dirty="0"/>
          </a:p>
          <a:p>
            <a:pPr>
              <a:lnSpc>
                <a:spcPct val="100000"/>
              </a:lnSpc>
            </a:pPr>
            <a:r>
              <a:rPr lang="en-GB" sz="3200" dirty="0"/>
              <a:t>fear of </a:t>
            </a:r>
            <a:r>
              <a:rPr lang="en-GB" sz="3200" b="1" dirty="0"/>
              <a:t>future price rises</a:t>
            </a:r>
            <a:endParaRPr lang="en-GB" sz="3200" b="1" dirty="0"/>
          </a:p>
          <a:p>
            <a:pPr>
              <a:lnSpc>
                <a:spcPct val="100000"/>
              </a:lnSpc>
            </a:pPr>
            <a:r>
              <a:rPr lang="en-GB" sz="3200" dirty="0"/>
              <a:t>to gain </a:t>
            </a:r>
            <a:r>
              <a:rPr lang="en-GB" sz="3200" b="1" dirty="0"/>
              <a:t>satisfaction</a:t>
            </a:r>
            <a:r>
              <a:rPr lang="en-GB" sz="3200" dirty="0"/>
              <a:t> from that consumption</a:t>
            </a:r>
            <a:endParaRPr lang="en-GB" sz="3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611" y="1999391"/>
            <a:ext cx="4213668" cy="4003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37236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+mj-lt"/>
              </a:rPr>
              <a:t>Why do households sometimes spend more and sometimes less?</a:t>
            </a:r>
            <a:endParaRPr lang="zh-CN" altLang="en-US" sz="4000" dirty="0"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33" y="3976959"/>
            <a:ext cx="2168728" cy="24255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79" y="2161493"/>
            <a:ext cx="2686050" cy="2009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358" y="1906651"/>
            <a:ext cx="3428339" cy="242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6015" y="4001305"/>
            <a:ext cx="2481667" cy="25194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419"/>
            <a:ext cx="10515600" cy="1325563"/>
          </a:xfrm>
        </p:spPr>
        <p:txBody>
          <a:bodyPr>
            <a:noAutofit/>
          </a:bodyPr>
          <a:lstStyle/>
          <a:p>
            <a:r>
              <a:rPr lang="en-US" altLang="zh-CN" sz="4000" dirty="0">
                <a:latin typeface="+mj-lt"/>
              </a:rPr>
              <a:t>Factors that affect the level of consumers expenditure:</a:t>
            </a:r>
            <a:endParaRPr lang="en-US" altLang="zh-CN" sz="4000" dirty="0"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596" y="1953605"/>
            <a:ext cx="2168728" cy="24255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79" y="2161493"/>
            <a:ext cx="2686050" cy="20097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366" y="1953605"/>
            <a:ext cx="3428339" cy="24255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747" y="1906651"/>
            <a:ext cx="2481667" cy="2519459"/>
          </a:xfrm>
          <a:prstGeom prst="rect">
            <a:avLst/>
          </a:prstGeom>
        </p:spPr>
      </p:pic>
      <p:sp>
        <p:nvSpPr>
          <p:cNvPr id="13" name="标题 1"/>
          <p:cNvSpPr txBox="1"/>
          <p:nvPr/>
        </p:nvSpPr>
        <p:spPr>
          <a:xfrm>
            <a:off x="337228" y="4641794"/>
            <a:ext cx="2887089" cy="14064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real disposable income</a:t>
            </a:r>
            <a:endParaRPr lang="zh-CN" altLang="en-US" sz="3600" dirty="0">
              <a:latin typeface="+mj-lt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387488" y="6168758"/>
            <a:ext cx="2887089" cy="5878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pPr algn="l"/>
            <a:r>
              <a:rPr lang="zh-CN" altLang="en-US" sz="2800" b="0" dirty="0">
                <a:solidFill>
                  <a:schemeClr val="bg1">
                    <a:lumMod val="50000"/>
                  </a:schemeClr>
                </a:solidFill>
                <a:latin typeface="+mj-lt"/>
                <a:cs typeface="Calibri" panose="020F0502020204030204" charset="0"/>
              </a:rPr>
              <a:t>实际可支配收入</a:t>
            </a:r>
            <a:endParaRPr lang="zh-CN" altLang="en-US" sz="6000" b="0" dirty="0">
              <a:solidFill>
                <a:schemeClr val="bg1">
                  <a:lumMod val="50000"/>
                </a:schemeClr>
              </a:solidFill>
              <a:latin typeface="+mj-lt"/>
              <a:cs typeface="Calibri" panose="020F0502020204030204" charset="0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3044415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wealth</a:t>
            </a:r>
            <a:r>
              <a:rPr lang="en-US" altLang="zh-CN" sz="3600" b="0" dirty="0">
                <a:latin typeface="+mj-lt"/>
              </a:rPr>
              <a:t> </a:t>
            </a:r>
            <a:r>
              <a:rPr lang="zh-CN" altLang="en-US" sz="3600" b="0" dirty="0">
                <a:latin typeface="+mj-lt"/>
              </a:rPr>
              <a:t>财富</a:t>
            </a:r>
            <a:endParaRPr lang="en-US" altLang="zh-CN" sz="3600" b="0" dirty="0">
              <a:latin typeface="+mj-lt"/>
            </a:endParaRPr>
          </a:p>
          <a:p>
            <a:r>
              <a:rPr lang="en-US" altLang="zh-CN" sz="2800" b="0" dirty="0">
                <a:latin typeface="+mj-lt"/>
              </a:rPr>
              <a:t>(cash, savings, stocks, houses ...)</a:t>
            </a:r>
            <a:endParaRPr lang="zh-CN" altLang="en-US" sz="2800" b="0" dirty="0">
              <a:latin typeface="+mj-lt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6008990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US" altLang="zh-CN" sz="3600" dirty="0">
                <a:latin typeface="+mj-lt"/>
              </a:rPr>
              <a:t>consumer confidence</a:t>
            </a:r>
            <a:endParaRPr lang="en-US" altLang="zh-CN" sz="3600" dirty="0">
              <a:latin typeface="+mj-lt"/>
            </a:endParaRPr>
          </a:p>
          <a:p>
            <a:r>
              <a:rPr lang="zh-CN" altLang="en-US" sz="2800" b="0" dirty="0">
                <a:latin typeface="+mj-lt"/>
              </a:rPr>
              <a:t>消费者信心 </a:t>
            </a:r>
            <a:endParaRPr lang="zh-CN" altLang="en-US" sz="2800" b="0" dirty="0">
              <a:latin typeface="+mj-lt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9166705" y="4641794"/>
            <a:ext cx="2887089" cy="15447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en-GB" altLang="zh-CN" sz="3600" dirty="0">
                <a:latin typeface="+mj-lt"/>
              </a:rPr>
              <a:t>interest rate</a:t>
            </a:r>
            <a:endParaRPr lang="zh-CN" altLang="en-US" sz="2800" b="0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1" grpId="0"/>
      <p:bldP spid="16" grpId="0"/>
    </p:bldLst>
  </p:timing>
</p:sld>
</file>

<file path=ppt/tags/tag1.xml><?xml version="1.0" encoding="utf-8"?>
<p:tagLst xmlns:p="http://schemas.openxmlformats.org/presentationml/2006/main">
  <p:tag name="KSO_WPP_MARK_KEY" val="e7652f66-e9a7-43f3-befd-636fbc950a1c"/>
  <p:tag name="COMMONDATA" val="eyJoZGlkIjoiYTE5ZTRjYWQ3MTU3NmViNTlhNDk3OGM5NjQ2MWEzMG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Calibri"/>
        <a:ea typeface="等线 Light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3555</Words>
  <Application>WPS 演示</Application>
  <PresentationFormat>宽屏</PresentationFormat>
  <Paragraphs>117</Paragraphs>
  <Slides>24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宋体</vt:lpstr>
      <vt:lpstr>Wingdings</vt:lpstr>
      <vt:lpstr>Calibri</vt:lpstr>
      <vt:lpstr>Cambria Math</vt:lpstr>
      <vt:lpstr>微软雅黑</vt:lpstr>
      <vt:lpstr>Arial Unicode MS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Explain the motives for saving. Why do people save money?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How do the spending, saving and borrowing patterns of young workers differ from older workers?</vt:lpstr>
      <vt:lpstr>How do the spending, saving and borrowing patterns of young workers differ from older workers?</vt:lpstr>
      <vt:lpstr>How do the spending, saving and borrowing patterns of young workers differ from older workers?</vt:lpstr>
      <vt:lpstr>How do the spending, saving and borrowing patterns of young workers differ from older workers?</vt:lpstr>
      <vt:lpstr>How do the spending, saving and borrowing patterns of young workers differ from older workers?</vt:lpstr>
      <vt:lpstr>In which country do people save most money? Why?</vt:lpstr>
      <vt:lpstr>PowerPoint 演示文稿</vt:lpstr>
      <vt:lpstr>Why do people spend money? Why do people save money?</vt:lpstr>
      <vt:lpstr>1. Identify two motives for consumer spending. [2] Why do people spend money?</vt:lpstr>
      <vt:lpstr>1. Identify two motives for consumer spending. [2] Why do people spend money?</vt:lpstr>
      <vt:lpstr>Why do households sometimes spend more and sometimes less?</vt:lpstr>
      <vt:lpstr>Factors that affect the level of consumers expenditure: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... Economics?</dc:title>
  <dc:creator>OEHLER Samuel</dc:creator>
  <cp:lastModifiedBy>Samuel</cp:lastModifiedBy>
  <cp:revision>146</cp:revision>
  <dcterms:created xsi:type="dcterms:W3CDTF">2018-09-02T02:50:00Z</dcterms:created>
  <dcterms:modified xsi:type="dcterms:W3CDTF">2023-06-07T00:42:59Z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44E87343BC334F3DA83E8534AABFAE49_12</vt:lpwstr>
  </property>
  <property fmtid="{D5CDD505-2E9C-101B-9397-08002B2CF9AE}" pid="3" name="KSOProductBuildVer">
    <vt:lpwstr>2052-11.1.0.14309</vt:lpwstr>
  </property>
</Properties>
</file>