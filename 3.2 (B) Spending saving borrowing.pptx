
<file path=[Content_Types].xml><?xml version="1.0" encoding="utf-8"?>
<Types xmlns="http://schemas.openxmlformats.org/package/2006/content-types">
  <Default Extension="bin" ContentType="image/unknown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256" r:id="rId2"/>
    <p:sldId id="2257" r:id="rId3"/>
    <p:sldId id="3032" r:id="rId4"/>
    <p:sldId id="3030" r:id="rId5"/>
    <p:sldId id="3028" r:id="rId6"/>
    <p:sldId id="3097" r:id="rId7"/>
    <p:sldId id="3033" r:id="rId8"/>
    <p:sldId id="3025" r:id="rId9"/>
    <p:sldId id="3031" r:id="rId10"/>
    <p:sldId id="3026" r:id="rId11"/>
    <p:sldId id="3021" r:id="rId12"/>
    <p:sldId id="2246" r:id="rId13"/>
    <p:sldId id="2259" r:id="rId14"/>
    <p:sldId id="3022" r:id="rId15"/>
    <p:sldId id="1538" r:id="rId16"/>
    <p:sldId id="2258" r:id="rId17"/>
    <p:sldId id="921" r:id="rId18"/>
    <p:sldId id="908" r:id="rId19"/>
    <p:sldId id="1545" r:id="rId20"/>
    <p:sldId id="3023" r:id="rId21"/>
    <p:sldId id="2261" r:id="rId22"/>
    <p:sldId id="2263" r:id="rId23"/>
    <p:sldId id="2264" r:id="rId24"/>
    <p:sldId id="2265" r:id="rId25"/>
    <p:sldId id="2266" r:id="rId26"/>
    <p:sldId id="2267" r:id="rId27"/>
    <p:sldId id="2268" r:id="rId28"/>
    <p:sldId id="2269" r:id="rId29"/>
    <p:sldId id="2262" r:id="rId30"/>
    <p:sldId id="3005" r:id="rId31"/>
    <p:sldId id="3007" r:id="rId32"/>
    <p:sldId id="2999" r:id="rId33"/>
    <p:sldId id="3008" r:id="rId34"/>
    <p:sldId id="3011" r:id="rId35"/>
    <p:sldId id="3006" r:id="rId36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1014"/>
    <a:srgbClr val="35415C"/>
    <a:srgbClr val="6187CD"/>
    <a:srgbClr val="F97E2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62" autoAdjust="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D1753-1A15-432B-B6DE-00305C40E390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F7238D-B5C0-4567-BF94-FB7509AB61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F7238D-B5C0-4567-BF94-FB7509AB61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F7238D-B5C0-4567-BF94-FB7509AB61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C88FB-2B32-4F74-B693-376C62635C8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DFC20-EC4E-4AB8-8D6B-9076726FEC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7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标题 1"/>
          <p:cNvSpPr txBox="1"/>
          <p:nvPr/>
        </p:nvSpPr>
        <p:spPr>
          <a:xfrm>
            <a:off x="143008" y="163275"/>
            <a:ext cx="9207469" cy="95760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7A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4800" dirty="0">
                <a:solidFill>
                  <a:srgbClr val="F8046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Spending, Saving</a:t>
            </a:r>
            <a:r>
              <a:rPr lang="en-GB" altLang="zh-CN" sz="4800" dirty="0">
                <a:solidFill>
                  <a:srgbClr val="F8046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Borrowing</a:t>
            </a:r>
            <a:endParaRPr lang="zh-CN" altLang="en-US" sz="4800" b="0" dirty="0">
              <a:solidFill>
                <a:srgbClr val="F8046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8200" y="1254868"/>
            <a:ext cx="10515600" cy="5029199"/>
          </a:xfrm>
        </p:spPr>
        <p:txBody>
          <a:bodyPr>
            <a:normAutofit/>
          </a:bodyPr>
          <a:lstStyle/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people spend and save?</a:t>
            </a:r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some people spend or save more than others?</a:t>
            </a:r>
          </a:p>
          <a:p>
            <a:pPr marL="1177925" lvl="1" indent="-628650">
              <a:lnSpc>
                <a:spcPct val="100000"/>
              </a:lnSpc>
              <a:spcAft>
                <a:spcPts val="1200"/>
              </a:spcAft>
            </a:pPr>
            <a:r>
              <a:rPr lang="en-GB" altLang="zh-CN" sz="3600" dirty="0"/>
              <a:t>Disposable income</a:t>
            </a:r>
            <a:endParaRPr lang="en-GB" sz="3600" dirty="0"/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Exercise: </a:t>
            </a:r>
            <a:r>
              <a:rPr lang="en-US" altLang="zh-CN" sz="4000" dirty="0"/>
              <a:t>Factors that affect consumer expenditure and saving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55724" y="1171008"/>
            <a:ext cx="11480551" cy="859877"/>
            <a:chOff x="461817" y="1650134"/>
            <a:chExt cx="9365673" cy="732848"/>
          </a:xfrm>
        </p:grpSpPr>
        <p:sp>
          <p:nvSpPr>
            <p:cNvPr id="4" name="矩形 3"/>
            <p:cNvSpPr/>
            <p:nvPr/>
          </p:nvSpPr>
          <p:spPr>
            <a:xfrm>
              <a:off x="461817" y="1650134"/>
              <a:ext cx="9365673" cy="73284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等腰三角形 6"/>
            <p:cNvSpPr/>
            <p:nvPr/>
          </p:nvSpPr>
          <p:spPr>
            <a:xfrm rot="5400000">
              <a:off x="294879" y="1937365"/>
              <a:ext cx="598774" cy="178449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31975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</a:rPr>
              <a:t>In which country do people save most money? Why?</a:t>
            </a:r>
            <a:endParaRPr lang="en-GB" sz="6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" t="1068" r="1087" b="4169"/>
          <a:stretch>
            <a:fillRect/>
          </a:stretch>
        </p:blipFill>
        <p:spPr>
          <a:xfrm>
            <a:off x="-2753360" y="20320"/>
            <a:ext cx="14945360" cy="685799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00200" y="495300"/>
            <a:ext cx="54864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457" y="169755"/>
            <a:ext cx="7157085" cy="6518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87" y="0"/>
            <a:ext cx="1096482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1. Identify two motives for consumer spending. [2]</a:t>
            </a:r>
            <a:br>
              <a:rPr lang="en-GB" dirty="0"/>
            </a:br>
            <a:r>
              <a:rPr lang="en-GB" b="1" dirty="0"/>
              <a:t>Why do people spend money?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6" b="7738"/>
          <a:stretch>
            <a:fillRect/>
          </a:stretch>
        </p:blipFill>
        <p:spPr>
          <a:xfrm>
            <a:off x="1219200" y="1475885"/>
            <a:ext cx="10020300" cy="5267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1. </a:t>
            </a:r>
            <a:r>
              <a:rPr lang="en-GB" b="1" dirty="0"/>
              <a:t>Why do consumers spend money?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404370"/>
            <a:ext cx="6692900" cy="31938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200" dirty="0"/>
              <a:t>to satisfy </a:t>
            </a:r>
            <a:r>
              <a:rPr lang="en-GB" sz="3200" b="1" dirty="0"/>
              <a:t>needs</a:t>
            </a:r>
            <a:r>
              <a:rPr lang="en-GB" sz="3200" dirty="0"/>
              <a:t> (</a:t>
            </a:r>
            <a:r>
              <a:rPr lang="en-GB" sz="3200" dirty="0" err="1"/>
              <a:t>e.g</a:t>
            </a:r>
            <a:r>
              <a:rPr lang="en-GB" sz="3200" dirty="0"/>
              <a:t> food, shelter)</a:t>
            </a:r>
          </a:p>
          <a:p>
            <a:pPr>
              <a:lnSpc>
                <a:spcPct val="100000"/>
              </a:lnSpc>
            </a:pPr>
            <a:r>
              <a:rPr lang="en-GB" sz="3200" dirty="0"/>
              <a:t>to satisfy </a:t>
            </a:r>
            <a:r>
              <a:rPr lang="en-GB" sz="3200" b="1" dirty="0"/>
              <a:t>wants</a:t>
            </a:r>
            <a:r>
              <a:rPr lang="en-GB" sz="3200" dirty="0"/>
              <a:t> (e.g. luxury goods)</a:t>
            </a:r>
          </a:p>
          <a:p>
            <a:pPr>
              <a:lnSpc>
                <a:spcPct val="100000"/>
              </a:lnSpc>
            </a:pPr>
            <a:r>
              <a:rPr lang="en-GB" sz="3200" dirty="0"/>
              <a:t>fear of </a:t>
            </a:r>
            <a:r>
              <a:rPr lang="en-GB" sz="3200" b="1" dirty="0"/>
              <a:t>future price rises</a:t>
            </a:r>
          </a:p>
          <a:p>
            <a:pPr>
              <a:lnSpc>
                <a:spcPct val="100000"/>
              </a:lnSpc>
            </a:pPr>
            <a:r>
              <a:rPr lang="en-GB" sz="3200" dirty="0"/>
              <a:t>to gain </a:t>
            </a:r>
            <a:r>
              <a:rPr lang="en-GB" sz="3200" b="1" dirty="0"/>
              <a:t>satisfaction</a:t>
            </a:r>
            <a:r>
              <a:rPr lang="en-GB" sz="3200" dirty="0"/>
              <a:t> from that consumption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611" y="1999391"/>
            <a:ext cx="4213668" cy="4003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615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2. </a:t>
            </a:r>
            <a:r>
              <a:rPr lang="en-GB" b="1" dirty="0"/>
              <a:t>Why do households save money?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045" y="2543969"/>
            <a:ext cx="4514850" cy="2914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2404370"/>
            <a:ext cx="6126804" cy="38468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200" dirty="0"/>
              <a:t>to gain interest (return on saving)</a:t>
            </a:r>
          </a:p>
          <a:p>
            <a:pPr>
              <a:lnSpc>
                <a:spcPct val="100000"/>
              </a:lnSpc>
            </a:pPr>
            <a:r>
              <a:rPr lang="en-GB" sz="3200" dirty="0"/>
              <a:t>for the future (e.g. for unexpected events, save for pensions)</a:t>
            </a:r>
          </a:p>
          <a:p>
            <a:pPr>
              <a:lnSpc>
                <a:spcPct val="100000"/>
              </a:lnSpc>
            </a:pPr>
            <a:r>
              <a:rPr lang="en-GB" sz="3200" dirty="0"/>
              <a:t>to purchase expensive items (e.g. cars, houses, furniture)</a:t>
            </a:r>
          </a:p>
          <a:p>
            <a:pPr>
              <a:lnSpc>
                <a:spcPct val="100000"/>
              </a:lnSpc>
            </a:pPr>
            <a:r>
              <a:rPr lang="en-GB" sz="3200" dirty="0"/>
              <a:t>for children’s education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8200" y="1254868"/>
            <a:ext cx="10515600" cy="5029199"/>
          </a:xfrm>
        </p:spPr>
        <p:txBody>
          <a:bodyPr>
            <a:normAutofit/>
          </a:bodyPr>
          <a:lstStyle/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people spend and save?</a:t>
            </a:r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some people spend or save more than others?</a:t>
            </a:r>
          </a:p>
          <a:p>
            <a:pPr marL="1177925" lvl="1" indent="-628650">
              <a:lnSpc>
                <a:spcPct val="100000"/>
              </a:lnSpc>
              <a:spcAft>
                <a:spcPts val="1200"/>
              </a:spcAft>
            </a:pPr>
            <a:r>
              <a:rPr lang="en-GB" altLang="zh-CN" sz="3600" dirty="0"/>
              <a:t>Disposable income</a:t>
            </a:r>
            <a:endParaRPr lang="en-GB" sz="3600" dirty="0"/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Exercise: </a:t>
            </a:r>
            <a:r>
              <a:rPr lang="en-US" altLang="zh-CN" sz="4000" dirty="0"/>
              <a:t>Factors that affect consumer expenditure and saving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55724" y="2104865"/>
            <a:ext cx="11480551" cy="1372775"/>
            <a:chOff x="461817" y="1650134"/>
            <a:chExt cx="9365673" cy="732848"/>
          </a:xfrm>
        </p:grpSpPr>
        <p:sp>
          <p:nvSpPr>
            <p:cNvPr id="4" name="矩形 3"/>
            <p:cNvSpPr/>
            <p:nvPr/>
          </p:nvSpPr>
          <p:spPr>
            <a:xfrm>
              <a:off x="461817" y="1650134"/>
              <a:ext cx="9365673" cy="73284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等腰三角形 6"/>
            <p:cNvSpPr/>
            <p:nvPr/>
          </p:nvSpPr>
          <p:spPr>
            <a:xfrm rot="5400000">
              <a:off x="294879" y="1937365"/>
              <a:ext cx="598774" cy="178449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37236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+mj-lt"/>
              </a:rPr>
              <a:t>Why do households sometimes spend more and sometimes less?</a:t>
            </a:r>
            <a:endParaRPr lang="zh-CN" altLang="en-US" sz="4000" dirty="0">
              <a:latin typeface="+mj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33" y="3976959"/>
            <a:ext cx="2168728" cy="24255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79" y="2161493"/>
            <a:ext cx="2686050" cy="20097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358" y="1906651"/>
            <a:ext cx="3428339" cy="2425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015" y="4001305"/>
            <a:ext cx="2481667" cy="251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419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+mj-lt"/>
              </a:rPr>
              <a:t>Factors that affect the level of consumers expenditure: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596" y="1953605"/>
            <a:ext cx="2168728" cy="24255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79" y="2161493"/>
            <a:ext cx="2686050" cy="20097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366" y="1953605"/>
            <a:ext cx="3428339" cy="2425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747" y="1906651"/>
            <a:ext cx="2481667" cy="2519459"/>
          </a:xfrm>
          <a:prstGeom prst="rect">
            <a:avLst/>
          </a:prstGeom>
        </p:spPr>
      </p:pic>
      <p:sp>
        <p:nvSpPr>
          <p:cNvPr id="13" name="标题 1"/>
          <p:cNvSpPr txBox="1"/>
          <p:nvPr/>
        </p:nvSpPr>
        <p:spPr>
          <a:xfrm>
            <a:off x="337228" y="4641794"/>
            <a:ext cx="2887089" cy="14064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3600" dirty="0">
                <a:latin typeface="+mj-lt"/>
              </a:rPr>
              <a:t>real disposable income</a:t>
            </a:r>
            <a:endParaRPr lang="zh-CN" altLang="en-US" sz="3600" dirty="0">
              <a:latin typeface="+mj-lt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387488" y="6168758"/>
            <a:ext cx="2887089" cy="5878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algn="l"/>
            <a:r>
              <a:rPr lang="zh-CN" altLang="en-US" sz="2800" b="0" dirty="0">
                <a:solidFill>
                  <a:schemeClr val="bg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实际可支配收入</a:t>
            </a:r>
            <a:endParaRPr lang="zh-CN" altLang="en-US" sz="6000" b="0" dirty="0">
              <a:solidFill>
                <a:schemeClr val="bg1">
                  <a:lumMod val="50000"/>
                </a:schemeClr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3044415" y="4641794"/>
            <a:ext cx="2887089" cy="15447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3600" dirty="0">
                <a:latin typeface="+mj-lt"/>
              </a:rPr>
              <a:t>wealth</a:t>
            </a:r>
            <a:r>
              <a:rPr lang="en-US" altLang="zh-CN" sz="3600" b="0" dirty="0">
                <a:latin typeface="+mj-lt"/>
              </a:rPr>
              <a:t> </a:t>
            </a:r>
            <a:r>
              <a:rPr lang="zh-CN" altLang="en-US" sz="3600" b="0" dirty="0">
                <a:latin typeface="+mj-lt"/>
              </a:rPr>
              <a:t>财富</a:t>
            </a:r>
            <a:endParaRPr lang="en-US" altLang="zh-CN" sz="3600" b="0" dirty="0">
              <a:latin typeface="+mj-lt"/>
            </a:endParaRPr>
          </a:p>
          <a:p>
            <a:r>
              <a:rPr lang="en-US" altLang="zh-CN" sz="2800" b="0" dirty="0">
                <a:latin typeface="+mj-lt"/>
              </a:rPr>
              <a:t>(cash, savings, stocks, houses ...)</a:t>
            </a:r>
            <a:endParaRPr lang="zh-CN" altLang="en-US" sz="2800" b="0" dirty="0">
              <a:latin typeface="+mj-lt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008990" y="4641794"/>
            <a:ext cx="2887089" cy="15447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3600" dirty="0">
                <a:latin typeface="+mj-lt"/>
              </a:rPr>
              <a:t>consumer confidence</a:t>
            </a:r>
          </a:p>
          <a:p>
            <a:r>
              <a:rPr lang="zh-CN" altLang="en-US" sz="2800" b="0" dirty="0">
                <a:latin typeface="+mj-lt"/>
              </a:rPr>
              <a:t>消费者信心 </a:t>
            </a:r>
          </a:p>
        </p:txBody>
      </p:sp>
      <p:sp>
        <p:nvSpPr>
          <p:cNvPr id="16" name="标题 1"/>
          <p:cNvSpPr txBox="1"/>
          <p:nvPr/>
        </p:nvSpPr>
        <p:spPr>
          <a:xfrm>
            <a:off x="9166705" y="4641794"/>
            <a:ext cx="2887089" cy="15447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GB" altLang="zh-CN" sz="3600" dirty="0">
                <a:latin typeface="+mj-lt"/>
              </a:rPr>
              <a:t>interest rate</a:t>
            </a:r>
            <a:endParaRPr lang="zh-CN" altLang="en-US" sz="2800" b="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1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8200" y="1254868"/>
            <a:ext cx="10515600" cy="5029199"/>
          </a:xfrm>
        </p:spPr>
        <p:txBody>
          <a:bodyPr>
            <a:normAutofit/>
          </a:bodyPr>
          <a:lstStyle/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people spend and save?</a:t>
            </a:r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some people spend or save more than others?</a:t>
            </a:r>
          </a:p>
          <a:p>
            <a:pPr marL="1177925" lvl="1" indent="-628650">
              <a:lnSpc>
                <a:spcPct val="100000"/>
              </a:lnSpc>
              <a:spcAft>
                <a:spcPts val="1200"/>
              </a:spcAft>
            </a:pPr>
            <a:r>
              <a:rPr lang="en-GB" altLang="zh-CN" sz="3600" dirty="0"/>
              <a:t>Disposable income</a:t>
            </a:r>
            <a:endParaRPr lang="en-GB" sz="3600" dirty="0"/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Exercise: </a:t>
            </a:r>
            <a:r>
              <a:rPr lang="en-US" altLang="zh-CN" sz="4000" dirty="0"/>
              <a:t>Factors that affect consumer expenditure and saving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55724" y="3501956"/>
            <a:ext cx="11480551" cy="821990"/>
            <a:chOff x="461817" y="1650134"/>
            <a:chExt cx="9365673" cy="732848"/>
          </a:xfrm>
        </p:grpSpPr>
        <p:sp>
          <p:nvSpPr>
            <p:cNvPr id="4" name="矩形 3"/>
            <p:cNvSpPr/>
            <p:nvPr/>
          </p:nvSpPr>
          <p:spPr>
            <a:xfrm>
              <a:off x="461817" y="1650134"/>
              <a:ext cx="9365673" cy="73284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等腰三角形 6"/>
            <p:cNvSpPr/>
            <p:nvPr/>
          </p:nvSpPr>
          <p:spPr>
            <a:xfrm rot="5400000">
              <a:off x="294879" y="1937365"/>
              <a:ext cx="598774" cy="178449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35781"/>
            <a:ext cx="10515600" cy="5786438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Households usually can’t spend </a:t>
            </a:r>
            <a:br>
              <a:rPr lang="en-US" altLang="zh-CN" sz="5400" dirty="0"/>
            </a:br>
            <a:r>
              <a:rPr lang="en-US" altLang="zh-CN" sz="5400" u="sng" dirty="0"/>
              <a:t>all</a:t>
            </a:r>
            <a:r>
              <a:rPr lang="en-US" altLang="zh-CN" sz="5400" dirty="0"/>
              <a:t> of their income.</a:t>
            </a:r>
            <a:br>
              <a:rPr lang="en-US" altLang="zh-CN" sz="5400" dirty="0"/>
            </a:br>
            <a:br>
              <a:rPr lang="en-US" altLang="zh-CN" sz="5400" dirty="0"/>
            </a:br>
            <a:br>
              <a:rPr lang="en-US" altLang="zh-CN" sz="5400" dirty="0"/>
            </a:br>
            <a:br>
              <a:rPr lang="en-US" altLang="zh-CN" sz="5400" dirty="0"/>
            </a:br>
            <a:br>
              <a:rPr lang="en-US" altLang="zh-CN" sz="5400" dirty="0"/>
            </a:br>
            <a:r>
              <a:rPr lang="en-US" altLang="zh-CN" sz="5400" dirty="0"/>
              <a:t>Why not?</a:t>
            </a:r>
            <a:endParaRPr lang="zh-CN" altLang="en-US" sz="5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947" y="2204512"/>
            <a:ext cx="3506105" cy="303278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右 3"/>
          <p:cNvSpPr/>
          <p:nvPr/>
        </p:nvSpPr>
        <p:spPr>
          <a:xfrm>
            <a:off x="681135" y="2195925"/>
            <a:ext cx="3191069" cy="2466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92" y="2725202"/>
            <a:ext cx="2887089" cy="2497332"/>
          </a:xfrm>
          <a:prstGeom prst="rect">
            <a:avLst/>
          </a:prstGeom>
        </p:spPr>
      </p:pic>
      <p:sp>
        <p:nvSpPr>
          <p:cNvPr id="7" name="箭头: 右 6"/>
          <p:cNvSpPr/>
          <p:nvPr/>
        </p:nvSpPr>
        <p:spPr>
          <a:xfrm>
            <a:off x="4138906" y="2876550"/>
            <a:ext cx="2366670" cy="17855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48174" y="694935"/>
            <a:ext cx="3456992" cy="181942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/>
              <a:t>income = wages</a:t>
            </a:r>
            <a:br>
              <a:rPr lang="en-US" altLang="zh-CN" sz="3600" dirty="0"/>
            </a:br>
            <a:r>
              <a:rPr lang="en-US" altLang="zh-CN" sz="3600" dirty="0"/>
              <a:t>+ dividends </a:t>
            </a:r>
            <a:r>
              <a:rPr lang="zh-CN" altLang="en-US" sz="3600" dirty="0"/>
              <a:t>股息</a:t>
            </a:r>
            <a:br>
              <a:rPr lang="zh-CN" altLang="en-US" sz="3600" dirty="0"/>
            </a:br>
            <a:r>
              <a:rPr lang="en-US" altLang="zh-CN" sz="3600" dirty="0"/>
              <a:t>+ interest </a:t>
            </a:r>
            <a:r>
              <a:rPr lang="zh-CN" altLang="en-US" sz="3600" dirty="0"/>
              <a:t>利息</a:t>
            </a:r>
            <a:br>
              <a:rPr lang="zh-CN" altLang="en-US" sz="3600" dirty="0"/>
            </a:br>
            <a:r>
              <a:rPr lang="en-US" altLang="zh-CN" sz="3600" dirty="0"/>
              <a:t>etc.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9" name="标题 1"/>
          <p:cNvSpPr txBox="1"/>
          <p:nvPr/>
        </p:nvSpPr>
        <p:spPr>
          <a:xfrm>
            <a:off x="4053572" y="883380"/>
            <a:ext cx="3456992" cy="1228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algn="l"/>
            <a:r>
              <a:rPr lang="en-US" altLang="zh-CN" sz="3600" dirty="0"/>
              <a:t>disposable income</a:t>
            </a:r>
            <a:endParaRPr lang="zh-CN" altLang="en-US" sz="3600" dirty="0"/>
          </a:p>
        </p:txBody>
      </p:sp>
      <p:sp>
        <p:nvSpPr>
          <p:cNvPr id="10" name="箭头: 右 9"/>
          <p:cNvSpPr/>
          <p:nvPr/>
        </p:nvSpPr>
        <p:spPr>
          <a:xfrm rot="5400000">
            <a:off x="2848287" y="4829291"/>
            <a:ext cx="1701013" cy="966532"/>
          </a:xfrm>
          <a:prstGeom prst="rightArrow">
            <a:avLst>
              <a:gd name="adj1" fmla="val 37042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03833" y="4699840"/>
            <a:ext cx="3191069" cy="2092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GB" altLang="zh-CN" sz="3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income taxes</a:t>
            </a:r>
            <a:r>
              <a:rPr lang="en-GB" altLang="zh-CN" sz="3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altLang="zh-CN" sz="3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CN" altLang="en-US" sz="3000" b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所得税</a:t>
            </a:r>
            <a:endParaRPr lang="en-US" altLang="zh-CN" sz="3600" b="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altLang="zh-CN" sz="3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other deductions </a:t>
            </a:r>
            <a:r>
              <a:rPr lang="zh-CN" altLang="en-US" sz="3000" b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扣除</a:t>
            </a:r>
            <a:endParaRPr lang="en-GB" altLang="zh-CN" sz="3600" b="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箭头: 右 11"/>
          <p:cNvSpPr/>
          <p:nvPr/>
        </p:nvSpPr>
        <p:spPr>
          <a:xfrm rot="5400000">
            <a:off x="5702464" y="4891027"/>
            <a:ext cx="1701013" cy="966532"/>
          </a:xfrm>
          <a:prstGeom prst="rightArrow">
            <a:avLst>
              <a:gd name="adj1" fmla="val 37042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531508" y="4957265"/>
            <a:ext cx="2688378" cy="828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3600" dirty="0"/>
              <a:t>inflation</a:t>
            </a:r>
            <a:endParaRPr lang="zh-CN" altLang="en-US" sz="3600" dirty="0"/>
          </a:p>
        </p:txBody>
      </p:sp>
      <p:sp>
        <p:nvSpPr>
          <p:cNvPr id="14" name="箭头: 右 13"/>
          <p:cNvSpPr/>
          <p:nvPr/>
        </p:nvSpPr>
        <p:spPr>
          <a:xfrm>
            <a:off x="7105880" y="3288077"/>
            <a:ext cx="1818001" cy="1371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036237" y="928662"/>
            <a:ext cx="3456992" cy="1153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algn="l"/>
            <a:r>
              <a:rPr lang="en-US" altLang="zh-CN" sz="3600" dirty="0"/>
              <a:t>real disposable income</a:t>
            </a:r>
            <a:endParaRPr lang="zh-CN" altLang="en-US" sz="3600" dirty="0"/>
          </a:p>
        </p:txBody>
      </p:sp>
      <p:sp>
        <p:nvSpPr>
          <p:cNvPr id="17" name="标题 1"/>
          <p:cNvSpPr txBox="1"/>
          <p:nvPr/>
        </p:nvSpPr>
        <p:spPr>
          <a:xfrm>
            <a:off x="6983214" y="5626900"/>
            <a:ext cx="2251473" cy="587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通货膨胀</a:t>
            </a:r>
            <a:endParaRPr lang="zh-CN" altLang="en-US" sz="6600" b="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4053572" y="2071919"/>
            <a:ext cx="2578403" cy="587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algn="l"/>
            <a:r>
              <a:rPr lang="zh-CN" altLang="en-US" sz="2800" b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可支配收入</a:t>
            </a:r>
            <a:endParaRPr lang="zh-CN" altLang="en-US" sz="6000" b="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7105880" y="2010538"/>
            <a:ext cx="2887089" cy="587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algn="l"/>
            <a:r>
              <a:rPr lang="zh-CN" altLang="en-US" sz="2800" b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实际可支配收入</a:t>
            </a:r>
            <a:endParaRPr lang="zh-CN" altLang="en-US" sz="6000" b="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84793"/>
            <a:ext cx="10515600" cy="2284766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How much disposable income do people have per month?</a:t>
            </a:r>
            <a:endParaRPr lang="en-GB" sz="6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3930" t="35437" b="10412"/>
          <a:stretch>
            <a:fillRect/>
          </a:stretch>
        </p:blipFill>
        <p:spPr>
          <a:xfrm>
            <a:off x="-1" y="3942411"/>
            <a:ext cx="6477637" cy="16347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b="15633"/>
          <a:stretch>
            <a:fillRect/>
          </a:stretch>
        </p:blipFill>
        <p:spPr>
          <a:xfrm>
            <a:off x="6477637" y="3942411"/>
            <a:ext cx="5714363" cy="1634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0004" y="96876"/>
            <a:ext cx="8374506" cy="374952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0004" y="3846397"/>
            <a:ext cx="8374506" cy="2839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39" y="0"/>
            <a:ext cx="99933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8200" y="1254868"/>
            <a:ext cx="10515600" cy="5029199"/>
          </a:xfrm>
        </p:spPr>
        <p:txBody>
          <a:bodyPr>
            <a:normAutofit/>
          </a:bodyPr>
          <a:lstStyle/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people spend and save?</a:t>
            </a:r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altLang="zh-CN" sz="4000" dirty="0"/>
              <a:t>Why do some people spend or save more than others?</a:t>
            </a:r>
          </a:p>
          <a:p>
            <a:pPr marL="1177925" lvl="1" indent="-628650">
              <a:lnSpc>
                <a:spcPct val="100000"/>
              </a:lnSpc>
              <a:spcAft>
                <a:spcPts val="1200"/>
              </a:spcAft>
            </a:pPr>
            <a:r>
              <a:rPr lang="en-GB" altLang="zh-CN" sz="3600" dirty="0"/>
              <a:t>Disposable income</a:t>
            </a:r>
            <a:endParaRPr lang="en-GB" sz="3600" dirty="0"/>
          </a:p>
          <a:p>
            <a:pPr marL="720725" indent="-6286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Exercise: </a:t>
            </a:r>
            <a:r>
              <a:rPr lang="en-US" altLang="zh-CN" sz="4000" dirty="0"/>
              <a:t>Factors that affect consumer expenditure and saving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55724" y="4309350"/>
            <a:ext cx="11480551" cy="1595338"/>
            <a:chOff x="461817" y="1650134"/>
            <a:chExt cx="9365673" cy="732848"/>
          </a:xfrm>
        </p:grpSpPr>
        <p:sp>
          <p:nvSpPr>
            <p:cNvPr id="4" name="矩形 3"/>
            <p:cNvSpPr/>
            <p:nvPr/>
          </p:nvSpPr>
          <p:spPr>
            <a:xfrm>
              <a:off x="461817" y="1650134"/>
              <a:ext cx="9365673" cy="73284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等腰三角形 6"/>
            <p:cNvSpPr/>
            <p:nvPr/>
          </p:nvSpPr>
          <p:spPr>
            <a:xfrm rot="5400000">
              <a:off x="294879" y="1937365"/>
              <a:ext cx="598774" cy="178449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2237"/>
            <a:ext cx="10515600" cy="1633164"/>
          </a:xfrm>
        </p:spPr>
        <p:txBody>
          <a:bodyPr>
            <a:noAutofit/>
          </a:bodyPr>
          <a:lstStyle/>
          <a:p>
            <a:r>
              <a:rPr lang="en-GB" sz="3600" dirty="0"/>
              <a:t>How do the following factors affect consumption and saving?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46636"/>
            <a:ext cx="7472680" cy="4037044"/>
          </a:xfrm>
        </p:spPr>
        <p:txBody>
          <a:bodyPr>
            <a:norm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A belief that the price of goods will rise in the future.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A fall in the interest rate paid by the country’s banks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A fear that income will fall in the future.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A rise in the individual’s wish to enjoy higher consumption immediately.</a:t>
            </a:r>
            <a:endParaRPr lang="en-GB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箭头: 上 3"/>
          <p:cNvSpPr/>
          <p:nvPr/>
        </p:nvSpPr>
        <p:spPr>
          <a:xfrm>
            <a:off x="8538133" y="2546633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箭头: 上 4"/>
          <p:cNvSpPr/>
          <p:nvPr/>
        </p:nvSpPr>
        <p:spPr>
          <a:xfrm flipV="1">
            <a:off x="10440232" y="2594103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箭头: 上 6"/>
          <p:cNvSpPr/>
          <p:nvPr/>
        </p:nvSpPr>
        <p:spPr>
          <a:xfrm>
            <a:off x="8538133" y="3583263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8" name="箭头: 上 7"/>
          <p:cNvSpPr/>
          <p:nvPr/>
        </p:nvSpPr>
        <p:spPr>
          <a:xfrm flipV="1">
            <a:off x="10440232" y="3630733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箭头: 上 8"/>
          <p:cNvSpPr/>
          <p:nvPr/>
        </p:nvSpPr>
        <p:spPr>
          <a:xfrm flipV="1">
            <a:off x="8538133" y="4603583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箭头: 上 9"/>
          <p:cNvSpPr/>
          <p:nvPr/>
        </p:nvSpPr>
        <p:spPr>
          <a:xfrm>
            <a:off x="10440232" y="4612625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1" name="箭头: 上 10"/>
          <p:cNvSpPr/>
          <p:nvPr/>
        </p:nvSpPr>
        <p:spPr>
          <a:xfrm>
            <a:off x="8538133" y="5642373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2" name="箭头: 上 11"/>
          <p:cNvSpPr/>
          <p:nvPr/>
        </p:nvSpPr>
        <p:spPr>
          <a:xfrm flipV="1">
            <a:off x="10440232" y="5692184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7567802" y="1860042"/>
            <a:ext cx="2498944" cy="5119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Consumption</a:t>
            </a:r>
          </a:p>
        </p:txBody>
      </p:sp>
      <p:sp>
        <p:nvSpPr>
          <p:cNvPr id="14" name="内容占位符 2"/>
          <p:cNvSpPr txBox="1"/>
          <p:nvPr/>
        </p:nvSpPr>
        <p:spPr>
          <a:xfrm>
            <a:off x="10066746" y="1815984"/>
            <a:ext cx="1564848" cy="647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Saving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折角 16"/>
          <p:cNvSpPr/>
          <p:nvPr/>
        </p:nvSpPr>
        <p:spPr>
          <a:xfrm>
            <a:off x="5824751" y="1451833"/>
            <a:ext cx="4782599" cy="3954333"/>
          </a:xfrm>
          <a:prstGeom prst="foldedCorner">
            <a:avLst>
              <a:gd name="adj" fmla="val 10558"/>
            </a:avLst>
          </a:prstGeom>
          <a:solidFill>
            <a:srgbClr val="FFF5D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649" y="253157"/>
            <a:ext cx="5257800" cy="1325563"/>
          </a:xfrm>
        </p:spPr>
        <p:txBody>
          <a:bodyPr/>
          <a:lstStyle/>
          <a:p>
            <a:r>
              <a:rPr lang="en-GB" dirty="0"/>
              <a:t>Real income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5249" y="1752567"/>
            <a:ext cx="2612571" cy="3352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Spending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Saving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Borrowing</a:t>
            </a:r>
          </a:p>
        </p:txBody>
      </p:sp>
      <p:sp>
        <p:nvSpPr>
          <p:cNvPr id="8" name="箭头: 上 7"/>
          <p:cNvSpPr/>
          <p:nvPr/>
        </p:nvSpPr>
        <p:spPr>
          <a:xfrm>
            <a:off x="838200" y="326571"/>
            <a:ext cx="746449" cy="9703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5314074"/>
            <a:ext cx="1695061" cy="98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Why?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9126895" y="1918738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1" name="箭头: 上 10"/>
          <p:cNvSpPr/>
          <p:nvPr/>
        </p:nvSpPr>
        <p:spPr>
          <a:xfrm>
            <a:off x="9126895" y="2989571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2" name="箭头: 上 11"/>
          <p:cNvSpPr/>
          <p:nvPr/>
        </p:nvSpPr>
        <p:spPr>
          <a:xfrm>
            <a:off x="9126895" y="3972396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19" y="2176405"/>
            <a:ext cx="3751110" cy="2488236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2617075" y="5604654"/>
            <a:ext cx="73693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Rising real incomes make people better off.</a:t>
            </a:r>
          </a:p>
        </p:txBody>
      </p:sp>
      <p:sp>
        <p:nvSpPr>
          <p:cNvPr id="4" name="箭头: 上 11">
            <a:extLst>
              <a:ext uri="{FF2B5EF4-FFF2-40B4-BE49-F238E27FC236}">
                <a16:creationId xmlns:a16="http://schemas.microsoft.com/office/drawing/2014/main" id="{0D0E0C96-386A-101D-342D-AA48F7264B9C}"/>
              </a:ext>
            </a:extLst>
          </p:cNvPr>
          <p:cNvSpPr/>
          <p:nvPr/>
        </p:nvSpPr>
        <p:spPr>
          <a:xfrm flipV="1">
            <a:off x="9701174" y="4003270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0" grpId="0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折角 16"/>
          <p:cNvSpPr/>
          <p:nvPr/>
        </p:nvSpPr>
        <p:spPr>
          <a:xfrm>
            <a:off x="5824752" y="1451833"/>
            <a:ext cx="4450702" cy="3954333"/>
          </a:xfrm>
          <a:prstGeom prst="foldedCorner">
            <a:avLst>
              <a:gd name="adj" fmla="val 10558"/>
            </a:avLst>
          </a:prstGeom>
          <a:solidFill>
            <a:srgbClr val="FFF5D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649" y="253157"/>
            <a:ext cx="5257800" cy="1325563"/>
          </a:xfrm>
        </p:spPr>
        <p:txBody>
          <a:bodyPr/>
          <a:lstStyle/>
          <a:p>
            <a:r>
              <a:rPr lang="en-GB" dirty="0"/>
              <a:t>Wealth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5249" y="1752567"/>
            <a:ext cx="2612571" cy="3352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Spending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Saving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Borrowing</a:t>
            </a:r>
          </a:p>
        </p:txBody>
      </p:sp>
      <p:sp>
        <p:nvSpPr>
          <p:cNvPr id="8" name="箭头: 上 7"/>
          <p:cNvSpPr/>
          <p:nvPr/>
        </p:nvSpPr>
        <p:spPr>
          <a:xfrm>
            <a:off x="838200" y="326571"/>
            <a:ext cx="746449" cy="9703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5314074"/>
            <a:ext cx="1695061" cy="98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Why?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9126895" y="1918738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2" name="箭头: 上 11"/>
          <p:cNvSpPr/>
          <p:nvPr/>
        </p:nvSpPr>
        <p:spPr>
          <a:xfrm>
            <a:off x="9126895" y="3972396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17075" y="5604654"/>
            <a:ext cx="921175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If people feel wealthy the more they can spend and borrow with confidence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12" y="1853704"/>
            <a:ext cx="3546706" cy="3185385"/>
          </a:xfrm>
          <a:prstGeom prst="rect">
            <a:avLst/>
          </a:prstGeom>
        </p:spPr>
      </p:pic>
      <p:sp>
        <p:nvSpPr>
          <p:cNvPr id="15" name="箭头: 上 14"/>
          <p:cNvSpPr/>
          <p:nvPr/>
        </p:nvSpPr>
        <p:spPr>
          <a:xfrm flipV="1">
            <a:off x="9126895" y="2978898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折角 16"/>
          <p:cNvSpPr/>
          <p:nvPr/>
        </p:nvSpPr>
        <p:spPr>
          <a:xfrm>
            <a:off x="5824752" y="1451833"/>
            <a:ext cx="4450702" cy="3954333"/>
          </a:xfrm>
          <a:prstGeom prst="foldedCorner">
            <a:avLst>
              <a:gd name="adj" fmla="val 10558"/>
            </a:avLst>
          </a:prstGeom>
          <a:solidFill>
            <a:srgbClr val="FFF5D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649" y="253157"/>
            <a:ext cx="5257800" cy="1325563"/>
          </a:xfrm>
        </p:spPr>
        <p:txBody>
          <a:bodyPr/>
          <a:lstStyle/>
          <a:p>
            <a:r>
              <a:rPr lang="en-GB" dirty="0"/>
              <a:t>Interest rates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5249" y="1752567"/>
            <a:ext cx="2612571" cy="3352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Spending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Saving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Borrowing</a:t>
            </a:r>
          </a:p>
        </p:txBody>
      </p:sp>
      <p:sp>
        <p:nvSpPr>
          <p:cNvPr id="8" name="箭头: 上 7"/>
          <p:cNvSpPr/>
          <p:nvPr/>
        </p:nvSpPr>
        <p:spPr>
          <a:xfrm>
            <a:off x="838200" y="326571"/>
            <a:ext cx="746449" cy="9703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5314074"/>
            <a:ext cx="1695061" cy="98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Why?</a:t>
            </a:r>
          </a:p>
        </p:txBody>
      </p:sp>
      <p:sp>
        <p:nvSpPr>
          <p:cNvPr id="11" name="箭头: 上 10"/>
          <p:cNvSpPr/>
          <p:nvPr/>
        </p:nvSpPr>
        <p:spPr>
          <a:xfrm>
            <a:off x="9126895" y="2989571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17075" y="5604654"/>
            <a:ext cx="85343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Borrowing more expensive, saving more attractive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54" y="1652134"/>
            <a:ext cx="4514850" cy="3276600"/>
          </a:xfrm>
          <a:prstGeom prst="rect">
            <a:avLst/>
          </a:prstGeom>
        </p:spPr>
      </p:pic>
      <p:sp>
        <p:nvSpPr>
          <p:cNvPr id="15" name="箭头: 上 14"/>
          <p:cNvSpPr/>
          <p:nvPr/>
        </p:nvSpPr>
        <p:spPr>
          <a:xfrm flipV="1">
            <a:off x="9126895" y="1940896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8" name="箭头: 上 17"/>
          <p:cNvSpPr/>
          <p:nvPr/>
        </p:nvSpPr>
        <p:spPr>
          <a:xfrm flipV="1">
            <a:off x="9126895" y="4019776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折角 16"/>
          <p:cNvSpPr/>
          <p:nvPr/>
        </p:nvSpPr>
        <p:spPr>
          <a:xfrm>
            <a:off x="5824752" y="1451833"/>
            <a:ext cx="4450702" cy="3954333"/>
          </a:xfrm>
          <a:prstGeom prst="foldedCorner">
            <a:avLst>
              <a:gd name="adj" fmla="val 10558"/>
            </a:avLst>
          </a:prstGeom>
          <a:solidFill>
            <a:srgbClr val="FFF5D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648" y="253157"/>
            <a:ext cx="10125269" cy="1325563"/>
          </a:xfrm>
        </p:spPr>
        <p:txBody>
          <a:bodyPr>
            <a:normAutofit/>
          </a:bodyPr>
          <a:lstStyle/>
          <a:p>
            <a:r>
              <a:rPr lang="en-GB" sz="4800" dirty="0"/>
              <a:t>Availability of saving schemes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5249" y="1752567"/>
            <a:ext cx="2612571" cy="3352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Spending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Saving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Borrowing</a:t>
            </a:r>
          </a:p>
        </p:txBody>
      </p:sp>
      <p:sp>
        <p:nvSpPr>
          <p:cNvPr id="8" name="箭头: 上 7"/>
          <p:cNvSpPr/>
          <p:nvPr/>
        </p:nvSpPr>
        <p:spPr>
          <a:xfrm>
            <a:off x="838200" y="326571"/>
            <a:ext cx="746449" cy="9703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5314074"/>
            <a:ext cx="1695061" cy="98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Why?</a:t>
            </a:r>
          </a:p>
        </p:txBody>
      </p:sp>
      <p:sp>
        <p:nvSpPr>
          <p:cNvPr id="11" name="箭头: 上 10"/>
          <p:cNvSpPr/>
          <p:nvPr/>
        </p:nvSpPr>
        <p:spPr>
          <a:xfrm>
            <a:off x="9126895" y="2989571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17075" y="5604654"/>
            <a:ext cx="9182576" cy="1117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More and better ways of saving and earning interest can encourage saving.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24" y="1989072"/>
            <a:ext cx="4514850" cy="2914650"/>
          </a:xfrm>
          <a:prstGeom prst="roundRect">
            <a:avLst/>
          </a:prstGeom>
        </p:spPr>
      </p:pic>
      <p:sp>
        <p:nvSpPr>
          <p:cNvPr id="15" name="箭头: 上 14"/>
          <p:cNvSpPr/>
          <p:nvPr/>
        </p:nvSpPr>
        <p:spPr>
          <a:xfrm flipV="1">
            <a:off x="9124096" y="2012399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8" name="箭头: 上 17"/>
          <p:cNvSpPr/>
          <p:nvPr/>
        </p:nvSpPr>
        <p:spPr>
          <a:xfrm flipV="1">
            <a:off x="9122076" y="4133965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折角 16"/>
          <p:cNvSpPr/>
          <p:nvPr/>
        </p:nvSpPr>
        <p:spPr>
          <a:xfrm>
            <a:off x="5824752" y="1451833"/>
            <a:ext cx="4450702" cy="3954333"/>
          </a:xfrm>
          <a:prstGeom prst="foldedCorner">
            <a:avLst>
              <a:gd name="adj" fmla="val 10558"/>
            </a:avLst>
          </a:prstGeom>
          <a:solidFill>
            <a:srgbClr val="FFF5D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649" y="253157"/>
            <a:ext cx="8007220" cy="1325563"/>
          </a:xfrm>
        </p:spPr>
        <p:txBody>
          <a:bodyPr>
            <a:normAutofit/>
          </a:bodyPr>
          <a:lstStyle/>
          <a:p>
            <a:r>
              <a:rPr lang="en-GB" dirty="0"/>
              <a:t>Availability of credit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5249" y="1752567"/>
            <a:ext cx="2612571" cy="3352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Spending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Saving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Borrowing</a:t>
            </a:r>
          </a:p>
        </p:txBody>
      </p:sp>
      <p:sp>
        <p:nvSpPr>
          <p:cNvPr id="8" name="箭头: 上 7"/>
          <p:cNvSpPr/>
          <p:nvPr/>
        </p:nvSpPr>
        <p:spPr>
          <a:xfrm>
            <a:off x="838200" y="326571"/>
            <a:ext cx="746449" cy="9703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5314074"/>
            <a:ext cx="1695061" cy="98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Why?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9126895" y="1918738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2" name="箭头: 上 11"/>
          <p:cNvSpPr/>
          <p:nvPr/>
        </p:nvSpPr>
        <p:spPr>
          <a:xfrm>
            <a:off x="9126895" y="3972396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17075" y="5604654"/>
            <a:ext cx="790633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Cheap, widely available credit cards and loans </a:t>
            </a:r>
            <a:b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</a:b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encourage people to increase their debt.</a:t>
            </a:r>
          </a:p>
        </p:txBody>
      </p:sp>
      <p:sp>
        <p:nvSpPr>
          <p:cNvPr id="15" name="箭头: 上 14"/>
          <p:cNvSpPr/>
          <p:nvPr/>
        </p:nvSpPr>
        <p:spPr>
          <a:xfrm flipV="1">
            <a:off x="9126895" y="3017701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23" y="1695552"/>
            <a:ext cx="4238452" cy="350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折角 16"/>
          <p:cNvSpPr/>
          <p:nvPr/>
        </p:nvSpPr>
        <p:spPr>
          <a:xfrm>
            <a:off x="5824752" y="1451833"/>
            <a:ext cx="4450702" cy="3954333"/>
          </a:xfrm>
          <a:prstGeom prst="foldedCorner">
            <a:avLst>
              <a:gd name="adj" fmla="val 10558"/>
            </a:avLst>
          </a:prstGeom>
          <a:solidFill>
            <a:srgbClr val="FFF5D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649" y="253157"/>
            <a:ext cx="8007220" cy="1325563"/>
          </a:xfrm>
        </p:spPr>
        <p:txBody>
          <a:bodyPr>
            <a:normAutofit/>
          </a:bodyPr>
          <a:lstStyle/>
          <a:p>
            <a:r>
              <a:rPr lang="en-GB" dirty="0"/>
              <a:t>Consumer confidence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5249" y="1752567"/>
            <a:ext cx="2612571" cy="3352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Spending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Saving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Borrowing</a:t>
            </a:r>
          </a:p>
        </p:txBody>
      </p:sp>
      <p:sp>
        <p:nvSpPr>
          <p:cNvPr id="8" name="箭头: 上 7"/>
          <p:cNvSpPr/>
          <p:nvPr/>
        </p:nvSpPr>
        <p:spPr>
          <a:xfrm>
            <a:off x="838200" y="326571"/>
            <a:ext cx="746449" cy="9703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5314074"/>
            <a:ext cx="1695061" cy="98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Why?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9126895" y="1918738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2" name="箭头: 上 11"/>
          <p:cNvSpPr/>
          <p:nvPr/>
        </p:nvSpPr>
        <p:spPr>
          <a:xfrm>
            <a:off x="9126895" y="3972396"/>
            <a:ext cx="558282" cy="69224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17075" y="5604654"/>
            <a:ext cx="68485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People increase spending if they believe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conomic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conditions are improving.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36" r="52094" b="38884"/>
          <a:stretch>
            <a:fillRect/>
          </a:stretch>
        </p:blipFill>
        <p:spPr>
          <a:xfrm>
            <a:off x="734423" y="2309327"/>
            <a:ext cx="4821572" cy="2239346"/>
          </a:xfrm>
          <a:prstGeom prst="rect">
            <a:avLst/>
          </a:prstGeom>
        </p:spPr>
      </p:pic>
      <p:sp>
        <p:nvSpPr>
          <p:cNvPr id="15" name="箭头: 上 14"/>
          <p:cNvSpPr/>
          <p:nvPr/>
        </p:nvSpPr>
        <p:spPr>
          <a:xfrm flipV="1">
            <a:off x="9126895" y="3017701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折角 16"/>
          <p:cNvSpPr/>
          <p:nvPr/>
        </p:nvSpPr>
        <p:spPr>
          <a:xfrm>
            <a:off x="5824752" y="1451833"/>
            <a:ext cx="4450702" cy="3954333"/>
          </a:xfrm>
          <a:prstGeom prst="foldedCorner">
            <a:avLst>
              <a:gd name="adj" fmla="val 10558"/>
            </a:avLst>
          </a:prstGeom>
          <a:solidFill>
            <a:srgbClr val="FFF5D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649" y="253157"/>
            <a:ext cx="5257800" cy="1325563"/>
          </a:xfrm>
        </p:spPr>
        <p:txBody>
          <a:bodyPr/>
          <a:lstStyle/>
          <a:p>
            <a:r>
              <a:rPr lang="en-GB" dirty="0"/>
              <a:t>Direct tax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5249" y="1752567"/>
            <a:ext cx="2612571" cy="3352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Spending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Saving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Borrowing</a:t>
            </a:r>
          </a:p>
        </p:txBody>
      </p:sp>
      <p:sp>
        <p:nvSpPr>
          <p:cNvPr id="8" name="箭头: 上 7"/>
          <p:cNvSpPr/>
          <p:nvPr/>
        </p:nvSpPr>
        <p:spPr>
          <a:xfrm>
            <a:off x="838200" y="326571"/>
            <a:ext cx="746449" cy="9703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5314074"/>
            <a:ext cx="1695061" cy="98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Why?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001674"/>
            <a:ext cx="4281975" cy="2854650"/>
          </a:xfrm>
          <a:prstGeom prst="roundRect">
            <a:avLst/>
          </a:prstGeom>
        </p:spPr>
      </p:pic>
      <p:sp>
        <p:nvSpPr>
          <p:cNvPr id="19" name="箭头: 上 18"/>
          <p:cNvSpPr/>
          <p:nvPr/>
        </p:nvSpPr>
        <p:spPr>
          <a:xfrm flipV="1">
            <a:off x="9078355" y="3073641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0" name="箭头: 上 19"/>
          <p:cNvSpPr/>
          <p:nvPr/>
        </p:nvSpPr>
        <p:spPr>
          <a:xfrm flipV="1">
            <a:off x="9078355" y="1908325"/>
            <a:ext cx="558282" cy="710715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1" name="箭头: 上下 20"/>
          <p:cNvSpPr/>
          <p:nvPr/>
        </p:nvSpPr>
        <p:spPr>
          <a:xfrm flipV="1">
            <a:off x="9078355" y="4145609"/>
            <a:ext cx="558282" cy="710715"/>
          </a:xfrm>
          <a:prstGeom prst="upDownArrow">
            <a:avLst>
              <a:gd name="adj1" fmla="val 50000"/>
              <a:gd name="adj2" fmla="val 38301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33261" y="5572276"/>
            <a:ext cx="92129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(1.) Less confident of being able to repay. Borrowing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Wingdings" panose="05000000000000000000" pitchFamily="2" charset="2"/>
              </a:rPr>
              <a:t>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(2.) Some people borrow to maintain spending. Borrowing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Wingdings" panose="05000000000000000000" pitchFamily="2" charset="2"/>
              </a:rPr>
              <a:t>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" t="16649" r="2858"/>
          <a:stretch>
            <a:fillRect/>
          </a:stretch>
        </p:blipFill>
        <p:spPr>
          <a:xfrm>
            <a:off x="133694" y="37323"/>
            <a:ext cx="11932023" cy="6284167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3213436" y="681135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54881" y="681135"/>
            <a:ext cx="901320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099705" y="681135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225004" y="681135"/>
            <a:ext cx="4966996" cy="634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217141" y="1408923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358586" y="1408923"/>
            <a:ext cx="901320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103410" y="1408923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228709" y="1408923"/>
            <a:ext cx="4966996" cy="634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213436" y="2183362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354881" y="2183362"/>
            <a:ext cx="901320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099705" y="2183362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225004" y="2183362"/>
            <a:ext cx="4966996" cy="634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213436" y="2957801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558300" y="3002121"/>
            <a:ext cx="901320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099705" y="2957801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225004" y="2957801"/>
            <a:ext cx="4966996" cy="772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114505" y="3820883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459369" y="3865203"/>
            <a:ext cx="901320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000774" y="3820883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126073" y="3820883"/>
            <a:ext cx="4966996" cy="634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114505" y="4631478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459369" y="4675798"/>
            <a:ext cx="901320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000774" y="4631478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126073" y="4631478"/>
            <a:ext cx="4966996" cy="634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213436" y="5387844"/>
            <a:ext cx="746449" cy="772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558300" y="5432164"/>
            <a:ext cx="901320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099705" y="5387844"/>
            <a:ext cx="746449" cy="72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225004" y="5387844"/>
            <a:ext cx="4966996" cy="9336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7" t="87699" r="28047" b="4855"/>
          <a:stretch>
            <a:fillRect/>
          </a:stretch>
        </p:blipFill>
        <p:spPr>
          <a:xfrm>
            <a:off x="1797354" y="6321491"/>
            <a:ext cx="7455160" cy="513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241" y="1218909"/>
            <a:ext cx="9346061" cy="1611756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</a:t>
            </a:r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3600" dirty="0"/>
              <a:t>What would encourage a rise in spending but not a rise in saving?</a:t>
            </a:r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0522531" y="1679519"/>
            <a:ext cx="1205345" cy="664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32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%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0522531" y="1286829"/>
            <a:ext cx="1205345" cy="401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得分率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638935" y="2998470"/>
            <a:ext cx="8317865" cy="2799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dirty="0"/>
              <a:t>A. easier credit facilities</a:t>
            </a:r>
            <a:r>
              <a:rPr lang="en-US" altLang="en-GB" sz="3600" dirty="0"/>
              <a:t> (信贷便利)</a:t>
            </a:r>
          </a:p>
          <a:p>
            <a:pPr marL="0" indent="0">
              <a:buNone/>
            </a:pPr>
            <a:r>
              <a:rPr lang="en-GB" sz="3600" dirty="0"/>
              <a:t>B. more people working</a:t>
            </a:r>
          </a:p>
          <a:p>
            <a:pPr marL="0" indent="0">
              <a:buNone/>
            </a:pPr>
            <a:r>
              <a:rPr lang="en-GB" sz="3600" dirty="0"/>
              <a:t>C. rising interest rates</a:t>
            </a:r>
          </a:p>
          <a:p>
            <a:pPr marL="0" indent="0">
              <a:buNone/>
            </a:pPr>
            <a:r>
              <a:rPr lang="en-GB" sz="3600" dirty="0"/>
              <a:t>D. rising standards of living</a:t>
            </a:r>
          </a:p>
        </p:txBody>
      </p:sp>
      <p:sp>
        <p:nvSpPr>
          <p:cNvPr id="17" name="乘号 16"/>
          <p:cNvSpPr/>
          <p:nvPr/>
        </p:nvSpPr>
        <p:spPr>
          <a:xfrm>
            <a:off x="1065238" y="4865196"/>
            <a:ext cx="431800" cy="48029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17880" y="2875915"/>
            <a:ext cx="8688705" cy="856482"/>
            <a:chOff x="92364" y="3529221"/>
            <a:chExt cx="7056581" cy="724427"/>
          </a:xfrm>
        </p:grpSpPr>
        <p:sp>
          <p:nvSpPr>
            <p:cNvPr id="18" name="文本框 17"/>
            <p:cNvSpPr txBox="1"/>
            <p:nvPr/>
          </p:nvSpPr>
          <p:spPr>
            <a:xfrm>
              <a:off x="183816" y="3551666"/>
              <a:ext cx="668772" cy="701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GB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  <a:sym typeface="Wingdings" panose="05000000000000000000" pitchFamily="2" charset="2"/>
                </a:rPr>
                <a:t></a:t>
              </a:r>
              <a:endPara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2364" y="3529221"/>
              <a:ext cx="7056581" cy="664087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8780" y="304800"/>
            <a:ext cx="9975850" cy="2827655"/>
          </a:xfrm>
        </p:spPr>
        <p:txBody>
          <a:bodyPr>
            <a:noAutofit/>
          </a:bodyPr>
          <a:lstStyle/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dirty="0" err="1"/>
              <a:t>Nazmin</a:t>
            </a:r>
            <a:r>
              <a:rPr lang="en-GB" dirty="0"/>
              <a:t> Uddin works in a local office as a secretary three days a week. She lives with her parents in a small apartment.</a:t>
            </a:r>
            <a:r>
              <a:rPr lang="en-US" altLang="en-GB" dirty="0"/>
              <a:t> </a:t>
            </a:r>
            <a:r>
              <a:rPr lang="en-GB" dirty="0"/>
              <a:t>Meer Ali owns a successful fitness centre that employs about twenty people and lives in a large house.</a:t>
            </a:r>
            <a:br>
              <a:rPr lang="en-GB" dirty="0"/>
            </a:br>
            <a:r>
              <a:rPr lang="en-GB" dirty="0"/>
              <a:t>Which is likely to be true?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0522531" y="765119"/>
            <a:ext cx="1205345" cy="664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46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%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0522531" y="372429"/>
            <a:ext cx="1205345" cy="401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得分率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845820" y="3552190"/>
            <a:ext cx="11054080" cy="224663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buNone/>
            </a:pPr>
            <a:r>
              <a:rPr lang="en-GB" sz="3200" dirty="0"/>
              <a:t>A. </a:t>
            </a:r>
            <a:r>
              <a:rPr lang="en-GB" sz="3200" dirty="0" err="1"/>
              <a:t>Nazmin</a:t>
            </a:r>
            <a:r>
              <a:rPr lang="en-GB" sz="3200" dirty="0"/>
              <a:t> spends a smaller proportion of her income than Meer.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GB" sz="3200" dirty="0"/>
              <a:t>B. </a:t>
            </a:r>
            <a:r>
              <a:rPr lang="en-GB" sz="3200" dirty="0" err="1"/>
              <a:t>Nazmin</a:t>
            </a:r>
            <a:r>
              <a:rPr lang="en-GB" sz="3200" dirty="0"/>
              <a:t> saves most of her income.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GB" sz="3200" dirty="0"/>
              <a:t>C. </a:t>
            </a:r>
            <a:r>
              <a:rPr lang="en-GB" sz="3200" dirty="0" err="1"/>
              <a:t>Nazmin</a:t>
            </a:r>
            <a:r>
              <a:rPr lang="en-GB" sz="3200" dirty="0"/>
              <a:t> would find it easier than Meer to borrow money.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GB" sz="3200" dirty="0"/>
              <a:t>D. </a:t>
            </a:r>
            <a:r>
              <a:rPr lang="en-GB" sz="3200" dirty="0" err="1"/>
              <a:t>Nazmin</a:t>
            </a:r>
            <a:r>
              <a:rPr lang="en-GB" sz="3200" dirty="0"/>
              <a:t> has a lower disposable income than Meer.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9230" y="5302885"/>
            <a:ext cx="11710035" cy="856482"/>
            <a:chOff x="92364" y="3529221"/>
            <a:chExt cx="7056581" cy="724427"/>
          </a:xfrm>
        </p:grpSpPr>
        <p:sp>
          <p:nvSpPr>
            <p:cNvPr id="18" name="文本框 17"/>
            <p:cNvSpPr txBox="1"/>
            <p:nvPr/>
          </p:nvSpPr>
          <p:spPr>
            <a:xfrm>
              <a:off x="183816" y="3551666"/>
              <a:ext cx="668772" cy="701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GB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  <a:sym typeface="Wingdings" panose="05000000000000000000" pitchFamily="2" charset="2"/>
                </a:rPr>
                <a:t></a:t>
              </a:r>
              <a:endPara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2364" y="3529221"/>
              <a:ext cx="7056581" cy="664087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241" y="1338179"/>
            <a:ext cx="9346061" cy="1611756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</a:t>
            </a:r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3600" dirty="0"/>
              <a:t>Which group is likely to save the largest proportion of its income?</a:t>
            </a:r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0522531" y="1798789"/>
            <a:ext cx="1205345" cy="664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46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%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0522531" y="1406099"/>
            <a:ext cx="1205345" cy="401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得分率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638983" y="3117818"/>
            <a:ext cx="8318031" cy="22467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dirty="0"/>
              <a:t>A. employed workers</a:t>
            </a:r>
          </a:p>
          <a:p>
            <a:pPr marL="0" indent="0">
              <a:buNone/>
            </a:pPr>
            <a:r>
              <a:rPr lang="en-GB" sz="3600" dirty="0"/>
              <a:t>B. retired people</a:t>
            </a:r>
          </a:p>
          <a:p>
            <a:pPr marL="0" indent="0">
              <a:buNone/>
            </a:pPr>
            <a:r>
              <a:rPr lang="en-GB" sz="3600" dirty="0"/>
              <a:t>C. school students</a:t>
            </a:r>
          </a:p>
          <a:p>
            <a:pPr marL="0" indent="0">
              <a:buNone/>
            </a:pPr>
            <a:r>
              <a:rPr lang="en-GB" sz="3600" dirty="0"/>
              <a:t>D. unemployed workers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932326" y="3014344"/>
            <a:ext cx="5827059" cy="1009253"/>
            <a:chOff x="92364" y="3529221"/>
            <a:chExt cx="7056581" cy="853442"/>
          </a:xfrm>
        </p:grpSpPr>
        <p:sp>
          <p:nvSpPr>
            <p:cNvPr id="22" name="文本框 21"/>
            <p:cNvSpPr txBox="1"/>
            <p:nvPr/>
          </p:nvSpPr>
          <p:spPr>
            <a:xfrm>
              <a:off x="183816" y="3551666"/>
              <a:ext cx="668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GB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  <a:sym typeface="Wingdings" panose="05000000000000000000" pitchFamily="2" charset="2"/>
                </a:rPr>
                <a:t></a:t>
              </a:r>
              <a:endPara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92364" y="3529221"/>
              <a:ext cx="7056581" cy="664087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乘号 16"/>
          <p:cNvSpPr/>
          <p:nvPr/>
        </p:nvSpPr>
        <p:spPr>
          <a:xfrm>
            <a:off x="1065238" y="3811646"/>
            <a:ext cx="431800" cy="48029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241" y="1099640"/>
            <a:ext cx="9346061" cy="1611756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</a:t>
            </a:r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3600" dirty="0"/>
              <a:t>Banks accept _______ of money and savings from their customers and make _____ from this money.</a:t>
            </a:r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0522531" y="1560250"/>
            <a:ext cx="1205345" cy="664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48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%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0522531" y="1167560"/>
            <a:ext cx="1205345" cy="401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得分率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638983" y="2879279"/>
            <a:ext cx="8318031" cy="22467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3600" dirty="0"/>
              <a:t>A. deposits; deposits</a:t>
            </a:r>
          </a:p>
          <a:p>
            <a:pPr marL="0" indent="0">
              <a:buNone/>
            </a:pPr>
            <a:r>
              <a:rPr lang="fr-FR" sz="3600" dirty="0"/>
              <a:t>B. deposits; loans</a:t>
            </a:r>
          </a:p>
          <a:p>
            <a:pPr marL="0" indent="0">
              <a:buNone/>
            </a:pPr>
            <a:r>
              <a:rPr lang="fr-FR" sz="3600" dirty="0"/>
              <a:t>C. loans; deposits</a:t>
            </a:r>
          </a:p>
          <a:p>
            <a:pPr marL="0" indent="0">
              <a:buNone/>
            </a:pPr>
            <a:r>
              <a:rPr lang="fr-FR" sz="3600" dirty="0"/>
              <a:t>D. loans; loans</a:t>
            </a:r>
            <a:endParaRPr lang="en-GB" sz="36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932326" y="3352275"/>
            <a:ext cx="5827059" cy="1009253"/>
            <a:chOff x="92364" y="3529221"/>
            <a:chExt cx="7056581" cy="853442"/>
          </a:xfrm>
        </p:grpSpPr>
        <p:sp>
          <p:nvSpPr>
            <p:cNvPr id="18" name="文本框 17"/>
            <p:cNvSpPr txBox="1"/>
            <p:nvPr/>
          </p:nvSpPr>
          <p:spPr>
            <a:xfrm>
              <a:off x="183816" y="3551666"/>
              <a:ext cx="668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GB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  <a:sym typeface="Wingdings" panose="05000000000000000000" pitchFamily="2" charset="2"/>
                </a:rPr>
                <a:t></a:t>
              </a:r>
              <a:endPara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2364" y="3529221"/>
              <a:ext cx="7056581" cy="664087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997" y="304509"/>
            <a:ext cx="9346061" cy="1611756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5.</a:t>
            </a:r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3600" dirty="0"/>
              <a:t>The table shows the weekly values of certain items for the average person in each group.</a:t>
            </a:r>
            <a:br>
              <a:rPr lang="en-GB" sz="3600" dirty="0"/>
            </a:br>
            <a:r>
              <a:rPr lang="en-GB" sz="3600" dirty="0"/>
              <a:t>Which group saves the most on average?</a:t>
            </a:r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0522531" y="765119"/>
            <a:ext cx="1205345" cy="664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000" dirty="0">
                <a:solidFill>
                  <a:srgbClr val="FF0000"/>
                </a:solidFill>
              </a:rPr>
              <a:t>62</a:t>
            </a:r>
            <a:r>
              <a:rPr lang="en-GB" sz="4000" dirty="0">
                <a:solidFill>
                  <a:srgbClr val="FF0000"/>
                </a:solidFill>
              </a:rPr>
              <a:t>%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0522531" y="372429"/>
            <a:ext cx="1205345" cy="401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得分率</a:t>
            </a:r>
            <a:endParaRPr lang="en-GB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" y="2398407"/>
            <a:ext cx="11172825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/>
          <p:cNvSpPr/>
          <p:nvPr/>
        </p:nvSpPr>
        <p:spPr>
          <a:xfrm>
            <a:off x="260023" y="3206671"/>
            <a:ext cx="11567542" cy="68946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241" y="1218909"/>
            <a:ext cx="9346061" cy="1611756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6.</a:t>
            </a:r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3600" dirty="0"/>
              <a:t>What might cause a rise in the proportion of income that a person saves?</a:t>
            </a:r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0522531" y="1679519"/>
            <a:ext cx="1205345" cy="664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58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%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0522531" y="1286829"/>
            <a:ext cx="1205345" cy="401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得分率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638983" y="2998548"/>
            <a:ext cx="8318031" cy="22467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dirty="0"/>
              <a:t>A. a fall in interest rates</a:t>
            </a:r>
          </a:p>
          <a:p>
            <a:pPr marL="0" indent="0">
              <a:buNone/>
            </a:pPr>
            <a:r>
              <a:rPr lang="en-GB" sz="3600" dirty="0"/>
              <a:t>B. a fall in population</a:t>
            </a:r>
          </a:p>
          <a:p>
            <a:pPr marL="0" indent="0">
              <a:buNone/>
            </a:pPr>
            <a:r>
              <a:rPr lang="en-GB" sz="3600" dirty="0"/>
              <a:t>C. a fall in real incomes</a:t>
            </a:r>
          </a:p>
          <a:p>
            <a:pPr marL="0" indent="0">
              <a:buNone/>
            </a:pPr>
            <a:r>
              <a:rPr lang="en-GB" sz="3600" dirty="0"/>
              <a:t>D. a fall in the income tax rate</a:t>
            </a:r>
          </a:p>
        </p:txBody>
      </p:sp>
      <p:sp>
        <p:nvSpPr>
          <p:cNvPr id="17" name="乘号 16"/>
          <p:cNvSpPr/>
          <p:nvPr/>
        </p:nvSpPr>
        <p:spPr>
          <a:xfrm>
            <a:off x="1065238" y="4205069"/>
            <a:ext cx="431800" cy="48029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932326" y="4761147"/>
            <a:ext cx="6581657" cy="1009253"/>
            <a:chOff x="92364" y="3529221"/>
            <a:chExt cx="7056581" cy="853442"/>
          </a:xfrm>
        </p:grpSpPr>
        <p:sp>
          <p:nvSpPr>
            <p:cNvPr id="18" name="文本框 17"/>
            <p:cNvSpPr txBox="1"/>
            <p:nvPr/>
          </p:nvSpPr>
          <p:spPr>
            <a:xfrm>
              <a:off x="183816" y="3551666"/>
              <a:ext cx="668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GB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  <a:sym typeface="Wingdings" panose="05000000000000000000" pitchFamily="2" charset="2"/>
                </a:rPr>
                <a:t></a:t>
              </a:r>
              <a:endPara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2364" y="3529221"/>
              <a:ext cx="7056581" cy="664087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c6d974a-77f1-4dd3-a685-48d1590c0da1"/>
  <p:tag name="COMMONDATA" val="eyJoZGlkIjoiN2VjNDhiMjkxNWVlMGI2NzExMTA0NWU1ODM1MjFmNW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Calibri"/>
        <a:ea typeface="等线 Light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6731</TotalTime>
  <Words>894</Words>
  <Application>Microsoft Office PowerPoint</Application>
  <PresentationFormat>Widescreen</PresentationFormat>
  <Paragraphs>145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等线</vt:lpstr>
      <vt:lpstr>Arial</vt:lpstr>
      <vt:lpstr>Calibri</vt:lpstr>
      <vt:lpstr>Office 主题​​</vt:lpstr>
      <vt:lpstr>PowerPoint Presentation</vt:lpstr>
      <vt:lpstr>PowerPoint Presentation</vt:lpstr>
      <vt:lpstr>In which country do people save most money? Why?</vt:lpstr>
      <vt:lpstr>PowerPoint Presentation</vt:lpstr>
      <vt:lpstr>PowerPoint Presentation</vt:lpstr>
      <vt:lpstr>PowerPoint Presentation</vt:lpstr>
      <vt:lpstr>1. Identify two motives for consumer spending. [2] Why do people spend money?</vt:lpstr>
      <vt:lpstr>1. Why do consumers spend money?</vt:lpstr>
      <vt:lpstr>PowerPoint Presentation</vt:lpstr>
      <vt:lpstr>2. Why do households save money?</vt:lpstr>
      <vt:lpstr>PowerPoint Presentation</vt:lpstr>
      <vt:lpstr>Why do households sometimes spend more and sometimes less?</vt:lpstr>
      <vt:lpstr>Factors that affect the level of consumers expenditure:</vt:lpstr>
      <vt:lpstr>PowerPoint Presentation</vt:lpstr>
      <vt:lpstr>Households usually can’t spend  all of their income.     Why not?</vt:lpstr>
      <vt:lpstr>income = wages + dividends 股息 + interest 利息 etc. </vt:lpstr>
      <vt:lpstr>How much disposable income do people have per month?</vt:lpstr>
      <vt:lpstr>PowerPoint Presentation</vt:lpstr>
      <vt:lpstr>PowerPoint Presentation</vt:lpstr>
      <vt:lpstr>PowerPoint Presentation</vt:lpstr>
      <vt:lpstr>How do the following factors affect consumption and saving?</vt:lpstr>
      <vt:lpstr>Real income</vt:lpstr>
      <vt:lpstr>Wealth</vt:lpstr>
      <vt:lpstr>Interest rates</vt:lpstr>
      <vt:lpstr>Availability of saving schemes</vt:lpstr>
      <vt:lpstr>Availability of credit</vt:lpstr>
      <vt:lpstr>Consumer confidence</vt:lpstr>
      <vt:lpstr>Direct tax</vt:lpstr>
      <vt:lpstr>PowerPoint Presentation</vt:lpstr>
      <vt:lpstr>1. What would encourage a rise in spending but not a rise in saving?</vt:lpstr>
      <vt:lpstr>2. Nazmin Uddin works in a local office as a secretary three days a week. She lives with her parents in a small apartment. Meer Ali owns a successful fitness centre that employs about twenty people and lives in a large house. Which is likely to be true?</vt:lpstr>
      <vt:lpstr>3. Which group is likely to save the largest proportion of its income?</vt:lpstr>
      <vt:lpstr>4. Banks accept _______ of money and savings from their customers and make _____ from this money.</vt:lpstr>
      <vt:lpstr>5. The table shows the weekly values of certain items for the average person in each group. Which group saves the most on average?</vt:lpstr>
      <vt:lpstr>6. What might cause a rise in the proportion of income that a person saves?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... Economics?</dc:title>
  <dc:creator>OEHLER Samuel</dc:creator>
  <cp:lastModifiedBy>HD8464</cp:lastModifiedBy>
  <cp:revision>113</cp:revision>
  <dcterms:created xsi:type="dcterms:W3CDTF">2018-09-02T02:50:00Z</dcterms:created>
  <dcterms:modified xsi:type="dcterms:W3CDTF">2025-09-12T02:25:20Z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3CA0D277FA594673AAC41247D3392A6C_12</vt:lpwstr>
  </property>
  <property fmtid="{D5CDD505-2E9C-101B-9397-08002B2CF9AE}" pid="3" name="KSOProductBuildVer">
    <vt:lpwstr>2052-11.1.0.14309</vt:lpwstr>
  </property>
</Properties>
</file>