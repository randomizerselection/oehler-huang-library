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aac036e98d4b09" /><Relationship Type="http://schemas.openxmlformats.org/officeDocument/2006/relationships/extended-properties" Target="/docProps/app.xml" Id="R045de4cf6fd34283" /><Relationship Type="http://schemas.openxmlformats.org/officeDocument/2006/relationships/officeDocument" Target="/ppt/presentation.xml" Id="R82b9ca6efb8248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2eab82c7044349"/>
  </p:sldMasterIdLst>
  <p:notesMasterIdLst>
    <p:notesMasterId xmlns:r="http://schemas.openxmlformats.org/officeDocument/2006/relationships" r:id="R0febf05047924766"/>
  </p:notesMasterIdLst>
  <p:sldIdLst>
    <p:sldId xmlns:r="http://schemas.openxmlformats.org/officeDocument/2006/relationships" id="256" r:id="Rb6c8ef485d7b446d"/>
    <p:sldId xmlns:r="http://schemas.openxmlformats.org/officeDocument/2006/relationships" id="257" r:id="Rdc85f6861d3b406c"/>
    <p:sldId xmlns:r="http://schemas.openxmlformats.org/officeDocument/2006/relationships" id="258" r:id="R59d5c74450724984"/>
    <p:sldId xmlns:r="http://schemas.openxmlformats.org/officeDocument/2006/relationships" id="259" r:id="R4fc5162a32b6489f"/>
    <p:sldId xmlns:r="http://schemas.openxmlformats.org/officeDocument/2006/relationships" id="260" r:id="R5d832f50f8244d4f"/>
    <p:sldId xmlns:r="http://schemas.openxmlformats.org/officeDocument/2006/relationships" id="261" r:id="Ref8efed2cc5c40f9"/>
    <p:sldId xmlns:r="http://schemas.openxmlformats.org/officeDocument/2006/relationships" id="262" r:id="R8bdcb7b583a64ab2"/>
    <p:sldId xmlns:r="http://schemas.openxmlformats.org/officeDocument/2006/relationships" id="263" r:id="R29ec624a89514476"/>
    <p:sldId xmlns:r="http://schemas.openxmlformats.org/officeDocument/2006/relationships" id="264" r:id="R6500c17c0d6a4028"/>
    <p:sldId xmlns:r="http://schemas.openxmlformats.org/officeDocument/2006/relationships" id="265" r:id="Rd44c8566fdb04485"/>
    <p:sldId xmlns:r="http://schemas.openxmlformats.org/officeDocument/2006/relationships" id="266" r:id="Rcf981e4ae3444fa4"/>
    <p:sldId xmlns:r="http://schemas.openxmlformats.org/officeDocument/2006/relationships" id="267" r:id="R5a5aa83e69114a87"/>
    <p:sldId xmlns:r="http://schemas.openxmlformats.org/officeDocument/2006/relationships" id="268" r:id="R2b59ce2a80b04b61"/>
    <p:sldId xmlns:r="http://schemas.openxmlformats.org/officeDocument/2006/relationships" id="269" r:id="R7908b60cd3464414"/>
    <p:sldId xmlns:r="http://schemas.openxmlformats.org/officeDocument/2006/relationships" id="270" r:id="R5230ef976e6248d2"/>
    <p:sldId xmlns:r="http://schemas.openxmlformats.org/officeDocument/2006/relationships" id="271" r:id="Rf538b0f92e4c45d8"/>
    <p:sldId xmlns:r="http://schemas.openxmlformats.org/officeDocument/2006/relationships" id="272" r:id="Rba3f8b551f294f81"/>
    <p:sldId xmlns:r="http://schemas.openxmlformats.org/officeDocument/2006/relationships" id="273" r:id="R25a17a15390747a1"/>
    <p:sldId xmlns:r="http://schemas.openxmlformats.org/officeDocument/2006/relationships" id="274" r:id="Rf6d7215250a1423c"/>
    <p:sldId xmlns:r="http://schemas.openxmlformats.org/officeDocument/2006/relationships" id="275" r:id="R2fbb64fa5c9a4c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af7c3c8b7647e1" /><Relationship Type="http://schemas.openxmlformats.org/officeDocument/2006/relationships/slideMaster" Target="/ppt/slideMasters/slideMaster1.xml" Id="Rba2eab82c7044349" /><Relationship Type="http://schemas.openxmlformats.org/officeDocument/2006/relationships/notesMaster" Target="/ppt/notesMasters/notesMaster1.xml" Id="R0febf05047924766" /><Relationship Type="http://schemas.openxmlformats.org/officeDocument/2006/relationships/presProps" Target="/ppt/presProps.xml" Id="R538e31313f7c4dc1" /><Relationship Type="http://schemas.openxmlformats.org/officeDocument/2006/relationships/viewProps" Target="/ppt/viewProps.xml" Id="R6b0222d79cb04961" /><Relationship Type="http://schemas.openxmlformats.org/officeDocument/2006/relationships/tableStyles" Target="/ppt/tableStyles.xml" Id="R9d3675ce59d74ba3" /><Relationship Type="http://schemas.openxmlformats.org/officeDocument/2006/relationships/slide" Target="/ppt/slides/slide1.xml" Id="Rb6c8ef485d7b446d" /><Relationship Type="http://schemas.openxmlformats.org/officeDocument/2006/relationships/slide" Target="/ppt/slides/slide2.xml" Id="Rdc85f6861d3b406c" /><Relationship Type="http://schemas.openxmlformats.org/officeDocument/2006/relationships/slide" Target="/ppt/slides/slide3.xml" Id="R59d5c74450724984" /><Relationship Type="http://schemas.openxmlformats.org/officeDocument/2006/relationships/slide" Target="/ppt/slides/slide4.xml" Id="R4fc5162a32b6489f" /><Relationship Type="http://schemas.openxmlformats.org/officeDocument/2006/relationships/slide" Target="/ppt/slides/slide5.xml" Id="R5d832f50f8244d4f" /><Relationship Type="http://schemas.openxmlformats.org/officeDocument/2006/relationships/slide" Target="/ppt/slides/slide6.xml" Id="Ref8efed2cc5c40f9" /><Relationship Type="http://schemas.openxmlformats.org/officeDocument/2006/relationships/slide" Target="/ppt/slides/slide7.xml" Id="R8bdcb7b583a64ab2" /><Relationship Type="http://schemas.openxmlformats.org/officeDocument/2006/relationships/slide" Target="/ppt/slides/slide8.xml" Id="R29ec624a89514476" /><Relationship Type="http://schemas.openxmlformats.org/officeDocument/2006/relationships/slide" Target="/ppt/slides/slide9.xml" Id="R6500c17c0d6a4028" /><Relationship Type="http://schemas.openxmlformats.org/officeDocument/2006/relationships/slide" Target="/ppt/slides/slide10.xml" Id="Rd44c8566fdb04485" /><Relationship Type="http://schemas.openxmlformats.org/officeDocument/2006/relationships/slide" Target="/ppt/slides/slide11.xml" Id="Rcf981e4ae3444fa4" /><Relationship Type="http://schemas.openxmlformats.org/officeDocument/2006/relationships/slide" Target="/ppt/slides/slide12.xml" Id="R5a5aa83e69114a87" /><Relationship Type="http://schemas.openxmlformats.org/officeDocument/2006/relationships/slide" Target="/ppt/slides/slide13.xml" Id="R2b59ce2a80b04b61" /><Relationship Type="http://schemas.openxmlformats.org/officeDocument/2006/relationships/slide" Target="/ppt/slides/slide14.xml" Id="R7908b60cd3464414" /><Relationship Type="http://schemas.openxmlformats.org/officeDocument/2006/relationships/slide" Target="/ppt/slides/slide15.xml" Id="R5230ef976e6248d2" /><Relationship Type="http://schemas.openxmlformats.org/officeDocument/2006/relationships/slide" Target="/ppt/slides/slide16.xml" Id="Rf538b0f92e4c45d8" /><Relationship Type="http://schemas.openxmlformats.org/officeDocument/2006/relationships/slide" Target="/ppt/slides/slide17.xml" Id="Rba3f8b551f294f81" /><Relationship Type="http://schemas.openxmlformats.org/officeDocument/2006/relationships/slide" Target="/ppt/slides/slide18.xml" Id="R25a17a15390747a1" /><Relationship Type="http://schemas.openxmlformats.org/officeDocument/2006/relationships/slide" Target="/ppt/slides/slide19.xml" Id="Rf6d7215250a1423c" /><Relationship Type="http://schemas.openxmlformats.org/officeDocument/2006/relationships/slide" Target="/ppt/slides/slide20.xml" Id="R2fbb64fa5c9a4c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ab715b094a4d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c608a678004133" /><Relationship Type="http://schemas.openxmlformats.org/officeDocument/2006/relationships/notesMaster" Target="/ppt/notesMasters/notesMaster1.xml" Id="R454510e20c6443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17deb3d9f349b9" /><Relationship Type="http://schemas.openxmlformats.org/officeDocument/2006/relationships/notesMaster" Target="/ppt/notesMasters/notesMaster1.xml" Id="Rc303a10d06af40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30b74bde1546a4" /><Relationship Type="http://schemas.openxmlformats.org/officeDocument/2006/relationships/notesMaster" Target="/ppt/notesMasters/notesMaster1.xml" Id="R3612f1b0152849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3690c6c73847fd" /><Relationship Type="http://schemas.openxmlformats.org/officeDocument/2006/relationships/notesMaster" Target="/ppt/notesMasters/notesMaster1.xml" Id="R754ff04ad6ec45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0a69bf96ae4339" /><Relationship Type="http://schemas.openxmlformats.org/officeDocument/2006/relationships/notesMaster" Target="/ppt/notesMasters/notesMaster1.xml" Id="R555a4061312d4b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f595afea994a70" /><Relationship Type="http://schemas.openxmlformats.org/officeDocument/2006/relationships/notesMaster" Target="/ppt/notesMasters/notesMaster1.xml" Id="R918abb9fb67942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fe3852988546c4" /><Relationship Type="http://schemas.openxmlformats.org/officeDocument/2006/relationships/notesMaster" Target="/ppt/notesMasters/notesMaster1.xml" Id="R6189422bd5e84d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ef599bfda040b3" /><Relationship Type="http://schemas.openxmlformats.org/officeDocument/2006/relationships/notesMaster" Target="/ppt/notesMasters/notesMaster1.xml" Id="Rb873fa98911f4a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5e682145f24609" /><Relationship Type="http://schemas.openxmlformats.org/officeDocument/2006/relationships/notesMaster" Target="/ppt/notesMasters/notesMaster1.xml" Id="R7434ba5970cc4a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3696b7b6e64fa6" /><Relationship Type="http://schemas.openxmlformats.org/officeDocument/2006/relationships/notesMaster" Target="/ppt/notesMasters/notesMaster1.xml" Id="R566dc2db4bf248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2cfc4aa08347cc" /><Relationship Type="http://schemas.openxmlformats.org/officeDocument/2006/relationships/notesMaster" Target="/ppt/notesMasters/notesMaster1.xml" Id="Rf8f0115b1d004d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9320921bdd4c90" /><Relationship Type="http://schemas.openxmlformats.org/officeDocument/2006/relationships/notesMaster" Target="/ppt/notesMasters/notesMaster1.xml" Id="R92c1dfdc06ad4e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99dd4d56864b60" /><Relationship Type="http://schemas.openxmlformats.org/officeDocument/2006/relationships/notesMaster" Target="/ppt/notesMasters/notesMaster1.xml" Id="R2f7c0bb645624e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d322f21d8c4353" /><Relationship Type="http://schemas.openxmlformats.org/officeDocument/2006/relationships/notesMaster" Target="/ppt/notesMasters/notesMaster1.xml" Id="R47a2928b332143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a37c20bb03445a" /><Relationship Type="http://schemas.openxmlformats.org/officeDocument/2006/relationships/notesMaster" Target="/ppt/notesMasters/notesMaster1.xml" Id="R1a9f6ab54cf04c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94a97387594078" /><Relationship Type="http://schemas.openxmlformats.org/officeDocument/2006/relationships/notesMaster" Target="/ppt/notesMasters/notesMaster1.xml" Id="Rd4f1c7340f0d4f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4422adf8624474" /><Relationship Type="http://schemas.openxmlformats.org/officeDocument/2006/relationships/notesMaster" Target="/ppt/notesMasters/notesMaster1.xml" Id="R15fa3b0e7e664c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2d9137f2bc4407" /><Relationship Type="http://schemas.openxmlformats.org/officeDocument/2006/relationships/notesMaster" Target="/ppt/notesMasters/notesMaster1.xml" Id="R3c42bfc1233944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8cfb16b0a7c4330" /><Relationship Type="http://schemas.openxmlformats.org/officeDocument/2006/relationships/notesMaster" Target="/ppt/notesMasters/notesMaster1.xml" Id="R387d83ed211b4a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9078755466641c9" /><Relationship Type="http://schemas.openxmlformats.org/officeDocument/2006/relationships/notesMaster" Target="/ppt/notesMasters/notesMaster1.xml" Id="R6038f943f9064b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https://www.apec2026.cn/node_196.html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https://uk.finance.yahoo.com/news/investing-money-savings-risks-finances-050038406.html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https://www.cnbc.com/2019/12/18/how-to-build-an-emergency-savings-fund.html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https://www.chinadailyhk.com/hk/article/605229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as of 31 December 2025. The USD illustration excludes fees, taxes and currency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https://www.spglobal.com/spdji/en/commentary/article/us-equities-market-attributes/</a:t>
            </a:r>
          </a:p>
          <a:p xmlns:a="http://schemas.openxmlformats.org/drawingml/2006/main">
            <a:r>
              <a:t>- https://www.nst.com.my/business/corporate/2026/02/1371314/stocks-fluctuate-after-wall-street-ai-fuelled-sell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https://www.kiplinger.com/investing/ways-your-phone-can-help-you-weather-market-volatility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Figures are pre-2022 stock-split prices, as reported by the SEC.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https://www.sec.gov/files/staff-report-equity-options-market-struction-conditions-early-2021.pdf</a:t>
            </a:r>
          </a:p>
          <a:p xmlns:a="http://schemas.openxmlformats.org/drawingml/2006/main">
            <a:r>
              <a:t>- https://www.cnbc.com/2019/03/27/gamestop-doubling-down-on-its-investment-in-surging-esports-industry.html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Barber and Odean sample period: 1991-1996. Historical evidence does not predict every trader's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https://faculty.haas.berkeley.edu/odean/papers/returns/individual_investor_performance_final.pdf</a:t>
            </a:r>
          </a:p>
          <a:p xmlns:a="http://schemas.openxmlformats.org/drawingml/2006/main">
            <a:r>
              <a:t>- https://ec.ltn.com.tw/article/breakingnews/3466782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https://www.lepoint.fr/eureka/pourquoi-les-tirelires-ont-elles-la-forme-d-un-cochon-27-09-2024-2571328_4706.php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https://www.stats.gov.cn/english/PressRelease/202602/t20260228_1962661.html</a:t>
            </a:r>
          </a:p>
          <a:p xmlns:a="http://schemas.openxmlformats.org/drawingml/2006/main">
            <a:r>
              <a:t>- https://www.cca.org.mx/CCA_cursos/finanzas_personales/html/modulo3/modulo3-13.html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https://www.hanseaticbank.de/klarmacher/vorsorgen/die-betriebliche-altersvorsorge-kuendigen-geht-das-ueberhaupt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https://www.coursehero.com/blog/product-team/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https://www.tori.ng/news/73034/nigerian-stock-market-investors-gain-n175b.html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f3a79e87d4f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6f83655fb49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47760678240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0d7ae7e424c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91d652f934b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6f8c8ad62439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8a4fc13704e8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d06a778993406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103a0e4844d0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9a6e65c44455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c0eca6a59420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740C31-A7E6-CF6F-6C74-398A96ED896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14258B1-786C-CCDE-E680-48165EEA15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EB133B-4E15-ECE7-D9A7-3CFA443315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FE4D9C-58CB-8113-DFC3-F45C05B8C6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4AB8E9-4CBA-44A4-995B-F8B448F130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639949-CD78-E643-0AAD-859E09FDD0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A8F88A-00F8-FABD-6623-7925E9E14C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E1F7E2-A114-EA69-8513-1075CA7750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9A6A31-52B9-93FA-BFD3-A1AFDA93EE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1B0C23-1B47-BE09-9A93-F060C7A12D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1419C6-2CAE-566B-B33F-F3A6EA06C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DA953B-4D3B-D56E-B9D8-F62A934DC1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4FA94B-1175-F7C9-B2E9-1ADDBF4C6C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FEE77B-5F23-75ED-FE40-7877CD43F1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551DF6-61B4-3433-1503-1257F0935C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189D28-4BBA-6A41-F0CD-E00915C08F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BC85A29-ED15-2702-3077-3660312DC9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1BF950-9049-EE20-5B7F-B28BF7739D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A14AD9-934F-5C6D-BEF8-5F1812876C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016DC94-16E8-4028-B91C-E0793D8AC2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4C2C6C0-E46F-838C-2235-BB949C2CD4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987481-28C9-36B8-BB5A-A48EB5BFE6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3935DB-018C-2AC2-55DD-4618F60DB9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5D95862-0413-B47F-5EA6-F8C658133FB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8CE1305-8D0D-E5C7-E787-20ACC29B3D9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3188980-E579-DEE1-5828-BCDCC6AD1C4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029A561-CCB2-1174-F947-83A5BAC81C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7B90D5B-48EB-6D16-19FF-B121C98D94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AB32215-F36B-8982-15B3-9ADF1B1253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0C8A60-5317-9D60-55E0-A5C712D22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21AB46B-BEB8-0075-E4F0-FFD4DAB9FE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9ED68B8-2C17-DB9F-98CA-7774C21DCA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251ADF9-B6D2-3B08-0067-5D70FA2D53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259CB8C-5882-D7F9-0C5F-5CAE7BB8CB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C5A38BF-916A-394C-A009-EA8384497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01AC420-6534-BA75-9579-11901021DA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54C0B0-D4EF-8BE0-3D87-434572F0D2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DEB04DA-348F-0CA0-3EB3-6B5B5E66D3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A024A34-06D8-8410-DAA7-584D665414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C790C3-85ED-A42A-E800-B96767E89D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C8CE1A-3A99-4FA9-0273-D6593A0C72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825D52D-C5CB-071F-A944-F98893772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9A96CC-38AC-1EF5-648E-E7F422D731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D0507D7-2DF6-FAC2-D4BB-A4AB3244AF0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FBF6656-6D39-2FD8-5252-482351FF6B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0CA16A1-82B5-DA65-7D5C-1071657EA5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2523671-72F7-98E8-B10C-E2B3321B3C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A0913F0-CB9B-234C-E784-84F1D5C9D9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757AC8-A107-6BEF-E21C-C9F2BB83AE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64E386-D025-1C80-A103-5968FBBCBA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2B3C2C-FD10-2FF9-27A8-1744C93C66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BEEF54-8ADC-991C-7D9C-C7C12EA43B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079658-DCDC-95B9-20D6-1ACA48D1B1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99EDAE0-532D-25E1-1EA2-CA7D31C2BB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223E2A-A142-D64E-7901-D79B21152B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DD5A47-47AF-2E22-3F5F-00D8029CCB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6E2697-B3A1-C43C-9380-7183DFA93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D8AFB7-62EB-363B-3021-3BA01BEEB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2906cfdb09495f" /><Relationship Type="http://schemas.openxmlformats.org/officeDocument/2006/relationships/slideLayout" Target="/ppt/slideLayouts/slideLayout1.xml" Id="Rbf32e2ec79194248" /><Relationship Type="http://schemas.openxmlformats.org/officeDocument/2006/relationships/slideLayout" Target="/ppt/slideLayouts/slideLayout2.xml" Id="R55e37bdec70b4c06" /><Relationship Type="http://schemas.openxmlformats.org/officeDocument/2006/relationships/slideLayout" Target="/ppt/slideLayouts/slideLayout3.xml" Id="R63dae6fe635c4c33" /><Relationship Type="http://schemas.openxmlformats.org/officeDocument/2006/relationships/slideLayout" Target="/ppt/slideLayouts/slideLayout4.xml" Id="R70cd392bc6d84629" /><Relationship Type="http://schemas.openxmlformats.org/officeDocument/2006/relationships/slideLayout" Target="/ppt/slideLayouts/slideLayout5.xml" Id="R94b3ec14c18c4320" /><Relationship Type="http://schemas.openxmlformats.org/officeDocument/2006/relationships/slideLayout" Target="/ppt/slideLayouts/slideLayout6.xml" Id="R3155a0a0cea540ec" /><Relationship Type="http://schemas.openxmlformats.org/officeDocument/2006/relationships/slideLayout" Target="/ppt/slideLayouts/slideLayout7.xml" Id="R384f012e49984b17" /><Relationship Type="http://schemas.openxmlformats.org/officeDocument/2006/relationships/slideLayout" Target="/ppt/slideLayouts/slideLayout8.xml" Id="R96f01bac55e04eef" /><Relationship Type="http://schemas.openxmlformats.org/officeDocument/2006/relationships/slideLayout" Target="/ppt/slideLayouts/slideLayout9.xml" Id="R966536fb37ae4fd2" /><Relationship Type="http://schemas.openxmlformats.org/officeDocument/2006/relationships/slideLayout" Target="/ppt/slideLayouts/slideLayout10.xml" Id="Ra4acae96255642d1" /><Relationship Type="http://schemas.openxmlformats.org/officeDocument/2006/relationships/slideLayout" Target="/ppt/slideLayouts/slideLayout11.xml" Id="Rb1a9bb81b92e4f3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6D20DC8-DCE3-A103-1D88-A82751FCC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BB9AD6-1C43-4F75-D382-EAEFBD03A2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504F01-46CE-D06D-2D4D-3BA090E33C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215C897A-756B-4347-B7BE-67F9F8184678}" type="datetimeFigureOut">
              <a:t>2026.08.31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A5B816-E33A-EA33-5019-C0C206A326D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0F2935-C73C-9292-EF27-B601E8004A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32e2ec79194248"/>
    <p:sldLayoutId xmlns:r="http://schemas.openxmlformats.org/officeDocument/2006/relationships" id="2147483650" r:id="R55e37bdec70b4c06"/>
    <p:sldLayoutId xmlns:r="http://schemas.openxmlformats.org/officeDocument/2006/relationships" id="2147483651" r:id="R63dae6fe635c4c33"/>
    <p:sldLayoutId xmlns:r="http://schemas.openxmlformats.org/officeDocument/2006/relationships" id="2147483652" r:id="R70cd392bc6d84629"/>
    <p:sldLayoutId xmlns:r="http://schemas.openxmlformats.org/officeDocument/2006/relationships" id="2147483653" r:id="R94b3ec14c18c4320"/>
    <p:sldLayoutId xmlns:r="http://schemas.openxmlformats.org/officeDocument/2006/relationships" id="2147483654" r:id="R3155a0a0cea540ec"/>
    <p:sldLayoutId xmlns:r="http://schemas.openxmlformats.org/officeDocument/2006/relationships" id="2147483655" r:id="R384f012e49984b17"/>
    <p:sldLayoutId xmlns:r="http://schemas.openxmlformats.org/officeDocument/2006/relationships" id="2147483656" r:id="R96f01bac55e04eef"/>
    <p:sldLayoutId xmlns:r="http://schemas.openxmlformats.org/officeDocument/2006/relationships" id="2147483657" r:id="R966536fb37ae4fd2"/>
    <p:sldLayoutId xmlns:r="http://schemas.openxmlformats.org/officeDocument/2006/relationships" id="2147483658" r:id="Ra4acae96255642d1"/>
    <p:sldLayoutId xmlns:r="http://schemas.openxmlformats.org/officeDocument/2006/relationships" id="2147483659" r:id="Rb1a9bb81b92e4f3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117294b364aea" /><Relationship Type="http://schemas.openxmlformats.org/officeDocument/2006/relationships/image" Target="/ppt/media/image.jpeg" Id="R276829179f724e2a" /><Relationship Type="http://schemas.openxmlformats.org/officeDocument/2006/relationships/notesSlide" Target="/ppt/notesSlides/notesSlide1.xml" Id="Rd34e96fccdef47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a43b72df3b4417" /><Relationship Type="http://schemas.openxmlformats.org/officeDocument/2006/relationships/notesSlide" Target="/ppt/notesSlides/notesSlide2.xml" Id="R1429d354f1cd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f1883f87f54d2d" /><Relationship Type="http://schemas.openxmlformats.org/officeDocument/2006/relationships/image" Target="/ppt/media/image2.jpeg" Id="R7896715caa6849f9" /><Relationship Type="http://schemas.openxmlformats.org/officeDocument/2006/relationships/notesSlide" Target="/ppt/notesSlides/notesSlide3.xml" Id="R1b2143d28f9f4d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43e791470d4451" /><Relationship Type="http://schemas.openxmlformats.org/officeDocument/2006/relationships/image" Target="/ppt/media/image3.jpeg" Id="R299ec7d050414c7e" /><Relationship Type="http://schemas.openxmlformats.org/officeDocument/2006/relationships/notesSlide" Target="/ppt/notesSlides/notesSlide4.xml" Id="R5f6f7f7bb2dc4b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a2fa2bb9384def" /><Relationship Type="http://schemas.openxmlformats.org/officeDocument/2006/relationships/image" Target="/ppt/media/image.png" Id="R56cee4387ff34626" /><Relationship Type="http://schemas.openxmlformats.org/officeDocument/2006/relationships/notesSlide" Target="/ppt/notesSlides/notesSlide5.xml" Id="R6d8ec294f1584b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c7c10bb9f14aba" /><Relationship Type="http://schemas.openxmlformats.org/officeDocument/2006/relationships/image" Target="/ppt/media/image4.jpeg" Id="R69f00866f6564930" /><Relationship Type="http://schemas.openxmlformats.org/officeDocument/2006/relationships/notesSlide" Target="/ppt/notesSlides/notesSlide6.xml" Id="R191b228548ce4e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133fef26a746bf" /><Relationship Type="http://schemas.openxmlformats.org/officeDocument/2006/relationships/image" Target="/ppt/media/image5.jpeg" Id="R43ff788322e64c1c" /><Relationship Type="http://schemas.openxmlformats.org/officeDocument/2006/relationships/notesSlide" Target="/ppt/notesSlides/notesSlide7.xml" Id="Rcdbe9a3feae748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073d03a1194954" /><Relationship Type="http://schemas.openxmlformats.org/officeDocument/2006/relationships/image" Target="/ppt/media/image6.jpeg" Id="Red0bc92d305f4304" /><Relationship Type="http://schemas.openxmlformats.org/officeDocument/2006/relationships/notesSlide" Target="/ppt/notesSlides/notesSlide8.xml" Id="R21ac36791ce84a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d3a750599941de" /><Relationship Type="http://schemas.openxmlformats.org/officeDocument/2006/relationships/image" Target="/ppt/media/image7.jpeg" Id="R101d306d9d2a4932" /><Relationship Type="http://schemas.openxmlformats.org/officeDocument/2006/relationships/notesSlide" Target="/ppt/notesSlides/notesSlide9.xml" Id="R323e6c48315f4a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5332225ed47ff" /><Relationship Type="http://schemas.openxmlformats.org/officeDocument/2006/relationships/image" Target="/ppt/media/image8.jpeg" Id="R26855b5517a543e6" /><Relationship Type="http://schemas.openxmlformats.org/officeDocument/2006/relationships/notesSlide" Target="/ppt/notesSlides/notesSlide10.xml" Id="Rf13e382153284a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69794f14d64f68" /><Relationship Type="http://schemas.openxmlformats.org/officeDocument/2006/relationships/image" Target="/ppt/media/image9.jpeg" Id="R1d4b5a6d4c7a4dc4" /><Relationship Type="http://schemas.openxmlformats.org/officeDocument/2006/relationships/notesSlide" Target="/ppt/notesSlides/notesSlide11.xml" Id="R5a3480400fd645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ce675136eb4609" /><Relationship Type="http://schemas.openxmlformats.org/officeDocument/2006/relationships/notesSlide" Target="/ppt/notesSlides/notesSlide12.xml" Id="R9348c805d1c943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4266623e4e4f17" /><Relationship Type="http://schemas.openxmlformats.org/officeDocument/2006/relationships/notesSlide" Target="/ppt/notesSlides/notesSlide13.xml" Id="R8a6591d9236d4a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a4ba73aead4001" /><Relationship Type="http://schemas.openxmlformats.org/officeDocument/2006/relationships/notesSlide" Target="/ppt/notesSlides/notesSlide14.xml" Id="R2a861002ca8d4b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71879fd9984248" /><Relationship Type="http://schemas.openxmlformats.org/officeDocument/2006/relationships/notesSlide" Target="/ppt/notesSlides/notesSlide15.xml" Id="R256959438bc042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ba5442947d44dc" /><Relationship Type="http://schemas.openxmlformats.org/officeDocument/2006/relationships/notesSlide" Target="/ppt/notesSlides/notesSlide16.xml" Id="Recb68f8d0fb743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2b745bd9384de8" /><Relationship Type="http://schemas.openxmlformats.org/officeDocument/2006/relationships/notesSlide" Target="/ppt/notesSlides/notesSlide17.xml" Id="R77cc72777b8849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e236d020ca448a" /><Relationship Type="http://schemas.openxmlformats.org/officeDocument/2006/relationships/image" Target="/ppt/media/image10.jpeg" Id="Rb9e55db6b1ef44bd" /><Relationship Type="http://schemas.openxmlformats.org/officeDocument/2006/relationships/notesSlide" Target="/ppt/notesSlides/notesSlide18.xml" Id="Reaf8049c57d3466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e41834655b408a" /><Relationship Type="http://schemas.openxmlformats.org/officeDocument/2006/relationships/image" Target="/ppt/media/image11.jpeg" Id="R9e5a7f37b4b242f4" /><Relationship Type="http://schemas.openxmlformats.org/officeDocument/2006/relationships/notesSlide" Target="/ppt/notesSlides/notesSlide19.xml" Id="Rcfe079894db444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3912c33ba7425e" /><Relationship Type="http://schemas.openxmlformats.org/officeDocument/2006/relationships/image" Target="/ppt/media/image12.jpeg" Id="R618b7446fccd4a17" /><Relationship Type="http://schemas.openxmlformats.org/officeDocument/2006/relationships/notesSlide" Target="/ppt/notesSlides/notesSlide20.xml" Id="R37a7ea27cd4a49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919CBF-0058-21C9-4F26-33DE43F7876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000250"/>
            <a:ext cx="5334000" cy="200025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4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What is</a:t>
            </a:r>
          </a:p>
          <a:p xmlns:a="http://schemas.openxmlformats.org/drawingml/2006/main">
            <a:pPr marL="0" indent="0" algn="l">
              <a:buNone/>
              <a:defRPr sz="4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investment?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829179f724e2a"/>
          <a:srcRect xmlns:a="http://schemas.openxmlformats.org/drawingml/2006/main" l="27344" t="0" r="27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61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42703B-51DC-8D8E-87A0-7F6B5EC37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By the end of this lesson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C424F4-2C58-1457-7D98-A3246D6A96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43000" y="1666875"/>
            <a:ext cx="9906000" cy="41910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Understand the difference between investment, speculation and saving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Understand investment return, and basic calculation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Give examples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2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Explain why something is investment, speculation or saving</a:t>
            </a:r>
          </a:p>
        </p:txBody>
      </p:sp>
    </p:spTree>
    <p:extLst>
      <p:ext uri="{BB962C8B-B14F-4D97-AF65-F5344CB8AC3E}">
        <p14:creationId xmlns:p14="http://schemas.microsoft.com/office/powerpoint/2010/main" val="2314305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CE2FAC-3797-2F00-FAC9-EFDF7014C0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Is this investment?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6715caa6849f9"/>
          <a:srcRect xmlns:a="http://schemas.openxmlformats.org/drawingml/2006/main" l="0" t="16703" r="0" b="16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81125"/>
            <a:ext cx="1104900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31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CE3483-6CEA-D277-81EA-0AEE6BE97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Is this investment?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ec7d050414c7e"/>
          <a:srcRect xmlns:a="http://schemas.openxmlformats.org/drawingml/2006/main" l="0" t="10536" r="0" b="10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81125"/>
            <a:ext cx="1104900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78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753761-A2BE-A81A-4B2F-6D76C7634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Definition of investment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07B61E-E1FF-4706-F5BB-01C14762CD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19250"/>
            <a:ext cx="6477000" cy="41910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Financial investment (金融投资) means putting money into an asset (资产) to seek future total return (总回报).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Total return = income + change in market value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Risk: possible loss (可能亏损)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Examples: stocks, index funds, bonds and property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ee4387ff34626"/>
          <a:srcRect xmlns:a="http://schemas.openxmlformats.org/drawingml/2006/main" l="26055" t="0" r="260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524000"/>
            <a:ext cx="381000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0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E9E8C1-10FE-83F9-57A6-5238B2334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Real example of total return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E726F6-73D6-1461-B458-54DC23A98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571625"/>
            <a:ext cx="5905500" cy="43338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S&amp;P 500, calendar 2025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Price return: 16.39%</a:t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Total return with dividends: 17.88%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USD 10,000 would become:</a:t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USD 11,639 without dividends</a:t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USD 11,788 with dividends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difference came from dividends.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00866f6564930"/>
          <a:srcRect xmlns:a="http://schemas.openxmlformats.org/drawingml/2006/main" l="17017" t="0" r="17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524000"/>
            <a:ext cx="428625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19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A7C310-9AEA-6F2B-EE01-6FA6FF112E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Definition of speculation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597231-263E-783D-6E31-CF9FD18239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19250"/>
            <a:ext cx="5905500" cy="4000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Speculation (投机) means trading mainly to profit from a predicted price change (预测的价格变动).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Income or underlying value (基础价值) is not the main basis.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Examples: shares bought after a rumour, gold bought for rapid resale, or currency traded after an exchange-rate prediction.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f788322e64c1c"/>
          <a:srcRect xmlns:a="http://schemas.openxmlformats.org/drawingml/2006/main" l="15906" t="0" r="159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524000"/>
            <a:ext cx="428625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24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F15517-CDD8-0040-069F-F483AD376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Real example of speculation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73F7D2-DB71-7501-0B9F-A64C759F91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0" y="1619250"/>
            <a:ext cx="5143500" cy="409575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GameStop, January 2021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More than 1,600% rise from the 11 January close to the 27 January close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USD 483 intraday high on 28 January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More than 86% fall from that high by the end of the first week of February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bc92d305f4304"/>
          <a:srcRect xmlns:a="http://schemas.openxmlformats.org/drawingml/2006/main" l="14205" t="0" r="142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524000"/>
            <a:ext cx="53340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057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0E350D-62E9-DC1D-DA04-0495D7DC9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33400"/>
            <a:ext cx="10972800" cy="6096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Why economists usually don’t favour speculation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373F09-016D-841D-6A42-E084F25682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66875"/>
            <a:ext cx="6096000" cy="390525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One reason is the cost of frequent trading.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study of 66,465 households found annual returns of: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Most-active households: 11.4%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Market: 17.9%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Trading costs reduced the net return of the most-active group.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d306d9d2a4932"/>
          <a:srcRect xmlns:a="http://schemas.openxmlformats.org/drawingml/2006/main" l="15894" t="0" r="15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619250"/>
            <a:ext cx="409575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147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9EFB71-D60D-ECD4-E303-237F00B5C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Definition of saving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A917A92-886F-0D21-3EF1-FDB9DCB2B2E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19250"/>
            <a:ext cx="5905500" cy="4095750"/>
          </a:xfrm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Saving is current income not spent now.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Emphasis: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capital preservation (保本)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liquidity (流动性)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Examples: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emergency fund (应急资金)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examination fees held for a known date</a:t>
            </a:r>
          </a:p>
          <a:p xmlns:a="http://schemas.openxmlformats.org/drawingml/2006/main">
            <a:pPr marL="0" indent="0" algn="l">
              <a:buNone/>
              <a:defRPr sz="19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short-term cash buffer (现金缓冲)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55b5517a543e6"/>
          <a:srcRect xmlns:a="http://schemas.openxmlformats.org/drawingml/2006/main" l="11648" t="0" r="116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524000"/>
            <a:ext cx="428625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538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02509-0E28-9548-1D52-4D2555BD8D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Example of saving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C8CB7BF-2B08-E222-FD53-2C1D489C3E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714500"/>
            <a:ext cx="5715000" cy="371475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China, end-2025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CNY 167.0 trillion</a:t>
            </a:r>
          </a:p>
          <a:p xmlns:a="http://schemas.openxmlformats.org/drawingml/2006/main">
            <a:pPr marL="0" indent="0" algn="l">
              <a:buNone/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domestic household deposits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9.7% increase from end-2024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Saving can serve a near-term need even when it earns some interest.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b5a6d4c7a4dc4"/>
          <a:srcRect xmlns:a="http://schemas.openxmlformats.org/drawingml/2006/main" l="15148" t="0" r="15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524000"/>
            <a:ext cx="4381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143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9479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Choose: Investment (投资), speculation (投机) or saving (储蓄)?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4850" y="1381125"/>
            <a:ext cx="10782300" cy="49053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1. The main basis is expected income and/or evidence about underlying value; possible loss is accepted.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2. The main reason is a predicted price change; income or underlying value is not the main basis.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3. Money is kept mainly for a future need, safety and ready access.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4. Amina studies profits, cash flow and debt before buying a diversified share portfolio. She expects dividends and long-term price growth.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5. Bao borrows after an online rumour predicts a price rise next week. He will sell after an announcement.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D9BD49-C6E6-D286-FD16-E3C65D51C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9479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Choose: Investment (投资), speculation (投机) or saving (储蓄)?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6D48C89-11B4-44C9-6372-440B1F136E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4850" y="1381125"/>
            <a:ext cx="10782300" cy="4905375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6. Chloe estimates rent, maintenance and vacancy costs. She buys a flat mainly for net rental income.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7. Daniel needs examination-fee money in eight months, so he uses an easy-access account for safety and liquidity.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8. Eva invests for university in ten years using a diversified fund. She reviewed fees and risks and accepts a possible fall in market value.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9. Farah keeps an emergency fund in an easy-access account. Quick withdrawal matters more than return.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10. George buys a bond fund for retirement after checking interest income, credit risk, interest-rate risk and fees.</a:t>
            </a:r>
          </a:p>
        </p:txBody>
      </p:sp>
    </p:spTree>
    <p:extLst>
      <p:ext uri="{BB962C8B-B14F-4D97-AF65-F5344CB8AC3E}">
        <p14:creationId xmlns:p14="http://schemas.microsoft.com/office/powerpoint/2010/main" val="42626178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E2C0E1-4A9B-215D-C8CD-FD9389D2D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9479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Choose: Investment (投资), speculation (投机) or saving (储蓄)?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1610336-795F-277B-223D-11441AF260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57250" y="1666875"/>
            <a:ext cx="10477500" cy="38100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11. Hadi buys Bitcoin after an influencer predicts a weekend price jump. He will sell immediately if it happens.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12. Iris buys foreign currency before a central-bank announcement. Her expected gain depends on a price prediction.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13. Jun needs tuition money in three months, so he uses an easy-access account for safety and liquidity.</a:t>
            </a:r>
          </a:p>
        </p:txBody>
      </p:sp>
    </p:spTree>
    <p:extLst>
      <p:ext uri="{BB962C8B-B14F-4D97-AF65-F5344CB8AC3E}">
        <p14:creationId xmlns:p14="http://schemas.microsoft.com/office/powerpoint/2010/main" val="5571446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6DCE13-3C03-E181-F9CA-8F5D6DC44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MCQ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1E0E34-08C7-D5B0-FB16-1E95872D9A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2500" y="1428750"/>
            <a:ext cx="102870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What is the strongest evidence that a decision is a financial investment (金融投资)?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A. The asset has risen in price before.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B. The main basis is expected income and/or evidence about underlying value, while possible loss is accepted.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C. Money can be withdrawn immediately with no possible loss.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D. The buyer plans to sell after an unverified rumour.</a:t>
            </a:r>
          </a:p>
        </p:txBody>
      </p:sp>
    </p:spTree>
    <p:extLst>
      <p:ext uri="{BB962C8B-B14F-4D97-AF65-F5344CB8AC3E}">
        <p14:creationId xmlns:p14="http://schemas.microsoft.com/office/powerpoint/2010/main" val="5255962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276B47-845A-DC38-E33E-A2A88CB7E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MCQ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5F429-E529-97E6-0606-D10EB458EB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2500" y="1428750"/>
            <a:ext cx="102870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Which decision is saving (储蓄) rather than financial investment (金融投资)?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A. Keeping school-trip money in an easy-access account.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B. Buying a diversified fund for long-term growth after reviewing its fees and risks.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C. Buying shares for dividends and long-term value after analysing profits, debt and cash flow.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D. Buying property mainly for expected net rental income.</a:t>
            </a:r>
          </a:p>
        </p:txBody>
      </p:sp>
    </p:spTree>
    <p:extLst>
      <p:ext uri="{BB962C8B-B14F-4D97-AF65-F5344CB8AC3E}">
        <p14:creationId xmlns:p14="http://schemas.microsoft.com/office/powerpoint/2010/main" val="1622084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5AD8BB-23E8-C4F3-A9DA-31F5CCC0D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MCQ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BEC868-95C2-1C0D-E1B7-4553340542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2500" y="1428750"/>
            <a:ext cx="10287000" cy="47625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Which evidence most clearly indicates speculation (投机)?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A. Expected bond interest after analysing credit risk.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B. Expected net rental income after estimating vacancy and maintenance.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C. Borrowing after a rumour of a next-week price jump and planning a quick sale.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D. Accepting that a diversified fund held long term can lose value.</a:t>
            </a:r>
          </a:p>
        </p:txBody>
      </p:sp>
    </p:spTree>
    <p:extLst>
      <p:ext uri="{BB962C8B-B14F-4D97-AF65-F5344CB8AC3E}">
        <p14:creationId xmlns:p14="http://schemas.microsoft.com/office/powerpoint/2010/main" val="16120419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4190B7-B771-44F1-2AE6-B30C059E9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Short answer question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F3F9A3A-B398-A25E-EF98-2CDD0E4C28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19250"/>
            <a:ext cx="6191250" cy="409575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Mina receives ¥500 and has no money set aside for emergencies. Should she save some before investing? Explain.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at least two terms: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emergency fund (应急资金)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liquidity (流动性)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essential spending (必要支出)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possible loss (可能亏损)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55db6b1ef44bd"/>
          <a:srcRect xmlns:a="http://schemas.openxmlformats.org/drawingml/2006/main" l="23177" t="0" r="231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524000"/>
            <a:ext cx="4000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463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EFE464-7ACE-6098-A3B2-6BF9D51E9B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Short answer question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C1ADBE-522A-4212-AD09-B33B4169F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619250"/>
            <a:ext cx="6191250" cy="409575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Leo needs the money for a laptop in six months. He wants a higher return but cannot afford a loss. Should he save or invest it? Explain.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at least two terms: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time horizon (投资期限)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liquidity (流动性)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capital preservation (保本)</a:t>
            </a:r>
          </a:p>
          <a:p xmlns:a="http://schemas.openxmlformats.org/drawingml/2006/main">
            <a:pPr marL="0" indent="0" algn="l">
              <a:buNone/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possible loss (可能亏损)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a7f37b4b242f4"/>
          <a:srcRect xmlns:a="http://schemas.openxmlformats.org/drawingml/2006/main" l="18191" t="0" r="181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524000"/>
            <a:ext cx="4000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022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A0C6C6-39CF-0255-47DF-526C3C8413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6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Short answer question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2AADBC-6F86-CC00-BCEB-8FB4CEDE29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571625"/>
            <a:ext cx="6191250" cy="41910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Nora borrows money to buy shares after an unverified online rumour. She will sell tomorrow if the price rises.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What makes this speculation, and how can borrowing make the loss worse?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at least two terms:</a:t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rumour (传闻) • price prediction (价格预测)</a:t>
            </a:r>
          </a:p>
          <a:p xmlns:a="http://schemas.openxmlformats.org/drawingml/2006/main">
            <a:pPr marL="0" indent="0" algn="l">
              <a:buNone/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repayment obligation (偿还义务) • possible loss (可能亏损)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b7446fccd4a17"/>
          <a:srcRect xmlns:a="http://schemas.openxmlformats.org/drawingml/2006/main" l="17146" t="0" r="171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524000"/>
            <a:ext cx="4000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946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2026-08-31T02:18:35.1950000Z</dcterms:created>
  <dcterms:modified xsi:type="dcterms:W3CDTF">2026-08-31T02:18:35.1950000Z</dcterms:modified>
</coreProperties>
</file>