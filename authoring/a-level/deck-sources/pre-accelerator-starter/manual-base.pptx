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5240000" cy="85725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3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SETUP: Project slide 1 before leaving for the meeting. Ask a class monitor to advance exactly once at 10 minutes if you have not returned. Slide 2 is a five-minute extension and explicitly tells students to stop there. Slides 3–5 are feedback for your return. No automatic advance. Suggested core pacing: Q1, five minutes including algebra or numerical checks and a distractor explanation; Q2, five minutes including complete working and a distractor explanation. Calculators optional. Extra explanations are teacher-added practice and carry no additional official marks. Core assesses taught consumption/saving and multiplier content only. The accelerator follows in the main lesson.</a:t>
            </a:r>
          </a:p>
          <a:p>
            <a:endParaRPr/>
          </a:p>
          <a:p>
            <a:r>
              <a:t>Original question: C:/Users/oehle/Documents/past-papers/economics_9708_a_level/Question Paper/2026-march/Paper 3/9708_m26_qp_32.pdf, printed/PDF page 6, Q15. Published mark scheme: Mark Scheme/2026-march/Paper 3/9708_m26_ms_32.pdf, page 2: D, 1 mark. Original wording, data and option order preserved. Equation uses original Y, not a substituted disposable-income symbol. Interpretation assumes positive income, as in the question. Explanations and diagnostic prompts are teacher-written.</a:t>
            </a:r>
          </a:p>
          <a:p>
            <a:endParaRPr/>
          </a:p>
          <a:p>
            <a:r>
              <a:t>Original question: C:/Users/oehle/Documents/past-papers/economics_9708_a_level/Question Paper/2021-march/Paper 3/9708_m21_qp_32.pdf, printed/PDF page 10, Q24. Published mark scheme: Mark Scheme/2021-march/Paper 3/9708_m21_ms_32.pdf, page 2: B, 1 mark. Original wording, data and option order preserved. This is deliberate retrieval of a question already present in the taught multiplier lesson. Diagnostic distractor explanations are teacher-written. Tax and saving propensities are both measured against national income in this question; add both leakages.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Minutes 10–15 only. This is a four-mark explanation, not a full essay. Students should work independently without showing the following feedback slides. If the teacher returns at 10 minutes, this task can be skipped. The last prompt is teacher-added review with no extra official marks.</a:t>
            </a:r>
          </a:p>
          <a:p>
            <a:endParaRPr/>
          </a:p>
          <a:p>
            <a:r>
              <a:t>Original question: C:/Users/oehle/Documents/past-papers/economics_9708_a_level/Question Paper/2024-oct-nov/Paper 4/9708_w24_qp_41.pdf, Q1(b), printed/PDF page 3. Relevant stimulus: first paragraph, page 2. Published mark scheme: Mark Scheme/2024-oct-nov/Paper 4/9708_w24_ms_41.pdf, page 8. Official allocation: 2 marks for understanding the multiplier, 2 for application using the case study. Four credited elements: total increase in national income/output (1), following an increase in injections into the circular flow (1), new jobs and associated incomes in the article (1), further round of spending/jobs/income (1). Task wording is unchanged. Context summary and model answer are teacher-written. This previously studied question is deliberate retrieval. No diagram or evaluation is required for this explain task.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question: C:/Users/oehle/Documents/past-papers/economics_9708_a_level/Question Paper/2026-march/Paper 3/9708_m26_qp_32.pdf, printed/PDF page 6, Q15. Published mark scheme: Mark Scheme/2026-march/Paper 3/9708_m26_ms_32.pdf, page 2: D, 1 mark. Original wording, data and option order preserved. Equation uses original Y, not a substituted disposable-income symbol. Interpretation assumes positive income, as in the question. Explanations and diagnostic prompts are teacher-written.</a:t>
            </a:r>
          </a:p>
          <a:p>
            <a:r>
              <a:t>Numerical check if needed: at Y = 50 000, C = 50 000 and APC = 1. At Y = 100 000, C = 90 000 and APC = 0.9. MPC remains 0.8. Ask students to distinguish the slope from the ratio C/Y. If A or C is common, use these two observations before proceeding. No accelerator knowledge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question: C:/Users/oehle/Documents/past-papers/economics_9708_a_level/Question Paper/2021-march/Paper 3/9708_m21_qp_32.pdf, printed/PDF page 10, Q24. Published mark scheme: Mark Scheme/2021-march/Paper 3/9708_m21_ms_32.pdf, page 2: B, 1 mark. Original wording, data and option order preserved. This is deliberate retrieval of a question already present in the taught multiplier lesson. Diagnostic distractor explanations are teacher-written. Tax and saving propensities are both measured against national income in this question; add both leakages.</a:t>
            </a:r>
          </a:p>
          <a:p>
            <a:r>
              <a:t>A: 1/0.1 gives 10 because it omits either tax or saving. C: 100m is the initial injection alone. D: with MPW = 0.2, 80m is the next round of spending. Total income includes the initial and all subsequent rounds. The economy is closed, so there is no import leakage. If A is common, ask students to identify every stated withdrawal before applying the formula.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question: C:/Users/oehle/Documents/past-papers/economics_9708_a_level/Question Paper/2024-oct-nov/Paper 4/9708_w24_qp_41.pdf, Q1(b), printed/PDF page 3. Relevant stimulus: first paragraph, page 2. Published mark scheme: Mark Scheme/2024-oct-nov/Paper 4/9708_w24_ms_41.pdf, page 8. Official allocation: 2 marks for understanding the multiplier, 2 for application using the case study. Four credited elements: total increase in national income/output (1), following an increase in injections into the circular flow (1), new jobs and associated incomes in the article (1), further round of spending/jobs/income (1). Task wording is unchanged. Context summary and model answer are teacher-written. This previously studied question is deliberate retrieval. No diagram or evaluation is required for this explain task.</a:t>
            </a:r>
          </a:p>
          <a:p>
            <a:r>
              <a:t>The examples of retail and transport are plausible teacher-written applications, not additional facts asserted by the article. Full four-mark coverage comes from the official understanding/application elements; do not award extra marks merely for length. After brief feedback, open the existing Investment and the accelerator lesson.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independent-core-title">
            <a:extLst>
              <a:ext uri="{FF2B5EF4-FFF2-40B4-BE49-F238E27FC236}">
                <a16:creationId xmlns:a16="http://schemas.microsoft.com/office/drawing/2014/main" id="{B4380A03-ED5C-41BB-BF9E-BC9AE9501123}"/>
              </a:ext>
            </a:extLst>
          </p:cNvPr>
          <p:cNvSpPr>
            <a:spLocks noGrp="1"/>
          </p:cNvSpPr>
          <p:nvPr/>
        </p:nvSpPr>
        <p:spPr>
          <a:xfrm>
            <a:off x="619125" y="682843"/>
            <a:ext cx="14001750" cy="619125"/>
          </a:xfrm>
          <a:prstGeom prst="rect">
            <a:avLst/>
          </a:prstGeom>
          <a:noFill/>
          <a:ln w="0">
            <a:noFill/>
          </a:ln>
        </p:spPr>
        <p:txBody>
          <a:bodyPr anchor="t">
            <a:noAutofit/>
          </a:bodyPr>
          <a:lstStyle/>
          <a:p>
            <a:pPr>
              <a:defRPr sz="3675" b="1">
                <a:solidFill>
                  <a:srgbClr val="102D46"/>
                </a:solidFill>
                <a:latin typeface="Arial"/>
                <a:ea typeface="Arial"/>
                <a:cs typeface="Arial"/>
              </a:defRPr>
            </a:pPr>
            <a:r>
              <a:rPr sz="3675" b="1">
                <a:solidFill>
                  <a:srgbClr val="102D46"/>
                </a:solidFill>
                <a:latin typeface="Arial"/>
                <a:ea typeface="Arial"/>
                <a:cs typeface="Arial"/>
              </a:rPr>
              <a:t>Consumption and the multiplier</a:t>
            </a:r>
          </a:p>
        </p:txBody>
      </p:sp>
      <p:sp>
        <p:nvSpPr>
          <p:cNvPr id="4" name="consumption-heading">
            <a:extLst>
              <a:ext uri="{FF2B5EF4-FFF2-40B4-BE49-F238E27FC236}">
                <a16:creationId xmlns:a16="http://schemas.microsoft.com/office/drawing/2014/main" id="{D245C539-A8B6-4D2C-B689-8ED23D1DE0E3}"/>
              </a:ext>
            </a:extLst>
          </p:cNvPr>
          <p:cNvSpPr>
            <a:spLocks noGrp="1"/>
          </p:cNvSpPr>
          <p:nvPr/>
        </p:nvSpPr>
        <p:spPr>
          <a:xfrm>
            <a:off x="619125" y="1628443"/>
            <a:ext cx="6858000" cy="428625"/>
          </a:xfrm>
          <a:prstGeom prst="rect">
            <a:avLst/>
          </a:prstGeom>
          <a:noFill/>
          <a:ln w="0">
            <a:noFill/>
          </a:ln>
        </p:spPr>
        <p:txBody>
          <a:bodyPr anchor="t">
            <a:noAutofit/>
          </a:bodyPr>
          <a:lstStyle/>
          <a:p>
            <a:pPr>
              <a:defRPr sz="2325" b="1">
                <a:solidFill>
                  <a:srgbClr val="126A8C"/>
                </a:solidFill>
                <a:latin typeface="Arial"/>
                <a:ea typeface="Arial"/>
                <a:cs typeface="Arial"/>
              </a:defRPr>
            </a:pPr>
            <a:r>
              <a:rPr sz="2325" b="1">
                <a:solidFill>
                  <a:srgbClr val="126A8C"/>
                </a:solidFill>
                <a:latin typeface="Arial"/>
                <a:ea typeface="Arial"/>
                <a:cs typeface="Arial"/>
              </a:rPr>
              <a:t>1   Consumption function</a:t>
            </a:r>
          </a:p>
        </p:txBody>
      </p:sp>
      <p:sp>
        <p:nvSpPr>
          <p:cNvPr id="5" name="consumption-stem">
            <a:extLst>
              <a:ext uri="{FF2B5EF4-FFF2-40B4-BE49-F238E27FC236}">
                <a16:creationId xmlns:a16="http://schemas.microsoft.com/office/drawing/2014/main" id="{6756B3B6-F534-444C-9D9C-3285622A0273}"/>
              </a:ext>
            </a:extLst>
          </p:cNvPr>
          <p:cNvSpPr>
            <a:spLocks noGrp="1"/>
          </p:cNvSpPr>
          <p:nvPr/>
        </p:nvSpPr>
        <p:spPr>
          <a:xfrm>
            <a:off x="619125" y="2152318"/>
            <a:ext cx="6715125" cy="1762125"/>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An estimate of the consumption function of an economy is given by an equation C = 10 000 + 0.8Y where C = consumption and Y = income.</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Which conclusion can be drawn from this information?</a:t>
            </a:r>
          </a:p>
        </p:txBody>
      </p:sp>
      <p:sp>
        <p:nvSpPr>
          <p:cNvPr id="6" name="core-consumption-option-0">
            <a:extLst>
              <a:ext uri="{FF2B5EF4-FFF2-40B4-BE49-F238E27FC236}">
                <a16:creationId xmlns:a16="http://schemas.microsoft.com/office/drawing/2014/main" id="{51A2871F-8D4E-4C4F-91E4-50251E48ABAC}"/>
              </a:ext>
            </a:extLst>
          </p:cNvPr>
          <p:cNvSpPr>
            <a:spLocks noGrp="1"/>
          </p:cNvSpPr>
          <p:nvPr/>
        </p:nvSpPr>
        <p:spPr>
          <a:xfrm>
            <a:off x="619125" y="4057318"/>
            <a:ext cx="6715125" cy="40005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A   The average propensity to consume is constant.</a:t>
            </a:r>
          </a:p>
        </p:txBody>
      </p:sp>
      <p:sp>
        <p:nvSpPr>
          <p:cNvPr id="7" name="core-consumption-option-1">
            <a:extLst>
              <a:ext uri="{FF2B5EF4-FFF2-40B4-BE49-F238E27FC236}">
                <a16:creationId xmlns:a16="http://schemas.microsoft.com/office/drawing/2014/main" id="{292836B7-91D2-4C38-BB80-79504E5A16F2}"/>
              </a:ext>
            </a:extLst>
          </p:cNvPr>
          <p:cNvSpPr>
            <a:spLocks noGrp="1"/>
          </p:cNvSpPr>
          <p:nvPr/>
        </p:nvSpPr>
        <p:spPr>
          <a:xfrm>
            <a:off x="619125" y="4543093"/>
            <a:ext cx="6715125" cy="72390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B   The average propensity to consume increases as income increases.</a:t>
            </a:r>
          </a:p>
        </p:txBody>
      </p:sp>
      <p:sp>
        <p:nvSpPr>
          <p:cNvPr id="8" name="core-consumption-option-2">
            <a:extLst>
              <a:ext uri="{FF2B5EF4-FFF2-40B4-BE49-F238E27FC236}">
                <a16:creationId xmlns:a16="http://schemas.microsoft.com/office/drawing/2014/main" id="{22660529-09E9-4C85-A22A-3058F690921E}"/>
              </a:ext>
            </a:extLst>
          </p:cNvPr>
          <p:cNvSpPr>
            <a:spLocks noGrp="1"/>
          </p:cNvSpPr>
          <p:nvPr/>
        </p:nvSpPr>
        <p:spPr>
          <a:xfrm>
            <a:off x="619125" y="5352718"/>
            <a:ext cx="6715125" cy="104775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C   The average propensity to consume is always equal to the marginal propensity to consume.</a:t>
            </a:r>
          </a:p>
        </p:txBody>
      </p:sp>
      <p:sp>
        <p:nvSpPr>
          <p:cNvPr id="9" name="core-consumption-option-3">
            <a:extLst>
              <a:ext uri="{FF2B5EF4-FFF2-40B4-BE49-F238E27FC236}">
                <a16:creationId xmlns:a16="http://schemas.microsoft.com/office/drawing/2014/main" id="{F4A33F10-18B1-4F87-AA4E-25FEC1E0ECD8}"/>
              </a:ext>
            </a:extLst>
          </p:cNvPr>
          <p:cNvSpPr>
            <a:spLocks noGrp="1"/>
          </p:cNvSpPr>
          <p:nvPr/>
        </p:nvSpPr>
        <p:spPr>
          <a:xfrm>
            <a:off x="619125" y="6486193"/>
            <a:ext cx="6715125" cy="104775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D   The average propensity to consume is always greater than the marginal propensity to consume.</a:t>
            </a:r>
          </a:p>
        </p:txBody>
      </p:sp>
      <p:sp>
        <p:nvSpPr>
          <p:cNvPr id="10" name="multiplier-heading">
            <a:extLst>
              <a:ext uri="{FF2B5EF4-FFF2-40B4-BE49-F238E27FC236}">
                <a16:creationId xmlns:a16="http://schemas.microsoft.com/office/drawing/2014/main" id="{39FB9B30-065E-40FC-8460-A9EF8032BBC4}"/>
              </a:ext>
            </a:extLst>
          </p:cNvPr>
          <p:cNvSpPr>
            <a:spLocks noGrp="1"/>
          </p:cNvSpPr>
          <p:nvPr/>
        </p:nvSpPr>
        <p:spPr>
          <a:xfrm>
            <a:off x="7953375" y="1628443"/>
            <a:ext cx="6667500" cy="428625"/>
          </a:xfrm>
          <a:prstGeom prst="rect">
            <a:avLst/>
          </a:prstGeom>
          <a:noFill/>
          <a:ln w="0">
            <a:noFill/>
          </a:ln>
        </p:spPr>
        <p:txBody>
          <a:bodyPr anchor="t">
            <a:noAutofit/>
          </a:bodyPr>
          <a:lstStyle/>
          <a:p>
            <a:pPr>
              <a:defRPr sz="2325" b="1">
                <a:solidFill>
                  <a:srgbClr val="126A8C"/>
                </a:solidFill>
                <a:latin typeface="Arial"/>
                <a:ea typeface="Arial"/>
                <a:cs typeface="Arial"/>
              </a:defRPr>
            </a:pPr>
            <a:r>
              <a:rPr sz="2325" b="1">
                <a:solidFill>
                  <a:srgbClr val="126A8C"/>
                </a:solidFill>
                <a:latin typeface="Arial"/>
                <a:ea typeface="Arial"/>
                <a:cs typeface="Arial"/>
              </a:rPr>
              <a:t>2   Multiplier calculation</a:t>
            </a:r>
          </a:p>
        </p:txBody>
      </p:sp>
      <p:sp>
        <p:nvSpPr>
          <p:cNvPr id="11" name="multiplier-stem">
            <a:extLst>
              <a:ext uri="{FF2B5EF4-FFF2-40B4-BE49-F238E27FC236}">
                <a16:creationId xmlns:a16="http://schemas.microsoft.com/office/drawing/2014/main" id="{2D09E21B-E19F-4367-9674-48798C016DF7}"/>
              </a:ext>
            </a:extLst>
          </p:cNvPr>
          <p:cNvSpPr>
            <a:spLocks noGrp="1"/>
          </p:cNvSpPr>
          <p:nvPr/>
        </p:nvSpPr>
        <p:spPr>
          <a:xfrm>
            <a:off x="7953375" y="2152318"/>
            <a:ext cx="6667500" cy="251460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In a closed economy, the marginal propensity to save is 0.1 and the marginal propensity to pay taxes is also 0.1. These values are constant and do not vary with the level of income.</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What will be the increase in national income if there is an injection of $100 million into the circular flow?</a:t>
            </a:r>
          </a:p>
        </p:txBody>
      </p:sp>
      <p:sp>
        <p:nvSpPr>
          <p:cNvPr id="12" name="core-multiplier-option-0">
            <a:extLst>
              <a:ext uri="{FF2B5EF4-FFF2-40B4-BE49-F238E27FC236}">
                <a16:creationId xmlns:a16="http://schemas.microsoft.com/office/drawing/2014/main" id="{FD48D65F-9B7C-42E1-BC17-773AC4149FD9}"/>
              </a:ext>
            </a:extLst>
          </p:cNvPr>
          <p:cNvSpPr>
            <a:spLocks noGrp="1"/>
          </p:cNvSpPr>
          <p:nvPr/>
        </p:nvSpPr>
        <p:spPr>
          <a:xfrm>
            <a:off x="7953375" y="4857418"/>
            <a:ext cx="6667500" cy="409575"/>
          </a:xfrm>
          <a:prstGeom prst="rect">
            <a:avLst/>
          </a:prstGeom>
          <a:noFill/>
          <a:ln w="0">
            <a:noFill/>
          </a:ln>
        </p:spPr>
        <p:txBody>
          <a:bodyPr anchor="t">
            <a:noAutofit/>
          </a:bodyPr>
          <a:lstStyle/>
          <a:p>
            <a:pPr>
              <a:defRPr sz="2175" b="0">
                <a:solidFill>
                  <a:srgbClr val="172D3C"/>
                </a:solidFill>
                <a:latin typeface="Arial"/>
                <a:ea typeface="Arial"/>
                <a:cs typeface="Arial"/>
              </a:defRPr>
            </a:pPr>
            <a:r>
              <a:rPr sz="2175" b="0">
                <a:solidFill>
                  <a:srgbClr val="172D3C"/>
                </a:solidFill>
                <a:latin typeface="Arial"/>
                <a:ea typeface="Arial"/>
                <a:cs typeface="Arial"/>
              </a:rPr>
              <a:t>A   $1000 million</a:t>
            </a:r>
          </a:p>
        </p:txBody>
      </p:sp>
      <p:sp>
        <p:nvSpPr>
          <p:cNvPr id="13" name="core-multiplier-option-1">
            <a:extLst>
              <a:ext uri="{FF2B5EF4-FFF2-40B4-BE49-F238E27FC236}">
                <a16:creationId xmlns:a16="http://schemas.microsoft.com/office/drawing/2014/main" id="{70B2F371-8EED-40AC-A843-CB94A8012F31}"/>
              </a:ext>
            </a:extLst>
          </p:cNvPr>
          <p:cNvSpPr>
            <a:spLocks noGrp="1"/>
          </p:cNvSpPr>
          <p:nvPr/>
        </p:nvSpPr>
        <p:spPr>
          <a:xfrm>
            <a:off x="7953375" y="5352718"/>
            <a:ext cx="6667500" cy="409575"/>
          </a:xfrm>
          <a:prstGeom prst="rect">
            <a:avLst/>
          </a:prstGeom>
          <a:noFill/>
          <a:ln w="0">
            <a:noFill/>
          </a:ln>
        </p:spPr>
        <p:txBody>
          <a:bodyPr anchor="t">
            <a:noAutofit/>
          </a:bodyPr>
          <a:lstStyle/>
          <a:p>
            <a:pPr>
              <a:defRPr sz="2175" b="0">
                <a:solidFill>
                  <a:srgbClr val="172D3C"/>
                </a:solidFill>
                <a:latin typeface="Arial"/>
                <a:ea typeface="Arial"/>
                <a:cs typeface="Arial"/>
              </a:defRPr>
            </a:pPr>
            <a:r>
              <a:rPr sz="2175" b="0">
                <a:solidFill>
                  <a:srgbClr val="172D3C"/>
                </a:solidFill>
                <a:latin typeface="Arial"/>
                <a:ea typeface="Arial"/>
                <a:cs typeface="Arial"/>
              </a:rPr>
              <a:t>B   $500 million</a:t>
            </a:r>
          </a:p>
        </p:txBody>
      </p:sp>
      <p:sp>
        <p:nvSpPr>
          <p:cNvPr id="14" name="core-multiplier-option-2">
            <a:extLst>
              <a:ext uri="{FF2B5EF4-FFF2-40B4-BE49-F238E27FC236}">
                <a16:creationId xmlns:a16="http://schemas.microsoft.com/office/drawing/2014/main" id="{F133C61B-EB59-4008-A09F-4EB91B16FD3F}"/>
              </a:ext>
            </a:extLst>
          </p:cNvPr>
          <p:cNvSpPr>
            <a:spLocks noGrp="1"/>
          </p:cNvSpPr>
          <p:nvPr/>
        </p:nvSpPr>
        <p:spPr>
          <a:xfrm>
            <a:off x="7953375" y="5848018"/>
            <a:ext cx="6667500" cy="409575"/>
          </a:xfrm>
          <a:prstGeom prst="rect">
            <a:avLst/>
          </a:prstGeom>
          <a:noFill/>
          <a:ln w="0">
            <a:noFill/>
          </a:ln>
        </p:spPr>
        <p:txBody>
          <a:bodyPr anchor="t">
            <a:noAutofit/>
          </a:bodyPr>
          <a:lstStyle/>
          <a:p>
            <a:pPr>
              <a:defRPr sz="2175" b="0">
                <a:solidFill>
                  <a:srgbClr val="172D3C"/>
                </a:solidFill>
                <a:latin typeface="Arial"/>
                <a:ea typeface="Arial"/>
                <a:cs typeface="Arial"/>
              </a:defRPr>
            </a:pPr>
            <a:r>
              <a:rPr sz="2175" b="0">
                <a:solidFill>
                  <a:srgbClr val="172D3C"/>
                </a:solidFill>
                <a:latin typeface="Arial"/>
                <a:ea typeface="Arial"/>
                <a:cs typeface="Arial"/>
              </a:rPr>
              <a:t>C   $100 million</a:t>
            </a:r>
          </a:p>
        </p:txBody>
      </p:sp>
      <p:sp>
        <p:nvSpPr>
          <p:cNvPr id="15" name="core-multiplier-option-3">
            <a:extLst>
              <a:ext uri="{FF2B5EF4-FFF2-40B4-BE49-F238E27FC236}">
                <a16:creationId xmlns:a16="http://schemas.microsoft.com/office/drawing/2014/main" id="{B22E8095-98C0-4BE7-92CB-0FF29F4D75E2}"/>
              </a:ext>
            </a:extLst>
          </p:cNvPr>
          <p:cNvSpPr>
            <a:spLocks noGrp="1"/>
          </p:cNvSpPr>
          <p:nvPr/>
        </p:nvSpPr>
        <p:spPr>
          <a:xfrm>
            <a:off x="7953375" y="6343318"/>
            <a:ext cx="6667500" cy="409575"/>
          </a:xfrm>
          <a:prstGeom prst="rect">
            <a:avLst/>
          </a:prstGeom>
          <a:noFill/>
          <a:ln w="0">
            <a:noFill/>
          </a:ln>
        </p:spPr>
        <p:txBody>
          <a:bodyPr anchor="t">
            <a:noAutofit/>
          </a:bodyPr>
          <a:lstStyle/>
          <a:p>
            <a:pPr>
              <a:defRPr sz="2175" b="0">
                <a:solidFill>
                  <a:srgbClr val="172D3C"/>
                </a:solidFill>
                <a:latin typeface="Arial"/>
                <a:ea typeface="Arial"/>
                <a:cs typeface="Arial"/>
              </a:defRPr>
            </a:pPr>
            <a:r>
              <a:rPr sz="2175" b="0">
                <a:solidFill>
                  <a:srgbClr val="172D3C"/>
                </a:solidFill>
                <a:latin typeface="Arial"/>
                <a:ea typeface="Arial"/>
                <a:cs typeface="Arial"/>
              </a:rPr>
              <a:t>D   $80 million</a:t>
            </a:r>
          </a:p>
        </p:txBody>
      </p:sp>
      <p:sp>
        <p:nvSpPr>
          <p:cNvPr id="17" name="core-source">
            <a:extLst>
              <a:ext uri="{FF2B5EF4-FFF2-40B4-BE49-F238E27FC236}">
                <a16:creationId xmlns:a16="http://schemas.microsoft.com/office/drawing/2014/main" id="{9BBEE525-4390-45A1-91FC-887CE6EA1FA0}"/>
              </a:ext>
            </a:extLst>
          </p:cNvPr>
          <p:cNvSpPr>
            <a:spLocks noGrp="1"/>
          </p:cNvSpPr>
          <p:nvPr/>
        </p:nvSpPr>
        <p:spPr>
          <a:xfrm>
            <a:off x="619125" y="7600618"/>
            <a:ext cx="14001750" cy="257175"/>
          </a:xfrm>
          <a:prstGeom prst="rect">
            <a:avLst/>
          </a:prstGeom>
          <a:noFill/>
          <a:ln w="0">
            <a:noFill/>
          </a:ln>
        </p:spPr>
        <p:txBody>
          <a:bodyPr anchor="t">
            <a:noAutofit/>
          </a:bodyPr>
          <a:lstStyle/>
          <a:p>
            <a:pPr>
              <a:defRPr sz="1350" b="0">
                <a:solidFill>
                  <a:srgbClr val="52616C"/>
                </a:solidFill>
                <a:latin typeface="Arial"/>
                <a:ea typeface="Arial"/>
                <a:cs typeface="Arial"/>
              </a:defRPr>
            </a:pPr>
            <a:r>
              <a:rPr sz="1350" b="0">
                <a:solidFill>
                  <a:srgbClr val="52616C"/>
                </a:solidFill>
                <a:latin typeface="Arial"/>
                <a:ea typeface="Arial"/>
                <a:cs typeface="Arial"/>
              </a:rPr>
              <a:t>9708/32 February/March 2026, Q15 [1]     /     9708/32 February/March 2021, Q24 [1]</a:t>
            </a:r>
          </a:p>
        </p:txBody>
      </p:sp>
    </p:spTree>
    <p:extLst>
      <p:ext uri="{BB962C8B-B14F-4D97-AF65-F5344CB8AC3E}">
        <p14:creationId xmlns:p14="http://schemas.microsoft.com/office/powerpoint/2010/main" val="1147344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ptional-written-title">
            <a:extLst>
              <a:ext uri="{FF2B5EF4-FFF2-40B4-BE49-F238E27FC236}">
                <a16:creationId xmlns:a16="http://schemas.microsoft.com/office/drawing/2014/main" id="{FE8CD59A-86FD-4C41-BEDB-F51027AB9669}"/>
              </a:ext>
            </a:extLst>
          </p:cNvPr>
          <p:cNvSpPr>
            <a:spLocks noGrp="1"/>
          </p:cNvSpPr>
          <p:nvPr/>
        </p:nvSpPr>
        <p:spPr>
          <a:xfrm>
            <a:off x="619125" y="714375"/>
            <a:ext cx="14001750" cy="619125"/>
          </a:xfrm>
          <a:prstGeom prst="rect">
            <a:avLst/>
          </a:prstGeom>
          <a:noFill/>
          <a:ln w="0">
            <a:noFill/>
          </a:ln>
        </p:spPr>
        <p:txBody>
          <a:bodyPr anchor="t">
            <a:noAutofit/>
          </a:bodyPr>
          <a:lstStyle/>
          <a:p>
            <a:pPr>
              <a:defRPr sz="3675" b="1">
                <a:solidFill>
                  <a:srgbClr val="102D46"/>
                </a:solidFill>
                <a:latin typeface="Arial"/>
                <a:ea typeface="Arial"/>
                <a:cs typeface="Arial"/>
              </a:defRPr>
            </a:pPr>
            <a:r>
              <a:rPr sz="3675" b="1">
                <a:solidFill>
                  <a:srgbClr val="102D46"/>
                </a:solidFill>
                <a:latin typeface="Arial"/>
                <a:ea typeface="Arial"/>
                <a:cs typeface="Arial"/>
              </a:rPr>
              <a:t>Employment and the multiplier in Ghana</a:t>
            </a:r>
          </a:p>
        </p:txBody>
      </p:sp>
      <p:sp>
        <p:nvSpPr>
          <p:cNvPr id="4" name="context-label">
            <a:extLst>
              <a:ext uri="{FF2B5EF4-FFF2-40B4-BE49-F238E27FC236}">
                <a16:creationId xmlns:a16="http://schemas.microsoft.com/office/drawing/2014/main" id="{4086E0AA-B351-4DA9-9A97-36E5F4019E76}"/>
              </a:ext>
            </a:extLst>
          </p:cNvPr>
          <p:cNvSpPr>
            <a:spLocks noGrp="1"/>
          </p:cNvSpPr>
          <p:nvPr/>
        </p:nvSpPr>
        <p:spPr>
          <a:xfrm>
            <a:off x="619125" y="2524125"/>
            <a:ext cx="14001750" cy="333375"/>
          </a:xfrm>
          <a:prstGeom prst="rect">
            <a:avLst/>
          </a:prstGeom>
          <a:noFill/>
          <a:ln w="0">
            <a:noFill/>
          </a:ln>
        </p:spPr>
        <p:txBody>
          <a:bodyPr anchor="t">
            <a:noAutofit/>
          </a:bodyPr>
          <a:lstStyle/>
          <a:p>
            <a:pPr>
              <a:defRPr sz="1650" b="1">
                <a:solidFill>
                  <a:srgbClr val="52616C"/>
                </a:solidFill>
                <a:latin typeface="Arial"/>
                <a:ea typeface="Arial"/>
                <a:cs typeface="Arial"/>
              </a:defRPr>
            </a:pPr>
            <a:r>
              <a:rPr sz="1650" b="1">
                <a:solidFill>
                  <a:srgbClr val="52616C"/>
                </a:solidFill>
                <a:latin typeface="Arial"/>
                <a:ea typeface="Arial"/>
                <a:cs typeface="Arial"/>
              </a:rPr>
              <a:t>CONTEXT SUMMARY</a:t>
            </a:r>
          </a:p>
        </p:txBody>
      </p:sp>
      <p:sp>
        <p:nvSpPr>
          <p:cNvPr id="5" name="context">
            <a:extLst>
              <a:ext uri="{FF2B5EF4-FFF2-40B4-BE49-F238E27FC236}">
                <a16:creationId xmlns:a16="http://schemas.microsoft.com/office/drawing/2014/main" id="{42511002-D5E6-420E-B2ED-51024140240C}"/>
              </a:ext>
            </a:extLst>
          </p:cNvPr>
          <p:cNvSpPr>
            <a:spLocks noGrp="1"/>
          </p:cNvSpPr>
          <p:nvPr/>
        </p:nvSpPr>
        <p:spPr>
          <a:xfrm>
            <a:off x="619125" y="2971800"/>
            <a:ext cx="13716000" cy="1504950"/>
          </a:xfrm>
          <a:prstGeom prst="rect">
            <a:avLst/>
          </a:prstGeom>
          <a:noFill/>
          <a:ln w="0">
            <a:noFill/>
          </a:ln>
        </p:spPr>
        <p:txBody>
          <a:bodyPr anchor="t">
            <a:noAutofit/>
          </a:bodyPr>
          <a:lstStyle/>
          <a:p>
            <a:pPr>
              <a:defRPr sz="2400" b="0">
                <a:solidFill>
                  <a:srgbClr val="172D3C"/>
                </a:solidFill>
                <a:latin typeface="Arial"/>
                <a:ea typeface="Arial"/>
                <a:cs typeface="Arial"/>
              </a:defRPr>
            </a:pPr>
            <a:r>
              <a:rPr sz="2400" b="0">
                <a:solidFill>
                  <a:srgbClr val="172D3C"/>
                </a:solidFill>
                <a:latin typeface="Arial"/>
                <a:ea typeface="Arial"/>
                <a:cs typeface="Arial"/>
              </a:rPr>
              <a:t>Ghana discovered an offshore oil field in 2007 and began extraction in 2010. Extraction creates new jobs and raises incomes. Households spend some of the extra income on domestic goods and services and some on imports.</a:t>
            </a:r>
          </a:p>
        </p:txBody>
      </p:sp>
      <p:sp>
        <p:nvSpPr>
          <p:cNvPr id="6" name="written-question">
            <a:extLst>
              <a:ext uri="{FF2B5EF4-FFF2-40B4-BE49-F238E27FC236}">
                <a16:creationId xmlns:a16="http://schemas.microsoft.com/office/drawing/2014/main" id="{C2A90709-CA04-4474-A009-E7F1BE087DB7}"/>
              </a:ext>
            </a:extLst>
          </p:cNvPr>
          <p:cNvSpPr>
            <a:spLocks noGrp="1"/>
          </p:cNvSpPr>
          <p:nvPr/>
        </p:nvSpPr>
        <p:spPr>
          <a:xfrm>
            <a:off x="619125" y="4857750"/>
            <a:ext cx="13811250" cy="1428750"/>
          </a:xfrm>
          <a:prstGeom prst="rect">
            <a:avLst/>
          </a:prstGeom>
          <a:noFill/>
          <a:ln w="0">
            <a:noFill/>
          </a:ln>
        </p:spPr>
        <p:txBody>
          <a:bodyPr anchor="t">
            <a:noAutofit/>
          </a:bodyPr>
          <a:lstStyle/>
          <a:p>
            <a:pPr>
              <a:defRPr sz="2775" b="1">
                <a:solidFill>
                  <a:srgbClr val="102D46"/>
                </a:solidFill>
                <a:latin typeface="Arial"/>
                <a:ea typeface="Arial"/>
                <a:cs typeface="Arial"/>
              </a:defRPr>
            </a:pPr>
            <a:r>
              <a:rPr sz="2775" b="1">
                <a:solidFill>
                  <a:srgbClr val="102D46"/>
                </a:solidFill>
                <a:latin typeface="Arial"/>
                <a:ea typeface="Arial"/>
                <a:cs typeface="Arial"/>
              </a:rPr>
              <a:t>Explain how the extraction of natural resources in Ghana will ‘create further employment in other sectors through the multiplier effect’. [4]</a:t>
            </a:r>
          </a:p>
        </p:txBody>
      </p:sp>
      <p:sp>
        <p:nvSpPr>
          <p:cNvPr id="8" name="written-source">
            <a:extLst>
              <a:ext uri="{FF2B5EF4-FFF2-40B4-BE49-F238E27FC236}">
                <a16:creationId xmlns:a16="http://schemas.microsoft.com/office/drawing/2014/main" id="{EE999C84-DADB-4CAD-AC2F-01061F265117}"/>
              </a:ext>
            </a:extLst>
          </p:cNvPr>
          <p:cNvSpPr>
            <a:spLocks noGrp="1"/>
          </p:cNvSpPr>
          <p:nvPr/>
        </p:nvSpPr>
        <p:spPr>
          <a:xfrm>
            <a:off x="619125" y="8134350"/>
            <a:ext cx="14001750" cy="314325"/>
          </a:xfrm>
          <a:prstGeom prst="rect">
            <a:avLst/>
          </a:prstGeom>
          <a:noFill/>
          <a:ln w="0">
            <a:noFill/>
          </a:ln>
        </p:spPr>
        <p:txBody>
          <a:bodyPr anchor="t">
            <a:noAutofit/>
          </a:bodyPr>
          <a:lstStyle/>
          <a:p>
            <a:pPr>
              <a:defRPr sz="1575" b="0">
                <a:solidFill>
                  <a:srgbClr val="52616C"/>
                </a:solidFill>
                <a:latin typeface="Arial"/>
                <a:ea typeface="Arial"/>
                <a:cs typeface="Arial"/>
              </a:defRPr>
            </a:pPr>
            <a:r>
              <a:rPr sz="1575" b="0">
                <a:solidFill>
                  <a:srgbClr val="52616C"/>
                </a:solidFill>
                <a:latin typeface="Arial"/>
                <a:ea typeface="Arial"/>
                <a:cs typeface="Arial"/>
              </a:rPr>
              <a:t>9708/41 October/November 2024, Q1(b) [4]     Context summary: teacher-written from the source.</a:t>
            </a:r>
          </a:p>
        </p:txBody>
      </p:sp>
    </p:spTree>
    <p:extLst>
      <p:ext uri="{BB962C8B-B14F-4D97-AF65-F5344CB8AC3E}">
        <p14:creationId xmlns:p14="http://schemas.microsoft.com/office/powerpoint/2010/main" val="164793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consumption-feedback-label">
            <a:extLst>
              <a:ext uri="{FF2B5EF4-FFF2-40B4-BE49-F238E27FC236}">
                <a16:creationId xmlns:a16="http://schemas.microsoft.com/office/drawing/2014/main" id="{EEEF0906-043D-4772-AE83-0420A6548D9C}"/>
              </a:ext>
            </a:extLst>
          </p:cNvPr>
          <p:cNvSpPr>
            <a:spLocks noGrp="1"/>
          </p:cNvSpPr>
          <p:nvPr/>
        </p:nvSpPr>
        <p:spPr>
          <a:xfrm>
            <a:off x="619125" y="304800"/>
            <a:ext cx="14001750" cy="304800"/>
          </a:xfrm>
          <a:prstGeom prst="rect">
            <a:avLst/>
          </a:prstGeom>
          <a:noFill/>
          <a:ln w="0">
            <a:noFill/>
          </a:ln>
        </p:spPr>
        <p:txBody>
          <a:bodyPr anchor="t">
            <a:noAutofit/>
          </a:bodyPr>
          <a:lstStyle/>
          <a:p>
            <a:pPr>
              <a:defRPr sz="1575" b="1">
                <a:solidFill>
                  <a:srgbClr val="126A8C"/>
                </a:solidFill>
                <a:latin typeface="Arial"/>
                <a:ea typeface="Arial"/>
                <a:cs typeface="Arial"/>
              </a:defRPr>
            </a:pPr>
            <a:r>
              <a:rPr sz="1575" b="1" dirty="0">
                <a:solidFill>
                  <a:srgbClr val="126A8C"/>
                </a:solidFill>
                <a:latin typeface="Arial"/>
                <a:ea typeface="Arial"/>
                <a:cs typeface="Arial"/>
              </a:rPr>
              <a:t>FEEDBACK     TEACHER REVEAL</a:t>
            </a:r>
          </a:p>
        </p:txBody>
      </p:sp>
      <p:sp>
        <p:nvSpPr>
          <p:cNvPr id="2" name="consumption-feedback-title">
            <a:extLst>
              <a:ext uri="{FF2B5EF4-FFF2-40B4-BE49-F238E27FC236}">
                <a16:creationId xmlns:a16="http://schemas.microsoft.com/office/drawing/2014/main" id="{7DB1070B-CB37-4A13-A7D9-62E61CED27FD}"/>
              </a:ext>
            </a:extLst>
          </p:cNvPr>
          <p:cNvSpPr>
            <a:spLocks noGrp="1"/>
          </p:cNvSpPr>
          <p:nvPr/>
        </p:nvSpPr>
        <p:spPr>
          <a:xfrm>
            <a:off x="619125" y="714375"/>
            <a:ext cx="14001750" cy="619125"/>
          </a:xfrm>
          <a:prstGeom prst="rect">
            <a:avLst/>
          </a:prstGeom>
          <a:noFill/>
          <a:ln w="0">
            <a:noFill/>
          </a:ln>
        </p:spPr>
        <p:txBody>
          <a:bodyPr anchor="t">
            <a:noAutofit/>
          </a:bodyPr>
          <a:lstStyle/>
          <a:p>
            <a:pPr>
              <a:defRPr sz="3675" b="1">
                <a:solidFill>
                  <a:srgbClr val="102D46"/>
                </a:solidFill>
                <a:latin typeface="Arial"/>
                <a:ea typeface="Arial"/>
                <a:cs typeface="Arial"/>
              </a:defRPr>
            </a:pPr>
            <a:r>
              <a:rPr sz="3675" b="1">
                <a:solidFill>
                  <a:srgbClr val="102D46"/>
                </a:solidFill>
                <a:latin typeface="Arial"/>
                <a:ea typeface="Arial"/>
                <a:cs typeface="Arial"/>
              </a:rPr>
              <a:t>Average and marginal consumption</a:t>
            </a:r>
          </a:p>
        </p:txBody>
      </p:sp>
      <p:sp>
        <p:nvSpPr>
          <p:cNvPr id="3" name="q1-repeat">
            <a:extLst>
              <a:ext uri="{FF2B5EF4-FFF2-40B4-BE49-F238E27FC236}">
                <a16:creationId xmlns:a16="http://schemas.microsoft.com/office/drawing/2014/main" id="{A150DFC2-9215-4B3B-B9BB-E4A57BD399B2}"/>
              </a:ext>
            </a:extLst>
          </p:cNvPr>
          <p:cNvSpPr>
            <a:spLocks noGrp="1"/>
          </p:cNvSpPr>
          <p:nvPr/>
        </p:nvSpPr>
        <p:spPr>
          <a:xfrm>
            <a:off x="619125" y="1619250"/>
            <a:ext cx="6762750" cy="184785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An estimate of the consumption function of an economy is given by an equation C = 10 000 + 0.8Y where C = consumption and Y = income.</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Which conclusion can be drawn from this information?</a:t>
            </a:r>
          </a:p>
        </p:txBody>
      </p:sp>
      <p:sp>
        <p:nvSpPr>
          <p:cNvPr id="4" name="feedback-consumption-option-0">
            <a:extLst>
              <a:ext uri="{FF2B5EF4-FFF2-40B4-BE49-F238E27FC236}">
                <a16:creationId xmlns:a16="http://schemas.microsoft.com/office/drawing/2014/main" id="{74117434-AC15-45BE-BF86-70DE9EF1C57B}"/>
              </a:ext>
            </a:extLst>
          </p:cNvPr>
          <p:cNvSpPr>
            <a:spLocks noGrp="1"/>
          </p:cNvSpPr>
          <p:nvPr/>
        </p:nvSpPr>
        <p:spPr>
          <a:xfrm>
            <a:off x="619125" y="3733800"/>
            <a:ext cx="6762750" cy="428625"/>
          </a:xfrm>
          <a:prstGeom prst="rect">
            <a:avLst/>
          </a:prstGeom>
          <a:noFill/>
          <a:ln w="0">
            <a:noFill/>
          </a:ln>
        </p:spPr>
        <p:txBody>
          <a:bodyPr anchor="t">
            <a:noAutofit/>
          </a:bodyPr>
          <a:lstStyle/>
          <a:p>
            <a:pPr>
              <a:defRPr sz="1950" b="0">
                <a:solidFill>
                  <a:srgbClr val="172D3C"/>
                </a:solidFill>
                <a:latin typeface="Arial"/>
                <a:ea typeface="Arial"/>
                <a:cs typeface="Arial"/>
              </a:defRPr>
            </a:pPr>
            <a:r>
              <a:rPr sz="1950" b="0">
                <a:solidFill>
                  <a:srgbClr val="172D3C"/>
                </a:solidFill>
                <a:latin typeface="Arial"/>
                <a:ea typeface="Arial"/>
                <a:cs typeface="Arial"/>
              </a:rPr>
              <a:t>A   The average propensity to consume is constant.</a:t>
            </a:r>
          </a:p>
        </p:txBody>
      </p:sp>
      <p:sp>
        <p:nvSpPr>
          <p:cNvPr id="5" name="feedback-consumption-option-1">
            <a:extLst>
              <a:ext uri="{FF2B5EF4-FFF2-40B4-BE49-F238E27FC236}">
                <a16:creationId xmlns:a16="http://schemas.microsoft.com/office/drawing/2014/main" id="{3C1B8AB1-97F9-4E55-96A3-6D2C19FC8A58}"/>
              </a:ext>
            </a:extLst>
          </p:cNvPr>
          <p:cNvSpPr>
            <a:spLocks noGrp="1"/>
          </p:cNvSpPr>
          <p:nvPr/>
        </p:nvSpPr>
        <p:spPr>
          <a:xfrm>
            <a:off x="619125" y="4248150"/>
            <a:ext cx="6762750" cy="733425"/>
          </a:xfrm>
          <a:prstGeom prst="rect">
            <a:avLst/>
          </a:prstGeom>
          <a:noFill/>
          <a:ln w="0">
            <a:noFill/>
          </a:ln>
        </p:spPr>
        <p:txBody>
          <a:bodyPr anchor="t">
            <a:noAutofit/>
          </a:bodyPr>
          <a:lstStyle/>
          <a:p>
            <a:pPr>
              <a:defRPr sz="1950" b="0">
                <a:solidFill>
                  <a:srgbClr val="172D3C"/>
                </a:solidFill>
                <a:latin typeface="Arial"/>
                <a:ea typeface="Arial"/>
                <a:cs typeface="Arial"/>
              </a:defRPr>
            </a:pPr>
            <a:r>
              <a:rPr sz="1950" b="0">
                <a:solidFill>
                  <a:srgbClr val="172D3C"/>
                </a:solidFill>
                <a:latin typeface="Arial"/>
                <a:ea typeface="Arial"/>
                <a:cs typeface="Arial"/>
              </a:rPr>
              <a:t>B   The average propensity to consume increases as income increases.</a:t>
            </a:r>
          </a:p>
        </p:txBody>
      </p:sp>
      <p:sp>
        <p:nvSpPr>
          <p:cNvPr id="6" name="feedback-consumption-option-2">
            <a:extLst>
              <a:ext uri="{FF2B5EF4-FFF2-40B4-BE49-F238E27FC236}">
                <a16:creationId xmlns:a16="http://schemas.microsoft.com/office/drawing/2014/main" id="{5F98302F-EAF2-4E52-9AB8-39ABEDCFF09F}"/>
              </a:ext>
            </a:extLst>
          </p:cNvPr>
          <p:cNvSpPr>
            <a:spLocks noGrp="1"/>
          </p:cNvSpPr>
          <p:nvPr/>
        </p:nvSpPr>
        <p:spPr>
          <a:xfrm>
            <a:off x="619125" y="5067300"/>
            <a:ext cx="6762750" cy="1000125"/>
          </a:xfrm>
          <a:prstGeom prst="rect">
            <a:avLst/>
          </a:prstGeom>
          <a:noFill/>
          <a:ln w="0">
            <a:noFill/>
          </a:ln>
        </p:spPr>
        <p:txBody>
          <a:bodyPr anchor="t">
            <a:noAutofit/>
          </a:bodyPr>
          <a:lstStyle/>
          <a:p>
            <a:pPr>
              <a:defRPr sz="1950" b="0">
                <a:solidFill>
                  <a:srgbClr val="172D3C"/>
                </a:solidFill>
                <a:latin typeface="Arial"/>
                <a:ea typeface="Arial"/>
                <a:cs typeface="Arial"/>
              </a:defRPr>
            </a:pPr>
            <a:r>
              <a:rPr sz="1950" b="0">
                <a:solidFill>
                  <a:srgbClr val="172D3C"/>
                </a:solidFill>
                <a:latin typeface="Arial"/>
                <a:ea typeface="Arial"/>
                <a:cs typeface="Arial"/>
              </a:rPr>
              <a:t>C   The average propensity to consume is always equal to the marginal propensity to consume.</a:t>
            </a:r>
          </a:p>
        </p:txBody>
      </p:sp>
      <p:sp>
        <p:nvSpPr>
          <p:cNvPr id="7" name="feedback-consumption-option-3">
            <a:extLst>
              <a:ext uri="{FF2B5EF4-FFF2-40B4-BE49-F238E27FC236}">
                <a16:creationId xmlns:a16="http://schemas.microsoft.com/office/drawing/2014/main" id="{E4A0B077-3C02-4D0E-A0C1-E90067CBE6AE}"/>
              </a:ext>
            </a:extLst>
          </p:cNvPr>
          <p:cNvSpPr>
            <a:spLocks noGrp="1"/>
          </p:cNvSpPr>
          <p:nvPr/>
        </p:nvSpPr>
        <p:spPr>
          <a:xfrm>
            <a:off x="619125" y="6153150"/>
            <a:ext cx="6762750" cy="1000125"/>
          </a:xfrm>
          <a:prstGeom prst="rect">
            <a:avLst/>
          </a:prstGeom>
          <a:noFill/>
          <a:ln w="0">
            <a:noFill/>
          </a:ln>
        </p:spPr>
        <p:txBody>
          <a:bodyPr anchor="t">
            <a:noAutofit/>
          </a:bodyPr>
          <a:lstStyle/>
          <a:p>
            <a:pPr>
              <a:defRPr sz="1950" b="0">
                <a:solidFill>
                  <a:srgbClr val="172D3C"/>
                </a:solidFill>
                <a:latin typeface="Arial"/>
                <a:ea typeface="Arial"/>
                <a:cs typeface="Arial"/>
              </a:defRPr>
            </a:pPr>
            <a:r>
              <a:rPr sz="1950" b="0">
                <a:solidFill>
                  <a:srgbClr val="172D3C"/>
                </a:solidFill>
                <a:latin typeface="Arial"/>
                <a:ea typeface="Arial"/>
                <a:cs typeface="Arial"/>
              </a:rPr>
              <a:t>D   The average propensity to consume is always greater than the marginal propensity to consume.</a:t>
            </a:r>
          </a:p>
        </p:txBody>
      </p:sp>
      <p:sp>
        <p:nvSpPr>
          <p:cNvPr id="8" name="q1-answer">
            <a:extLst>
              <a:ext uri="{FF2B5EF4-FFF2-40B4-BE49-F238E27FC236}">
                <a16:creationId xmlns:a16="http://schemas.microsoft.com/office/drawing/2014/main" id="{31102878-CC3A-4173-A43F-3AF034CEEBEE}"/>
              </a:ext>
            </a:extLst>
          </p:cNvPr>
          <p:cNvSpPr>
            <a:spLocks noGrp="1"/>
          </p:cNvSpPr>
          <p:nvPr/>
        </p:nvSpPr>
        <p:spPr>
          <a:xfrm>
            <a:off x="7953375" y="1619250"/>
            <a:ext cx="6667500" cy="533400"/>
          </a:xfrm>
          <a:prstGeom prst="rect">
            <a:avLst/>
          </a:prstGeom>
          <a:noFill/>
          <a:ln w="0">
            <a:noFill/>
          </a:ln>
        </p:spPr>
        <p:txBody>
          <a:bodyPr anchor="t">
            <a:noAutofit/>
          </a:bodyPr>
          <a:lstStyle/>
          <a:p>
            <a:pPr>
              <a:defRPr sz="2550" b="1">
                <a:solidFill>
                  <a:srgbClr val="146452"/>
                </a:solidFill>
                <a:latin typeface="Arial"/>
                <a:ea typeface="Arial"/>
                <a:cs typeface="Arial"/>
              </a:defRPr>
            </a:pPr>
            <a:r>
              <a:rPr sz="2550" b="1">
                <a:solidFill>
                  <a:srgbClr val="146452"/>
                </a:solidFill>
                <a:latin typeface="Arial"/>
                <a:ea typeface="Arial"/>
                <a:cs typeface="Arial"/>
              </a:rPr>
              <a:t>D   APC is greater than MPC</a:t>
            </a:r>
          </a:p>
        </p:txBody>
      </p:sp>
      <p:sp>
        <p:nvSpPr>
          <p:cNvPr id="9" name="q1-equations">
            <a:extLst>
              <a:ext uri="{FF2B5EF4-FFF2-40B4-BE49-F238E27FC236}">
                <a16:creationId xmlns:a16="http://schemas.microsoft.com/office/drawing/2014/main" id="{E64524A8-8194-4EF4-A7AD-C5B903304810}"/>
              </a:ext>
            </a:extLst>
          </p:cNvPr>
          <p:cNvSpPr>
            <a:spLocks noGrp="1"/>
          </p:cNvSpPr>
          <p:nvPr/>
        </p:nvSpPr>
        <p:spPr>
          <a:xfrm>
            <a:off x="7953375" y="2400300"/>
            <a:ext cx="6667500" cy="2181225"/>
          </a:xfrm>
          <a:prstGeom prst="rect">
            <a:avLst/>
          </a:prstGeom>
          <a:noFill/>
          <a:ln w="0">
            <a:noFill/>
          </a:ln>
        </p:spPr>
        <p:txBody>
          <a:bodyPr anchor="t">
            <a:noAutofit/>
          </a:bodyPr>
          <a:lstStyle/>
          <a:p>
            <a:pPr>
              <a:defRPr sz="2550" b="0">
                <a:solidFill>
                  <a:srgbClr val="172D3C"/>
                </a:solidFill>
                <a:latin typeface="Arial"/>
                <a:ea typeface="Arial"/>
                <a:cs typeface="Arial"/>
              </a:defRPr>
            </a:pPr>
            <a:r>
              <a:rPr sz="2550" b="0">
                <a:solidFill>
                  <a:srgbClr val="172D3C"/>
                </a:solidFill>
                <a:latin typeface="Arial"/>
                <a:ea typeface="Arial"/>
                <a:cs typeface="Arial"/>
              </a:rPr>
              <a:t>MPC = 0.8</a:t>
            </a:r>
          </a:p>
          <a:p>
            <a:endParaRPr sz="2550" b="0">
              <a:solidFill>
                <a:srgbClr val="172D3C"/>
              </a:solidFill>
              <a:latin typeface="Arial"/>
              <a:ea typeface="Arial"/>
              <a:cs typeface="Arial"/>
            </a:endParaRPr>
          </a:p>
          <a:p>
            <a:pPr>
              <a:defRPr sz="2550" b="0">
                <a:solidFill>
                  <a:srgbClr val="172D3C"/>
                </a:solidFill>
                <a:latin typeface="Arial"/>
                <a:ea typeface="Arial"/>
                <a:cs typeface="Arial"/>
              </a:defRPr>
            </a:pPr>
            <a:r>
              <a:rPr sz="2550" b="0">
                <a:solidFill>
                  <a:srgbClr val="172D3C"/>
                </a:solidFill>
                <a:latin typeface="Arial"/>
                <a:ea typeface="Arial"/>
                <a:cs typeface="Arial"/>
              </a:rPr>
              <a:t>APC = C ÷ Y</a:t>
            </a:r>
          </a:p>
          <a:p>
            <a:pPr>
              <a:defRPr sz="2550" b="0">
                <a:solidFill>
                  <a:srgbClr val="172D3C"/>
                </a:solidFill>
                <a:latin typeface="Arial"/>
                <a:ea typeface="Arial"/>
                <a:cs typeface="Arial"/>
              </a:defRPr>
            </a:pPr>
            <a:r>
              <a:rPr sz="2550" b="0">
                <a:solidFill>
                  <a:srgbClr val="172D3C"/>
                </a:solidFill>
                <a:latin typeface="Arial"/>
                <a:ea typeface="Arial"/>
                <a:cs typeface="Arial"/>
              </a:rPr>
              <a:t>APC = 10 000 ÷ Y + 0.8</a:t>
            </a:r>
          </a:p>
        </p:txBody>
      </p:sp>
      <p:sp>
        <p:nvSpPr>
          <p:cNvPr id="10" name="q1-explanation">
            <a:extLst>
              <a:ext uri="{FF2B5EF4-FFF2-40B4-BE49-F238E27FC236}">
                <a16:creationId xmlns:a16="http://schemas.microsoft.com/office/drawing/2014/main" id="{B5C8AB06-FD1E-4297-9709-89D41B279D45}"/>
              </a:ext>
            </a:extLst>
          </p:cNvPr>
          <p:cNvSpPr>
            <a:spLocks noGrp="1"/>
          </p:cNvSpPr>
          <p:nvPr/>
        </p:nvSpPr>
        <p:spPr>
          <a:xfrm>
            <a:off x="7953375" y="4657725"/>
            <a:ext cx="6667500" cy="1000125"/>
          </a:xfrm>
          <a:prstGeom prst="rect">
            <a:avLst/>
          </a:prstGeom>
          <a:noFill/>
          <a:ln w="0">
            <a:noFill/>
          </a:ln>
        </p:spPr>
        <p:txBody>
          <a:bodyPr anchor="t">
            <a:noAutofit/>
          </a:bodyPr>
          <a:lstStyle/>
          <a:p>
            <a:pPr>
              <a:defRPr sz="2175" b="0">
                <a:solidFill>
                  <a:srgbClr val="172D3C"/>
                </a:solidFill>
                <a:latin typeface="Arial"/>
                <a:ea typeface="Arial"/>
                <a:cs typeface="Arial"/>
              </a:defRPr>
            </a:pPr>
            <a:r>
              <a:rPr sz="2175" b="0">
                <a:solidFill>
                  <a:srgbClr val="172D3C"/>
                </a:solidFill>
                <a:latin typeface="Arial"/>
                <a:ea typeface="Arial"/>
                <a:cs typeface="Arial"/>
              </a:rPr>
              <a:t>For positive income, 10 000 ÷ Y is positive, so APC exceeds 0.8.</a:t>
            </a:r>
          </a:p>
        </p:txBody>
      </p:sp>
      <p:sp>
        <p:nvSpPr>
          <p:cNvPr id="11" name="q1-distractors">
            <a:extLst>
              <a:ext uri="{FF2B5EF4-FFF2-40B4-BE49-F238E27FC236}">
                <a16:creationId xmlns:a16="http://schemas.microsoft.com/office/drawing/2014/main" id="{BB1B253B-07BF-494C-8CA3-2E3CC0F26B60}"/>
              </a:ext>
            </a:extLst>
          </p:cNvPr>
          <p:cNvSpPr>
            <a:spLocks noGrp="1"/>
          </p:cNvSpPr>
          <p:nvPr/>
        </p:nvSpPr>
        <p:spPr>
          <a:xfrm>
            <a:off x="7953375" y="5867400"/>
            <a:ext cx="6667500" cy="1704975"/>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A and B: as income rises, 10 000 ÷ Y falls. APC falls.</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C: positive autonomous consumption keeps APC above MPC.</a:t>
            </a:r>
          </a:p>
        </p:txBody>
      </p:sp>
      <p:sp>
        <p:nvSpPr>
          <p:cNvPr id="12" name="q1-source">
            <a:extLst>
              <a:ext uri="{FF2B5EF4-FFF2-40B4-BE49-F238E27FC236}">
                <a16:creationId xmlns:a16="http://schemas.microsoft.com/office/drawing/2014/main" id="{2D183C72-FF40-4D2F-A046-C65421BB3A09}"/>
              </a:ext>
            </a:extLst>
          </p:cNvPr>
          <p:cNvSpPr>
            <a:spLocks noGrp="1"/>
          </p:cNvSpPr>
          <p:nvPr/>
        </p:nvSpPr>
        <p:spPr>
          <a:xfrm>
            <a:off x="619125" y="8162925"/>
            <a:ext cx="14001750" cy="295275"/>
          </a:xfrm>
          <a:prstGeom prst="rect">
            <a:avLst/>
          </a:prstGeom>
          <a:noFill/>
          <a:ln w="0">
            <a:noFill/>
          </a:ln>
        </p:spPr>
        <p:txBody>
          <a:bodyPr anchor="t">
            <a:noAutofit/>
          </a:bodyPr>
          <a:lstStyle/>
          <a:p>
            <a:pPr>
              <a:defRPr sz="1500" b="0">
                <a:solidFill>
                  <a:srgbClr val="52616C"/>
                </a:solidFill>
                <a:latin typeface="Arial"/>
                <a:ea typeface="Arial"/>
                <a:cs typeface="Arial"/>
              </a:defRPr>
            </a:pPr>
            <a:r>
              <a:rPr sz="1500" b="0">
                <a:solidFill>
                  <a:srgbClr val="52616C"/>
                </a:solidFill>
                <a:latin typeface="Arial"/>
                <a:ea typeface="Arial"/>
                <a:cs typeface="Arial"/>
              </a:rPr>
              <a:t>9708/32 February/March 2026, Q15 [1]     Official answer: D. Explanations: teacher-written.</a:t>
            </a:r>
          </a:p>
        </p:txBody>
      </p:sp>
    </p:spTree>
    <p:extLst>
      <p:ext uri="{BB962C8B-B14F-4D97-AF65-F5344CB8AC3E}">
        <p14:creationId xmlns:p14="http://schemas.microsoft.com/office/powerpoint/2010/main" val="1958895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multiplier-feedback-label">
            <a:extLst>
              <a:ext uri="{FF2B5EF4-FFF2-40B4-BE49-F238E27FC236}">
                <a16:creationId xmlns:a16="http://schemas.microsoft.com/office/drawing/2014/main" id="{E85E05FB-1C4D-4358-892D-922B837CA32C}"/>
              </a:ext>
            </a:extLst>
          </p:cNvPr>
          <p:cNvSpPr>
            <a:spLocks noGrp="1"/>
          </p:cNvSpPr>
          <p:nvPr/>
        </p:nvSpPr>
        <p:spPr>
          <a:xfrm>
            <a:off x="619125" y="304800"/>
            <a:ext cx="14001750" cy="304800"/>
          </a:xfrm>
          <a:prstGeom prst="rect">
            <a:avLst/>
          </a:prstGeom>
          <a:noFill/>
          <a:ln w="0">
            <a:noFill/>
          </a:ln>
        </p:spPr>
        <p:txBody>
          <a:bodyPr anchor="t">
            <a:noAutofit/>
          </a:bodyPr>
          <a:lstStyle/>
          <a:p>
            <a:pPr>
              <a:defRPr sz="1575" b="1">
                <a:solidFill>
                  <a:srgbClr val="126A8C"/>
                </a:solidFill>
                <a:latin typeface="Arial"/>
                <a:ea typeface="Arial"/>
                <a:cs typeface="Arial"/>
              </a:defRPr>
            </a:pPr>
            <a:r>
              <a:rPr sz="1575" b="1">
                <a:solidFill>
                  <a:srgbClr val="126A8C"/>
                </a:solidFill>
                <a:latin typeface="Arial"/>
                <a:ea typeface="Arial"/>
                <a:cs typeface="Arial"/>
              </a:rPr>
              <a:t>FEEDBACK     TEACHER REVEAL</a:t>
            </a:r>
          </a:p>
        </p:txBody>
      </p:sp>
      <p:sp>
        <p:nvSpPr>
          <p:cNvPr id="2" name="multiplier-feedback-title">
            <a:extLst>
              <a:ext uri="{FF2B5EF4-FFF2-40B4-BE49-F238E27FC236}">
                <a16:creationId xmlns:a16="http://schemas.microsoft.com/office/drawing/2014/main" id="{28BF27FD-B8FF-441A-A12C-F36EA88914AF}"/>
              </a:ext>
            </a:extLst>
          </p:cNvPr>
          <p:cNvSpPr>
            <a:spLocks noGrp="1"/>
          </p:cNvSpPr>
          <p:nvPr/>
        </p:nvSpPr>
        <p:spPr>
          <a:xfrm>
            <a:off x="619125" y="714375"/>
            <a:ext cx="14001750" cy="619125"/>
          </a:xfrm>
          <a:prstGeom prst="rect">
            <a:avLst/>
          </a:prstGeom>
          <a:noFill/>
          <a:ln w="0">
            <a:noFill/>
          </a:ln>
        </p:spPr>
        <p:txBody>
          <a:bodyPr anchor="t">
            <a:noAutofit/>
          </a:bodyPr>
          <a:lstStyle/>
          <a:p>
            <a:pPr>
              <a:defRPr sz="3675" b="1">
                <a:solidFill>
                  <a:srgbClr val="102D46"/>
                </a:solidFill>
                <a:latin typeface="Arial"/>
                <a:ea typeface="Arial"/>
                <a:cs typeface="Arial"/>
              </a:defRPr>
            </a:pPr>
            <a:r>
              <a:rPr sz="3675" b="1">
                <a:solidFill>
                  <a:srgbClr val="102D46"/>
                </a:solidFill>
                <a:latin typeface="Arial"/>
                <a:ea typeface="Arial"/>
                <a:cs typeface="Arial"/>
              </a:rPr>
              <a:t>Leakages and the income increase</a:t>
            </a:r>
          </a:p>
        </p:txBody>
      </p:sp>
      <p:sp>
        <p:nvSpPr>
          <p:cNvPr id="3" name="q2-repeat">
            <a:extLst>
              <a:ext uri="{FF2B5EF4-FFF2-40B4-BE49-F238E27FC236}">
                <a16:creationId xmlns:a16="http://schemas.microsoft.com/office/drawing/2014/main" id="{37A448AB-688B-4590-A864-570FFEE3BA0E}"/>
              </a:ext>
            </a:extLst>
          </p:cNvPr>
          <p:cNvSpPr>
            <a:spLocks noGrp="1"/>
          </p:cNvSpPr>
          <p:nvPr/>
        </p:nvSpPr>
        <p:spPr>
          <a:xfrm>
            <a:off x="619125" y="1619250"/>
            <a:ext cx="6762750" cy="264795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In a closed economy, the marginal propensity to save is 0.1 and the marginal propensity to pay taxes is also 0.1. These values are constant and do not vary with the level of income.</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What will be the increase in national income if there is an injection of $100 million into the circular flow?</a:t>
            </a:r>
          </a:p>
        </p:txBody>
      </p:sp>
      <p:sp>
        <p:nvSpPr>
          <p:cNvPr id="4" name="feedback-multiplier-option-0">
            <a:extLst>
              <a:ext uri="{FF2B5EF4-FFF2-40B4-BE49-F238E27FC236}">
                <a16:creationId xmlns:a16="http://schemas.microsoft.com/office/drawing/2014/main" id="{E8FC7342-198D-444A-B12E-FA95D93BA36E}"/>
              </a:ext>
            </a:extLst>
          </p:cNvPr>
          <p:cNvSpPr>
            <a:spLocks noGrp="1"/>
          </p:cNvSpPr>
          <p:nvPr/>
        </p:nvSpPr>
        <p:spPr>
          <a:xfrm>
            <a:off x="619125" y="4657725"/>
            <a:ext cx="6762750" cy="457200"/>
          </a:xfrm>
          <a:prstGeom prst="rect">
            <a:avLst/>
          </a:prstGeom>
          <a:noFill/>
          <a:ln w="0">
            <a:noFill/>
          </a:ln>
        </p:spPr>
        <p:txBody>
          <a:bodyPr anchor="t">
            <a:noAutofit/>
          </a:bodyPr>
          <a:lstStyle/>
          <a:p>
            <a:pPr>
              <a:defRPr sz="2250" b="0">
                <a:solidFill>
                  <a:srgbClr val="172D3C"/>
                </a:solidFill>
                <a:latin typeface="Arial"/>
                <a:ea typeface="Arial"/>
                <a:cs typeface="Arial"/>
              </a:defRPr>
            </a:pPr>
            <a:r>
              <a:rPr sz="2250" b="0">
                <a:solidFill>
                  <a:srgbClr val="172D3C"/>
                </a:solidFill>
                <a:latin typeface="Arial"/>
                <a:ea typeface="Arial"/>
                <a:cs typeface="Arial"/>
              </a:rPr>
              <a:t>A   $1000 million</a:t>
            </a:r>
          </a:p>
        </p:txBody>
      </p:sp>
      <p:sp>
        <p:nvSpPr>
          <p:cNvPr id="5" name="feedback-multiplier-option-1">
            <a:extLst>
              <a:ext uri="{FF2B5EF4-FFF2-40B4-BE49-F238E27FC236}">
                <a16:creationId xmlns:a16="http://schemas.microsoft.com/office/drawing/2014/main" id="{39EB5B58-09D1-4E1E-80F2-2C1300C1A0BF}"/>
              </a:ext>
            </a:extLst>
          </p:cNvPr>
          <p:cNvSpPr>
            <a:spLocks noGrp="1"/>
          </p:cNvSpPr>
          <p:nvPr/>
        </p:nvSpPr>
        <p:spPr>
          <a:xfrm>
            <a:off x="619125" y="5200650"/>
            <a:ext cx="6762750" cy="457200"/>
          </a:xfrm>
          <a:prstGeom prst="rect">
            <a:avLst/>
          </a:prstGeom>
          <a:noFill/>
          <a:ln w="0">
            <a:noFill/>
          </a:ln>
        </p:spPr>
        <p:txBody>
          <a:bodyPr anchor="t">
            <a:noAutofit/>
          </a:bodyPr>
          <a:lstStyle/>
          <a:p>
            <a:pPr>
              <a:defRPr sz="2250" b="0">
                <a:solidFill>
                  <a:srgbClr val="172D3C"/>
                </a:solidFill>
                <a:latin typeface="Arial"/>
                <a:ea typeface="Arial"/>
                <a:cs typeface="Arial"/>
              </a:defRPr>
            </a:pPr>
            <a:r>
              <a:rPr sz="2250" b="0">
                <a:solidFill>
                  <a:srgbClr val="172D3C"/>
                </a:solidFill>
                <a:latin typeface="Arial"/>
                <a:ea typeface="Arial"/>
                <a:cs typeface="Arial"/>
              </a:rPr>
              <a:t>B   $500 million</a:t>
            </a:r>
          </a:p>
        </p:txBody>
      </p:sp>
      <p:sp>
        <p:nvSpPr>
          <p:cNvPr id="6" name="feedback-multiplier-option-2">
            <a:extLst>
              <a:ext uri="{FF2B5EF4-FFF2-40B4-BE49-F238E27FC236}">
                <a16:creationId xmlns:a16="http://schemas.microsoft.com/office/drawing/2014/main" id="{96835844-B439-43B9-ACDA-9C90380CCC8F}"/>
              </a:ext>
            </a:extLst>
          </p:cNvPr>
          <p:cNvSpPr>
            <a:spLocks noGrp="1"/>
          </p:cNvSpPr>
          <p:nvPr/>
        </p:nvSpPr>
        <p:spPr>
          <a:xfrm>
            <a:off x="619125" y="5743575"/>
            <a:ext cx="6762750" cy="457200"/>
          </a:xfrm>
          <a:prstGeom prst="rect">
            <a:avLst/>
          </a:prstGeom>
          <a:noFill/>
          <a:ln w="0">
            <a:noFill/>
          </a:ln>
        </p:spPr>
        <p:txBody>
          <a:bodyPr anchor="t">
            <a:noAutofit/>
          </a:bodyPr>
          <a:lstStyle/>
          <a:p>
            <a:pPr>
              <a:defRPr sz="2250" b="0">
                <a:solidFill>
                  <a:srgbClr val="172D3C"/>
                </a:solidFill>
                <a:latin typeface="Arial"/>
                <a:ea typeface="Arial"/>
                <a:cs typeface="Arial"/>
              </a:defRPr>
            </a:pPr>
            <a:r>
              <a:rPr sz="2250" b="0">
                <a:solidFill>
                  <a:srgbClr val="172D3C"/>
                </a:solidFill>
                <a:latin typeface="Arial"/>
                <a:ea typeface="Arial"/>
                <a:cs typeface="Arial"/>
              </a:rPr>
              <a:t>C   $100 million</a:t>
            </a:r>
          </a:p>
        </p:txBody>
      </p:sp>
      <p:sp>
        <p:nvSpPr>
          <p:cNvPr id="7" name="feedback-multiplier-option-3">
            <a:extLst>
              <a:ext uri="{FF2B5EF4-FFF2-40B4-BE49-F238E27FC236}">
                <a16:creationId xmlns:a16="http://schemas.microsoft.com/office/drawing/2014/main" id="{8A397C47-5C13-4F9A-90B3-F2582502B884}"/>
              </a:ext>
            </a:extLst>
          </p:cNvPr>
          <p:cNvSpPr>
            <a:spLocks noGrp="1"/>
          </p:cNvSpPr>
          <p:nvPr/>
        </p:nvSpPr>
        <p:spPr>
          <a:xfrm>
            <a:off x="619125" y="6286500"/>
            <a:ext cx="6762750" cy="457200"/>
          </a:xfrm>
          <a:prstGeom prst="rect">
            <a:avLst/>
          </a:prstGeom>
          <a:noFill/>
          <a:ln w="0">
            <a:noFill/>
          </a:ln>
        </p:spPr>
        <p:txBody>
          <a:bodyPr anchor="t">
            <a:noAutofit/>
          </a:bodyPr>
          <a:lstStyle/>
          <a:p>
            <a:pPr>
              <a:defRPr sz="2250" b="0">
                <a:solidFill>
                  <a:srgbClr val="172D3C"/>
                </a:solidFill>
                <a:latin typeface="Arial"/>
                <a:ea typeface="Arial"/>
                <a:cs typeface="Arial"/>
              </a:defRPr>
            </a:pPr>
            <a:r>
              <a:rPr sz="2250" b="0">
                <a:solidFill>
                  <a:srgbClr val="172D3C"/>
                </a:solidFill>
                <a:latin typeface="Arial"/>
                <a:ea typeface="Arial"/>
                <a:cs typeface="Arial"/>
              </a:rPr>
              <a:t>D   $80 million</a:t>
            </a:r>
          </a:p>
        </p:txBody>
      </p:sp>
      <p:sp>
        <p:nvSpPr>
          <p:cNvPr id="8" name="q2-answer">
            <a:extLst>
              <a:ext uri="{FF2B5EF4-FFF2-40B4-BE49-F238E27FC236}">
                <a16:creationId xmlns:a16="http://schemas.microsoft.com/office/drawing/2014/main" id="{535B44FF-366F-41E8-BAA9-28A676A02A57}"/>
              </a:ext>
            </a:extLst>
          </p:cNvPr>
          <p:cNvSpPr>
            <a:spLocks noGrp="1"/>
          </p:cNvSpPr>
          <p:nvPr/>
        </p:nvSpPr>
        <p:spPr>
          <a:xfrm>
            <a:off x="7953375" y="1619250"/>
            <a:ext cx="6667500" cy="523875"/>
          </a:xfrm>
          <a:prstGeom prst="rect">
            <a:avLst/>
          </a:prstGeom>
          <a:noFill/>
          <a:ln w="0">
            <a:noFill/>
          </a:ln>
        </p:spPr>
        <p:txBody>
          <a:bodyPr anchor="t">
            <a:noAutofit/>
          </a:bodyPr>
          <a:lstStyle/>
          <a:p>
            <a:pPr>
              <a:defRPr sz="2700" b="1">
                <a:solidFill>
                  <a:srgbClr val="146452"/>
                </a:solidFill>
                <a:latin typeface="Arial"/>
                <a:ea typeface="Arial"/>
                <a:cs typeface="Arial"/>
              </a:defRPr>
            </a:pPr>
            <a:r>
              <a:rPr sz="2700" b="1">
                <a:solidFill>
                  <a:srgbClr val="146452"/>
                </a:solidFill>
                <a:latin typeface="Arial"/>
                <a:ea typeface="Arial"/>
                <a:cs typeface="Arial"/>
              </a:rPr>
              <a:t>B   $500 million</a:t>
            </a:r>
          </a:p>
        </p:txBody>
      </p:sp>
      <p:sp>
        <p:nvSpPr>
          <p:cNvPr id="9" name="q2-equations">
            <a:extLst>
              <a:ext uri="{FF2B5EF4-FFF2-40B4-BE49-F238E27FC236}">
                <a16:creationId xmlns:a16="http://schemas.microsoft.com/office/drawing/2014/main" id="{05FE2031-38E2-43D2-8EF3-93C03537C288}"/>
              </a:ext>
            </a:extLst>
          </p:cNvPr>
          <p:cNvSpPr>
            <a:spLocks noGrp="1"/>
          </p:cNvSpPr>
          <p:nvPr/>
        </p:nvSpPr>
        <p:spPr>
          <a:xfrm>
            <a:off x="7953375" y="2390775"/>
            <a:ext cx="6667500" cy="3200400"/>
          </a:xfrm>
          <a:prstGeom prst="rect">
            <a:avLst/>
          </a:prstGeom>
          <a:noFill/>
          <a:ln w="0">
            <a:noFill/>
          </a:ln>
        </p:spPr>
        <p:txBody>
          <a:bodyPr anchor="t">
            <a:noAutofit/>
          </a:bodyPr>
          <a:lstStyle/>
          <a:p>
            <a:pPr>
              <a:defRPr sz="2400" b="0">
                <a:solidFill>
                  <a:srgbClr val="172D3C"/>
                </a:solidFill>
                <a:latin typeface="Arial"/>
                <a:ea typeface="Arial"/>
                <a:cs typeface="Arial"/>
              </a:defRPr>
            </a:pPr>
            <a:r>
              <a:rPr sz="2400" b="0">
                <a:solidFill>
                  <a:srgbClr val="172D3C"/>
                </a:solidFill>
                <a:latin typeface="Arial"/>
                <a:ea typeface="Arial"/>
                <a:cs typeface="Arial"/>
              </a:rPr>
              <a:t>MPW = MPS + MPT</a:t>
            </a:r>
          </a:p>
          <a:p>
            <a:pPr>
              <a:defRPr sz="2400" b="0">
                <a:solidFill>
                  <a:srgbClr val="172D3C"/>
                </a:solidFill>
                <a:latin typeface="Arial"/>
                <a:ea typeface="Arial"/>
                <a:cs typeface="Arial"/>
              </a:defRPr>
            </a:pPr>
            <a:r>
              <a:rPr sz="2400" b="0">
                <a:solidFill>
                  <a:srgbClr val="172D3C"/>
                </a:solidFill>
                <a:latin typeface="Arial"/>
                <a:ea typeface="Arial"/>
                <a:cs typeface="Arial"/>
              </a:rPr>
              <a:t>MPW = 0.1 + 0.1 = 0.2</a:t>
            </a:r>
          </a:p>
          <a:p>
            <a:endParaRPr sz="2400" b="0">
              <a:solidFill>
                <a:srgbClr val="172D3C"/>
              </a:solidFill>
              <a:latin typeface="Arial"/>
              <a:ea typeface="Arial"/>
              <a:cs typeface="Arial"/>
            </a:endParaRPr>
          </a:p>
          <a:p>
            <a:pPr>
              <a:defRPr sz="2400" b="0">
                <a:solidFill>
                  <a:srgbClr val="172D3C"/>
                </a:solidFill>
                <a:latin typeface="Arial"/>
                <a:ea typeface="Arial"/>
                <a:cs typeface="Arial"/>
              </a:defRPr>
            </a:pPr>
            <a:r>
              <a:rPr sz="2400" b="0">
                <a:solidFill>
                  <a:srgbClr val="172D3C"/>
                </a:solidFill>
                <a:latin typeface="Arial"/>
                <a:ea typeface="Arial"/>
                <a:cs typeface="Arial"/>
              </a:rPr>
              <a:t>k = 1 ÷ 0.2 = 5</a:t>
            </a:r>
          </a:p>
          <a:p>
            <a:endParaRPr sz="2400" b="0">
              <a:solidFill>
                <a:srgbClr val="172D3C"/>
              </a:solidFill>
              <a:latin typeface="Arial"/>
              <a:ea typeface="Arial"/>
              <a:cs typeface="Arial"/>
            </a:endParaRPr>
          </a:p>
          <a:p>
            <a:pPr>
              <a:defRPr sz="2400" b="0">
                <a:solidFill>
                  <a:srgbClr val="172D3C"/>
                </a:solidFill>
                <a:latin typeface="Arial"/>
                <a:ea typeface="Arial"/>
                <a:cs typeface="Arial"/>
              </a:defRPr>
            </a:pPr>
            <a:r>
              <a:rPr sz="2400" b="0">
                <a:solidFill>
                  <a:srgbClr val="172D3C"/>
                </a:solidFill>
                <a:latin typeface="Arial"/>
                <a:ea typeface="Arial"/>
                <a:cs typeface="Arial"/>
              </a:rPr>
              <a:t>ΔY = k × injection</a:t>
            </a:r>
          </a:p>
          <a:p>
            <a:pPr>
              <a:defRPr sz="2400" b="0">
                <a:solidFill>
                  <a:srgbClr val="172D3C"/>
                </a:solidFill>
                <a:latin typeface="Arial"/>
                <a:ea typeface="Arial"/>
                <a:cs typeface="Arial"/>
              </a:defRPr>
            </a:pPr>
            <a:r>
              <a:rPr sz="2400" b="0">
                <a:solidFill>
                  <a:srgbClr val="172D3C"/>
                </a:solidFill>
                <a:latin typeface="Arial"/>
                <a:ea typeface="Arial"/>
                <a:cs typeface="Arial"/>
              </a:rPr>
              <a:t>ΔY = 5 × $100m = $500m</a:t>
            </a:r>
          </a:p>
        </p:txBody>
      </p:sp>
      <p:sp>
        <p:nvSpPr>
          <p:cNvPr id="10" name="q2-distractors">
            <a:extLst>
              <a:ext uri="{FF2B5EF4-FFF2-40B4-BE49-F238E27FC236}">
                <a16:creationId xmlns:a16="http://schemas.microsoft.com/office/drawing/2014/main" id="{56A02AAD-38B2-49F9-8D34-75D6E5618B19}"/>
              </a:ext>
            </a:extLst>
          </p:cNvPr>
          <p:cNvSpPr>
            <a:spLocks noGrp="1"/>
          </p:cNvSpPr>
          <p:nvPr/>
        </p:nvSpPr>
        <p:spPr>
          <a:xfrm>
            <a:off x="7953375" y="5915025"/>
            <a:ext cx="6667500" cy="1485900"/>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A omits one leakage.</a:t>
            </a:r>
          </a:p>
          <a:p>
            <a:pPr>
              <a:defRPr sz="2025" b="0">
                <a:solidFill>
                  <a:srgbClr val="172D3C"/>
                </a:solidFill>
                <a:latin typeface="Arial"/>
                <a:ea typeface="Arial"/>
                <a:cs typeface="Arial"/>
              </a:defRPr>
            </a:pPr>
            <a:r>
              <a:rPr sz="2025" b="0">
                <a:solidFill>
                  <a:srgbClr val="172D3C"/>
                </a:solidFill>
                <a:latin typeface="Arial"/>
                <a:ea typeface="Arial"/>
                <a:cs typeface="Arial"/>
              </a:rPr>
              <a:t>C counts only the initial injection.</a:t>
            </a:r>
          </a:p>
          <a:p>
            <a:pPr>
              <a:defRPr sz="2025" b="0">
                <a:solidFill>
                  <a:srgbClr val="172D3C"/>
                </a:solidFill>
                <a:latin typeface="Arial"/>
                <a:ea typeface="Arial"/>
                <a:cs typeface="Arial"/>
              </a:defRPr>
            </a:pPr>
            <a:r>
              <a:rPr sz="2025" b="0">
                <a:solidFill>
                  <a:srgbClr val="172D3C"/>
                </a:solidFill>
                <a:latin typeface="Arial"/>
                <a:ea typeface="Arial"/>
                <a:cs typeface="Arial"/>
              </a:rPr>
              <a:t>D counts only the first induced round.</a:t>
            </a:r>
          </a:p>
        </p:txBody>
      </p:sp>
      <p:sp>
        <p:nvSpPr>
          <p:cNvPr id="11" name="q2-source">
            <a:extLst>
              <a:ext uri="{FF2B5EF4-FFF2-40B4-BE49-F238E27FC236}">
                <a16:creationId xmlns:a16="http://schemas.microsoft.com/office/drawing/2014/main" id="{41172C4B-3E78-4DCF-A7E8-627AB0A8A537}"/>
              </a:ext>
            </a:extLst>
          </p:cNvPr>
          <p:cNvSpPr>
            <a:spLocks noGrp="1"/>
          </p:cNvSpPr>
          <p:nvPr/>
        </p:nvSpPr>
        <p:spPr>
          <a:xfrm>
            <a:off x="619125" y="8162925"/>
            <a:ext cx="14001750" cy="295275"/>
          </a:xfrm>
          <a:prstGeom prst="rect">
            <a:avLst/>
          </a:prstGeom>
          <a:noFill/>
          <a:ln w="0">
            <a:noFill/>
          </a:ln>
        </p:spPr>
        <p:txBody>
          <a:bodyPr anchor="t">
            <a:noAutofit/>
          </a:bodyPr>
          <a:lstStyle/>
          <a:p>
            <a:pPr>
              <a:defRPr sz="1500" b="0">
                <a:solidFill>
                  <a:srgbClr val="52616C"/>
                </a:solidFill>
                <a:latin typeface="Arial"/>
                <a:ea typeface="Arial"/>
                <a:cs typeface="Arial"/>
              </a:defRPr>
            </a:pPr>
            <a:r>
              <a:rPr sz="1500" b="0">
                <a:solidFill>
                  <a:srgbClr val="52616C"/>
                </a:solidFill>
                <a:latin typeface="Arial"/>
                <a:ea typeface="Arial"/>
                <a:cs typeface="Arial"/>
              </a:rPr>
              <a:t>9708/32 February/March 2021, Q24 [1]     Official answer: B. Explanations: teacher-written.</a:t>
            </a:r>
          </a:p>
        </p:txBody>
      </p:sp>
    </p:spTree>
    <p:extLst>
      <p:ext uri="{BB962C8B-B14F-4D97-AF65-F5344CB8AC3E}">
        <p14:creationId xmlns:p14="http://schemas.microsoft.com/office/powerpoint/2010/main" val="156883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ghana-feedback-label">
            <a:extLst>
              <a:ext uri="{FF2B5EF4-FFF2-40B4-BE49-F238E27FC236}">
                <a16:creationId xmlns:a16="http://schemas.microsoft.com/office/drawing/2014/main" id="{632BD9C4-533B-462D-9F66-BDABC9DCA7E5}"/>
              </a:ext>
            </a:extLst>
          </p:cNvPr>
          <p:cNvSpPr>
            <a:spLocks noGrp="1"/>
          </p:cNvSpPr>
          <p:nvPr/>
        </p:nvSpPr>
        <p:spPr>
          <a:xfrm>
            <a:off x="619125" y="304800"/>
            <a:ext cx="14001750" cy="304800"/>
          </a:xfrm>
          <a:prstGeom prst="rect">
            <a:avLst/>
          </a:prstGeom>
          <a:noFill/>
          <a:ln w="0">
            <a:noFill/>
          </a:ln>
        </p:spPr>
        <p:txBody>
          <a:bodyPr anchor="t">
            <a:noAutofit/>
          </a:bodyPr>
          <a:lstStyle/>
          <a:p>
            <a:pPr>
              <a:defRPr sz="1575" b="1">
                <a:solidFill>
                  <a:srgbClr val="126A8C"/>
                </a:solidFill>
                <a:latin typeface="Arial"/>
                <a:ea typeface="Arial"/>
                <a:cs typeface="Arial"/>
              </a:defRPr>
            </a:pPr>
            <a:r>
              <a:rPr sz="1575" b="1">
                <a:solidFill>
                  <a:srgbClr val="126A8C"/>
                </a:solidFill>
                <a:latin typeface="Arial"/>
                <a:ea typeface="Arial"/>
                <a:cs typeface="Arial"/>
              </a:rPr>
              <a:t>MODEL ANSWER     OPTIONAL TASK</a:t>
            </a:r>
          </a:p>
        </p:txBody>
      </p:sp>
      <p:sp>
        <p:nvSpPr>
          <p:cNvPr id="2" name="ghana-feedback-title">
            <a:extLst>
              <a:ext uri="{FF2B5EF4-FFF2-40B4-BE49-F238E27FC236}">
                <a16:creationId xmlns:a16="http://schemas.microsoft.com/office/drawing/2014/main" id="{D811E83D-178A-4C95-821E-46EC1185167F}"/>
              </a:ext>
            </a:extLst>
          </p:cNvPr>
          <p:cNvSpPr>
            <a:spLocks noGrp="1"/>
          </p:cNvSpPr>
          <p:nvPr/>
        </p:nvSpPr>
        <p:spPr>
          <a:xfrm>
            <a:off x="619125" y="714375"/>
            <a:ext cx="14001750" cy="619125"/>
          </a:xfrm>
          <a:prstGeom prst="rect">
            <a:avLst/>
          </a:prstGeom>
          <a:noFill/>
          <a:ln w="0">
            <a:noFill/>
          </a:ln>
        </p:spPr>
        <p:txBody>
          <a:bodyPr anchor="t">
            <a:noAutofit/>
          </a:bodyPr>
          <a:lstStyle/>
          <a:p>
            <a:pPr>
              <a:defRPr sz="3675" b="1">
                <a:solidFill>
                  <a:srgbClr val="102D46"/>
                </a:solidFill>
                <a:latin typeface="Arial"/>
                <a:ea typeface="Arial"/>
                <a:cs typeface="Arial"/>
              </a:defRPr>
            </a:pPr>
            <a:r>
              <a:rPr sz="3675" b="1">
                <a:solidFill>
                  <a:srgbClr val="102D46"/>
                </a:solidFill>
                <a:latin typeface="Arial"/>
                <a:ea typeface="Arial"/>
                <a:cs typeface="Arial"/>
              </a:rPr>
              <a:t>Employment beyond oil extraction</a:t>
            </a:r>
          </a:p>
        </p:txBody>
      </p:sp>
      <p:sp>
        <p:nvSpPr>
          <p:cNvPr id="3" name="ghana-repeat">
            <a:extLst>
              <a:ext uri="{FF2B5EF4-FFF2-40B4-BE49-F238E27FC236}">
                <a16:creationId xmlns:a16="http://schemas.microsoft.com/office/drawing/2014/main" id="{55F0F1B3-E4FF-4738-895F-4CAFC2D13CB5}"/>
              </a:ext>
            </a:extLst>
          </p:cNvPr>
          <p:cNvSpPr>
            <a:spLocks noGrp="1"/>
          </p:cNvSpPr>
          <p:nvPr/>
        </p:nvSpPr>
        <p:spPr>
          <a:xfrm>
            <a:off x="619125" y="1571625"/>
            <a:ext cx="13906500" cy="1047750"/>
          </a:xfrm>
          <a:prstGeom prst="rect">
            <a:avLst/>
          </a:prstGeom>
          <a:noFill/>
          <a:ln w="0">
            <a:noFill/>
          </a:ln>
        </p:spPr>
        <p:txBody>
          <a:bodyPr anchor="t">
            <a:noAutofit/>
          </a:bodyPr>
          <a:lstStyle/>
          <a:p>
            <a:pPr>
              <a:defRPr sz="2250" b="1">
                <a:solidFill>
                  <a:srgbClr val="102D46"/>
                </a:solidFill>
                <a:latin typeface="Arial"/>
                <a:ea typeface="Arial"/>
                <a:cs typeface="Arial"/>
              </a:defRPr>
            </a:pPr>
            <a:r>
              <a:rPr sz="2250" b="1">
                <a:solidFill>
                  <a:srgbClr val="102D46"/>
                </a:solidFill>
                <a:latin typeface="Arial"/>
                <a:ea typeface="Arial"/>
                <a:cs typeface="Arial"/>
              </a:rPr>
              <a:t>Explain how the extraction of natural resources in Ghana will ‘create further employment in other sectors through the multiplier effect’. [4]</a:t>
            </a:r>
          </a:p>
        </p:txBody>
      </p:sp>
      <p:sp>
        <p:nvSpPr>
          <p:cNvPr id="4" name="ghana-model-label">
            <a:extLst>
              <a:ext uri="{FF2B5EF4-FFF2-40B4-BE49-F238E27FC236}">
                <a16:creationId xmlns:a16="http://schemas.microsoft.com/office/drawing/2014/main" id="{20DDFE52-4167-47F0-B896-85C985C62CF3}"/>
              </a:ext>
            </a:extLst>
          </p:cNvPr>
          <p:cNvSpPr>
            <a:spLocks noGrp="1"/>
          </p:cNvSpPr>
          <p:nvPr/>
        </p:nvSpPr>
        <p:spPr>
          <a:xfrm>
            <a:off x="619125" y="3048000"/>
            <a:ext cx="8763000" cy="342900"/>
          </a:xfrm>
          <a:prstGeom prst="rect">
            <a:avLst/>
          </a:prstGeom>
          <a:noFill/>
          <a:ln w="0">
            <a:noFill/>
          </a:ln>
        </p:spPr>
        <p:txBody>
          <a:bodyPr anchor="t">
            <a:noAutofit/>
          </a:bodyPr>
          <a:lstStyle/>
          <a:p>
            <a:pPr>
              <a:defRPr sz="1650" b="1">
                <a:solidFill>
                  <a:srgbClr val="126A8C"/>
                </a:solidFill>
                <a:latin typeface="Arial"/>
                <a:ea typeface="Arial"/>
                <a:cs typeface="Arial"/>
              </a:defRPr>
            </a:pPr>
            <a:r>
              <a:rPr sz="1650" b="1">
                <a:solidFill>
                  <a:srgbClr val="126A8C"/>
                </a:solidFill>
                <a:latin typeface="Arial"/>
                <a:ea typeface="Arial"/>
                <a:cs typeface="Arial"/>
              </a:rPr>
              <a:t>TEACHER-WRITTEN MODEL</a:t>
            </a:r>
          </a:p>
        </p:txBody>
      </p:sp>
      <p:sp>
        <p:nvSpPr>
          <p:cNvPr id="5" name="ghana-model">
            <a:extLst>
              <a:ext uri="{FF2B5EF4-FFF2-40B4-BE49-F238E27FC236}">
                <a16:creationId xmlns:a16="http://schemas.microsoft.com/office/drawing/2014/main" id="{0EFD08DE-A53A-420D-AF0F-A2C36B0E95E8}"/>
              </a:ext>
            </a:extLst>
          </p:cNvPr>
          <p:cNvSpPr>
            <a:spLocks noGrp="1"/>
          </p:cNvSpPr>
          <p:nvPr/>
        </p:nvSpPr>
        <p:spPr>
          <a:xfrm>
            <a:off x="619125" y="3581400"/>
            <a:ext cx="8905875" cy="3362325"/>
          </a:xfrm>
          <a:prstGeom prst="rect">
            <a:avLst/>
          </a:prstGeom>
          <a:noFill/>
          <a:ln w="0">
            <a:noFill/>
          </a:ln>
        </p:spPr>
        <p:txBody>
          <a:bodyPr anchor="t">
            <a:noAutofit/>
          </a:bodyPr>
          <a:lstStyle/>
          <a:p>
            <a:pPr>
              <a:defRPr sz="2400" b="0">
                <a:solidFill>
                  <a:srgbClr val="172D3C"/>
                </a:solidFill>
                <a:latin typeface="Arial"/>
                <a:ea typeface="Arial"/>
                <a:cs typeface="Arial"/>
              </a:defRPr>
            </a:pPr>
            <a:r>
              <a:rPr sz="2400" b="0">
                <a:solidFill>
                  <a:srgbClr val="172D3C"/>
                </a:solidFill>
                <a:latin typeface="Arial"/>
                <a:ea typeface="Arial"/>
                <a:cs typeface="Arial"/>
              </a:rPr>
              <a:t>The multiplier describes the total increase in national income or output following an increase in injections into the circular flow. In Ghana, oil extraction creates jobs and raises workers’ incomes. Workers spend part of their extra income on locally produced goods and services. Firms in sectors such as retail and transport receive more demand and employ more workers. Their additional incomes create further rounds of spending and employment.</a:t>
            </a:r>
          </a:p>
        </p:txBody>
      </p:sp>
      <p:sp>
        <p:nvSpPr>
          <p:cNvPr id="6" name="ghana-marking-label">
            <a:extLst>
              <a:ext uri="{FF2B5EF4-FFF2-40B4-BE49-F238E27FC236}">
                <a16:creationId xmlns:a16="http://schemas.microsoft.com/office/drawing/2014/main" id="{239A1D9C-5DB4-4AA9-BE14-B8BA2BCF8A2A}"/>
              </a:ext>
            </a:extLst>
          </p:cNvPr>
          <p:cNvSpPr>
            <a:spLocks noGrp="1"/>
          </p:cNvSpPr>
          <p:nvPr/>
        </p:nvSpPr>
        <p:spPr>
          <a:xfrm>
            <a:off x="10191750" y="3048000"/>
            <a:ext cx="4429125" cy="361950"/>
          </a:xfrm>
          <a:prstGeom prst="rect">
            <a:avLst/>
          </a:prstGeom>
          <a:noFill/>
          <a:ln w="0">
            <a:noFill/>
          </a:ln>
        </p:spPr>
        <p:txBody>
          <a:bodyPr anchor="t">
            <a:noAutofit/>
          </a:bodyPr>
          <a:lstStyle/>
          <a:p>
            <a:pPr>
              <a:defRPr sz="1650" b="1">
                <a:solidFill>
                  <a:srgbClr val="146452"/>
                </a:solidFill>
                <a:latin typeface="Arial"/>
                <a:ea typeface="Arial"/>
                <a:cs typeface="Arial"/>
              </a:defRPr>
            </a:pPr>
            <a:r>
              <a:rPr sz="1650" b="1">
                <a:solidFill>
                  <a:srgbClr val="146452"/>
                </a:solidFill>
                <a:latin typeface="Arial"/>
                <a:ea typeface="Arial"/>
                <a:cs typeface="Arial"/>
              </a:rPr>
              <a:t>OFFICIAL MARKING POINTS</a:t>
            </a:r>
          </a:p>
        </p:txBody>
      </p:sp>
      <p:sp>
        <p:nvSpPr>
          <p:cNvPr id="7" name="ghana-marking">
            <a:extLst>
              <a:ext uri="{FF2B5EF4-FFF2-40B4-BE49-F238E27FC236}">
                <a16:creationId xmlns:a16="http://schemas.microsoft.com/office/drawing/2014/main" id="{84112138-B1D0-4686-8658-3D933240EB90}"/>
              </a:ext>
            </a:extLst>
          </p:cNvPr>
          <p:cNvSpPr>
            <a:spLocks noGrp="1"/>
          </p:cNvSpPr>
          <p:nvPr/>
        </p:nvSpPr>
        <p:spPr>
          <a:xfrm>
            <a:off x="10191750" y="3657600"/>
            <a:ext cx="4429125" cy="3400425"/>
          </a:xfrm>
          <a:prstGeom prst="rect">
            <a:avLst/>
          </a:prstGeom>
          <a:noFill/>
          <a:ln w="0">
            <a:noFill/>
          </a:ln>
        </p:spPr>
        <p:txBody>
          <a:bodyPr anchor="t">
            <a:noAutofit/>
          </a:bodyPr>
          <a:lstStyle/>
          <a:p>
            <a:pPr>
              <a:defRPr sz="2025" b="0">
                <a:solidFill>
                  <a:srgbClr val="172D3C"/>
                </a:solidFill>
                <a:latin typeface="Arial"/>
                <a:ea typeface="Arial"/>
                <a:cs typeface="Arial"/>
              </a:defRPr>
            </a:pPr>
            <a:r>
              <a:rPr sz="2025" b="0">
                <a:solidFill>
                  <a:srgbClr val="172D3C"/>
                </a:solidFill>
                <a:latin typeface="Arial"/>
                <a:ea typeface="Arial"/>
                <a:cs typeface="Arial"/>
              </a:rPr>
              <a:t>1   Total income/output increase</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1   Following increased injections</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1   Ghana’s new jobs and incomes</a:t>
            </a:r>
          </a:p>
          <a:p>
            <a:endParaRPr sz="2025" b="0">
              <a:solidFill>
                <a:srgbClr val="172D3C"/>
              </a:solidFill>
              <a:latin typeface="Arial"/>
              <a:ea typeface="Arial"/>
              <a:cs typeface="Arial"/>
            </a:endParaRPr>
          </a:p>
          <a:p>
            <a:pPr>
              <a:defRPr sz="2025" b="0">
                <a:solidFill>
                  <a:srgbClr val="172D3C"/>
                </a:solidFill>
                <a:latin typeface="Arial"/>
                <a:ea typeface="Arial"/>
                <a:cs typeface="Arial"/>
              </a:defRPr>
            </a:pPr>
            <a:r>
              <a:rPr sz="2025" b="0">
                <a:solidFill>
                  <a:srgbClr val="172D3C"/>
                </a:solidFill>
                <a:latin typeface="Arial"/>
                <a:ea typeface="Arial"/>
                <a:cs typeface="Arial"/>
              </a:rPr>
              <a:t>1   Further spending, jobs or income</a:t>
            </a:r>
          </a:p>
        </p:txBody>
      </p:sp>
      <p:sp>
        <p:nvSpPr>
          <p:cNvPr id="8" name="ghana-source">
            <a:extLst>
              <a:ext uri="{FF2B5EF4-FFF2-40B4-BE49-F238E27FC236}">
                <a16:creationId xmlns:a16="http://schemas.microsoft.com/office/drawing/2014/main" id="{CE4016A4-7B21-47C7-B9FC-EEB963308606}"/>
              </a:ext>
            </a:extLst>
          </p:cNvPr>
          <p:cNvSpPr>
            <a:spLocks noGrp="1"/>
          </p:cNvSpPr>
          <p:nvPr/>
        </p:nvSpPr>
        <p:spPr>
          <a:xfrm>
            <a:off x="619125" y="8077200"/>
            <a:ext cx="14001750" cy="361950"/>
          </a:xfrm>
          <a:prstGeom prst="rect">
            <a:avLst/>
          </a:prstGeom>
          <a:noFill/>
          <a:ln w="0">
            <a:noFill/>
          </a:ln>
        </p:spPr>
        <p:txBody>
          <a:bodyPr anchor="t">
            <a:noAutofit/>
          </a:bodyPr>
          <a:lstStyle/>
          <a:p>
            <a:pPr>
              <a:defRPr sz="1650" b="0">
                <a:solidFill>
                  <a:srgbClr val="52616C"/>
                </a:solidFill>
                <a:latin typeface="Arial"/>
                <a:ea typeface="Arial"/>
                <a:cs typeface="Arial"/>
              </a:defRPr>
            </a:pPr>
            <a:r>
              <a:rPr sz="1650" b="0">
                <a:solidFill>
                  <a:srgbClr val="52616C"/>
                </a:solidFill>
                <a:latin typeface="Arial"/>
                <a:ea typeface="Arial"/>
                <a:cs typeface="Arial"/>
              </a:rPr>
              <a:t>9708/41 October/November 2024, Q1(b). Mark scheme p.8: understanding [2] + application [2].</a:t>
            </a:r>
          </a:p>
        </p:txBody>
      </p:sp>
    </p:spTree>
    <p:extLst>
      <p:ext uri="{BB962C8B-B14F-4D97-AF65-F5344CB8AC3E}">
        <p14:creationId xmlns:p14="http://schemas.microsoft.com/office/powerpoint/2010/main" val="15101352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1979</Words>
  <Application>Microsoft Office PowerPoint</Application>
  <DocSecurity>0</DocSecurity>
  <PresentationFormat>Custom</PresentationFormat>
  <Paragraphs>91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Samuel Oehler-Huang</cp:lastModifiedBy>
  <cp:revision>1</cp:revision>
  <dcterms:created xsi:type="dcterms:W3CDTF">2026-09-10T02:34:54Z</dcterms:created>
  <dcterms:modified xsi:type="dcterms:W3CDTF">2026-09-10T02:41:05Z</dcterms:modified>
</cp:coreProperties>
</file>