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300" r:id="rId3"/>
    <p:sldId id="257"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3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road project: government spending is income for firms and workers. Ask students why the eventual rise in GDP might exceed the initial spending. Do not supply the formula yet.</a:t>
            </a:r>
          </a:p>
          <a:p>
            <a:endParaRPr/>
          </a:p>
          <a:p>
            <a:r>
              <a:t>[Sources]</a:t>
            </a:r>
          </a:p>
          <a:p>
            <a:r>
              <a:t>- Cambridge International AS &amp; A Level Economics 9708 syllabus for 2026, 2027 and 2028, section 9.1.1, p.29 (local PDF).</a:t>
            </a:r>
          </a:p>
          <a:p>
            <a:r>
              <a:t>- A-Level_Macro_International_32-Lesson_Coverage_Planner.xlsx, '32-Lesson Model', lessons 1-2 (local workbook).</a:t>
            </a:r>
          </a:p>
          <a:p>
            <a:r>
              <a:t>- 9.1.1 Multiplier process SHARE.pdf / PPTX (previous lesson material). Road-construction photograph extracted from the source PPTX.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learning contract. The first two outcomes dominate Lesson 1; the second two are revisited and extended in Lesson 2.</a:t>
            </a:r>
          </a:p>
          <a:p>
            <a:endParaRPr/>
          </a:p>
          <a:p>
            <a:r>
              <a:t>[Sources]</a:t>
            </a:r>
          </a:p>
          <a:p>
            <a:r>
              <a:t>- Cambridge International AS &amp; A Level Economics 9708 syllabus for 2026, 2027 and 2028, section 9.1.1, p.29 (local PDF).</a:t>
            </a:r>
          </a:p>
          <a:p>
            <a:r>
              <a:t>- A-Level_Macro_International_32-Lesson_Coverage_Planner.xlsx, '32-Lesson Model', lessons 1-2 (local workbook).</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the same spending is simultaneously someone else's income. The lesson follows that income as it moves through the circular flow.</a:t>
            </a:r>
          </a:p>
          <a:p>
            <a:endParaRPr/>
          </a:p>
          <a:p>
            <a:r>
              <a:t>[Sources]</a:t>
            </a:r>
          </a:p>
          <a:p>
            <a:r>
              <a:t>- A-Level_Macro_International_32-Lesson_Coverage_Planner.xlsx, '32-Lesson Model', lessons 1-2 (local workbook).</a:t>
            </a:r>
          </a:p>
          <a:p>
            <a:r>
              <a:t>- 9.1.1 Multiplier process SHARE.pdf / PPTX (previous lesson material). Construction-workers photograph extracted from the source PPTX.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students a minute to predict. Accept ranges, but press for the missing behaviour: how much of each extra pound is re-spent and how much leaks out. The coursebook's Puerto Rico context provides a source-backed comparison: $160m of investment was estimated to produce $240m of final spending.</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that the process can work in reverse: a fall in autonomous spending can create a multiplied fall in income. The size depends on leakages in every round.</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classification: exports are an injection; saving is a leakage. Re-establish that equilibrium requires planned injections to equal planned withdrawals.</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row by row if presenting interactively. Ask why the rounds shrink. Answer: 25% leaks into saving in every round. The infinite geometric sum tends to £400m. This mirrors the coursebook's round-by-round method, which uses a different numerical example.</a:t>
            </a:r>
          </a:p>
          <a:p>
            <a:endParaRPr/>
          </a:p>
          <a:p>
            <a:r>
              <a:t>[Sources]</a:t>
            </a:r>
          </a:p>
          <a:p>
            <a:r>
              <a:t>- 9.1.1 Multiplier process SHARE.pdf / PPTX (previous lesson material).</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ΔJ for the initial autonomous injection, matching the coursebook convention. Students may also see ΔAD. Emphasise units cancel: the multiplier is a ratio, not a currency amount.</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if income rises from 100 to 140 and consumption rises from 90 to 122, what is MPC? Answer: 32/40 = 0.8. APC at the new income is 122/140 ≈ 0.871. For household consumption and saving questions, the coursebook commonly uses disposable income as the income base.</a:t>
            </a:r>
          </a:p>
          <a:p>
            <a:endParaRPr/>
          </a:p>
          <a:p>
            <a:r>
              <a:t>[Sources]</a:t>
            </a:r>
          </a:p>
          <a:p>
            <a:r>
              <a:t>- 9.1.1 Multiplier process SHARE.pdf / PPTX (previous lesson material).</a:t>
            </a:r>
          </a:p>
          <a:p>
            <a:r>
              <a:t>- Cambridge International AS &amp; A Level Economics 9708 syllabus for 2026, 2027 and 2028, section 9.1.1, p.29 (local PDF).</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syllabus uses 'art' for average rate of tax and 'mrt' for marginal rate of tax. Do not let students write MTR unless the examiner wording allows it. The coursebook confirms that marginal propensities, not average propensities, enter the multiplier.</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down the table and ask what institution/sector introduces each new leakage. The coursebook explicitly develops the closed no-government, closed with-government and open with-government cases; the syllabus and previous deck also require the open no-government case.</a:t>
            </a:r>
          </a:p>
          <a:p>
            <a:endParaRPr/>
          </a:p>
          <a:p>
            <a:r>
              <a:t>[Sources]</a:t>
            </a:r>
          </a:p>
          <a:p>
            <a:r>
              <a:t>- Cambridge International AS &amp; A Level Economics 9708 syllabus for 2026, 2027 and 2028, section 9.1.1, p.29 (local PDF).</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a disciplined routine: identify model → identify leakages → calculate MPW → invert → multiply by the autonomous injection. Check that k &gt; 1 because MPW is below 1.</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MPW = 1/6 + 1/3 = 1/2, so k = 2. 2) k = 5 and ΔY = $5,000m. 3) MPW = 0.80, so k = 1.25. Insist on working, not just answers.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correct in a different colour. Common errors: omitting a leakage, adding the initial level of income to the change, and using MPW instead of 1/MPW.</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answers: 1) A ratio of the final change in national income to the initial change in autonomous spending. 2) More income leaves the spending stream in every round, so later rounds are smaller. 3) MPW = 0.50; k = 2.</a:t>
            </a:r>
          </a:p>
          <a:p>
            <a:endParaRPr/>
          </a:p>
          <a:p>
            <a:r>
              <a:t>[Sources]</a:t>
            </a:r>
          </a:p>
          <a:p>
            <a:r>
              <a:t>- Cambridge International AS &amp; A Level Economics 9708 syllabus for 2026, 2027 and 2028, section 9.1.1, p.29 (local PDF).</a:t>
            </a:r>
          </a:p>
          <a:p>
            <a:r>
              <a:t>- 9.1.2 Calculating the multiplier SHARE.pdf / PPTX, especially slides 33-41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island to cue the open-economy model: imports are a leakage and exports are an injection. Lesson 2 begins with retrieval before moving into data and national-income determination.</a:t>
            </a:r>
          </a:p>
          <a:p>
            <a:endParaRPr/>
          </a:p>
          <a:p>
            <a:r>
              <a:t>[Sources]</a:t>
            </a:r>
          </a:p>
          <a:p>
            <a:r>
              <a:t>- A-Level_Macro_International_32-Lesson_Coverage_Planner.xlsx, '32-Lesson Model', lessons 1-2 (local workbook).</a:t>
            </a:r>
          </a:p>
          <a:p>
            <a:r>
              <a:t>- 9.1.2 Calculating the multiplier SHARE.pdf / PPTX, especially slides 33-41 (previous lesson material). Island photograph extracted from the source PPTX.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k = ΔY/ΔJ. MPW = MPS + MPM + MRT. Leakages: saving, imports and taxation. Larger leakages lower k. Calculation: MPW = 0.50, k = 2.</a:t>
            </a:r>
          </a:p>
          <a:p>
            <a:endParaRPr/>
          </a:p>
          <a:p>
            <a:r>
              <a:t>[Sources]</a:t>
            </a:r>
          </a:p>
          <a:p>
            <a:r>
              <a:t>- 9.1.2 Calculating the multiplier SHARE.pdf / PPTX, especially slides 33-41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should first find ΔY = 200. Then divide each flow change by 200. C is labelled domestic consumption so the simplified marginal allocation can be read alongside separate import, saving and tax leakages.</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simplified allocation: MPC + MPS + MPM + MRT = 1. The multiplier uses only the withdrawals: 0.10 + 0.10 + 0.10 = 0.30. Do not include MPC in MPW.</a:t>
            </a:r>
          </a:p>
          <a:p>
            <a:endParaRPr/>
          </a:p>
          <a:p>
            <a:r>
              <a:t>[Sources]</a:t>
            </a:r>
          </a:p>
          <a:p>
            <a:r>
              <a:t>- Cambridge International AS &amp; A Level Economics 9708 syllabus for 2026, 2027 and 2028, section 9.1.1, p.29 (local PDF).</a:t>
            </a:r>
          </a:p>
          <a:p>
            <a:r>
              <a:t>- 9.1.1 Multiplier process SHARE.pdf / PPTX (previous lesson material).</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students copy the routine as a margin checklist. It reduces most formula-selection errors and makes working easy to reward in exams.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why no MPM or MRT appears. Answer: the model explicitly excludes the foreign and government sectors. Interpret k = 4 in words.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with Example A. The initial injection is larger here, but k is smaller because more types of leakage are present.</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adapts exercise 4. Students often divide 1,200 by 400 and miss the initial investment in total ΔY. In a closed no-government model, ΔY = ΔI + induced ΔC.</a:t>
            </a:r>
          </a:p>
          <a:p>
            <a:endParaRPr/>
          </a:p>
          <a:p>
            <a:r>
              <a:t>[Sources]</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a:endParaRPr/>
          </a:p>
          <a:p>
            <a:r>
              <a:t>[Sources]</a:t>
            </a:r>
          </a:p>
          <a:p>
            <a:r>
              <a:t>- Cambridge International AS &amp; A Level Economics 9708 syllabus for 2026, 2027 and 2028, section 9.1.1, p.29 (local PDF).</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follows the coursebook's Figure 41.5 logic: the multiplier can be represented as successive outward shifts in AD. Add the evaluation that a steeper AS near capacity produces a larger price response and a smaller real-output response.</a:t>
            </a:r>
          </a:p>
          <a:p>
            <a:endParaRPr/>
          </a:p>
          <a:p>
            <a:r>
              <a:t>[Sources]</a:t>
            </a:r>
          </a:p>
          <a:p>
            <a:r>
              <a:t>- Cambridge International AS &amp; A Level Economics 9708 syllabus for 2026, 2027 and 2028, section 9.1.1, p.29 (local PDF).</a:t>
            </a:r>
          </a:p>
          <a:p>
            <a:r>
              <a:t>- Cambridge A Level Economics - Text.pdf, Chapter 41, especially PDF pp.351-353 and 357 (uploaded coursebook).</a:t>
            </a:r>
          </a:p>
          <a:p>
            <a:r>
              <a:t>- Essay worksheet 2 - MPC and multiplier effect.pdf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a:endParaRPr/>
          </a:p>
          <a:p>
            <a:r>
              <a:t>[Sources]</a:t>
            </a:r>
          </a:p>
          <a:p>
            <a:r>
              <a:t>- Multiplier Exercises.pdf (previous lesson material).</a:t>
            </a:r>
          </a:p>
          <a:p>
            <a:r>
              <a:t>- Essay worksheet 2 - MPC and multiplier effect.pdf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Ask students to identify the defining feature: an initial injection leads to a more-than-proportionate rise in GDP through repeated spending rounds.</a:t>
            </a:r>
          </a:p>
          <a:p>
            <a:endParaRPr/>
          </a:p>
          <a:p>
            <a:r>
              <a:t>[Sources]</a:t>
            </a:r>
          </a:p>
          <a:p>
            <a:r>
              <a:t>- 9708_s25_qp_32.pdf, 9708/32/M/J/25 Q15 (local Paper 3 question-paper folder).</a:t>
            </a:r>
          </a:p>
          <a:p>
            <a:r>
              <a:t>- 9708_s25_ms_32.pdf, Q15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Answer: D. The item is reproduced verbatim. MPC is 0.8, while APC = 10 000/Y + 0.8, so APC remains greater than MPC for positive income.</a:t>
            </a:r>
          </a:p>
          <a:p>
            <a:endParaRPr dirty="0"/>
          </a:p>
          <a:p>
            <a:r>
              <a:rPr dirty="0"/>
              <a:t>[Sources]</a:t>
            </a:r>
          </a:p>
          <a:p>
            <a:r>
              <a:rPr dirty="0"/>
              <a:t>- 9708_m26_qp_32.pdf, 9708/32/F/M/26 Q15 (local 2026 Paper 3 question-paper folder).</a:t>
            </a:r>
          </a:p>
          <a:p>
            <a:r>
              <a:rPr dirty="0"/>
              <a:t>- 9708_m26_ms_32.pdf, Q15 answer key (local 2026 Paper 3 mark-scheme folder).</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B. The item is reproduced verbatim. A lower marginal rate of tax reduces withdrawals, lowers MPW and raises k = 1/MPW.</a:t>
            </a:r>
          </a:p>
          <a:p>
            <a:endParaRPr/>
          </a:p>
          <a:p>
            <a:r>
              <a:t>[Sources]</a:t>
            </a:r>
          </a:p>
          <a:p>
            <a:r>
              <a:t>- 9708_s26_qp_31.pdf, 9708/31/M/J/26 Q16 (local 2026 Paper 3 question-paper folder).</a:t>
            </a:r>
          </a:p>
          <a:p>
            <a:r>
              <a:t>- 9708_s26_ms_31.pdf, Q16 answer key (local 2026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D; 2 D; 3 B. Use the shortest valid rule, then ask students to explain why each distractor fails.</a:t>
            </a:r>
          </a:p>
          <a:p>
            <a:endParaRPr/>
          </a:p>
          <a:p>
            <a:r>
              <a:t>[Sources]</a:t>
            </a:r>
          </a:p>
          <a:p>
            <a:r>
              <a:t>- 9708_s25_ms_32.pdf, Q15; 9708_m26_ms_32.pdf, Q15; 9708_s26_ms_31.pdf, Q16 (local Paper 3 mark-scheme folders).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B. The item is reproduced verbatim. MPW = 0.1 + 0.1 = 0.2, k = 5, and the increase in national income is $500 million.</a:t>
            </a:r>
          </a:p>
          <a:p>
            <a:endParaRPr/>
          </a:p>
          <a:p>
            <a:r>
              <a:t>[Sources]</a:t>
            </a:r>
          </a:p>
          <a:p>
            <a:r>
              <a:t>- 9708_m21_qp_32.pdf, 9708/32/F/M/21 Q24 (local Paper 3 question-paper folder).</a:t>
            </a:r>
          </a:p>
          <a:p>
            <a:r>
              <a:t>- 9708_m21_ms_32.pdf, Q24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MPW = 0.8, k = 1.25, the rise in income is $1250m, and tax revenue rises by 0.3 × $1250m = $375m.</a:t>
            </a:r>
          </a:p>
          <a:p>
            <a:endParaRPr/>
          </a:p>
          <a:p>
            <a:r>
              <a:t>[Sources]</a:t>
            </a:r>
          </a:p>
          <a:p>
            <a:r>
              <a:t>- 9708_w22_qp_31.pdf, 9708/31/O/N/22 Q26 (local Paper 3 question-paper folder).</a:t>
            </a:r>
          </a:p>
          <a:p>
            <a:r>
              <a:t>- 9708_w22_ms_31.pdf, Q26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Opening the economy adds imports as a leakage, so MPW rises and the multiplier falls.</a:t>
            </a:r>
          </a:p>
          <a:p>
            <a:endParaRPr/>
          </a:p>
          <a:p>
            <a:r>
              <a:t>[Sources]</a:t>
            </a:r>
          </a:p>
          <a:p>
            <a:r>
              <a:t>- 9708_w23_qp_31.pdf, 9708/31/O/N/23 Q17 (local Paper 3 question-paper folder).</a:t>
            </a:r>
          </a:p>
          <a:p>
            <a:r>
              <a:t>- 9708_w23_ms_31.pdf, Q17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B; 2 D; 3 D. Require MPW and k beside the two numerical items; for the trade item, require the chain imports -&gt; leakage -&gt; higher MPW -&gt; lower k.</a:t>
            </a:r>
          </a:p>
          <a:p>
            <a:endParaRPr/>
          </a:p>
          <a:p>
            <a:r>
              <a:t>[Sources]</a:t>
            </a:r>
          </a:p>
          <a:p>
            <a:r>
              <a:t>- 9708_m21_ms_32.pdf, Q24; 9708_w22_ms_31.pdf, Q26; 9708_w23_ms_31.pdf, Q17 (local Paper 3 mark-scheme folders).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is reproduced verbatim. Award through a developed chain: extraction creates employment/income; workers or firms spend; demand, employment and income rise in other Ghanaian sectors; repeated rounds generate the multiplier effect.</a:t>
            </a:r>
          </a:p>
          <a:p>
            <a:endParaRPr/>
          </a:p>
          <a:p>
            <a:r>
              <a:t>[Sources]</a:t>
            </a:r>
          </a:p>
          <a:p>
            <a:r>
              <a:t>- 9708_w24_qp_41.pdf, 9708/41/O/N/24 Q1(b) (local Paper 4 question-paper folder).</a:t>
            </a:r>
          </a:p>
          <a:p>
            <a:r>
              <a:t>- 9708_w24_ms_41.pdf, Q1(b)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four columns as a concise Paper 4 chain. The response should explain, not merely name, the multiplier and must apply the mechanism to Ghana and employment in other sectors.</a:t>
            </a:r>
          </a:p>
          <a:p>
            <a:endParaRPr/>
          </a:p>
          <a:p>
            <a:r>
              <a:t>[Sources]</a:t>
            </a:r>
          </a:p>
          <a:p>
            <a:r>
              <a:t>- 9708_w24_ms_41.pdf, Q1(b)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teacher-created assessment, not a past-paper question. Answers: MPW = 0.50; k = 2; ΔY = £240m. A valid qualification is that near full employment part of the rise in AD may raise prices rather than real output, or that confidence and marginal propensities may change.</a:t>
            </a:r>
          </a:p>
          <a:p>
            <a:endParaRPr/>
          </a:p>
          <a:p>
            <a:r>
              <a:t>[Sources]</a:t>
            </a:r>
          </a:p>
          <a:p>
            <a:r>
              <a:t>- 9.1.2 Calculating the multiplier SHARE.pdf / PPTX, previous lesson material.</a:t>
            </a:r>
          </a:p>
          <a:p>
            <a:r>
              <a:t>- Essay worksheet 2 - MPC and multiplier effect.pdf,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end of the assessed Lessons 1-2 sequence. Close with process, size and outcome. Slides 39-44 are a later-syllabus question bank and should be revisited after the named macroeconomic units.</a:t>
            </a:r>
          </a:p>
          <a:p>
            <a:endParaRPr/>
          </a:p>
          <a:p>
            <a:r>
              <a:t>[Sources]</a:t>
            </a:r>
          </a:p>
          <a:p>
            <a:r>
              <a:t>- Cambridge International AS &amp; A Level Economics 9708 syllabus for 2026, 2027 and 2028, section 9.1.1.</a:t>
            </a:r>
          </a:p>
          <a:p>
            <a:r>
              <a:t>- A-Level_Macro_International_32-Lesson_Coverage_Planner.xlsx, lessons 1-2.</a:t>
            </a:r>
          </a:p>
          <a:p>
            <a:r>
              <a:t>- Cambridge A Level Economics - Text.pdf, Chapter 41.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is reproduced verbatim. Do not use it as a full 12-mark assessment in Lessons 1-2. Students can define MPC and explain its multiplier link now, but policy application and evaluation belong after macroeconomic objectives and policy instruments.</a:t>
            </a:r>
          </a:p>
          <a:p>
            <a:endParaRPr/>
          </a:p>
          <a:p>
            <a:r>
              <a:t>[Sources]</a:t>
            </a:r>
          </a:p>
          <a:p>
            <a:r>
              <a:t>- 9708_w21_qp_41.pdf, 9708/41/O/N/21 Q4(a) (local Paper 4 question-paper folder).</a:t>
            </a:r>
          </a:p>
          <a:p>
            <a:r>
              <a:t>- 9708_w21_ms_41.pdf, Q4(a) level descriptors and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current teaching, use only DEFINE and EXPLAIN. Revisit APPLY and JUDGE after students have studied government macroeconomic policy and its objectives.</a:t>
            </a:r>
          </a:p>
          <a:p>
            <a:endParaRPr/>
          </a:p>
          <a:p>
            <a:r>
              <a:t>[Sources]</a:t>
            </a:r>
          </a:p>
          <a:p>
            <a:r>
              <a:t>- 9708_w21_ms_41.pdf, Q4(a) level descriptors and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2026 question is reproduced verbatim. Keep it for later: students need negative output gaps, full employment, expansionary fiscal policy and AD/AS analysis before they can evaluate the claim properly.</a:t>
            </a:r>
          </a:p>
          <a:p>
            <a:endParaRPr/>
          </a:p>
          <a:p>
            <a:r>
              <a:t>[Sources]</a:t>
            </a:r>
          </a:p>
          <a:p>
            <a:r>
              <a:t>- 9708_s26_qp_41.pdf, 9708/41/M/J/26 Q4 (local 2026 Paper 4 question-paper folder).</a:t>
            </a:r>
          </a:p>
          <a:p>
            <a:r>
              <a:t>- 9708_s26_ms_41.pdf,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plan only after output gaps, fiscal policy and AD/AS have been taught. Complete evaluation also depends on later knowledge of crowding out, public debt, inflation and time lags.</a:t>
            </a:r>
          </a:p>
          <a:p>
            <a:endParaRPr/>
          </a:p>
          <a:p>
            <a:r>
              <a:t>[Sources]</a:t>
            </a:r>
          </a:p>
          <a:p>
            <a:r>
              <a:t>- 9708_s26_ms_41.pdf,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2026 question is reproduced verbatim. Students can distinguish autonomous from induced investment now, but the full evaluation belongs after the accelerator principle, deflationary gaps and fiscal-policy effectiveness.</a:t>
            </a:r>
          </a:p>
          <a:p>
            <a:endParaRPr/>
          </a:p>
          <a:p>
            <a:r>
              <a:t>[Sources]</a:t>
            </a:r>
          </a:p>
          <a:p>
            <a:r>
              <a:t>- 9708_s26_qp_44.pdf, 9708/44/M/J/26 Q4 (local 2026 Paper 4 question-paper folder).</a:t>
            </a:r>
          </a:p>
          <a:p>
            <a:r>
              <a:t>- 9708_s26_ms_44.pdf,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roadmap when planning the rest of the course. The authentic Paper 4 questions should be revisited at the named points, when students have the additional concepts and evaluation tools required by the mark schemes.</a:t>
            </a:r>
          </a:p>
          <a:p>
            <a:endParaRPr/>
          </a:p>
          <a:p>
            <a:r>
              <a:t>[Sources]</a:t>
            </a:r>
          </a:p>
          <a:p>
            <a:r>
              <a:t>- Cambridge International AS &amp; A Level Economics 9708 syllabus for 2026, 2027 and 2028.</a:t>
            </a:r>
          </a:p>
          <a:p>
            <a:r>
              <a:t>- A-Level_Macro_International_32-Lesson_Coverage_Planner.xlsx, local content map.</a:t>
            </a:r>
          </a:p>
          <a:p>
            <a:r>
              <a:t>- Paper 3 and Paper 4 question-paper and mark-scheme folders, 2021-2026.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72BD74-9A55-4C6E-9511-1FA5546C1E23}"/>
              </a:ext>
            </a:extLst>
          </p:cNvPr>
          <p:cNvSpPr>
            <a:spLocks noGrp="1"/>
          </p:cNvSpPr>
          <p:nvPr/>
        </p:nvSpPr>
        <p:spPr>
          <a:xfrm>
            <a:off x="571500" y="590550"/>
            <a:ext cx="4953000" cy="228600"/>
          </a:xfrm>
          <a:prstGeom prst="rect">
            <a:avLst/>
          </a:prstGeom>
          <a:noFill/>
          <a:ln w="0">
            <a:noFill/>
            <a:prstDash val="solid"/>
          </a:ln>
        </p:spPr>
        <p:txBody>
          <a:bodyPr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CAMBRIDGE A LEVEL ECONOMICS 9708</a:t>
            </a:r>
          </a:p>
        </p:txBody>
      </p:sp>
      <p:sp>
        <p:nvSpPr>
          <p:cNvPr id="2" name="Rectangle 1">
            <a:extLst>
              <a:ext uri="{FF2B5EF4-FFF2-40B4-BE49-F238E27FC236}">
                <a16:creationId xmlns:a16="http://schemas.microsoft.com/office/drawing/2014/main" id="{A60313B9-8871-491F-A6F3-00B872E4A018}"/>
              </a:ext>
            </a:extLst>
          </p:cNvPr>
          <p:cNvSpPr>
            <a:spLocks noGrp="1"/>
          </p:cNvSpPr>
          <p:nvPr/>
        </p:nvSpPr>
        <p:spPr>
          <a:xfrm>
            <a:off x="571500" y="1476375"/>
            <a:ext cx="4953000" cy="1619250"/>
          </a:xfrm>
          <a:prstGeom prst="rect">
            <a:avLst/>
          </a:prstGeom>
          <a:noFill/>
          <a:ln w="0">
            <a:noFill/>
            <a:prstDash val="solid"/>
          </a:ln>
        </p:spPr>
        <p:txBody>
          <a:bodyPr anchor="ctr">
            <a:noAutofit/>
          </a:bodyPr>
          <a:lstStyle/>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The</a:t>
            </a:r>
          </a:p>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multiplier</a:t>
            </a:r>
          </a:p>
        </p:txBody>
      </p:sp>
      <p:sp>
        <p:nvSpPr>
          <p:cNvPr id="3" name="Rectangle 2">
            <a:extLst>
              <a:ext uri="{FF2B5EF4-FFF2-40B4-BE49-F238E27FC236}">
                <a16:creationId xmlns:a16="http://schemas.microsoft.com/office/drawing/2014/main" id="{F47DF6F3-EE29-4AA8-9A7F-E7A85D108B55}"/>
              </a:ext>
            </a:extLst>
          </p:cNvPr>
          <p:cNvSpPr>
            <a:spLocks noGrp="1"/>
          </p:cNvSpPr>
          <p:nvPr/>
        </p:nvSpPr>
        <p:spPr>
          <a:xfrm>
            <a:off x="571500" y="3333750"/>
            <a:ext cx="5413090" cy="952500"/>
          </a:xfrm>
          <a:prstGeom prst="rect">
            <a:avLst/>
          </a:prstGeom>
          <a:noFill/>
          <a:ln w="0">
            <a:noFill/>
            <a:prstDash val="solid"/>
          </a:ln>
        </p:spPr>
        <p:txBody>
          <a:bodyPr anchor="t">
            <a:noAutofit/>
          </a:bodyPr>
          <a:lstStyle/>
          <a:p>
            <a:pPr algn="l">
              <a:buNone/>
              <a:defRPr sz="2100" b="0" i="0">
                <a:solidFill>
                  <a:srgbClr val="59616B"/>
                </a:solidFill>
                <a:latin typeface="Arial"/>
                <a:ea typeface="Arial"/>
                <a:cs typeface="Arial"/>
              </a:defRPr>
            </a:pPr>
            <a:r>
              <a:rPr sz="2100">
                <a:solidFill>
                  <a:srgbClr val="59616B"/>
                </a:solidFill>
                <a:latin typeface="Arial"/>
                <a:ea typeface="Arial"/>
                <a:cs typeface="Arial"/>
              </a:rPr>
              <a:t>C</a:t>
            </a:r>
            <a:r>
              <a:rPr sz="2100" b="0" i="0">
                <a:solidFill>
                  <a:srgbClr val="59616B"/>
                </a:solidFill>
                <a:latin typeface="Arial"/>
                <a:ea typeface="Arial"/>
                <a:cs typeface="Arial"/>
              </a:rPr>
              <a:t>oncept, calculation and national income</a:t>
            </a:r>
          </a:p>
        </p:txBody>
      </p:sp>
      <p:cxnSp>
        <p:nvCxnSpPr>
          <p:cNvPr id="53" name="Straight Arrow Connector 42"/>
          <p:cNvCxnSpPr/>
          <p:nvPr/>
        </p:nvCxnSpPr>
        <p:spPr>
          <a:xfrm>
            <a:off x="571500" y="4619625"/>
            <a:ext cx="4953000" cy="95"/>
          </a:xfrm>
          <a:prstGeom prst="straightConnector1">
            <a:avLst/>
          </a:prstGeom>
          <a:ln w="9525">
            <a:solidFill>
              <a:srgbClr val="B8BCC4"/>
            </a:solidFill>
            <a:prstDash val="solid"/>
          </a:ln>
        </p:spPr>
      </p:cxnSp>
      <p:sp>
        <p:nvSpPr>
          <p:cNvPr id="5" name="Rectangle 4">
            <a:extLst>
              <a:ext uri="{FF2B5EF4-FFF2-40B4-BE49-F238E27FC236}">
                <a16:creationId xmlns:a16="http://schemas.microsoft.com/office/drawing/2014/main" id="{97289363-19E7-4438-ADD1-D8AB3BE6E19D}"/>
              </a:ext>
            </a:extLst>
          </p:cNvPr>
          <p:cNvSpPr>
            <a:spLocks noGrp="1"/>
          </p:cNvSpPr>
          <p:nvPr/>
        </p:nvSpPr>
        <p:spPr>
          <a:xfrm>
            <a:off x="571500" y="4857750"/>
            <a:ext cx="4953000" cy="666750"/>
          </a:xfrm>
          <a:prstGeom prst="rect">
            <a:avLst/>
          </a:prstGeom>
          <a:noFill/>
          <a:ln w="0">
            <a:noFill/>
            <a:prstDash val="solid"/>
          </a:ln>
        </p:spPr>
        <p:txBody>
          <a:bodyPr anchor="t">
            <a:noAutofit/>
          </a:bodyPr>
          <a:lstStyle/>
          <a:p>
            <a:pPr algn="l">
              <a:buNone/>
              <a:defRPr sz="1350" b="0" i="0">
                <a:solidFill>
                  <a:srgbClr val="59616B"/>
                </a:solidFill>
                <a:latin typeface="Arial"/>
                <a:ea typeface="Arial"/>
                <a:cs typeface="Arial"/>
              </a:defRPr>
            </a:pPr>
            <a:r>
              <a:rPr sz="1350" b="0" i="0">
                <a:solidFill>
                  <a:srgbClr val="59616B"/>
                </a:solidFill>
                <a:latin typeface="Arial"/>
                <a:ea typeface="Arial"/>
                <a:cs typeface="Arial"/>
              </a:rPr>
              <a:t>Syllabus section 9.1.1</a:t>
            </a:r>
          </a:p>
        </p:txBody>
      </p:sp>
      <p:sp>
        <p:nvSpPr>
          <p:cNvPr id="6" name="Rectangle 5">
            <a:extLst>
              <a:ext uri="{FF2B5EF4-FFF2-40B4-BE49-F238E27FC236}">
                <a16:creationId xmlns:a16="http://schemas.microsoft.com/office/drawing/2014/main" id="{66440773-8E59-4957-BF51-3443B7F681C0}"/>
              </a:ext>
            </a:extLst>
          </p:cNvPr>
          <p:cNvSpPr>
            <a:spLocks noGrp="1"/>
          </p:cNvSpPr>
          <p:nvPr/>
        </p:nvSpPr>
        <p:spPr>
          <a:xfrm>
            <a:off x="6267450" y="400050"/>
            <a:ext cx="5353050" cy="5619750"/>
          </a:xfrm>
          <a:prstGeom prst="rect">
            <a:avLst/>
          </a:prstGeom>
          <a:solidFill>
            <a:srgbClr val="EAF5FB"/>
          </a:solidFill>
          <a:ln w="9525">
            <a:solidFill>
              <a:srgbClr val="B8BCC4"/>
            </a:solidFill>
            <a:prstDash val="solid"/>
          </a:ln>
        </p:spPr>
      </p:sp>
      <p:pic>
        <p:nvPicPr>
          <p:cNvPr id="56" name="Picture 45"/>
          <p:cNvPicPr>
            <a:picLocks noChangeAspect="1"/>
          </p:cNvPicPr>
          <p:nvPr/>
        </p:nvPicPr>
        <p:blipFill>
          <a:blip r:embed="rId3"/>
          <a:srcRect l="23210" r="23210"/>
          <a:stretch>
            <a:fillRect/>
          </a:stretch>
        </p:blipFill>
        <p:spPr>
          <a:xfrm>
            <a:off x="6267450" y="400050"/>
            <a:ext cx="5353050" cy="5619750"/>
          </a:xfrm>
          <a:prstGeom prst="rect">
            <a:avLst/>
          </a:prstGeom>
        </p:spPr>
      </p:pic>
      <p:sp>
        <p:nvSpPr>
          <p:cNvPr id="9" name="Rectangle 8">
            <a:extLst>
              <a:ext uri="{FF2B5EF4-FFF2-40B4-BE49-F238E27FC236}">
                <a16:creationId xmlns:a16="http://schemas.microsoft.com/office/drawing/2014/main" id="{B0EE0841-029B-48FC-BA1D-3F6FF8EEAE6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01</a:t>
            </a:r>
          </a:p>
        </p:txBody>
      </p:sp>
    </p:spTree>
    <p:extLst>
      <p:ext uri="{BB962C8B-B14F-4D97-AF65-F5344CB8AC3E}">
        <p14:creationId xmlns:p14="http://schemas.microsoft.com/office/powerpoint/2010/main" val="17777747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5">
            <a:extLst>
              <a:ext uri="{FF2B5EF4-FFF2-40B4-BE49-F238E27FC236}">
                <a16:creationId xmlns:a16="http://schemas.microsoft.com/office/drawing/2014/main" id="{2B07B0B4-6258-0066-F74D-AA36C461FD8B}"/>
              </a:ext>
            </a:extLst>
          </p:cNvPr>
          <p:cNvPicPr>
            <a:picLocks noChangeAspect="1"/>
          </p:cNvPicPr>
          <p:nvPr/>
        </p:nvPicPr>
        <p:blipFill>
          <a:blip r:embed="rId2"/>
          <a:srcRect l="23210" r="23210"/>
          <a:stretch>
            <a:fillRect/>
          </a:stretch>
        </p:blipFill>
        <p:spPr>
          <a:xfrm>
            <a:off x="6267450" y="400050"/>
            <a:ext cx="5353050" cy="5619750"/>
          </a:xfrm>
          <a:prstGeom prst="rect">
            <a:avLst/>
          </a:prstGeom>
        </p:spPr>
      </p:pic>
      <p:sp>
        <p:nvSpPr>
          <p:cNvPr id="5" name="TextBox 4">
            <a:extLst>
              <a:ext uri="{FF2B5EF4-FFF2-40B4-BE49-F238E27FC236}">
                <a16:creationId xmlns:a16="http://schemas.microsoft.com/office/drawing/2014/main" id="{85C2CE8B-052A-B18C-5FD7-EFCF2CF91621}"/>
              </a:ext>
            </a:extLst>
          </p:cNvPr>
          <p:cNvSpPr txBox="1"/>
          <p:nvPr/>
        </p:nvSpPr>
        <p:spPr>
          <a:xfrm>
            <a:off x="1048407" y="1843950"/>
            <a:ext cx="4570423" cy="3170099"/>
          </a:xfrm>
          <a:prstGeom prst="rect">
            <a:avLst/>
          </a:prstGeom>
          <a:noFill/>
        </p:spPr>
        <p:txBody>
          <a:bodyPr wrap="square">
            <a:spAutoFit/>
          </a:bodyPr>
          <a:lstStyle/>
          <a:p>
            <a:pPr algn="ctr">
              <a:buNone/>
              <a:defRPr sz="3600" b="1" i="0">
                <a:solidFill>
                  <a:srgbClr val="000000"/>
                </a:solidFill>
                <a:latin typeface="Arial"/>
                <a:ea typeface="Arial"/>
                <a:cs typeface="Arial"/>
              </a:defRPr>
            </a:pPr>
            <a:r>
              <a:rPr lang="en-US" altLang="zh-CN" sz="4000" b="1" i="0" dirty="0">
                <a:solidFill>
                  <a:srgbClr val="000000"/>
                </a:solidFill>
                <a:latin typeface="Arial"/>
                <a:ea typeface="Arial"/>
                <a:cs typeface="Arial"/>
              </a:rPr>
              <a:t>Why can £100m </a:t>
            </a:r>
            <a:r>
              <a:rPr lang="en-US" altLang="zh-CN" sz="4000" b="1" dirty="0">
                <a:solidFill>
                  <a:srgbClr val="000000"/>
                </a:solidFill>
                <a:latin typeface="Arial"/>
                <a:ea typeface="Arial"/>
                <a:cs typeface="Arial"/>
              </a:rPr>
              <a:t>of</a:t>
            </a:r>
            <a:r>
              <a:rPr lang="zh-CN" altLang="en-US" sz="4000" b="1" dirty="0">
                <a:solidFill>
                  <a:srgbClr val="000000"/>
                </a:solidFill>
                <a:latin typeface="Arial"/>
                <a:ea typeface="Arial"/>
                <a:cs typeface="Arial"/>
              </a:rPr>
              <a:t> </a:t>
            </a:r>
            <a:r>
              <a:rPr lang="en-US" altLang="zh-CN" sz="4000" b="1" dirty="0">
                <a:solidFill>
                  <a:srgbClr val="000000"/>
                </a:solidFill>
                <a:latin typeface="Arial"/>
                <a:ea typeface="Arial"/>
                <a:cs typeface="Arial"/>
              </a:rPr>
              <a:t>government</a:t>
            </a:r>
            <a:r>
              <a:rPr lang="zh-CN" altLang="en-US" sz="4000" b="1" dirty="0">
                <a:solidFill>
                  <a:srgbClr val="000000"/>
                </a:solidFill>
                <a:latin typeface="Arial"/>
                <a:ea typeface="Arial"/>
                <a:cs typeface="Arial"/>
              </a:rPr>
              <a:t> </a:t>
            </a:r>
            <a:r>
              <a:rPr lang="en-US" altLang="zh-CN" sz="4000" b="1" dirty="0">
                <a:solidFill>
                  <a:srgbClr val="000000"/>
                </a:solidFill>
                <a:latin typeface="Arial"/>
                <a:ea typeface="Arial"/>
                <a:cs typeface="Arial"/>
              </a:rPr>
              <a:t>spending</a:t>
            </a:r>
            <a:r>
              <a:rPr lang="zh-CN" altLang="en-US" sz="4000" b="1" dirty="0">
                <a:solidFill>
                  <a:srgbClr val="000000"/>
                </a:solidFill>
                <a:latin typeface="Arial"/>
                <a:ea typeface="Arial"/>
                <a:cs typeface="Arial"/>
              </a:rPr>
              <a:t> </a:t>
            </a:r>
            <a:r>
              <a:rPr lang="en-US" altLang="zh-CN" sz="4000" b="1" i="0" dirty="0">
                <a:solidFill>
                  <a:srgbClr val="000000"/>
                </a:solidFill>
                <a:latin typeface="Arial"/>
                <a:ea typeface="Arial"/>
                <a:cs typeface="Arial"/>
              </a:rPr>
              <a:t>create more than £100m of GDP?</a:t>
            </a:r>
          </a:p>
        </p:txBody>
      </p:sp>
    </p:spTree>
    <p:extLst>
      <p:ext uri="{BB962C8B-B14F-4D97-AF65-F5344CB8AC3E}">
        <p14:creationId xmlns:p14="http://schemas.microsoft.com/office/powerpoint/2010/main" val="4214046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2-title">
            <a:extLst>
              <a:ext uri="{FF2B5EF4-FFF2-40B4-BE49-F238E27FC236}">
                <a16:creationId xmlns:a16="http://schemas.microsoft.com/office/drawing/2014/main" id="{F7C2B5A6-CBFD-40C2-BDE9-231F71FE854F}"/>
              </a:ext>
            </a:extLst>
          </p:cNvPr>
          <p:cNvSpPr>
            <a:spLocks noGrp="1"/>
          </p:cNvSpPr>
          <p:nvPr/>
        </p:nvSpPr>
        <p:spPr>
          <a:xfrm>
            <a:off x="571500" y="485775"/>
            <a:ext cx="11049000" cy="609600"/>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sz="3600" b="1" i="0" dirty="0">
                <a:solidFill>
                  <a:srgbClr val="000000"/>
                </a:solidFill>
                <a:latin typeface="Arial"/>
                <a:ea typeface="Arial"/>
                <a:cs typeface="Arial"/>
              </a:rPr>
              <a:t>What you will be able to do</a:t>
            </a:r>
          </a:p>
        </p:txBody>
      </p:sp>
      <p:cxnSp>
        <p:nvCxnSpPr>
          <p:cNvPr id="72" name="Straight Arrow Connector 59"/>
          <p:cNvCxnSpPr/>
          <p:nvPr/>
        </p:nvCxnSpPr>
        <p:spPr>
          <a:xfrm>
            <a:off x="1047750" y="2682767"/>
            <a:ext cx="9906000" cy="95"/>
          </a:xfrm>
          <a:prstGeom prst="straightConnector1">
            <a:avLst/>
          </a:prstGeom>
          <a:ln w="19050">
            <a:solidFill>
              <a:srgbClr val="B8BCC4"/>
            </a:solidFill>
            <a:prstDash val="solid"/>
          </a:ln>
        </p:spPr>
      </p:cxnSp>
      <p:sp>
        <p:nvSpPr>
          <p:cNvPr id="7" name="Oval 6">
            <a:extLst>
              <a:ext uri="{FF2B5EF4-FFF2-40B4-BE49-F238E27FC236}">
                <a16:creationId xmlns:a16="http://schemas.microsoft.com/office/drawing/2014/main" id="{E1CA9BA0-9B83-47C7-A839-4296F643992E}"/>
              </a:ext>
            </a:extLst>
          </p:cNvPr>
          <p:cNvSpPr>
            <a:spLocks noGrp="1"/>
          </p:cNvSpPr>
          <p:nvPr/>
        </p:nvSpPr>
        <p:spPr>
          <a:xfrm>
            <a:off x="1285875" y="2282717"/>
            <a:ext cx="800100" cy="800100"/>
          </a:xfrm>
          <a:prstGeom prst="ellipse">
            <a:avLst/>
          </a:prstGeom>
          <a:solidFill>
            <a:srgbClr val="EAF5FB"/>
          </a:solidFill>
          <a:ln w="9525">
            <a:solidFill>
              <a:srgbClr val="3D8DFF"/>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1</a:t>
            </a:r>
          </a:p>
        </p:txBody>
      </p:sp>
      <p:sp>
        <p:nvSpPr>
          <p:cNvPr id="9" name="Rectangle 8">
            <a:extLst>
              <a:ext uri="{FF2B5EF4-FFF2-40B4-BE49-F238E27FC236}">
                <a16:creationId xmlns:a16="http://schemas.microsoft.com/office/drawing/2014/main" id="{654D32A2-D977-45B3-8842-C1910CDB5CED}"/>
              </a:ext>
            </a:extLst>
          </p:cNvPr>
          <p:cNvSpPr>
            <a:spLocks noGrp="1"/>
          </p:cNvSpPr>
          <p:nvPr/>
        </p:nvSpPr>
        <p:spPr>
          <a:xfrm>
            <a:off x="6667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Show how an injection creates </a:t>
            </a:r>
            <a:r>
              <a:rPr sz="2000" b="1" i="0" dirty="0">
                <a:solidFill>
                  <a:srgbClr val="59616B"/>
                </a:solidFill>
                <a:latin typeface="Arial"/>
                <a:ea typeface="Arial"/>
                <a:cs typeface="Arial"/>
              </a:rPr>
              <a:t>repeated rounds of income and spending</a:t>
            </a:r>
            <a:r>
              <a:rPr sz="2000" b="0" i="0" dirty="0">
                <a:solidFill>
                  <a:srgbClr val="59616B"/>
                </a:solidFill>
                <a:latin typeface="Arial"/>
                <a:ea typeface="Arial"/>
                <a:cs typeface="Arial"/>
              </a:rPr>
              <a:t>.</a:t>
            </a:r>
          </a:p>
        </p:txBody>
      </p:sp>
      <p:sp>
        <p:nvSpPr>
          <p:cNvPr id="10" name="Oval 9">
            <a:extLst>
              <a:ext uri="{FF2B5EF4-FFF2-40B4-BE49-F238E27FC236}">
                <a16:creationId xmlns:a16="http://schemas.microsoft.com/office/drawing/2014/main" id="{58D4255C-6E2A-4926-8D3E-424BFF4DB32E}"/>
              </a:ext>
            </a:extLst>
          </p:cNvPr>
          <p:cNvSpPr>
            <a:spLocks noGrp="1"/>
          </p:cNvSpPr>
          <p:nvPr/>
        </p:nvSpPr>
        <p:spPr>
          <a:xfrm>
            <a:off x="4143375" y="2282717"/>
            <a:ext cx="800100" cy="800100"/>
          </a:xfrm>
          <a:prstGeom prst="ellipse">
            <a:avLst/>
          </a:prstGeom>
          <a:solidFill>
            <a:srgbClr val="EAF5FB"/>
          </a:solidFill>
          <a:ln w="9525">
            <a:solidFill>
              <a:srgbClr val="3D8DFF"/>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2</a:t>
            </a:r>
          </a:p>
        </p:txBody>
      </p:sp>
      <p:sp>
        <p:nvSpPr>
          <p:cNvPr id="12" name="Rectangle 11">
            <a:extLst>
              <a:ext uri="{FF2B5EF4-FFF2-40B4-BE49-F238E27FC236}">
                <a16:creationId xmlns:a16="http://schemas.microsoft.com/office/drawing/2014/main" id="{C41C1124-7517-473B-96BE-C3B1C25AE5A5}"/>
              </a:ext>
            </a:extLst>
          </p:cNvPr>
          <p:cNvSpPr>
            <a:spLocks noGrp="1"/>
          </p:cNvSpPr>
          <p:nvPr/>
        </p:nvSpPr>
        <p:spPr>
          <a:xfrm>
            <a:off x="35242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Use the correct </a:t>
            </a:r>
            <a:r>
              <a:rPr sz="2000" b="1" i="0" dirty="0">
                <a:solidFill>
                  <a:srgbClr val="59616B"/>
                </a:solidFill>
                <a:latin typeface="Arial"/>
                <a:ea typeface="Arial"/>
                <a:cs typeface="Arial"/>
              </a:rPr>
              <a:t>multiplier formula </a:t>
            </a:r>
            <a:r>
              <a:rPr sz="2000" b="0" i="0" dirty="0">
                <a:solidFill>
                  <a:srgbClr val="59616B"/>
                </a:solidFill>
                <a:latin typeface="Arial"/>
                <a:ea typeface="Arial"/>
                <a:cs typeface="Arial"/>
              </a:rPr>
              <a:t>for four models of an economy.</a:t>
            </a:r>
          </a:p>
        </p:txBody>
      </p:sp>
      <p:sp>
        <p:nvSpPr>
          <p:cNvPr id="13" name="Oval 12">
            <a:extLst>
              <a:ext uri="{FF2B5EF4-FFF2-40B4-BE49-F238E27FC236}">
                <a16:creationId xmlns:a16="http://schemas.microsoft.com/office/drawing/2014/main" id="{18657CC7-0699-4D6F-81BB-34E360ED4C1A}"/>
              </a:ext>
            </a:extLst>
          </p:cNvPr>
          <p:cNvSpPr>
            <a:spLocks noGrp="1"/>
          </p:cNvSpPr>
          <p:nvPr/>
        </p:nvSpPr>
        <p:spPr>
          <a:xfrm>
            <a:off x="7000875" y="2282717"/>
            <a:ext cx="800100" cy="800100"/>
          </a:xfrm>
          <a:prstGeom prst="ellipse">
            <a:avLst/>
          </a:prstGeom>
          <a:solidFill>
            <a:srgbClr val="EDEDED"/>
          </a:solidFill>
          <a:ln w="9525">
            <a:solidFill>
              <a:srgbClr val="000000"/>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3</a:t>
            </a:r>
          </a:p>
        </p:txBody>
      </p:sp>
      <p:sp>
        <p:nvSpPr>
          <p:cNvPr id="15" name="Rectangle 14">
            <a:extLst>
              <a:ext uri="{FF2B5EF4-FFF2-40B4-BE49-F238E27FC236}">
                <a16:creationId xmlns:a16="http://schemas.microsoft.com/office/drawing/2014/main" id="{391B6A0D-26CE-4709-A4C0-5E8168C5941F}"/>
              </a:ext>
            </a:extLst>
          </p:cNvPr>
          <p:cNvSpPr>
            <a:spLocks noGrp="1"/>
          </p:cNvSpPr>
          <p:nvPr/>
        </p:nvSpPr>
        <p:spPr>
          <a:xfrm>
            <a:off x="63817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Find </a:t>
            </a:r>
            <a:r>
              <a:rPr sz="2000" b="1" i="0" dirty="0">
                <a:solidFill>
                  <a:srgbClr val="59616B"/>
                </a:solidFill>
                <a:latin typeface="Arial"/>
                <a:ea typeface="Arial"/>
                <a:cs typeface="Arial"/>
              </a:rPr>
              <a:t>average and marginal propensities </a:t>
            </a:r>
            <a:r>
              <a:rPr sz="2000" b="0" i="0" dirty="0">
                <a:solidFill>
                  <a:srgbClr val="59616B"/>
                </a:solidFill>
                <a:latin typeface="Arial"/>
                <a:ea typeface="Arial"/>
                <a:cs typeface="Arial"/>
              </a:rPr>
              <a:t>from data.</a:t>
            </a:r>
          </a:p>
        </p:txBody>
      </p:sp>
      <p:sp>
        <p:nvSpPr>
          <p:cNvPr id="16" name="Oval 15">
            <a:extLst>
              <a:ext uri="{FF2B5EF4-FFF2-40B4-BE49-F238E27FC236}">
                <a16:creationId xmlns:a16="http://schemas.microsoft.com/office/drawing/2014/main" id="{267EEE1D-B829-4DBE-87B3-1EB7F6F03665}"/>
              </a:ext>
            </a:extLst>
          </p:cNvPr>
          <p:cNvSpPr>
            <a:spLocks noGrp="1"/>
          </p:cNvSpPr>
          <p:nvPr/>
        </p:nvSpPr>
        <p:spPr>
          <a:xfrm>
            <a:off x="9858375" y="2282717"/>
            <a:ext cx="800100" cy="800100"/>
          </a:xfrm>
          <a:prstGeom prst="ellipse">
            <a:avLst/>
          </a:prstGeom>
          <a:solidFill>
            <a:srgbClr val="EDEDED"/>
          </a:solidFill>
          <a:ln w="9525">
            <a:solidFill>
              <a:srgbClr val="000000"/>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4</a:t>
            </a:r>
          </a:p>
        </p:txBody>
      </p:sp>
      <p:sp>
        <p:nvSpPr>
          <p:cNvPr id="18" name="Rectangle 17">
            <a:extLst>
              <a:ext uri="{FF2B5EF4-FFF2-40B4-BE49-F238E27FC236}">
                <a16:creationId xmlns:a16="http://schemas.microsoft.com/office/drawing/2014/main" id="{22C70F6F-C4B2-4E8C-A85B-6175630C9B79}"/>
              </a:ext>
            </a:extLst>
          </p:cNvPr>
          <p:cNvSpPr>
            <a:spLocks noGrp="1"/>
          </p:cNvSpPr>
          <p:nvPr/>
        </p:nvSpPr>
        <p:spPr>
          <a:xfrm>
            <a:off x="92392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Connect </a:t>
            </a:r>
            <a:r>
              <a:rPr sz="2000" b="1" i="0" dirty="0">
                <a:solidFill>
                  <a:srgbClr val="59616B"/>
                </a:solidFill>
                <a:latin typeface="Arial"/>
                <a:ea typeface="Arial"/>
                <a:cs typeface="Arial"/>
              </a:rPr>
              <a:t>changing AD to equilibrium national income </a:t>
            </a:r>
            <a:r>
              <a:rPr sz="2000" b="0" i="0" dirty="0">
                <a:solidFill>
                  <a:srgbClr val="59616B"/>
                </a:solidFill>
                <a:latin typeface="Arial"/>
                <a:ea typeface="Arial"/>
                <a:cs typeface="Arial"/>
              </a:rPr>
              <a:t>and exam questions.</a:t>
            </a:r>
          </a:p>
        </p:txBody>
      </p:sp>
    </p:spTree>
    <p:extLst>
      <p:ext uri="{BB962C8B-B14F-4D97-AF65-F5344CB8AC3E}">
        <p14:creationId xmlns:p14="http://schemas.microsoft.com/office/powerpoint/2010/main" val="19182883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36A410-7F06-4B38-AD49-B79993B13B27}"/>
              </a:ext>
            </a:extLst>
          </p:cNvPr>
          <p:cNvSpPr>
            <a:spLocks noGrp="1"/>
          </p:cNvSpPr>
          <p:nvPr/>
        </p:nvSpPr>
        <p:spPr>
          <a:xfrm>
            <a:off x="571500" y="590550"/>
            <a:ext cx="4953000" cy="228600"/>
          </a:xfrm>
          <a:prstGeom prst="rect">
            <a:avLst/>
          </a:prstGeom>
          <a:noFill/>
          <a:ln w="0">
            <a:noFill/>
            <a:prstDash val="solid"/>
          </a:ln>
        </p:spPr>
        <p:txBody>
          <a:bodyPr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1</a:t>
            </a:r>
          </a:p>
        </p:txBody>
      </p:sp>
      <p:sp>
        <p:nvSpPr>
          <p:cNvPr id="2" name="Rectangle 1">
            <a:extLst>
              <a:ext uri="{FF2B5EF4-FFF2-40B4-BE49-F238E27FC236}">
                <a16:creationId xmlns:a16="http://schemas.microsoft.com/office/drawing/2014/main" id="{6D6DAFEB-AB8E-46D1-A642-F74232869243}"/>
              </a:ext>
            </a:extLst>
          </p:cNvPr>
          <p:cNvSpPr>
            <a:spLocks noGrp="1"/>
          </p:cNvSpPr>
          <p:nvPr/>
        </p:nvSpPr>
        <p:spPr>
          <a:xfrm>
            <a:off x="571500" y="1476375"/>
            <a:ext cx="4953000" cy="1619250"/>
          </a:xfrm>
          <a:prstGeom prst="rect">
            <a:avLst/>
          </a:prstGeom>
          <a:noFill/>
          <a:ln w="0">
            <a:noFill/>
            <a:prstDash val="solid"/>
          </a:ln>
        </p:spPr>
        <p:txBody>
          <a:bodyPr anchor="ctr">
            <a:noAutofit/>
          </a:bodyPr>
          <a:lstStyle/>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Concept</a:t>
            </a:r>
          </a:p>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formulae</a:t>
            </a:r>
          </a:p>
        </p:txBody>
      </p:sp>
      <p:sp>
        <p:nvSpPr>
          <p:cNvPr id="3" name="Rectangle 2">
            <a:extLst>
              <a:ext uri="{FF2B5EF4-FFF2-40B4-BE49-F238E27FC236}">
                <a16:creationId xmlns:a16="http://schemas.microsoft.com/office/drawing/2014/main" id="{8F0A39F3-F949-40B3-8FE7-C52907B64A8D}"/>
              </a:ext>
            </a:extLst>
          </p:cNvPr>
          <p:cNvSpPr>
            <a:spLocks noGrp="1"/>
          </p:cNvSpPr>
          <p:nvPr/>
        </p:nvSpPr>
        <p:spPr>
          <a:xfrm>
            <a:off x="571500" y="3333750"/>
            <a:ext cx="4953000" cy="952500"/>
          </a:xfrm>
          <a:prstGeom prst="rect">
            <a:avLst/>
          </a:prstGeom>
          <a:noFill/>
          <a:ln w="0">
            <a:noFill/>
            <a:prstDash val="solid"/>
          </a:ln>
        </p:spPr>
        <p:txBody>
          <a:bodyPr anchor="t">
            <a:noAutofit/>
          </a:bodyPr>
          <a:lstStyle/>
          <a:p>
            <a:pPr algn="l">
              <a:buNone/>
              <a:defRPr sz="2100" b="0" i="0">
                <a:solidFill>
                  <a:srgbClr val="59616B"/>
                </a:solidFill>
                <a:latin typeface="Arial"/>
                <a:ea typeface="Arial"/>
                <a:cs typeface="Arial"/>
              </a:defRPr>
            </a:pPr>
            <a:r>
              <a:rPr sz="2100" b="0" i="0">
                <a:solidFill>
                  <a:srgbClr val="59616B"/>
                </a:solidFill>
                <a:latin typeface="Arial"/>
                <a:ea typeface="Arial"/>
                <a:cs typeface="Arial"/>
              </a:rPr>
              <a:t>Why one injection can create a larger final change in national income</a:t>
            </a:r>
          </a:p>
        </p:txBody>
      </p:sp>
      <p:sp>
        <p:nvSpPr>
          <p:cNvPr id="6" name="Rectangle 5">
            <a:extLst>
              <a:ext uri="{FF2B5EF4-FFF2-40B4-BE49-F238E27FC236}">
                <a16:creationId xmlns:a16="http://schemas.microsoft.com/office/drawing/2014/main" id="{52719F81-B9F5-40DB-B5B6-F0D52EFEACEB}"/>
              </a:ext>
            </a:extLst>
          </p:cNvPr>
          <p:cNvSpPr>
            <a:spLocks noGrp="1"/>
          </p:cNvSpPr>
          <p:nvPr/>
        </p:nvSpPr>
        <p:spPr>
          <a:xfrm>
            <a:off x="6267450" y="400050"/>
            <a:ext cx="5353050" cy="5619750"/>
          </a:xfrm>
          <a:prstGeom prst="rect">
            <a:avLst/>
          </a:prstGeom>
          <a:solidFill>
            <a:srgbClr val="EDEDED"/>
          </a:solidFill>
          <a:ln w="9525">
            <a:solidFill>
              <a:srgbClr val="B8BCC4"/>
            </a:solidFill>
            <a:prstDash val="solid"/>
          </a:ln>
        </p:spPr>
      </p:sp>
      <p:pic>
        <p:nvPicPr>
          <p:cNvPr id="56" name="Picture 45"/>
          <p:cNvPicPr>
            <a:picLocks noChangeAspect="1"/>
          </p:cNvPicPr>
          <p:nvPr/>
        </p:nvPicPr>
        <p:blipFill>
          <a:blip r:embed="rId3"/>
          <a:srcRect l="23176" r="23176"/>
          <a:stretch>
            <a:fillRect/>
          </a:stretch>
        </p:blipFill>
        <p:spPr>
          <a:xfrm>
            <a:off x="6267450" y="400050"/>
            <a:ext cx="5353050" cy="5619750"/>
          </a:xfrm>
          <a:prstGeom prst="rect">
            <a:avLst/>
          </a:prstGeom>
        </p:spPr>
      </p:pic>
      <p:sp>
        <p:nvSpPr>
          <p:cNvPr id="9" name="Rectangle 8">
            <a:extLst>
              <a:ext uri="{FF2B5EF4-FFF2-40B4-BE49-F238E27FC236}">
                <a16:creationId xmlns:a16="http://schemas.microsoft.com/office/drawing/2014/main" id="{525BD3E8-333D-4F37-9FE8-F25245851B52}"/>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03</a:t>
            </a:r>
          </a:p>
        </p:txBody>
      </p:sp>
    </p:spTree>
    <p:extLst>
      <p:ext uri="{BB962C8B-B14F-4D97-AF65-F5344CB8AC3E}">
        <p14:creationId xmlns:p14="http://schemas.microsoft.com/office/powerpoint/2010/main" val="456151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4-title">
            <a:extLst>
              <a:ext uri="{FF2B5EF4-FFF2-40B4-BE49-F238E27FC236}">
                <a16:creationId xmlns:a16="http://schemas.microsoft.com/office/drawing/2014/main" id="{C23B0987-94A6-4D49-AB75-FD6034DBF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Why can £100m create more than £100m of GDP?</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BC9599DC-5BE4-4792-8749-2AFF6E57B0B9}"/>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CA539AB-88A4-4F03-A639-6552A77677E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04</a:t>
            </a:r>
          </a:p>
        </p:txBody>
      </p:sp>
      <p:sp>
        <p:nvSpPr>
          <p:cNvPr id="5" name="Rectangle 4">
            <a:extLst>
              <a:ext uri="{FF2B5EF4-FFF2-40B4-BE49-F238E27FC236}">
                <a16:creationId xmlns:a16="http://schemas.microsoft.com/office/drawing/2014/main" id="{2AF6F8D6-4D68-4C5B-A3A5-6D5A14B4FCDD}"/>
              </a:ext>
            </a:extLst>
          </p:cNvPr>
          <p:cNvSpPr>
            <a:spLocks noGrp="1"/>
          </p:cNvSpPr>
          <p:nvPr/>
        </p:nvSpPr>
        <p:spPr>
          <a:xfrm>
            <a:off x="666750" y="1666876"/>
            <a:ext cx="4762500" cy="2987106"/>
          </a:xfrm>
          <a:prstGeom prst="rect">
            <a:avLst/>
          </a:prstGeom>
          <a:noFill/>
          <a:ln w="0">
            <a:noFill/>
            <a:prstDash val="solid"/>
          </a:ln>
        </p:spPr>
        <p:txBody>
          <a:bodyPr anchor="t">
            <a:noAutofit/>
          </a:bodyPr>
          <a:lstStyle/>
          <a:p>
            <a:pPr algn="l">
              <a:spcAft>
                <a:spcPts val="600"/>
              </a:spcAft>
              <a:buNone/>
              <a:defRPr sz="2250" b="1" i="0">
                <a:solidFill>
                  <a:srgbClr val="000000"/>
                </a:solidFill>
                <a:latin typeface="Arial"/>
                <a:ea typeface="Arial"/>
                <a:cs typeface="Arial"/>
              </a:defRPr>
            </a:pPr>
            <a:r>
              <a:rPr sz="2250" b="1" i="0" dirty="0">
                <a:solidFill>
                  <a:srgbClr val="000000"/>
                </a:solidFill>
                <a:latin typeface="Arial"/>
                <a:ea typeface="Arial"/>
                <a:cs typeface="Arial"/>
              </a:rPr>
              <a:t>The government commissions a new </a:t>
            </a:r>
            <a:r>
              <a:rPr lang="en-US" sz="2250" b="1" dirty="0">
                <a:solidFill>
                  <a:srgbClr val="000000"/>
                </a:solidFill>
                <a:latin typeface="Arial"/>
                <a:ea typeface="Arial"/>
                <a:cs typeface="Arial"/>
              </a:rPr>
              <a:t>road</a:t>
            </a:r>
            <a:r>
              <a:rPr sz="2250" b="1" i="0" dirty="0">
                <a:solidFill>
                  <a:srgbClr val="000000"/>
                </a:solidFill>
                <a:latin typeface="Arial"/>
                <a:ea typeface="Arial"/>
                <a:cs typeface="Arial"/>
              </a:rPr>
              <a:t>.</a:t>
            </a:r>
          </a:p>
        </p:txBody>
      </p:sp>
      <p:sp>
        <p:nvSpPr>
          <p:cNvPr id="6" name="Rectangle 5">
            <a:extLst>
              <a:ext uri="{FF2B5EF4-FFF2-40B4-BE49-F238E27FC236}">
                <a16:creationId xmlns:a16="http://schemas.microsoft.com/office/drawing/2014/main" id="{0CCAE040-BBDD-4679-80A5-2E4A3F2D9E7D}"/>
              </a:ext>
            </a:extLst>
          </p:cNvPr>
          <p:cNvSpPr>
            <a:spLocks noGrp="1"/>
          </p:cNvSpPr>
          <p:nvPr/>
        </p:nvSpPr>
        <p:spPr>
          <a:xfrm>
            <a:off x="666750" y="2543175"/>
            <a:ext cx="4762500" cy="2000250"/>
          </a:xfrm>
          <a:prstGeom prst="rect">
            <a:avLst/>
          </a:prstGeom>
          <a:noFill/>
          <a:ln w="0">
            <a:noFill/>
            <a:prstDash val="solid"/>
          </a:ln>
        </p:spPr>
        <p:txBody>
          <a:bodyPr anchor="t">
            <a:noAutofit/>
          </a:bodyPr>
          <a:lstStyle/>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Firms receive new orders.</a:t>
            </a:r>
          </a:p>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Workers and suppliers receive income.</a:t>
            </a:r>
          </a:p>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They spend part of that extra income.</a:t>
            </a:r>
          </a:p>
        </p:txBody>
      </p:sp>
      <p:pic>
        <p:nvPicPr>
          <p:cNvPr id="11" name="Picture 45">
            <a:extLst>
              <a:ext uri="{FF2B5EF4-FFF2-40B4-BE49-F238E27FC236}">
                <a16:creationId xmlns:a16="http://schemas.microsoft.com/office/drawing/2014/main" id="{AD0095F6-6BFD-5F3B-513D-3E9553A513E7}"/>
              </a:ext>
            </a:extLst>
          </p:cNvPr>
          <p:cNvPicPr>
            <a:picLocks noChangeAspect="1"/>
          </p:cNvPicPr>
          <p:nvPr/>
        </p:nvPicPr>
        <p:blipFill>
          <a:blip r:embed="rId3"/>
          <a:srcRect l="23176" r="23176"/>
          <a:stretch>
            <a:fillRect/>
          </a:stretch>
        </p:blipFill>
        <p:spPr>
          <a:xfrm>
            <a:off x="6762752" y="1588442"/>
            <a:ext cx="4447790" cy="4669388"/>
          </a:xfrm>
          <a:prstGeom prst="rect">
            <a:avLst/>
          </a:prstGeom>
        </p:spPr>
      </p:pic>
    </p:spTree>
    <p:extLst>
      <p:ext uri="{BB962C8B-B14F-4D97-AF65-F5344CB8AC3E}">
        <p14:creationId xmlns:p14="http://schemas.microsoft.com/office/powerpoint/2010/main" val="971359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6-title">
            <a:extLst>
              <a:ext uri="{FF2B5EF4-FFF2-40B4-BE49-F238E27FC236}">
                <a16:creationId xmlns:a16="http://schemas.microsoft.com/office/drawing/2014/main" id="{41A7F465-6676-499B-A7F5-4C72530CCD0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One injection creates repeated spending rounds</a:t>
            </a:r>
          </a:p>
        </p:txBody>
      </p:sp>
      <p:sp>
        <p:nvSpPr>
          <p:cNvPr id="3" name="Rectangle 2">
            <a:extLst>
              <a:ext uri="{FF2B5EF4-FFF2-40B4-BE49-F238E27FC236}">
                <a16:creationId xmlns:a16="http://schemas.microsoft.com/office/drawing/2014/main" id="{23287D97-A153-4CD9-B3F1-2FC68F122715}"/>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3290EA7F-A106-44B5-A939-19A42FD60D5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06</a:t>
            </a:r>
          </a:p>
        </p:txBody>
      </p:sp>
      <p:cxnSp>
        <p:nvCxnSpPr>
          <p:cNvPr id="60" name="Straight Arrow Connector 49"/>
          <p:cNvCxnSpPr/>
          <p:nvPr/>
        </p:nvCxnSpPr>
        <p:spPr>
          <a:xfrm>
            <a:off x="1619250" y="2190750"/>
            <a:ext cx="8572500" cy="95"/>
          </a:xfrm>
          <a:prstGeom prst="straightConnector1">
            <a:avLst/>
          </a:prstGeom>
          <a:ln w="38100">
            <a:solidFill>
              <a:srgbClr val="B8BCC4"/>
            </a:solidFill>
            <a:prstDash val="solid"/>
          </a:ln>
        </p:spPr>
      </p:cxnSp>
      <p:sp>
        <p:nvSpPr>
          <p:cNvPr id="6" name="Oval 5">
            <a:extLst>
              <a:ext uri="{FF2B5EF4-FFF2-40B4-BE49-F238E27FC236}">
                <a16:creationId xmlns:a16="http://schemas.microsoft.com/office/drawing/2014/main" id="{F5331DC6-0CBE-46B6-BE50-81EAAFA045FF}"/>
              </a:ext>
            </a:extLst>
          </p:cNvPr>
          <p:cNvSpPr>
            <a:spLocks noGrp="1"/>
          </p:cNvSpPr>
          <p:nvPr/>
        </p:nvSpPr>
        <p:spPr>
          <a:xfrm>
            <a:off x="114300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Oval 6">
            <a:extLst>
              <a:ext uri="{FF2B5EF4-FFF2-40B4-BE49-F238E27FC236}">
                <a16:creationId xmlns:a16="http://schemas.microsoft.com/office/drawing/2014/main" id="{EC0BFCD8-057A-4F46-8A90-81B87E5DBACB}"/>
              </a:ext>
            </a:extLst>
          </p:cNvPr>
          <p:cNvSpPr>
            <a:spLocks noGrp="1"/>
          </p:cNvSpPr>
          <p:nvPr/>
        </p:nvSpPr>
        <p:spPr>
          <a:xfrm>
            <a:off x="542925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dirty="0">
                <a:solidFill>
                  <a:srgbClr val="000000"/>
                </a:solidFill>
                <a:latin typeface="Arial"/>
                <a:ea typeface="Arial"/>
                <a:cs typeface="Arial"/>
              </a:rPr>
              <a:t>2</a:t>
            </a:r>
          </a:p>
        </p:txBody>
      </p:sp>
      <p:sp>
        <p:nvSpPr>
          <p:cNvPr id="8" name="Oval 7">
            <a:extLst>
              <a:ext uri="{FF2B5EF4-FFF2-40B4-BE49-F238E27FC236}">
                <a16:creationId xmlns:a16="http://schemas.microsoft.com/office/drawing/2014/main" id="{32469B18-BF1B-47CC-824C-43E710BFB4F1}"/>
              </a:ext>
            </a:extLst>
          </p:cNvPr>
          <p:cNvSpPr>
            <a:spLocks noGrp="1"/>
          </p:cNvSpPr>
          <p:nvPr/>
        </p:nvSpPr>
        <p:spPr>
          <a:xfrm>
            <a:off x="971550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9" name="Rectangle 8">
            <a:extLst>
              <a:ext uri="{FF2B5EF4-FFF2-40B4-BE49-F238E27FC236}">
                <a16:creationId xmlns:a16="http://schemas.microsoft.com/office/drawing/2014/main" id="{F2039153-23B4-4D78-96D4-206F11F536DA}"/>
              </a:ext>
            </a:extLst>
          </p:cNvPr>
          <p:cNvSpPr>
            <a:spLocks noGrp="1"/>
          </p:cNvSpPr>
          <p:nvPr/>
        </p:nvSpPr>
        <p:spPr>
          <a:xfrm>
            <a:off x="57150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INJECTION</a:t>
            </a:r>
          </a:p>
        </p:txBody>
      </p:sp>
      <p:sp>
        <p:nvSpPr>
          <p:cNvPr id="10" name="Rectangle 9">
            <a:extLst>
              <a:ext uri="{FF2B5EF4-FFF2-40B4-BE49-F238E27FC236}">
                <a16:creationId xmlns:a16="http://schemas.microsoft.com/office/drawing/2014/main" id="{9C07ADAB-46F6-4386-889F-9D42036A7127}"/>
              </a:ext>
            </a:extLst>
          </p:cNvPr>
          <p:cNvSpPr>
            <a:spLocks noGrp="1"/>
          </p:cNvSpPr>
          <p:nvPr/>
        </p:nvSpPr>
        <p:spPr>
          <a:xfrm>
            <a:off x="571500" y="3429000"/>
            <a:ext cx="2095500" cy="76200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New autonomous spending</a:t>
            </a:r>
          </a:p>
        </p:txBody>
      </p:sp>
      <p:sp>
        <p:nvSpPr>
          <p:cNvPr id="11" name="Rectangle 10">
            <a:extLst>
              <a:ext uri="{FF2B5EF4-FFF2-40B4-BE49-F238E27FC236}">
                <a16:creationId xmlns:a16="http://schemas.microsoft.com/office/drawing/2014/main" id="{A5682073-B9DE-49E6-B207-5F1648A282EE}"/>
              </a:ext>
            </a:extLst>
          </p:cNvPr>
          <p:cNvSpPr>
            <a:spLocks noGrp="1"/>
          </p:cNvSpPr>
          <p:nvPr/>
        </p:nvSpPr>
        <p:spPr>
          <a:xfrm>
            <a:off x="485775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dirty="0">
                <a:solidFill>
                  <a:srgbClr val="3D8DFF"/>
                </a:solidFill>
                <a:latin typeface="Arial"/>
                <a:ea typeface="Arial"/>
                <a:cs typeface="Arial"/>
              </a:rPr>
              <a:t>INCOME</a:t>
            </a:r>
          </a:p>
        </p:txBody>
      </p:sp>
      <p:sp>
        <p:nvSpPr>
          <p:cNvPr id="12" name="Rectangle 11">
            <a:extLst>
              <a:ext uri="{FF2B5EF4-FFF2-40B4-BE49-F238E27FC236}">
                <a16:creationId xmlns:a16="http://schemas.microsoft.com/office/drawing/2014/main" id="{848CFE36-3207-4E75-80DA-E216E7A0D7FF}"/>
              </a:ext>
            </a:extLst>
          </p:cNvPr>
          <p:cNvSpPr>
            <a:spLocks noGrp="1"/>
          </p:cNvSpPr>
          <p:nvPr/>
        </p:nvSpPr>
        <p:spPr>
          <a:xfrm>
            <a:off x="4857750" y="3429000"/>
            <a:ext cx="2095500" cy="76200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dirty="0">
                <a:solidFill>
                  <a:srgbClr val="000000"/>
                </a:solidFill>
                <a:latin typeface="Arial"/>
                <a:ea typeface="Arial"/>
                <a:cs typeface="Arial"/>
              </a:rPr>
              <a:t>The payment becomes income</a:t>
            </a:r>
          </a:p>
        </p:txBody>
      </p:sp>
      <p:sp>
        <p:nvSpPr>
          <p:cNvPr id="13" name="Rectangle 12">
            <a:extLst>
              <a:ext uri="{FF2B5EF4-FFF2-40B4-BE49-F238E27FC236}">
                <a16:creationId xmlns:a16="http://schemas.microsoft.com/office/drawing/2014/main" id="{7E22A489-E73E-431C-8B6F-62C0EC8C4D26}"/>
              </a:ext>
            </a:extLst>
          </p:cNvPr>
          <p:cNvSpPr>
            <a:spLocks noGrp="1"/>
          </p:cNvSpPr>
          <p:nvPr/>
        </p:nvSpPr>
        <p:spPr>
          <a:xfrm>
            <a:off x="914400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RE-SPENDING</a:t>
            </a:r>
          </a:p>
        </p:txBody>
      </p:sp>
      <p:sp>
        <p:nvSpPr>
          <p:cNvPr id="14" name="Rectangle 13">
            <a:extLst>
              <a:ext uri="{FF2B5EF4-FFF2-40B4-BE49-F238E27FC236}">
                <a16:creationId xmlns:a16="http://schemas.microsoft.com/office/drawing/2014/main" id="{80246384-742C-44F4-84C9-58DCD292892C}"/>
              </a:ext>
            </a:extLst>
          </p:cNvPr>
          <p:cNvSpPr>
            <a:spLocks noGrp="1"/>
          </p:cNvSpPr>
          <p:nvPr/>
        </p:nvSpPr>
        <p:spPr>
          <a:xfrm>
            <a:off x="9144000" y="3429000"/>
            <a:ext cx="2095500" cy="9048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Part is spent again; the rest leaks out</a:t>
            </a:r>
          </a:p>
        </p:txBody>
      </p:sp>
      <p:sp>
        <p:nvSpPr>
          <p:cNvPr id="15" name="Rectangle 14">
            <a:extLst>
              <a:ext uri="{FF2B5EF4-FFF2-40B4-BE49-F238E27FC236}">
                <a16:creationId xmlns:a16="http://schemas.microsoft.com/office/drawing/2014/main" id="{02FB88EC-CCCA-4DEC-AFA2-CF9E7332ED88}"/>
              </a:ext>
            </a:extLst>
          </p:cNvPr>
          <p:cNvSpPr>
            <a:spLocks noGrp="1"/>
          </p:cNvSpPr>
          <p:nvPr/>
        </p:nvSpPr>
        <p:spPr>
          <a:xfrm>
            <a:off x="1381125" y="5429249"/>
            <a:ext cx="9429750" cy="904779"/>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dirty="0">
                <a:solidFill>
                  <a:srgbClr val="000000"/>
                </a:solidFill>
                <a:latin typeface="Arial"/>
                <a:ea typeface="Arial"/>
                <a:cs typeface="Arial"/>
              </a:rPr>
              <a:t>Multiplier process = an initial change in spending causes a larger final change in economic activity.</a:t>
            </a:r>
          </a:p>
        </p:txBody>
      </p:sp>
    </p:spTree>
    <p:extLst>
      <p:ext uri="{BB962C8B-B14F-4D97-AF65-F5344CB8AC3E}">
        <p14:creationId xmlns:p14="http://schemas.microsoft.com/office/powerpoint/2010/main" val="7758683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5-title">
            <a:extLst>
              <a:ext uri="{FF2B5EF4-FFF2-40B4-BE49-F238E27FC236}">
                <a16:creationId xmlns:a16="http://schemas.microsoft.com/office/drawing/2014/main" id="{FA09F7E0-8A74-4CE0-A3E3-E26444B9CD0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Injections enlarge the flow; leakages reduce it</a:t>
            </a:r>
          </a:p>
        </p:txBody>
      </p:sp>
      <p:cxnSp>
        <p:nvCxnSpPr>
          <p:cNvPr id="31"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EA2BCB94-4BBF-42B6-AC55-60FE3F4F4C32}"/>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86E4CAB-5529-491A-879D-B6502E90A986}"/>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05</a:t>
            </a:r>
          </a:p>
        </p:txBody>
      </p:sp>
      <p:sp>
        <p:nvSpPr>
          <p:cNvPr id="5" name="Arrow: Right 4">
            <a:extLst>
              <a:ext uri="{FF2B5EF4-FFF2-40B4-BE49-F238E27FC236}">
                <a16:creationId xmlns:a16="http://schemas.microsoft.com/office/drawing/2014/main" id="{C1C8103B-C713-4469-B63E-3D8C61D2F605}"/>
              </a:ext>
            </a:extLst>
          </p:cNvPr>
          <p:cNvSpPr>
            <a:spLocks noGrp="1"/>
          </p:cNvSpPr>
          <p:nvPr/>
        </p:nvSpPr>
        <p:spPr>
          <a:xfrm>
            <a:off x="1047750" y="2476500"/>
            <a:ext cx="2857500" cy="723900"/>
          </a:xfrm>
          <a:prstGeom prst="rightArrow">
            <a:avLst/>
          </a:prstGeom>
          <a:solidFill>
            <a:srgbClr val="3D8DFF"/>
          </a:solidFill>
          <a:ln w="0">
            <a:solidFill>
              <a:srgbClr val="3D8DFF"/>
            </a:solidFill>
            <a:prstDash val="solid"/>
          </a:ln>
        </p:spPr>
      </p:sp>
      <p:sp>
        <p:nvSpPr>
          <p:cNvPr id="6" name="Arrow: Right 5">
            <a:extLst>
              <a:ext uri="{FF2B5EF4-FFF2-40B4-BE49-F238E27FC236}">
                <a16:creationId xmlns:a16="http://schemas.microsoft.com/office/drawing/2014/main" id="{B63D4CF7-4F4B-4C66-A5B3-A4F8703C5AE4}"/>
              </a:ext>
            </a:extLst>
          </p:cNvPr>
          <p:cNvSpPr>
            <a:spLocks noGrp="1"/>
          </p:cNvSpPr>
          <p:nvPr/>
        </p:nvSpPr>
        <p:spPr>
          <a:xfrm>
            <a:off x="8286750" y="2476500"/>
            <a:ext cx="2857500" cy="723900"/>
          </a:xfrm>
          <a:prstGeom prst="rightArrow">
            <a:avLst/>
          </a:prstGeom>
          <a:solidFill>
            <a:srgbClr val="F26B5B"/>
          </a:solidFill>
          <a:ln w="0">
            <a:solidFill>
              <a:srgbClr val="F26B5B"/>
            </a:solidFill>
            <a:prstDash val="solid"/>
          </a:ln>
        </p:spPr>
      </p:sp>
      <p:sp>
        <p:nvSpPr>
          <p:cNvPr id="7" name="Rectangle 6">
            <a:extLst>
              <a:ext uri="{FF2B5EF4-FFF2-40B4-BE49-F238E27FC236}">
                <a16:creationId xmlns:a16="http://schemas.microsoft.com/office/drawing/2014/main" id="{1E8DBC63-0E4D-4029-8D87-71031B65E294}"/>
              </a:ext>
            </a:extLst>
          </p:cNvPr>
          <p:cNvSpPr>
            <a:spLocks noGrp="1"/>
          </p:cNvSpPr>
          <p:nvPr/>
        </p:nvSpPr>
        <p:spPr>
          <a:xfrm>
            <a:off x="4476750" y="2047875"/>
            <a:ext cx="3238500" cy="1571625"/>
          </a:xfrm>
          <a:prstGeom prst="rect">
            <a:avLst/>
          </a:prstGeom>
          <a:solidFill>
            <a:srgbClr val="F7F7F5"/>
          </a:solidFill>
          <a:ln w="19050">
            <a:solidFill>
              <a:srgbClr val="000000"/>
            </a:solidFill>
            <a:prstDash val="solid"/>
          </a:ln>
        </p:spPr>
      </p:sp>
      <p:sp>
        <p:nvSpPr>
          <p:cNvPr id="8" name="Rectangle 7">
            <a:extLst>
              <a:ext uri="{FF2B5EF4-FFF2-40B4-BE49-F238E27FC236}">
                <a16:creationId xmlns:a16="http://schemas.microsoft.com/office/drawing/2014/main" id="{69CF1EDF-8798-4A6A-B14D-6189B2D32744}"/>
              </a:ext>
            </a:extLst>
          </p:cNvPr>
          <p:cNvSpPr>
            <a:spLocks noGrp="1"/>
          </p:cNvSpPr>
          <p:nvPr/>
        </p:nvSpPr>
        <p:spPr>
          <a:xfrm>
            <a:off x="4762500" y="2333625"/>
            <a:ext cx="2667000" cy="1000125"/>
          </a:xfrm>
          <a:prstGeom prst="rect">
            <a:avLst/>
          </a:prstGeom>
          <a:noFill/>
          <a:ln w="0">
            <a:noFill/>
            <a:prstDash val="solid"/>
          </a:ln>
        </p:spPr>
        <p:txBody>
          <a:bodyPr anchor="ctr">
            <a:noAutofit/>
          </a:bodyPr>
          <a:lstStyle/>
          <a:p>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NATIONAL</a:t>
            </a:r>
          </a:p>
          <a:p>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INCOME FLOW</a:t>
            </a:r>
          </a:p>
        </p:txBody>
      </p:sp>
      <p:sp>
        <p:nvSpPr>
          <p:cNvPr id="9" name="Rectangle 8">
            <a:extLst>
              <a:ext uri="{FF2B5EF4-FFF2-40B4-BE49-F238E27FC236}">
                <a16:creationId xmlns:a16="http://schemas.microsoft.com/office/drawing/2014/main" id="{724F64E2-C2D6-464D-9FF9-C624E0D42A10}"/>
              </a:ext>
            </a:extLst>
          </p:cNvPr>
          <p:cNvSpPr>
            <a:spLocks noGrp="1"/>
          </p:cNvSpPr>
          <p:nvPr/>
        </p:nvSpPr>
        <p:spPr>
          <a:xfrm>
            <a:off x="1047750" y="1619250"/>
            <a:ext cx="2857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INJECTIONS</a:t>
            </a:r>
          </a:p>
        </p:txBody>
      </p:sp>
      <p:sp>
        <p:nvSpPr>
          <p:cNvPr id="10" name="Rectangle 9">
            <a:extLst>
              <a:ext uri="{FF2B5EF4-FFF2-40B4-BE49-F238E27FC236}">
                <a16:creationId xmlns:a16="http://schemas.microsoft.com/office/drawing/2014/main" id="{185BAA11-F3F6-4C59-ABF3-2C819EFE1652}"/>
              </a:ext>
            </a:extLst>
          </p:cNvPr>
          <p:cNvSpPr>
            <a:spLocks noGrp="1"/>
          </p:cNvSpPr>
          <p:nvPr/>
        </p:nvSpPr>
        <p:spPr>
          <a:xfrm>
            <a:off x="1047750" y="3714750"/>
            <a:ext cx="3048000" cy="1381125"/>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Investment (I)</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Government spending (G)</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Exports (X)</a:t>
            </a:r>
          </a:p>
        </p:txBody>
      </p:sp>
      <p:sp>
        <p:nvSpPr>
          <p:cNvPr id="11" name="Rectangle 10">
            <a:extLst>
              <a:ext uri="{FF2B5EF4-FFF2-40B4-BE49-F238E27FC236}">
                <a16:creationId xmlns:a16="http://schemas.microsoft.com/office/drawing/2014/main" id="{F3CB49E0-6026-4C9C-93ED-627E219751C0}"/>
              </a:ext>
            </a:extLst>
          </p:cNvPr>
          <p:cNvSpPr>
            <a:spLocks noGrp="1"/>
          </p:cNvSpPr>
          <p:nvPr/>
        </p:nvSpPr>
        <p:spPr>
          <a:xfrm>
            <a:off x="8096250" y="1619250"/>
            <a:ext cx="3143250" cy="228600"/>
          </a:xfrm>
          <a:prstGeom prst="rect">
            <a:avLst/>
          </a:prstGeom>
          <a:noFill/>
          <a:ln w="0">
            <a:noFill/>
            <a:prstDash val="solid"/>
          </a:ln>
        </p:spPr>
        <p:txBody>
          <a:bodyPr anchor="t">
            <a:noAutofit/>
          </a:bodyPr>
          <a:lstStyle/>
          <a:p>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 WITHDRAWALS</a:t>
            </a:r>
          </a:p>
        </p:txBody>
      </p:sp>
      <p:sp>
        <p:nvSpPr>
          <p:cNvPr id="12" name="Rectangle 11">
            <a:extLst>
              <a:ext uri="{FF2B5EF4-FFF2-40B4-BE49-F238E27FC236}">
                <a16:creationId xmlns:a16="http://schemas.microsoft.com/office/drawing/2014/main" id="{CD520CA0-1603-459E-B2DC-FFEC0ECE6D11}"/>
              </a:ext>
            </a:extLst>
          </p:cNvPr>
          <p:cNvSpPr>
            <a:spLocks noGrp="1"/>
          </p:cNvSpPr>
          <p:nvPr/>
        </p:nvSpPr>
        <p:spPr>
          <a:xfrm>
            <a:off x="8286750" y="3714750"/>
            <a:ext cx="2857500" cy="1381125"/>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Saving (S)</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Taxation (T)</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Imports (M)</a:t>
            </a:r>
          </a:p>
        </p:txBody>
      </p:sp>
    </p:spTree>
    <p:extLst>
      <p:ext uri="{BB962C8B-B14F-4D97-AF65-F5344CB8AC3E}">
        <p14:creationId xmlns:p14="http://schemas.microsoft.com/office/powerpoint/2010/main" val="1488857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7-title">
            <a:extLst>
              <a:ext uri="{FF2B5EF4-FFF2-40B4-BE49-F238E27FC236}">
                <a16:creationId xmlns:a16="http://schemas.microsoft.com/office/drawing/2014/main" id="{1A4A7859-199C-40A7-9F20-0C6C718175C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5129D4-B078-4A4F-A213-E9597FCFF51A}"/>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913195A7-56D6-4717-AD74-7E618C37935A}"/>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a:ext uri="{FF2B5EF4-FFF2-40B4-BE49-F238E27FC236}">
                <a16:creationId xmlns:a16="http://schemas.microsoft.com/office/drawing/2014/main" id="{428E79C4-76EB-4081-8E92-521DC27BB3DB}"/>
              </a:ext>
            </a:extLst>
          </p:cNvPr>
          <p:cNvSpPr>
            <a:spLocks noGrp="1"/>
          </p:cNvSpPr>
          <p:nvPr/>
        </p:nvSpPr>
        <p:spPr>
          <a:xfrm>
            <a:off x="571500" y="1381125"/>
            <a:ext cx="11049000" cy="361950"/>
          </a:xfrm>
          <a:prstGeom prst="rect">
            <a:avLst/>
          </a:prstGeom>
          <a:noFill/>
          <a:ln w="0">
            <a:noFill/>
            <a:prstDash val="solid"/>
          </a:ln>
        </p:spPr>
        <p:txBody>
          <a:bodyPr anchor="t">
            <a:noAutofit/>
          </a:bodyPr>
          <a:lstStyle/>
          <a:p>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37" name="Table 30"/>
          <p:cNvGraphicFramePr/>
          <p:nvPr/>
        </p:nvGraphicFramePr>
        <p:xfrm>
          <a:off x="762000" y="2047875"/>
          <a:ext cx="10668000" cy="3143250"/>
        </p:xfrm>
        <a:graphic>
          <a:graphicData uri="http://schemas.openxmlformats.org/drawingml/2006/table">
            <a:tbl>
              <a:tblPr/>
              <a:tblGrid>
                <a:gridCol w="1428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extLst>
                  <a:ext uri="{0D108BD9-81ED-4DB2-BD59-A6C34878D82A}">
                    <a16:rowId xmlns:a16="http://schemas.microsoft.com/office/drawing/2014/main" val="10000"/>
                  </a:ext>
                </a:extLst>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dirty="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extLst>
                  <a:ext uri="{0D108BD9-81ED-4DB2-BD59-A6C34878D82A}">
                    <a16:rowId xmlns:a16="http://schemas.microsoft.com/office/drawing/2014/main" val="10001"/>
                  </a:ext>
                </a:extLst>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extLst>
                  <a:ext uri="{0D108BD9-81ED-4DB2-BD59-A6C34878D82A}">
                    <a16:rowId xmlns:a16="http://schemas.microsoft.com/office/drawing/2014/main" val="10002"/>
                  </a:ext>
                </a:extLst>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extLst>
                  <a:ext uri="{0D108BD9-81ED-4DB2-BD59-A6C34878D82A}">
                    <a16:rowId xmlns:a16="http://schemas.microsoft.com/office/drawing/2014/main" val="10003"/>
                  </a:ext>
                </a:extLst>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extLst>
                  <a:ext uri="{0D108BD9-81ED-4DB2-BD59-A6C34878D82A}">
                    <a16:rowId xmlns:a16="http://schemas.microsoft.com/office/drawing/2014/main" val="10004"/>
                  </a:ext>
                </a:extLst>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dirty="0">
                          <a:solidFill>
                            <a:srgbClr val="000000"/>
                          </a:solidFill>
                          <a:latin typeface="Arial"/>
                          <a:ea typeface="Arial"/>
                          <a:cs typeface="Arial"/>
                        </a:rPr>
                        <a:t>continues</a:t>
                      </a:r>
                    </a:p>
                  </a:txBody>
                  <a:tcPr marL="76200" marR="76200" marT="47625" marB="47625" anchor="ctr">
                    <a:solidFill>
                      <a:srgbClr val="F7F7F5"/>
                    </a:solidFill>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D86C3CE2-0D32-4876-931D-9F6DDE7D5C7F}"/>
              </a:ext>
            </a:extLst>
          </p:cNvPr>
          <p:cNvSpPr>
            <a:spLocks noGrp="1"/>
          </p:cNvSpPr>
          <p:nvPr/>
        </p:nvSpPr>
        <p:spPr>
          <a:xfrm>
            <a:off x="1143000" y="5524500"/>
            <a:ext cx="9906000" cy="400050"/>
          </a:xfrm>
          <a:prstGeom prst="rect">
            <a:avLst/>
          </a:prstGeom>
          <a:noFill/>
          <a:ln w="0">
            <a:noFill/>
            <a:prstDash val="solid"/>
          </a:ln>
        </p:spPr>
        <p:txBody>
          <a:bodyPr anchor="t">
            <a:noAutofit/>
          </a:bodyPr>
          <a:lstStyle/>
          <a:p>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8-title">
            <a:extLst>
              <a:ext uri="{FF2B5EF4-FFF2-40B4-BE49-F238E27FC236}">
                <a16:creationId xmlns:a16="http://schemas.microsoft.com/office/drawing/2014/main" id="{94858402-AD32-4D8E-A612-25F60EB23126}"/>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Multiplier = final income change ÷ injection</a:t>
            </a:r>
          </a:p>
        </p:txBody>
      </p:sp>
      <p:cxnSp>
        <p:nvCxnSpPr>
          <p:cNvPr id="28" name="Straight Arrow Connector 23"/>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05A4AA97-4481-42CF-A994-BA63381F47EA}"/>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64743E84-0B32-4931-9260-3092F8956A38}"/>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08</a:t>
            </a:r>
          </a:p>
        </p:txBody>
      </p:sp>
      <p:sp>
        <p:nvSpPr>
          <p:cNvPr id="5" name="Rectangle 4">
            <a:extLst>
              <a:ext uri="{FF2B5EF4-FFF2-40B4-BE49-F238E27FC236}">
                <a16:creationId xmlns:a16="http://schemas.microsoft.com/office/drawing/2014/main" id="{8867AC0E-EF01-48A9-A829-0D9731F74C6C}"/>
              </a:ext>
            </a:extLst>
          </p:cNvPr>
          <p:cNvSpPr>
            <a:spLocks noGrp="1"/>
          </p:cNvSpPr>
          <p:nvPr/>
        </p:nvSpPr>
        <p:spPr>
          <a:xfrm>
            <a:off x="666750" y="1714500"/>
            <a:ext cx="5334000" cy="3143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BDDD80A2-DE00-40DE-BB46-7894BD94ED88}"/>
              </a:ext>
            </a:extLst>
          </p:cNvPr>
          <p:cNvSpPr>
            <a:spLocks noGrp="1"/>
          </p:cNvSpPr>
          <p:nvPr/>
        </p:nvSpPr>
        <p:spPr>
          <a:xfrm>
            <a:off x="1047750" y="2238375"/>
            <a:ext cx="4572000" cy="1143000"/>
          </a:xfrm>
          <a:prstGeom prst="rect">
            <a:avLst/>
          </a:prstGeom>
          <a:noFill/>
          <a:ln w="0">
            <a:noFill/>
            <a:prstDash val="solid"/>
          </a:ln>
        </p:spPr>
        <p:txBody>
          <a:bodyPr anchor="ctr">
            <a:noAutofit/>
          </a:bodyPr>
          <a:lstStyle/>
          <a:p>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k = change in national income</a:t>
            </a:r>
          </a:p>
          <a:p>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 initial change in injection</a:t>
            </a:r>
          </a:p>
        </p:txBody>
      </p:sp>
      <p:sp>
        <p:nvSpPr>
          <p:cNvPr id="7" name="Rectangle 6">
            <a:extLst>
              <a:ext uri="{FF2B5EF4-FFF2-40B4-BE49-F238E27FC236}">
                <a16:creationId xmlns:a16="http://schemas.microsoft.com/office/drawing/2014/main" id="{E808DC3E-34B7-4F28-ADA6-34799721A3F7}"/>
              </a:ext>
            </a:extLst>
          </p:cNvPr>
          <p:cNvSpPr>
            <a:spLocks noGrp="1"/>
          </p:cNvSpPr>
          <p:nvPr/>
        </p:nvSpPr>
        <p:spPr>
          <a:xfrm>
            <a:off x="1047750" y="3619500"/>
            <a:ext cx="4572000" cy="666750"/>
          </a:xfrm>
          <a:prstGeom prst="rect">
            <a:avLst/>
          </a:prstGeom>
          <a:noFill/>
          <a:ln w="0">
            <a:noFill/>
            <a:prstDash val="solid"/>
          </a:ln>
        </p:spPr>
        <p:txBody>
          <a:bodyPr anchor="t">
            <a:noAutofit/>
          </a:bodyPr>
          <a:lstStyle/>
          <a:p>
            <a:pPr algn="ctr">
              <a:buNone/>
              <a:defRPr sz="3600" b="1" i="0">
                <a:solidFill>
                  <a:srgbClr val="3D8DFF"/>
                </a:solidFill>
                <a:latin typeface="Arial"/>
                <a:ea typeface="Arial"/>
                <a:cs typeface="Arial"/>
              </a:defRPr>
            </a:pPr>
            <a:r>
              <a:rPr sz="3600" b="1" i="0">
                <a:solidFill>
                  <a:srgbClr val="3D8DFF"/>
                </a:solidFill>
                <a:latin typeface="Arial"/>
                <a:ea typeface="Arial"/>
                <a:cs typeface="Arial"/>
              </a:rPr>
              <a:t>k = ΔY / ΔJ</a:t>
            </a:r>
          </a:p>
        </p:txBody>
      </p:sp>
      <p:sp>
        <p:nvSpPr>
          <p:cNvPr id="8" name="Rectangle 7">
            <a:extLst>
              <a:ext uri="{FF2B5EF4-FFF2-40B4-BE49-F238E27FC236}">
                <a16:creationId xmlns:a16="http://schemas.microsoft.com/office/drawing/2014/main" id="{7B37DDD6-D0DD-4241-ACF5-AAFBEE08618E}"/>
              </a:ext>
            </a:extLst>
          </p:cNvPr>
          <p:cNvSpPr>
            <a:spLocks noGrp="1"/>
          </p:cNvSpPr>
          <p:nvPr/>
        </p:nvSpPr>
        <p:spPr>
          <a:xfrm>
            <a:off x="6667500" y="176212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INTERPRET THE NUMBER</a:t>
            </a:r>
          </a:p>
        </p:txBody>
      </p:sp>
      <p:sp>
        <p:nvSpPr>
          <p:cNvPr id="9" name="Rectangle 8">
            <a:extLst>
              <a:ext uri="{FF2B5EF4-FFF2-40B4-BE49-F238E27FC236}">
                <a16:creationId xmlns:a16="http://schemas.microsoft.com/office/drawing/2014/main" id="{11D748F4-2D32-49E5-9D0E-3C3368B0090F}"/>
              </a:ext>
            </a:extLst>
          </p:cNvPr>
          <p:cNvSpPr>
            <a:spLocks noGrp="1"/>
          </p:cNvSpPr>
          <p:nvPr/>
        </p:nvSpPr>
        <p:spPr>
          <a:xfrm>
            <a:off x="6667500" y="2238375"/>
            <a:ext cx="4381500" cy="2476500"/>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1: no multiplied effect</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2.5: £1 creates £2.50 of income</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larger leakages → smaller k</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smaller leakages → larger k</a:t>
            </a:r>
          </a:p>
        </p:txBody>
      </p:sp>
      <p:sp>
        <p:nvSpPr>
          <p:cNvPr id="10" name="Rectangle 9">
            <a:extLst>
              <a:ext uri="{FF2B5EF4-FFF2-40B4-BE49-F238E27FC236}">
                <a16:creationId xmlns:a16="http://schemas.microsoft.com/office/drawing/2014/main" id="{CACB9D09-373F-4CE2-8BCE-A75D7677F64F}"/>
              </a:ext>
            </a:extLst>
          </p:cNvPr>
          <p:cNvSpPr>
            <a:spLocks noGrp="1"/>
          </p:cNvSpPr>
          <p:nvPr/>
        </p:nvSpPr>
        <p:spPr>
          <a:xfrm>
            <a:off x="1619250" y="5429250"/>
            <a:ext cx="8953500" cy="400050"/>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Example: £100m injection → £400m income, so k = 4.</a:t>
            </a:r>
          </a:p>
        </p:txBody>
      </p:sp>
    </p:spTree>
    <p:extLst>
      <p:ext uri="{BB962C8B-B14F-4D97-AF65-F5344CB8AC3E}">
        <p14:creationId xmlns:p14="http://schemas.microsoft.com/office/powerpoint/2010/main" val="1530232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9-title">
            <a:extLst>
              <a:ext uri="{FF2B5EF4-FFF2-40B4-BE49-F238E27FC236}">
                <a16:creationId xmlns:a16="http://schemas.microsoft.com/office/drawing/2014/main" id="{93FD5C06-A4A9-48A3-B39F-0C85F484808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Average uses totals; marginal uses changes</a:t>
            </a:r>
          </a:p>
        </p:txBody>
      </p:sp>
      <p:cxnSp>
        <p:nvCxnSpPr>
          <p:cNvPr id="31"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0EB97D04-A665-4160-A839-73236DC3E62D}"/>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75B85C9-AABC-49E8-B815-36F4156FFB0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09</a:t>
            </a:r>
          </a:p>
        </p:txBody>
      </p:sp>
      <p:sp>
        <p:nvSpPr>
          <p:cNvPr id="5" name="Rectangle 4">
            <a:extLst>
              <a:ext uri="{FF2B5EF4-FFF2-40B4-BE49-F238E27FC236}">
                <a16:creationId xmlns:a16="http://schemas.microsoft.com/office/drawing/2014/main" id="{CAA7DFF3-34D5-4914-A1CA-57A7542A9205}"/>
              </a:ext>
            </a:extLst>
          </p:cNvPr>
          <p:cNvSpPr>
            <a:spLocks noGrp="1"/>
          </p:cNvSpPr>
          <p:nvPr/>
        </p:nvSpPr>
        <p:spPr>
          <a:xfrm>
            <a:off x="666750" y="1762125"/>
            <a:ext cx="5048250" cy="34290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279D9F35-9A19-40D3-98FE-FF9735964FD5}"/>
              </a:ext>
            </a:extLst>
          </p:cNvPr>
          <p:cNvSpPr>
            <a:spLocks noGrp="1"/>
          </p:cNvSpPr>
          <p:nvPr/>
        </p:nvSpPr>
        <p:spPr>
          <a:xfrm>
            <a:off x="6477000" y="1762125"/>
            <a:ext cx="5048250" cy="3429000"/>
          </a:xfrm>
          <a:prstGeom prst="rect">
            <a:avLst/>
          </a:prstGeom>
          <a:solidFill>
            <a:srgbClr val="EAF5FB"/>
          </a:solidFill>
          <a:ln w="9525">
            <a:solidFill>
              <a:srgbClr val="3D8DFF"/>
            </a:solidFill>
            <a:prstDash val="solid"/>
          </a:ln>
        </p:spPr>
      </p:sp>
      <p:sp>
        <p:nvSpPr>
          <p:cNvPr id="7" name="Rectangle 6">
            <a:extLst>
              <a:ext uri="{FF2B5EF4-FFF2-40B4-BE49-F238E27FC236}">
                <a16:creationId xmlns:a16="http://schemas.microsoft.com/office/drawing/2014/main" id="{46393A14-E45B-4BE5-B4DD-9D0705F527CF}"/>
              </a:ext>
            </a:extLst>
          </p:cNvPr>
          <p:cNvSpPr>
            <a:spLocks noGrp="1"/>
          </p:cNvSpPr>
          <p:nvPr/>
        </p:nvSpPr>
        <p:spPr>
          <a:xfrm>
            <a:off x="1000125" y="2095500"/>
            <a:ext cx="4381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AVERAGE PROPENSITY</a:t>
            </a:r>
          </a:p>
        </p:txBody>
      </p:sp>
      <p:sp>
        <p:nvSpPr>
          <p:cNvPr id="8" name="Rectangle 7">
            <a:extLst>
              <a:ext uri="{FF2B5EF4-FFF2-40B4-BE49-F238E27FC236}">
                <a16:creationId xmlns:a16="http://schemas.microsoft.com/office/drawing/2014/main" id="{DAE8971C-A4D3-44FF-9E64-3F99CE04F2C4}"/>
              </a:ext>
            </a:extLst>
          </p:cNvPr>
          <p:cNvSpPr>
            <a:spLocks noGrp="1"/>
          </p:cNvSpPr>
          <p:nvPr/>
        </p:nvSpPr>
        <p:spPr>
          <a:xfrm>
            <a:off x="1000125" y="2619375"/>
            <a:ext cx="4381500" cy="381000"/>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total income</a:t>
            </a:r>
          </a:p>
        </p:txBody>
      </p:sp>
      <p:sp>
        <p:nvSpPr>
          <p:cNvPr id="9" name="Rectangle 8">
            <a:extLst>
              <a:ext uri="{FF2B5EF4-FFF2-40B4-BE49-F238E27FC236}">
                <a16:creationId xmlns:a16="http://schemas.microsoft.com/office/drawing/2014/main" id="{75A0FC04-31AA-4554-84CB-6B8CE7A6AF42}"/>
              </a:ext>
            </a:extLst>
          </p:cNvPr>
          <p:cNvSpPr>
            <a:spLocks noGrp="1"/>
          </p:cNvSpPr>
          <p:nvPr/>
        </p:nvSpPr>
        <p:spPr>
          <a:xfrm>
            <a:off x="1000125" y="3333750"/>
            <a:ext cx="4381500" cy="1000125"/>
          </a:xfrm>
          <a:prstGeom prst="rect">
            <a:avLst/>
          </a:prstGeom>
          <a:noFill/>
          <a:ln w="0">
            <a:noFill/>
            <a:prstDash val="solid"/>
          </a:ln>
        </p:spPr>
        <p:txBody>
          <a:bodyPr anchor="t">
            <a:noAutofit/>
          </a:bodyPr>
          <a:lstStyle/>
          <a:p>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APC = C / Y</a:t>
            </a:r>
          </a:p>
          <a:p>
            <a:pPr algn="ctr">
              <a:buNone/>
              <a:defRPr sz="2850" b="0" i="0">
                <a:solidFill>
                  <a:srgbClr val="000000"/>
                </a:solidFill>
                <a:latin typeface="Arial"/>
                <a:ea typeface="Arial"/>
                <a:cs typeface="Arial"/>
              </a:defRPr>
            </a:pPr>
            <a:r>
              <a:rPr sz="2850" b="0" i="0">
                <a:solidFill>
                  <a:srgbClr val="000000"/>
                </a:solidFill>
                <a:latin typeface="Arial"/>
                <a:ea typeface="Arial"/>
                <a:cs typeface="Arial"/>
              </a:rPr>
              <a:t>APS = S / Y</a:t>
            </a:r>
          </a:p>
        </p:txBody>
      </p:sp>
      <p:sp>
        <p:nvSpPr>
          <p:cNvPr id="10" name="Rectangle 9">
            <a:extLst>
              <a:ext uri="{FF2B5EF4-FFF2-40B4-BE49-F238E27FC236}">
                <a16:creationId xmlns:a16="http://schemas.microsoft.com/office/drawing/2014/main" id="{2F30C4B3-ECD6-4D86-B140-C7D0DC26209F}"/>
              </a:ext>
            </a:extLst>
          </p:cNvPr>
          <p:cNvSpPr>
            <a:spLocks noGrp="1"/>
          </p:cNvSpPr>
          <p:nvPr/>
        </p:nvSpPr>
        <p:spPr>
          <a:xfrm>
            <a:off x="6810375" y="2095500"/>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MARGINAL PROPENSITY</a:t>
            </a:r>
          </a:p>
        </p:txBody>
      </p:sp>
      <p:sp>
        <p:nvSpPr>
          <p:cNvPr id="11" name="Rectangle 10">
            <a:extLst>
              <a:ext uri="{FF2B5EF4-FFF2-40B4-BE49-F238E27FC236}">
                <a16:creationId xmlns:a16="http://schemas.microsoft.com/office/drawing/2014/main" id="{7272A2D8-F79D-4B5C-AD44-73787624706A}"/>
              </a:ext>
            </a:extLst>
          </p:cNvPr>
          <p:cNvSpPr>
            <a:spLocks noGrp="1"/>
          </p:cNvSpPr>
          <p:nvPr/>
        </p:nvSpPr>
        <p:spPr>
          <a:xfrm>
            <a:off x="6810375" y="2619375"/>
            <a:ext cx="4381500" cy="381000"/>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extra income</a:t>
            </a:r>
          </a:p>
        </p:txBody>
      </p:sp>
      <p:sp>
        <p:nvSpPr>
          <p:cNvPr id="12" name="Rectangle 11">
            <a:extLst>
              <a:ext uri="{FF2B5EF4-FFF2-40B4-BE49-F238E27FC236}">
                <a16:creationId xmlns:a16="http://schemas.microsoft.com/office/drawing/2014/main" id="{E033ABDC-04C3-461B-B478-ED8F49C284A9}"/>
              </a:ext>
            </a:extLst>
          </p:cNvPr>
          <p:cNvSpPr>
            <a:spLocks noGrp="1"/>
          </p:cNvSpPr>
          <p:nvPr/>
        </p:nvSpPr>
        <p:spPr>
          <a:xfrm>
            <a:off x="6810375" y="3333750"/>
            <a:ext cx="4381500" cy="1000125"/>
          </a:xfrm>
          <a:prstGeom prst="rect">
            <a:avLst/>
          </a:prstGeom>
          <a:noFill/>
          <a:ln w="0">
            <a:noFill/>
            <a:prstDash val="solid"/>
          </a:ln>
        </p:spPr>
        <p:txBody>
          <a:bodyPr anchor="t">
            <a:noAutofit/>
          </a:bodyPr>
          <a:lstStyle/>
          <a:p>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MPC = ΔC / ΔY</a:t>
            </a:r>
          </a:p>
          <a:p>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MPS = ΔS / ΔY</a:t>
            </a:r>
          </a:p>
        </p:txBody>
      </p:sp>
    </p:spTree>
    <p:extLst>
      <p:ext uri="{BB962C8B-B14F-4D97-AF65-F5344CB8AC3E}">
        <p14:creationId xmlns:p14="http://schemas.microsoft.com/office/powerpoint/2010/main" val="7777996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0-title">
            <a:extLst>
              <a:ext uri="{FF2B5EF4-FFF2-40B4-BE49-F238E27FC236}">
                <a16:creationId xmlns:a16="http://schemas.microsoft.com/office/drawing/2014/main" id="{A1621E29-0D4C-4D14-914B-EB37EEE0AF8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flow has average and marginal measures</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84EA4693-534E-4F25-8D36-54279DDBA55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E762A3B-8FEE-49CF-BFDA-A0B77EDD496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10</a:t>
            </a:r>
          </a:p>
        </p:txBody>
      </p:sp>
      <p:graphicFrame>
        <p:nvGraphicFramePr>
          <p:cNvPr id="37" name="Table 30"/>
          <p:cNvGraphicFramePr/>
          <p:nvPr/>
        </p:nvGraphicFramePr>
        <p:xfrm>
          <a:off x="666750" y="2047875"/>
          <a:ext cx="1085850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095500">
                  <a:extLst>
                    <a:ext uri="{9D8B030D-6E8A-4147-A177-3AD203B41FA5}">
                      <a16:colId xmlns:a16="http://schemas.microsoft.com/office/drawing/2014/main" val="20004"/>
                    </a:ext>
                  </a:extLst>
                </a:gridCol>
              </a:tblGrid>
              <a:tr h="666750">
                <a:tc>
                  <a:txBody>
                    <a:bodyPr/>
                    <a:lstStyle/>
                    <a:p>
                      <a:pPr algn="ctr">
                        <a:buNone/>
                      </a:pPr>
                      <a:r>
                        <a:rPr sz="1500" b="1">
                          <a:solidFill>
                            <a:srgbClr val="FFFFFF"/>
                          </a:solidFill>
                          <a:latin typeface="Arial"/>
                          <a:ea typeface="Arial"/>
                          <a:cs typeface="Arial"/>
                        </a:rPr>
                        <a:t>Flow</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Average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Marginal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extLst>
                  <a:ext uri="{0D108BD9-81ED-4DB2-BD59-A6C34878D82A}">
                    <a16:rowId xmlns:a16="http://schemas.microsoft.com/office/drawing/2014/main" val="10000"/>
                  </a:ext>
                </a:extLst>
              </a:tr>
              <a:tr h="666750">
                <a:tc>
                  <a:txBody>
                    <a:bodyPr/>
                    <a:lstStyle/>
                    <a:p>
                      <a:pPr algn="ctr">
                        <a:buNone/>
                      </a:pPr>
                      <a:r>
                        <a:rPr sz="1725">
                          <a:solidFill>
                            <a:srgbClr val="000000"/>
                          </a:solidFill>
                          <a:latin typeface="Arial"/>
                          <a:ea typeface="Arial"/>
                          <a:cs typeface="Arial"/>
                        </a:rPr>
                        <a:t>Consumption</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APC</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C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MPC</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ΔC / ΔY</a:t>
                      </a:r>
                    </a:p>
                  </a:txBody>
                  <a:tcPr marL="76200" marR="76200" marT="47625" marB="47625" anchor="ctr">
                    <a:solidFill>
                      <a:srgbClr val="EAF5FB"/>
                    </a:solidFill>
                  </a:tcPr>
                </a:tc>
                <a:extLst>
                  <a:ext uri="{0D108BD9-81ED-4DB2-BD59-A6C34878D82A}">
                    <a16:rowId xmlns:a16="http://schemas.microsoft.com/office/drawing/2014/main" val="10001"/>
                  </a:ext>
                </a:extLst>
              </a:tr>
              <a:tr h="666750">
                <a:tc>
                  <a:txBody>
                    <a:bodyPr/>
                    <a:lstStyle/>
                    <a:p>
                      <a:pPr algn="ctr">
                        <a:buNone/>
                      </a:pPr>
                      <a:r>
                        <a:rPr sz="1725">
                          <a:solidFill>
                            <a:srgbClr val="000000"/>
                          </a:solidFill>
                          <a:latin typeface="Arial"/>
                          <a:ea typeface="Arial"/>
                          <a:cs typeface="Arial"/>
                        </a:rPr>
                        <a:t>Saving</a:t>
                      </a:r>
                    </a:p>
                  </a:txBody>
                  <a:tcPr marL="76200" marR="76200" marT="47625" marB="47625" anchor="ctr"/>
                </a:tc>
                <a:tc>
                  <a:txBody>
                    <a:bodyPr/>
                    <a:lstStyle/>
                    <a:p>
                      <a:pPr algn="ctr">
                        <a:buNone/>
                      </a:pPr>
                      <a:r>
                        <a:rPr sz="1725">
                          <a:solidFill>
                            <a:srgbClr val="000000"/>
                          </a:solidFill>
                          <a:latin typeface="Arial"/>
                          <a:ea typeface="Arial"/>
                          <a:cs typeface="Arial"/>
                        </a:rPr>
                        <a:t>APS</a:t>
                      </a:r>
                    </a:p>
                  </a:txBody>
                  <a:tcPr marL="76200" marR="76200" marT="47625" marB="47625" anchor="ctr"/>
                </a:tc>
                <a:tc>
                  <a:txBody>
                    <a:bodyPr/>
                    <a:lstStyle/>
                    <a:p>
                      <a:pPr algn="ctr">
                        <a:buNone/>
                      </a:pPr>
                      <a:r>
                        <a:rPr sz="1725">
                          <a:solidFill>
                            <a:srgbClr val="000000"/>
                          </a:solidFill>
                          <a:latin typeface="Arial"/>
                          <a:ea typeface="Arial"/>
                          <a:cs typeface="Arial"/>
                        </a:rPr>
                        <a:t>S / Y</a:t>
                      </a:r>
                    </a:p>
                  </a:txBody>
                  <a:tcPr marL="76200" marR="76200" marT="47625" marB="47625" anchor="ctr"/>
                </a:tc>
                <a:tc>
                  <a:txBody>
                    <a:bodyPr/>
                    <a:lstStyle/>
                    <a:p>
                      <a:pPr algn="ctr">
                        <a:buNone/>
                      </a:pPr>
                      <a:r>
                        <a:rPr sz="1725">
                          <a:solidFill>
                            <a:srgbClr val="000000"/>
                          </a:solidFill>
                          <a:latin typeface="Arial"/>
                          <a:ea typeface="Arial"/>
                          <a:cs typeface="Arial"/>
                        </a:rPr>
                        <a:t>MPS</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ΔS / ΔY</a:t>
                      </a:r>
                    </a:p>
                  </a:txBody>
                  <a:tcPr marL="76200" marR="76200" marT="47625" marB="47625" anchor="ctr">
                    <a:solidFill>
                      <a:srgbClr val="EAF5FB"/>
                    </a:solidFill>
                  </a:tcPr>
                </a:tc>
                <a:extLst>
                  <a:ext uri="{0D108BD9-81ED-4DB2-BD59-A6C34878D82A}">
                    <a16:rowId xmlns:a16="http://schemas.microsoft.com/office/drawing/2014/main" val="10002"/>
                  </a:ext>
                </a:extLst>
              </a:tr>
              <a:tr h="666750">
                <a:tc>
                  <a:txBody>
                    <a:bodyPr/>
                    <a:lstStyle/>
                    <a:p>
                      <a:pPr algn="ctr">
                        <a:buNone/>
                      </a:pPr>
                      <a:r>
                        <a:rPr sz="1725">
                          <a:solidFill>
                            <a:srgbClr val="000000"/>
                          </a:solidFill>
                          <a:latin typeface="Arial"/>
                          <a:ea typeface="Arial"/>
                          <a:cs typeface="Arial"/>
                        </a:rPr>
                        <a:t>Imports</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APM</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MPM</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ΔM / ΔY</a:t>
                      </a:r>
                    </a:p>
                  </a:txBody>
                  <a:tcPr marL="76200" marR="76200" marT="47625" marB="47625" anchor="ctr">
                    <a:solidFill>
                      <a:srgbClr val="EAF5FB"/>
                    </a:solidFill>
                  </a:tcPr>
                </a:tc>
                <a:extLst>
                  <a:ext uri="{0D108BD9-81ED-4DB2-BD59-A6C34878D82A}">
                    <a16:rowId xmlns:a16="http://schemas.microsoft.com/office/drawing/2014/main" val="10003"/>
                  </a:ext>
                </a:extLst>
              </a:tr>
              <a:tr h="666750">
                <a:tc>
                  <a:txBody>
                    <a:bodyPr/>
                    <a:lstStyle/>
                    <a:p>
                      <a:pPr algn="ctr">
                        <a:buNone/>
                      </a:pPr>
                      <a:r>
                        <a:rPr sz="1725">
                          <a:solidFill>
                            <a:srgbClr val="000000"/>
                          </a:solidFill>
                          <a:latin typeface="Arial"/>
                          <a:ea typeface="Arial"/>
                          <a:cs typeface="Arial"/>
                        </a:rPr>
                        <a:t>Tax</a:t>
                      </a:r>
                    </a:p>
                  </a:txBody>
                  <a:tcPr marL="76200" marR="76200" marT="47625" marB="47625" anchor="ctr"/>
                </a:tc>
                <a:tc>
                  <a:txBody>
                    <a:bodyPr/>
                    <a:lstStyle/>
                    <a:p>
                      <a:pPr algn="ctr">
                        <a:buNone/>
                      </a:pPr>
                      <a:r>
                        <a:rPr sz="1725">
                          <a:solidFill>
                            <a:srgbClr val="000000"/>
                          </a:solidFill>
                          <a:latin typeface="Arial"/>
                          <a:ea typeface="Arial"/>
                          <a:cs typeface="Arial"/>
                        </a:rPr>
                        <a:t>ART</a:t>
                      </a:r>
                    </a:p>
                  </a:txBody>
                  <a:tcPr marL="76200" marR="76200" marT="47625" marB="47625" anchor="ctr"/>
                </a:tc>
                <a:tc>
                  <a:txBody>
                    <a:bodyPr/>
                    <a:lstStyle/>
                    <a:p>
                      <a:pPr algn="ctr">
                        <a:buNone/>
                      </a:pPr>
                      <a:r>
                        <a:rPr sz="1725">
                          <a:solidFill>
                            <a:srgbClr val="000000"/>
                          </a:solidFill>
                          <a:latin typeface="Arial"/>
                          <a:ea typeface="Arial"/>
                          <a:cs typeface="Arial"/>
                        </a:rPr>
                        <a:t>T / Y</a:t>
                      </a:r>
                    </a:p>
                  </a:txBody>
                  <a:tcPr marL="76200" marR="76200" marT="47625" marB="47625" anchor="ctr"/>
                </a:tc>
                <a:tc>
                  <a:txBody>
                    <a:bodyPr/>
                    <a:lstStyle/>
                    <a:p>
                      <a:pPr algn="ctr">
                        <a:buNone/>
                      </a:pPr>
                      <a:r>
                        <a:rPr sz="1725">
                          <a:solidFill>
                            <a:srgbClr val="000000"/>
                          </a:solidFill>
                          <a:latin typeface="Arial"/>
                          <a:ea typeface="Arial"/>
                          <a:cs typeface="Arial"/>
                        </a:rPr>
                        <a:t>MRT</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ΔT / ΔY</a:t>
                      </a:r>
                    </a:p>
                  </a:txBody>
                  <a:tcPr marL="76200" marR="76200" marT="47625" marB="47625" anchor="ctr">
                    <a:solidFill>
                      <a:srgbClr val="EAF5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719516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1-title">
            <a:extLst>
              <a:ext uri="{FF2B5EF4-FFF2-40B4-BE49-F238E27FC236}">
                <a16:creationId xmlns:a16="http://schemas.microsoft.com/office/drawing/2014/main" id="{0AD18E60-ACB3-4D11-BF24-80B8BC1EFD7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Four economy models, one multiplier rule</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CEFA20DD-522D-41E1-BDC3-4335A2257A5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875EE34-3023-481F-8F79-6AFC09D3CAA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11</a:t>
            </a:r>
          </a:p>
        </p:txBody>
      </p:sp>
      <p:sp>
        <p:nvSpPr>
          <p:cNvPr id="5" name="Rectangle 4">
            <a:extLst>
              <a:ext uri="{FF2B5EF4-FFF2-40B4-BE49-F238E27FC236}">
                <a16:creationId xmlns:a16="http://schemas.microsoft.com/office/drawing/2014/main" id="{2D5E8979-737F-4A4E-A8D7-A3FE8639F98B}"/>
              </a:ext>
            </a:extLst>
          </p:cNvPr>
          <p:cNvSpPr>
            <a:spLocks noGrp="1"/>
          </p:cNvSpPr>
          <p:nvPr/>
        </p:nvSpPr>
        <p:spPr>
          <a:xfrm>
            <a:off x="571500" y="1381125"/>
            <a:ext cx="11049000" cy="342900"/>
          </a:xfrm>
          <a:prstGeom prst="rect">
            <a:avLst/>
          </a:prstGeom>
          <a:noFill/>
          <a:ln w="0">
            <a:noFill/>
            <a:prstDash val="solid"/>
          </a:ln>
        </p:spPr>
        <p:txBody>
          <a:bodyPr anchor="t">
            <a:noAutofit/>
          </a:bodyPr>
          <a:lstStyle/>
          <a:p>
            <a:pPr algn="l">
              <a:buNone/>
              <a:defRPr sz="1800" b="0" i="0">
                <a:solidFill>
                  <a:srgbClr val="59616B"/>
                </a:solidFill>
                <a:latin typeface="Arial"/>
                <a:ea typeface="Arial"/>
                <a:cs typeface="Arial"/>
              </a:defRPr>
            </a:pPr>
            <a:r>
              <a:rPr sz="1800" b="0" i="0">
                <a:solidFill>
                  <a:srgbClr val="59616B"/>
                </a:solidFill>
                <a:latin typeface="Arial"/>
                <a:ea typeface="Arial"/>
                <a:cs typeface="Arial"/>
              </a:rPr>
              <a:t>Step 1: identify the leakages. Step 2: add their marginal propensities.</a:t>
            </a:r>
          </a:p>
        </p:txBody>
      </p:sp>
      <p:graphicFrame>
        <p:nvGraphicFramePr>
          <p:cNvPr id="37" name="Table 30"/>
          <p:cNvGraphicFramePr/>
          <p:nvPr>
            <p:extLst>
              <p:ext uri="{D42A27DB-BD31-4B8C-83A1-F6EECF244321}">
                <p14:modId xmlns:p14="http://schemas.microsoft.com/office/powerpoint/2010/main" val="2720545372"/>
              </p:ext>
            </p:extLst>
          </p:nvPr>
        </p:nvGraphicFramePr>
        <p:xfrm>
          <a:off x="571500" y="2000250"/>
          <a:ext cx="11049000" cy="3524250"/>
        </p:xfrm>
        <a:graphic>
          <a:graphicData uri="http://schemas.openxmlformats.org/drawingml/2006/table">
            <a:tbl>
              <a:tblPr/>
              <a:tblGrid>
                <a:gridCol w="2762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3305503">
                  <a:extLst>
                    <a:ext uri="{9D8B030D-6E8A-4147-A177-3AD203B41FA5}">
                      <a16:colId xmlns:a16="http://schemas.microsoft.com/office/drawing/2014/main" val="20002"/>
                    </a:ext>
                  </a:extLst>
                </a:gridCol>
                <a:gridCol w="2980997">
                  <a:extLst>
                    <a:ext uri="{9D8B030D-6E8A-4147-A177-3AD203B41FA5}">
                      <a16:colId xmlns:a16="http://schemas.microsoft.com/office/drawing/2014/main" val="20003"/>
                    </a:ext>
                  </a:extLst>
                </a:gridCol>
              </a:tblGrid>
              <a:tr h="704850">
                <a:tc>
                  <a:txBody>
                    <a:bodyPr/>
                    <a:lstStyle/>
                    <a:p>
                      <a:pPr algn="ctr">
                        <a:buNone/>
                      </a:pPr>
                      <a:r>
                        <a:rPr sz="1425" b="1">
                          <a:solidFill>
                            <a:srgbClr val="FFFFFF"/>
                          </a:solidFill>
                          <a:latin typeface="Arial"/>
                          <a:ea typeface="Arial"/>
                          <a:cs typeface="Arial"/>
                        </a:rPr>
                        <a:t>Model</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Leakages</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Marginal propensity to withdraw (MPW)</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Multiplier</a:t>
                      </a:r>
                    </a:p>
                  </a:txBody>
                  <a:tcPr marL="76200" marR="76200" marT="57150" marB="57150" anchor="ctr">
                    <a:solidFill>
                      <a:srgbClr val="000000"/>
                    </a:solidFill>
                  </a:tcPr>
                </a:tc>
                <a:extLst>
                  <a:ext uri="{0D108BD9-81ED-4DB2-BD59-A6C34878D82A}">
                    <a16:rowId xmlns:a16="http://schemas.microsoft.com/office/drawing/2014/main" val="10000"/>
                  </a:ext>
                </a:extLst>
              </a:tr>
              <a:tr h="704850">
                <a:tc>
                  <a:txBody>
                    <a:bodyPr/>
                    <a:lstStyle/>
                    <a:p>
                      <a:pPr algn="ctr">
                        <a:buNone/>
                      </a:pPr>
                      <a:r>
                        <a:rPr sz="1575">
                          <a:solidFill>
                            <a:srgbClr val="000000"/>
                          </a:solidFill>
                          <a:latin typeface="Arial"/>
                          <a:ea typeface="Arial"/>
                          <a:cs typeface="Arial"/>
                        </a:rPr>
                        <a:t>Closed,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a:t>
                      </a:r>
                    </a:p>
                  </a:txBody>
                  <a:tcPr marL="76200" marR="76200" marT="47625" marB="47625" anchor="ctr">
                    <a:solidFill>
                      <a:srgbClr val="EAF5FB"/>
                    </a:solidFill>
                  </a:tcPr>
                </a:tc>
                <a:extLst>
                  <a:ext uri="{0D108BD9-81ED-4DB2-BD59-A6C34878D82A}">
                    <a16:rowId xmlns:a16="http://schemas.microsoft.com/office/drawing/2014/main" val="10001"/>
                  </a:ext>
                </a:extLst>
              </a:tr>
              <a:tr h="704850">
                <a:tc>
                  <a:txBody>
                    <a:bodyPr/>
                    <a:lstStyle/>
                    <a:p>
                      <a:pPr algn="ctr">
                        <a:buNone/>
                      </a:pPr>
                      <a:r>
                        <a:rPr sz="1575">
                          <a:solidFill>
                            <a:srgbClr val="000000"/>
                          </a:solidFill>
                          <a:latin typeface="Arial"/>
                          <a:ea typeface="Arial"/>
                          <a:cs typeface="Arial"/>
                        </a:rPr>
                        <a:t>Closed, with government</a:t>
                      </a:r>
                    </a:p>
                  </a:txBody>
                  <a:tcPr marL="76200" marR="76200" marT="47625" marB="47625" anchor="ctr"/>
                </a:tc>
                <a:tc>
                  <a:txBody>
                    <a:bodyPr/>
                    <a:lstStyle/>
                    <a:p>
                      <a:pPr algn="ctr">
                        <a:buNone/>
                      </a:pPr>
                      <a:r>
                        <a:rPr sz="1575">
                          <a:solidFill>
                            <a:srgbClr val="000000"/>
                          </a:solidFill>
                          <a:latin typeface="Arial"/>
                          <a:ea typeface="Arial"/>
                          <a:cs typeface="Arial"/>
                        </a:rPr>
                        <a:t>S + T</a:t>
                      </a:r>
                    </a:p>
                  </a:txBody>
                  <a:tcPr marL="76200" marR="76200" marT="47625" marB="47625" anchor="ctr"/>
                </a:tc>
                <a:tc>
                  <a:txBody>
                    <a:bodyPr/>
                    <a:lstStyle/>
                    <a:p>
                      <a:pPr algn="ctr">
                        <a:buNone/>
                      </a:pPr>
                      <a:r>
                        <a:rPr sz="1575">
                          <a:solidFill>
                            <a:srgbClr val="000000"/>
                          </a:solidFill>
                          <a:latin typeface="Arial"/>
                          <a:ea typeface="Arial"/>
                          <a:cs typeface="Arial"/>
                        </a:rPr>
                        <a:t>MPS + MRT</a:t>
                      </a:r>
                    </a:p>
                  </a:txBody>
                  <a:tcPr marL="76200" marR="76200" marT="47625" marB="47625" anchor="ctr"/>
                </a:tc>
                <a:tc>
                  <a:txBody>
                    <a:bodyPr/>
                    <a:lstStyle/>
                    <a:p>
                      <a:pPr algn="ctr">
                        <a:buNone/>
                      </a:pPr>
                      <a:r>
                        <a:rPr sz="1725" b="1">
                          <a:solidFill>
                            <a:srgbClr val="3D8DFF"/>
                          </a:solidFill>
                          <a:latin typeface="Arial"/>
                          <a:ea typeface="Arial"/>
                          <a:cs typeface="Arial"/>
                        </a:rPr>
                        <a:t>1 / (MPS + MRT)</a:t>
                      </a:r>
                    </a:p>
                  </a:txBody>
                  <a:tcPr marL="76200" marR="76200" marT="47625" marB="47625" anchor="ctr">
                    <a:solidFill>
                      <a:srgbClr val="EAF5FB"/>
                    </a:solidFill>
                  </a:tcPr>
                </a:tc>
                <a:extLst>
                  <a:ext uri="{0D108BD9-81ED-4DB2-BD59-A6C34878D82A}">
                    <a16:rowId xmlns:a16="http://schemas.microsoft.com/office/drawing/2014/main" val="10002"/>
                  </a:ext>
                </a:extLst>
              </a:tr>
              <a:tr h="704850">
                <a:tc>
                  <a:txBody>
                    <a:bodyPr/>
                    <a:lstStyle/>
                    <a:p>
                      <a:pPr algn="ctr">
                        <a:buNone/>
                      </a:pPr>
                      <a:r>
                        <a:rPr sz="1575">
                          <a:solidFill>
                            <a:srgbClr val="000000"/>
                          </a:solidFill>
                          <a:latin typeface="Arial"/>
                          <a:ea typeface="Arial"/>
                          <a:cs typeface="Arial"/>
                        </a:rPr>
                        <a:t>Open,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 + M</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 + MPM</a:t>
                      </a:r>
                    </a:p>
                  </a:txBody>
                  <a:tcPr marL="76200" marR="76200" marT="47625" marB="47625" anchor="ctr">
                    <a:solidFill>
                      <a:srgbClr val="F7F7F5"/>
                    </a:solidFill>
                  </a:tcPr>
                </a:tc>
                <a:tc>
                  <a:txBody>
                    <a:bodyPr/>
                    <a:lstStyle/>
                    <a:p>
                      <a:pPr algn="ctr">
                        <a:buNone/>
                      </a:pPr>
                      <a:r>
                        <a:rPr sz="1725" b="1" dirty="0">
                          <a:solidFill>
                            <a:srgbClr val="3D8DFF"/>
                          </a:solidFill>
                          <a:latin typeface="Arial"/>
                          <a:ea typeface="Arial"/>
                          <a:cs typeface="Arial"/>
                        </a:rPr>
                        <a:t>1 / (MPS + MPM)</a:t>
                      </a:r>
                    </a:p>
                  </a:txBody>
                  <a:tcPr marL="76200" marR="76200" marT="47625" marB="47625" anchor="ctr">
                    <a:solidFill>
                      <a:srgbClr val="EAF5FB"/>
                    </a:solidFill>
                  </a:tcPr>
                </a:tc>
                <a:extLst>
                  <a:ext uri="{0D108BD9-81ED-4DB2-BD59-A6C34878D82A}">
                    <a16:rowId xmlns:a16="http://schemas.microsoft.com/office/drawing/2014/main" val="10003"/>
                  </a:ext>
                </a:extLst>
              </a:tr>
              <a:tr h="704850">
                <a:tc>
                  <a:txBody>
                    <a:bodyPr/>
                    <a:lstStyle/>
                    <a:p>
                      <a:pPr algn="ctr">
                        <a:buNone/>
                      </a:pPr>
                      <a:r>
                        <a:rPr sz="1575">
                          <a:solidFill>
                            <a:srgbClr val="000000"/>
                          </a:solidFill>
                          <a:latin typeface="Arial"/>
                          <a:ea typeface="Arial"/>
                          <a:cs typeface="Arial"/>
                        </a:rPr>
                        <a:t>Open, with government</a:t>
                      </a:r>
                    </a:p>
                  </a:txBody>
                  <a:tcPr marL="76200" marR="76200" marT="47625" marB="47625" anchor="ctr"/>
                </a:tc>
                <a:tc>
                  <a:txBody>
                    <a:bodyPr/>
                    <a:lstStyle/>
                    <a:p>
                      <a:pPr algn="ctr">
                        <a:buNone/>
                      </a:pPr>
                      <a:r>
                        <a:rPr sz="1575">
                          <a:solidFill>
                            <a:srgbClr val="000000"/>
                          </a:solidFill>
                          <a:latin typeface="Arial"/>
                          <a:ea typeface="Arial"/>
                          <a:cs typeface="Arial"/>
                        </a:rPr>
                        <a:t>S + T + M</a:t>
                      </a:r>
                    </a:p>
                  </a:txBody>
                  <a:tcPr marL="76200" marR="76200" marT="47625" marB="47625" anchor="ctr"/>
                </a:tc>
                <a:tc>
                  <a:txBody>
                    <a:bodyPr/>
                    <a:lstStyle/>
                    <a:p>
                      <a:pPr algn="ctr">
                        <a:buNone/>
                      </a:pPr>
                      <a:r>
                        <a:rPr sz="1575" dirty="0">
                          <a:solidFill>
                            <a:srgbClr val="000000"/>
                          </a:solidFill>
                          <a:latin typeface="Arial"/>
                          <a:ea typeface="Arial"/>
                          <a:cs typeface="Arial"/>
                        </a:rPr>
                        <a:t>MPS + MRT + MPM</a:t>
                      </a:r>
                    </a:p>
                  </a:txBody>
                  <a:tcPr marL="76200" marR="76200" marT="47625" marB="47625" anchor="ctr"/>
                </a:tc>
                <a:tc>
                  <a:txBody>
                    <a:bodyPr/>
                    <a:lstStyle/>
                    <a:p>
                      <a:pPr algn="ctr">
                        <a:buNone/>
                      </a:pPr>
                      <a:r>
                        <a:rPr sz="1725" b="1" dirty="0">
                          <a:solidFill>
                            <a:srgbClr val="3D8DFF"/>
                          </a:solidFill>
                          <a:latin typeface="Arial"/>
                          <a:ea typeface="Arial"/>
                          <a:cs typeface="Arial"/>
                        </a:rPr>
                        <a:t>1 / </a:t>
                      </a:r>
                      <a:r>
                        <a:rPr lang="en-US" altLang="zh-CN" sz="1725" b="1" dirty="0">
                          <a:solidFill>
                            <a:srgbClr val="3D8DFF"/>
                          </a:solidFill>
                          <a:latin typeface="Arial"/>
                          <a:ea typeface="Arial"/>
                          <a:cs typeface="Arial"/>
                        </a:rPr>
                        <a:t>(MPS + MRT + MPM)</a:t>
                      </a:r>
                      <a:endParaRPr sz="1725" b="1" dirty="0">
                        <a:solidFill>
                          <a:srgbClr val="3D8DFF"/>
                        </a:solidFill>
                        <a:latin typeface="Arial"/>
                        <a:ea typeface="Arial"/>
                        <a:cs typeface="Arial"/>
                      </a:endParaRPr>
                    </a:p>
                  </a:txBody>
                  <a:tcPr marL="76200" marR="76200" marT="47625" marB="47625" anchor="ctr">
                    <a:solidFill>
                      <a:srgbClr val="EAF5FB"/>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00E71C89-2E0C-44AB-9757-253316E8ADC6}"/>
              </a:ext>
            </a:extLst>
          </p:cNvPr>
          <p:cNvSpPr>
            <a:spLocks noGrp="1"/>
          </p:cNvSpPr>
          <p:nvPr/>
        </p:nvSpPr>
        <p:spPr>
          <a:xfrm>
            <a:off x="3619500" y="5762625"/>
            <a:ext cx="4953000" cy="400050"/>
          </a:xfrm>
          <a:prstGeom prst="rect">
            <a:avLst/>
          </a:prstGeom>
          <a:noFill/>
          <a:ln w="0">
            <a:noFill/>
            <a:prstDash val="solid"/>
          </a:ln>
        </p:spPr>
        <p:txBody>
          <a:bodyPr anchor="t">
            <a:noAutofit/>
          </a:bodyPr>
          <a:lstStyle/>
          <a:p>
            <a:pPr algn="ctr">
              <a:buNone/>
              <a:defRPr sz="2400" b="1" i="0">
                <a:solidFill>
                  <a:srgbClr val="3D8DFF"/>
                </a:solidFill>
                <a:latin typeface="Arial"/>
                <a:ea typeface="Arial"/>
                <a:cs typeface="Arial"/>
              </a:defRPr>
            </a:pPr>
            <a:r>
              <a:rPr sz="2400" b="1" i="0">
                <a:solidFill>
                  <a:srgbClr val="3D8DFF"/>
                </a:solidFill>
                <a:latin typeface="Arial"/>
                <a:ea typeface="Arial"/>
                <a:cs typeface="Arial"/>
              </a:rPr>
              <a:t>General rule: k = 1 / MPW</a:t>
            </a:r>
          </a:p>
        </p:txBody>
      </p:sp>
    </p:spTree>
    <p:extLst>
      <p:ext uri="{BB962C8B-B14F-4D97-AF65-F5344CB8AC3E}">
        <p14:creationId xmlns:p14="http://schemas.microsoft.com/office/powerpoint/2010/main" val="9938428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12-title">
            <a:extLst>
              <a:ext uri="{FF2B5EF4-FFF2-40B4-BE49-F238E27FC236}">
                <a16:creationId xmlns:a16="http://schemas.microsoft.com/office/drawing/2014/main" id="{DCF9AC5E-1EBC-4FAB-B477-261D2B3532F2}"/>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Worked example: open economy + government</a:t>
            </a:r>
          </a:p>
        </p:txBody>
      </p:sp>
      <p:cxnSp>
        <p:nvCxnSpPr>
          <p:cNvPr id="27" name="Straight Arrow Connector 22"/>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C4661E9A-949B-4796-AE2C-1EC02D67CF7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0FAF3A8-78D2-4C78-9CA6-A408C1DF270C}"/>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12</a:t>
            </a:r>
          </a:p>
        </p:txBody>
      </p:sp>
      <p:sp>
        <p:nvSpPr>
          <p:cNvPr id="5" name="Rectangle 4">
            <a:extLst>
              <a:ext uri="{FF2B5EF4-FFF2-40B4-BE49-F238E27FC236}">
                <a16:creationId xmlns:a16="http://schemas.microsoft.com/office/drawing/2014/main" id="{B8EA1E4C-2486-4210-935A-1A1A680AB961}"/>
              </a:ext>
            </a:extLst>
          </p:cNvPr>
          <p:cNvSpPr>
            <a:spLocks noGrp="1"/>
          </p:cNvSpPr>
          <p:nvPr/>
        </p:nvSpPr>
        <p:spPr>
          <a:xfrm>
            <a:off x="666750" y="1666875"/>
            <a:ext cx="45720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GIVEN</a:t>
            </a:r>
          </a:p>
        </p:txBody>
      </p:sp>
      <p:sp>
        <p:nvSpPr>
          <p:cNvPr id="6" name="Rectangle 5">
            <a:extLst>
              <a:ext uri="{FF2B5EF4-FFF2-40B4-BE49-F238E27FC236}">
                <a16:creationId xmlns:a16="http://schemas.microsoft.com/office/drawing/2014/main" id="{ED29F257-2F8F-4453-9786-21424A64E85B}"/>
              </a:ext>
            </a:extLst>
          </p:cNvPr>
          <p:cNvSpPr>
            <a:spLocks noGrp="1"/>
          </p:cNvSpPr>
          <p:nvPr/>
        </p:nvSpPr>
        <p:spPr>
          <a:xfrm>
            <a:off x="666750" y="2095500"/>
            <a:ext cx="4572000" cy="2286000"/>
          </a:xfrm>
          <a:prstGeom prst="rect">
            <a:avLst/>
          </a:prstGeom>
          <a:noFill/>
          <a:ln w="0">
            <a:noFill/>
            <a:prstDash val="solid"/>
          </a:ln>
        </p:spPr>
        <p:txBody>
          <a:bodyPr anchor="t">
            <a:noAutofit/>
          </a:bodyPr>
          <a:lstStyle/>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MPS = 0.20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MPM = 0.10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MRT = 0.10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Exports rise by £80m</a:t>
            </a:r>
          </a:p>
        </p:txBody>
      </p:sp>
      <p:sp>
        <p:nvSpPr>
          <p:cNvPr id="7" name="Rectangle 6">
            <a:extLst>
              <a:ext uri="{FF2B5EF4-FFF2-40B4-BE49-F238E27FC236}">
                <a16:creationId xmlns:a16="http://schemas.microsoft.com/office/drawing/2014/main" id="{EC126679-BF7C-4D3E-B728-D92BF63603E6}"/>
              </a:ext>
            </a:extLst>
          </p:cNvPr>
          <p:cNvSpPr>
            <a:spLocks noGrp="1"/>
          </p:cNvSpPr>
          <p:nvPr/>
        </p:nvSpPr>
        <p:spPr>
          <a:xfrm>
            <a:off x="5905500" y="1619250"/>
            <a:ext cx="5334000" cy="3333750"/>
          </a:xfrm>
          <a:prstGeom prst="rect">
            <a:avLst/>
          </a:prstGeom>
          <a:solidFill>
            <a:srgbClr val="EAF5FB"/>
          </a:solidFill>
          <a:ln w="19050">
            <a:solidFill>
              <a:srgbClr val="3D8DFF"/>
            </a:solidFill>
            <a:prstDash val="solid"/>
          </a:ln>
        </p:spPr>
      </p:sp>
      <p:sp>
        <p:nvSpPr>
          <p:cNvPr id="8" name="Rectangle 7">
            <a:extLst>
              <a:ext uri="{FF2B5EF4-FFF2-40B4-BE49-F238E27FC236}">
                <a16:creationId xmlns:a16="http://schemas.microsoft.com/office/drawing/2014/main" id="{490D38FE-7168-489B-826E-530FB65FD009}"/>
              </a:ext>
            </a:extLst>
          </p:cNvPr>
          <p:cNvSpPr>
            <a:spLocks noGrp="1"/>
          </p:cNvSpPr>
          <p:nvPr/>
        </p:nvSpPr>
        <p:spPr>
          <a:xfrm>
            <a:off x="6381750" y="2047875"/>
            <a:ext cx="4381500" cy="2333625"/>
          </a:xfrm>
          <a:prstGeom prst="rect">
            <a:avLst/>
          </a:prstGeom>
          <a:noFill/>
          <a:ln w="0">
            <a:noFill/>
            <a:prstDash val="solid"/>
          </a:ln>
        </p:spPr>
        <p:txBody>
          <a:bodyPr anchor="t">
            <a:noAutofit/>
          </a:bodyPr>
          <a:lstStyle/>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1  MPW = 0.20 + 0.10 + 0.10 = 0.40</a:t>
            </a:r>
          </a:p>
          <a:p>
            <a:endParaRPr sz="2250" b="1" i="0" dirty="0">
              <a:solidFill>
                <a:srgbClr val="000000"/>
              </a:solidFill>
              <a:latin typeface="Arial"/>
              <a:ea typeface="Arial"/>
              <a:cs typeface="Arial"/>
            </a:endParaRPr>
          </a:p>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2  k = 1 / 0.40 = 2.5</a:t>
            </a:r>
          </a:p>
          <a:p>
            <a:endParaRPr sz="2250" b="1" i="0" dirty="0">
              <a:solidFill>
                <a:srgbClr val="000000"/>
              </a:solidFill>
              <a:latin typeface="Arial"/>
              <a:ea typeface="Arial"/>
              <a:cs typeface="Arial"/>
            </a:endParaRPr>
          </a:p>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3  ΔY = 2.5 × £80m = £200m</a:t>
            </a:r>
          </a:p>
        </p:txBody>
      </p:sp>
      <p:sp>
        <p:nvSpPr>
          <p:cNvPr id="9" name="Rectangle 8">
            <a:extLst>
              <a:ext uri="{FF2B5EF4-FFF2-40B4-BE49-F238E27FC236}">
                <a16:creationId xmlns:a16="http://schemas.microsoft.com/office/drawing/2014/main" id="{B06617D2-7B0F-4F85-B140-1F50940220F1}"/>
              </a:ext>
            </a:extLst>
          </p:cNvPr>
          <p:cNvSpPr>
            <a:spLocks noGrp="1"/>
          </p:cNvSpPr>
          <p:nvPr/>
        </p:nvSpPr>
        <p:spPr>
          <a:xfrm>
            <a:off x="1524000" y="5476874"/>
            <a:ext cx="9144000" cy="917619"/>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dirty="0">
                <a:solidFill>
                  <a:srgbClr val="000000"/>
                </a:solidFill>
                <a:latin typeface="Arial"/>
                <a:ea typeface="Arial"/>
                <a:cs typeface="Arial"/>
              </a:rPr>
              <a:t>Interpretation: every £1 of new exports creates £2.50 of national income.</a:t>
            </a:r>
          </a:p>
        </p:txBody>
      </p:sp>
    </p:spTree>
    <p:extLst>
      <p:ext uri="{BB962C8B-B14F-4D97-AF65-F5344CB8AC3E}">
        <p14:creationId xmlns:p14="http://schemas.microsoft.com/office/powerpoint/2010/main" val="1844338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3-title">
            <a:extLst>
              <a:ext uri="{FF2B5EF4-FFF2-40B4-BE49-F238E27FC236}">
                <a16:creationId xmlns:a16="http://schemas.microsoft.com/office/drawing/2014/main" id="{23198C81-EB4C-44BA-BA43-F024D2415E3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lang="en-US" sz="3600" b="1" i="0" dirty="0">
                <a:solidFill>
                  <a:srgbClr val="000000"/>
                </a:solidFill>
                <a:latin typeface="Arial"/>
                <a:ea typeface="Arial"/>
                <a:cs typeface="Arial"/>
              </a:rPr>
              <a:t>Calculate.</a:t>
            </a:r>
            <a:endParaRPr sz="3600" b="1" i="0" dirty="0">
              <a:solidFill>
                <a:srgbClr val="000000"/>
              </a:solidFill>
              <a:latin typeface="Arial"/>
              <a:ea typeface="Arial"/>
              <a:cs typeface="Arial"/>
            </a:endParaRPr>
          </a:p>
        </p:txBody>
      </p:sp>
      <p:sp>
        <p:nvSpPr>
          <p:cNvPr id="3" name="Rectangle 2">
            <a:extLst>
              <a:ext uri="{FF2B5EF4-FFF2-40B4-BE49-F238E27FC236}">
                <a16:creationId xmlns:a16="http://schemas.microsoft.com/office/drawing/2014/main" id="{2404B457-AB84-4078-8C06-DCE72B244039}"/>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9CBA21F6-D080-4B5E-AFCA-0F4893852DF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13</a:t>
            </a:r>
          </a:p>
        </p:txBody>
      </p:sp>
      <p:cxnSp>
        <p:nvCxnSpPr>
          <p:cNvPr id="69" name="Straight Arrow Connector 56"/>
          <p:cNvCxnSpPr/>
          <p:nvPr/>
        </p:nvCxnSpPr>
        <p:spPr>
          <a:xfrm>
            <a:off x="4095750" y="1809750"/>
            <a:ext cx="95" cy="3857625"/>
          </a:xfrm>
          <a:prstGeom prst="straightConnector1">
            <a:avLst/>
          </a:prstGeom>
          <a:ln w="9525">
            <a:solidFill>
              <a:srgbClr val="B8BCC4"/>
            </a:solidFill>
            <a:prstDash val="solid"/>
          </a:ln>
        </p:spPr>
      </p:cxnSp>
      <p:cxnSp>
        <p:nvCxnSpPr>
          <p:cNvPr id="70" name="Straight Arrow Connector 57"/>
          <p:cNvCxnSpPr/>
          <p:nvPr/>
        </p:nvCxnSpPr>
        <p:spPr>
          <a:xfrm>
            <a:off x="8096250" y="1809750"/>
            <a:ext cx="95" cy="3857625"/>
          </a:xfrm>
          <a:prstGeom prst="straightConnector1">
            <a:avLst/>
          </a:prstGeom>
          <a:ln w="9525">
            <a:solidFill>
              <a:srgbClr val="B8BCC4"/>
            </a:solidFill>
            <a:prstDash val="solid"/>
          </a:ln>
        </p:spPr>
      </p:cxnSp>
      <p:sp>
        <p:nvSpPr>
          <p:cNvPr id="7" name="Oval 6">
            <a:extLst>
              <a:ext uri="{FF2B5EF4-FFF2-40B4-BE49-F238E27FC236}">
                <a16:creationId xmlns:a16="http://schemas.microsoft.com/office/drawing/2014/main" id="{4D5D0D1C-9588-4397-B951-686C94EFF9EB}"/>
              </a:ext>
            </a:extLst>
          </p:cNvPr>
          <p:cNvSpPr>
            <a:spLocks noGrp="1"/>
          </p:cNvSpPr>
          <p:nvPr/>
        </p:nvSpPr>
        <p:spPr>
          <a:xfrm>
            <a:off x="6667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1</a:t>
            </a:r>
          </a:p>
        </p:txBody>
      </p:sp>
      <p:sp>
        <p:nvSpPr>
          <p:cNvPr id="8" name="Rectangle 7">
            <a:extLst>
              <a:ext uri="{FF2B5EF4-FFF2-40B4-BE49-F238E27FC236}">
                <a16:creationId xmlns:a16="http://schemas.microsoft.com/office/drawing/2014/main" id="{2F4EAD5D-AA17-45C7-A624-A9598EF31FC4}"/>
              </a:ext>
            </a:extLst>
          </p:cNvPr>
          <p:cNvSpPr>
            <a:spLocks noGrp="1"/>
          </p:cNvSpPr>
          <p:nvPr/>
        </p:nvSpPr>
        <p:spPr>
          <a:xfrm>
            <a:off x="6667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dirty="0">
                <a:solidFill>
                  <a:srgbClr val="000000"/>
                </a:solidFill>
                <a:latin typeface="Arial"/>
                <a:ea typeface="Arial"/>
                <a:cs typeface="Arial"/>
              </a:rPr>
              <a:t>Open, no government</a:t>
            </a:r>
          </a:p>
        </p:txBody>
      </p:sp>
      <p:sp>
        <p:nvSpPr>
          <p:cNvPr id="9" name="Rectangle 8">
            <a:extLst>
              <a:ext uri="{FF2B5EF4-FFF2-40B4-BE49-F238E27FC236}">
                <a16:creationId xmlns:a16="http://schemas.microsoft.com/office/drawing/2014/main" id="{2E3C24B2-FD75-4FD2-8A07-7D21B1F5845E}"/>
              </a:ext>
            </a:extLst>
          </p:cNvPr>
          <p:cNvSpPr>
            <a:spLocks noGrp="1"/>
          </p:cNvSpPr>
          <p:nvPr/>
        </p:nvSpPr>
        <p:spPr>
          <a:xfrm>
            <a:off x="6667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1/6</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MPM = 1/3</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a:t>
            </a:r>
          </a:p>
        </p:txBody>
      </p:sp>
      <p:sp>
        <p:nvSpPr>
          <p:cNvPr id="10" name="Oval 9">
            <a:extLst>
              <a:ext uri="{FF2B5EF4-FFF2-40B4-BE49-F238E27FC236}">
                <a16:creationId xmlns:a16="http://schemas.microsoft.com/office/drawing/2014/main" id="{A4F509BC-2F34-4E9F-9B2D-E7A017B487A5}"/>
              </a:ext>
            </a:extLst>
          </p:cNvPr>
          <p:cNvSpPr>
            <a:spLocks noGrp="1"/>
          </p:cNvSpPr>
          <p:nvPr/>
        </p:nvSpPr>
        <p:spPr>
          <a:xfrm>
            <a:off x="44767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2</a:t>
            </a:r>
          </a:p>
        </p:txBody>
      </p:sp>
      <p:sp>
        <p:nvSpPr>
          <p:cNvPr id="11" name="Rectangle 10">
            <a:extLst>
              <a:ext uri="{FF2B5EF4-FFF2-40B4-BE49-F238E27FC236}">
                <a16:creationId xmlns:a16="http://schemas.microsoft.com/office/drawing/2014/main" id="{A5748D55-96C6-46EC-8DC3-84DDA3E1F553}"/>
              </a:ext>
            </a:extLst>
          </p:cNvPr>
          <p:cNvSpPr>
            <a:spLocks noGrp="1"/>
          </p:cNvSpPr>
          <p:nvPr/>
        </p:nvSpPr>
        <p:spPr>
          <a:xfrm>
            <a:off x="44767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a:solidFill>
                  <a:srgbClr val="000000"/>
                </a:solidFill>
                <a:latin typeface="Arial"/>
                <a:ea typeface="Arial"/>
                <a:cs typeface="Arial"/>
              </a:rPr>
              <a:t>Closed, no government</a:t>
            </a:r>
          </a:p>
        </p:txBody>
      </p:sp>
      <p:sp>
        <p:nvSpPr>
          <p:cNvPr id="12" name="Rectangle 11">
            <a:extLst>
              <a:ext uri="{FF2B5EF4-FFF2-40B4-BE49-F238E27FC236}">
                <a16:creationId xmlns:a16="http://schemas.microsoft.com/office/drawing/2014/main" id="{E5A76F3D-E95A-4FA3-9530-DE95ECD4CAA3}"/>
              </a:ext>
            </a:extLst>
          </p:cNvPr>
          <p:cNvSpPr>
            <a:spLocks noGrp="1"/>
          </p:cNvSpPr>
          <p:nvPr/>
        </p:nvSpPr>
        <p:spPr>
          <a:xfrm>
            <a:off x="44767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Initial Y = $5,000m</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0.20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Investment rises by $1,000m.</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 and ΔY.</a:t>
            </a:r>
          </a:p>
        </p:txBody>
      </p:sp>
      <p:sp>
        <p:nvSpPr>
          <p:cNvPr id="13" name="Oval 12">
            <a:extLst>
              <a:ext uri="{FF2B5EF4-FFF2-40B4-BE49-F238E27FC236}">
                <a16:creationId xmlns:a16="http://schemas.microsoft.com/office/drawing/2014/main" id="{6DC1BF5E-DF46-4763-A3F3-444F6B958088}"/>
              </a:ext>
            </a:extLst>
          </p:cNvPr>
          <p:cNvSpPr>
            <a:spLocks noGrp="1"/>
          </p:cNvSpPr>
          <p:nvPr/>
        </p:nvSpPr>
        <p:spPr>
          <a:xfrm>
            <a:off x="84772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3</a:t>
            </a:r>
          </a:p>
        </p:txBody>
      </p:sp>
      <p:sp>
        <p:nvSpPr>
          <p:cNvPr id="14" name="Rectangle 13">
            <a:extLst>
              <a:ext uri="{FF2B5EF4-FFF2-40B4-BE49-F238E27FC236}">
                <a16:creationId xmlns:a16="http://schemas.microsoft.com/office/drawing/2014/main" id="{B76773F9-7A76-43A3-951B-557E47F42D66}"/>
              </a:ext>
            </a:extLst>
          </p:cNvPr>
          <p:cNvSpPr>
            <a:spLocks noGrp="1"/>
          </p:cNvSpPr>
          <p:nvPr/>
        </p:nvSpPr>
        <p:spPr>
          <a:xfrm>
            <a:off x="84772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a:solidFill>
                  <a:srgbClr val="000000"/>
                </a:solidFill>
                <a:latin typeface="Arial"/>
                <a:ea typeface="Arial"/>
                <a:cs typeface="Arial"/>
              </a:rPr>
              <a:t>Open, with government</a:t>
            </a:r>
          </a:p>
        </p:txBody>
      </p:sp>
      <p:sp>
        <p:nvSpPr>
          <p:cNvPr id="15" name="Rectangle 14">
            <a:extLst>
              <a:ext uri="{FF2B5EF4-FFF2-40B4-BE49-F238E27FC236}">
                <a16:creationId xmlns:a16="http://schemas.microsoft.com/office/drawing/2014/main" id="{6A5D6D39-3157-4847-B2EF-289AAB5ABE35}"/>
              </a:ext>
            </a:extLst>
          </p:cNvPr>
          <p:cNvSpPr>
            <a:spLocks noGrp="1"/>
          </p:cNvSpPr>
          <p:nvPr/>
        </p:nvSpPr>
        <p:spPr>
          <a:xfrm>
            <a:off x="84772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0.20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MPM = 0.30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MRT = 0.30</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a:t>
            </a:r>
          </a:p>
        </p:txBody>
      </p:sp>
    </p:spTree>
    <p:extLst>
      <p:ext uri="{BB962C8B-B14F-4D97-AF65-F5344CB8AC3E}">
        <p14:creationId xmlns:p14="http://schemas.microsoft.com/office/powerpoint/2010/main" val="764240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4-title">
            <a:extLst>
              <a:ext uri="{FF2B5EF4-FFF2-40B4-BE49-F238E27FC236}">
                <a16:creationId xmlns:a16="http://schemas.microsoft.com/office/drawing/2014/main" id="{E4CCF6C8-5DD2-466A-A904-EFD3ACDDAAA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Check the answer</a:t>
            </a:r>
          </a:p>
        </p:txBody>
      </p:sp>
      <p:sp>
        <p:nvSpPr>
          <p:cNvPr id="3" name="Rectangle 2">
            <a:extLst>
              <a:ext uri="{FF2B5EF4-FFF2-40B4-BE49-F238E27FC236}">
                <a16:creationId xmlns:a16="http://schemas.microsoft.com/office/drawing/2014/main" id="{D85D3323-90DE-42D6-A56F-E6C562700C3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EA3BD6D-4128-499C-92CE-8F1505B9D13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14</a:t>
            </a:r>
          </a:p>
        </p:txBody>
      </p:sp>
      <p:sp>
        <p:nvSpPr>
          <p:cNvPr id="5" name="Rectangle 4">
            <a:extLst>
              <a:ext uri="{FF2B5EF4-FFF2-40B4-BE49-F238E27FC236}">
                <a16:creationId xmlns:a16="http://schemas.microsoft.com/office/drawing/2014/main" id="{E41EA2DA-C5EF-48DA-AE77-9E6E828D7BCB}"/>
              </a:ext>
            </a:extLst>
          </p:cNvPr>
          <p:cNvSpPr>
            <a:spLocks noGrp="1"/>
          </p:cNvSpPr>
          <p:nvPr/>
        </p:nvSpPr>
        <p:spPr>
          <a:xfrm>
            <a:off x="66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1</a:t>
            </a:r>
          </a:p>
        </p:txBody>
      </p:sp>
      <p:sp>
        <p:nvSpPr>
          <p:cNvPr id="6" name="Rectangle 5">
            <a:extLst>
              <a:ext uri="{FF2B5EF4-FFF2-40B4-BE49-F238E27FC236}">
                <a16:creationId xmlns:a16="http://schemas.microsoft.com/office/drawing/2014/main" id="{F5093B20-43FB-42A1-9D8E-D2B9AA7BAE5D}"/>
              </a:ext>
            </a:extLst>
          </p:cNvPr>
          <p:cNvSpPr>
            <a:spLocks noGrp="1"/>
          </p:cNvSpPr>
          <p:nvPr/>
        </p:nvSpPr>
        <p:spPr>
          <a:xfrm>
            <a:off x="66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1/6 + 1/3 = 1/2</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1/2 = 2</a:t>
            </a:r>
          </a:p>
        </p:txBody>
      </p:sp>
      <p:cxnSp>
        <p:nvCxnSpPr>
          <p:cNvPr id="143" name="Straight Arrow Connector 112"/>
          <p:cNvCxnSpPr/>
          <p:nvPr/>
        </p:nvCxnSpPr>
        <p:spPr>
          <a:xfrm>
            <a:off x="666750" y="4000500"/>
            <a:ext cx="3143250" cy="95"/>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62B5163-CF53-4634-978D-F23AE8988A2C}"/>
              </a:ext>
            </a:extLst>
          </p:cNvPr>
          <p:cNvSpPr>
            <a:spLocks noGrp="1"/>
          </p:cNvSpPr>
          <p:nvPr/>
        </p:nvSpPr>
        <p:spPr>
          <a:xfrm>
            <a:off x="66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count because the economy is open.</a:t>
            </a:r>
          </a:p>
        </p:txBody>
      </p:sp>
      <p:sp>
        <p:nvSpPr>
          <p:cNvPr id="9" name="Rectangle 8">
            <a:extLst>
              <a:ext uri="{FF2B5EF4-FFF2-40B4-BE49-F238E27FC236}">
                <a16:creationId xmlns:a16="http://schemas.microsoft.com/office/drawing/2014/main" id="{96F4C155-9833-4C75-A63C-7D8C50E369A8}"/>
              </a:ext>
            </a:extLst>
          </p:cNvPr>
          <p:cNvSpPr>
            <a:spLocks noGrp="1"/>
          </p:cNvSpPr>
          <p:nvPr/>
        </p:nvSpPr>
        <p:spPr>
          <a:xfrm>
            <a:off x="447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2</a:t>
            </a:r>
          </a:p>
        </p:txBody>
      </p:sp>
      <p:sp>
        <p:nvSpPr>
          <p:cNvPr id="10" name="Rectangle 9">
            <a:extLst>
              <a:ext uri="{FF2B5EF4-FFF2-40B4-BE49-F238E27FC236}">
                <a16:creationId xmlns:a16="http://schemas.microsoft.com/office/drawing/2014/main" id="{4EB8501D-E723-4476-A323-2D7A320958AE}"/>
              </a:ext>
            </a:extLst>
          </p:cNvPr>
          <p:cNvSpPr>
            <a:spLocks noGrp="1"/>
          </p:cNvSpPr>
          <p:nvPr/>
        </p:nvSpPr>
        <p:spPr>
          <a:xfrm>
            <a:off x="447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0.20 = 5</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ΔY = 5 × $1,000m = $5,000m</a:t>
            </a:r>
          </a:p>
        </p:txBody>
      </p:sp>
      <p:cxnSp>
        <p:nvCxnSpPr>
          <p:cNvPr id="147" name="Straight Arrow Connector 116"/>
          <p:cNvCxnSpPr/>
          <p:nvPr/>
        </p:nvCxnSpPr>
        <p:spPr>
          <a:xfrm>
            <a:off x="4476750" y="4000500"/>
            <a:ext cx="3143250" cy="95"/>
          </a:xfrm>
          <a:prstGeom prst="straightConnector1">
            <a:avLst/>
          </a:prstGeom>
          <a:ln w="9525">
            <a:solidFill>
              <a:srgbClr val="B8BCC4"/>
            </a:solidFill>
            <a:prstDash val="solid"/>
          </a:ln>
        </p:spPr>
      </p:cxnSp>
      <p:sp>
        <p:nvSpPr>
          <p:cNvPr id="12" name="Rectangle 11">
            <a:extLst>
              <a:ext uri="{FF2B5EF4-FFF2-40B4-BE49-F238E27FC236}">
                <a16:creationId xmlns:a16="http://schemas.microsoft.com/office/drawing/2014/main" id="{3149D24B-F194-4A9B-B9B5-16E8705032AE}"/>
              </a:ext>
            </a:extLst>
          </p:cNvPr>
          <p:cNvSpPr>
            <a:spLocks noGrp="1"/>
          </p:cNvSpPr>
          <p:nvPr/>
        </p:nvSpPr>
        <p:spPr>
          <a:xfrm>
            <a:off x="447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$5,000m initial income is not part of ΔY.</a:t>
            </a:r>
          </a:p>
        </p:txBody>
      </p:sp>
      <p:sp>
        <p:nvSpPr>
          <p:cNvPr id="13" name="Rectangle 12">
            <a:extLst>
              <a:ext uri="{FF2B5EF4-FFF2-40B4-BE49-F238E27FC236}">
                <a16:creationId xmlns:a16="http://schemas.microsoft.com/office/drawing/2014/main" id="{AEA9E4BE-E4F0-445C-8798-6CCCB8D98084}"/>
              </a:ext>
            </a:extLst>
          </p:cNvPr>
          <p:cNvSpPr>
            <a:spLocks noGrp="1"/>
          </p:cNvSpPr>
          <p:nvPr/>
        </p:nvSpPr>
        <p:spPr>
          <a:xfrm>
            <a:off x="828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3</a:t>
            </a:r>
          </a:p>
        </p:txBody>
      </p:sp>
      <p:sp>
        <p:nvSpPr>
          <p:cNvPr id="14" name="Rectangle 13">
            <a:extLst>
              <a:ext uri="{FF2B5EF4-FFF2-40B4-BE49-F238E27FC236}">
                <a16:creationId xmlns:a16="http://schemas.microsoft.com/office/drawing/2014/main" id="{F9ED7BCF-E06F-46D4-BC80-1D0AAD686FCF}"/>
              </a:ext>
            </a:extLst>
          </p:cNvPr>
          <p:cNvSpPr>
            <a:spLocks noGrp="1"/>
          </p:cNvSpPr>
          <p:nvPr/>
        </p:nvSpPr>
        <p:spPr>
          <a:xfrm>
            <a:off x="828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0.20 + 0.30 + 0.30 = 0.80</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0.80 = 1.25</a:t>
            </a:r>
          </a:p>
        </p:txBody>
      </p:sp>
      <p:cxnSp>
        <p:nvCxnSpPr>
          <p:cNvPr id="151" name="Straight Arrow Connector 120"/>
          <p:cNvCxnSpPr/>
          <p:nvPr/>
        </p:nvCxnSpPr>
        <p:spPr>
          <a:xfrm>
            <a:off x="8286750" y="4000500"/>
            <a:ext cx="3143250" cy="95"/>
          </a:xfrm>
          <a:prstGeom prst="straightConnector1">
            <a:avLst/>
          </a:prstGeom>
          <a:ln w="9525">
            <a:solidFill>
              <a:srgbClr val="B8BCC4"/>
            </a:solidFill>
            <a:prstDash val="solid"/>
          </a:ln>
        </p:spPr>
      </p:cxnSp>
      <p:sp>
        <p:nvSpPr>
          <p:cNvPr id="16" name="Rectangle 15">
            <a:extLst>
              <a:ext uri="{FF2B5EF4-FFF2-40B4-BE49-F238E27FC236}">
                <a16:creationId xmlns:a16="http://schemas.microsoft.com/office/drawing/2014/main" id="{45B901F1-E066-4126-BD98-20114100C9DE}"/>
              </a:ext>
            </a:extLst>
          </p:cNvPr>
          <p:cNvSpPr>
            <a:spLocks noGrp="1"/>
          </p:cNvSpPr>
          <p:nvPr/>
        </p:nvSpPr>
        <p:spPr>
          <a:xfrm>
            <a:off x="828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Add marginal leakages before inverting.</a:t>
            </a:r>
          </a:p>
        </p:txBody>
      </p:sp>
    </p:spTree>
    <p:extLst>
      <p:ext uri="{BB962C8B-B14F-4D97-AF65-F5344CB8AC3E}">
        <p14:creationId xmlns:p14="http://schemas.microsoft.com/office/powerpoint/2010/main" val="765859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15-title">
            <a:extLst>
              <a:ext uri="{FF2B5EF4-FFF2-40B4-BE49-F238E27FC236}">
                <a16:creationId xmlns:a16="http://schemas.microsoft.com/office/drawing/2014/main" id="{2CB795C1-8ADB-4B01-9761-E1095C89F6D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Exit ticket</a:t>
            </a:r>
          </a:p>
        </p:txBody>
      </p:sp>
      <p:sp>
        <p:nvSpPr>
          <p:cNvPr id="3" name="Rectangle 2">
            <a:extLst>
              <a:ext uri="{FF2B5EF4-FFF2-40B4-BE49-F238E27FC236}">
                <a16:creationId xmlns:a16="http://schemas.microsoft.com/office/drawing/2014/main" id="{1234C856-A521-4AFD-A245-726D1F92F33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9284279-11D0-4CAC-9210-E6A565FA8F68}"/>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15</a:t>
            </a:r>
          </a:p>
        </p:txBody>
      </p:sp>
      <p:sp>
        <p:nvSpPr>
          <p:cNvPr id="5" name="Rectangle 4">
            <a:extLst>
              <a:ext uri="{FF2B5EF4-FFF2-40B4-BE49-F238E27FC236}">
                <a16:creationId xmlns:a16="http://schemas.microsoft.com/office/drawing/2014/main" id="{B99ECCCB-9315-41D0-B1C2-DC2864969AD3}"/>
              </a:ext>
            </a:extLst>
          </p:cNvPr>
          <p:cNvSpPr>
            <a:spLocks noGrp="1"/>
          </p:cNvSpPr>
          <p:nvPr/>
        </p:nvSpPr>
        <p:spPr>
          <a:xfrm>
            <a:off x="857250" y="1809750"/>
            <a:ext cx="571500" cy="476250"/>
          </a:xfrm>
          <a:prstGeom prst="rect">
            <a:avLst/>
          </a:prstGeom>
          <a:noFill/>
          <a:ln w="0">
            <a:noFill/>
            <a:prstDash val="solid"/>
          </a:ln>
        </p:spPr>
        <p:txBody>
          <a:bodyPr anchor="t">
            <a:noAutofit/>
          </a:bodyPr>
          <a:lstStyle/>
          <a:p>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1</a:t>
            </a:r>
          </a:p>
        </p:txBody>
      </p:sp>
      <p:sp>
        <p:nvSpPr>
          <p:cNvPr id="6" name="Rectangle 5">
            <a:extLst>
              <a:ext uri="{FF2B5EF4-FFF2-40B4-BE49-F238E27FC236}">
                <a16:creationId xmlns:a16="http://schemas.microsoft.com/office/drawing/2014/main" id="{A6913887-CBF5-4869-8DC6-BAE414364D1E}"/>
              </a:ext>
            </a:extLst>
          </p:cNvPr>
          <p:cNvSpPr>
            <a:spLocks noGrp="1"/>
          </p:cNvSpPr>
          <p:nvPr/>
        </p:nvSpPr>
        <p:spPr>
          <a:xfrm>
            <a:off x="1714500" y="1809750"/>
            <a:ext cx="9048750" cy="809625"/>
          </a:xfrm>
          <a:prstGeom prst="rect">
            <a:avLst/>
          </a:prstGeom>
          <a:noFill/>
          <a:ln w="0">
            <a:noFill/>
            <a:prstDash val="solid"/>
          </a:ln>
        </p:spPr>
        <p:txBody>
          <a:bodyPr anchor="t">
            <a:noAutofit/>
          </a:bodyPr>
          <a:lstStyle/>
          <a:p>
            <a:pPr algn="l">
              <a:buNone/>
              <a:defRPr sz="2175" b="0" i="0">
                <a:solidFill>
                  <a:srgbClr val="000000"/>
                </a:solidFill>
                <a:latin typeface="Arial"/>
                <a:ea typeface="Arial"/>
                <a:cs typeface="Arial"/>
              </a:defRPr>
            </a:pPr>
            <a:r>
              <a:rPr sz="2175" b="0" i="0">
                <a:solidFill>
                  <a:srgbClr val="000000"/>
                </a:solidFill>
                <a:latin typeface="Arial"/>
                <a:ea typeface="Arial"/>
                <a:cs typeface="Arial"/>
              </a:rPr>
              <a:t>Define the multiplier in one precise sentence.</a:t>
            </a:r>
          </a:p>
        </p:txBody>
      </p:sp>
      <p:sp>
        <p:nvSpPr>
          <p:cNvPr id="8" name="Rectangle 7">
            <a:extLst>
              <a:ext uri="{FF2B5EF4-FFF2-40B4-BE49-F238E27FC236}">
                <a16:creationId xmlns:a16="http://schemas.microsoft.com/office/drawing/2014/main" id="{B7009BE8-ED95-4F24-8712-5C2F500C44E5}"/>
              </a:ext>
            </a:extLst>
          </p:cNvPr>
          <p:cNvSpPr>
            <a:spLocks noGrp="1"/>
          </p:cNvSpPr>
          <p:nvPr/>
        </p:nvSpPr>
        <p:spPr>
          <a:xfrm>
            <a:off x="857250" y="3095625"/>
            <a:ext cx="571500" cy="476250"/>
          </a:xfrm>
          <a:prstGeom prst="rect">
            <a:avLst/>
          </a:prstGeom>
          <a:noFill/>
          <a:ln w="0">
            <a:noFill/>
            <a:prstDash val="solid"/>
          </a:ln>
        </p:spPr>
        <p:txBody>
          <a:bodyPr anchor="t">
            <a:noAutofit/>
          </a:bodyPr>
          <a:lstStyle/>
          <a:p>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2</a:t>
            </a:r>
          </a:p>
        </p:txBody>
      </p:sp>
      <p:sp>
        <p:nvSpPr>
          <p:cNvPr id="9" name="Rectangle 8">
            <a:extLst>
              <a:ext uri="{FF2B5EF4-FFF2-40B4-BE49-F238E27FC236}">
                <a16:creationId xmlns:a16="http://schemas.microsoft.com/office/drawing/2014/main" id="{A13B2CF3-3395-489E-8075-3508F679ECD2}"/>
              </a:ext>
            </a:extLst>
          </p:cNvPr>
          <p:cNvSpPr>
            <a:spLocks noGrp="1"/>
          </p:cNvSpPr>
          <p:nvPr/>
        </p:nvSpPr>
        <p:spPr>
          <a:xfrm>
            <a:off x="1714500" y="3095625"/>
            <a:ext cx="9048750" cy="809625"/>
          </a:xfrm>
          <a:prstGeom prst="rect">
            <a:avLst/>
          </a:prstGeom>
          <a:noFill/>
          <a:ln w="0">
            <a:noFill/>
            <a:prstDash val="solid"/>
          </a:ln>
        </p:spPr>
        <p:txBody>
          <a:bodyPr anchor="t">
            <a:noAutofit/>
          </a:bodyPr>
          <a:lstStyle/>
          <a:p>
            <a:pPr algn="l">
              <a:buNone/>
              <a:defRPr sz="2175" b="0" i="0">
                <a:solidFill>
                  <a:srgbClr val="000000"/>
                </a:solidFill>
                <a:latin typeface="Arial"/>
                <a:ea typeface="Arial"/>
                <a:cs typeface="Arial"/>
              </a:defRPr>
            </a:pPr>
            <a:r>
              <a:rPr sz="2175" b="0" i="0" dirty="0">
                <a:solidFill>
                  <a:srgbClr val="000000"/>
                </a:solidFill>
                <a:latin typeface="Arial"/>
                <a:ea typeface="Arial"/>
                <a:cs typeface="Arial"/>
              </a:rPr>
              <a:t>Explain why larger leakages make the multiplier smaller.</a:t>
            </a:r>
          </a:p>
        </p:txBody>
      </p:sp>
      <p:sp>
        <p:nvSpPr>
          <p:cNvPr id="11" name="Rectangle 10">
            <a:extLst>
              <a:ext uri="{FF2B5EF4-FFF2-40B4-BE49-F238E27FC236}">
                <a16:creationId xmlns:a16="http://schemas.microsoft.com/office/drawing/2014/main" id="{C0B947A4-8CEB-455B-8F6E-957ADF74E90C}"/>
              </a:ext>
            </a:extLst>
          </p:cNvPr>
          <p:cNvSpPr>
            <a:spLocks noGrp="1"/>
          </p:cNvSpPr>
          <p:nvPr/>
        </p:nvSpPr>
        <p:spPr>
          <a:xfrm>
            <a:off x="857250" y="4381500"/>
            <a:ext cx="571500" cy="476250"/>
          </a:xfrm>
          <a:prstGeom prst="rect">
            <a:avLst/>
          </a:prstGeom>
          <a:noFill/>
          <a:ln w="0">
            <a:noFill/>
            <a:prstDash val="solid"/>
          </a:ln>
        </p:spPr>
        <p:txBody>
          <a:bodyPr anchor="t">
            <a:noAutofit/>
          </a:bodyPr>
          <a:lstStyle/>
          <a:p>
            <a:pPr algn="ctr">
              <a:buNone/>
              <a:defRPr sz="2700" b="1" i="0">
                <a:solidFill>
                  <a:srgbClr val="3D8DFF"/>
                </a:solidFill>
                <a:latin typeface="Arial"/>
                <a:ea typeface="Arial"/>
                <a:cs typeface="Arial"/>
              </a:defRPr>
            </a:pPr>
            <a:r>
              <a:rPr sz="2700" b="1" i="0">
                <a:solidFill>
                  <a:srgbClr val="3D8DFF"/>
                </a:solidFill>
                <a:latin typeface="Arial"/>
                <a:ea typeface="Arial"/>
                <a:cs typeface="Arial"/>
              </a:rPr>
              <a:t>3</a:t>
            </a:r>
          </a:p>
        </p:txBody>
      </p:sp>
      <p:sp>
        <p:nvSpPr>
          <p:cNvPr id="12" name="Rectangle 11">
            <a:extLst>
              <a:ext uri="{FF2B5EF4-FFF2-40B4-BE49-F238E27FC236}">
                <a16:creationId xmlns:a16="http://schemas.microsoft.com/office/drawing/2014/main" id="{FA8785F5-2287-4DFE-BEEB-272305FF8875}"/>
              </a:ext>
            </a:extLst>
          </p:cNvPr>
          <p:cNvSpPr>
            <a:spLocks noGrp="1"/>
          </p:cNvSpPr>
          <p:nvPr/>
        </p:nvSpPr>
        <p:spPr>
          <a:xfrm>
            <a:off x="1714500" y="4381500"/>
            <a:ext cx="9048750" cy="809625"/>
          </a:xfrm>
          <a:prstGeom prst="rect">
            <a:avLst/>
          </a:prstGeom>
          <a:noFill/>
          <a:ln w="0">
            <a:noFill/>
            <a:prstDash val="solid"/>
          </a:ln>
        </p:spPr>
        <p:txBody>
          <a:bodyPr anchor="t">
            <a:noAutofit/>
          </a:bodyPr>
          <a:lstStyle/>
          <a:p>
            <a:r>
              <a:rPr sz="2175" dirty="0">
                <a:solidFill>
                  <a:srgbClr val="000000"/>
                </a:solidFill>
                <a:latin typeface="Arial"/>
                <a:cs typeface="Arial"/>
              </a:rPr>
              <a:t>An open economy has MPS = 0.15, MPM = 0.20 and MRT = 0.15. Calculate k.</a:t>
            </a:r>
          </a:p>
        </p:txBody>
      </p:sp>
    </p:spTree>
    <p:extLst>
      <p:ext uri="{BB962C8B-B14F-4D97-AF65-F5344CB8AC3E}">
        <p14:creationId xmlns:p14="http://schemas.microsoft.com/office/powerpoint/2010/main" val="166048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5BD9DC-E7FC-4F11-A8B2-0354D70E032C}"/>
              </a:ext>
            </a:extLst>
          </p:cNvPr>
          <p:cNvSpPr>
            <a:spLocks noGrp="1"/>
          </p:cNvSpPr>
          <p:nvPr/>
        </p:nvSpPr>
        <p:spPr>
          <a:xfrm>
            <a:off x="571500" y="590550"/>
            <a:ext cx="4953000" cy="228600"/>
          </a:xfrm>
          <a:prstGeom prst="rect">
            <a:avLst/>
          </a:prstGeom>
          <a:noFill/>
          <a:ln w="0">
            <a:noFill/>
            <a:prstDash val="solid"/>
          </a:ln>
        </p:spPr>
        <p:txBody>
          <a:bodyPr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2</a:t>
            </a:r>
          </a:p>
        </p:txBody>
      </p:sp>
      <p:sp>
        <p:nvSpPr>
          <p:cNvPr id="2" name="Rectangle 1">
            <a:extLst>
              <a:ext uri="{FF2B5EF4-FFF2-40B4-BE49-F238E27FC236}">
                <a16:creationId xmlns:a16="http://schemas.microsoft.com/office/drawing/2014/main" id="{7D75FFEE-7122-4BC8-9B10-9D583698F0D2}"/>
              </a:ext>
            </a:extLst>
          </p:cNvPr>
          <p:cNvSpPr>
            <a:spLocks noGrp="1"/>
          </p:cNvSpPr>
          <p:nvPr/>
        </p:nvSpPr>
        <p:spPr>
          <a:xfrm>
            <a:off x="571500" y="1476374"/>
            <a:ext cx="4953000" cy="3038869"/>
          </a:xfrm>
          <a:prstGeom prst="rect">
            <a:avLst/>
          </a:prstGeom>
          <a:noFill/>
          <a:ln w="0">
            <a:noFill/>
            <a:prstDash val="solid"/>
          </a:ln>
        </p:spPr>
        <p:txBody>
          <a:bodyPr anchor="ctr">
            <a:noAutofit/>
          </a:bodyPr>
          <a:lstStyle/>
          <a:p>
            <a:pPr algn="l">
              <a:buNone/>
              <a:defRPr sz="5400" b="1" i="0">
                <a:solidFill>
                  <a:srgbClr val="000000"/>
                </a:solidFill>
                <a:latin typeface="Arial"/>
                <a:ea typeface="Arial"/>
                <a:cs typeface="Arial"/>
              </a:defRPr>
            </a:pPr>
            <a:r>
              <a:rPr sz="5400" b="1" i="0" dirty="0">
                <a:solidFill>
                  <a:srgbClr val="000000"/>
                </a:solidFill>
                <a:latin typeface="Arial"/>
                <a:ea typeface="Arial"/>
                <a:cs typeface="Arial"/>
              </a:rPr>
              <a:t>Calculations</a:t>
            </a:r>
          </a:p>
          <a:p>
            <a:pPr algn="l">
              <a:buNone/>
              <a:defRPr sz="5400" b="1" i="0">
                <a:solidFill>
                  <a:srgbClr val="000000"/>
                </a:solidFill>
                <a:latin typeface="Arial"/>
                <a:ea typeface="Arial"/>
                <a:cs typeface="Arial"/>
              </a:defRPr>
            </a:pPr>
            <a:r>
              <a:rPr sz="5400" b="1" i="0" dirty="0">
                <a:solidFill>
                  <a:srgbClr val="000000"/>
                </a:solidFill>
                <a:latin typeface="Arial"/>
                <a:ea typeface="Arial"/>
                <a:cs typeface="Arial"/>
              </a:rPr>
              <a:t>and national income</a:t>
            </a:r>
          </a:p>
        </p:txBody>
      </p:sp>
      <p:sp>
        <p:nvSpPr>
          <p:cNvPr id="6" name="Rectangle 5">
            <a:extLst>
              <a:ext uri="{FF2B5EF4-FFF2-40B4-BE49-F238E27FC236}">
                <a16:creationId xmlns:a16="http://schemas.microsoft.com/office/drawing/2014/main" id="{4224AAF0-AA13-4945-A57E-D7145A152C22}"/>
              </a:ext>
            </a:extLst>
          </p:cNvPr>
          <p:cNvSpPr>
            <a:spLocks noGrp="1"/>
          </p:cNvSpPr>
          <p:nvPr/>
        </p:nvSpPr>
        <p:spPr>
          <a:xfrm>
            <a:off x="6267450" y="400050"/>
            <a:ext cx="5353050" cy="5619750"/>
          </a:xfrm>
          <a:prstGeom prst="rect">
            <a:avLst/>
          </a:prstGeom>
          <a:solidFill>
            <a:srgbClr val="EAF5FB"/>
          </a:solidFill>
          <a:ln w="9525">
            <a:solidFill>
              <a:srgbClr val="B8BCC4"/>
            </a:solidFill>
            <a:prstDash val="solid"/>
          </a:ln>
        </p:spPr>
      </p:sp>
      <p:pic>
        <p:nvPicPr>
          <p:cNvPr id="56" name="Picture 45"/>
          <p:cNvPicPr>
            <a:picLocks noChangeAspect="1"/>
          </p:cNvPicPr>
          <p:nvPr/>
        </p:nvPicPr>
        <p:blipFill>
          <a:blip r:embed="rId3"/>
          <a:srcRect l="22069" r="22069"/>
          <a:stretch>
            <a:fillRect/>
          </a:stretch>
        </p:blipFill>
        <p:spPr>
          <a:xfrm>
            <a:off x="6267450" y="400050"/>
            <a:ext cx="5353050" cy="5619750"/>
          </a:xfrm>
          <a:prstGeom prst="rect">
            <a:avLst/>
          </a:prstGeom>
        </p:spPr>
      </p:pic>
      <p:sp>
        <p:nvSpPr>
          <p:cNvPr id="8" name="Rectangle 7">
            <a:extLst>
              <a:ext uri="{FF2B5EF4-FFF2-40B4-BE49-F238E27FC236}">
                <a16:creationId xmlns:a16="http://schemas.microsoft.com/office/drawing/2014/main" id="{4832DD0D-6580-409E-A3FF-839BEE15B883}"/>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9" name="Rectangle 8">
            <a:extLst>
              <a:ext uri="{FF2B5EF4-FFF2-40B4-BE49-F238E27FC236}">
                <a16:creationId xmlns:a16="http://schemas.microsoft.com/office/drawing/2014/main" id="{F1A8CAEA-8BE8-41F5-AE7B-B15DE03FCA2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16</a:t>
            </a:r>
          </a:p>
        </p:txBody>
      </p:sp>
    </p:spTree>
    <p:extLst>
      <p:ext uri="{BB962C8B-B14F-4D97-AF65-F5344CB8AC3E}">
        <p14:creationId xmlns:p14="http://schemas.microsoft.com/office/powerpoint/2010/main" val="1912428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17-title">
            <a:extLst>
              <a:ext uri="{FF2B5EF4-FFF2-40B4-BE49-F238E27FC236}">
                <a16:creationId xmlns:a16="http://schemas.microsoft.com/office/drawing/2014/main" id="{1F5E8E51-9152-4D25-AE91-80C54A243B76}"/>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buNone/>
              <a:defRPr sz="3600" b="1" i="0">
                <a:solidFill>
                  <a:srgbClr val="000000"/>
                </a:solidFill>
                <a:latin typeface="Arial"/>
                <a:ea typeface="Arial"/>
                <a:cs typeface="Arial"/>
              </a:defRPr>
            </a:pPr>
            <a:r>
              <a:rPr lang="en-US" altLang="zh-CN" sz="3600" b="1" i="0" dirty="0">
                <a:solidFill>
                  <a:srgbClr val="000000"/>
                </a:solidFill>
                <a:latin typeface="Arial"/>
                <a:ea typeface="Arial"/>
                <a:cs typeface="Arial"/>
              </a:rPr>
              <a:t>Recall from </a:t>
            </a:r>
            <a:r>
              <a:rPr lang="en-US" altLang="zh-CN" sz="3600" b="1" dirty="0">
                <a:solidFill>
                  <a:srgbClr val="000000"/>
                </a:solidFill>
                <a:latin typeface="Arial"/>
                <a:ea typeface="Arial"/>
                <a:cs typeface="Arial"/>
              </a:rPr>
              <a:t>l</a:t>
            </a:r>
            <a:r>
              <a:rPr sz="3600" b="1" i="0" dirty="0">
                <a:solidFill>
                  <a:srgbClr val="000000"/>
                </a:solidFill>
                <a:latin typeface="Arial"/>
                <a:ea typeface="Arial"/>
                <a:cs typeface="Arial"/>
              </a:rPr>
              <a:t>ast lesson</a:t>
            </a:r>
          </a:p>
        </p:txBody>
      </p:sp>
      <p:sp>
        <p:nvSpPr>
          <p:cNvPr id="3" name="Rectangle 2">
            <a:extLst>
              <a:ext uri="{FF2B5EF4-FFF2-40B4-BE49-F238E27FC236}">
                <a16:creationId xmlns:a16="http://schemas.microsoft.com/office/drawing/2014/main" id="{6ECB88C5-5C0A-4DCB-B406-D9E595B3AE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1911F5CE-1108-427A-A036-71CB087F303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17</a:t>
            </a:r>
          </a:p>
        </p:txBody>
      </p:sp>
      <p:sp>
        <p:nvSpPr>
          <p:cNvPr id="5" name="Rectangle 4">
            <a:extLst>
              <a:ext uri="{FF2B5EF4-FFF2-40B4-BE49-F238E27FC236}">
                <a16:creationId xmlns:a16="http://schemas.microsoft.com/office/drawing/2014/main" id="{1F5D9A02-B402-4038-B4D0-A3450121F994}"/>
              </a:ext>
            </a:extLst>
          </p:cNvPr>
          <p:cNvSpPr>
            <a:spLocks noGrp="1"/>
          </p:cNvSpPr>
          <p:nvPr/>
        </p:nvSpPr>
        <p:spPr>
          <a:xfrm>
            <a:off x="666750" y="1666875"/>
            <a:ext cx="5143500" cy="371475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A4C4D33E-3B06-4CC3-9505-EC155B259C47}"/>
              </a:ext>
            </a:extLst>
          </p:cNvPr>
          <p:cNvSpPr>
            <a:spLocks noGrp="1"/>
          </p:cNvSpPr>
          <p:nvPr/>
        </p:nvSpPr>
        <p:spPr>
          <a:xfrm>
            <a:off x="1047750" y="2047875"/>
            <a:ext cx="4381500" cy="228600"/>
          </a:xfrm>
          <a:prstGeom prst="rect">
            <a:avLst/>
          </a:prstGeom>
          <a:noFill/>
          <a:ln w="0">
            <a:noFill/>
            <a:prstDash val="solid"/>
          </a:ln>
        </p:spPr>
        <p:txBody>
          <a:bodyPr anchor="t">
            <a:noAutofit/>
          </a:bodyPr>
          <a:lstStyle/>
          <a:p>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RECALL</a:t>
            </a:r>
          </a:p>
        </p:txBody>
      </p:sp>
      <p:sp>
        <p:nvSpPr>
          <p:cNvPr id="7" name="Rectangle 6">
            <a:extLst>
              <a:ext uri="{FF2B5EF4-FFF2-40B4-BE49-F238E27FC236}">
                <a16:creationId xmlns:a16="http://schemas.microsoft.com/office/drawing/2014/main" id="{33620425-9C0E-45ED-8C26-DC650D3A0C0A}"/>
              </a:ext>
            </a:extLst>
          </p:cNvPr>
          <p:cNvSpPr>
            <a:spLocks noGrp="1"/>
          </p:cNvSpPr>
          <p:nvPr/>
        </p:nvSpPr>
        <p:spPr>
          <a:xfrm>
            <a:off x="1047750" y="2571750"/>
            <a:ext cx="4286250" cy="2286000"/>
          </a:xfrm>
          <a:prstGeom prst="rect">
            <a:avLst/>
          </a:prstGeom>
          <a:noFill/>
          <a:ln w="0">
            <a:noFill/>
            <a:prstDash val="solid"/>
          </a:ln>
        </p:spPr>
        <p:txBody>
          <a:bodyPr anchor="t">
            <a:noAutofit/>
          </a:bodyPr>
          <a:lstStyle/>
          <a:p>
            <a:pPr algn="l">
              <a:spcAft>
                <a:spcPts val="600"/>
              </a:spcAft>
              <a:buNone/>
              <a:defRPr sz="1950" b="0" i="0">
                <a:solidFill>
                  <a:srgbClr val="000000"/>
                </a:solidFill>
                <a:latin typeface="Arial"/>
                <a:ea typeface="Arial"/>
                <a:cs typeface="Arial"/>
              </a:defRPr>
            </a:pPr>
            <a:r>
              <a:rPr sz="2000" b="0" i="0" dirty="0">
                <a:solidFill>
                  <a:srgbClr val="000000"/>
                </a:solidFill>
                <a:latin typeface="Arial"/>
                <a:ea typeface="Arial"/>
                <a:cs typeface="Arial"/>
              </a:rPr>
              <a:t>• Define k.</a:t>
            </a:r>
          </a:p>
          <a:p>
            <a:pPr algn="l">
              <a:spcAft>
                <a:spcPts val="600"/>
              </a:spcAft>
              <a:buNone/>
              <a:defRPr sz="1950" b="0" i="0">
                <a:solidFill>
                  <a:srgbClr val="000000"/>
                </a:solidFill>
                <a:latin typeface="Arial"/>
                <a:ea typeface="Arial"/>
                <a:cs typeface="Arial"/>
              </a:defRPr>
            </a:pPr>
            <a:r>
              <a:rPr sz="2000" b="0" i="0" dirty="0">
                <a:solidFill>
                  <a:srgbClr val="000000"/>
                </a:solidFill>
                <a:latin typeface="Arial"/>
                <a:ea typeface="Arial"/>
                <a:cs typeface="Arial"/>
              </a:rPr>
              <a:t>• Write the general MPW formula.</a:t>
            </a:r>
          </a:p>
          <a:p>
            <a:pPr algn="l">
              <a:spcAft>
                <a:spcPts val="600"/>
              </a:spcAft>
              <a:buNone/>
              <a:defRPr sz="1950" b="0" i="0">
                <a:solidFill>
                  <a:srgbClr val="000000"/>
                </a:solidFill>
                <a:latin typeface="Arial"/>
                <a:ea typeface="Arial"/>
                <a:cs typeface="Arial"/>
              </a:defRPr>
            </a:pPr>
            <a:r>
              <a:rPr sz="2000" b="0" i="0" dirty="0">
                <a:solidFill>
                  <a:srgbClr val="000000"/>
                </a:solidFill>
                <a:latin typeface="Arial"/>
                <a:ea typeface="Arial"/>
                <a:cs typeface="Arial"/>
              </a:rPr>
              <a:t>• Name the three leakages in an open economy with government.</a:t>
            </a:r>
          </a:p>
          <a:p>
            <a:pPr algn="l">
              <a:spcAft>
                <a:spcPts val="600"/>
              </a:spcAft>
              <a:buNone/>
              <a:defRPr sz="1950" b="0" i="0">
                <a:solidFill>
                  <a:srgbClr val="000000"/>
                </a:solidFill>
                <a:latin typeface="Arial"/>
                <a:ea typeface="Arial"/>
                <a:cs typeface="Arial"/>
              </a:defRPr>
            </a:pPr>
            <a:r>
              <a:rPr sz="2000" b="0" i="0" dirty="0">
                <a:solidFill>
                  <a:srgbClr val="000000"/>
                </a:solidFill>
                <a:latin typeface="Arial"/>
                <a:ea typeface="Arial"/>
                <a:cs typeface="Arial"/>
              </a:rPr>
              <a:t>• State the relationship between leakages and k.</a:t>
            </a:r>
          </a:p>
        </p:txBody>
      </p:sp>
      <p:sp>
        <p:nvSpPr>
          <p:cNvPr id="8" name="Rectangle 7">
            <a:extLst>
              <a:ext uri="{FF2B5EF4-FFF2-40B4-BE49-F238E27FC236}">
                <a16:creationId xmlns:a16="http://schemas.microsoft.com/office/drawing/2014/main" id="{02C52675-89C0-48A7-B8E3-6A52BA483907}"/>
              </a:ext>
            </a:extLst>
          </p:cNvPr>
          <p:cNvSpPr>
            <a:spLocks noGrp="1"/>
          </p:cNvSpPr>
          <p:nvPr/>
        </p:nvSpPr>
        <p:spPr>
          <a:xfrm>
            <a:off x="6381750" y="1666875"/>
            <a:ext cx="5143500" cy="3714750"/>
          </a:xfrm>
          <a:prstGeom prst="rect">
            <a:avLst/>
          </a:prstGeom>
          <a:solidFill>
            <a:srgbClr val="EAF5FB"/>
          </a:solidFill>
          <a:ln w="9525">
            <a:solidFill>
              <a:srgbClr val="3D8DFF"/>
            </a:solidFill>
            <a:prstDash val="solid"/>
          </a:ln>
        </p:spPr>
      </p:sp>
      <p:sp>
        <p:nvSpPr>
          <p:cNvPr id="9" name="Rectangle 8">
            <a:extLst>
              <a:ext uri="{FF2B5EF4-FFF2-40B4-BE49-F238E27FC236}">
                <a16:creationId xmlns:a16="http://schemas.microsoft.com/office/drawing/2014/main" id="{62D4504D-0702-46C3-82B4-7118C0DDF17B}"/>
              </a:ext>
            </a:extLst>
          </p:cNvPr>
          <p:cNvSpPr>
            <a:spLocks noGrp="1"/>
          </p:cNvSpPr>
          <p:nvPr/>
        </p:nvSpPr>
        <p:spPr>
          <a:xfrm>
            <a:off x="6762750" y="2047875"/>
            <a:ext cx="4381500" cy="228600"/>
          </a:xfrm>
          <a:prstGeom prst="rect">
            <a:avLst/>
          </a:prstGeom>
          <a:noFill/>
          <a:ln w="0">
            <a:noFill/>
            <a:prstDash val="solid"/>
          </a:ln>
        </p:spPr>
        <p:txBody>
          <a:bodyPr anchor="t">
            <a:noAutofit/>
          </a:bodyPr>
          <a:lstStyle/>
          <a:p>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10" name="Rectangle 9">
            <a:extLst>
              <a:ext uri="{FF2B5EF4-FFF2-40B4-BE49-F238E27FC236}">
                <a16:creationId xmlns:a16="http://schemas.microsoft.com/office/drawing/2014/main" id="{A8D39BC7-19F0-4432-BF49-E11168B68A24}"/>
              </a:ext>
            </a:extLst>
          </p:cNvPr>
          <p:cNvSpPr>
            <a:spLocks noGrp="1"/>
          </p:cNvSpPr>
          <p:nvPr/>
        </p:nvSpPr>
        <p:spPr>
          <a:xfrm>
            <a:off x="6762750" y="2667000"/>
            <a:ext cx="4381500" cy="2095500"/>
          </a:xfrm>
          <a:prstGeom prst="rect">
            <a:avLst/>
          </a:prstGeom>
          <a:noFill/>
          <a:ln w="0">
            <a:noFill/>
            <a:prstDash val="solid"/>
          </a:ln>
        </p:spPr>
        <p:txBody>
          <a:bodyPr anchor="t">
            <a:noAutofit/>
          </a:bodyPr>
          <a:lstStyle/>
          <a:p>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MPS = 0.10</a:t>
            </a:r>
          </a:p>
          <a:p>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MPM = 0.20</a:t>
            </a:r>
          </a:p>
          <a:p>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MRT = 0.20</a:t>
            </a:r>
          </a:p>
          <a:p>
            <a:pPr>
              <a:spcAft>
                <a:spcPts val="600"/>
              </a:spcAft>
            </a:pPr>
            <a:endParaRPr sz="2000" b="1" i="0">
              <a:solidFill>
                <a:srgbClr val="000000"/>
              </a:solidFill>
              <a:latin typeface="Arial"/>
              <a:ea typeface="Arial"/>
              <a:cs typeface="Arial"/>
            </a:endParaRPr>
          </a:p>
          <a:p>
            <a:pPr algn="ctr">
              <a:spcAft>
                <a:spcPts val="600"/>
              </a:spcAft>
              <a:buNone/>
              <a:defRPr sz="2400" b="1" i="0">
                <a:solidFill>
                  <a:srgbClr val="000000"/>
                </a:solidFill>
                <a:latin typeface="Arial"/>
                <a:ea typeface="Arial"/>
                <a:cs typeface="Arial"/>
              </a:defRPr>
            </a:pPr>
            <a:r>
              <a:rPr sz="2000" b="1" i="0">
                <a:solidFill>
                  <a:srgbClr val="000000"/>
                </a:solidFill>
                <a:latin typeface="Arial"/>
                <a:ea typeface="Arial"/>
                <a:cs typeface="Arial"/>
              </a:rPr>
              <a:t>Find MPW and k.</a:t>
            </a:r>
          </a:p>
        </p:txBody>
      </p:sp>
    </p:spTree>
    <p:extLst>
      <p:ext uri="{BB962C8B-B14F-4D97-AF65-F5344CB8AC3E}">
        <p14:creationId xmlns:p14="http://schemas.microsoft.com/office/powerpoint/2010/main" val="7282326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18-title">
            <a:extLst>
              <a:ext uri="{FF2B5EF4-FFF2-40B4-BE49-F238E27FC236}">
                <a16:creationId xmlns:a16="http://schemas.microsoft.com/office/drawing/2014/main" id="{B33BB813-A44A-46BF-888B-984FDC187F5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a:solidFill>
                  <a:srgbClr val="000000"/>
                </a:solidFill>
                <a:latin typeface="Arial"/>
                <a:ea typeface="Arial"/>
                <a:cs typeface="Arial"/>
              </a:rPr>
              <a:t>F</a:t>
            </a:r>
            <a:r>
              <a:rPr sz="3600" b="1" i="0">
                <a:solidFill>
                  <a:srgbClr val="000000"/>
                </a:solidFill>
                <a:latin typeface="Arial"/>
                <a:ea typeface="Arial"/>
                <a:cs typeface="Arial"/>
              </a:rPr>
              <a:t>ind marginal propensities</a:t>
            </a:r>
          </a:p>
        </p:txBody>
      </p:sp>
      <p:sp>
        <p:nvSpPr>
          <p:cNvPr id="3" name="Rectangle 2">
            <a:extLst>
              <a:ext uri="{FF2B5EF4-FFF2-40B4-BE49-F238E27FC236}">
                <a16:creationId xmlns:a16="http://schemas.microsoft.com/office/drawing/2014/main" id="{F7EAE205-C23C-4129-AC41-CAB1FC01CF8E}"/>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B32C2DC5-6631-4FED-BA1D-509EF14D747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18</a:t>
            </a:r>
          </a:p>
        </p:txBody>
      </p:sp>
      <p:graphicFrame>
        <p:nvGraphicFramePr>
          <p:cNvPr id="37" name="Table 30"/>
          <p:cNvGraphicFramePr/>
          <p:nvPr/>
        </p:nvGraphicFramePr>
        <p:xfrm>
          <a:off x="666750" y="2047875"/>
          <a:ext cx="6191250" cy="2190750"/>
        </p:xfrm>
        <a:graphic>
          <a:graphicData uri="http://schemas.openxmlformats.org/drawingml/2006/table">
            <a:tbl>
              <a:tblPr/>
              <a:tblGrid>
                <a:gridCol w="1238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tblGrid>
              <a:tr h="730250">
                <a:tc>
                  <a:txBody>
                    <a:bodyPr/>
                    <a:lstStyle/>
                    <a:p>
                      <a:pPr algn="ctr">
                        <a:buNone/>
                      </a:pPr>
                      <a:r>
                        <a:rPr sz="1650" b="1">
                          <a:solidFill>
                            <a:srgbClr val="FFFFFF"/>
                          </a:solidFill>
                          <a:latin typeface="Arial"/>
                          <a:ea typeface="Arial"/>
                          <a:cs typeface="Arial"/>
                        </a:rPr>
                        <a:t>Y</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C (domestic)</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S</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M</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T</a:t>
                      </a:r>
                    </a:p>
                  </a:txBody>
                  <a:tcPr marL="76200" marR="76200" marT="57150" marB="57150" anchor="ctr">
                    <a:solidFill>
                      <a:srgbClr val="000000"/>
                    </a:solidFill>
                  </a:tcPr>
                </a:tc>
                <a:extLst>
                  <a:ext uri="{0D108BD9-81ED-4DB2-BD59-A6C34878D82A}">
                    <a16:rowId xmlns:a16="http://schemas.microsoft.com/office/drawing/2014/main" val="10000"/>
                  </a:ext>
                </a:extLst>
              </a:tr>
              <a:tr h="730250">
                <a:tc>
                  <a:txBody>
                    <a:bodyPr/>
                    <a:lstStyle/>
                    <a:p>
                      <a:pPr algn="ctr">
                        <a:buNone/>
                      </a:pPr>
                      <a:r>
                        <a:rPr sz="2100">
                          <a:solidFill>
                            <a:srgbClr val="000000"/>
                          </a:solidFill>
                          <a:latin typeface="Arial"/>
                          <a:ea typeface="Arial"/>
                          <a:cs typeface="Arial"/>
                        </a:rPr>
                        <a:t>1,000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extLst>
                  <a:ext uri="{0D108BD9-81ED-4DB2-BD59-A6C34878D82A}">
                    <a16:rowId xmlns:a16="http://schemas.microsoft.com/office/drawing/2014/main" val="10001"/>
                  </a:ext>
                </a:extLst>
              </a:tr>
              <a:tr h="730250">
                <a:tc>
                  <a:txBody>
                    <a:bodyPr/>
                    <a:lstStyle/>
                    <a:p>
                      <a:pPr algn="ctr">
                        <a:buNone/>
                      </a:pPr>
                      <a:r>
                        <a:rPr sz="2100">
                          <a:solidFill>
                            <a:srgbClr val="000000"/>
                          </a:solidFill>
                          <a:latin typeface="Arial"/>
                          <a:ea typeface="Arial"/>
                          <a:cs typeface="Arial"/>
                        </a:rPr>
                        <a:t>1,200</a:t>
                      </a:r>
                    </a:p>
                  </a:txBody>
                  <a:tcPr marL="76200" marR="76200" marT="47625" marB="47625" anchor="ctr"/>
                </a:tc>
                <a:tc>
                  <a:txBody>
                    <a:bodyPr/>
                    <a:lstStyle/>
                    <a:p>
                      <a:pPr algn="ctr">
                        <a:buNone/>
                      </a:pPr>
                      <a:r>
                        <a:rPr sz="2100">
                          <a:solidFill>
                            <a:srgbClr val="000000"/>
                          </a:solidFill>
                          <a:latin typeface="Arial"/>
                          <a:ea typeface="Arial"/>
                          <a:cs typeface="Arial"/>
                        </a:rPr>
                        <a:t>940</a:t>
                      </a:r>
                    </a:p>
                  </a:txBody>
                  <a:tcPr marL="76200" marR="76200" marT="47625" marB="47625" anchor="ctr"/>
                </a:tc>
                <a:tc>
                  <a:txBody>
                    <a:bodyPr/>
                    <a:lstStyle/>
                    <a:p>
                      <a:pPr algn="ctr">
                        <a:buNone/>
                      </a:pPr>
                      <a:r>
                        <a:rPr sz="2100">
                          <a:solidFill>
                            <a:srgbClr val="000000"/>
                          </a:solidFill>
                          <a:latin typeface="Arial"/>
                          <a:ea typeface="Arial"/>
                          <a:cs typeface="Arial"/>
                        </a:rPr>
                        <a:t>120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0445370-7CF6-491B-A773-1AC9823DF61E}"/>
              </a:ext>
            </a:extLst>
          </p:cNvPr>
          <p:cNvSpPr>
            <a:spLocks noGrp="1"/>
          </p:cNvSpPr>
          <p:nvPr/>
        </p:nvSpPr>
        <p:spPr>
          <a:xfrm>
            <a:off x="7524750" y="1952625"/>
            <a:ext cx="3714750" cy="228600"/>
          </a:xfrm>
          <a:prstGeom prst="rect">
            <a:avLst/>
          </a:prstGeom>
          <a:noFill/>
          <a:ln w="0">
            <a:noFill/>
            <a:prstDash val="solid"/>
          </a:ln>
        </p:spPr>
        <p:txBody>
          <a:bodyPr anchor="t">
            <a:noAutofit/>
          </a:bodyPr>
          <a:lstStyle/>
          <a:p>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7" name="Rectangle 6">
            <a:extLst>
              <a:ext uri="{FF2B5EF4-FFF2-40B4-BE49-F238E27FC236}">
                <a16:creationId xmlns:a16="http://schemas.microsoft.com/office/drawing/2014/main" id="{04A18C53-13A6-47D2-B8F3-A4FEAA68BAAF}"/>
              </a:ext>
            </a:extLst>
          </p:cNvPr>
          <p:cNvSpPr>
            <a:spLocks noGrp="1"/>
          </p:cNvSpPr>
          <p:nvPr/>
        </p:nvSpPr>
        <p:spPr>
          <a:xfrm>
            <a:off x="7524750" y="2381250"/>
            <a:ext cx="3714750" cy="2381250"/>
          </a:xfrm>
          <a:prstGeom prst="rect">
            <a:avLst/>
          </a:prstGeom>
          <a:noFill/>
          <a:ln w="0">
            <a:noFill/>
            <a:prstDash val="solid"/>
          </a:ln>
        </p:spPr>
        <p:txBody>
          <a:bodyPr anchor="t">
            <a:noAutofit/>
          </a:bodyPr>
          <a:lstStyle/>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1  MPC</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2  MPS</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3  MPM</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4  MRT</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5  MPW and k</a:t>
            </a:r>
          </a:p>
        </p:txBody>
      </p:sp>
    </p:spTree>
    <p:extLst>
      <p:ext uri="{BB962C8B-B14F-4D97-AF65-F5344CB8AC3E}">
        <p14:creationId xmlns:p14="http://schemas.microsoft.com/office/powerpoint/2010/main" val="1524356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9-title">
            <a:extLst>
              <a:ext uri="{FF2B5EF4-FFF2-40B4-BE49-F238E27FC236}">
                <a16:creationId xmlns:a16="http://schemas.microsoft.com/office/drawing/2014/main" id="{B12ED84C-922D-458A-AC1D-7B3E536BD892}"/>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Solution</a:t>
            </a:r>
          </a:p>
        </p:txBody>
      </p:sp>
      <p:sp>
        <p:nvSpPr>
          <p:cNvPr id="3" name="Rectangle 2">
            <a:extLst>
              <a:ext uri="{FF2B5EF4-FFF2-40B4-BE49-F238E27FC236}">
                <a16:creationId xmlns:a16="http://schemas.microsoft.com/office/drawing/2014/main" id="{D532D152-8BA7-47BD-86F9-19B2107BD9B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EA22E506-703B-4936-9A98-A557BD49901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19</a:t>
            </a:r>
          </a:p>
        </p:txBody>
      </p:sp>
      <p:sp>
        <p:nvSpPr>
          <p:cNvPr id="5" name="Rectangle 4">
            <a:extLst>
              <a:ext uri="{FF2B5EF4-FFF2-40B4-BE49-F238E27FC236}">
                <a16:creationId xmlns:a16="http://schemas.microsoft.com/office/drawing/2014/main" id="{905F4EAD-0903-497E-B288-D136963039CE}"/>
              </a:ext>
            </a:extLst>
          </p:cNvPr>
          <p:cNvSpPr>
            <a:spLocks noGrp="1"/>
          </p:cNvSpPr>
          <p:nvPr/>
        </p:nvSpPr>
        <p:spPr>
          <a:xfrm>
            <a:off x="666750" y="1619250"/>
            <a:ext cx="5143500" cy="523875"/>
          </a:xfrm>
          <a:prstGeom prst="rect">
            <a:avLst/>
          </a:prstGeom>
          <a:noFill/>
          <a:ln w="0">
            <a:noFill/>
            <a:prstDash val="solid"/>
          </a:ln>
        </p:spPr>
        <p:txBody>
          <a:bodyPr anchor="t">
            <a:noAutofit/>
          </a:bodyPr>
          <a:lstStyle/>
          <a:p>
            <a:pPr algn="l">
              <a:buNone/>
              <a:defRPr sz="2550" b="1" i="0">
                <a:solidFill>
                  <a:srgbClr val="3D8DFF"/>
                </a:solidFill>
                <a:latin typeface="Arial"/>
                <a:ea typeface="Arial"/>
                <a:cs typeface="Arial"/>
              </a:defRPr>
            </a:pPr>
            <a:r>
              <a:rPr sz="2550" b="1" i="0">
                <a:solidFill>
                  <a:srgbClr val="3D8DFF"/>
                </a:solidFill>
                <a:latin typeface="Arial"/>
                <a:ea typeface="Arial"/>
                <a:cs typeface="Arial"/>
              </a:rPr>
              <a:t>ΔY = 1,200 - 1,000 = 200</a:t>
            </a:r>
          </a:p>
        </p:txBody>
      </p:sp>
      <p:graphicFrame>
        <p:nvGraphicFramePr>
          <p:cNvPr id="37" name="Table 30"/>
          <p:cNvGraphicFramePr/>
          <p:nvPr/>
        </p:nvGraphicFramePr>
        <p:xfrm>
          <a:off x="666750" y="2381250"/>
          <a:ext cx="10858500" cy="2857500"/>
        </p:xfrm>
        <a:graphic>
          <a:graphicData uri="http://schemas.openxmlformats.org/drawingml/2006/table">
            <a:tbl>
              <a:tblPr/>
              <a:tblGrid>
                <a:gridCol w="1905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571500">
                <a:tc>
                  <a:txBody>
                    <a:bodyPr/>
                    <a:lstStyle/>
                    <a:p>
                      <a:pPr algn="ctr">
                        <a:buNone/>
                      </a:pPr>
                      <a:r>
                        <a:rPr sz="1500" b="1">
                          <a:solidFill>
                            <a:srgbClr val="FFFFFF"/>
                          </a:solidFill>
                          <a:latin typeface="Arial"/>
                          <a:ea typeface="Arial"/>
                          <a:cs typeface="Arial"/>
                        </a:rPr>
                        <a:t>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Change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Calculation</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Value</a:t>
                      </a:r>
                    </a:p>
                  </a:txBody>
                  <a:tcPr marL="76200" marR="76200" marT="57150" marB="57150" anchor="ctr">
                    <a:solidFill>
                      <a:srgbClr val="000000"/>
                    </a:solidFill>
                  </a:tcPr>
                </a:tc>
                <a:extLst>
                  <a:ext uri="{0D108BD9-81ED-4DB2-BD59-A6C34878D82A}">
                    <a16:rowId xmlns:a16="http://schemas.microsoft.com/office/drawing/2014/main" val="10000"/>
                  </a:ext>
                </a:extLst>
              </a:tr>
              <a:tr h="571500">
                <a:tc>
                  <a:txBody>
                    <a:bodyPr/>
                    <a:lstStyle/>
                    <a:p>
                      <a:pPr algn="ctr">
                        <a:buNone/>
                      </a:pPr>
                      <a:r>
                        <a:rPr sz="1650">
                          <a:solidFill>
                            <a:srgbClr val="000000"/>
                          </a:solidFill>
                          <a:latin typeface="Arial"/>
                          <a:ea typeface="Arial"/>
                          <a:cs typeface="Arial"/>
                        </a:rPr>
                        <a:t>MPC</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940 - 800 = 140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0.70</a:t>
                      </a:r>
                    </a:p>
                  </a:txBody>
                  <a:tcPr marL="76200" marR="76200" marT="47625" marB="47625" anchor="ctr">
                    <a:solidFill>
                      <a:srgbClr val="F7F7F5"/>
                    </a:solidFill>
                  </a:tcPr>
                </a:tc>
                <a:extLst>
                  <a:ext uri="{0D108BD9-81ED-4DB2-BD59-A6C34878D82A}">
                    <a16:rowId xmlns:a16="http://schemas.microsoft.com/office/drawing/2014/main" val="10001"/>
                  </a:ext>
                </a:extLst>
              </a:tr>
              <a:tr h="571500">
                <a:tc>
                  <a:txBody>
                    <a:bodyPr/>
                    <a:lstStyle/>
                    <a:p>
                      <a:pPr algn="ctr">
                        <a:buNone/>
                      </a:pPr>
                      <a:r>
                        <a:rPr sz="1650">
                          <a:solidFill>
                            <a:srgbClr val="000000"/>
                          </a:solidFill>
                          <a:latin typeface="Arial"/>
                          <a:ea typeface="Arial"/>
                          <a:cs typeface="Arial"/>
                        </a:rPr>
                        <a:t>MPS</a:t>
                      </a:r>
                    </a:p>
                  </a:txBody>
                  <a:tcPr marL="76200" marR="76200" marT="47625" marB="47625" anchor="ctr"/>
                </a:tc>
                <a:tc>
                  <a:txBody>
                    <a:bodyPr/>
                    <a:lstStyle/>
                    <a:p>
                      <a:pPr algn="ctr">
                        <a:buNone/>
                      </a:pPr>
                      <a:r>
                        <a:rPr sz="1650">
                          <a:solidFill>
                            <a:srgbClr val="000000"/>
                          </a:solidFill>
                          <a:latin typeface="Arial"/>
                          <a:ea typeface="Arial"/>
                          <a:cs typeface="Arial"/>
                        </a:rPr>
                        <a:t>120 - 100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extLst>
                  <a:ext uri="{0D108BD9-81ED-4DB2-BD59-A6C34878D82A}">
                    <a16:rowId xmlns:a16="http://schemas.microsoft.com/office/drawing/2014/main" val="10002"/>
                  </a:ext>
                </a:extLst>
              </a:tr>
              <a:tr h="571500">
                <a:tc>
                  <a:txBody>
                    <a:bodyPr/>
                    <a:lstStyle/>
                    <a:p>
                      <a:pPr algn="ctr">
                        <a:buNone/>
                      </a:pPr>
                      <a:r>
                        <a:rPr sz="1650">
                          <a:solidFill>
                            <a:srgbClr val="000000"/>
                          </a:solidFill>
                          <a:latin typeface="Arial"/>
                          <a:ea typeface="Arial"/>
                          <a:cs typeface="Arial"/>
                        </a:rPr>
                        <a:t>MPM</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70 - 50 = 20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0.10</a:t>
                      </a:r>
                    </a:p>
                  </a:txBody>
                  <a:tcPr marL="76200" marR="76200" marT="47625" marB="47625" anchor="ctr">
                    <a:solidFill>
                      <a:srgbClr val="F7F7F5"/>
                    </a:solidFill>
                  </a:tcPr>
                </a:tc>
                <a:extLst>
                  <a:ext uri="{0D108BD9-81ED-4DB2-BD59-A6C34878D82A}">
                    <a16:rowId xmlns:a16="http://schemas.microsoft.com/office/drawing/2014/main" val="10003"/>
                  </a:ext>
                </a:extLst>
              </a:tr>
              <a:tr h="571500">
                <a:tc>
                  <a:txBody>
                    <a:bodyPr/>
                    <a:lstStyle/>
                    <a:p>
                      <a:pPr algn="ctr">
                        <a:buNone/>
                      </a:pPr>
                      <a:r>
                        <a:rPr sz="1650">
                          <a:solidFill>
                            <a:srgbClr val="000000"/>
                          </a:solidFill>
                          <a:latin typeface="Arial"/>
                          <a:ea typeface="Arial"/>
                          <a:cs typeface="Arial"/>
                        </a:rPr>
                        <a:t>MRT</a:t>
                      </a:r>
                    </a:p>
                  </a:txBody>
                  <a:tcPr marL="76200" marR="76200" marT="47625" marB="47625" anchor="ctr"/>
                </a:tc>
                <a:tc>
                  <a:txBody>
                    <a:bodyPr/>
                    <a:lstStyle/>
                    <a:p>
                      <a:pPr algn="ctr">
                        <a:buNone/>
                      </a:pPr>
                      <a:r>
                        <a:rPr sz="1650">
                          <a:solidFill>
                            <a:srgbClr val="000000"/>
                          </a:solidFill>
                          <a:latin typeface="Arial"/>
                          <a:ea typeface="Arial"/>
                          <a:cs typeface="Arial"/>
                        </a:rPr>
                        <a:t>70 - 50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C0ABF0D9-3278-42C3-98F9-EC801FE52FF8}"/>
              </a:ext>
            </a:extLst>
          </p:cNvPr>
          <p:cNvSpPr>
            <a:spLocks noGrp="1"/>
          </p:cNvSpPr>
          <p:nvPr/>
        </p:nvSpPr>
        <p:spPr>
          <a:xfrm>
            <a:off x="2571750" y="5572125"/>
            <a:ext cx="7048500" cy="400050"/>
          </a:xfrm>
          <a:prstGeom prst="rect">
            <a:avLst/>
          </a:prstGeom>
          <a:noFill/>
          <a:ln w="0">
            <a:noFill/>
            <a:prstDash val="solid"/>
          </a:ln>
        </p:spPr>
        <p:txBody>
          <a:bodyPr anchor="t">
            <a:noAutofit/>
          </a:bodyPr>
          <a:lstStyle/>
          <a:p>
            <a:pPr algn="ctr">
              <a:buNone/>
              <a:defRPr sz="2250" b="1" i="0">
                <a:solidFill>
                  <a:srgbClr val="3D8DFF"/>
                </a:solidFill>
                <a:latin typeface="Arial"/>
                <a:ea typeface="Arial"/>
                <a:cs typeface="Arial"/>
              </a:defRPr>
            </a:pPr>
            <a:r>
              <a:rPr sz="2250" b="1" i="0">
                <a:solidFill>
                  <a:srgbClr val="3D8DFF"/>
                </a:solidFill>
                <a:latin typeface="Arial"/>
                <a:ea typeface="Arial"/>
                <a:cs typeface="Arial"/>
              </a:rPr>
              <a:t>MPW = 0.30, so k = 1 / 0.30 = 3.33</a:t>
            </a:r>
          </a:p>
        </p:txBody>
      </p:sp>
    </p:spTree>
    <p:extLst>
      <p:ext uri="{BB962C8B-B14F-4D97-AF65-F5344CB8AC3E}">
        <p14:creationId xmlns:p14="http://schemas.microsoft.com/office/powerpoint/2010/main" val="18828147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lide-20-title">
            <a:extLst>
              <a:ext uri="{FF2B5EF4-FFF2-40B4-BE49-F238E27FC236}">
                <a16:creationId xmlns:a16="http://schemas.microsoft.com/office/drawing/2014/main" id="{B56F6E62-1A5A-4296-80AE-CD3F8867E6A0}"/>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How to </a:t>
            </a:r>
            <a:r>
              <a:rPr lang="en-US" sz="3600" b="1" i="0" dirty="0">
                <a:solidFill>
                  <a:srgbClr val="000000"/>
                </a:solidFill>
                <a:latin typeface="Arial"/>
                <a:ea typeface="Arial"/>
                <a:cs typeface="Arial"/>
              </a:rPr>
              <a:t>calculate</a:t>
            </a:r>
            <a:endParaRPr sz="3600" b="1" i="0" dirty="0">
              <a:solidFill>
                <a:srgbClr val="000000"/>
              </a:solidFill>
              <a:latin typeface="Arial"/>
              <a:ea typeface="Arial"/>
              <a:cs typeface="Arial"/>
            </a:endParaRPr>
          </a:p>
        </p:txBody>
      </p:sp>
      <p:cxnSp>
        <p:nvCxnSpPr>
          <p:cNvPr id="60" name="Straight Arrow Connector 4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E27D33CD-E24D-4426-B1DC-95A3D2A5A3FD}"/>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83A96B4B-C3C5-4880-9BA2-1D4DDA59E83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20</a:t>
            </a:r>
          </a:p>
        </p:txBody>
      </p:sp>
      <p:cxnSp>
        <p:nvCxnSpPr>
          <p:cNvPr id="63" name="Straight Arrow Connector 52"/>
          <p:cNvCxnSpPr/>
          <p:nvPr/>
        </p:nvCxnSpPr>
        <p:spPr>
          <a:xfrm>
            <a:off x="1333500" y="3143250"/>
            <a:ext cx="9525000" cy="95"/>
          </a:xfrm>
          <a:prstGeom prst="straightConnector1">
            <a:avLst/>
          </a:prstGeom>
          <a:ln w="28575">
            <a:solidFill>
              <a:srgbClr val="B8BCC4"/>
            </a:solidFill>
            <a:prstDash val="solid"/>
          </a:ln>
        </p:spPr>
      </p:cxnSp>
      <p:sp>
        <p:nvSpPr>
          <p:cNvPr id="6" name="Oval 5">
            <a:extLst>
              <a:ext uri="{FF2B5EF4-FFF2-40B4-BE49-F238E27FC236}">
                <a16:creationId xmlns:a16="http://schemas.microsoft.com/office/drawing/2014/main" id="{EF79ACD5-74F8-4477-853F-72C5152965D3}"/>
              </a:ext>
            </a:extLst>
          </p:cNvPr>
          <p:cNvSpPr>
            <a:spLocks noGrp="1"/>
          </p:cNvSpPr>
          <p:nvPr/>
        </p:nvSpPr>
        <p:spPr>
          <a:xfrm>
            <a:off x="1047750" y="2714625"/>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Rectangle 6">
            <a:extLst>
              <a:ext uri="{FF2B5EF4-FFF2-40B4-BE49-F238E27FC236}">
                <a16:creationId xmlns:a16="http://schemas.microsoft.com/office/drawing/2014/main" id="{C385459E-18D1-45FE-A9CC-A4BB7DC005FB}"/>
              </a:ext>
            </a:extLst>
          </p:cNvPr>
          <p:cNvSpPr>
            <a:spLocks noGrp="1"/>
          </p:cNvSpPr>
          <p:nvPr/>
        </p:nvSpPr>
        <p:spPr>
          <a:xfrm>
            <a:off x="666750" y="3905250"/>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MODEL</a:t>
            </a:r>
          </a:p>
        </p:txBody>
      </p:sp>
      <p:sp>
        <p:nvSpPr>
          <p:cNvPr id="8" name="Rectangle 7">
            <a:extLst>
              <a:ext uri="{FF2B5EF4-FFF2-40B4-BE49-F238E27FC236}">
                <a16:creationId xmlns:a16="http://schemas.microsoft.com/office/drawing/2014/main" id="{25B134D6-8541-45C8-936D-B38374C4EF9B}"/>
              </a:ext>
            </a:extLst>
          </p:cNvPr>
          <p:cNvSpPr>
            <a:spLocks noGrp="1"/>
          </p:cNvSpPr>
          <p:nvPr/>
        </p:nvSpPr>
        <p:spPr>
          <a:xfrm>
            <a:off x="428625" y="4333875"/>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Closed/open?</a:t>
            </a:r>
          </a:p>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Government?</a:t>
            </a:r>
          </a:p>
        </p:txBody>
      </p:sp>
      <p:sp>
        <p:nvSpPr>
          <p:cNvPr id="9" name="Oval 8">
            <a:extLst>
              <a:ext uri="{FF2B5EF4-FFF2-40B4-BE49-F238E27FC236}">
                <a16:creationId xmlns:a16="http://schemas.microsoft.com/office/drawing/2014/main" id="{19A73F17-05C8-4293-822A-2D43F6B391E2}"/>
              </a:ext>
            </a:extLst>
          </p:cNvPr>
          <p:cNvSpPr>
            <a:spLocks noGrp="1"/>
          </p:cNvSpPr>
          <p:nvPr/>
        </p:nvSpPr>
        <p:spPr>
          <a:xfrm>
            <a:off x="3810000" y="2714625"/>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0" name="Rectangle 9">
            <a:extLst>
              <a:ext uri="{FF2B5EF4-FFF2-40B4-BE49-F238E27FC236}">
                <a16:creationId xmlns:a16="http://schemas.microsoft.com/office/drawing/2014/main" id="{26DBD59C-A2CB-46D8-8E79-5028687A913D}"/>
              </a:ext>
            </a:extLst>
          </p:cNvPr>
          <p:cNvSpPr>
            <a:spLocks noGrp="1"/>
          </p:cNvSpPr>
          <p:nvPr/>
        </p:nvSpPr>
        <p:spPr>
          <a:xfrm>
            <a:off x="3429000" y="3905250"/>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LEAKAGES</a:t>
            </a:r>
          </a:p>
        </p:txBody>
      </p:sp>
      <p:sp>
        <p:nvSpPr>
          <p:cNvPr id="11" name="Rectangle 10">
            <a:extLst>
              <a:ext uri="{FF2B5EF4-FFF2-40B4-BE49-F238E27FC236}">
                <a16:creationId xmlns:a16="http://schemas.microsoft.com/office/drawing/2014/main" id="{129823E0-18CA-4627-BE6C-075011D1C2BC}"/>
              </a:ext>
            </a:extLst>
          </p:cNvPr>
          <p:cNvSpPr>
            <a:spLocks noGrp="1"/>
          </p:cNvSpPr>
          <p:nvPr/>
        </p:nvSpPr>
        <p:spPr>
          <a:xfrm>
            <a:off x="3190875" y="4333875"/>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Write MPW</a:t>
            </a:r>
          </a:p>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from S, T, M</a:t>
            </a:r>
          </a:p>
        </p:txBody>
      </p:sp>
      <p:sp>
        <p:nvSpPr>
          <p:cNvPr id="12" name="Oval 11">
            <a:extLst>
              <a:ext uri="{FF2B5EF4-FFF2-40B4-BE49-F238E27FC236}">
                <a16:creationId xmlns:a16="http://schemas.microsoft.com/office/drawing/2014/main" id="{F785F149-E567-4156-B2A1-A21CB57D90EA}"/>
              </a:ext>
            </a:extLst>
          </p:cNvPr>
          <p:cNvSpPr>
            <a:spLocks noGrp="1"/>
          </p:cNvSpPr>
          <p:nvPr/>
        </p:nvSpPr>
        <p:spPr>
          <a:xfrm>
            <a:off x="6572250" y="2714625"/>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3" name="Rectangle 12">
            <a:extLst>
              <a:ext uri="{FF2B5EF4-FFF2-40B4-BE49-F238E27FC236}">
                <a16:creationId xmlns:a16="http://schemas.microsoft.com/office/drawing/2014/main" id="{922CED59-E0E3-4B09-A6D5-C585BA6884BC}"/>
              </a:ext>
            </a:extLst>
          </p:cNvPr>
          <p:cNvSpPr>
            <a:spLocks noGrp="1"/>
          </p:cNvSpPr>
          <p:nvPr/>
        </p:nvSpPr>
        <p:spPr>
          <a:xfrm>
            <a:off x="6191250" y="3905250"/>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MULTIPLIER</a:t>
            </a:r>
          </a:p>
        </p:txBody>
      </p:sp>
      <p:sp>
        <p:nvSpPr>
          <p:cNvPr id="14" name="Rectangle 13">
            <a:extLst>
              <a:ext uri="{FF2B5EF4-FFF2-40B4-BE49-F238E27FC236}">
                <a16:creationId xmlns:a16="http://schemas.microsoft.com/office/drawing/2014/main" id="{A2DF8FD6-11A0-46C3-9E3E-C0F955545BD6}"/>
              </a:ext>
            </a:extLst>
          </p:cNvPr>
          <p:cNvSpPr>
            <a:spLocks noGrp="1"/>
          </p:cNvSpPr>
          <p:nvPr/>
        </p:nvSpPr>
        <p:spPr>
          <a:xfrm>
            <a:off x="5953125" y="4333875"/>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k = 1 / MPW</a:t>
            </a:r>
          </a:p>
        </p:txBody>
      </p:sp>
      <p:sp>
        <p:nvSpPr>
          <p:cNvPr id="15" name="Oval 14">
            <a:extLst>
              <a:ext uri="{FF2B5EF4-FFF2-40B4-BE49-F238E27FC236}">
                <a16:creationId xmlns:a16="http://schemas.microsoft.com/office/drawing/2014/main" id="{552C0A72-3139-49BD-B5FC-7FC9D940C258}"/>
              </a:ext>
            </a:extLst>
          </p:cNvPr>
          <p:cNvSpPr>
            <a:spLocks noGrp="1"/>
          </p:cNvSpPr>
          <p:nvPr/>
        </p:nvSpPr>
        <p:spPr>
          <a:xfrm>
            <a:off x="9334500" y="2714625"/>
            <a:ext cx="857250" cy="857250"/>
          </a:xfrm>
          <a:prstGeom prst="ellipse">
            <a:avLst/>
          </a:prstGeom>
          <a:solidFill>
            <a:srgbClr val="EAF6EF"/>
          </a:solidFill>
          <a:ln w="9525">
            <a:solidFill>
              <a:srgbClr val="2B9A66"/>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6" name="Rectangle 15">
            <a:extLst>
              <a:ext uri="{FF2B5EF4-FFF2-40B4-BE49-F238E27FC236}">
                <a16:creationId xmlns:a16="http://schemas.microsoft.com/office/drawing/2014/main" id="{6809F52C-59E5-47F8-9499-D9067EF2545D}"/>
              </a:ext>
            </a:extLst>
          </p:cNvPr>
          <p:cNvSpPr>
            <a:spLocks noGrp="1"/>
          </p:cNvSpPr>
          <p:nvPr/>
        </p:nvSpPr>
        <p:spPr>
          <a:xfrm>
            <a:off x="8953500" y="3905250"/>
            <a:ext cx="1619250" cy="266700"/>
          </a:xfrm>
          <a:prstGeom prst="rect">
            <a:avLst/>
          </a:prstGeom>
          <a:noFill/>
          <a:ln w="0">
            <a:noFill/>
            <a:prstDash val="solid"/>
          </a:ln>
        </p:spPr>
        <p:txBody>
          <a:bodyPr anchor="t">
            <a:noAutofit/>
          </a:bodyPr>
          <a:lstStyle/>
          <a:p>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INCOME</a:t>
            </a:r>
          </a:p>
        </p:txBody>
      </p:sp>
      <p:sp>
        <p:nvSpPr>
          <p:cNvPr id="17" name="Rectangle 16">
            <a:extLst>
              <a:ext uri="{FF2B5EF4-FFF2-40B4-BE49-F238E27FC236}">
                <a16:creationId xmlns:a16="http://schemas.microsoft.com/office/drawing/2014/main" id="{B9228A1E-191F-4BC8-8CCB-609EC0D76190}"/>
              </a:ext>
            </a:extLst>
          </p:cNvPr>
          <p:cNvSpPr>
            <a:spLocks noGrp="1"/>
          </p:cNvSpPr>
          <p:nvPr/>
        </p:nvSpPr>
        <p:spPr>
          <a:xfrm>
            <a:off x="8715375" y="4333875"/>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ΔY = k × ΔJ</a:t>
            </a:r>
          </a:p>
        </p:txBody>
      </p:sp>
      <p:sp>
        <p:nvSpPr>
          <p:cNvPr id="18" name="Rectangle 17">
            <a:extLst>
              <a:ext uri="{FF2B5EF4-FFF2-40B4-BE49-F238E27FC236}">
                <a16:creationId xmlns:a16="http://schemas.microsoft.com/office/drawing/2014/main" id="{046FF3D8-6685-4B43-80BD-E9FF5B41B96C}"/>
              </a:ext>
            </a:extLst>
          </p:cNvPr>
          <p:cNvSpPr>
            <a:spLocks noGrp="1"/>
          </p:cNvSpPr>
          <p:nvPr/>
        </p:nvSpPr>
        <p:spPr>
          <a:xfrm>
            <a:off x="2381250" y="5667375"/>
            <a:ext cx="7429500" cy="361950"/>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dirty="0">
                <a:solidFill>
                  <a:srgbClr val="000000"/>
                </a:solidFill>
                <a:latin typeface="Arial"/>
                <a:ea typeface="Arial"/>
                <a:cs typeface="Arial"/>
              </a:rPr>
              <a:t>Final check: a larger MPW must produce a smaller k.</a:t>
            </a:r>
          </a:p>
        </p:txBody>
      </p:sp>
    </p:spTree>
    <p:extLst>
      <p:ext uri="{BB962C8B-B14F-4D97-AF65-F5344CB8AC3E}">
        <p14:creationId xmlns:p14="http://schemas.microsoft.com/office/powerpoint/2010/main" val="13679060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21-title">
            <a:extLst>
              <a:ext uri="{FF2B5EF4-FFF2-40B4-BE49-F238E27FC236}">
                <a16:creationId xmlns:a16="http://schemas.microsoft.com/office/drawing/2014/main" id="{6A979400-93DC-4E17-8CA5-7727CF968A8F}"/>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a:ext uri="{FF2B5EF4-FFF2-40B4-BE49-F238E27FC236}">
                <a16:creationId xmlns:a16="http://schemas.microsoft.com/office/drawing/2014/main" id="{55C6E880-0FF0-4360-BDF2-EAF5A8C4787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3263A9AB-8527-4010-966F-E5A7D1F7185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sp>
        <p:nvSpPr>
          <p:cNvPr id="5" name="Rectangle 4">
            <a:extLst>
              <a:ext uri="{FF2B5EF4-FFF2-40B4-BE49-F238E27FC236}">
                <a16:creationId xmlns:a16="http://schemas.microsoft.com/office/drawing/2014/main" id="{58D7145C-409A-4DAE-A925-3CEC7AD70351}"/>
              </a:ext>
            </a:extLst>
          </p:cNvPr>
          <p:cNvSpPr>
            <a:spLocks noGrp="1"/>
          </p:cNvSpPr>
          <p:nvPr/>
        </p:nvSpPr>
        <p:spPr>
          <a:xfrm>
            <a:off x="666750" y="1666875"/>
            <a:ext cx="4762500" cy="36195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57840AFE-A9D2-44EB-8EBD-7BFA49B39B95}"/>
              </a:ext>
            </a:extLst>
          </p:cNvPr>
          <p:cNvSpPr>
            <a:spLocks noGrp="1"/>
          </p:cNvSpPr>
          <p:nvPr/>
        </p:nvSpPr>
        <p:spPr>
          <a:xfrm>
            <a:off x="1047750" y="2047875"/>
            <a:ext cx="4000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a:ext uri="{FF2B5EF4-FFF2-40B4-BE49-F238E27FC236}">
                <a16:creationId xmlns:a16="http://schemas.microsoft.com/office/drawing/2014/main" id="{7F59BF6C-D005-4BDB-9F4C-4F04597E8B07}"/>
              </a:ext>
            </a:extLst>
          </p:cNvPr>
          <p:cNvSpPr>
            <a:spLocks noGrp="1"/>
          </p:cNvSpPr>
          <p:nvPr/>
        </p:nvSpPr>
        <p:spPr>
          <a:xfrm>
            <a:off x="1047750" y="2619375"/>
            <a:ext cx="4000500" cy="2095500"/>
          </a:xfrm>
          <a:prstGeom prst="rect">
            <a:avLst/>
          </a:prstGeom>
          <a:noFill/>
          <a:ln w="0">
            <a:noFill/>
            <a:prstDash val="solid"/>
          </a:ln>
        </p:spPr>
        <p:txBody>
          <a:bodyPr anchor="t">
            <a:noAutofit/>
          </a:bodyPr>
          <a:lstStyle/>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a:endParaRPr sz="2325" b="1" i="0">
              <a:solidFill>
                <a:srgbClr val="000000"/>
              </a:solidFill>
              <a:latin typeface="Arial"/>
              <a:ea typeface="Arial"/>
              <a:cs typeface="Arial"/>
            </a:endParaRPr>
          </a:p>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a:endParaRPr sz="2325" b="1" i="0">
              <a:solidFill>
                <a:srgbClr val="000000"/>
              </a:solidFill>
              <a:latin typeface="Arial"/>
              <a:ea typeface="Arial"/>
              <a:cs typeface="Arial"/>
            </a:endParaRPr>
          </a:p>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a:ext uri="{FF2B5EF4-FFF2-40B4-BE49-F238E27FC236}">
                <a16:creationId xmlns:a16="http://schemas.microsoft.com/office/drawing/2014/main" id="{367EF02D-CC0C-4000-A08E-8865DFAA13ED}"/>
              </a:ext>
            </a:extLst>
          </p:cNvPr>
          <p:cNvSpPr>
            <a:spLocks noGrp="1"/>
          </p:cNvSpPr>
          <p:nvPr/>
        </p:nvSpPr>
        <p:spPr>
          <a:xfrm>
            <a:off x="6191250" y="1666875"/>
            <a:ext cx="5334000" cy="3619500"/>
          </a:xfrm>
          <a:prstGeom prst="rect">
            <a:avLst/>
          </a:prstGeom>
          <a:solidFill>
            <a:srgbClr val="EAF5FB"/>
          </a:solidFill>
          <a:ln w="19050">
            <a:solidFill>
              <a:srgbClr val="3D8DFF"/>
            </a:solidFill>
            <a:prstDash val="solid"/>
          </a:ln>
        </p:spPr>
      </p:sp>
      <p:sp>
        <p:nvSpPr>
          <p:cNvPr id="9" name="Rectangle 8">
            <a:extLst>
              <a:ext uri="{FF2B5EF4-FFF2-40B4-BE49-F238E27FC236}">
                <a16:creationId xmlns:a16="http://schemas.microsoft.com/office/drawing/2014/main" id="{D8E53E10-3434-47FE-BA03-131F8877DFA4}"/>
              </a:ext>
            </a:extLst>
          </p:cNvPr>
          <p:cNvSpPr>
            <a:spLocks noGrp="1"/>
          </p:cNvSpPr>
          <p:nvPr/>
        </p:nvSpPr>
        <p:spPr>
          <a:xfrm>
            <a:off x="6667500" y="2047875"/>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a:ext uri="{FF2B5EF4-FFF2-40B4-BE49-F238E27FC236}">
                <a16:creationId xmlns:a16="http://schemas.microsoft.com/office/drawing/2014/main" id="{D2CF0726-D85B-439E-8456-4FB47043A6E5}"/>
              </a:ext>
            </a:extLst>
          </p:cNvPr>
          <p:cNvSpPr>
            <a:spLocks noGrp="1"/>
          </p:cNvSpPr>
          <p:nvPr/>
        </p:nvSpPr>
        <p:spPr>
          <a:xfrm>
            <a:off x="6667500" y="2571750"/>
            <a:ext cx="4381500" cy="2286000"/>
          </a:xfrm>
          <a:prstGeom prst="rect">
            <a:avLst/>
          </a:prstGeom>
          <a:noFill/>
          <a:ln w="0">
            <a:noFill/>
            <a:prstDash val="solid"/>
          </a:ln>
        </p:spPr>
        <p:txBody>
          <a:bodyPr anchor="t">
            <a:noAutofit/>
          </a:bodyPr>
          <a:lstStyle/>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a:endParaRPr sz="2400" b="1" i="0">
              <a:solidFill>
                <a:srgbClr val="000000"/>
              </a:solidFill>
              <a:latin typeface="Arial"/>
              <a:ea typeface="Arial"/>
              <a:cs typeface="Arial"/>
            </a:endParaRP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22-title">
            <a:extLst>
              <a:ext uri="{FF2B5EF4-FFF2-40B4-BE49-F238E27FC236}">
                <a16:creationId xmlns:a16="http://schemas.microsoft.com/office/drawing/2014/main" id="{E07225DA-120E-455E-BA82-EA065B2E1833}"/>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B: open economy with government</a:t>
            </a:r>
          </a:p>
        </p:txBody>
      </p:sp>
      <p:sp>
        <p:nvSpPr>
          <p:cNvPr id="3" name="Rectangle 2">
            <a:extLst>
              <a:ext uri="{FF2B5EF4-FFF2-40B4-BE49-F238E27FC236}">
                <a16:creationId xmlns:a16="http://schemas.microsoft.com/office/drawing/2014/main" id="{42442838-0020-4872-A4B0-BE9653170A2E}"/>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A7498B18-508A-4A09-9A74-71FA8ACE1776}"/>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22</a:t>
            </a:r>
          </a:p>
        </p:txBody>
      </p:sp>
      <p:sp>
        <p:nvSpPr>
          <p:cNvPr id="5" name="Rectangle 4">
            <a:extLst>
              <a:ext uri="{FF2B5EF4-FFF2-40B4-BE49-F238E27FC236}">
                <a16:creationId xmlns:a16="http://schemas.microsoft.com/office/drawing/2014/main" id="{251E8996-3CFA-467E-A04D-740E4A272695}"/>
              </a:ext>
            </a:extLst>
          </p:cNvPr>
          <p:cNvSpPr>
            <a:spLocks noGrp="1"/>
          </p:cNvSpPr>
          <p:nvPr/>
        </p:nvSpPr>
        <p:spPr>
          <a:xfrm>
            <a:off x="666750" y="1666875"/>
            <a:ext cx="4762500" cy="36195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DE8F546D-2BF8-4567-B583-D6771F5800AF}"/>
              </a:ext>
            </a:extLst>
          </p:cNvPr>
          <p:cNvSpPr>
            <a:spLocks noGrp="1"/>
          </p:cNvSpPr>
          <p:nvPr/>
        </p:nvSpPr>
        <p:spPr>
          <a:xfrm>
            <a:off x="1047750" y="2047875"/>
            <a:ext cx="4000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a:ext uri="{FF2B5EF4-FFF2-40B4-BE49-F238E27FC236}">
                <a16:creationId xmlns:a16="http://schemas.microsoft.com/office/drawing/2014/main" id="{477F9AF9-B64F-4CA0-8C0C-2883A583FE11}"/>
              </a:ext>
            </a:extLst>
          </p:cNvPr>
          <p:cNvSpPr>
            <a:spLocks noGrp="1"/>
          </p:cNvSpPr>
          <p:nvPr/>
        </p:nvSpPr>
        <p:spPr>
          <a:xfrm>
            <a:off x="1047750" y="2524125"/>
            <a:ext cx="4000500" cy="2333625"/>
          </a:xfrm>
          <a:prstGeom prst="rect">
            <a:avLst/>
          </a:prstGeom>
          <a:noFill/>
          <a:ln w="0">
            <a:noFill/>
            <a:prstDash val="solid"/>
          </a:ln>
        </p:spPr>
        <p:txBody>
          <a:bodyPr anchor="t">
            <a:noAutofit/>
          </a:bodyPr>
          <a:lstStyle/>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MPS = 0.20</a:t>
            </a: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MPM = 0.15</a:t>
            </a: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MRT = 0.15</a:t>
            </a:r>
          </a:p>
          <a:p>
            <a:endParaRPr sz="2175" b="1" i="0">
              <a:solidFill>
                <a:srgbClr val="000000"/>
              </a:solidFill>
              <a:latin typeface="Arial"/>
              <a:ea typeface="Arial"/>
              <a:cs typeface="Arial"/>
            </a:endParaRP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Government spending rises by £90m.</a:t>
            </a:r>
          </a:p>
        </p:txBody>
      </p:sp>
      <p:sp>
        <p:nvSpPr>
          <p:cNvPr id="8" name="Rectangle 7">
            <a:extLst>
              <a:ext uri="{FF2B5EF4-FFF2-40B4-BE49-F238E27FC236}">
                <a16:creationId xmlns:a16="http://schemas.microsoft.com/office/drawing/2014/main" id="{E7C8F353-71F7-4E7B-8E33-4E2DB2E959CC}"/>
              </a:ext>
            </a:extLst>
          </p:cNvPr>
          <p:cNvSpPr>
            <a:spLocks noGrp="1"/>
          </p:cNvSpPr>
          <p:nvPr/>
        </p:nvSpPr>
        <p:spPr>
          <a:xfrm>
            <a:off x="6191250" y="1666875"/>
            <a:ext cx="5334000" cy="3619500"/>
          </a:xfrm>
          <a:prstGeom prst="rect">
            <a:avLst/>
          </a:prstGeom>
          <a:solidFill>
            <a:srgbClr val="EAF5FB"/>
          </a:solidFill>
          <a:ln w="19050">
            <a:solidFill>
              <a:srgbClr val="3D8DFF"/>
            </a:solidFill>
            <a:prstDash val="solid"/>
          </a:ln>
        </p:spPr>
      </p:sp>
      <p:sp>
        <p:nvSpPr>
          <p:cNvPr id="9" name="Rectangle 8">
            <a:extLst>
              <a:ext uri="{FF2B5EF4-FFF2-40B4-BE49-F238E27FC236}">
                <a16:creationId xmlns:a16="http://schemas.microsoft.com/office/drawing/2014/main" id="{7DFB1A63-CFAB-4C92-9BE8-F351E7609945}"/>
              </a:ext>
            </a:extLst>
          </p:cNvPr>
          <p:cNvSpPr>
            <a:spLocks noGrp="1"/>
          </p:cNvSpPr>
          <p:nvPr/>
        </p:nvSpPr>
        <p:spPr>
          <a:xfrm>
            <a:off x="6667500" y="2047875"/>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a:ext uri="{FF2B5EF4-FFF2-40B4-BE49-F238E27FC236}">
                <a16:creationId xmlns:a16="http://schemas.microsoft.com/office/drawing/2014/main" id="{B60ED464-4748-48C1-885B-B769655C1957}"/>
              </a:ext>
            </a:extLst>
          </p:cNvPr>
          <p:cNvSpPr>
            <a:spLocks noGrp="1"/>
          </p:cNvSpPr>
          <p:nvPr/>
        </p:nvSpPr>
        <p:spPr>
          <a:xfrm>
            <a:off x="6667500" y="2571750"/>
            <a:ext cx="4381500" cy="2286000"/>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MPW = 0.20 + 0.15 + 0.15 = 0.50</a:t>
            </a:r>
          </a:p>
          <a:p>
            <a:endParaRPr sz="2250" b="1" i="0">
              <a:solidFill>
                <a:srgbClr val="000000"/>
              </a:solidFill>
              <a:latin typeface="Arial"/>
              <a:ea typeface="Arial"/>
              <a:cs typeface="Arial"/>
            </a:endParaRP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k = 1 / 0.50 = 2</a:t>
            </a:r>
          </a:p>
          <a:p>
            <a:endParaRPr sz="2250" b="1" i="0">
              <a:solidFill>
                <a:srgbClr val="000000"/>
              </a:solidFill>
              <a:latin typeface="Arial"/>
              <a:ea typeface="Arial"/>
              <a:cs typeface="Arial"/>
            </a:endParaRP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ΔY = 2 × £90m = £180m</a:t>
            </a:r>
          </a:p>
        </p:txBody>
      </p:sp>
    </p:spTree>
    <p:extLst>
      <p:ext uri="{BB962C8B-B14F-4D97-AF65-F5344CB8AC3E}">
        <p14:creationId xmlns:p14="http://schemas.microsoft.com/office/powerpoint/2010/main" val="10013757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23-title">
            <a:extLst>
              <a:ext uri="{FF2B5EF4-FFF2-40B4-BE49-F238E27FC236}">
                <a16:creationId xmlns:a16="http://schemas.microsoft.com/office/drawing/2014/main" id="{FC9BFC23-9B3D-4EFF-ADA2-958E2945408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 backwards: reconstruct the total change</a:t>
            </a:r>
          </a:p>
        </p:txBody>
      </p:sp>
      <p:sp>
        <p:nvSpPr>
          <p:cNvPr id="3" name="Rectangle 2">
            <a:extLst>
              <a:ext uri="{FF2B5EF4-FFF2-40B4-BE49-F238E27FC236}">
                <a16:creationId xmlns:a16="http://schemas.microsoft.com/office/drawing/2014/main" id="{849FAF19-7ADD-4D4E-B6B1-0F977DD18310}"/>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CE459E5-38C8-4D0C-802D-923832E7199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23</a:t>
            </a:r>
          </a:p>
        </p:txBody>
      </p:sp>
      <p:sp>
        <p:nvSpPr>
          <p:cNvPr id="5" name="Rectangle 4">
            <a:extLst>
              <a:ext uri="{FF2B5EF4-FFF2-40B4-BE49-F238E27FC236}">
                <a16:creationId xmlns:a16="http://schemas.microsoft.com/office/drawing/2014/main" id="{5FBD971A-EAA2-4BB3-9FE9-F4D175415441}"/>
              </a:ext>
            </a:extLst>
          </p:cNvPr>
          <p:cNvSpPr>
            <a:spLocks noGrp="1"/>
          </p:cNvSpPr>
          <p:nvPr/>
        </p:nvSpPr>
        <p:spPr>
          <a:xfrm>
            <a:off x="857250" y="1571625"/>
            <a:ext cx="10477500" cy="666750"/>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 a closed economy with no government, investment rises by £400m and consumption rises by £1,200m.</a:t>
            </a:r>
          </a:p>
        </p:txBody>
      </p:sp>
      <p:cxnSp>
        <p:nvCxnSpPr>
          <p:cNvPr id="73" name="Straight Arrow Connector 60"/>
          <p:cNvCxnSpPr/>
          <p:nvPr/>
        </p:nvCxnSpPr>
        <p:spPr>
          <a:xfrm>
            <a:off x="1619250" y="3381375"/>
            <a:ext cx="8953500" cy="95"/>
          </a:xfrm>
          <a:prstGeom prst="straightConnector1">
            <a:avLst/>
          </a:prstGeom>
          <a:ln w="28575">
            <a:solidFill>
              <a:srgbClr val="B8BCC4"/>
            </a:solidFill>
            <a:prstDash val="solid"/>
          </a:ln>
        </p:spPr>
      </p:cxnSp>
      <p:sp>
        <p:nvSpPr>
          <p:cNvPr id="7" name="Oval 6">
            <a:extLst>
              <a:ext uri="{FF2B5EF4-FFF2-40B4-BE49-F238E27FC236}">
                <a16:creationId xmlns:a16="http://schemas.microsoft.com/office/drawing/2014/main" id="{2A148A05-D9BC-44F3-9C78-3790A66777CF}"/>
              </a:ext>
            </a:extLst>
          </p:cNvPr>
          <p:cNvSpPr>
            <a:spLocks noGrp="1"/>
          </p:cNvSpPr>
          <p:nvPr/>
        </p:nvSpPr>
        <p:spPr>
          <a:xfrm>
            <a:off x="123825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8" name="Rectangle 7">
            <a:extLst>
              <a:ext uri="{FF2B5EF4-FFF2-40B4-BE49-F238E27FC236}">
                <a16:creationId xmlns:a16="http://schemas.microsoft.com/office/drawing/2014/main" id="{28D33796-3082-4BD4-9129-AC7B4E6A43BB}"/>
              </a:ext>
            </a:extLst>
          </p:cNvPr>
          <p:cNvSpPr>
            <a:spLocks noGrp="1"/>
          </p:cNvSpPr>
          <p:nvPr/>
        </p:nvSpPr>
        <p:spPr>
          <a:xfrm>
            <a:off x="71437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INJECTION</a:t>
            </a:r>
          </a:p>
        </p:txBody>
      </p:sp>
      <p:sp>
        <p:nvSpPr>
          <p:cNvPr id="9" name="Rectangle 8">
            <a:extLst>
              <a:ext uri="{FF2B5EF4-FFF2-40B4-BE49-F238E27FC236}">
                <a16:creationId xmlns:a16="http://schemas.microsoft.com/office/drawing/2014/main" id="{348999A4-5422-45A5-B56A-97A3E25A3664}"/>
              </a:ext>
            </a:extLst>
          </p:cNvPr>
          <p:cNvSpPr>
            <a:spLocks noGrp="1"/>
          </p:cNvSpPr>
          <p:nvPr/>
        </p:nvSpPr>
        <p:spPr>
          <a:xfrm>
            <a:off x="57150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£400m</a:t>
            </a:r>
          </a:p>
        </p:txBody>
      </p:sp>
      <p:sp>
        <p:nvSpPr>
          <p:cNvPr id="10" name="Oval 9">
            <a:extLst>
              <a:ext uri="{FF2B5EF4-FFF2-40B4-BE49-F238E27FC236}">
                <a16:creationId xmlns:a16="http://schemas.microsoft.com/office/drawing/2014/main" id="{10AA7DD8-8CEA-4BCF-B16F-01C98E16FE3B}"/>
              </a:ext>
            </a:extLst>
          </p:cNvPr>
          <p:cNvSpPr>
            <a:spLocks noGrp="1"/>
          </p:cNvSpPr>
          <p:nvPr/>
        </p:nvSpPr>
        <p:spPr>
          <a:xfrm>
            <a:off x="419100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Rectangle 10">
            <a:extLst>
              <a:ext uri="{FF2B5EF4-FFF2-40B4-BE49-F238E27FC236}">
                <a16:creationId xmlns:a16="http://schemas.microsoft.com/office/drawing/2014/main" id="{03949470-50FE-4254-86D1-AE6BAACEF825}"/>
              </a:ext>
            </a:extLst>
          </p:cNvPr>
          <p:cNvSpPr>
            <a:spLocks noGrp="1"/>
          </p:cNvSpPr>
          <p:nvPr/>
        </p:nvSpPr>
        <p:spPr>
          <a:xfrm>
            <a:off x="366712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INDUCED C</a:t>
            </a:r>
          </a:p>
        </p:txBody>
      </p:sp>
      <p:sp>
        <p:nvSpPr>
          <p:cNvPr id="12" name="Rectangle 11">
            <a:extLst>
              <a:ext uri="{FF2B5EF4-FFF2-40B4-BE49-F238E27FC236}">
                <a16:creationId xmlns:a16="http://schemas.microsoft.com/office/drawing/2014/main" id="{58322866-639C-4F07-96F8-58482DACFD36}"/>
              </a:ext>
            </a:extLst>
          </p:cNvPr>
          <p:cNvSpPr>
            <a:spLocks noGrp="1"/>
          </p:cNvSpPr>
          <p:nvPr/>
        </p:nvSpPr>
        <p:spPr>
          <a:xfrm>
            <a:off x="352425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£1,200m</a:t>
            </a:r>
          </a:p>
        </p:txBody>
      </p:sp>
      <p:sp>
        <p:nvSpPr>
          <p:cNvPr id="13" name="Oval 12">
            <a:extLst>
              <a:ext uri="{FF2B5EF4-FFF2-40B4-BE49-F238E27FC236}">
                <a16:creationId xmlns:a16="http://schemas.microsoft.com/office/drawing/2014/main" id="{43AD14F2-A36A-4DD8-8B41-DCCE53138814}"/>
              </a:ext>
            </a:extLst>
          </p:cNvPr>
          <p:cNvSpPr>
            <a:spLocks noGrp="1"/>
          </p:cNvSpPr>
          <p:nvPr/>
        </p:nvSpPr>
        <p:spPr>
          <a:xfrm>
            <a:off x="714375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4" name="Rectangle 13">
            <a:extLst>
              <a:ext uri="{FF2B5EF4-FFF2-40B4-BE49-F238E27FC236}">
                <a16:creationId xmlns:a16="http://schemas.microsoft.com/office/drawing/2014/main" id="{E413A01A-CA7F-414F-81D6-61B398F1408C}"/>
              </a:ext>
            </a:extLst>
          </p:cNvPr>
          <p:cNvSpPr>
            <a:spLocks noGrp="1"/>
          </p:cNvSpPr>
          <p:nvPr/>
        </p:nvSpPr>
        <p:spPr>
          <a:xfrm>
            <a:off x="661987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TOTAL ΔY</a:t>
            </a:r>
          </a:p>
        </p:txBody>
      </p:sp>
      <p:sp>
        <p:nvSpPr>
          <p:cNvPr id="15" name="Rectangle 14">
            <a:extLst>
              <a:ext uri="{FF2B5EF4-FFF2-40B4-BE49-F238E27FC236}">
                <a16:creationId xmlns:a16="http://schemas.microsoft.com/office/drawing/2014/main" id="{9D577C2F-77D4-4DDA-8962-E7A9C59F4F9A}"/>
              </a:ext>
            </a:extLst>
          </p:cNvPr>
          <p:cNvSpPr>
            <a:spLocks noGrp="1"/>
          </p:cNvSpPr>
          <p:nvPr/>
        </p:nvSpPr>
        <p:spPr>
          <a:xfrm>
            <a:off x="647700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£1,600m</a:t>
            </a:r>
          </a:p>
        </p:txBody>
      </p:sp>
      <p:sp>
        <p:nvSpPr>
          <p:cNvPr id="16" name="Oval 15">
            <a:extLst>
              <a:ext uri="{FF2B5EF4-FFF2-40B4-BE49-F238E27FC236}">
                <a16:creationId xmlns:a16="http://schemas.microsoft.com/office/drawing/2014/main" id="{06D1F5FB-1115-4981-AFEF-EEC0608EB87F}"/>
              </a:ext>
            </a:extLst>
          </p:cNvPr>
          <p:cNvSpPr>
            <a:spLocks noGrp="1"/>
          </p:cNvSpPr>
          <p:nvPr/>
        </p:nvSpPr>
        <p:spPr>
          <a:xfrm>
            <a:off x="9715500" y="2905125"/>
            <a:ext cx="952500" cy="952500"/>
          </a:xfrm>
          <a:prstGeom prst="ellipse">
            <a:avLst/>
          </a:prstGeom>
          <a:solidFill>
            <a:srgbClr val="EAF6EF"/>
          </a:solidFill>
          <a:ln w="9525">
            <a:solidFill>
              <a:srgbClr val="2B9A66"/>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7" name="Rectangle 16">
            <a:extLst>
              <a:ext uri="{FF2B5EF4-FFF2-40B4-BE49-F238E27FC236}">
                <a16:creationId xmlns:a16="http://schemas.microsoft.com/office/drawing/2014/main" id="{32A4B055-A80F-4852-90CE-45A8A6199DC7}"/>
              </a:ext>
            </a:extLst>
          </p:cNvPr>
          <p:cNvSpPr>
            <a:spLocks noGrp="1"/>
          </p:cNvSpPr>
          <p:nvPr/>
        </p:nvSpPr>
        <p:spPr>
          <a:xfrm>
            <a:off x="9191625" y="4191000"/>
            <a:ext cx="2000250" cy="285750"/>
          </a:xfrm>
          <a:prstGeom prst="rect">
            <a:avLst/>
          </a:prstGeom>
          <a:noFill/>
          <a:ln w="0">
            <a:noFill/>
            <a:prstDash val="solid"/>
          </a:ln>
        </p:spPr>
        <p:txBody>
          <a:bodyPr anchor="t">
            <a:noAutofit/>
          </a:bodyPr>
          <a:lstStyle/>
          <a:p>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MULTIPLIER</a:t>
            </a:r>
          </a:p>
        </p:txBody>
      </p:sp>
      <p:sp>
        <p:nvSpPr>
          <p:cNvPr id="18" name="Rectangle 17">
            <a:extLst>
              <a:ext uri="{FF2B5EF4-FFF2-40B4-BE49-F238E27FC236}">
                <a16:creationId xmlns:a16="http://schemas.microsoft.com/office/drawing/2014/main" id="{C0AA5310-6480-4364-8F1B-90ADE80040E7}"/>
              </a:ext>
            </a:extLst>
          </p:cNvPr>
          <p:cNvSpPr>
            <a:spLocks noGrp="1"/>
          </p:cNvSpPr>
          <p:nvPr/>
        </p:nvSpPr>
        <p:spPr>
          <a:xfrm>
            <a:off x="904875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1,600 / 400 = 4</a:t>
            </a:r>
          </a:p>
        </p:txBody>
      </p:sp>
      <p:sp>
        <p:nvSpPr>
          <p:cNvPr id="19" name="Rectangle 18">
            <a:extLst>
              <a:ext uri="{FF2B5EF4-FFF2-40B4-BE49-F238E27FC236}">
                <a16:creationId xmlns:a16="http://schemas.microsoft.com/office/drawing/2014/main" id="{8E326908-BED1-428A-9240-6DD75913A540}"/>
              </a:ext>
            </a:extLst>
          </p:cNvPr>
          <p:cNvSpPr>
            <a:spLocks noGrp="1"/>
          </p:cNvSpPr>
          <p:nvPr/>
        </p:nvSpPr>
        <p:spPr>
          <a:xfrm>
            <a:off x="2857500" y="5762625"/>
            <a:ext cx="6477000" cy="342900"/>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Then MPS = 1/k = 0.25 and MPC = 0.75.</a:t>
            </a:r>
          </a:p>
        </p:txBody>
      </p:sp>
    </p:spTree>
    <p:extLst>
      <p:ext uri="{BB962C8B-B14F-4D97-AF65-F5344CB8AC3E}">
        <p14:creationId xmlns:p14="http://schemas.microsoft.com/office/powerpoint/2010/main" val="151080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24-title">
            <a:extLst>
              <a:ext uri="{FF2B5EF4-FFF2-40B4-BE49-F238E27FC236}">
                <a16:creationId xmlns:a16="http://schemas.microsoft.com/office/drawing/2014/main" id="{492580B0-80B0-4162-85F9-CBB53153B2B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Equilibrium returns when J = W</a:t>
            </a:r>
          </a:p>
        </p:txBody>
      </p:sp>
      <p:sp>
        <p:nvSpPr>
          <p:cNvPr id="3" name="Rectangle 2">
            <a:extLst>
              <a:ext uri="{FF2B5EF4-FFF2-40B4-BE49-F238E27FC236}">
                <a16:creationId xmlns:a16="http://schemas.microsoft.com/office/drawing/2014/main" id="{8D41DAAE-46D2-4DA6-8A73-A08FFF82ED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2F7B337E-4140-4AC0-B487-13792D739C4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14" name="Straight Arrow Connector 91"/>
          <p:cNvCxnSpPr/>
          <p:nvPr/>
        </p:nvCxnSpPr>
        <p:spPr>
          <a:xfrm>
            <a:off x="1143000" y="5286375"/>
            <a:ext cx="4286250" cy="95"/>
          </a:xfrm>
          <a:prstGeom prst="straightConnector1">
            <a:avLst/>
          </a:prstGeom>
          <a:ln w="19050">
            <a:solidFill>
              <a:srgbClr val="000000"/>
            </a:solidFill>
            <a:prstDash val="solid"/>
          </a:ln>
        </p:spPr>
      </p:cxnSp>
      <p:cxnSp>
        <p:nvCxnSpPr>
          <p:cNvPr id="115" name="Straight Arrow Connector 92"/>
          <p:cNvCxnSpPr/>
          <p:nvPr/>
        </p:nvCxnSpPr>
        <p:spPr>
          <a:xfrm>
            <a:off x="1143000" y="1762125"/>
            <a:ext cx="95" cy="3524250"/>
          </a:xfrm>
          <a:prstGeom prst="straightConnector1">
            <a:avLst/>
          </a:prstGeom>
          <a:ln w="19050">
            <a:solidFill>
              <a:srgbClr val="000000"/>
            </a:solidFill>
            <a:prstDash val="solid"/>
          </a:ln>
        </p:spPr>
      </p:cxnSp>
      <p:cxnSp>
        <p:nvCxnSpPr>
          <p:cNvPr id="116" name="Straight Arrow Connector 93"/>
          <p:cNvCxnSpPr>
            <a:cxnSpLocks/>
          </p:cNvCxnSpPr>
          <p:nvPr/>
        </p:nvCxnSpPr>
        <p:spPr>
          <a:xfrm flipV="1">
            <a:off x="1143000" y="1905000"/>
            <a:ext cx="3952875" cy="3367448"/>
          </a:xfrm>
          <a:prstGeom prst="straightConnector1">
            <a:avLst/>
          </a:prstGeom>
          <a:ln w="19050">
            <a:solidFill>
              <a:srgbClr val="000000"/>
            </a:solidFill>
            <a:prstDash val="solid"/>
          </a:ln>
        </p:spPr>
      </p:cxnSp>
      <p:cxnSp>
        <p:nvCxnSpPr>
          <p:cNvPr id="117" name="Straight Arrow Connector 94"/>
          <p:cNvCxnSpPr>
            <a:cxnSpLocks/>
          </p:cNvCxnSpPr>
          <p:nvPr/>
        </p:nvCxnSpPr>
        <p:spPr>
          <a:xfrm flipV="1">
            <a:off x="1143000" y="2905125"/>
            <a:ext cx="3952875" cy="1650026"/>
          </a:xfrm>
          <a:prstGeom prst="straightConnector1">
            <a:avLst/>
          </a:prstGeom>
          <a:ln w="38100">
            <a:solidFill>
              <a:srgbClr val="B8BCC4"/>
            </a:solidFill>
            <a:prstDash val="solid"/>
          </a:ln>
        </p:spPr>
      </p:cxnSp>
      <p:cxnSp>
        <p:nvCxnSpPr>
          <p:cNvPr id="118" name="Straight Arrow Connector 95"/>
          <p:cNvCxnSpPr>
            <a:cxnSpLocks/>
          </p:cNvCxnSpPr>
          <p:nvPr/>
        </p:nvCxnSpPr>
        <p:spPr>
          <a:xfrm flipV="1">
            <a:off x="1143000" y="2143125"/>
            <a:ext cx="3952875" cy="1538743"/>
          </a:xfrm>
          <a:prstGeom prst="straightConnector1">
            <a:avLst/>
          </a:prstGeom>
          <a:ln w="38100">
            <a:solidFill>
              <a:srgbClr val="3D8DFF"/>
            </a:solidFill>
            <a:prstDash val="solid"/>
          </a:ln>
        </p:spPr>
      </p:cxnSp>
      <p:cxnSp>
        <p:nvCxnSpPr>
          <p:cNvPr id="119" name="Straight Arrow Connector 96"/>
          <p:cNvCxnSpPr>
            <a:cxnSpLocks/>
          </p:cNvCxnSpPr>
          <p:nvPr/>
        </p:nvCxnSpPr>
        <p:spPr>
          <a:xfrm>
            <a:off x="2690908" y="3952875"/>
            <a:ext cx="0" cy="1357312"/>
          </a:xfrm>
          <a:prstGeom prst="straightConnector1">
            <a:avLst/>
          </a:prstGeom>
          <a:ln w="9525">
            <a:solidFill>
              <a:srgbClr val="B8BCC4"/>
            </a:solidFill>
            <a:prstDash val="dash"/>
          </a:ln>
        </p:spPr>
      </p:cxnSp>
      <p:cxnSp>
        <p:nvCxnSpPr>
          <p:cNvPr id="120" name="Straight Arrow Connector 97"/>
          <p:cNvCxnSpPr/>
          <p:nvPr/>
        </p:nvCxnSpPr>
        <p:spPr>
          <a:xfrm>
            <a:off x="4524375" y="2381250"/>
            <a:ext cx="95" cy="2905125"/>
          </a:xfrm>
          <a:prstGeom prst="straightConnector1">
            <a:avLst/>
          </a:prstGeom>
          <a:ln w="9525">
            <a:solidFill>
              <a:srgbClr val="3D8DFF"/>
            </a:solidFill>
            <a:prstDash val="dash"/>
          </a:ln>
        </p:spPr>
      </p:cxnSp>
      <p:sp>
        <p:nvSpPr>
          <p:cNvPr id="12" name="Rectangle 11">
            <a:extLst>
              <a:ext uri="{FF2B5EF4-FFF2-40B4-BE49-F238E27FC236}">
                <a16:creationId xmlns:a16="http://schemas.microsoft.com/office/drawing/2014/main" id="{7113CBC4-F034-4795-B91F-87AC19A757B1}"/>
              </a:ext>
            </a:extLst>
          </p:cNvPr>
          <p:cNvSpPr>
            <a:spLocks noGrp="1"/>
          </p:cNvSpPr>
          <p:nvPr/>
        </p:nvSpPr>
        <p:spPr>
          <a:xfrm>
            <a:off x="762000" y="1381125"/>
            <a:ext cx="2286000" cy="285750"/>
          </a:xfrm>
          <a:prstGeom prst="rect">
            <a:avLst/>
          </a:prstGeom>
          <a:noFill/>
          <a:ln w="0">
            <a:noFill/>
            <a:prstDash val="solid"/>
          </a:ln>
        </p:spPr>
        <p:txBody>
          <a:bodyPr anchor="t">
            <a:noAutofit/>
          </a:bodyPr>
          <a:lstStyle/>
          <a:p>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a:ext uri="{FF2B5EF4-FFF2-40B4-BE49-F238E27FC236}">
                <a16:creationId xmlns:a16="http://schemas.microsoft.com/office/drawing/2014/main" id="{8E05C3CA-EE94-4358-B690-9C8747446A85}"/>
              </a:ext>
            </a:extLst>
          </p:cNvPr>
          <p:cNvSpPr>
            <a:spLocks noGrp="1"/>
          </p:cNvSpPr>
          <p:nvPr/>
        </p:nvSpPr>
        <p:spPr>
          <a:xfrm>
            <a:off x="3524250" y="5605823"/>
            <a:ext cx="2095500" cy="285750"/>
          </a:xfrm>
          <a:prstGeom prst="rect">
            <a:avLst/>
          </a:prstGeom>
          <a:noFill/>
          <a:ln w="0">
            <a:noFill/>
            <a:prstDash val="solid"/>
          </a:ln>
        </p:spPr>
        <p:txBody>
          <a:bodyPr anchor="t">
            <a:noAutofit/>
          </a:bodyPr>
          <a:lstStyle/>
          <a:p>
            <a:pPr algn="r">
              <a:buNone/>
              <a:defRPr sz="1500" b="1" i="0">
                <a:solidFill>
                  <a:srgbClr val="000000"/>
                </a:solidFill>
                <a:latin typeface="Arial"/>
                <a:ea typeface="Arial"/>
                <a:cs typeface="Arial"/>
              </a:defRPr>
            </a:pPr>
            <a:r>
              <a:rPr lang="en-US" sz="1500" b="1" i="0" dirty="0">
                <a:solidFill>
                  <a:srgbClr val="000000"/>
                </a:solidFill>
                <a:latin typeface="Arial"/>
                <a:ea typeface="Arial"/>
                <a:cs typeface="Arial"/>
              </a:rPr>
              <a:t>National </a:t>
            </a:r>
            <a:r>
              <a:rPr sz="1500" b="1" i="0" dirty="0">
                <a:solidFill>
                  <a:srgbClr val="000000"/>
                </a:solidFill>
                <a:latin typeface="Arial"/>
                <a:ea typeface="Arial"/>
                <a:cs typeface="Arial"/>
              </a:rPr>
              <a:t>income</a:t>
            </a:r>
          </a:p>
        </p:txBody>
      </p:sp>
      <p:sp>
        <p:nvSpPr>
          <p:cNvPr id="14" name="Rectangle 13">
            <a:extLst>
              <a:ext uri="{FF2B5EF4-FFF2-40B4-BE49-F238E27FC236}">
                <a16:creationId xmlns:a16="http://schemas.microsoft.com/office/drawing/2014/main" id="{99A586B7-8439-4579-BFBD-1D0EE69BB33C}"/>
              </a:ext>
            </a:extLst>
          </p:cNvPr>
          <p:cNvSpPr>
            <a:spLocks noGrp="1"/>
          </p:cNvSpPr>
          <p:nvPr/>
        </p:nvSpPr>
        <p:spPr>
          <a:xfrm>
            <a:off x="4667250" y="1762125"/>
            <a:ext cx="571500" cy="238125"/>
          </a:xfrm>
          <a:prstGeom prst="rect">
            <a:avLst/>
          </a:prstGeom>
          <a:noFill/>
          <a:ln w="0">
            <a:noFill/>
            <a:prstDash val="solid"/>
          </a:ln>
        </p:spPr>
        <p:txBody>
          <a:bodyPr anchor="t">
            <a:noAutofit/>
          </a:bodyPr>
          <a:lstStyle/>
          <a:p>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a:ext uri="{FF2B5EF4-FFF2-40B4-BE49-F238E27FC236}">
                <a16:creationId xmlns:a16="http://schemas.microsoft.com/office/drawing/2014/main" id="{1732BC21-87A8-47A2-A6D4-1BF750637882}"/>
              </a:ext>
            </a:extLst>
          </p:cNvPr>
          <p:cNvSpPr>
            <a:spLocks noGrp="1"/>
          </p:cNvSpPr>
          <p:nvPr/>
        </p:nvSpPr>
        <p:spPr>
          <a:xfrm>
            <a:off x="5095875" y="2795683"/>
            <a:ext cx="666750" cy="238125"/>
          </a:xfrm>
          <a:prstGeom prst="rect">
            <a:avLst/>
          </a:prstGeom>
          <a:noFill/>
          <a:ln w="0">
            <a:noFill/>
            <a:prstDash val="solid"/>
          </a:ln>
        </p:spPr>
        <p:txBody>
          <a:bodyPr anchor="t">
            <a:noAutofit/>
          </a:bodyPr>
          <a:lstStyle/>
          <a:p>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a:ext uri="{FF2B5EF4-FFF2-40B4-BE49-F238E27FC236}">
                <a16:creationId xmlns:a16="http://schemas.microsoft.com/office/drawing/2014/main" id="{1F179D0F-73B8-4391-B8DA-0196250104EB}"/>
              </a:ext>
            </a:extLst>
          </p:cNvPr>
          <p:cNvSpPr>
            <a:spLocks noGrp="1"/>
          </p:cNvSpPr>
          <p:nvPr/>
        </p:nvSpPr>
        <p:spPr>
          <a:xfrm>
            <a:off x="5095875" y="2033683"/>
            <a:ext cx="666750" cy="238125"/>
          </a:xfrm>
          <a:prstGeom prst="rect">
            <a:avLst/>
          </a:prstGeom>
          <a:noFill/>
          <a:ln w="0">
            <a:noFill/>
            <a:prstDash val="solid"/>
          </a:ln>
        </p:spPr>
        <p:txBody>
          <a:bodyPr anchor="t">
            <a:noAutofit/>
          </a:bodyPr>
          <a:lstStyle/>
          <a:p>
            <a:pPr algn="l">
              <a:buNone/>
              <a:defRPr sz="1500" b="1" i="0">
                <a:solidFill>
                  <a:srgbClr val="3D8DFF"/>
                </a:solidFill>
                <a:latin typeface="Arial"/>
                <a:ea typeface="Arial"/>
                <a:cs typeface="Arial"/>
              </a:defRPr>
            </a:pPr>
            <a:r>
              <a:rPr sz="1500" b="1" i="0" dirty="0">
                <a:solidFill>
                  <a:srgbClr val="3D8DFF"/>
                </a:solidFill>
                <a:latin typeface="Arial"/>
                <a:ea typeface="Arial"/>
                <a:cs typeface="Arial"/>
              </a:rPr>
              <a:t>AE₁</a:t>
            </a:r>
          </a:p>
        </p:txBody>
      </p:sp>
      <p:sp>
        <p:nvSpPr>
          <p:cNvPr id="17" name="Rectangle 16">
            <a:extLst>
              <a:ext uri="{FF2B5EF4-FFF2-40B4-BE49-F238E27FC236}">
                <a16:creationId xmlns:a16="http://schemas.microsoft.com/office/drawing/2014/main" id="{3D818E01-BF42-443A-8986-7E86B85E0E1E}"/>
              </a:ext>
            </a:extLst>
          </p:cNvPr>
          <p:cNvSpPr>
            <a:spLocks noGrp="1"/>
          </p:cNvSpPr>
          <p:nvPr/>
        </p:nvSpPr>
        <p:spPr>
          <a:xfrm>
            <a:off x="2500313" y="5357812"/>
            <a:ext cx="476250" cy="238125"/>
          </a:xfrm>
          <a:prstGeom prst="rect">
            <a:avLst/>
          </a:prstGeom>
          <a:noFill/>
          <a:ln w="0">
            <a:noFill/>
            <a:prstDash val="solid"/>
          </a:ln>
        </p:spPr>
        <p:txBody>
          <a:bodyPr anchor="t">
            <a:noAutofit/>
          </a:bodyPr>
          <a:lstStyle/>
          <a:p>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a:ext uri="{FF2B5EF4-FFF2-40B4-BE49-F238E27FC236}">
                <a16:creationId xmlns:a16="http://schemas.microsoft.com/office/drawing/2014/main" id="{8BF6C5EC-F96B-4BDB-91F7-751945B5CFFA}"/>
              </a:ext>
            </a:extLst>
          </p:cNvPr>
          <p:cNvSpPr>
            <a:spLocks noGrp="1"/>
          </p:cNvSpPr>
          <p:nvPr/>
        </p:nvSpPr>
        <p:spPr>
          <a:xfrm>
            <a:off x="4333875" y="5334000"/>
            <a:ext cx="476250" cy="23812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a:ext uri="{FF2B5EF4-FFF2-40B4-BE49-F238E27FC236}">
                <a16:creationId xmlns:a16="http://schemas.microsoft.com/office/drawing/2014/main" id="{AE825F03-74D5-416B-8F05-D506ED028EAA}"/>
              </a:ext>
            </a:extLst>
          </p:cNvPr>
          <p:cNvSpPr>
            <a:spLocks noGrp="1"/>
          </p:cNvSpPr>
          <p:nvPr/>
        </p:nvSpPr>
        <p:spPr>
          <a:xfrm>
            <a:off x="6572250" y="166687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a:ext uri="{FF2B5EF4-FFF2-40B4-BE49-F238E27FC236}">
                <a16:creationId xmlns:a16="http://schemas.microsoft.com/office/drawing/2014/main" id="{42C65D3B-5C68-4025-8764-05B69F6175CC}"/>
              </a:ext>
            </a:extLst>
          </p:cNvPr>
          <p:cNvSpPr>
            <a:spLocks noGrp="1"/>
          </p:cNvSpPr>
          <p:nvPr/>
        </p:nvSpPr>
        <p:spPr>
          <a:xfrm>
            <a:off x="6572250" y="2190750"/>
            <a:ext cx="4572000" cy="285750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Initial equilibrium: planned spending = output at Y₀.</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An autonomous injection shifts planned spending from AE₀ to AE₁.</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Income rises through repeated rounds until a new equilibrium at Y₁.</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horizontal change is ΔY = k × ΔJ.</a:t>
            </a:r>
          </a:p>
        </p:txBody>
      </p:sp>
      <p:sp>
        <p:nvSpPr>
          <p:cNvPr id="21" name="Rectangle 20">
            <a:extLst>
              <a:ext uri="{FF2B5EF4-FFF2-40B4-BE49-F238E27FC236}">
                <a16:creationId xmlns:a16="http://schemas.microsoft.com/office/drawing/2014/main" id="{58F3669D-2030-4FD6-8E06-503A3BC23C2F}"/>
              </a:ext>
            </a:extLst>
          </p:cNvPr>
          <p:cNvSpPr>
            <a:spLocks noGrp="1"/>
          </p:cNvSpPr>
          <p:nvPr/>
        </p:nvSpPr>
        <p:spPr>
          <a:xfrm>
            <a:off x="6191250" y="5286375"/>
            <a:ext cx="5238750" cy="552450"/>
          </a:xfrm>
          <a:prstGeom prst="rect">
            <a:avLst/>
          </a:prstGeom>
          <a:noFill/>
          <a:ln w="0">
            <a:noFill/>
            <a:prstDash val="solid"/>
          </a:ln>
        </p:spPr>
        <p:txBody>
          <a:bodyPr anchor="t">
            <a:noAutofit/>
          </a:bodyPr>
          <a:lstStyle/>
          <a:p>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Exam trap: AE is plotted against income; AD is plotted against the price level.</a:t>
            </a:r>
          </a:p>
        </p:txBody>
      </p:sp>
    </p:spTree>
    <p:extLst>
      <p:ext uri="{BB962C8B-B14F-4D97-AF65-F5344CB8AC3E}">
        <p14:creationId xmlns:p14="http://schemas.microsoft.com/office/powerpoint/2010/main" val="1314229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lide-25-title">
            <a:extLst>
              <a:ext uri="{FF2B5EF4-FFF2-40B4-BE49-F238E27FC236}">
                <a16:creationId xmlns:a16="http://schemas.microsoft.com/office/drawing/2014/main" id="{D2045BB7-12D4-4A8D-AF3B-0CD5956637C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spending round shifts AD again</a:t>
            </a:r>
          </a:p>
        </p:txBody>
      </p:sp>
      <p:sp>
        <p:nvSpPr>
          <p:cNvPr id="3" name="Rectangle 2">
            <a:extLst>
              <a:ext uri="{FF2B5EF4-FFF2-40B4-BE49-F238E27FC236}">
                <a16:creationId xmlns:a16="http://schemas.microsoft.com/office/drawing/2014/main" id="{26FBDA1F-AB12-415C-A17F-BDCF2F6784E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F8B82AE8-57FB-4E22-9A4F-E4DBF6C0B7D9}"/>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cxnSp>
        <p:nvCxnSpPr>
          <p:cNvPr id="113" name="Straight Arrow Connector 90"/>
          <p:cNvCxnSpPr/>
          <p:nvPr/>
        </p:nvCxnSpPr>
        <p:spPr>
          <a:xfrm>
            <a:off x="857250" y="5238750"/>
            <a:ext cx="5048250" cy="95"/>
          </a:xfrm>
          <a:prstGeom prst="straightConnector1">
            <a:avLst/>
          </a:prstGeom>
          <a:ln w="19050">
            <a:solidFill>
              <a:srgbClr val="000000"/>
            </a:solidFill>
            <a:prstDash val="solid"/>
          </a:ln>
        </p:spPr>
      </p:cxnSp>
      <p:cxnSp>
        <p:nvCxnSpPr>
          <p:cNvPr id="114" name="Straight Arrow Connector 91"/>
          <p:cNvCxnSpPr/>
          <p:nvPr/>
        </p:nvCxnSpPr>
        <p:spPr>
          <a:xfrm>
            <a:off x="857250" y="1762125"/>
            <a:ext cx="95" cy="3476625"/>
          </a:xfrm>
          <a:prstGeom prst="straightConnector1">
            <a:avLst/>
          </a:prstGeom>
          <a:ln w="19050">
            <a:solidFill>
              <a:srgbClr val="000000"/>
            </a:solidFill>
            <a:prstDash val="solid"/>
          </a:ln>
        </p:spPr>
      </p:cxnSp>
      <p:cxnSp>
        <p:nvCxnSpPr>
          <p:cNvPr id="115" name="Straight Arrow Connector 92"/>
          <p:cNvCxnSpPr/>
          <p:nvPr/>
        </p:nvCxnSpPr>
        <p:spPr>
          <a:xfrm flipV="1">
            <a:off x="1428750" y="2238375"/>
            <a:ext cx="3810000" cy="2714625"/>
          </a:xfrm>
          <a:prstGeom prst="straightConnector1">
            <a:avLst/>
          </a:prstGeom>
          <a:ln w="47625">
            <a:solidFill>
              <a:srgbClr val="F26B5B"/>
            </a:solidFill>
            <a:prstDash val="solid"/>
          </a:ln>
        </p:spPr>
      </p:cxnSp>
      <p:cxnSp>
        <p:nvCxnSpPr>
          <p:cNvPr id="116" name="Straight Arrow Connector 93"/>
          <p:cNvCxnSpPr/>
          <p:nvPr/>
        </p:nvCxnSpPr>
        <p:spPr>
          <a:xfrm>
            <a:off x="1428750" y="3238500"/>
            <a:ext cx="3524250" cy="1714500"/>
          </a:xfrm>
          <a:prstGeom prst="straightConnector1">
            <a:avLst/>
          </a:prstGeom>
          <a:ln w="28575">
            <a:solidFill>
              <a:srgbClr val="B8BCC4"/>
            </a:solidFill>
            <a:prstDash val="solid"/>
          </a:ln>
        </p:spPr>
      </p:cxnSp>
      <p:cxnSp>
        <p:nvCxnSpPr>
          <p:cNvPr id="117" name="Straight Arrow Connector 94"/>
          <p:cNvCxnSpPr/>
          <p:nvPr/>
        </p:nvCxnSpPr>
        <p:spPr>
          <a:xfrm>
            <a:off x="1762125" y="2905125"/>
            <a:ext cx="3524250" cy="1714500"/>
          </a:xfrm>
          <a:prstGeom prst="straightConnector1">
            <a:avLst/>
          </a:prstGeom>
          <a:ln w="28575">
            <a:solidFill>
              <a:srgbClr val="3D8DFF"/>
            </a:solidFill>
            <a:prstDash val="solid"/>
          </a:ln>
        </p:spPr>
      </p:cxnSp>
      <p:cxnSp>
        <p:nvCxnSpPr>
          <p:cNvPr id="118" name="Straight Arrow Connector 95"/>
          <p:cNvCxnSpPr/>
          <p:nvPr/>
        </p:nvCxnSpPr>
        <p:spPr>
          <a:xfrm>
            <a:off x="2095500" y="2571750"/>
            <a:ext cx="3524250" cy="1714500"/>
          </a:xfrm>
          <a:prstGeom prst="straightConnector1">
            <a:avLst/>
          </a:prstGeom>
          <a:ln w="28575">
            <a:solidFill>
              <a:srgbClr val="6DCBF4"/>
            </a:solidFill>
            <a:prstDash val="solid"/>
          </a:ln>
        </p:spPr>
      </p:cxnSp>
      <p:cxnSp>
        <p:nvCxnSpPr>
          <p:cNvPr id="119" name="Straight Arrow Connector 96"/>
          <p:cNvCxnSpPr/>
          <p:nvPr/>
        </p:nvCxnSpPr>
        <p:spPr>
          <a:xfrm>
            <a:off x="2428875" y="2238375"/>
            <a:ext cx="3524250" cy="1714500"/>
          </a:xfrm>
          <a:prstGeom prst="straightConnector1">
            <a:avLst/>
          </a:prstGeom>
          <a:ln w="28575">
            <a:solidFill>
              <a:srgbClr val="2B9A66"/>
            </a:solidFill>
            <a:prstDash val="solid"/>
          </a:ln>
        </p:spPr>
      </p:cxnSp>
      <p:sp>
        <p:nvSpPr>
          <p:cNvPr id="12" name="Rectangle 11">
            <a:extLst>
              <a:ext uri="{FF2B5EF4-FFF2-40B4-BE49-F238E27FC236}">
                <a16:creationId xmlns:a16="http://schemas.microsoft.com/office/drawing/2014/main" id="{8B9F1143-030A-464B-80B7-7C09B7A34299}"/>
              </a:ext>
            </a:extLst>
          </p:cNvPr>
          <p:cNvSpPr>
            <a:spLocks noGrp="1"/>
          </p:cNvSpPr>
          <p:nvPr/>
        </p:nvSpPr>
        <p:spPr>
          <a:xfrm>
            <a:off x="333375" y="1395413"/>
            <a:ext cx="1428750" cy="266700"/>
          </a:xfrm>
          <a:prstGeom prst="rect">
            <a:avLst/>
          </a:prstGeom>
          <a:noFill/>
          <a:ln w="0">
            <a:noFill/>
            <a:prstDash val="solid"/>
          </a:ln>
        </p:spPr>
        <p:txBody>
          <a:bodyPr anchor="t">
            <a:noAutofit/>
          </a:bodyPr>
          <a:lstStyle/>
          <a:p>
            <a:pPr algn="l">
              <a:buNone/>
              <a:defRPr sz="1425" b="1" i="0">
                <a:solidFill>
                  <a:srgbClr val="000000"/>
                </a:solidFill>
                <a:latin typeface="Arial"/>
                <a:ea typeface="Arial"/>
                <a:cs typeface="Arial"/>
              </a:defRPr>
            </a:pPr>
            <a:r>
              <a:rPr sz="1425" b="1" i="0" dirty="0">
                <a:solidFill>
                  <a:srgbClr val="000000"/>
                </a:solidFill>
                <a:latin typeface="Arial"/>
                <a:ea typeface="Arial"/>
                <a:cs typeface="Arial"/>
              </a:rPr>
              <a:t>Price level</a:t>
            </a:r>
          </a:p>
        </p:txBody>
      </p:sp>
      <p:sp>
        <p:nvSpPr>
          <p:cNvPr id="13" name="Rectangle 12">
            <a:extLst>
              <a:ext uri="{FF2B5EF4-FFF2-40B4-BE49-F238E27FC236}">
                <a16:creationId xmlns:a16="http://schemas.microsoft.com/office/drawing/2014/main" id="{59A0D291-DB4A-40A7-9E80-E37033D9A2AF}"/>
              </a:ext>
            </a:extLst>
          </p:cNvPr>
          <p:cNvSpPr>
            <a:spLocks noGrp="1"/>
          </p:cNvSpPr>
          <p:nvPr/>
        </p:nvSpPr>
        <p:spPr>
          <a:xfrm>
            <a:off x="4762500" y="5381625"/>
            <a:ext cx="1047750" cy="266700"/>
          </a:xfrm>
          <a:prstGeom prst="rect">
            <a:avLst/>
          </a:prstGeom>
          <a:noFill/>
          <a:ln w="0">
            <a:noFill/>
            <a:prstDash val="solid"/>
          </a:ln>
        </p:spPr>
        <p:txBody>
          <a:bodyPr anchor="t">
            <a:noAutofit/>
          </a:bodyPr>
          <a:lstStyle/>
          <a:p>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Rectangle 13">
            <a:extLst>
              <a:ext uri="{FF2B5EF4-FFF2-40B4-BE49-F238E27FC236}">
                <a16:creationId xmlns:a16="http://schemas.microsoft.com/office/drawing/2014/main" id="{7ACC0ADE-82F3-4BB9-95AE-8CCC9234F00B}"/>
              </a:ext>
            </a:extLst>
          </p:cNvPr>
          <p:cNvSpPr>
            <a:spLocks noGrp="1"/>
          </p:cNvSpPr>
          <p:nvPr/>
        </p:nvSpPr>
        <p:spPr>
          <a:xfrm>
            <a:off x="5095875" y="2095500"/>
            <a:ext cx="571500" cy="228600"/>
          </a:xfrm>
          <a:prstGeom prst="rect">
            <a:avLst/>
          </a:prstGeom>
          <a:noFill/>
          <a:ln w="0">
            <a:noFill/>
            <a:prstDash val="solid"/>
          </a:ln>
        </p:spPr>
        <p:txBody>
          <a:bodyPr anchor="t">
            <a:noAutofit/>
          </a:bodyPr>
          <a:lstStyle/>
          <a:p>
            <a:pPr algn="l">
              <a:buNone/>
              <a:defRPr sz="1500" b="1" i="0">
                <a:solidFill>
                  <a:srgbClr val="F26B5B"/>
                </a:solidFill>
                <a:latin typeface="Arial"/>
                <a:ea typeface="Arial"/>
                <a:cs typeface="Arial"/>
              </a:defRPr>
            </a:pPr>
            <a:r>
              <a:rPr sz="1500" b="1" i="0">
                <a:solidFill>
                  <a:srgbClr val="F26B5B"/>
                </a:solidFill>
                <a:latin typeface="Arial"/>
                <a:ea typeface="Arial"/>
                <a:cs typeface="Arial"/>
              </a:rPr>
              <a:t>AS</a:t>
            </a:r>
          </a:p>
        </p:txBody>
      </p:sp>
      <p:sp>
        <p:nvSpPr>
          <p:cNvPr id="15" name="Rectangle 14">
            <a:extLst>
              <a:ext uri="{FF2B5EF4-FFF2-40B4-BE49-F238E27FC236}">
                <a16:creationId xmlns:a16="http://schemas.microsoft.com/office/drawing/2014/main" id="{3ED3C4C7-FD30-4672-8CAA-DFB2561EDE3B}"/>
              </a:ext>
            </a:extLst>
          </p:cNvPr>
          <p:cNvSpPr>
            <a:spLocks noGrp="1"/>
          </p:cNvSpPr>
          <p:nvPr/>
        </p:nvSpPr>
        <p:spPr>
          <a:xfrm>
            <a:off x="5014748" y="4810125"/>
            <a:ext cx="571500" cy="228600"/>
          </a:xfrm>
          <a:prstGeom prst="rect">
            <a:avLst/>
          </a:prstGeom>
          <a:noFill/>
          <a:ln w="0">
            <a:noFill/>
            <a:prstDash val="solid"/>
          </a:ln>
        </p:spPr>
        <p:txBody>
          <a:bodyPr anchor="t">
            <a:noAutofit/>
          </a:bodyPr>
          <a:lstStyle/>
          <a:p>
            <a:pPr algn="l">
              <a:buNone/>
              <a:defRPr sz="1350" b="0" i="0">
                <a:solidFill>
                  <a:srgbClr val="59616B"/>
                </a:solidFill>
                <a:latin typeface="Arial"/>
                <a:ea typeface="Arial"/>
                <a:cs typeface="Arial"/>
              </a:defRPr>
            </a:pPr>
            <a:r>
              <a:rPr sz="1350" b="0" i="0" dirty="0">
                <a:solidFill>
                  <a:srgbClr val="59616B"/>
                </a:solidFill>
                <a:latin typeface="Arial"/>
                <a:ea typeface="Arial"/>
                <a:cs typeface="Arial"/>
              </a:rPr>
              <a:t>AD₁</a:t>
            </a:r>
          </a:p>
        </p:txBody>
      </p:sp>
      <p:sp>
        <p:nvSpPr>
          <p:cNvPr id="16" name="Rectangle 15">
            <a:extLst>
              <a:ext uri="{FF2B5EF4-FFF2-40B4-BE49-F238E27FC236}">
                <a16:creationId xmlns:a16="http://schemas.microsoft.com/office/drawing/2014/main" id="{8C5A9764-29A7-4DAF-9276-67FCADB8AE37}"/>
              </a:ext>
            </a:extLst>
          </p:cNvPr>
          <p:cNvSpPr>
            <a:spLocks noGrp="1"/>
          </p:cNvSpPr>
          <p:nvPr/>
        </p:nvSpPr>
        <p:spPr>
          <a:xfrm>
            <a:off x="5348123" y="4476750"/>
            <a:ext cx="571500" cy="228600"/>
          </a:xfrm>
          <a:prstGeom prst="rect">
            <a:avLst/>
          </a:prstGeom>
          <a:noFill/>
          <a:ln w="0">
            <a:noFill/>
            <a:prstDash val="solid"/>
          </a:ln>
        </p:spPr>
        <p:txBody>
          <a:bodyPr anchor="t">
            <a:noAutofit/>
          </a:bodyPr>
          <a:lstStyle/>
          <a:p>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AD₂</a:t>
            </a:r>
          </a:p>
        </p:txBody>
      </p:sp>
      <p:sp>
        <p:nvSpPr>
          <p:cNvPr id="17" name="Rectangle 16">
            <a:extLst>
              <a:ext uri="{FF2B5EF4-FFF2-40B4-BE49-F238E27FC236}">
                <a16:creationId xmlns:a16="http://schemas.microsoft.com/office/drawing/2014/main" id="{9883FD48-CA3E-497D-917C-EB84D05195A9}"/>
              </a:ext>
            </a:extLst>
          </p:cNvPr>
          <p:cNvSpPr>
            <a:spLocks noGrp="1"/>
          </p:cNvSpPr>
          <p:nvPr/>
        </p:nvSpPr>
        <p:spPr>
          <a:xfrm>
            <a:off x="5681498" y="4143375"/>
            <a:ext cx="571500" cy="228600"/>
          </a:xfrm>
          <a:prstGeom prst="rect">
            <a:avLst/>
          </a:prstGeom>
          <a:noFill/>
          <a:ln w="0">
            <a:noFill/>
            <a:prstDash val="solid"/>
          </a:ln>
        </p:spPr>
        <p:txBody>
          <a:bodyPr anchor="t">
            <a:noAutofit/>
          </a:bodyPr>
          <a:lstStyle/>
          <a:p>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AD₃</a:t>
            </a:r>
          </a:p>
        </p:txBody>
      </p:sp>
      <p:sp>
        <p:nvSpPr>
          <p:cNvPr id="18" name="Rectangle 17">
            <a:extLst>
              <a:ext uri="{FF2B5EF4-FFF2-40B4-BE49-F238E27FC236}">
                <a16:creationId xmlns:a16="http://schemas.microsoft.com/office/drawing/2014/main" id="{6024C9A4-1093-4A00-B28C-DE2BFC16A4DB}"/>
              </a:ext>
            </a:extLst>
          </p:cNvPr>
          <p:cNvSpPr>
            <a:spLocks noGrp="1"/>
          </p:cNvSpPr>
          <p:nvPr/>
        </p:nvSpPr>
        <p:spPr>
          <a:xfrm>
            <a:off x="6667500" y="166687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MULTIPLIER SEQUENCE</a:t>
            </a:r>
          </a:p>
        </p:txBody>
      </p:sp>
      <p:sp>
        <p:nvSpPr>
          <p:cNvPr id="19" name="Rectangle 18">
            <a:extLst>
              <a:ext uri="{FF2B5EF4-FFF2-40B4-BE49-F238E27FC236}">
                <a16:creationId xmlns:a16="http://schemas.microsoft.com/office/drawing/2014/main" id="{28F362A0-8F74-4007-A603-7BECAB47FA3B}"/>
              </a:ext>
            </a:extLst>
          </p:cNvPr>
          <p:cNvSpPr>
            <a:spLocks noGrp="1"/>
          </p:cNvSpPr>
          <p:nvPr/>
        </p:nvSpPr>
        <p:spPr>
          <a:xfrm>
            <a:off x="6667500" y="2190750"/>
            <a:ext cx="4572000" cy="285750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autonomous injection shifts AD.</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Higher income induces more consumption.</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Further spending shifts AD again.</a:t>
            </a:r>
          </a:p>
          <a:p>
            <a:pPr algn="l">
              <a:buNone/>
              <a:defRPr sz="1875" b="0" i="0">
                <a:solidFill>
                  <a:srgbClr val="000000"/>
                </a:solidFill>
                <a:latin typeface="Arial"/>
                <a:ea typeface="Arial"/>
                <a:cs typeface="Arial"/>
              </a:defRPr>
            </a:pPr>
            <a:r>
              <a:rPr sz="1875" b="0" i="0">
                <a:solidFill>
                  <a:srgbClr val="000000"/>
                </a:solidFill>
                <a:latin typeface="Arial"/>
                <a:ea typeface="Arial"/>
                <a:cs typeface="Arial"/>
              </a:rPr>
              <a:t>• The process ends when extra leakages match the injection.</a:t>
            </a:r>
          </a:p>
        </p:txBody>
      </p:sp>
      <p:sp>
        <p:nvSpPr>
          <p:cNvPr id="20" name="Rectangle 19">
            <a:extLst>
              <a:ext uri="{FF2B5EF4-FFF2-40B4-BE49-F238E27FC236}">
                <a16:creationId xmlns:a16="http://schemas.microsoft.com/office/drawing/2014/main" id="{DD7F7F05-9B40-411B-82A3-A6686DA8D6C6}"/>
              </a:ext>
            </a:extLst>
          </p:cNvPr>
          <p:cNvSpPr>
            <a:spLocks noGrp="1"/>
          </p:cNvSpPr>
          <p:nvPr/>
        </p:nvSpPr>
        <p:spPr>
          <a:xfrm>
            <a:off x="6286500" y="5334000"/>
            <a:ext cx="5334000" cy="571500"/>
          </a:xfrm>
          <a:prstGeom prst="rect">
            <a:avLst/>
          </a:prstGeom>
          <a:noFill/>
          <a:ln w="0">
            <a:noFill/>
            <a:prstDash val="solid"/>
          </a:ln>
        </p:spPr>
        <p:txBody>
          <a:bodyPr anchor="t">
            <a:noAutofit/>
          </a:bodyPr>
          <a:lstStyle/>
          <a:p>
            <a:pPr algn="ctr">
              <a:buNone/>
              <a:defRPr sz="1800" b="1" i="0">
                <a:solidFill>
                  <a:srgbClr val="F26B5B"/>
                </a:solidFill>
                <a:latin typeface="Arial"/>
                <a:ea typeface="Arial"/>
                <a:cs typeface="Arial"/>
              </a:defRPr>
            </a:pPr>
            <a:r>
              <a:rPr sz="1800" b="1" i="0">
                <a:solidFill>
                  <a:srgbClr val="F26B5B"/>
                </a:solidFill>
                <a:latin typeface="Arial"/>
                <a:ea typeface="Arial"/>
                <a:cs typeface="Arial"/>
              </a:rPr>
              <a:t>Final ΔY = k × ΔJ; the price/output split depends on AS and spare capacity.</a:t>
            </a:r>
          </a:p>
        </p:txBody>
      </p:sp>
    </p:spTree>
    <p:extLst>
      <p:ext uri="{BB962C8B-B14F-4D97-AF65-F5344CB8AC3E}">
        <p14:creationId xmlns:p14="http://schemas.microsoft.com/office/powerpoint/2010/main" val="9541286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26-title">
            <a:extLst>
              <a:ext uri="{FF2B5EF4-FFF2-40B4-BE49-F238E27FC236}">
                <a16:creationId xmlns:a16="http://schemas.microsoft.com/office/drawing/2014/main" id="{05CA1C81-BBEB-493E-86D0-EAC70A9171F0}"/>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a:ext uri="{FF2B5EF4-FFF2-40B4-BE49-F238E27FC236}">
                <a16:creationId xmlns:a16="http://schemas.microsoft.com/office/drawing/2014/main" id="{F87E27E2-701A-4D10-86CD-6AD056F8FE80}"/>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78B290E7-C82D-40D5-BA4E-1B595996ECE3}"/>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sp>
        <p:nvSpPr>
          <p:cNvPr id="5" name="Rectangle 4">
            <a:extLst>
              <a:ext uri="{FF2B5EF4-FFF2-40B4-BE49-F238E27FC236}">
                <a16:creationId xmlns:a16="http://schemas.microsoft.com/office/drawing/2014/main" id="{CEA9590D-3D67-4F21-8133-CBF776EBC094}"/>
              </a:ext>
            </a:extLst>
          </p:cNvPr>
          <p:cNvSpPr>
            <a:spLocks noGrp="1"/>
          </p:cNvSpPr>
          <p:nvPr/>
        </p:nvSpPr>
        <p:spPr>
          <a:xfrm>
            <a:off x="666750" y="1714500"/>
            <a:ext cx="4953000" cy="3333750"/>
          </a:xfrm>
          <a:prstGeom prst="rect">
            <a:avLst/>
          </a:prstGeom>
          <a:solidFill>
            <a:srgbClr val="FDEBE8"/>
          </a:solidFill>
          <a:ln w="9525">
            <a:solidFill>
              <a:srgbClr val="F26B5B"/>
            </a:solidFill>
            <a:prstDash val="solid"/>
          </a:ln>
        </p:spPr>
      </p:sp>
      <p:sp>
        <p:nvSpPr>
          <p:cNvPr id="6" name="Rectangle 5">
            <a:extLst>
              <a:ext uri="{FF2B5EF4-FFF2-40B4-BE49-F238E27FC236}">
                <a16:creationId xmlns:a16="http://schemas.microsoft.com/office/drawing/2014/main" id="{38D3EAA6-8C7F-4278-B08B-97461BF967B0}"/>
              </a:ext>
            </a:extLst>
          </p:cNvPr>
          <p:cNvSpPr>
            <a:spLocks noGrp="1"/>
          </p:cNvSpPr>
          <p:nvPr/>
        </p:nvSpPr>
        <p:spPr>
          <a:xfrm>
            <a:off x="1047750" y="2095500"/>
            <a:ext cx="4191000" cy="228600"/>
          </a:xfrm>
          <a:prstGeom prst="rect">
            <a:avLst/>
          </a:prstGeom>
          <a:noFill/>
          <a:ln w="0">
            <a:noFill/>
            <a:prstDash val="solid"/>
          </a:ln>
        </p:spPr>
        <p:txBody>
          <a:bodyPr anchor="t">
            <a:noAutofit/>
          </a:bodyPr>
          <a:lstStyle/>
          <a:p>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a:ext uri="{FF2B5EF4-FFF2-40B4-BE49-F238E27FC236}">
                <a16:creationId xmlns:a16="http://schemas.microsoft.com/office/drawing/2014/main" id="{5E1DAD29-B279-4707-95A7-3BDE68CBF55C}"/>
              </a:ext>
            </a:extLst>
          </p:cNvPr>
          <p:cNvSpPr>
            <a:spLocks noGrp="1"/>
          </p:cNvSpPr>
          <p:nvPr/>
        </p:nvSpPr>
        <p:spPr>
          <a:xfrm>
            <a:off x="1047750" y="2667000"/>
            <a:ext cx="4191000" cy="523875"/>
          </a:xfrm>
          <a:prstGeom prst="rect">
            <a:avLst/>
          </a:prstGeom>
          <a:noFill/>
          <a:ln w="0">
            <a:noFill/>
            <a:prstDash val="solid"/>
          </a:ln>
        </p:spPr>
        <p:txBody>
          <a:bodyPr anchor="t">
            <a:noAutofit/>
          </a:bodyPr>
          <a:lstStyle/>
          <a:p>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a:ext uri="{FF2B5EF4-FFF2-40B4-BE49-F238E27FC236}">
                <a16:creationId xmlns:a16="http://schemas.microsoft.com/office/drawing/2014/main" id="{B8731F23-303B-4179-AF6D-2CF2BEBE25BA}"/>
              </a:ext>
            </a:extLst>
          </p:cNvPr>
          <p:cNvSpPr>
            <a:spLocks noGrp="1"/>
          </p:cNvSpPr>
          <p:nvPr/>
        </p:nvSpPr>
        <p:spPr>
          <a:xfrm>
            <a:off x="1047750" y="3524250"/>
            <a:ext cx="4191000" cy="857250"/>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a:ext uri="{FF2B5EF4-FFF2-40B4-BE49-F238E27FC236}">
                <a16:creationId xmlns:a16="http://schemas.microsoft.com/office/drawing/2014/main" id="{AA3D3FF0-0A1C-424A-8BF0-395612D46323}"/>
              </a:ext>
            </a:extLst>
          </p:cNvPr>
          <p:cNvSpPr>
            <a:spLocks noGrp="1"/>
          </p:cNvSpPr>
          <p:nvPr/>
        </p:nvSpPr>
        <p:spPr>
          <a:xfrm>
            <a:off x="6572250" y="1714500"/>
            <a:ext cx="4953000" cy="3333750"/>
          </a:xfrm>
          <a:prstGeom prst="rect">
            <a:avLst/>
          </a:prstGeom>
          <a:solidFill>
            <a:srgbClr val="EAF5FB"/>
          </a:solidFill>
          <a:ln w="9525">
            <a:solidFill>
              <a:srgbClr val="3D8DFF"/>
            </a:solidFill>
            <a:prstDash val="solid"/>
          </a:ln>
        </p:spPr>
      </p:sp>
      <p:sp>
        <p:nvSpPr>
          <p:cNvPr id="10" name="Rectangle 9">
            <a:extLst>
              <a:ext uri="{FF2B5EF4-FFF2-40B4-BE49-F238E27FC236}">
                <a16:creationId xmlns:a16="http://schemas.microsoft.com/office/drawing/2014/main" id="{4549D589-34C4-45D8-AD5A-2C4F95E1826B}"/>
              </a:ext>
            </a:extLst>
          </p:cNvPr>
          <p:cNvSpPr>
            <a:spLocks noGrp="1"/>
          </p:cNvSpPr>
          <p:nvPr/>
        </p:nvSpPr>
        <p:spPr>
          <a:xfrm>
            <a:off x="6953250" y="2095500"/>
            <a:ext cx="41910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a:ext uri="{FF2B5EF4-FFF2-40B4-BE49-F238E27FC236}">
                <a16:creationId xmlns:a16="http://schemas.microsoft.com/office/drawing/2014/main" id="{668C319A-7871-4445-B2D7-8C674A6A7446}"/>
              </a:ext>
            </a:extLst>
          </p:cNvPr>
          <p:cNvSpPr>
            <a:spLocks noGrp="1"/>
          </p:cNvSpPr>
          <p:nvPr/>
        </p:nvSpPr>
        <p:spPr>
          <a:xfrm>
            <a:off x="6953250" y="2762250"/>
            <a:ext cx="4191000" cy="1190625"/>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a:ext uri="{FF2B5EF4-FFF2-40B4-BE49-F238E27FC236}">
                <a16:creationId xmlns:a16="http://schemas.microsoft.com/office/drawing/2014/main" id="{3F1E7F3B-FCD8-426A-99D7-5E1952659472}"/>
              </a:ext>
            </a:extLst>
          </p:cNvPr>
          <p:cNvSpPr>
            <a:spLocks noGrp="1"/>
          </p:cNvSpPr>
          <p:nvPr/>
        </p:nvSpPr>
        <p:spPr>
          <a:xfrm>
            <a:off x="6953250" y="4143375"/>
            <a:ext cx="4191000" cy="523875"/>
          </a:xfrm>
          <a:prstGeom prst="rect">
            <a:avLst/>
          </a:prstGeom>
          <a:noFill/>
          <a:ln w="0">
            <a:noFill/>
            <a:prstDash val="solid"/>
          </a:ln>
        </p:spPr>
        <p:txBody>
          <a:bodyPr anchor="t">
            <a:noAutofit/>
          </a:bodyPr>
          <a:lstStyle/>
          <a:p>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a:ext uri="{FF2B5EF4-FFF2-40B4-BE49-F238E27FC236}">
                <a16:creationId xmlns:a16="http://schemas.microsoft.com/office/drawing/2014/main" id="{55F10B2F-F3AA-48E4-A820-88DF4F4BE9FE}"/>
              </a:ext>
            </a:extLst>
          </p:cNvPr>
          <p:cNvSpPr>
            <a:spLocks noGrp="1"/>
          </p:cNvSpPr>
          <p:nvPr/>
        </p:nvSpPr>
        <p:spPr>
          <a:xfrm>
            <a:off x="2571750" y="5572125"/>
            <a:ext cx="7048500" cy="400050"/>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14950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9708/32/M/J/25 Q15</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27</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862232"/>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An initial injection into the circular flow of income causes a much larger increase in GDP.</a:t>
            </a:r>
            <a:r>
              <a:rPr lang="en-US" sz="2025" b="1" dirty="0">
                <a:solidFill>
                  <a:srgbClr val="000000"/>
                </a:solidFill>
                <a:latin typeface="Arial"/>
                <a:ea typeface="Arial"/>
                <a:cs typeface="Arial"/>
              </a:rPr>
              <a:t> </a:t>
            </a:r>
            <a:r>
              <a:rPr sz="2025" b="1" i="0" dirty="0">
                <a:solidFill>
                  <a:srgbClr val="000000"/>
                </a:solidFill>
                <a:latin typeface="Arial"/>
                <a:ea typeface="Arial"/>
                <a:cs typeface="Arial"/>
              </a:rPr>
              <a:t>What does this define?</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autonomous investment</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demand-pull inflation</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the accelerator principle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the national income multiplier</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9708/32/F/M/26 Q15</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i="0">
                <a:solidFill>
                  <a:srgbClr val="59616B"/>
                </a:solidFill>
                <a:latin typeface="Arial"/>
                <a:ea typeface="Arial"/>
                <a:cs typeface="Arial"/>
              </a:rPr>
              <a:t>28</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98"/>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An estimate of the consumption function of an economy is given by an equation C = 10 000 + 0.8Y where C = consumption and Y = income.</a:t>
            </a:r>
            <a:r>
              <a:rPr lang="en-US" sz="2025" b="1" i="0" dirty="0">
                <a:solidFill>
                  <a:srgbClr val="000000"/>
                </a:solidFill>
                <a:latin typeface="Arial"/>
                <a:ea typeface="Arial"/>
                <a:cs typeface="Arial"/>
              </a:rPr>
              <a:t> </a:t>
            </a:r>
            <a:endParaRPr sz="2025" b="1" i="0" dirty="0">
              <a:solidFill>
                <a:srgbClr val="000000"/>
              </a:solidFill>
              <a:latin typeface="Arial"/>
              <a:ea typeface="Arial"/>
              <a:cs typeface="Arial"/>
            </a:endParaRPr>
          </a:p>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Which conclusion can be drawn from this information?</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The average propensity to consume is constant.</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The average propensity to consume increases as income increases.</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The average propensity to consume is always equal to the marginal propensity to consume.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381625"/>
            <a:ext cx="9525000" cy="768241"/>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i="0" dirty="0">
                <a:solidFill>
                  <a:srgbClr val="000000"/>
                </a:solidFill>
                <a:latin typeface="Arial"/>
                <a:ea typeface="Arial"/>
                <a:cs typeface="Arial"/>
              </a:rPr>
              <a:t>D  The average propensity to consume is always greater than the marginal propensity to consume.</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9708/31/M/J/26 Q16</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29</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would increase the value of the multiplier?</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a:t>
            </a:r>
            <a:r>
              <a:rPr sz="2025" dirty="0" err="1">
                <a:solidFill>
                  <a:srgbClr val="000000"/>
                </a:solidFill>
                <a:latin typeface="Arial"/>
                <a:cs typeface="Arial"/>
              </a:rPr>
              <a:t>a</a:t>
            </a:r>
            <a:r>
              <a:rPr sz="2025" dirty="0">
                <a:solidFill>
                  <a:srgbClr val="000000"/>
                </a:solidFill>
                <a:latin typeface="Arial"/>
                <a:cs typeface="Arial"/>
              </a:rPr>
              <a:t> decrease in the marginal propensity to consume</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a decrease in the marginal rate of tax</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an increase in the marginal propensity to import</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an increase in the marginal propensity to save</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28-title">
            <a:extLst>
              <a:ext uri="{FF2B5EF4-FFF2-40B4-BE49-F238E27FC236}">
                <a16:creationId xmlns:a16="http://schemas.microsoft.com/office/drawing/2014/main" id="{6803C822-5FCC-46B1-9DC5-6A919507D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concepts and propensities</a:t>
            </a:r>
          </a:p>
        </p:txBody>
      </p:sp>
      <p:cxnSp>
        <p:nvCxnSpPr>
          <p:cNvPr id="113" name="Straight Arrow Connector 88"/>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3BD99998-3687-47AF-9CE9-D174A5660C4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5C97E3E-7E79-4767-A7F2-FC8021EB938D}"/>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30</a:t>
            </a:r>
          </a:p>
        </p:txBody>
      </p:sp>
      <p:sp>
        <p:nvSpPr>
          <p:cNvPr id="5" name="Rectangle 4">
            <a:extLst>
              <a:ext uri="{FF2B5EF4-FFF2-40B4-BE49-F238E27FC236}">
                <a16:creationId xmlns:a16="http://schemas.microsoft.com/office/drawing/2014/main" id="{63C20010-C4D6-441B-B36B-28E06521E701}"/>
              </a:ext>
            </a:extLst>
          </p:cNvPr>
          <p:cNvSpPr>
            <a:spLocks noGrp="1"/>
          </p:cNvSpPr>
          <p:nvPr/>
        </p:nvSpPr>
        <p:spPr>
          <a:xfrm>
            <a:off x="809625" y="166687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D</a:t>
            </a:r>
          </a:p>
        </p:txBody>
      </p:sp>
      <p:sp>
        <p:nvSpPr>
          <p:cNvPr id="6" name="Rectangle 5">
            <a:extLst>
              <a:ext uri="{FF2B5EF4-FFF2-40B4-BE49-F238E27FC236}">
                <a16:creationId xmlns:a16="http://schemas.microsoft.com/office/drawing/2014/main" id="{6AE0371F-C661-420B-A6AF-A2FBBDE856E2}"/>
              </a:ext>
            </a:extLst>
          </p:cNvPr>
          <p:cNvSpPr>
            <a:spLocks noGrp="1"/>
          </p:cNvSpPr>
          <p:nvPr/>
        </p:nvSpPr>
        <p:spPr>
          <a:xfrm>
            <a:off x="2667000" y="166687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Definition</a:t>
            </a:r>
          </a:p>
        </p:txBody>
      </p:sp>
      <p:sp>
        <p:nvSpPr>
          <p:cNvPr id="7" name="Rectangle 6">
            <a:extLst>
              <a:ext uri="{FF2B5EF4-FFF2-40B4-BE49-F238E27FC236}">
                <a16:creationId xmlns:a16="http://schemas.microsoft.com/office/drawing/2014/main" id="{1547264C-3480-4850-9BE3-3746B50AB9BB}"/>
              </a:ext>
            </a:extLst>
          </p:cNvPr>
          <p:cNvSpPr>
            <a:spLocks noGrp="1"/>
          </p:cNvSpPr>
          <p:nvPr/>
        </p:nvSpPr>
        <p:spPr>
          <a:xfrm>
            <a:off x="6667500" y="166687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Initial injection -&gt; more-than-proportionate rise in GDP.</a:t>
            </a:r>
          </a:p>
        </p:txBody>
      </p:sp>
      <p:cxnSp>
        <p:nvCxnSpPr>
          <p:cNvPr id="119" name="Straight Arrow Connector 94"/>
          <p:cNvCxnSpPr/>
          <p:nvPr/>
        </p:nvCxnSpPr>
        <p:spPr>
          <a:xfrm>
            <a:off x="809625" y="2667000"/>
            <a:ext cx="10334625" cy="95"/>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07F9070C-813F-478A-81BD-7DB6489B9A98}"/>
              </a:ext>
            </a:extLst>
          </p:cNvPr>
          <p:cNvSpPr>
            <a:spLocks noGrp="1"/>
          </p:cNvSpPr>
          <p:nvPr/>
        </p:nvSpPr>
        <p:spPr>
          <a:xfrm>
            <a:off x="809625" y="3048000"/>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a:ext uri="{FF2B5EF4-FFF2-40B4-BE49-F238E27FC236}">
                <a16:creationId xmlns:a16="http://schemas.microsoft.com/office/drawing/2014/main" id="{0679F31D-A495-4D12-AACB-2460F8221326}"/>
              </a:ext>
            </a:extLst>
          </p:cNvPr>
          <p:cNvSpPr>
            <a:spLocks noGrp="1"/>
          </p:cNvSpPr>
          <p:nvPr/>
        </p:nvSpPr>
        <p:spPr>
          <a:xfrm>
            <a:off x="2667000" y="3048000"/>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C = a + bY</a:t>
            </a:r>
          </a:p>
        </p:txBody>
      </p:sp>
      <p:sp>
        <p:nvSpPr>
          <p:cNvPr id="11" name="Rectangle 10">
            <a:extLst>
              <a:ext uri="{FF2B5EF4-FFF2-40B4-BE49-F238E27FC236}">
                <a16:creationId xmlns:a16="http://schemas.microsoft.com/office/drawing/2014/main" id="{AD71A006-F2E8-45AD-9AC9-EBDFCE5EFB45}"/>
              </a:ext>
            </a:extLst>
          </p:cNvPr>
          <p:cNvSpPr>
            <a:spLocks noGrp="1"/>
          </p:cNvSpPr>
          <p:nvPr/>
        </p:nvSpPr>
        <p:spPr>
          <a:xfrm>
            <a:off x="6667500" y="3048000"/>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MPC = b = 0.8; APC = a/Y + b, so APC &gt; MPC.</a:t>
            </a:r>
          </a:p>
        </p:txBody>
      </p:sp>
      <p:cxnSp>
        <p:nvCxnSpPr>
          <p:cNvPr id="123" name="Straight Arrow Connector 98"/>
          <p:cNvCxnSpPr/>
          <p:nvPr/>
        </p:nvCxnSpPr>
        <p:spPr>
          <a:xfrm>
            <a:off x="809625" y="4048125"/>
            <a:ext cx="10334625" cy="95"/>
          </a:xfrm>
          <a:prstGeom prst="straightConnector1">
            <a:avLst/>
          </a:prstGeom>
          <a:ln w="9525">
            <a:solidFill>
              <a:srgbClr val="B8BCC4"/>
            </a:solidFill>
            <a:prstDash val="solid"/>
          </a:ln>
        </p:spPr>
      </p:cxnSp>
      <p:sp>
        <p:nvSpPr>
          <p:cNvPr id="13" name="Rectangle 12">
            <a:extLst>
              <a:ext uri="{FF2B5EF4-FFF2-40B4-BE49-F238E27FC236}">
                <a16:creationId xmlns:a16="http://schemas.microsoft.com/office/drawing/2014/main" id="{E2EADD9C-34B7-423A-8481-007ACD14F25D}"/>
              </a:ext>
            </a:extLst>
          </p:cNvPr>
          <p:cNvSpPr>
            <a:spLocks noGrp="1"/>
          </p:cNvSpPr>
          <p:nvPr/>
        </p:nvSpPr>
        <p:spPr>
          <a:xfrm>
            <a:off x="809625" y="442912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B</a:t>
            </a:r>
          </a:p>
        </p:txBody>
      </p:sp>
      <p:sp>
        <p:nvSpPr>
          <p:cNvPr id="14" name="Rectangle 13">
            <a:extLst>
              <a:ext uri="{FF2B5EF4-FFF2-40B4-BE49-F238E27FC236}">
                <a16:creationId xmlns:a16="http://schemas.microsoft.com/office/drawing/2014/main" id="{78865455-ED7B-460B-AB6E-5953BFF844FB}"/>
              </a:ext>
            </a:extLst>
          </p:cNvPr>
          <p:cNvSpPr>
            <a:spLocks noGrp="1"/>
          </p:cNvSpPr>
          <p:nvPr/>
        </p:nvSpPr>
        <p:spPr>
          <a:xfrm>
            <a:off x="2667000" y="442912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MRT falls</a:t>
            </a:r>
          </a:p>
        </p:txBody>
      </p:sp>
      <p:sp>
        <p:nvSpPr>
          <p:cNvPr id="15" name="Rectangle 14">
            <a:extLst>
              <a:ext uri="{FF2B5EF4-FFF2-40B4-BE49-F238E27FC236}">
                <a16:creationId xmlns:a16="http://schemas.microsoft.com/office/drawing/2014/main" id="{ED8AAA65-6C01-42A5-AB42-3EBD2841E328}"/>
              </a:ext>
            </a:extLst>
          </p:cNvPr>
          <p:cNvSpPr>
            <a:spLocks noGrp="1"/>
          </p:cNvSpPr>
          <p:nvPr/>
        </p:nvSpPr>
        <p:spPr>
          <a:xfrm>
            <a:off x="6667500" y="442912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MPW falls, so k = 1/MPW rises.</a:t>
            </a:r>
          </a:p>
        </p:txBody>
      </p:sp>
    </p:spTree>
    <p:extLst>
      <p:ext uri="{BB962C8B-B14F-4D97-AF65-F5344CB8AC3E}">
        <p14:creationId xmlns:p14="http://schemas.microsoft.com/office/powerpoint/2010/main" val="1753836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9708/32/F/M/21 Q24</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31</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50"/>
            <a:ext cx="10096500" cy="100012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 closed economy, the marginal propensity to save is 0.1 and the marginal propensity to pay taxes is also 0.1. These values are constant and do not vary with the level of income.</a:t>
            </a:r>
          </a:p>
          <a:p>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will be the increase in national income if there is an injection of $100 million into the circular flow?</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095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$1000 million</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762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$500 million</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4291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$100 million</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09587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$80 million</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9708/31/O/N/22 Q26</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32</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50"/>
            <a:ext cx="10096500" cy="100012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In an economy, the marginal propensity to consume is 0.2, the marginal propensity to save is 0.3, the marginal propensity to tax is 0.3 and the marginal propensity to import is 0.2 at all levels of income.</a:t>
            </a:r>
          </a:p>
          <a:p>
            <a:pPr algn="ctr">
              <a:buNone/>
              <a:defRPr sz="2025" b="1" i="0">
                <a:solidFill>
                  <a:srgbClr val="000000"/>
                </a:solidFill>
                <a:latin typeface="Arial"/>
                <a:ea typeface="Arial"/>
                <a:cs typeface="Arial"/>
              </a:defRPr>
            </a:pPr>
            <a:r>
              <a:rPr sz="1425" b="1" i="0">
                <a:solidFill>
                  <a:srgbClr val="000000"/>
                </a:solidFill>
                <a:latin typeface="Arial"/>
                <a:ea typeface="Arial"/>
                <a:cs typeface="Arial"/>
              </a:rPr>
              <a:t>What would be the most likely consequence of an increase in government expenditure of $1000m?</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095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Import expenditure would increase by $200m.</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762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Import expenditure would increase by $1000m.</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4291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Tax revenues would increase by $75m.</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09587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Tax revenues would increase by $375m.</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9708/31/O/N/23 Q17</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33</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might decrease if a closed economy with a government sector decides to allow international trade?</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components of aggregate expenditure</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number of injections into the circular flow of income</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number of leakages from the circular flow of income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dirty="0">
                <a:solidFill>
                  <a:srgbClr val="000000"/>
                </a:solidFill>
                <a:latin typeface="Arial"/>
                <a:ea typeface="Arial"/>
                <a:cs typeface="Arial"/>
              </a:rPr>
              <a:t>D  value of the economy’s multiplier</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28-title">
            <a:extLst>
              <a:ext uri="{FF2B5EF4-FFF2-40B4-BE49-F238E27FC236}">
                <a16:creationId xmlns:a16="http://schemas.microsoft.com/office/drawing/2014/main" id="{6803C822-5FCC-46B1-9DC5-6A919507D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calculations and trade</a:t>
            </a:r>
          </a:p>
        </p:txBody>
      </p:sp>
      <p:cxnSp>
        <p:nvCxnSpPr>
          <p:cNvPr id="113" name="Straight Arrow Connector 88"/>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3BD99998-3687-47AF-9CE9-D174A5660C4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5C97E3E-7E79-4767-A7F2-FC8021EB938D}"/>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34</a:t>
            </a:r>
          </a:p>
        </p:txBody>
      </p:sp>
      <p:sp>
        <p:nvSpPr>
          <p:cNvPr id="5" name="Rectangle 4">
            <a:extLst>
              <a:ext uri="{FF2B5EF4-FFF2-40B4-BE49-F238E27FC236}">
                <a16:creationId xmlns:a16="http://schemas.microsoft.com/office/drawing/2014/main" id="{63C20010-C4D6-441B-B36B-28E06521E701}"/>
              </a:ext>
            </a:extLst>
          </p:cNvPr>
          <p:cNvSpPr>
            <a:spLocks noGrp="1"/>
          </p:cNvSpPr>
          <p:nvPr/>
        </p:nvSpPr>
        <p:spPr>
          <a:xfrm>
            <a:off x="809625" y="166687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B</a:t>
            </a:r>
          </a:p>
        </p:txBody>
      </p:sp>
      <p:sp>
        <p:nvSpPr>
          <p:cNvPr id="6" name="Rectangle 5">
            <a:extLst>
              <a:ext uri="{FF2B5EF4-FFF2-40B4-BE49-F238E27FC236}">
                <a16:creationId xmlns:a16="http://schemas.microsoft.com/office/drawing/2014/main" id="{6AE0371F-C661-420B-A6AF-A2FBBDE856E2}"/>
              </a:ext>
            </a:extLst>
          </p:cNvPr>
          <p:cNvSpPr>
            <a:spLocks noGrp="1"/>
          </p:cNvSpPr>
          <p:nvPr/>
        </p:nvSpPr>
        <p:spPr>
          <a:xfrm>
            <a:off x="2667000" y="166687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MPW = 0.20</a:t>
            </a:r>
          </a:p>
        </p:txBody>
      </p:sp>
      <p:sp>
        <p:nvSpPr>
          <p:cNvPr id="7" name="Rectangle 6">
            <a:extLst>
              <a:ext uri="{FF2B5EF4-FFF2-40B4-BE49-F238E27FC236}">
                <a16:creationId xmlns:a16="http://schemas.microsoft.com/office/drawing/2014/main" id="{1547264C-3480-4850-9BE3-3746B50AB9BB}"/>
              </a:ext>
            </a:extLst>
          </p:cNvPr>
          <p:cNvSpPr>
            <a:spLocks noGrp="1"/>
          </p:cNvSpPr>
          <p:nvPr/>
        </p:nvSpPr>
        <p:spPr>
          <a:xfrm>
            <a:off x="6667500" y="1666875"/>
            <a:ext cx="4476750" cy="666750"/>
          </a:xfrm>
          <a:prstGeom prst="rect">
            <a:avLst/>
          </a:prstGeom>
          <a:noFill/>
          <a:ln w="0">
            <a:noFill/>
            <a:prstDash val="solid"/>
          </a:ln>
        </p:spPr>
        <p:txBody>
          <a:bodyPr anchor="t">
            <a:noAutofit/>
          </a:bodyPr>
          <a:lstStyle/>
          <a:p>
            <a:pPr algn="l">
              <a:buNone/>
              <a:defRPr sz="1875" b="0" i="0">
                <a:solidFill>
                  <a:srgbClr val="59616B"/>
                </a:solidFill>
                <a:latin typeface="Arial"/>
                <a:ea typeface="Arial"/>
                <a:cs typeface="Arial"/>
              </a:defRPr>
            </a:pPr>
            <a:r>
              <a:rPr sz="1875" b="0" i="0">
                <a:solidFill>
                  <a:srgbClr val="59616B"/>
                </a:solidFill>
                <a:latin typeface="Arial"/>
                <a:ea typeface="Arial"/>
                <a:cs typeface="Arial"/>
              </a:rPr>
              <a:t>k = 5, so ΔY = $500m.</a:t>
            </a:r>
          </a:p>
        </p:txBody>
      </p:sp>
      <p:cxnSp>
        <p:nvCxnSpPr>
          <p:cNvPr id="119" name="Straight Arrow Connector 94"/>
          <p:cNvCxnSpPr/>
          <p:nvPr/>
        </p:nvCxnSpPr>
        <p:spPr>
          <a:xfrm>
            <a:off x="809625" y="2667000"/>
            <a:ext cx="10334625" cy="95"/>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07F9070C-813F-478A-81BD-7DB6489B9A98}"/>
              </a:ext>
            </a:extLst>
          </p:cNvPr>
          <p:cNvSpPr>
            <a:spLocks noGrp="1"/>
          </p:cNvSpPr>
          <p:nvPr/>
        </p:nvSpPr>
        <p:spPr>
          <a:xfrm>
            <a:off x="809625" y="3048000"/>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a:ext uri="{FF2B5EF4-FFF2-40B4-BE49-F238E27FC236}">
                <a16:creationId xmlns:a16="http://schemas.microsoft.com/office/drawing/2014/main" id="{0679F31D-A495-4D12-AACB-2460F8221326}"/>
              </a:ext>
            </a:extLst>
          </p:cNvPr>
          <p:cNvSpPr>
            <a:spLocks noGrp="1"/>
          </p:cNvSpPr>
          <p:nvPr/>
        </p:nvSpPr>
        <p:spPr>
          <a:xfrm>
            <a:off x="2667000" y="3048000"/>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ΔY = $1,250m</a:t>
            </a:r>
          </a:p>
        </p:txBody>
      </p:sp>
      <p:sp>
        <p:nvSpPr>
          <p:cNvPr id="11" name="Rectangle 10">
            <a:extLst>
              <a:ext uri="{FF2B5EF4-FFF2-40B4-BE49-F238E27FC236}">
                <a16:creationId xmlns:a16="http://schemas.microsoft.com/office/drawing/2014/main" id="{AD71A006-F2E8-45AD-9AC9-EBDFCE5EFB45}"/>
              </a:ext>
            </a:extLst>
          </p:cNvPr>
          <p:cNvSpPr>
            <a:spLocks noGrp="1"/>
          </p:cNvSpPr>
          <p:nvPr/>
        </p:nvSpPr>
        <p:spPr>
          <a:xfrm>
            <a:off x="6667500" y="3048000"/>
            <a:ext cx="4476750" cy="666750"/>
          </a:xfrm>
          <a:prstGeom prst="rect">
            <a:avLst/>
          </a:prstGeom>
          <a:noFill/>
          <a:ln w="0">
            <a:noFill/>
            <a:prstDash val="solid"/>
          </a:ln>
        </p:spPr>
        <p:txBody>
          <a:bodyPr anchor="t">
            <a:noAutofit/>
          </a:bodyPr>
          <a:lstStyle/>
          <a:p>
            <a:pPr algn="l">
              <a:buNone/>
              <a:defRPr sz="1875" b="0" i="0">
                <a:solidFill>
                  <a:srgbClr val="59616B"/>
                </a:solidFill>
                <a:latin typeface="Arial"/>
                <a:ea typeface="Arial"/>
                <a:cs typeface="Arial"/>
              </a:defRPr>
            </a:pPr>
            <a:r>
              <a:rPr sz="1875" b="0" i="0">
                <a:solidFill>
                  <a:srgbClr val="59616B"/>
                </a:solidFill>
                <a:latin typeface="Arial"/>
                <a:ea typeface="Arial"/>
                <a:cs typeface="Arial"/>
              </a:rPr>
              <a:t>ΔT = 0.30 × 1,250 = $375m.</a:t>
            </a:r>
          </a:p>
        </p:txBody>
      </p:sp>
      <p:cxnSp>
        <p:nvCxnSpPr>
          <p:cNvPr id="123" name="Straight Arrow Connector 98"/>
          <p:cNvCxnSpPr/>
          <p:nvPr/>
        </p:nvCxnSpPr>
        <p:spPr>
          <a:xfrm>
            <a:off x="809625" y="4048125"/>
            <a:ext cx="10334625" cy="95"/>
          </a:xfrm>
          <a:prstGeom prst="straightConnector1">
            <a:avLst/>
          </a:prstGeom>
          <a:ln w="9525">
            <a:solidFill>
              <a:srgbClr val="B8BCC4"/>
            </a:solidFill>
            <a:prstDash val="solid"/>
          </a:ln>
        </p:spPr>
      </p:cxnSp>
      <p:sp>
        <p:nvSpPr>
          <p:cNvPr id="13" name="Rectangle 12">
            <a:extLst>
              <a:ext uri="{FF2B5EF4-FFF2-40B4-BE49-F238E27FC236}">
                <a16:creationId xmlns:a16="http://schemas.microsoft.com/office/drawing/2014/main" id="{E2EADD9C-34B7-423A-8481-007ACD14F25D}"/>
              </a:ext>
            </a:extLst>
          </p:cNvPr>
          <p:cNvSpPr>
            <a:spLocks noGrp="1"/>
          </p:cNvSpPr>
          <p:nvPr/>
        </p:nvSpPr>
        <p:spPr>
          <a:xfrm>
            <a:off x="809625" y="442912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D</a:t>
            </a:r>
          </a:p>
        </p:txBody>
      </p:sp>
      <p:sp>
        <p:nvSpPr>
          <p:cNvPr id="14" name="Rectangle 13">
            <a:extLst>
              <a:ext uri="{FF2B5EF4-FFF2-40B4-BE49-F238E27FC236}">
                <a16:creationId xmlns:a16="http://schemas.microsoft.com/office/drawing/2014/main" id="{78865455-ED7B-460B-AB6E-5953BFF844FB}"/>
              </a:ext>
            </a:extLst>
          </p:cNvPr>
          <p:cNvSpPr>
            <a:spLocks noGrp="1"/>
          </p:cNvSpPr>
          <p:nvPr/>
        </p:nvSpPr>
        <p:spPr>
          <a:xfrm>
            <a:off x="2667000" y="442912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Opening to trade</a:t>
            </a:r>
          </a:p>
        </p:txBody>
      </p:sp>
      <p:sp>
        <p:nvSpPr>
          <p:cNvPr id="15" name="Rectangle 14">
            <a:extLst>
              <a:ext uri="{FF2B5EF4-FFF2-40B4-BE49-F238E27FC236}">
                <a16:creationId xmlns:a16="http://schemas.microsoft.com/office/drawing/2014/main" id="{ED8AAA65-6C01-42A5-AB42-3EBD2841E328}"/>
              </a:ext>
            </a:extLst>
          </p:cNvPr>
          <p:cNvSpPr>
            <a:spLocks noGrp="1"/>
          </p:cNvSpPr>
          <p:nvPr/>
        </p:nvSpPr>
        <p:spPr>
          <a:xfrm>
            <a:off x="6667500" y="442912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add a leakage, so MPW rises and k falls.</a:t>
            </a:r>
          </a:p>
        </p:txBody>
      </p:sp>
    </p:spTree>
    <p:extLst>
      <p:ext uri="{BB962C8B-B14F-4D97-AF65-F5344CB8AC3E}">
        <p14:creationId xmlns:p14="http://schemas.microsoft.com/office/powerpoint/2010/main" val="1753836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9708/41/O/N/24 Q1(b) [4]</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35</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Explain how the extraction of natural resources in Ghana will ‘create further employment in other sectors through the multiplier effect’. [4]</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MARK TARGET</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2025" b="0" i="0">
                <a:solidFill>
                  <a:srgbClr val="000000"/>
                </a:solidFill>
                <a:latin typeface="Arial"/>
                <a:ea typeface="Arial"/>
                <a:cs typeface="Arial"/>
              </a:defRPr>
            </a:pPr>
            <a:r>
              <a:rPr sz="2025" b="0" i="0">
                <a:solidFill>
                  <a:srgbClr val="000000"/>
                </a:solidFill>
                <a:latin typeface="Arial"/>
                <a:ea typeface="Arial"/>
                <a:cs typeface="Arial"/>
              </a:rPr>
              <a:t>2 marks: multiplier knowledge | 2 marks: case application</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Ghana multiplier chain</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36</a:t>
            </a:r>
          </a:p>
        </p:txBody>
      </p:sp>
      <p:cxnSp>
        <p:nvCxnSpPr>
          <p:cNvPr id="77" name="Straight Arrow Connector 62"/>
          <p:cNvCxnSpPr>
            <a:cxnSpLocks/>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a:cxnSpLocks/>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a:cxnSpLocks/>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575" b="1" i="0">
                <a:solidFill>
                  <a:srgbClr val="000000"/>
                </a:solidFill>
                <a:latin typeface="Arial"/>
                <a:ea typeface="Arial"/>
                <a:cs typeface="Arial"/>
              </a:defRPr>
            </a:pPr>
            <a:r>
              <a:rPr sz="1575" b="1" i="0">
                <a:solidFill>
                  <a:srgbClr val="000000"/>
                </a:solidFill>
                <a:latin typeface="Arial"/>
                <a:ea typeface="Arial"/>
                <a:cs typeface="Arial"/>
              </a:rPr>
              <a:t>Multiplier = total rise in output from an initial injection; k = ΔY/ΔJ.</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APPLY 1</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Oil extraction creates new jobs and incomes in Ghana.</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2</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Workers spend income in other sectors, creating more jobs and income.</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CHECK</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Name Ghana, the injection, income, re-spending and employment.</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539437" y="6029325"/>
            <a:ext cx="9239250" cy="523875"/>
          </a:xfrm>
          <a:prstGeom prst="rect">
            <a:avLst/>
          </a:prstGeom>
          <a:noFill/>
          <a:ln w="0">
            <a:noFill/>
            <a:prstDash val="solid"/>
          </a:ln>
        </p:spPr>
        <p:txBody>
          <a:bodyPr anchor="t">
            <a:noAutofit/>
          </a:bodyPr>
          <a:lstStyle/>
          <a:p>
            <a:pPr algn="ctr">
              <a:buNone/>
              <a:defRPr sz="1875" b="1" i="0">
                <a:solidFill>
                  <a:srgbClr val="000000"/>
                </a:solidFill>
                <a:latin typeface="Arial"/>
                <a:ea typeface="Arial"/>
                <a:cs typeface="Arial"/>
              </a:defRPr>
            </a:pPr>
            <a:r>
              <a:rPr sz="1875" b="1" i="0" dirty="0">
                <a:solidFill>
                  <a:srgbClr val="000000"/>
                </a:solidFill>
                <a:latin typeface="Arial"/>
                <a:ea typeface="Arial"/>
                <a:cs typeface="Arial"/>
              </a:rPr>
              <a:t>Do not evaluate in a four-mark 'explain' response; complete the chain.</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Teacher-created assessment: multiplier</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37</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open economy with government has MPS = 0.10, MPM = 0.20 and MRT = 0.20. Exports rise by £120m.</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a  Calculate MPW.</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b  Calculate the multiplier.</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c  Calculate the final change in national income.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Explain one reason why the rise in real GDP may be smaller than your answer to c.</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32-title">
            <a:extLst>
              <a:ext uri="{FF2B5EF4-FFF2-40B4-BE49-F238E27FC236}">
                <a16:creationId xmlns:a16="http://schemas.microsoft.com/office/drawing/2014/main" id="{9B894E70-433A-4BF7-990F-7D05587A6D5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Core Lessons 1-2: process, size and outcome</a:t>
            </a:r>
          </a:p>
        </p:txBody>
      </p:sp>
      <p:cxnSp>
        <p:nvCxnSpPr>
          <p:cNvPr id="57" name="Straight Arrow Connector 4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ABCE905A-A9B8-46C4-BCCF-C6B59E6CB22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979478D-5CE9-4E38-9195-1E97D33D590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38</a:t>
            </a:r>
          </a:p>
        </p:txBody>
      </p:sp>
      <p:cxnSp>
        <p:nvCxnSpPr>
          <p:cNvPr id="60" name="Straight Arrow Connector 49"/>
          <p:cNvCxnSpPr/>
          <p:nvPr/>
        </p:nvCxnSpPr>
        <p:spPr>
          <a:xfrm>
            <a:off x="1638169" y="2514647"/>
            <a:ext cx="8953500" cy="95"/>
          </a:xfrm>
          <a:prstGeom prst="straightConnector1">
            <a:avLst/>
          </a:prstGeom>
          <a:ln w="28575">
            <a:solidFill>
              <a:srgbClr val="B8BCC4"/>
            </a:solidFill>
            <a:prstDash val="solid"/>
          </a:ln>
        </p:spPr>
      </p:cxnSp>
      <p:sp>
        <p:nvSpPr>
          <p:cNvPr id="6" name="Oval 5">
            <a:extLst>
              <a:ext uri="{FF2B5EF4-FFF2-40B4-BE49-F238E27FC236}">
                <a16:creationId xmlns:a16="http://schemas.microsoft.com/office/drawing/2014/main" id="{6B5182AC-9591-4B6A-95DA-A6850D5AA88C}"/>
              </a:ext>
            </a:extLst>
          </p:cNvPr>
          <p:cNvSpPr>
            <a:spLocks noGrp="1"/>
          </p:cNvSpPr>
          <p:nvPr/>
        </p:nvSpPr>
        <p:spPr>
          <a:xfrm>
            <a:off x="1257169" y="1990772"/>
            <a:ext cx="1047750" cy="104775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Rectangle 6">
            <a:extLst>
              <a:ext uri="{FF2B5EF4-FFF2-40B4-BE49-F238E27FC236}">
                <a16:creationId xmlns:a16="http://schemas.microsoft.com/office/drawing/2014/main" id="{C0D61783-26B6-4A86-88AF-9E7ECD2CF4C8}"/>
              </a:ext>
            </a:extLst>
          </p:cNvPr>
          <p:cNvSpPr>
            <a:spLocks noGrp="1"/>
          </p:cNvSpPr>
          <p:nvPr/>
        </p:nvSpPr>
        <p:spPr>
          <a:xfrm>
            <a:off x="876169" y="3419522"/>
            <a:ext cx="1809750" cy="285750"/>
          </a:xfrm>
          <a:prstGeom prst="rect">
            <a:avLst/>
          </a:prstGeom>
          <a:noFill/>
          <a:ln w="0">
            <a:noFill/>
            <a:prstDash val="solid"/>
          </a:ln>
        </p:spPr>
        <p:txBody>
          <a:bodyPr anchor="t">
            <a:noAutofit/>
          </a:bodyPr>
          <a:lstStyle/>
          <a:p>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PROCESS</a:t>
            </a:r>
          </a:p>
        </p:txBody>
      </p:sp>
      <p:sp>
        <p:nvSpPr>
          <p:cNvPr id="8" name="Rectangle 7">
            <a:extLst>
              <a:ext uri="{FF2B5EF4-FFF2-40B4-BE49-F238E27FC236}">
                <a16:creationId xmlns:a16="http://schemas.microsoft.com/office/drawing/2014/main" id="{2EB3DF0D-D324-40FC-8735-94DB2341616D}"/>
              </a:ext>
            </a:extLst>
          </p:cNvPr>
          <p:cNvSpPr>
            <a:spLocks noGrp="1"/>
          </p:cNvSpPr>
          <p:nvPr/>
        </p:nvSpPr>
        <p:spPr>
          <a:xfrm>
            <a:off x="495169" y="3895772"/>
            <a:ext cx="2571750" cy="1047750"/>
          </a:xfrm>
          <a:prstGeom prst="rect">
            <a:avLst/>
          </a:prstGeom>
          <a:noFill/>
          <a:ln w="0">
            <a:noFill/>
            <a:prstDash val="solid"/>
          </a:ln>
        </p:spPr>
        <p:txBody>
          <a:bodyPr anchor="t">
            <a:noAutofit/>
          </a:bodyPr>
          <a:lstStyle/>
          <a:p>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An injection becomes income, then repeated rounds of spending.</a:t>
            </a:r>
          </a:p>
        </p:txBody>
      </p:sp>
      <p:sp>
        <p:nvSpPr>
          <p:cNvPr id="9" name="Oval 8">
            <a:extLst>
              <a:ext uri="{FF2B5EF4-FFF2-40B4-BE49-F238E27FC236}">
                <a16:creationId xmlns:a16="http://schemas.microsoft.com/office/drawing/2014/main" id="{9EE759D6-35AF-45C3-B516-0D6A2792B0D1}"/>
              </a:ext>
            </a:extLst>
          </p:cNvPr>
          <p:cNvSpPr>
            <a:spLocks noGrp="1"/>
          </p:cNvSpPr>
          <p:nvPr/>
        </p:nvSpPr>
        <p:spPr>
          <a:xfrm>
            <a:off x="4781419" y="1990772"/>
            <a:ext cx="1047750" cy="104775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10" name="Rectangle 9">
            <a:extLst>
              <a:ext uri="{FF2B5EF4-FFF2-40B4-BE49-F238E27FC236}">
                <a16:creationId xmlns:a16="http://schemas.microsoft.com/office/drawing/2014/main" id="{6768D990-09E5-4BD3-B19C-F71818DCB80A}"/>
              </a:ext>
            </a:extLst>
          </p:cNvPr>
          <p:cNvSpPr>
            <a:spLocks noGrp="1"/>
          </p:cNvSpPr>
          <p:nvPr/>
        </p:nvSpPr>
        <p:spPr>
          <a:xfrm>
            <a:off x="4400419" y="3419522"/>
            <a:ext cx="1809750" cy="285750"/>
          </a:xfrm>
          <a:prstGeom prst="rect">
            <a:avLst/>
          </a:prstGeom>
          <a:noFill/>
          <a:ln w="0">
            <a:noFill/>
            <a:prstDash val="solid"/>
          </a:ln>
        </p:spPr>
        <p:txBody>
          <a:bodyPr anchor="t">
            <a:noAutofit/>
          </a:bodyPr>
          <a:lstStyle/>
          <a:p>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SIZE</a:t>
            </a:r>
          </a:p>
        </p:txBody>
      </p:sp>
      <p:sp>
        <p:nvSpPr>
          <p:cNvPr id="11" name="Rectangle 10">
            <a:extLst>
              <a:ext uri="{FF2B5EF4-FFF2-40B4-BE49-F238E27FC236}">
                <a16:creationId xmlns:a16="http://schemas.microsoft.com/office/drawing/2014/main" id="{0F1CACD2-4FA1-46FC-A4E0-84860FBAE73B}"/>
              </a:ext>
            </a:extLst>
          </p:cNvPr>
          <p:cNvSpPr>
            <a:spLocks noGrp="1"/>
          </p:cNvSpPr>
          <p:nvPr/>
        </p:nvSpPr>
        <p:spPr>
          <a:xfrm>
            <a:off x="4019419" y="3895772"/>
            <a:ext cx="2571750" cy="1047750"/>
          </a:xfrm>
          <a:prstGeom prst="rect">
            <a:avLst/>
          </a:prstGeom>
          <a:noFill/>
          <a:ln w="0">
            <a:noFill/>
            <a:prstDash val="solid"/>
          </a:ln>
        </p:spPr>
        <p:txBody>
          <a:bodyPr anchor="t">
            <a:noAutofit/>
          </a:bodyPr>
          <a:lstStyle/>
          <a:p>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k = 1/MPW. More saving, imports or tax means a smaller multiplier.</a:t>
            </a:r>
          </a:p>
        </p:txBody>
      </p:sp>
      <p:sp>
        <p:nvSpPr>
          <p:cNvPr id="12" name="Oval 11">
            <a:extLst>
              <a:ext uri="{FF2B5EF4-FFF2-40B4-BE49-F238E27FC236}">
                <a16:creationId xmlns:a16="http://schemas.microsoft.com/office/drawing/2014/main" id="{560CD2CC-3ABD-48E1-8803-E64FD5AE5AB5}"/>
              </a:ext>
            </a:extLst>
          </p:cNvPr>
          <p:cNvSpPr>
            <a:spLocks noGrp="1"/>
          </p:cNvSpPr>
          <p:nvPr/>
        </p:nvSpPr>
        <p:spPr>
          <a:xfrm>
            <a:off x="8305669" y="1990772"/>
            <a:ext cx="1047750" cy="1047750"/>
          </a:xfrm>
          <a:prstGeom prst="ellipse">
            <a:avLst/>
          </a:prstGeom>
          <a:solidFill>
            <a:srgbClr val="EAF6EF"/>
          </a:solidFill>
          <a:ln w="9525">
            <a:solidFill>
              <a:srgbClr val="2B9A66"/>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13" name="Rectangle 12">
            <a:extLst>
              <a:ext uri="{FF2B5EF4-FFF2-40B4-BE49-F238E27FC236}">
                <a16:creationId xmlns:a16="http://schemas.microsoft.com/office/drawing/2014/main" id="{8CBA91D2-B24D-458B-953A-52712ACCDEEC}"/>
              </a:ext>
            </a:extLst>
          </p:cNvPr>
          <p:cNvSpPr>
            <a:spLocks noGrp="1"/>
          </p:cNvSpPr>
          <p:nvPr/>
        </p:nvSpPr>
        <p:spPr>
          <a:xfrm>
            <a:off x="7924669" y="3419522"/>
            <a:ext cx="1809750" cy="285750"/>
          </a:xfrm>
          <a:prstGeom prst="rect">
            <a:avLst/>
          </a:prstGeom>
          <a:noFill/>
          <a:ln w="0">
            <a:noFill/>
            <a:prstDash val="solid"/>
          </a:ln>
        </p:spPr>
        <p:txBody>
          <a:bodyPr anchor="t">
            <a:noAutofit/>
          </a:bodyPr>
          <a:lstStyle/>
          <a:p>
            <a:pPr algn="ctr">
              <a:buNone/>
              <a:defRPr sz="1425" b="1" i="0">
                <a:solidFill>
                  <a:srgbClr val="2B9A66"/>
                </a:solidFill>
                <a:latin typeface="Arial"/>
                <a:ea typeface="Arial"/>
                <a:cs typeface="Arial"/>
              </a:defRPr>
            </a:pPr>
            <a:r>
              <a:rPr sz="1425" b="1" i="0">
                <a:solidFill>
                  <a:srgbClr val="2B9A66"/>
                </a:solidFill>
                <a:latin typeface="Arial"/>
                <a:ea typeface="Arial"/>
                <a:cs typeface="Arial"/>
              </a:rPr>
              <a:t>OUTCOME</a:t>
            </a:r>
          </a:p>
        </p:txBody>
      </p:sp>
      <p:sp>
        <p:nvSpPr>
          <p:cNvPr id="14" name="Rectangle 13">
            <a:extLst>
              <a:ext uri="{FF2B5EF4-FFF2-40B4-BE49-F238E27FC236}">
                <a16:creationId xmlns:a16="http://schemas.microsoft.com/office/drawing/2014/main" id="{C4856213-0F74-4BB2-839E-4AC23E393483}"/>
              </a:ext>
            </a:extLst>
          </p:cNvPr>
          <p:cNvSpPr>
            <a:spLocks noGrp="1"/>
          </p:cNvSpPr>
          <p:nvPr/>
        </p:nvSpPr>
        <p:spPr>
          <a:xfrm>
            <a:off x="7543669" y="3895772"/>
            <a:ext cx="2571750" cy="1047750"/>
          </a:xfrm>
          <a:prstGeom prst="rect">
            <a:avLst/>
          </a:prstGeom>
          <a:noFill/>
          <a:ln w="0">
            <a:noFill/>
            <a:prstDash val="solid"/>
          </a:ln>
        </p:spPr>
        <p:txBody>
          <a:bodyPr anchor="t">
            <a:noAutofit/>
          </a:bodyPr>
          <a:lstStyle/>
          <a:p>
            <a:pPr algn="ctr">
              <a:buNone/>
              <a:defRPr sz="1575" b="0" i="0">
                <a:solidFill>
                  <a:srgbClr val="000000"/>
                </a:solidFill>
                <a:latin typeface="Arial"/>
                <a:ea typeface="Arial"/>
                <a:cs typeface="Arial"/>
              </a:defRPr>
            </a:pPr>
            <a:r>
              <a:rPr sz="1575" b="0" i="0">
                <a:solidFill>
                  <a:srgbClr val="000000"/>
                </a:solidFill>
                <a:latin typeface="Arial"/>
                <a:ea typeface="Arial"/>
                <a:cs typeface="Arial"/>
              </a:rPr>
              <a:t>ΔY = k × ΔJ, but real output versus inflation depends on spare capacity.</a:t>
            </a:r>
          </a:p>
        </p:txBody>
      </p:sp>
      <p:sp>
        <p:nvSpPr>
          <p:cNvPr id="15" name="Rectangle 14">
            <a:extLst>
              <a:ext uri="{FF2B5EF4-FFF2-40B4-BE49-F238E27FC236}">
                <a16:creationId xmlns:a16="http://schemas.microsoft.com/office/drawing/2014/main" id="{5476BFBB-8864-408B-8349-BDDD8373681A}"/>
              </a:ext>
            </a:extLst>
          </p:cNvPr>
          <p:cNvSpPr>
            <a:spLocks noGrp="1"/>
          </p:cNvSpPr>
          <p:nvPr/>
        </p:nvSpPr>
        <p:spPr>
          <a:xfrm>
            <a:off x="2381250" y="5762625"/>
            <a:ext cx="7429500" cy="361950"/>
          </a:xfrm>
          <a:prstGeom prst="rect">
            <a:avLst/>
          </a:prstGeom>
          <a:noFill/>
          <a:ln w="0">
            <a:noFill/>
            <a:prstDash val="solid"/>
          </a:ln>
        </p:spPr>
        <p:txBody>
          <a:bodyPr anchor="t">
            <a:noAutofit/>
          </a:bodyPr>
          <a:lstStyle/>
          <a:p>
            <a:pPr algn="ctr">
              <a:buNone/>
              <a:defRPr sz="1875" b="1" i="0">
                <a:solidFill>
                  <a:srgbClr val="3D8DFF"/>
                </a:solidFill>
                <a:latin typeface="Arial"/>
                <a:ea typeface="Arial"/>
                <a:cs typeface="Arial"/>
              </a:defRPr>
            </a:pPr>
            <a:r>
              <a:rPr sz="1875" b="1" i="0">
                <a:solidFill>
                  <a:srgbClr val="3D8DFF"/>
                </a:solidFill>
                <a:latin typeface="Arial"/>
                <a:ea typeface="Arial"/>
                <a:cs typeface="Arial"/>
              </a:rPr>
              <a:t>Final challenge: MPW 0.50 | k 2 | ΔY £240m</a:t>
            </a:r>
          </a:p>
        </p:txBody>
      </p:sp>
    </p:spTree>
    <p:extLst>
      <p:ext uri="{BB962C8B-B14F-4D97-AF65-F5344CB8AC3E}">
        <p14:creationId xmlns:p14="http://schemas.microsoft.com/office/powerpoint/2010/main" val="1246874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9708/41/O/N/21 Q4(a) [12]</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39</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Explain what economists mean by the marginal propensity to consume and consider the importance of this concept in relation to government macroeconomic policy. [12]</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1875" b="0" i="0">
                <a:solidFill>
                  <a:srgbClr val="000000"/>
                </a:solidFill>
                <a:latin typeface="Arial"/>
                <a:ea typeface="Arial"/>
                <a:cs typeface="Arial"/>
              </a:defRPr>
            </a:pPr>
            <a:r>
              <a:rPr sz="1875" b="0" i="0">
                <a:solidFill>
                  <a:srgbClr val="000000"/>
                </a:solidFill>
                <a:latin typeface="Arial"/>
                <a:ea typeface="Arial"/>
                <a:cs typeface="Arial"/>
              </a:rPr>
              <a:t>Today: define MPC and explain its multiplier link. Complete the policy evaluation later.</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9708/41/O/N/21 Q4(a)</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40</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MPC = ΔC/ΔY</a:t>
            </a:r>
          </a:p>
          <a:p>
            <a:endParaRPr sz="1800" b="1" i="0">
              <a:solidFill>
                <a:srgbClr val="000000"/>
              </a:solidFill>
              <a:latin typeface="Arial"/>
              <a:ea typeface="Arial"/>
              <a:cs typeface="Arial"/>
            </a:endParaRPr>
          </a:p>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C = a + bY; b is MPC.</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EXPLAIN</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Higher MPC -&gt; lower MPW -&gt; larger k and a stronger change in AD.</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LATER</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Link to growth, employment, inflation, the BOP and redistribution.</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JUDGE LATER</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Importance varies by policy, MPM/MRT/MPS, spare capacity and confidence.</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Return after macroeconomic policy: then apply to objectives and make a supported judgment.</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9708/41/M/J/26 Q4 [20]</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41</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1500" b="1" i="0">
                <a:solidFill>
                  <a:srgbClr val="000000"/>
                </a:solidFill>
                <a:latin typeface="Arial"/>
                <a:ea typeface="Arial"/>
                <a:cs typeface="Arial"/>
              </a:defRPr>
            </a:pPr>
            <a:r>
              <a:rPr sz="1500" b="1" i="0">
                <a:solidFill>
                  <a:srgbClr val="000000"/>
                </a:solidFill>
                <a:latin typeface="Arial"/>
                <a:ea typeface="Arial"/>
                <a:cs typeface="Arial"/>
              </a:rPr>
              <a:t>Due to the multiplier process, governments conducting an expansionary fiscal policy do not need to increase spending by the full amount of the negative output gap to bring the output of the economy to its full employment level. Evaluate this statement. [20]</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Do not assess yet: this needs output gaps, fiscal policy and AD/AS.</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9708/41/M/J/26 Q4</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42</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OUTPUT GAP</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Actual output &lt; potential output.</a:t>
            </a:r>
          </a:p>
          <a:p>
            <a:endParaRPr sz="1800" b="1" i="0">
              <a:solidFill>
                <a:srgbClr val="000000"/>
              </a:solidFill>
              <a:latin typeface="Arial"/>
              <a:ea typeface="Arial"/>
              <a:cs typeface="Arial"/>
            </a:endParaRPr>
          </a:p>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Full employment removes cyclical unemployment.</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MULTIPLIER</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 is an injection; repeated rounds mean ΔY = k × ΔG.</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AD/AS</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Show AD moving toward full-employment output; explain the total shift exceeds ΔG.</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EVALUATE</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Unstable k, high MPM, crowding out, debt, time lags and overshooting inflation.</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Return after output gaps, fiscal policy and AD/AS; then add crowding out, debt and time lags.</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9708/44/M/J/26 Q4 [20]</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43</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Knowledge of both the multiplier and the accelerator enable a government to implement effective fiscal policies to close a deflationary gap. Evaluate this statement. [20]</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Today: distinguish autonomous from induced investment. Complete the evaluation later.</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When to revisit the later-syllabus questions</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44</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POLICY</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650" b="1" i="0">
                <a:solidFill>
                  <a:srgbClr val="000000"/>
                </a:solidFill>
                <a:latin typeface="Arial"/>
                <a:ea typeface="Arial"/>
                <a:cs typeface="Arial"/>
              </a:defRPr>
            </a:pPr>
            <a:r>
              <a:rPr sz="1650" b="1" i="0">
                <a:solidFill>
                  <a:srgbClr val="000000"/>
                </a:solidFill>
                <a:latin typeface="Arial"/>
                <a:ea typeface="Arial"/>
                <a:cs typeface="Arial"/>
              </a:rPr>
              <a:t>After macro policy objectives and fiscal-policy instruments.</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OUTPUT GAPS</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After negative or deflationary gaps and AD/AS analysis.</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ACCELERATOR</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After induced investment and the accelerator principle.</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THEN ANSWER</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Return to the 12- and 20-mark questions in this appendix.</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Lessons 1-2 assessment ends on slide 38. Slides 39-44 are for later study.</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6698</Words>
  <Application>Microsoft Office PowerPoint</Application>
  <DocSecurity>0</DocSecurity>
  <PresentationFormat>Widescreen</PresentationFormat>
  <Paragraphs>795</Paragraphs>
  <Slides>45</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Samuel Oehler-Huang</cp:lastModifiedBy>
  <cp:revision>8</cp:revision>
  <dcterms:created xsi:type="dcterms:W3CDTF">2026-08-31T05:23:08Z</dcterms:created>
  <dcterms:modified xsi:type="dcterms:W3CDTF">2026-08-31T07:07:43Z</dcterms:modified>
</cp:coreProperties>
</file>