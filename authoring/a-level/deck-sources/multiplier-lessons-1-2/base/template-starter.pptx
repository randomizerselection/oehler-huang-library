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b0a81a8bd54bc6" /><Relationship Type="http://schemas.openxmlformats.org/officeDocument/2006/relationships/extended-properties" Target="/docProps/app.xml" Id="R13a22a01221a45c8" /><Relationship Type="http://schemas.openxmlformats.org/officeDocument/2006/relationships/officeDocument" Target="/ppt/presentation.xml" Id="R60d2f33779b747c9" /></Relationships>
</file>

<file path=ppt/presentation.xml><?xml version="1.0" encoding="utf-8"?>
<p:presentation xmlns:p="http://schemas.openxmlformats.org/presentationml/2006/main">
  <p:sldMasterIdLst>
    <p:sldMasterId xmlns:r="http://schemas.openxmlformats.org/officeDocument/2006/relationships" id="2147483648" r:id="Rd47a2a0a67b34971"/>
  </p:sldMasterIdLst>
  <p:notesMasterIdLst>
    <p:notesMasterId xmlns:r="http://schemas.openxmlformats.org/officeDocument/2006/relationships" r:id="Re170e59d705e415a"/>
  </p:notesMasterIdLst>
  <p:sldIdLst>
    <p:sldId xmlns:r="http://schemas.openxmlformats.org/officeDocument/2006/relationships" id="256" r:id="Reebe2833c2a44087"/>
    <p:sldId xmlns:r="http://schemas.openxmlformats.org/officeDocument/2006/relationships" id="257" r:id="R67636c0087fa4358"/>
    <p:sldId xmlns:r="http://schemas.openxmlformats.org/officeDocument/2006/relationships" id="258" r:id="R2d7cab952ad5419c"/>
    <p:sldId xmlns:r="http://schemas.openxmlformats.org/officeDocument/2006/relationships" id="259" r:id="R6399362ae0b846a2"/>
    <p:sldId xmlns:r="http://schemas.openxmlformats.org/officeDocument/2006/relationships" id="260" r:id="R267f787f97e04feb"/>
    <p:sldId xmlns:r="http://schemas.openxmlformats.org/officeDocument/2006/relationships" id="261" r:id="Re933ce251a094d0c"/>
    <p:sldId xmlns:r="http://schemas.openxmlformats.org/officeDocument/2006/relationships" id="262" r:id="R62bc8f0311a045a3"/>
    <p:sldId xmlns:r="http://schemas.openxmlformats.org/officeDocument/2006/relationships" id="263" r:id="R3e487815e515451e"/>
    <p:sldId xmlns:r="http://schemas.openxmlformats.org/officeDocument/2006/relationships" id="264" r:id="R41dac92c7f9f4822"/>
    <p:sldId xmlns:r="http://schemas.openxmlformats.org/officeDocument/2006/relationships" id="265" r:id="R853e4cfaa175442f"/>
    <p:sldId xmlns:r="http://schemas.openxmlformats.org/officeDocument/2006/relationships" id="266" r:id="R069458ce0cce44f0"/>
    <p:sldId xmlns:r="http://schemas.openxmlformats.org/officeDocument/2006/relationships" id="267" r:id="Rd736c49b9432476d"/>
    <p:sldId xmlns:r="http://schemas.openxmlformats.org/officeDocument/2006/relationships" id="268" r:id="R3e2780339bc447c4"/>
    <p:sldId xmlns:r="http://schemas.openxmlformats.org/officeDocument/2006/relationships" id="269" r:id="Rd57e35973a294115"/>
    <p:sldId xmlns:r="http://schemas.openxmlformats.org/officeDocument/2006/relationships" id="270" r:id="R7608635e1af64b69"/>
    <p:sldId xmlns:r="http://schemas.openxmlformats.org/officeDocument/2006/relationships" id="271" r:id="Rd6fb7628ef1241cc"/>
    <p:sldId xmlns:r="http://schemas.openxmlformats.org/officeDocument/2006/relationships" id="272" r:id="Rb5db7e6b099c486c"/>
    <p:sldId xmlns:r="http://schemas.openxmlformats.org/officeDocument/2006/relationships" id="273" r:id="R590ea753ad874559"/>
    <p:sldId xmlns:r="http://schemas.openxmlformats.org/officeDocument/2006/relationships" id="274" r:id="Rfee2e8402d224702"/>
    <p:sldId xmlns:r="http://schemas.openxmlformats.org/officeDocument/2006/relationships" id="275" r:id="Rabe7b10269ac4b39"/>
    <p:sldId xmlns:r="http://schemas.openxmlformats.org/officeDocument/2006/relationships" id="276" r:id="R4c1218dbcfdc46c9"/>
    <p:sldId xmlns:r="http://schemas.openxmlformats.org/officeDocument/2006/relationships" id="277" r:id="R29ea52fce67e41bf"/>
    <p:sldId xmlns:r="http://schemas.openxmlformats.org/officeDocument/2006/relationships" id="278" r:id="Ra6b5fd23623f490c"/>
    <p:sldId xmlns:r="http://schemas.openxmlformats.org/officeDocument/2006/relationships" id="279" r:id="Rdff986be48184dce"/>
    <p:sldId xmlns:r="http://schemas.openxmlformats.org/officeDocument/2006/relationships" id="280" r:id="R4305d8b5d71f47e1"/>
    <p:sldId xmlns:r="http://schemas.openxmlformats.org/officeDocument/2006/relationships" id="281" r:id="R2b480be11a894550"/>
    <p:sldId xmlns:r="http://schemas.openxmlformats.org/officeDocument/2006/relationships" id="282" r:id="R7fd815e2cdce4a58"/>
    <p:sldId xmlns:r="http://schemas.openxmlformats.org/officeDocument/2006/relationships" id="283" r:id="R72e583233c914477"/>
    <p:sldId xmlns:r="http://schemas.openxmlformats.org/officeDocument/2006/relationships" id="284" r:id="R9e1e0ed9524849b7"/>
    <p:sldId xmlns:r="http://schemas.openxmlformats.org/officeDocument/2006/relationships" id="285" r:id="R99b2601bade74dc2"/>
    <p:sldId xmlns:r="http://schemas.openxmlformats.org/officeDocument/2006/relationships" id="286" r:id="R26eb52ac523345de"/>
    <p:sldId xmlns:r="http://schemas.openxmlformats.org/officeDocument/2006/relationships" id="287" r:id="Rcec9dc144938458e"/>
    <p:sldId xmlns:r="http://schemas.openxmlformats.org/officeDocument/2006/relationships" id="288" r:id="Rcfcd46fb8f1a46bf"/>
    <p:sldId xmlns:r="http://schemas.openxmlformats.org/officeDocument/2006/relationships" id="289" r:id="Red0c79587a5b4096"/>
    <p:sldId xmlns:r="http://schemas.openxmlformats.org/officeDocument/2006/relationships" id="290" r:id="R87132b850c0e420c"/>
    <p:sldId xmlns:r="http://schemas.openxmlformats.org/officeDocument/2006/relationships" id="291" r:id="R3cb91bb442544d72"/>
    <p:sldId xmlns:r="http://schemas.openxmlformats.org/officeDocument/2006/relationships" id="292" r:id="Rdfe09f0776cc45a8"/>
    <p:sldId xmlns:r="http://schemas.openxmlformats.org/officeDocument/2006/relationships" id="293" r:id="R4e7204f2d6764f26"/>
    <p:sldId xmlns:r="http://schemas.openxmlformats.org/officeDocument/2006/relationships" id="294" r:id="R929d6e8e97864dd7"/>
    <p:sldId xmlns:r="http://schemas.openxmlformats.org/officeDocument/2006/relationships" id="295" r:id="R855130f270c04c65"/>
    <p:sldId xmlns:r="http://schemas.openxmlformats.org/officeDocument/2006/relationships" id="296" r:id="Re5812bb01cd94ddb"/>
    <p:sldId xmlns:r="http://schemas.openxmlformats.org/officeDocument/2006/relationships" id="297" r:id="R3bd0d4374f394f22"/>
    <p:sldId xmlns:r="http://schemas.openxmlformats.org/officeDocument/2006/relationships" id="298" r:id="R9bbfac491b1d43ef"/>
    <p:sldId xmlns:r="http://schemas.openxmlformats.org/officeDocument/2006/relationships" id="299" r:id="R4be2c418f1d34fcb"/>
    <p:sldId xmlns:r="http://schemas.openxmlformats.org/officeDocument/2006/relationships" id="300" r:id="R7b15e5bd01324bbd"/>
    <p:sldId xmlns:r="http://schemas.openxmlformats.org/officeDocument/2006/relationships" id="301" r:id="R61ab896fc78f4a9e"/>
    <p:sldId xmlns:r="http://schemas.openxmlformats.org/officeDocument/2006/relationships" id="302" r:id="R407bc16da93146b4"/>
    <p:sldId xmlns:r="http://schemas.openxmlformats.org/officeDocument/2006/relationships" id="303" r:id="R61f8629244c647e9"/>
    <p:sldId xmlns:r="http://schemas.openxmlformats.org/officeDocument/2006/relationships" id="304" r:id="R892101686c594107"/>
    <p:sldId xmlns:r="http://schemas.openxmlformats.org/officeDocument/2006/relationships" id="305" r:id="Rf4d5d6aa60d64a01"/>
    <p:sldId xmlns:r="http://schemas.openxmlformats.org/officeDocument/2006/relationships" id="306" r:id="Rd4f0486d22c044ca"/>
    <p:sldId xmlns:r="http://schemas.openxmlformats.org/officeDocument/2006/relationships" id="307" r:id="R6ddbbadec5d74395"/>
    <p:sldId xmlns:r="http://schemas.openxmlformats.org/officeDocument/2006/relationships" id="308" r:id="R823864975c1144f4"/>
    <p:sldId xmlns:r="http://schemas.openxmlformats.org/officeDocument/2006/relationships" id="309" r:id="R0191c2fcb1e24a3f"/>
    <p:sldId xmlns:r="http://schemas.openxmlformats.org/officeDocument/2006/relationships" id="310" r:id="Rd46bbda3fb2d42c3"/>
    <p:sldId xmlns:r="http://schemas.openxmlformats.org/officeDocument/2006/relationships" id="311" r:id="R5237bbc4e22344f9"/>
    <p:sldId xmlns:r="http://schemas.openxmlformats.org/officeDocument/2006/relationships" id="312" r:id="R8e94eb33cacf47ec"/>
    <p:sldId xmlns:r="http://schemas.openxmlformats.org/officeDocument/2006/relationships" id="313" r:id="R0a2b60c9cd814afc"/>
    <p:sldId xmlns:r="http://schemas.openxmlformats.org/officeDocument/2006/relationships" id="314" r:id="Redcfb2064b794395"/>
    <p:sldId xmlns:r="http://schemas.openxmlformats.org/officeDocument/2006/relationships" id="315" r:id="R6ea5a94947be48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6d34a714f714584" /><Relationship Type="http://schemas.openxmlformats.org/officeDocument/2006/relationships/slideMaster" Target="/ppt/slideMasters/slideMaster1.xml" Id="Rd47a2a0a67b34971" /><Relationship Type="http://schemas.openxmlformats.org/officeDocument/2006/relationships/notesMaster" Target="/ppt/notesMasters/notesMaster1.xml" Id="Re170e59d705e415a" /><Relationship Type="http://schemas.openxmlformats.org/officeDocument/2006/relationships/presProps" Target="/ppt/presProps.xml" Id="R757a6d0ca3c94323" /><Relationship Type="http://schemas.openxmlformats.org/officeDocument/2006/relationships/viewProps" Target="/ppt/viewProps.xml" Id="Rdbab57ffb59b4da9" /><Relationship Type="http://schemas.openxmlformats.org/officeDocument/2006/relationships/tableStyles" Target="/ppt/tableStyles.xml" Id="R42b946701aae40d4" /><Relationship Type="http://schemas.openxmlformats.org/officeDocument/2006/relationships/slide" Target="/ppt/slides/slide1.xml" Id="Reebe2833c2a44087" /><Relationship Type="http://schemas.openxmlformats.org/officeDocument/2006/relationships/slide" Target="/ppt/slides/slide2.xml" Id="R67636c0087fa4358" /><Relationship Type="http://schemas.openxmlformats.org/officeDocument/2006/relationships/slide" Target="/ppt/slides/slide3.xml" Id="R2d7cab952ad5419c" /><Relationship Type="http://schemas.openxmlformats.org/officeDocument/2006/relationships/slide" Target="/ppt/slides/slide4.xml" Id="R6399362ae0b846a2" /><Relationship Type="http://schemas.openxmlformats.org/officeDocument/2006/relationships/slide" Target="/ppt/slides/slide5.xml" Id="R267f787f97e04feb" /><Relationship Type="http://schemas.openxmlformats.org/officeDocument/2006/relationships/slide" Target="/ppt/slides/slide6.xml" Id="Re933ce251a094d0c" /><Relationship Type="http://schemas.openxmlformats.org/officeDocument/2006/relationships/slide" Target="/ppt/slides/slide7.xml" Id="R62bc8f0311a045a3" /><Relationship Type="http://schemas.openxmlformats.org/officeDocument/2006/relationships/slide" Target="/ppt/slides/slide8.xml" Id="R3e487815e515451e" /><Relationship Type="http://schemas.openxmlformats.org/officeDocument/2006/relationships/slide" Target="/ppt/slides/slide9.xml" Id="R41dac92c7f9f4822" /><Relationship Type="http://schemas.openxmlformats.org/officeDocument/2006/relationships/slide" Target="/ppt/slides/slide10.xml" Id="R853e4cfaa175442f" /><Relationship Type="http://schemas.openxmlformats.org/officeDocument/2006/relationships/slide" Target="/ppt/slides/slide11.xml" Id="R069458ce0cce44f0" /><Relationship Type="http://schemas.openxmlformats.org/officeDocument/2006/relationships/slide" Target="/ppt/slides/slide12.xml" Id="Rd736c49b9432476d" /><Relationship Type="http://schemas.openxmlformats.org/officeDocument/2006/relationships/slide" Target="/ppt/slides/slide13.xml" Id="R3e2780339bc447c4" /><Relationship Type="http://schemas.openxmlformats.org/officeDocument/2006/relationships/slide" Target="/ppt/slides/slide14.xml" Id="Rd57e35973a294115" /><Relationship Type="http://schemas.openxmlformats.org/officeDocument/2006/relationships/slide" Target="/ppt/slides/slide15.xml" Id="R7608635e1af64b69" /><Relationship Type="http://schemas.openxmlformats.org/officeDocument/2006/relationships/slide" Target="/ppt/slides/slide16.xml" Id="Rd6fb7628ef1241cc" /><Relationship Type="http://schemas.openxmlformats.org/officeDocument/2006/relationships/slide" Target="/ppt/slides/slide17.xml" Id="Rb5db7e6b099c486c" /><Relationship Type="http://schemas.openxmlformats.org/officeDocument/2006/relationships/slide" Target="/ppt/slides/slide18.xml" Id="R590ea753ad874559" /><Relationship Type="http://schemas.openxmlformats.org/officeDocument/2006/relationships/slide" Target="/ppt/slides/slide19.xml" Id="Rfee2e8402d224702" /><Relationship Type="http://schemas.openxmlformats.org/officeDocument/2006/relationships/slide" Target="/ppt/slides/slide20.xml" Id="Rabe7b10269ac4b39" /><Relationship Type="http://schemas.openxmlformats.org/officeDocument/2006/relationships/slide" Target="/ppt/slides/slide21.xml" Id="R4c1218dbcfdc46c9" /><Relationship Type="http://schemas.openxmlformats.org/officeDocument/2006/relationships/slide" Target="/ppt/slides/slide22.xml" Id="R29ea52fce67e41bf" /><Relationship Type="http://schemas.openxmlformats.org/officeDocument/2006/relationships/slide" Target="/ppt/slides/slide23.xml" Id="Ra6b5fd23623f490c" /><Relationship Type="http://schemas.openxmlformats.org/officeDocument/2006/relationships/slide" Target="/ppt/slides/slide24.xml" Id="Rdff986be48184dce" /><Relationship Type="http://schemas.openxmlformats.org/officeDocument/2006/relationships/slide" Target="/ppt/slides/slide25.xml" Id="R4305d8b5d71f47e1" /><Relationship Type="http://schemas.openxmlformats.org/officeDocument/2006/relationships/slide" Target="/ppt/slides/slide26.xml" Id="R2b480be11a894550" /><Relationship Type="http://schemas.openxmlformats.org/officeDocument/2006/relationships/slide" Target="/ppt/slides/slide27.xml" Id="R7fd815e2cdce4a58" /><Relationship Type="http://schemas.openxmlformats.org/officeDocument/2006/relationships/slide" Target="/ppt/slides/slide28.xml" Id="R72e583233c914477" /><Relationship Type="http://schemas.openxmlformats.org/officeDocument/2006/relationships/slide" Target="/ppt/slides/slide29.xml" Id="R9e1e0ed9524849b7" /><Relationship Type="http://schemas.openxmlformats.org/officeDocument/2006/relationships/slide" Target="/ppt/slides/slide30.xml" Id="R99b2601bade74dc2" /><Relationship Type="http://schemas.openxmlformats.org/officeDocument/2006/relationships/slide" Target="/ppt/slides/slide31.xml" Id="R26eb52ac523345de" /><Relationship Type="http://schemas.openxmlformats.org/officeDocument/2006/relationships/slide" Target="/ppt/slides/slide32.xml" Id="Rcec9dc144938458e" /><Relationship Type="http://schemas.openxmlformats.org/officeDocument/2006/relationships/slide" Target="/ppt/slides/slide33.xml" Id="Rcfcd46fb8f1a46bf" /><Relationship Type="http://schemas.openxmlformats.org/officeDocument/2006/relationships/slide" Target="/ppt/slides/slide34.xml" Id="Red0c79587a5b4096" /><Relationship Type="http://schemas.openxmlformats.org/officeDocument/2006/relationships/slide" Target="/ppt/slides/slide35.xml" Id="R87132b850c0e420c" /><Relationship Type="http://schemas.openxmlformats.org/officeDocument/2006/relationships/slide" Target="/ppt/slides/slide36.xml" Id="R3cb91bb442544d72" /><Relationship Type="http://schemas.openxmlformats.org/officeDocument/2006/relationships/slide" Target="/ppt/slides/slide37.xml" Id="Rdfe09f0776cc45a8" /><Relationship Type="http://schemas.openxmlformats.org/officeDocument/2006/relationships/slide" Target="/ppt/slides/slide38.xml" Id="R4e7204f2d6764f26" /><Relationship Type="http://schemas.openxmlformats.org/officeDocument/2006/relationships/slide" Target="/ppt/slides/slide39.xml" Id="R929d6e8e97864dd7" /><Relationship Type="http://schemas.openxmlformats.org/officeDocument/2006/relationships/slide" Target="/ppt/slides/slide40.xml" Id="R855130f270c04c65" /><Relationship Type="http://schemas.openxmlformats.org/officeDocument/2006/relationships/slide" Target="/ppt/slides/slide41.xml" Id="Re5812bb01cd94ddb" /><Relationship Type="http://schemas.openxmlformats.org/officeDocument/2006/relationships/slide" Target="/ppt/slides/slide42.xml" Id="R3bd0d4374f394f22" /><Relationship Type="http://schemas.openxmlformats.org/officeDocument/2006/relationships/slide" Target="/ppt/slides/slide43.xml" Id="R9bbfac491b1d43ef" /><Relationship Type="http://schemas.openxmlformats.org/officeDocument/2006/relationships/slide" Target="/ppt/slides/slide44.xml" Id="R4be2c418f1d34fcb" /><Relationship Type="http://schemas.openxmlformats.org/officeDocument/2006/relationships/slide" Target="/ppt/slides/slide45.xml" Id="R7b15e5bd01324bbd" /><Relationship Type="http://schemas.openxmlformats.org/officeDocument/2006/relationships/slide" Target="/ppt/slides/slide46.xml" Id="R61ab896fc78f4a9e" /><Relationship Type="http://schemas.openxmlformats.org/officeDocument/2006/relationships/slide" Target="/ppt/slides/slide47.xml" Id="R407bc16da93146b4" /><Relationship Type="http://schemas.openxmlformats.org/officeDocument/2006/relationships/slide" Target="/ppt/slides/slide48.xml" Id="R61f8629244c647e9" /><Relationship Type="http://schemas.openxmlformats.org/officeDocument/2006/relationships/slide" Target="/ppt/slides/slide49.xml" Id="R892101686c594107" /><Relationship Type="http://schemas.openxmlformats.org/officeDocument/2006/relationships/slide" Target="/ppt/slides/slide50.xml" Id="Rf4d5d6aa60d64a01" /><Relationship Type="http://schemas.openxmlformats.org/officeDocument/2006/relationships/slide" Target="/ppt/slides/slide51.xml" Id="Rd4f0486d22c044ca" /><Relationship Type="http://schemas.openxmlformats.org/officeDocument/2006/relationships/slide" Target="/ppt/slides/slide52.xml" Id="R6ddbbadec5d74395" /><Relationship Type="http://schemas.openxmlformats.org/officeDocument/2006/relationships/slide" Target="/ppt/slides/slide53.xml" Id="R823864975c1144f4" /><Relationship Type="http://schemas.openxmlformats.org/officeDocument/2006/relationships/slide" Target="/ppt/slides/slide54.xml" Id="R0191c2fcb1e24a3f" /><Relationship Type="http://schemas.openxmlformats.org/officeDocument/2006/relationships/slide" Target="/ppt/slides/slide55.xml" Id="Rd46bbda3fb2d42c3" /><Relationship Type="http://schemas.openxmlformats.org/officeDocument/2006/relationships/slide" Target="/ppt/slides/slide56.xml" Id="R5237bbc4e22344f9" /><Relationship Type="http://schemas.openxmlformats.org/officeDocument/2006/relationships/slide" Target="/ppt/slides/slide57.xml" Id="R8e94eb33cacf47ec" /><Relationship Type="http://schemas.openxmlformats.org/officeDocument/2006/relationships/slide" Target="/ppt/slides/slide58.xml" Id="R0a2b60c9cd814afc" /><Relationship Type="http://schemas.openxmlformats.org/officeDocument/2006/relationships/slide" Target="/ppt/slides/slide59.xml" Id="Redcfb2064b794395" /><Relationship Type="http://schemas.openxmlformats.org/officeDocument/2006/relationships/slide" Target="/ppt/slides/slide60.xml" Id="R6ea5a94947be48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4a51ca965e40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54a48bc8834dda" /><Relationship Type="http://schemas.openxmlformats.org/officeDocument/2006/relationships/notesMaster" Target="/ppt/notesMasters/notesMaster1.xml" Id="R4475e0a371fd43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5c419766f64722" /><Relationship Type="http://schemas.openxmlformats.org/officeDocument/2006/relationships/notesMaster" Target="/ppt/notesMasters/notesMaster1.xml" Id="Re9eefd132fc141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0b6e89aece40f0" /><Relationship Type="http://schemas.openxmlformats.org/officeDocument/2006/relationships/notesMaster" Target="/ppt/notesMasters/notesMaster1.xml" Id="Radf4c87a432e45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bdef6633224a60" /><Relationship Type="http://schemas.openxmlformats.org/officeDocument/2006/relationships/notesMaster" Target="/ppt/notesMasters/notesMaster1.xml" Id="Rd1ff93b9935c47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8f3a971b9a4b5f" /><Relationship Type="http://schemas.openxmlformats.org/officeDocument/2006/relationships/notesMaster" Target="/ppt/notesMasters/notesMaster1.xml" Id="Rec9ae4dacf914f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bf548012a44296" /><Relationship Type="http://schemas.openxmlformats.org/officeDocument/2006/relationships/notesMaster" Target="/ppt/notesMasters/notesMaster1.xml" Id="R00424d3589de41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8faaa04b30455d" /><Relationship Type="http://schemas.openxmlformats.org/officeDocument/2006/relationships/notesMaster" Target="/ppt/notesMasters/notesMaster1.xml" Id="R9830b3679bb741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e840bb37054c8d" /><Relationship Type="http://schemas.openxmlformats.org/officeDocument/2006/relationships/notesMaster" Target="/ppt/notesMasters/notesMaster1.xml" Id="R9baedb9c4a8549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a07455a15e4561" /><Relationship Type="http://schemas.openxmlformats.org/officeDocument/2006/relationships/notesMaster" Target="/ppt/notesMasters/notesMaster1.xml" Id="R31fe81e1cb0648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dbe61e322348a2" /><Relationship Type="http://schemas.openxmlformats.org/officeDocument/2006/relationships/notesMaster" Target="/ppt/notesMasters/notesMaster1.xml" Id="R42a32cb9849348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1f563d07564b29" /><Relationship Type="http://schemas.openxmlformats.org/officeDocument/2006/relationships/notesMaster" Target="/ppt/notesMasters/notesMaster1.xml" Id="R7766e52647cc41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cc2f93d5884f6d" /><Relationship Type="http://schemas.openxmlformats.org/officeDocument/2006/relationships/notesMaster" Target="/ppt/notesMasters/notesMaster1.xml" Id="R6f65b62778b646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deb777682c462e" /><Relationship Type="http://schemas.openxmlformats.org/officeDocument/2006/relationships/notesMaster" Target="/ppt/notesMasters/notesMaster1.xml" Id="R650d85841b9e49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fce33d296745b6" /><Relationship Type="http://schemas.openxmlformats.org/officeDocument/2006/relationships/notesMaster" Target="/ppt/notesMasters/notesMaster1.xml" Id="Ra5d57fa24ccc4f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697affca304eeb" /><Relationship Type="http://schemas.openxmlformats.org/officeDocument/2006/relationships/notesMaster" Target="/ppt/notesMasters/notesMaster1.xml" Id="R7f715ab9373c48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0a07ca5ccb4d6c" /><Relationship Type="http://schemas.openxmlformats.org/officeDocument/2006/relationships/notesMaster" Target="/ppt/notesMasters/notesMaster1.xml" Id="Rf6f2c65475f949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3697fc366d4197" /><Relationship Type="http://schemas.openxmlformats.org/officeDocument/2006/relationships/notesMaster" Target="/ppt/notesMasters/notesMaster1.xml" Id="Rf6302bb205de4a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53c2e1832ae48d5" /><Relationship Type="http://schemas.openxmlformats.org/officeDocument/2006/relationships/notesMaster" Target="/ppt/notesMasters/notesMaster1.xml" Id="Rdc479469b9d345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87a4e0184904951" /><Relationship Type="http://schemas.openxmlformats.org/officeDocument/2006/relationships/notesMaster" Target="/ppt/notesMasters/notesMaster1.xml" Id="R004c97311494423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8fa641f90924bac" /><Relationship Type="http://schemas.openxmlformats.org/officeDocument/2006/relationships/notesMaster" Target="/ppt/notesMasters/notesMaster1.xml" Id="R7e90dfd748aa432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fbecc605b464efe" /><Relationship Type="http://schemas.openxmlformats.org/officeDocument/2006/relationships/notesMaster" Target="/ppt/notesMasters/notesMaster1.xml" Id="R11eedb1ab6964cd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95c93d165fa40a3" /><Relationship Type="http://schemas.openxmlformats.org/officeDocument/2006/relationships/notesMaster" Target="/ppt/notesMasters/notesMaster1.xml" Id="R30df91889f7444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918892954494108" /><Relationship Type="http://schemas.openxmlformats.org/officeDocument/2006/relationships/notesMaster" Target="/ppt/notesMasters/notesMaster1.xml" Id="R52346cbe6862400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00c323c42c4bba" /><Relationship Type="http://schemas.openxmlformats.org/officeDocument/2006/relationships/notesMaster" Target="/ppt/notesMasters/notesMaster1.xml" Id="R2602bccba9474f1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b00a8e7d154117" /><Relationship Type="http://schemas.openxmlformats.org/officeDocument/2006/relationships/notesMaster" Target="/ppt/notesMasters/notesMaster1.xml" Id="R3f3a53b52ec04ff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2a44c35e6f74380" /><Relationship Type="http://schemas.openxmlformats.org/officeDocument/2006/relationships/notesMaster" Target="/ppt/notesMasters/notesMaster1.xml" Id="R0cb8b9300790443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fe642a890b645ad" /><Relationship Type="http://schemas.openxmlformats.org/officeDocument/2006/relationships/notesMaster" Target="/ppt/notesMasters/notesMaster1.xml" Id="R59538ebfa01e49b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8342a26636541ec" /><Relationship Type="http://schemas.openxmlformats.org/officeDocument/2006/relationships/notesMaster" Target="/ppt/notesMasters/notesMaster1.xml" Id="Rce29afa9f3644c1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f36358095104c3e" /><Relationship Type="http://schemas.openxmlformats.org/officeDocument/2006/relationships/notesMaster" Target="/ppt/notesMasters/notesMaster1.xml" Id="R9c7d7eed4efa45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190343b16a547bf" /><Relationship Type="http://schemas.openxmlformats.org/officeDocument/2006/relationships/notesMaster" Target="/ppt/notesMasters/notesMaster1.xml" Id="R9e404be6c2d94c0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77dd59fda024eff" /><Relationship Type="http://schemas.openxmlformats.org/officeDocument/2006/relationships/notesMaster" Target="/ppt/notesMasters/notesMaster1.xml" Id="Rfd0a4fdbdb80488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5eeeaea37ff4ead" /><Relationship Type="http://schemas.openxmlformats.org/officeDocument/2006/relationships/notesMaster" Target="/ppt/notesMasters/notesMaster1.xml" Id="R9c214cf4d9544c7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43a4dd1f2dd451d" /><Relationship Type="http://schemas.openxmlformats.org/officeDocument/2006/relationships/notesMaster" Target="/ppt/notesMasters/notesMaster1.xml" Id="Rcb1df865a8104f4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eaeaf17f87344d3" /><Relationship Type="http://schemas.openxmlformats.org/officeDocument/2006/relationships/notesMaster" Target="/ppt/notesMasters/notesMaster1.xml" Id="Rf9e0b5b0d2bb4d0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b4919baaa434ccf" /><Relationship Type="http://schemas.openxmlformats.org/officeDocument/2006/relationships/notesMaster" Target="/ppt/notesMasters/notesMaster1.xml" Id="Rcf81e6978820411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99c4144ee9a4bad" /><Relationship Type="http://schemas.openxmlformats.org/officeDocument/2006/relationships/notesMaster" Target="/ppt/notesMasters/notesMaster1.xml" Id="Rc49da93a995b4aa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190534a618a46f5" /><Relationship Type="http://schemas.openxmlformats.org/officeDocument/2006/relationships/notesMaster" Target="/ppt/notesMasters/notesMaster1.xml" Id="R11489013a5394ac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4fbb931ff2644c7" /><Relationship Type="http://schemas.openxmlformats.org/officeDocument/2006/relationships/notesMaster" Target="/ppt/notesMasters/notesMaster1.xml" Id="Re91ccc9fbdc7468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e1cffa9a36b4e50" /><Relationship Type="http://schemas.openxmlformats.org/officeDocument/2006/relationships/notesMaster" Target="/ppt/notesMasters/notesMaster1.xml" Id="R1a9b4b52bc3e443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ad9a75e4e5246e0" /><Relationship Type="http://schemas.openxmlformats.org/officeDocument/2006/relationships/notesMaster" Target="/ppt/notesMasters/notesMaster1.xml" Id="Rff725674172042c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4287ba1dc9b4af0" /><Relationship Type="http://schemas.openxmlformats.org/officeDocument/2006/relationships/notesMaster" Target="/ppt/notesMasters/notesMaster1.xml" Id="R63ddcf184b6f438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77794062a054d3d" /><Relationship Type="http://schemas.openxmlformats.org/officeDocument/2006/relationships/notesMaster" Target="/ppt/notesMasters/notesMaster1.xml" Id="R4f4b4ebed203465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6f8beb227214cc6" /><Relationship Type="http://schemas.openxmlformats.org/officeDocument/2006/relationships/notesMaster" Target="/ppt/notesMasters/notesMaster1.xml" Id="R1b60351e1bb14a3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2cefccb7f8f4e44" /><Relationship Type="http://schemas.openxmlformats.org/officeDocument/2006/relationships/notesMaster" Target="/ppt/notesMasters/notesMaster1.xml" Id="R557b579992f54cf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5630d0e9320425f" /><Relationship Type="http://schemas.openxmlformats.org/officeDocument/2006/relationships/notesMaster" Target="/ppt/notesMasters/notesMaster1.xml" Id="R96a48612846143c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518f1f89e8c435f" /><Relationship Type="http://schemas.openxmlformats.org/officeDocument/2006/relationships/notesMaster" Target="/ppt/notesMasters/notesMaster1.xml" Id="R70724511c02049c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1ebbc7460b0438c" /><Relationship Type="http://schemas.openxmlformats.org/officeDocument/2006/relationships/notesMaster" Target="/ppt/notesMasters/notesMaster1.xml" Id="R3580363e9cee494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10da67524924561" /><Relationship Type="http://schemas.openxmlformats.org/officeDocument/2006/relationships/notesMaster" Target="/ppt/notesMasters/notesMaster1.xml" Id="R5233a654f0d6492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a70209fd2704a57" /><Relationship Type="http://schemas.openxmlformats.org/officeDocument/2006/relationships/notesMaster" Target="/ppt/notesMasters/notesMaster1.xml" Id="R71a6a5e43af141a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59e814a41a343f0" /><Relationship Type="http://schemas.openxmlformats.org/officeDocument/2006/relationships/notesMaster" Target="/ppt/notesMasters/notesMaster1.xml" Id="R7a572e721aa54bc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d23188e1076439e" /><Relationship Type="http://schemas.openxmlformats.org/officeDocument/2006/relationships/notesMaster" Target="/ppt/notesMasters/notesMaster1.xml" Id="Rb6d2e99a0a03448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a9a2ba512cd4b60" /><Relationship Type="http://schemas.openxmlformats.org/officeDocument/2006/relationships/notesMaster" Target="/ppt/notesMasters/notesMaster1.xml" Id="R10782ade4f0548b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e1a0fa6311a4da5" /><Relationship Type="http://schemas.openxmlformats.org/officeDocument/2006/relationships/notesMaster" Target="/ppt/notesMasters/notesMaster1.xml" Id="Rd70af5441b6547f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b8422d495dd4cbf" /><Relationship Type="http://schemas.openxmlformats.org/officeDocument/2006/relationships/notesMaster" Target="/ppt/notesMasters/notesMaster1.xml" Id="R151be980a8b8493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589032ba9e042a8" /><Relationship Type="http://schemas.openxmlformats.org/officeDocument/2006/relationships/notesMaster" Target="/ppt/notesMasters/notesMaster1.xml" Id="Rbc9b010ca2c44bf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28c5635b3f84e32" /><Relationship Type="http://schemas.openxmlformats.org/officeDocument/2006/relationships/notesMaster" Target="/ppt/notesMasters/notesMaster1.xml" Id="R2a375c66717c460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fe97be69bf14567" /><Relationship Type="http://schemas.openxmlformats.org/officeDocument/2006/relationships/notesMaster" Target="/ppt/notesMasters/notesMaster1.xml" Id="Rc380eec499dd4ed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5fbd989ca394fcc" /><Relationship Type="http://schemas.openxmlformats.org/officeDocument/2006/relationships/notesMaster" Target="/ppt/notesMasters/notesMaster1.xml" Id="Raef35c431b5a4a6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5160ce29aec48ad" /><Relationship Type="http://schemas.openxmlformats.org/officeDocument/2006/relationships/notesMaster" Target="/ppt/notesMasters/notesMaster1.xml" Id="R140dc7cf47b34de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b13274da0dd4cf4" /><Relationship Type="http://schemas.openxmlformats.org/officeDocument/2006/relationships/notesMaster" Target="/ppt/notesMasters/notesMaster1.xml" Id="Rcbcfc7f1ab7344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road project: government spending is income for firms and workers. Ask students why the eventual rise in GDP might exceed the initial spending. Do not supply the formula yet.</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A-Level_Macro_International_32-Lesson_Coverage_Planner.xlsx, '32-Lesson Model', lessons 1-2 (local workbook).</a:t>
            </a:r>
          </a:p>
          <a:p xmlns:a="http://schemas.openxmlformats.org/drawingml/2006/main">
            <a:r>
              <a:t>- 9.1.1 Multiplier process SHARE.pdf / PPTX (previous lesson material). Road-construction photograph extracted from the source 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learning contract. The first two outcomes dominate Lesson 1; the second two are revisited and extended in Lesson 2.</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A-Level_Macro_International_32-Lesson_Coverage_Planner.xlsx, '32-Lesson Model', lessons 1-2 (local workbook).</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the same spending is simultaneously someone else's income. The lesson follows that income as it moves through the circular flow.</a:t>
            </a:r>
          </a:p>
          <a:p xmlns:a="http://schemas.openxmlformats.org/drawingml/2006/main">
            <a:endParaRPr/>
          </a:p>
          <a:p xmlns:a="http://schemas.openxmlformats.org/drawingml/2006/main">
            <a:r>
              <a:t>[Sources]</a:t>
            </a:r>
          </a:p>
          <a:p xmlns:a="http://schemas.openxmlformats.org/drawingml/2006/main">
            <a:r>
              <a:t>- A-Level_Macro_International_32-Lesson_Coverage_Planner.xlsx, '32-Lesson Model', lessons 1-2 (local workbook).</a:t>
            </a:r>
          </a:p>
          <a:p xmlns:a="http://schemas.openxmlformats.org/drawingml/2006/main">
            <a:r>
              <a:t>- 9.1.1 Multiplier process SHARE.pdf / PPTX (previous lesson material). Construction-workers photograph extracted from the source 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a minute to predict. Accept ranges, but press for the missing behaviour: how much of each extra pound is re-spent and how much leaks out. The coursebook's Puerto Rico context provides a source-backed comparison: $160m of investment was estimated to produce $240m of final spending.</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the process can work in reverse: a fall in autonomous spending can create a multiplied fall in income. The size depends on leakages in every round.</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classification: exports are an injection; saving is a leakage. Re-establish that equilibrium requires planned injections to equal planned withdrawals.</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row by row if presenting interactively. Ask why the rounds shrink. Answer: 25% leaks into saving in every round. The infinite geometric sum tends to £400m. This mirrors the coursebook's round-by-round method, which uses a different numerical example.</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ΔJ for the initial autonomous injection, matching the coursebook convention. Students may also see ΔAD. Emphasise units cancel: the multiplier is a ratio, not a currency amount.</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if income rises from 100 to 140 and consumption rises from 90 to 122, what is MPC? Answer: 32/40 = 0.8. APC at the new income is 122/140 ≈ 0.871. For household consumption and saving questions, the coursebook commonly uses disposable income as the income base.</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International AS &amp; A Level Economics 9708 syllabus for 2026, 2027 and 2028, section 9.1.1, p.29 (local PDF).</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syllabus uses 'art' for average rate of tax and 'mrt' for marginal rate of tax. Do not let students write MTR unless the examiner wording allows it. The coursebook confirms that marginal propensities, not average propensities, enter the multiplier.</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down the table and ask what institution/sector introduces each new leakage. The coursebook explicitly develops the closed no-government, closed with-government and open with-government cases; the syllabus and previous deck also require the open no-government case.</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 disciplined routine: identify model → identify leakages → calculate MPW → invert → multiply by the autonomous injection. Check that k &gt; 1 because MPW is below 1.</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1) MPW = 1/6 + 1/3 = 1/2, so k = 2. 2) k = 5 and ΔY = $5,000m. 3) MPW = 0.80, so k = 1.25. Insist on working, not just answers.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correct in a different colour. Common errors: omitting a leakage, adding the initial level of income to the change, and using MPW instead of 1/MPW.</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answers: 1) A ratio of the final change in national income to the initial change in autonomous spending. 2) More income leaves the spending stream in every round, so later rounds are smaller. 3) MPW = 0.50; k = 2.</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island to cue the open-economy model: imports are a leakage and exports are an injection. Lesson 2 begins with retrieval before moving into data and national-income determination.</a:t>
            </a:r>
          </a:p>
          <a:p xmlns:a="http://schemas.openxmlformats.org/drawingml/2006/main">
            <a:endParaRPr/>
          </a:p>
          <a:p xmlns:a="http://schemas.openxmlformats.org/drawingml/2006/main">
            <a:r>
              <a:t>[Sources]</a:t>
            </a:r>
          </a:p>
          <a:p xmlns:a="http://schemas.openxmlformats.org/drawingml/2006/main">
            <a:r>
              <a:t>- A-Level_Macro_International_32-Lesson_Coverage_Planner.xlsx, '32-Lesson Model', lessons 1-2 (local workbook).</a:t>
            </a:r>
          </a:p>
          <a:p xmlns:a="http://schemas.openxmlformats.org/drawingml/2006/main">
            <a:r>
              <a:t>- 9.1.2 Calculating the multiplier SHARE.pdf / PPTX, especially slides 33-41 (previous lesson material). Island photograph extracted from the source 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k = ΔY/ΔJ. MPW = MPS + MPM + MRT. Leakages: saving, imports and taxation. Larger leakages lower k. Calculation: MPW = 0.50, k = 2.</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should first find ΔY = 200. Then divide each flow change by 200. C is labelled domestic consumption so the simplified marginal allocation can be read alongside separate import, saving and tax leakages.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the simplified allocation: MPC + MPS + MPM + MRT = 1. The multiplier uses only the withdrawals: 0.10 + 0.10 + 0.10 = 0.30. Do not include MPC in MPW.</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copy the routine as a margin checklist. It reduces most formula-selection errors and makes working easy to reward in exams.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why no MPM or MRT appears. Answer: the model explicitly excludes the foreign and government sectors. Interpret k = 4 in words.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with Example A. The initial injection is larger here, but k is smaller because more types of leakage are present.</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adapts exercise 4. Students often divide 1,200 by 400 and miss the initial investment in total ΔY. In a closed no-government model, ΔY = ΔI + induced ΔC.</a:t>
            </a:r>
          </a:p>
          <a:p xmlns:a="http://schemas.openxmlformats.org/drawingml/2006/main">
            <a:endParaRPr/>
          </a:p>
          <a:p xmlns:a="http://schemas.openxmlformats.org/drawingml/2006/main">
            <a:r>
              <a:t>[Sources]</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k = ΔY/ΔJ. MPW = MPS + MPM + MRT. Leakages: saving, imports and taxation. Larger leakages lower k. Calculation: MPW = 0.50, k = 2.</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row by row if presenting interactively. Ask why the rounds shrink. Answer: 25% leaks into saving in every round. The infinite geometric sum tends to £400m. This mirrors the coursebook's round-by-round method, which uses a different numerical example.</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row by row if presenting interactively. Ask why the rounds shrink. Answer: 25% leaks into saving in every round. The infinite geometric sum tends to £400m. This mirrors the coursebook's round-by-round method, which uses a different numerical example.</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why no MPM or MRT appears. Answer: the model explicitly excludes the foreign and government sectors. Interpret k = 4 in words.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k = ΔY/ΔJ. MPW = MPS + MPM + MRT. Leakages: saving, imports and taxation. Larger leakages lower k. Calculation: MPW = 0.50, k = 2.</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coursebook's Figure 41.5 logic: the multiplier can be represented as successive outward shifts in AD. Add the evaluation that a steeper AS near capacity produces a larger price response and a smaller real-output response.</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Cambridge A Level Economics - Text.pdf, Chapter 41, especially PDF pp.351-353 and 357 (uploaded coursebook).</a:t>
            </a:r>
          </a:p>
          <a:p xmlns:a="http://schemas.openxmlformats.org/drawingml/2006/main">
            <a:r>
              <a:t>- Essay worksheet 2 - MPC and multiplier effect.pdf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coursebook's Figure 41.5 logic: the multiplier can be represented as successive outward shifts in AD. Add the evaluation that a steeper AS near capacity produces a larger price response and a smaller real-output response.</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Cambridge A Level Economics - Text.pdf, Chapter 41, especially PDF pp.351-353 and 357 (uploaded coursebook).</a:t>
            </a:r>
          </a:p>
          <a:p xmlns:a="http://schemas.openxmlformats.org/drawingml/2006/main">
            <a:r>
              <a:t>- Essay worksheet 2 - MPC and multiplier effect.pdf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coursebook's Figure 41.5 logic: the multiplier can be represented as successive outward shifts in AD. Add the evaluation that a steeper AS near capacity produces a larger price response and a smaller real-output response.</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Cambridge A Level Economics - Text.pdf, Chapter 41, especially PDF pp.351-353 and 357 (uploaded coursebook).</a:t>
            </a:r>
          </a:p>
          <a:p xmlns:a="http://schemas.openxmlformats.org/drawingml/2006/main">
            <a:r>
              <a:t>- Essay worksheet 2 - MPC and multiplier effect.pdf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to fiscal policy: an equal-sized rise in G and fall in tax revenue need not shift AD equally because households spend only a fraction of extra disposable income. Keep the claim conditional on behaviour. The coursebook also links multiplier differences between countries to mps, mrt and mpm.</a:t>
            </a:r>
          </a:p>
          <a:p xmlns:a="http://schemas.openxmlformats.org/drawingml/2006/main">
            <a:endParaRPr/>
          </a:p>
          <a:p xmlns:a="http://schemas.openxmlformats.org/drawingml/2006/main">
            <a:r>
              <a:t>[Sources]</a:t>
            </a:r>
          </a:p>
          <a:p xmlns:a="http://schemas.openxmlformats.org/drawingml/2006/main">
            <a:r>
              <a:t>- Multiplier Exercises.pdf (previous lesson material).</a:t>
            </a:r>
          </a:p>
          <a:p xmlns:a="http://schemas.openxmlformats.org/drawingml/2006/main">
            <a:r>
              <a:t>- Essay worksheet 2 - MPC and multiplier effect.pdf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Ask students to identify the defining feature: an initial injection leads to a more-than-proportionate rise in GDP through repeated spending rounds.</a:t>
            </a:r>
          </a:p>
          <a:p xmlns:a="http://schemas.openxmlformats.org/drawingml/2006/main">
            <a:endParaRPr/>
          </a:p>
          <a:p xmlns:a="http://schemas.openxmlformats.org/drawingml/2006/main">
            <a:r>
              <a:t>[Sources]</a:t>
            </a:r>
          </a:p>
          <a:p xmlns:a="http://schemas.openxmlformats.org/drawingml/2006/main">
            <a:r>
              <a:t>- 9708_s25_qp_32.pdf, 9708/32/M/J/25 Q15 (local Paper 3 question-paper folder).</a:t>
            </a:r>
          </a:p>
          <a:p xmlns:a="http://schemas.openxmlformats.org/drawingml/2006/main">
            <a:r>
              <a:t>- 9708_s25_ms_32.pdf, Q15 answer key (local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B. The item is reproduced verbatim. A lower marginal rate of tax reduces withdrawals, lowers MPW and raises k = 1/MPW.</a:t>
            </a:r>
          </a:p>
          <a:p xmlns:a="http://schemas.openxmlformats.org/drawingml/2006/main">
            <a:endParaRPr/>
          </a:p>
          <a:p xmlns:a="http://schemas.openxmlformats.org/drawingml/2006/main">
            <a:r>
              <a:t>[Sources]</a:t>
            </a:r>
          </a:p>
          <a:p xmlns:a="http://schemas.openxmlformats.org/drawingml/2006/main">
            <a:r>
              <a:t>- 9708_s26_qp_31.pdf, 9708/31/M/J/26 Q16 (local 2026 Paper 3 question-paper folder).</a:t>
            </a:r>
          </a:p>
          <a:p xmlns:a="http://schemas.openxmlformats.org/drawingml/2006/main">
            <a:r>
              <a:t>- 9708_s26_ms_31.pdf, Q16 answer key (local 2026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1 D; 2 D; 3 B. Use the shortest valid rule, then ask students to explain why each distractor fails.</a:t>
            </a:r>
          </a:p>
          <a:p xmlns:a="http://schemas.openxmlformats.org/drawingml/2006/main">
            <a:endParaRPr/>
          </a:p>
          <a:p xmlns:a="http://schemas.openxmlformats.org/drawingml/2006/main">
            <a:r>
              <a:t>[Sources]</a:t>
            </a:r>
          </a:p>
          <a:p xmlns:a="http://schemas.openxmlformats.org/drawingml/2006/main">
            <a:r>
              <a:t>- 9708_s25_ms_32.pdf, Q15; 9708_m26_ms_32.pdf, Q15; 9708_s26_ms_31.pdf, Q16 (local Paper 3 mark-scheme folders).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B. The item is reproduced verbatim. MPW = 0.1 + 0.1 = 0.2, k = 5, and the increase in national income is $500 million.</a:t>
            </a:r>
          </a:p>
          <a:p xmlns:a="http://schemas.openxmlformats.org/drawingml/2006/main">
            <a:endParaRPr/>
          </a:p>
          <a:p xmlns:a="http://schemas.openxmlformats.org/drawingml/2006/main">
            <a:r>
              <a:t>[Sources]</a:t>
            </a:r>
          </a:p>
          <a:p xmlns:a="http://schemas.openxmlformats.org/drawingml/2006/main">
            <a:r>
              <a:t>- 9708_m21_qp_32.pdf, 9708/32/F/M/21 Q24 (local Paper 3 question-paper folder).</a:t>
            </a:r>
          </a:p>
          <a:p xmlns:a="http://schemas.openxmlformats.org/drawingml/2006/main">
            <a:r>
              <a:t>- 9708_m21_ms_32.pdf, Q24 answer key (local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MPW = 0.8, k = 1.25, the rise in income is $1250m, and tax revenue rises by 0.3 × $1250m = $375m.</a:t>
            </a:r>
          </a:p>
          <a:p xmlns:a="http://schemas.openxmlformats.org/drawingml/2006/main">
            <a:endParaRPr/>
          </a:p>
          <a:p xmlns:a="http://schemas.openxmlformats.org/drawingml/2006/main">
            <a:r>
              <a:t>[Sources]</a:t>
            </a:r>
          </a:p>
          <a:p xmlns:a="http://schemas.openxmlformats.org/drawingml/2006/main">
            <a:r>
              <a:t>- 9708_w22_qp_31.pdf, 9708/31/O/N/22 Q26 (local Paper 3 question-paper folder).</a:t>
            </a:r>
          </a:p>
          <a:p xmlns:a="http://schemas.openxmlformats.org/drawingml/2006/main">
            <a:r>
              <a:t>- 9708_w22_ms_31.pdf, Q26 answer key (local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Opening the economy adds imports as a leakage, so MPW rises and the multiplier falls.</a:t>
            </a:r>
          </a:p>
          <a:p xmlns:a="http://schemas.openxmlformats.org/drawingml/2006/main">
            <a:endParaRPr/>
          </a:p>
          <a:p xmlns:a="http://schemas.openxmlformats.org/drawingml/2006/main">
            <a:r>
              <a:t>[Sources]</a:t>
            </a:r>
          </a:p>
          <a:p xmlns:a="http://schemas.openxmlformats.org/drawingml/2006/main">
            <a:r>
              <a:t>- 9708_w23_qp_31.pdf, 9708/31/O/N/23 Q17 (local Paper 3 question-paper folder).</a:t>
            </a:r>
          </a:p>
          <a:p xmlns:a="http://schemas.openxmlformats.org/drawingml/2006/main">
            <a:r>
              <a:t>- 9708_w23_ms_31.pdf, Q17 answer key (local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1 B; 2 D; 3 D. Require MPW and k beside the two numerical items; for the trade item, require the chain imports -&gt; leakage -&gt; higher MPW -&gt; lower k.</a:t>
            </a:r>
          </a:p>
          <a:p xmlns:a="http://schemas.openxmlformats.org/drawingml/2006/main">
            <a:endParaRPr/>
          </a:p>
          <a:p xmlns:a="http://schemas.openxmlformats.org/drawingml/2006/main">
            <a:r>
              <a:t>[Sources]</a:t>
            </a:r>
          </a:p>
          <a:p xmlns:a="http://schemas.openxmlformats.org/drawingml/2006/main">
            <a:r>
              <a:t>- 9708_m21_ms_32.pdf, Q24; 9708_w22_ms_31.pdf, Q26; 9708_w23_ms_31.pdf, Q17 (local Paper 3 mark-scheme folders).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reproduced verbatim. Award through a developed chain: extraction creates employment/income; workers or firms spend; demand, employment and income rise in other Ghanaian sectors; repeated rounds generate the multiplier effect.</a:t>
            </a:r>
          </a:p>
          <a:p xmlns:a="http://schemas.openxmlformats.org/drawingml/2006/main">
            <a:endParaRPr/>
          </a:p>
          <a:p xmlns:a="http://schemas.openxmlformats.org/drawingml/2006/main">
            <a:r>
              <a:t>[Sources]</a:t>
            </a:r>
          </a:p>
          <a:p xmlns:a="http://schemas.openxmlformats.org/drawingml/2006/main">
            <a:r>
              <a:t>- 9708_w24_qp_41.pdf, 9708/41/O/N/24 Q1(b) (local Paper 4 question-paper folder).</a:t>
            </a:r>
          </a:p>
          <a:p xmlns:a="http://schemas.openxmlformats.org/drawingml/2006/main">
            <a:r>
              <a:t>- 9708_w24_ms_41.pdf, Q1(b)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four columns as a concise Paper 4 chain. The response should explain, not merely name, the multiplier and must apply the mechanism to Ghana and employment in other sectors.</a:t>
            </a:r>
          </a:p>
          <a:p xmlns:a="http://schemas.openxmlformats.org/drawingml/2006/main">
            <a:endParaRPr/>
          </a:p>
          <a:p xmlns:a="http://schemas.openxmlformats.org/drawingml/2006/main">
            <a:r>
              <a:t>[Sources]</a:t>
            </a:r>
          </a:p>
          <a:p xmlns:a="http://schemas.openxmlformats.org/drawingml/2006/main">
            <a:r>
              <a:t>- 9708_w24_ms_41.pdf, Q1(b)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teacher-created assessment, not a past-paper question. Answers: MPW = 0.50; k = 2; ΔY = £240m. A valid qualification is that near full employment part of the rise in AD may raise prices rather than real output, or that confidence and marginal propensities may change.</a:t>
            </a:r>
          </a:p>
          <a:p xmlns:a="http://schemas.openxmlformats.org/drawingml/2006/main">
            <a:endParaRPr/>
          </a:p>
          <a:p xmlns:a="http://schemas.openxmlformats.org/drawingml/2006/main">
            <a:r>
              <a:t>[Sources]</a:t>
            </a:r>
          </a:p>
          <a:p xmlns:a="http://schemas.openxmlformats.org/drawingml/2006/main">
            <a:r>
              <a:t>- 9.1.2 Calculating the multiplier SHARE.pdf / PPTX, previous lesson material.</a:t>
            </a:r>
          </a:p>
          <a:p xmlns:a="http://schemas.openxmlformats.org/drawingml/2006/main">
            <a:r>
              <a:t>- Essay worksheet 2 - MPC and multiplier effect.pdf,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end of the assessed Lessons 1-2 sequence. Close with process, size and outcome. Slides 39-44 are a later-syllabus question bank and should be revisited after the named macroeconomic units.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a:t>
            </a:r>
          </a:p>
          <a:p xmlns:a="http://schemas.openxmlformats.org/drawingml/2006/main">
            <a:r>
              <a:t>- A-Level_Macro_International_32-Lesson_Coverage_Planner.xlsx, lessons 1-2.</a:t>
            </a:r>
          </a:p>
          <a:p xmlns:a="http://schemas.openxmlformats.org/drawingml/2006/main">
            <a:r>
              <a:t>- Cambridge A Level Economics - Text.pdf, Chapter 41.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MPC is 0.8, while APC = 10 000/Y + 0.8, so APC remains greater than MPC for positive income.</a:t>
            </a:r>
          </a:p>
          <a:p xmlns:a="http://schemas.openxmlformats.org/drawingml/2006/main">
            <a:endParaRPr/>
          </a:p>
          <a:p xmlns:a="http://schemas.openxmlformats.org/drawingml/2006/main">
            <a:r>
              <a:t>[Sources]</a:t>
            </a:r>
          </a:p>
          <a:p xmlns:a="http://schemas.openxmlformats.org/drawingml/2006/main">
            <a:r>
              <a:t>- 9708_m26_qp_32.pdf, 9708/32/F/M/26 Q15 (local 2026 Paper 3 question-paper folder).</a:t>
            </a:r>
          </a:p>
          <a:p xmlns:a="http://schemas.openxmlformats.org/drawingml/2006/main">
            <a:r>
              <a:t>- 9708_m26_ms_32.pdf, Q15 answer key (local 2026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reproduced verbatim. Do not use it as a full 12-mark assessment in Lessons 1-2. Students can define MPC and explain its multiplier link now, but policy application and evaluation belong after macroeconomic objectives and policy instruments.</a:t>
            </a:r>
          </a:p>
          <a:p xmlns:a="http://schemas.openxmlformats.org/drawingml/2006/main">
            <a:endParaRPr/>
          </a:p>
          <a:p xmlns:a="http://schemas.openxmlformats.org/drawingml/2006/main">
            <a:r>
              <a:t>[Sources]</a:t>
            </a:r>
          </a:p>
          <a:p xmlns:a="http://schemas.openxmlformats.org/drawingml/2006/main">
            <a:r>
              <a:t>- 9708_w21_qp_41.pdf, 9708/41/O/N/21 Q4(a) (local Paper 4 question-paper folder).</a:t>
            </a:r>
          </a:p>
          <a:p xmlns:a="http://schemas.openxmlformats.org/drawingml/2006/main">
            <a:r>
              <a:t>- 9708_w21_ms_41.pdf, Q4(a) level descriptors and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current teaching, use only DEFINE and EXPLAIN. Revisit APPLY and JUDGE after students have studied government macroeconomic policy and its objectives.</a:t>
            </a:r>
          </a:p>
          <a:p xmlns:a="http://schemas.openxmlformats.org/drawingml/2006/main">
            <a:endParaRPr/>
          </a:p>
          <a:p xmlns:a="http://schemas.openxmlformats.org/drawingml/2006/main">
            <a:r>
              <a:t>[Sources]</a:t>
            </a:r>
          </a:p>
          <a:p xmlns:a="http://schemas.openxmlformats.org/drawingml/2006/main">
            <a:r>
              <a:t>- 9708_w21_ms_41.pdf, Q4(a) level descriptors and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2026 question is reproduced verbatim. Keep it for later: students need negative output gaps, full employment, expansionary fiscal policy and AD/AS analysis before they can evaluate the claim properly.</a:t>
            </a:r>
          </a:p>
          <a:p xmlns:a="http://schemas.openxmlformats.org/drawingml/2006/main">
            <a:endParaRPr/>
          </a:p>
          <a:p xmlns:a="http://schemas.openxmlformats.org/drawingml/2006/main">
            <a:r>
              <a:t>[Sources]</a:t>
            </a:r>
          </a:p>
          <a:p xmlns:a="http://schemas.openxmlformats.org/drawingml/2006/main">
            <a:r>
              <a:t>- 9708_s26_qp_41.pdf, 9708/41/M/J/26 Q4 (local 2026 Paper 4 question-paper folder).</a:t>
            </a:r>
          </a:p>
          <a:p xmlns:a="http://schemas.openxmlformats.org/drawingml/2006/main">
            <a:r>
              <a:t>- 9708_s26_ms_41.pdf, Q4 level descriptors and indicative content (local 2026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plan only after output gaps, fiscal policy and AD/AS have been taught. Complete evaluation also depends on later knowledge of crowding out, public debt, inflation and time lags.</a:t>
            </a:r>
          </a:p>
          <a:p xmlns:a="http://schemas.openxmlformats.org/drawingml/2006/main">
            <a:endParaRPr/>
          </a:p>
          <a:p xmlns:a="http://schemas.openxmlformats.org/drawingml/2006/main">
            <a:r>
              <a:t>[Sources]</a:t>
            </a:r>
          </a:p>
          <a:p xmlns:a="http://schemas.openxmlformats.org/drawingml/2006/main">
            <a:r>
              <a:t>- 9708_s26_ms_41.pdf, Q4 level descriptors and indicative content (local 2026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2026 question is reproduced verbatim. Students can distinguish autonomous from induced investment now, but the full evaluation belongs after the accelerator principle, deflationary gaps and fiscal-policy effectiveness.</a:t>
            </a:r>
          </a:p>
          <a:p xmlns:a="http://schemas.openxmlformats.org/drawingml/2006/main">
            <a:endParaRPr/>
          </a:p>
          <a:p xmlns:a="http://schemas.openxmlformats.org/drawingml/2006/main">
            <a:r>
              <a:t>[Sources]</a:t>
            </a:r>
          </a:p>
          <a:p xmlns:a="http://schemas.openxmlformats.org/drawingml/2006/main">
            <a:r>
              <a:t>- 9708_s26_qp_44.pdf, 9708/44/M/J/26 Q4 (local 2026 Paper 4 question-paper folder).</a:t>
            </a:r>
          </a:p>
          <a:p xmlns:a="http://schemas.openxmlformats.org/drawingml/2006/main">
            <a:r>
              <a:t>- 9708_s26_ms_44.pdf, Q4 level descriptors and indicative content (local 2026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roadmap when planning the rest of the course. The authentic Paper 4 questions should be revisited at the named points, when students have the additional concepts and evaluation tools required by the mark schemes.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a:t>
            </a:r>
          </a:p>
          <a:p xmlns:a="http://schemas.openxmlformats.org/drawingml/2006/main">
            <a:r>
              <a:t>- A-Level_Macro_International_32-Lesson_Coverage_Planner.xlsx, local content map.</a:t>
            </a:r>
          </a:p>
          <a:p xmlns:a="http://schemas.openxmlformats.org/drawingml/2006/main">
            <a:r>
              <a:t>- Paper 3 and Paper 4 question-paper and mark-scheme folders, 2021-2026.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08965ed15b46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b93516e9ec438b" /><Relationship Type="http://schemas.openxmlformats.org/officeDocument/2006/relationships/slideLayout" Target="/ppt/slideLayouts/slideLayout1.xml" Id="R38ded0b5bc444b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ded0b5bc444b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aba3a18d174f61" /><Relationship Type="http://schemas.openxmlformats.org/officeDocument/2006/relationships/image" Target="/ppt/media/image.jpeg" Id="R7b32b8980676448b" /><Relationship Type="http://schemas.openxmlformats.org/officeDocument/2006/relationships/notesSlide" Target="/ppt/notesSlides/notesSlide1.xml" Id="Rf6e487992d804a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32a45969ed42cf" /><Relationship Type="http://schemas.openxmlformats.org/officeDocument/2006/relationships/image" Target="/ppt/media/image.jpeg" Id="R6a9c823bf2734072" /><Relationship Type="http://schemas.openxmlformats.org/officeDocument/2006/relationships/notesSlide" Target="/ppt/notesSlides/notesSlide2.xml" Id="R17a4dcf6f6fb4d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886a4cddba4e8a" /><Relationship Type="http://schemas.openxmlformats.org/officeDocument/2006/relationships/notesSlide" Target="/ppt/notesSlides/notesSlide3.xml" Id="R586d2a7a6e284d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dd6437e95a4184" /><Relationship Type="http://schemas.openxmlformats.org/officeDocument/2006/relationships/image" Target="/ppt/media/image2.jpeg" Id="Rf62561d48d9a4ff7" /><Relationship Type="http://schemas.openxmlformats.org/officeDocument/2006/relationships/notesSlide" Target="/ppt/notesSlides/notesSlide4.xml" Id="R94037652097342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cf4c4652d54992" /><Relationship Type="http://schemas.openxmlformats.org/officeDocument/2006/relationships/image" Target="/ppt/media/image2.jpeg" Id="R294408a200254692" /><Relationship Type="http://schemas.openxmlformats.org/officeDocument/2006/relationships/notesSlide" Target="/ppt/notesSlides/notesSlide5.xml" Id="R4313e2c140d541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c04c28e8f14ba3" /><Relationship Type="http://schemas.openxmlformats.org/officeDocument/2006/relationships/notesSlide" Target="/ppt/notesSlides/notesSlide6.xml" Id="R037b8fa2768948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0614ba459a47c9" /><Relationship Type="http://schemas.openxmlformats.org/officeDocument/2006/relationships/notesSlide" Target="/ppt/notesSlides/notesSlide7.xml" Id="Rc08dec672d6e4c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0936a3e2284643" /><Relationship Type="http://schemas.openxmlformats.org/officeDocument/2006/relationships/notesSlide" Target="/ppt/notesSlides/notesSlide8.xml" Id="R385f01ddf9604d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97a8047b3a4f5b" /><Relationship Type="http://schemas.openxmlformats.org/officeDocument/2006/relationships/notesSlide" Target="/ppt/notesSlides/notesSlide9.xml" Id="R10fb39a65ee54a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b6a00e9a064be9" /><Relationship Type="http://schemas.openxmlformats.org/officeDocument/2006/relationships/notesSlide" Target="/ppt/notesSlides/notesSlide10.xml" Id="R61bce4e6c1c54b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73cf933ad54d0e" /><Relationship Type="http://schemas.openxmlformats.org/officeDocument/2006/relationships/notesSlide" Target="/ppt/notesSlides/notesSlide11.xml" Id="Rbba4bc250f2944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40125b337f4493f" /><Relationship Type="http://schemas.openxmlformats.org/officeDocument/2006/relationships/notesSlide" Target="/ppt/notesSlides/notesSlide12.xml" Id="Ra225e77ebb3e42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9acc543bc664c9e" /><Relationship Type="http://schemas.openxmlformats.org/officeDocument/2006/relationships/notesSlide" Target="/ppt/notesSlides/notesSlide13.xml" Id="Rf08a195d5a2046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1a1cd3c34f4268" /><Relationship Type="http://schemas.openxmlformats.org/officeDocument/2006/relationships/notesSlide" Target="/ppt/notesSlides/notesSlide14.xml" Id="R6b01fd73f13641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c6daead1d74f24" /><Relationship Type="http://schemas.openxmlformats.org/officeDocument/2006/relationships/notesSlide" Target="/ppt/notesSlides/notesSlide15.xml" Id="R68d17277a0da44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0b29e866d4a4b1c" /><Relationship Type="http://schemas.openxmlformats.org/officeDocument/2006/relationships/notesSlide" Target="/ppt/notesSlides/notesSlide16.xml" Id="Rd371ea1775f84bb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1c611b11244696" /><Relationship Type="http://schemas.openxmlformats.org/officeDocument/2006/relationships/image" Target="/ppt/media/image3.jpeg" Id="Rc065886d4818426a" /><Relationship Type="http://schemas.openxmlformats.org/officeDocument/2006/relationships/notesSlide" Target="/ppt/notesSlides/notesSlide17.xml" Id="R496dc4de19ee4b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bea4182d3f84857" /><Relationship Type="http://schemas.openxmlformats.org/officeDocument/2006/relationships/notesSlide" Target="/ppt/notesSlides/notesSlide18.xml" Id="R841ffe752cc94e0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0acc2beac9648c0" /><Relationship Type="http://schemas.openxmlformats.org/officeDocument/2006/relationships/notesSlide" Target="/ppt/notesSlides/notesSlide19.xml" Id="R9acdf44c418d45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d071bdde826453b" /><Relationship Type="http://schemas.openxmlformats.org/officeDocument/2006/relationships/notesSlide" Target="/ppt/notesSlides/notesSlide20.xml" Id="R5e7cc59aadb440d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dbc82943b3b401d" /><Relationship Type="http://schemas.openxmlformats.org/officeDocument/2006/relationships/notesSlide" Target="/ppt/notesSlides/notesSlide21.xml" Id="Rd7d5a383f12148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b7ea1ec46ba4e89" /><Relationship Type="http://schemas.openxmlformats.org/officeDocument/2006/relationships/notesSlide" Target="/ppt/notesSlides/notesSlide22.xml" Id="R1c6d34758c5b474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ec4cb96d3e547dc" /><Relationship Type="http://schemas.openxmlformats.org/officeDocument/2006/relationships/notesSlide" Target="/ppt/notesSlides/notesSlide23.xml" Id="R77f606e13b4141f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05afa24d4ec46a2" /><Relationship Type="http://schemas.openxmlformats.org/officeDocument/2006/relationships/notesSlide" Target="/ppt/notesSlides/notesSlide24.xml" Id="R0bfc33a3b32a416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02fa36ca9bf431e" /><Relationship Type="http://schemas.openxmlformats.org/officeDocument/2006/relationships/notesSlide" Target="/ppt/notesSlides/notesSlide25.xml" Id="R0c7c067a393145e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d09efb1d1a84939" /><Relationship Type="http://schemas.openxmlformats.org/officeDocument/2006/relationships/notesSlide" Target="/ppt/notesSlides/notesSlide26.xml" Id="R13edaef17637413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7c4e207d6d84b5d" /><Relationship Type="http://schemas.openxmlformats.org/officeDocument/2006/relationships/notesSlide" Target="/ppt/notesSlides/notesSlide27.xml" Id="R8fc2163795e9465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0961e8ec52640a8" /><Relationship Type="http://schemas.openxmlformats.org/officeDocument/2006/relationships/notesSlide" Target="/ppt/notesSlides/notesSlide28.xml" Id="Re5c0851f72c74ac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9f326abc8254e69" /><Relationship Type="http://schemas.openxmlformats.org/officeDocument/2006/relationships/notesSlide" Target="/ppt/notesSlides/notesSlide29.xml" Id="R11352c8cea48442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1d94c7483d24576" /><Relationship Type="http://schemas.openxmlformats.org/officeDocument/2006/relationships/notesSlide" Target="/ppt/notesSlides/notesSlide30.xml" Id="R7c1879e22fab488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4cd74fe338645a8" /><Relationship Type="http://schemas.openxmlformats.org/officeDocument/2006/relationships/notesSlide" Target="/ppt/notesSlides/notesSlide31.xml" Id="Rffed1c5421b744e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a84cebd710b4971" /><Relationship Type="http://schemas.openxmlformats.org/officeDocument/2006/relationships/notesSlide" Target="/ppt/notesSlides/notesSlide32.xml" Id="R1d31c11aa87c4e7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3af88d23c0744ea" /><Relationship Type="http://schemas.openxmlformats.org/officeDocument/2006/relationships/notesSlide" Target="/ppt/notesSlides/notesSlide33.xml" Id="R1bbab788c1764c3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4280b3087ab4a40" /><Relationship Type="http://schemas.openxmlformats.org/officeDocument/2006/relationships/notesSlide" Target="/ppt/notesSlides/notesSlide34.xml" Id="Rb808fced3070479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c87c1fc98a742e9" /><Relationship Type="http://schemas.openxmlformats.org/officeDocument/2006/relationships/notesSlide" Target="/ppt/notesSlides/notesSlide35.xml" Id="Rb5a1ad0be69f4bb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57156fb0eaa42bd" /><Relationship Type="http://schemas.openxmlformats.org/officeDocument/2006/relationships/notesSlide" Target="/ppt/notesSlides/notesSlide36.xml" Id="R8229663404b341f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73726acef374352" /><Relationship Type="http://schemas.openxmlformats.org/officeDocument/2006/relationships/notesSlide" Target="/ppt/notesSlides/notesSlide37.xml" Id="Rb742f9f971dd4ea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9441cc16c5f4ec4" /><Relationship Type="http://schemas.openxmlformats.org/officeDocument/2006/relationships/notesSlide" Target="/ppt/notesSlides/notesSlide38.xml" Id="R86a79af362cd43a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8a741f87809415a" /><Relationship Type="http://schemas.openxmlformats.org/officeDocument/2006/relationships/notesSlide" Target="/ppt/notesSlides/notesSlide39.xml" Id="Rc068f40aa671445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e4d92f11a154764" /><Relationship Type="http://schemas.openxmlformats.org/officeDocument/2006/relationships/notesSlide" Target="/ppt/notesSlides/notesSlide40.xml" Id="R039c6c04c52e4dc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bcbd516da774dff" /><Relationship Type="http://schemas.openxmlformats.org/officeDocument/2006/relationships/notesSlide" Target="/ppt/notesSlides/notesSlide41.xml" Id="R3489f64f02ef443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6362930b4e54d0e" /><Relationship Type="http://schemas.openxmlformats.org/officeDocument/2006/relationships/notesSlide" Target="/ppt/notesSlides/notesSlide42.xml" Id="R3aaeb529cdd4499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658c13c3a264ce6" /><Relationship Type="http://schemas.openxmlformats.org/officeDocument/2006/relationships/notesSlide" Target="/ppt/notesSlides/notesSlide43.xml" Id="R01f3cf7d96ec49d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8ac1c94abe244a2" /><Relationship Type="http://schemas.openxmlformats.org/officeDocument/2006/relationships/notesSlide" Target="/ppt/notesSlides/notesSlide44.xml" Id="R9ea534fc735d487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3e8dc370d0e4e80" /><Relationship Type="http://schemas.openxmlformats.org/officeDocument/2006/relationships/notesSlide" Target="/ppt/notesSlides/notesSlide45.xml" Id="R6da64cedc3754df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4d27fa990364283" /><Relationship Type="http://schemas.openxmlformats.org/officeDocument/2006/relationships/notesSlide" Target="/ppt/notesSlides/notesSlide46.xml" Id="R08319bcf13d8409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5f088bec4a2478a" /><Relationship Type="http://schemas.openxmlformats.org/officeDocument/2006/relationships/notesSlide" Target="/ppt/notesSlides/notesSlide47.xml" Id="Rd60154cf339e4cc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25fdc3137c4f46d2" /><Relationship Type="http://schemas.openxmlformats.org/officeDocument/2006/relationships/notesSlide" Target="/ppt/notesSlides/notesSlide48.xml" Id="R32167df74308442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f7a97e4c8344a68" /><Relationship Type="http://schemas.openxmlformats.org/officeDocument/2006/relationships/notesSlide" Target="/ppt/notesSlides/notesSlide49.xml" Id="Red2cb894740b406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6ee213f94854cd1" /><Relationship Type="http://schemas.openxmlformats.org/officeDocument/2006/relationships/notesSlide" Target="/ppt/notesSlides/notesSlide50.xml" Id="R0b5df04524e046f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44ec8db1e264d12" /><Relationship Type="http://schemas.openxmlformats.org/officeDocument/2006/relationships/notesSlide" Target="/ppt/notesSlides/notesSlide51.xml" Id="Ra47ff75099814c0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787dea029ef4669" /><Relationship Type="http://schemas.openxmlformats.org/officeDocument/2006/relationships/notesSlide" Target="/ppt/notesSlides/notesSlide52.xml" Id="Ra1a9b6cd1ae2493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d17ad2af15b4c5d" /><Relationship Type="http://schemas.openxmlformats.org/officeDocument/2006/relationships/notesSlide" Target="/ppt/notesSlides/notesSlide53.xml" Id="R02d18cc2a5864ad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3d4bfec6a1a4eee" /><Relationship Type="http://schemas.openxmlformats.org/officeDocument/2006/relationships/notesSlide" Target="/ppt/notesSlides/notesSlide54.xml" Id="R4f1af5abf5d248b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29795468e604de7" /><Relationship Type="http://schemas.openxmlformats.org/officeDocument/2006/relationships/notesSlide" Target="/ppt/notesSlides/notesSlide55.xml" Id="R4a780630259e480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1cf84ef26c6e44e9" /><Relationship Type="http://schemas.openxmlformats.org/officeDocument/2006/relationships/notesSlide" Target="/ppt/notesSlides/notesSlide56.xml" Id="R7cc6c2b094e341b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9450dedc490469c" /><Relationship Type="http://schemas.openxmlformats.org/officeDocument/2006/relationships/notesSlide" Target="/ppt/notesSlides/notesSlide57.xml" Id="Rc4bd017119804f2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eb93b94ae9d4ff7" /><Relationship Type="http://schemas.openxmlformats.org/officeDocument/2006/relationships/notesSlide" Target="/ppt/notesSlides/notesSlide58.xml" Id="Rbe02d32b94254cd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3a878d9c412f4e4b" /><Relationship Type="http://schemas.openxmlformats.org/officeDocument/2006/relationships/notesSlide" Target="/ppt/notesSlides/notesSlide59.xml" Id="R1ab4259990304d4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87afed5a0fa0431a" /><Relationship Type="http://schemas.openxmlformats.org/officeDocument/2006/relationships/notesSlide" Target="/ppt/notesSlides/notesSlide60.xml" Id="Re6059b141a3e4d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CE72BD74-9A55-4C6E-9511-1FA5546C1E23}"/>
              </a:ext>
            </a:extLst>
          </p:cNvPr>
          <p:cNvSpPr>
            <a:spLocks xmlns:a="http://schemas.openxmlformats.org/drawingml/2006/main" noGrp="1"/>
          </p:cNvSpPr>
          <p:nvPr/>
        </p:nvSpPr>
        <p:spPr>
          <a:xfrm xmlns:a="http://schemas.openxmlformats.org/drawingml/2006/main">
            <a:off x="5715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75" b="1" i="0">
                <a:solidFill>
                  <a:srgbClr val="3D8DFF"/>
                </a:solidFill>
                <a:latin typeface="Arial"/>
                <a:ea typeface="Arial"/>
                <a:cs typeface="Arial"/>
              </a:defRPr>
            </a:pPr>
            <a:r>
              <a:rPr sz="1275" b="1" i="0">
                <a:solidFill>
                  <a:srgbClr val="3D8DFF"/>
                </a:solidFill>
                <a:latin typeface="Arial"/>
                <a:ea typeface="Arial"/>
                <a:cs typeface="Arial"/>
              </a:rPr>
              <a:t>CAMBRIDGE A LEVEL ECONOMICS 9708</a:t>
            </a:r>
          </a:p>
        </p:txBody>
      </p:sp>
      <p:sp>
        <p:nvSpPr>
          <p:cNvPr id="2" name="Rectangle 1">
            <a:extLst xmlns:a="http://schemas.openxmlformats.org/drawingml/2006/main">
              <a:ext uri="{FF2B5EF4-FFF2-40B4-BE49-F238E27FC236}">
                <a16:creationId xmlns:a16="http://schemas.microsoft.com/office/drawing/2014/main" id="{A60313B9-8871-491F-A6F3-00B872E4A018}"/>
              </a:ext>
            </a:extLst>
          </p:cNvPr>
          <p:cNvSpPr>
            <a:spLocks xmlns:a="http://schemas.openxmlformats.org/drawingml/2006/main" noGrp="1"/>
          </p:cNvSpPr>
          <p:nvPr/>
        </p:nvSpPr>
        <p:spPr>
          <a:xfrm xmlns:a="http://schemas.openxmlformats.org/drawingml/2006/main">
            <a:off x="571500" y="1476375"/>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The</a:t>
            </a:r>
          </a:p>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multiplier</a:t>
            </a:r>
          </a:p>
        </p:txBody>
      </p:sp>
      <p:sp>
        <p:nvSpPr>
          <p:cNvPr id="3" name="Rectangle 2">
            <a:extLst xmlns:a="http://schemas.openxmlformats.org/drawingml/2006/main">
              <a:ext uri="{FF2B5EF4-FFF2-40B4-BE49-F238E27FC236}">
                <a16:creationId xmlns:a16="http://schemas.microsoft.com/office/drawing/2014/main" id="{F47DF6F3-EE29-4AA8-9A7F-E7A85D108B55}"/>
              </a:ext>
            </a:extLst>
          </p:cNvPr>
          <p:cNvSpPr>
            <a:spLocks xmlns:a="http://schemas.openxmlformats.org/drawingml/2006/main" noGrp="1"/>
          </p:cNvSpPr>
          <p:nvPr/>
        </p:nvSpPr>
        <p:spPr>
          <a:xfrm xmlns:a="http://schemas.openxmlformats.org/drawingml/2006/main">
            <a:off x="571500" y="3333750"/>
            <a:ext cx="541309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0" i="0">
                <a:solidFill>
                  <a:srgbClr val="59616B"/>
                </a:solidFill>
                <a:latin typeface="Arial"/>
                <a:ea typeface="Arial"/>
                <a:cs typeface="Arial"/>
              </a:defRPr>
            </a:pPr>
            <a:r>
              <a:rPr sz="2100">
                <a:solidFill>
                  <a:srgbClr val="59616B"/>
                </a:solidFill>
                <a:latin typeface="Arial"/>
                <a:ea typeface="Arial"/>
                <a:cs typeface="Arial"/>
              </a:rPr>
              <a:t>C</a:t>
            </a:r>
            <a:r>
              <a:rPr sz="2100" b="0" i="0">
                <a:solidFill>
                  <a:srgbClr val="59616B"/>
                </a:solidFill>
                <a:latin typeface="Arial"/>
                <a:ea typeface="Arial"/>
                <a:cs typeface="Arial"/>
              </a:rPr>
              <a:t>oncept, calculation and national income</a:t>
            </a:r>
          </a:p>
        </p:txBody>
      </p:sp>
      <p:cxnSp>
        <p:nvCxnSpPr>
          <p:cNvPr id="58" name="Straight Arrow Connector 42"/>
          <p:cNvCxnSpPr/>
          <p:nvPr/>
        </p:nvCxnSpPr>
        <p:spPr>
          <a:xfrm xmlns:a="http://schemas.openxmlformats.org/drawingml/2006/main">
            <a:off x="571500" y="4619625"/>
            <a:ext cx="4953000" cy="95"/>
          </a:xfrm>
          <a:prstGeom xmlns:a="http://schemas.openxmlformats.org/drawingml/2006/main" prst="straightConnector1">
            <a:avLst/>
          </a:prstGeom>
          <a:ln xmlns:a="http://schemas.openxmlformats.org/drawingml/2006/main" w="9525">
            <a:solidFill>
              <a:srgbClr val="B8BCC4"/>
            </a:solidFill>
            <a:prstDash val="solid"/>
          </a:ln>
        </p:spPr>
      </p:cxnSp>
      <p:sp>
        <p:nvSpPr>
          <p:cNvPr id="5" name="Rectangle 4">
            <a:extLst xmlns:a="http://schemas.openxmlformats.org/drawingml/2006/main">
              <a:ext uri="{FF2B5EF4-FFF2-40B4-BE49-F238E27FC236}">
                <a16:creationId xmlns:a16="http://schemas.microsoft.com/office/drawing/2014/main" id="{97289363-19E7-4438-ADD1-D8AB3BE6E19D}"/>
              </a:ext>
            </a:extLst>
          </p:cNvPr>
          <p:cNvSpPr>
            <a:spLocks xmlns:a="http://schemas.openxmlformats.org/drawingml/2006/main" noGrp="1"/>
          </p:cNvSpPr>
          <p:nvPr/>
        </p:nvSpPr>
        <p:spPr>
          <a:xfrm xmlns:a="http://schemas.openxmlformats.org/drawingml/2006/main">
            <a:off x="571500" y="485775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59616B"/>
                </a:solidFill>
                <a:latin typeface="Arial"/>
                <a:ea typeface="Arial"/>
                <a:cs typeface="Arial"/>
              </a:defRPr>
            </a:pPr>
            <a:r>
              <a:rPr sz="1350" b="0" i="0">
                <a:solidFill>
                  <a:srgbClr val="59616B"/>
                </a:solidFill>
                <a:latin typeface="Arial"/>
                <a:ea typeface="Arial"/>
                <a:cs typeface="Arial"/>
              </a:rPr>
              <a:t>Syllabus section 9.1.1</a:t>
            </a:r>
          </a:p>
        </p:txBody>
      </p:sp>
      <p:sp>
        <p:nvSpPr>
          <p:cNvPr id="6" name="Rectangle 5">
            <a:extLst xmlns:a="http://schemas.openxmlformats.org/drawingml/2006/main">
              <a:ext uri="{FF2B5EF4-FFF2-40B4-BE49-F238E27FC236}">
                <a16:creationId xmlns:a16="http://schemas.microsoft.com/office/drawing/2014/main" id="{66440773-8E59-4957-BF51-3443B7F681C0}"/>
              </a:ext>
            </a:extLst>
          </p:cNvPr>
          <p:cNvSpPr>
            <a:spLocks xmlns:a="http://schemas.openxmlformats.org/drawingml/2006/main" noGrp="1"/>
          </p:cNvSpPr>
          <p:nvPr/>
        </p:nvSpPr>
        <p:spPr>
          <a:xfrm xmlns:a="http://schemas.openxmlformats.org/drawingml/2006/main">
            <a:off x="6267450" y="400050"/>
            <a:ext cx="5353050" cy="561975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pic>
        <p:nvPicPr>
          <p:cNvPr id="61" name="Picture 45"/>
          <p:cNvPicPr>
            <a:picLocks xmlns:a="http://schemas.openxmlformats.org/drawingml/2006/main" noChangeAspect="1"/>
          </p:cNvPicPr>
          <p:nvPr/>
        </p:nvPicPr>
        <p:blipFill>
          <a:blip xmlns:r="http://schemas.openxmlformats.org/officeDocument/2006/relationships" xmlns:a="http://schemas.openxmlformats.org/drawingml/2006/main" r:embed="R7b32b8980676448b"/>
          <a:srcRect xmlns:a="http://schemas.openxmlformats.org/drawingml/2006/main" l="23210" t="0" r="23210"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B0EE0841-029B-48FC-BA1D-3F6FF8EEAE6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01</a:t>
            </a:r>
          </a:p>
        </p:txBody>
      </p:sp>
    </p:spTree>
    <p:extLst>
      <p:ext uri="{BB962C8B-B14F-4D97-AF65-F5344CB8AC3E}">
        <p14:creationId xmlns:p14="http://schemas.microsoft.com/office/powerpoint/2010/main" val="177777470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7" name="Picture 45"/>
          <p:cNvPicPr>
            <a:picLocks xmlns:a="http://schemas.openxmlformats.org/drawingml/2006/main" noChangeAspect="1"/>
          </p:cNvPicPr>
          <p:nvPr/>
        </p:nvPicPr>
        <p:blipFill>
          <a:blip xmlns:r="http://schemas.openxmlformats.org/officeDocument/2006/relationships" xmlns:a="http://schemas.openxmlformats.org/drawingml/2006/main" r:embed="R6a9c823bf2734072"/>
          <a:srcRect xmlns:a="http://schemas.openxmlformats.org/drawingml/2006/main" l="23210" t="0" r="23210"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85C2CE8B-052A-B18C-5FD7-EFCF2CF91621}"/>
              </a:ext>
            </a:extLst>
          </p:cNvPr>
          <p:cNvSpPr>
            <a:spLocks xmlns:a="http://schemas.openxmlformats.org/drawingml/2006/main" noGrp="1"/>
          </p:cNvSpPr>
          <p:nvPr/>
        </p:nvSpPr>
        <p:spPr>
          <a:xfrm xmlns:a="http://schemas.openxmlformats.org/drawingml/2006/main">
            <a:off x="1048407" y="1843950"/>
            <a:ext cx="4570423" cy="31700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4000" b="1" i="0">
                <a:solidFill>
                  <a:srgbClr val="000000"/>
                </a:solidFill>
                <a:latin typeface="Arial"/>
                <a:ea typeface="Arial"/>
                <a:cs typeface="Arial"/>
              </a:rPr>
              <a:t>Why can £100m </a:t>
            </a:r>
            <a:r>
              <a:rPr sz="4000" b="1">
                <a:solidFill>
                  <a:srgbClr val="000000"/>
                </a:solidFill>
                <a:latin typeface="Arial"/>
                <a:ea typeface="Arial"/>
                <a:cs typeface="Arial"/>
              </a:rPr>
              <a:t>of</a:t>
            </a:r>
            <a:r>
              <a:rPr sz="4000" b="1">
                <a:solidFill>
                  <a:srgbClr val="000000"/>
                </a:solidFill>
                <a:latin typeface="Arial"/>
                <a:ea typeface="Arial"/>
                <a:cs typeface="Arial"/>
              </a:rPr>
              <a:t> </a:t>
            </a:r>
            <a:r>
              <a:rPr sz="4000" b="1">
                <a:solidFill>
                  <a:srgbClr val="000000"/>
                </a:solidFill>
                <a:latin typeface="Arial"/>
                <a:ea typeface="Arial"/>
                <a:cs typeface="Arial"/>
              </a:rPr>
              <a:t>government</a:t>
            </a:r>
            <a:r>
              <a:rPr sz="4000" b="1">
                <a:solidFill>
                  <a:srgbClr val="000000"/>
                </a:solidFill>
                <a:latin typeface="Arial"/>
                <a:ea typeface="Arial"/>
                <a:cs typeface="Arial"/>
              </a:rPr>
              <a:t> </a:t>
            </a:r>
            <a:r>
              <a:rPr sz="4000" b="1">
                <a:solidFill>
                  <a:srgbClr val="000000"/>
                </a:solidFill>
                <a:latin typeface="Arial"/>
                <a:ea typeface="Arial"/>
                <a:cs typeface="Arial"/>
              </a:rPr>
              <a:t>spending</a:t>
            </a:r>
            <a:r>
              <a:rPr sz="4000" b="1">
                <a:solidFill>
                  <a:srgbClr val="000000"/>
                </a:solidFill>
                <a:latin typeface="Arial"/>
                <a:ea typeface="Arial"/>
                <a:cs typeface="Arial"/>
              </a:rPr>
              <a:t> </a:t>
            </a:r>
            <a:r>
              <a:rPr sz="4000" b="1" i="0">
                <a:solidFill>
                  <a:srgbClr val="000000"/>
                </a:solidFill>
                <a:latin typeface="Arial"/>
                <a:ea typeface="Arial"/>
                <a:cs typeface="Arial"/>
              </a:rPr>
              <a:t>create more than £100m of GDP?</a:t>
            </a:r>
          </a:p>
        </p:txBody>
      </p:sp>
    </p:spTree>
    <p:extLst>
      <p:ext uri="{BB962C8B-B14F-4D97-AF65-F5344CB8AC3E}">
        <p14:creationId xmlns:p14="http://schemas.microsoft.com/office/powerpoint/2010/main" val="4214046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2-title">
            <a:extLst xmlns:a="http://schemas.openxmlformats.org/drawingml/2006/main">
              <a:ext uri="{FF2B5EF4-FFF2-40B4-BE49-F238E27FC236}">
                <a16:creationId xmlns:a16="http://schemas.microsoft.com/office/drawing/2014/main" id="{F7C2B5A6-CBFD-40C2-BDE9-231F71FE854F}"/>
              </a:ext>
            </a:extLst>
          </p:cNvPr>
          <p:cNvSpPr>
            <a:spLocks xmlns:a="http://schemas.openxmlformats.org/drawingml/2006/main" noGrp="1"/>
          </p:cNvSpPr>
          <p:nvPr/>
        </p:nvSpPr>
        <p:spPr>
          <a:xfrm xmlns:a="http://schemas.openxmlformats.org/drawingml/2006/main">
            <a:off x="571500" y="485775"/>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3600" b="1" i="0">
                <a:solidFill>
                  <a:srgbClr val="000000"/>
                </a:solidFill>
                <a:latin typeface="Arial"/>
                <a:ea typeface="Arial"/>
                <a:cs typeface="Arial"/>
              </a:rPr>
              <a:t>What you will be able to do</a:t>
            </a:r>
          </a:p>
        </p:txBody>
      </p:sp>
      <p:cxnSp>
        <p:nvCxnSpPr>
          <p:cNvPr id="74" name="Straight Arrow Connector 59"/>
          <p:cNvCxnSpPr/>
          <p:nvPr/>
        </p:nvCxnSpPr>
        <p:spPr>
          <a:xfrm xmlns:a="http://schemas.openxmlformats.org/drawingml/2006/main">
            <a:off x="1047750" y="2682767"/>
            <a:ext cx="9906000" cy="95"/>
          </a:xfrm>
          <a:prstGeom xmlns:a="http://schemas.openxmlformats.org/drawingml/2006/main" prst="straightConnector1">
            <a:avLst/>
          </a:prstGeom>
          <a:ln xmlns:a="http://schemas.openxmlformats.org/drawingml/2006/main" w="19050">
            <a:solidFill>
              <a:srgbClr val="B8BCC4"/>
            </a:solidFill>
            <a:prstDash val="solid"/>
          </a:ln>
        </p:spPr>
      </p:cxnSp>
      <p:sp>
        <p:nvSpPr>
          <p:cNvPr id="7" name="Oval 6">
            <a:extLst xmlns:a="http://schemas.openxmlformats.org/drawingml/2006/main">
              <a:ext uri="{FF2B5EF4-FFF2-40B4-BE49-F238E27FC236}">
                <a16:creationId xmlns:a16="http://schemas.microsoft.com/office/drawing/2014/main" id="{E1CA9BA0-9B83-47C7-A839-4296F643992E}"/>
              </a:ext>
            </a:extLst>
          </p:cNvPr>
          <p:cNvSpPr>
            <a:spLocks xmlns:a="http://schemas.openxmlformats.org/drawingml/2006/main" noGrp="1"/>
          </p:cNvSpPr>
          <p:nvPr/>
        </p:nvSpPr>
        <p:spPr>
          <a:xfrm xmlns:a="http://schemas.openxmlformats.org/drawingml/2006/main">
            <a:off x="1285875" y="2282717"/>
            <a:ext cx="800100" cy="8001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1</a:t>
            </a:r>
          </a:p>
        </p:txBody>
      </p:sp>
      <p:sp>
        <p:nvSpPr>
          <p:cNvPr id="9" name="Rectangle 8">
            <a:extLst xmlns:a="http://schemas.openxmlformats.org/drawingml/2006/main">
              <a:ext uri="{FF2B5EF4-FFF2-40B4-BE49-F238E27FC236}">
                <a16:creationId xmlns:a16="http://schemas.microsoft.com/office/drawing/2014/main" id="{654D32A2-D977-45B3-8842-C1910CDB5CED}"/>
              </a:ext>
            </a:extLst>
          </p:cNvPr>
          <p:cNvSpPr>
            <a:spLocks xmlns:a="http://schemas.openxmlformats.org/drawingml/2006/main" noGrp="1"/>
          </p:cNvSpPr>
          <p:nvPr/>
        </p:nvSpPr>
        <p:spPr>
          <a:xfrm xmlns:a="http://schemas.openxmlformats.org/drawingml/2006/main">
            <a:off x="6667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Show how an injection creates </a:t>
            </a:r>
            <a:r>
              <a:rPr sz="2000" b="1" i="0">
                <a:solidFill>
                  <a:srgbClr val="59616B"/>
                </a:solidFill>
                <a:latin typeface="Arial"/>
                <a:ea typeface="Arial"/>
                <a:cs typeface="Arial"/>
              </a:rPr>
              <a:t>repeated rounds of income and spending</a:t>
            </a:r>
            <a:r>
              <a:rPr sz="2000" b="0" i="0">
                <a:solidFill>
                  <a:srgbClr val="59616B"/>
                </a:solidFill>
                <a:latin typeface="Arial"/>
                <a:ea typeface="Arial"/>
                <a:cs typeface="Arial"/>
              </a:rPr>
              <a:t>.</a:t>
            </a:r>
          </a:p>
        </p:txBody>
      </p:sp>
      <p:sp>
        <p:nvSpPr>
          <p:cNvPr id="10" name="Oval 9">
            <a:extLst xmlns:a="http://schemas.openxmlformats.org/drawingml/2006/main">
              <a:ext uri="{FF2B5EF4-FFF2-40B4-BE49-F238E27FC236}">
                <a16:creationId xmlns:a16="http://schemas.microsoft.com/office/drawing/2014/main" id="{58D4255C-6E2A-4926-8D3E-424BFF4DB32E}"/>
              </a:ext>
            </a:extLst>
          </p:cNvPr>
          <p:cNvSpPr>
            <a:spLocks xmlns:a="http://schemas.openxmlformats.org/drawingml/2006/main" noGrp="1"/>
          </p:cNvSpPr>
          <p:nvPr/>
        </p:nvSpPr>
        <p:spPr>
          <a:xfrm xmlns:a="http://schemas.openxmlformats.org/drawingml/2006/main">
            <a:off x="4143375" y="2282717"/>
            <a:ext cx="800100" cy="8001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2</a:t>
            </a:r>
          </a:p>
        </p:txBody>
      </p:sp>
      <p:sp>
        <p:nvSpPr>
          <p:cNvPr id="12" name="Rectangle 11">
            <a:extLst xmlns:a="http://schemas.openxmlformats.org/drawingml/2006/main">
              <a:ext uri="{FF2B5EF4-FFF2-40B4-BE49-F238E27FC236}">
                <a16:creationId xmlns:a16="http://schemas.microsoft.com/office/drawing/2014/main" id="{C41C1124-7517-473B-96BE-C3B1C25AE5A5}"/>
              </a:ext>
            </a:extLst>
          </p:cNvPr>
          <p:cNvSpPr>
            <a:spLocks xmlns:a="http://schemas.openxmlformats.org/drawingml/2006/main" noGrp="1"/>
          </p:cNvSpPr>
          <p:nvPr/>
        </p:nvSpPr>
        <p:spPr>
          <a:xfrm xmlns:a="http://schemas.openxmlformats.org/drawingml/2006/main">
            <a:off x="35242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Use the correct </a:t>
            </a:r>
            <a:r>
              <a:rPr sz="2000" b="1" i="0">
                <a:solidFill>
                  <a:srgbClr val="59616B"/>
                </a:solidFill>
                <a:latin typeface="Arial"/>
                <a:ea typeface="Arial"/>
                <a:cs typeface="Arial"/>
              </a:rPr>
              <a:t>multiplier formula </a:t>
            </a:r>
            <a:r>
              <a:rPr sz="2000" b="0" i="0">
                <a:solidFill>
                  <a:srgbClr val="59616B"/>
                </a:solidFill>
                <a:latin typeface="Arial"/>
                <a:ea typeface="Arial"/>
                <a:cs typeface="Arial"/>
              </a:rPr>
              <a:t>for four models of an economy.</a:t>
            </a:r>
          </a:p>
        </p:txBody>
      </p:sp>
      <p:sp>
        <p:nvSpPr>
          <p:cNvPr id="13" name="Oval 12">
            <a:extLst xmlns:a="http://schemas.openxmlformats.org/drawingml/2006/main">
              <a:ext uri="{FF2B5EF4-FFF2-40B4-BE49-F238E27FC236}">
                <a16:creationId xmlns:a16="http://schemas.microsoft.com/office/drawing/2014/main" id="{18657CC7-0699-4D6F-81BB-34E360ED4C1A}"/>
              </a:ext>
            </a:extLst>
          </p:cNvPr>
          <p:cNvSpPr>
            <a:spLocks xmlns:a="http://schemas.openxmlformats.org/drawingml/2006/main" noGrp="1"/>
          </p:cNvSpPr>
          <p:nvPr/>
        </p:nvSpPr>
        <p:spPr>
          <a:xfrm xmlns:a="http://schemas.openxmlformats.org/drawingml/2006/main">
            <a:off x="7000875" y="2282717"/>
            <a:ext cx="800100" cy="800100"/>
          </a:xfrm>
          <a:prstGeom xmlns:a="http://schemas.openxmlformats.org/drawingml/2006/main" prst="ellipse">
            <a:avLst/>
          </a:prstGeom>
          <a:solidFill xmlns:a="http://schemas.openxmlformats.org/drawingml/2006/main">
            <a:srgbClr val="EDEDED"/>
          </a:solidFill>
          <a:ln xmlns:a="http://schemas.openxmlformats.org/drawingml/2006/main" w="9525">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391B6A0D-26CE-4709-A4C0-5E8168C5941F}"/>
              </a:ext>
            </a:extLst>
          </p:cNvPr>
          <p:cNvSpPr>
            <a:spLocks xmlns:a="http://schemas.openxmlformats.org/drawingml/2006/main" noGrp="1"/>
          </p:cNvSpPr>
          <p:nvPr/>
        </p:nvSpPr>
        <p:spPr>
          <a:xfrm xmlns:a="http://schemas.openxmlformats.org/drawingml/2006/main">
            <a:off x="63817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Find </a:t>
            </a:r>
            <a:r>
              <a:rPr sz="2000" b="1" i="0">
                <a:solidFill>
                  <a:srgbClr val="59616B"/>
                </a:solidFill>
                <a:latin typeface="Arial"/>
                <a:ea typeface="Arial"/>
                <a:cs typeface="Arial"/>
              </a:rPr>
              <a:t>average and marginal propensities </a:t>
            </a:r>
            <a:r>
              <a:rPr sz="2000" b="0" i="0">
                <a:solidFill>
                  <a:srgbClr val="59616B"/>
                </a:solidFill>
                <a:latin typeface="Arial"/>
                <a:ea typeface="Arial"/>
                <a:cs typeface="Arial"/>
              </a:rPr>
              <a:t>from data.</a:t>
            </a:r>
          </a:p>
        </p:txBody>
      </p:sp>
      <p:sp>
        <p:nvSpPr>
          <p:cNvPr id="16" name="Oval 15">
            <a:extLst xmlns:a="http://schemas.openxmlformats.org/drawingml/2006/main">
              <a:ext uri="{FF2B5EF4-FFF2-40B4-BE49-F238E27FC236}">
                <a16:creationId xmlns:a16="http://schemas.microsoft.com/office/drawing/2014/main" id="{267EEE1D-B829-4DBE-87B3-1EB7F6F03665}"/>
              </a:ext>
            </a:extLst>
          </p:cNvPr>
          <p:cNvSpPr>
            <a:spLocks xmlns:a="http://schemas.openxmlformats.org/drawingml/2006/main" noGrp="1"/>
          </p:cNvSpPr>
          <p:nvPr/>
        </p:nvSpPr>
        <p:spPr>
          <a:xfrm xmlns:a="http://schemas.openxmlformats.org/drawingml/2006/main">
            <a:off x="9858375" y="2282717"/>
            <a:ext cx="800100" cy="800100"/>
          </a:xfrm>
          <a:prstGeom xmlns:a="http://schemas.openxmlformats.org/drawingml/2006/main" prst="ellipse">
            <a:avLst/>
          </a:prstGeom>
          <a:solidFill xmlns:a="http://schemas.openxmlformats.org/drawingml/2006/main">
            <a:srgbClr val="EDEDED"/>
          </a:solidFill>
          <a:ln xmlns:a="http://schemas.openxmlformats.org/drawingml/2006/main" w="9525">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4</a:t>
            </a:r>
          </a:p>
        </p:txBody>
      </p:sp>
      <p:sp>
        <p:nvSpPr>
          <p:cNvPr id="18" name="Rectangle 17">
            <a:extLst xmlns:a="http://schemas.openxmlformats.org/drawingml/2006/main">
              <a:ext uri="{FF2B5EF4-FFF2-40B4-BE49-F238E27FC236}">
                <a16:creationId xmlns:a16="http://schemas.microsoft.com/office/drawing/2014/main" id="{22C70F6F-C4B2-4E8C-A85B-6175630C9B79}"/>
              </a:ext>
            </a:extLst>
          </p:cNvPr>
          <p:cNvSpPr>
            <a:spLocks xmlns:a="http://schemas.openxmlformats.org/drawingml/2006/main" noGrp="1"/>
          </p:cNvSpPr>
          <p:nvPr/>
        </p:nvSpPr>
        <p:spPr>
          <a:xfrm xmlns:a="http://schemas.openxmlformats.org/drawingml/2006/main">
            <a:off x="92392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Connect </a:t>
            </a:r>
            <a:r>
              <a:rPr sz="2000" b="1" i="0">
                <a:solidFill>
                  <a:srgbClr val="59616B"/>
                </a:solidFill>
                <a:latin typeface="Arial"/>
                <a:ea typeface="Arial"/>
                <a:cs typeface="Arial"/>
              </a:rPr>
              <a:t>changing AD to equilibrium national income </a:t>
            </a:r>
            <a:r>
              <a:rPr sz="2000" b="0" i="0">
                <a:solidFill>
                  <a:srgbClr val="59616B"/>
                </a:solidFill>
                <a:latin typeface="Arial"/>
                <a:ea typeface="Arial"/>
                <a:cs typeface="Arial"/>
              </a:rPr>
              <a:t>and exam questions.</a:t>
            </a:r>
          </a:p>
        </p:txBody>
      </p:sp>
    </p:spTree>
    <p:extLst>
      <p:ext uri="{BB962C8B-B14F-4D97-AF65-F5344CB8AC3E}">
        <p14:creationId xmlns:p14="http://schemas.microsoft.com/office/powerpoint/2010/main" val="19182883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1836A410-7F06-4B38-AD49-B79993B13B27}"/>
              </a:ext>
            </a:extLst>
          </p:cNvPr>
          <p:cNvSpPr>
            <a:spLocks xmlns:a="http://schemas.openxmlformats.org/drawingml/2006/main" noGrp="1"/>
          </p:cNvSpPr>
          <p:nvPr/>
        </p:nvSpPr>
        <p:spPr>
          <a:xfrm xmlns:a="http://schemas.openxmlformats.org/drawingml/2006/main">
            <a:off x="5715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75" b="1" i="0">
                <a:solidFill>
                  <a:srgbClr val="3D8DFF"/>
                </a:solidFill>
                <a:latin typeface="Arial"/>
                <a:ea typeface="Arial"/>
                <a:cs typeface="Arial"/>
              </a:defRPr>
            </a:pPr>
            <a:r>
              <a:rPr sz="1275" b="1" i="0">
                <a:solidFill>
                  <a:srgbClr val="3D8DFF"/>
                </a:solidFill>
                <a:latin typeface="Arial"/>
                <a:ea typeface="Arial"/>
                <a:cs typeface="Arial"/>
              </a:rPr>
              <a:t>LESSON 1</a:t>
            </a:r>
          </a:p>
        </p:txBody>
      </p:sp>
      <p:sp>
        <p:nvSpPr>
          <p:cNvPr id="2" name="Rectangle 1">
            <a:extLst xmlns:a="http://schemas.openxmlformats.org/drawingml/2006/main">
              <a:ext uri="{FF2B5EF4-FFF2-40B4-BE49-F238E27FC236}">
                <a16:creationId xmlns:a16="http://schemas.microsoft.com/office/drawing/2014/main" id="{6D6DAFEB-AB8E-46D1-A642-F74232869243}"/>
              </a:ext>
            </a:extLst>
          </p:cNvPr>
          <p:cNvSpPr>
            <a:spLocks xmlns:a="http://schemas.openxmlformats.org/drawingml/2006/main" noGrp="1"/>
          </p:cNvSpPr>
          <p:nvPr/>
        </p:nvSpPr>
        <p:spPr>
          <a:xfrm xmlns:a="http://schemas.openxmlformats.org/drawingml/2006/main">
            <a:off x="571500" y="1476375"/>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Concept</a:t>
            </a:r>
          </a:p>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and formulae</a:t>
            </a:r>
          </a:p>
        </p:txBody>
      </p:sp>
      <p:sp>
        <p:nvSpPr>
          <p:cNvPr id="3" name="Rectangle 2">
            <a:extLst xmlns:a="http://schemas.openxmlformats.org/drawingml/2006/main">
              <a:ext uri="{FF2B5EF4-FFF2-40B4-BE49-F238E27FC236}">
                <a16:creationId xmlns:a16="http://schemas.microsoft.com/office/drawing/2014/main" id="{8F0A39F3-F949-40B3-8FE7-C52907B64A8D}"/>
              </a:ext>
            </a:extLst>
          </p:cNvPr>
          <p:cNvSpPr>
            <a:spLocks xmlns:a="http://schemas.openxmlformats.org/drawingml/2006/main" noGrp="1"/>
          </p:cNvSpPr>
          <p:nvPr/>
        </p:nvSpPr>
        <p:spPr>
          <a:xfrm xmlns:a="http://schemas.openxmlformats.org/drawingml/2006/main">
            <a:off x="571500" y="333375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0" i="0">
                <a:solidFill>
                  <a:srgbClr val="59616B"/>
                </a:solidFill>
                <a:latin typeface="Arial"/>
                <a:ea typeface="Arial"/>
                <a:cs typeface="Arial"/>
              </a:defRPr>
            </a:pPr>
            <a:r>
              <a:rPr sz="2100" b="0" i="0">
                <a:solidFill>
                  <a:srgbClr val="59616B"/>
                </a:solidFill>
                <a:latin typeface="Arial"/>
                <a:ea typeface="Arial"/>
                <a:cs typeface="Arial"/>
              </a:rPr>
              <a:t>Why one injection can create a larger final change in national income</a:t>
            </a:r>
          </a:p>
        </p:txBody>
      </p:sp>
      <p:sp>
        <p:nvSpPr>
          <p:cNvPr id="6" name="Rectangle 5">
            <a:extLst xmlns:a="http://schemas.openxmlformats.org/drawingml/2006/main">
              <a:ext uri="{FF2B5EF4-FFF2-40B4-BE49-F238E27FC236}">
                <a16:creationId xmlns:a16="http://schemas.microsoft.com/office/drawing/2014/main" id="{52719F81-B9F5-40DB-B5B6-F0D52EFEACEB}"/>
              </a:ext>
            </a:extLst>
          </p:cNvPr>
          <p:cNvSpPr>
            <a:spLocks xmlns:a="http://schemas.openxmlformats.org/drawingml/2006/main" noGrp="1"/>
          </p:cNvSpPr>
          <p:nvPr/>
        </p:nvSpPr>
        <p:spPr>
          <a:xfrm xmlns:a="http://schemas.openxmlformats.org/drawingml/2006/main">
            <a:off x="6267450" y="400050"/>
            <a:ext cx="5353050" cy="5619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pic>
        <p:nvPicPr>
          <p:cNvPr id="16" name="Picture 45"/>
          <p:cNvPicPr>
            <a:picLocks xmlns:a="http://schemas.openxmlformats.org/drawingml/2006/main" noChangeAspect="1"/>
          </p:cNvPicPr>
          <p:nvPr/>
        </p:nvPicPr>
        <p:blipFill>
          <a:blip xmlns:r="http://schemas.openxmlformats.org/officeDocument/2006/relationships" xmlns:a="http://schemas.openxmlformats.org/drawingml/2006/main" r:embed="Rf62561d48d9a4ff7"/>
          <a:srcRect xmlns:a="http://schemas.openxmlformats.org/drawingml/2006/main" l="23176" t="0" r="23176"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525BD3E8-333D-4F37-9FE8-F25245851B52}"/>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03</a:t>
            </a:r>
          </a:p>
        </p:txBody>
      </p:sp>
    </p:spTree>
    <p:extLst>
      <p:ext uri="{BB962C8B-B14F-4D97-AF65-F5344CB8AC3E}">
        <p14:creationId xmlns:p14="http://schemas.microsoft.com/office/powerpoint/2010/main" val="456151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4-title">
            <a:extLst xmlns:a="http://schemas.openxmlformats.org/drawingml/2006/main">
              <a:ext uri="{FF2B5EF4-FFF2-40B4-BE49-F238E27FC236}">
                <a16:creationId xmlns:a16="http://schemas.microsoft.com/office/drawing/2014/main" id="{C23B0987-94A6-4D49-AB75-FD6034DBF68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Why can £100m create more than £100m of GDP?</a:t>
            </a:r>
          </a:p>
        </p:txBody>
      </p:sp>
      <p:cxnSp>
        <p:nvCxnSpPr>
          <p:cNvPr id="32"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BC9599DC-5BE4-4792-8749-2AFF6E57B0B9}"/>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CA539AB-88A4-4F03-A639-6552A77677E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04</a:t>
            </a:r>
          </a:p>
        </p:txBody>
      </p:sp>
      <p:sp>
        <p:nvSpPr>
          <p:cNvPr id="5" name="Rectangle 4">
            <a:extLst xmlns:a="http://schemas.openxmlformats.org/drawingml/2006/main">
              <a:ext uri="{FF2B5EF4-FFF2-40B4-BE49-F238E27FC236}">
                <a16:creationId xmlns:a16="http://schemas.microsoft.com/office/drawing/2014/main" id="{2AF6F8D6-4D68-4C5B-A3A5-6D5A14B4FCDD}"/>
              </a:ext>
            </a:extLst>
          </p:cNvPr>
          <p:cNvSpPr>
            <a:spLocks xmlns:a="http://schemas.openxmlformats.org/drawingml/2006/main" noGrp="1"/>
          </p:cNvSpPr>
          <p:nvPr/>
        </p:nvSpPr>
        <p:spPr>
          <a:xfrm xmlns:a="http://schemas.openxmlformats.org/drawingml/2006/main">
            <a:off x="666750" y="1666876"/>
            <a:ext cx="4762500" cy="29871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2250" b="1" i="0">
                <a:solidFill>
                  <a:srgbClr val="000000"/>
                </a:solidFill>
                <a:latin typeface="Arial"/>
                <a:ea typeface="Arial"/>
                <a:cs typeface="Arial"/>
              </a:defRPr>
            </a:pPr>
            <a:r>
              <a:rPr sz="2250" b="1" i="0">
                <a:solidFill>
                  <a:srgbClr val="000000"/>
                </a:solidFill>
                <a:latin typeface="Arial"/>
                <a:ea typeface="Arial"/>
                <a:cs typeface="Arial"/>
              </a:rPr>
              <a:t>The government commissions a new </a:t>
            </a:r>
            <a:r>
              <a:rPr sz="2250" b="1">
                <a:solidFill>
                  <a:srgbClr val="000000"/>
                </a:solidFill>
                <a:latin typeface="Arial"/>
                <a:ea typeface="Arial"/>
                <a:cs typeface="Arial"/>
              </a:rPr>
              <a:t>road</a:t>
            </a:r>
            <a:r>
              <a:rPr sz="2250" b="1" i="0">
                <a:solidFill>
                  <a:srgbClr val="000000"/>
                </a:solidFill>
                <a:latin typeface="Arial"/>
                <a:ea typeface="Arial"/>
                <a:cs typeface="Arial"/>
              </a:rPr>
              <a:t>.</a:t>
            </a:r>
          </a:p>
        </p:txBody>
      </p:sp>
      <p:sp>
        <p:nvSpPr>
          <p:cNvPr id="6" name="Rectangle 5">
            <a:extLst xmlns:a="http://schemas.openxmlformats.org/drawingml/2006/main">
              <a:ext uri="{FF2B5EF4-FFF2-40B4-BE49-F238E27FC236}">
                <a16:creationId xmlns:a16="http://schemas.microsoft.com/office/drawing/2014/main" id="{0CCAE040-BBDD-4679-80A5-2E4A3F2D9E7D}"/>
              </a:ext>
            </a:extLst>
          </p:cNvPr>
          <p:cNvSpPr>
            <a:spLocks xmlns:a="http://schemas.openxmlformats.org/drawingml/2006/main" noGrp="1"/>
          </p:cNvSpPr>
          <p:nvPr/>
        </p:nvSpPr>
        <p:spPr>
          <a:xfrm xmlns:a="http://schemas.openxmlformats.org/drawingml/2006/main">
            <a:off x="666750" y="2543175"/>
            <a:ext cx="476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950" b="0" i="0">
                <a:solidFill>
                  <a:srgbClr val="000000"/>
                </a:solidFill>
                <a:latin typeface="Arial"/>
                <a:ea typeface="Arial"/>
                <a:cs typeface="Arial"/>
              </a:defRPr>
            </a:pPr>
            <a:r>
              <a:rPr sz="1950" b="0" i="0">
                <a:solidFill>
                  <a:srgbClr val="000000"/>
                </a:solidFill>
                <a:latin typeface="Arial"/>
                <a:ea typeface="Arial"/>
                <a:cs typeface="Arial"/>
              </a:rPr>
              <a:t>• Firms receive new orders.</a:t>
            </a:r>
          </a:p>
          <a:p xmlns:a="http://schemas.openxmlformats.org/drawingml/2006/main">
            <a:pPr algn="l">
              <a:spcAft>
                <a:spcPts val="600"/>
              </a:spcAft>
              <a:buNone/>
              <a:defRPr sz="1950" b="0" i="0">
                <a:solidFill>
                  <a:srgbClr val="000000"/>
                </a:solidFill>
                <a:latin typeface="Arial"/>
                <a:ea typeface="Arial"/>
                <a:cs typeface="Arial"/>
              </a:defRPr>
            </a:pPr>
            <a:r>
              <a:rPr sz="1950" b="0" i="0">
                <a:solidFill>
                  <a:srgbClr val="000000"/>
                </a:solidFill>
                <a:latin typeface="Arial"/>
                <a:ea typeface="Arial"/>
                <a:cs typeface="Arial"/>
              </a:rPr>
              <a:t>• Workers and suppliers receive income.</a:t>
            </a:r>
          </a:p>
          <a:p xmlns:a="http://schemas.openxmlformats.org/drawingml/2006/main">
            <a:pPr algn="l">
              <a:spcAft>
                <a:spcPts val="600"/>
              </a:spcAft>
              <a:buNone/>
              <a:defRPr sz="1950" b="0" i="0">
                <a:solidFill>
                  <a:srgbClr val="000000"/>
                </a:solidFill>
                <a:latin typeface="Arial"/>
                <a:ea typeface="Arial"/>
                <a:cs typeface="Arial"/>
              </a:defRPr>
            </a:pPr>
            <a:r>
              <a:rPr sz="1950" b="0" i="0">
                <a:solidFill>
                  <a:srgbClr val="000000"/>
                </a:solidFill>
                <a:latin typeface="Arial"/>
                <a:ea typeface="Arial"/>
                <a:cs typeface="Arial"/>
              </a:rPr>
              <a:t>• They spend part of that extra income.</a:t>
            </a:r>
          </a:p>
        </p:txBody>
      </p:sp>
      <p:pic>
        <p:nvPicPr>
          <p:cNvPr id="37" name="Picture 45"/>
          <p:cNvPicPr>
            <a:picLocks xmlns:a="http://schemas.openxmlformats.org/drawingml/2006/main" noChangeAspect="1"/>
          </p:cNvPicPr>
          <p:nvPr/>
        </p:nvPicPr>
        <p:blipFill>
          <a:blip xmlns:r="http://schemas.openxmlformats.org/officeDocument/2006/relationships" xmlns:a="http://schemas.openxmlformats.org/drawingml/2006/main" r:embed="R294408a200254692"/>
          <a:srcRect xmlns:a="http://schemas.openxmlformats.org/drawingml/2006/main" l="23176" t="0" r="23176" b="0"/>
          <a:stretch xmlns:a="http://schemas.openxmlformats.org/drawingml/2006/main">
            <a:fillRect l="0" t="0" r="0" b="0"/>
          </a:stretch>
        </p:blipFill>
        <p:spPr>
          <a:xfrm xmlns:a="http://schemas.openxmlformats.org/drawingml/2006/main">
            <a:off x="6762752" y="1588442"/>
            <a:ext cx="4447790" cy="4669388"/>
          </a:xfrm>
          <a:prstGeom xmlns:a="http://schemas.openxmlformats.org/drawingml/2006/main" prst="rect">
            <a:avLst/>
          </a:prstGeom>
        </p:spPr>
      </p:pic>
    </p:spTree>
    <p:extLst>
      <p:ext uri="{BB962C8B-B14F-4D97-AF65-F5344CB8AC3E}">
        <p14:creationId xmlns:p14="http://schemas.microsoft.com/office/powerpoint/2010/main" val="9713596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6-title">
            <a:extLst xmlns:a="http://schemas.openxmlformats.org/drawingml/2006/main">
              <a:ext uri="{FF2B5EF4-FFF2-40B4-BE49-F238E27FC236}">
                <a16:creationId xmlns:a16="http://schemas.microsoft.com/office/drawing/2014/main" id="{41A7F465-6676-499B-A7F5-4C72530CCD04}"/>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One injection creates repeated spending rounds</a:t>
            </a:r>
          </a:p>
        </p:txBody>
      </p:sp>
      <p:sp>
        <p:nvSpPr>
          <p:cNvPr id="3" name="Rectangle 2">
            <a:extLst xmlns:a="http://schemas.openxmlformats.org/drawingml/2006/main">
              <a:ext uri="{FF2B5EF4-FFF2-40B4-BE49-F238E27FC236}">
                <a16:creationId xmlns:a16="http://schemas.microsoft.com/office/drawing/2014/main" id="{23287D97-A153-4CD9-B3F1-2FC68F122715}"/>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3290EA7F-A106-44B5-A939-19A42FD60D5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06</a:t>
            </a:r>
          </a:p>
        </p:txBody>
      </p:sp>
      <p:cxnSp>
        <p:nvCxnSpPr>
          <p:cNvPr id="64" name="Straight Arrow Connector 49"/>
          <p:cNvCxnSpPr/>
          <p:nvPr/>
        </p:nvCxnSpPr>
        <p:spPr>
          <a:xfrm xmlns:a="http://schemas.openxmlformats.org/drawingml/2006/main">
            <a:off x="1619250" y="2190750"/>
            <a:ext cx="8572500" cy="95"/>
          </a:xfrm>
          <a:prstGeom xmlns:a="http://schemas.openxmlformats.org/drawingml/2006/main" prst="straightConnector1">
            <a:avLst/>
          </a:prstGeom>
          <a:ln xmlns:a="http://schemas.openxmlformats.org/drawingml/2006/main" w="38100">
            <a:solidFill>
              <a:srgbClr val="B8BCC4"/>
            </a:solidFill>
            <a:prstDash val="solid"/>
          </a:ln>
        </p:spPr>
      </p:cxnSp>
      <p:sp>
        <p:nvSpPr>
          <p:cNvPr id="6" name="Oval 5">
            <a:extLst xmlns:a="http://schemas.openxmlformats.org/drawingml/2006/main">
              <a:ext uri="{FF2B5EF4-FFF2-40B4-BE49-F238E27FC236}">
                <a16:creationId xmlns:a16="http://schemas.microsoft.com/office/drawing/2014/main" id="{F5331DC6-0CBE-46B6-BE50-81EAAFA045FF}"/>
              </a:ext>
            </a:extLst>
          </p:cNvPr>
          <p:cNvSpPr>
            <a:spLocks xmlns:a="http://schemas.openxmlformats.org/drawingml/2006/main" noGrp="1"/>
          </p:cNvSpPr>
          <p:nvPr/>
        </p:nvSpPr>
        <p:spPr>
          <a:xfrm xmlns:a="http://schemas.openxmlformats.org/drawingml/2006/main">
            <a:off x="1143000" y="1714500"/>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Oval 6">
            <a:extLst xmlns:a="http://schemas.openxmlformats.org/drawingml/2006/main">
              <a:ext uri="{FF2B5EF4-FFF2-40B4-BE49-F238E27FC236}">
                <a16:creationId xmlns:a16="http://schemas.microsoft.com/office/drawing/2014/main" id="{EC0BFCD8-057A-4F46-8A90-81B87E5DBACB}"/>
              </a:ext>
            </a:extLst>
          </p:cNvPr>
          <p:cNvSpPr>
            <a:spLocks xmlns:a="http://schemas.openxmlformats.org/drawingml/2006/main" noGrp="1"/>
          </p:cNvSpPr>
          <p:nvPr/>
        </p:nvSpPr>
        <p:spPr>
          <a:xfrm xmlns:a="http://schemas.openxmlformats.org/drawingml/2006/main">
            <a:off x="5429250" y="1714500"/>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2</a:t>
            </a:r>
          </a:p>
        </p:txBody>
      </p:sp>
      <p:sp>
        <p:nvSpPr>
          <p:cNvPr id="8" name="Oval 7">
            <a:extLst xmlns:a="http://schemas.openxmlformats.org/drawingml/2006/main">
              <a:ext uri="{FF2B5EF4-FFF2-40B4-BE49-F238E27FC236}">
                <a16:creationId xmlns:a16="http://schemas.microsoft.com/office/drawing/2014/main" id="{32469B18-BF1B-47CC-824C-43E710BFB4F1}"/>
              </a:ext>
            </a:extLst>
          </p:cNvPr>
          <p:cNvSpPr>
            <a:spLocks xmlns:a="http://schemas.openxmlformats.org/drawingml/2006/main" noGrp="1"/>
          </p:cNvSpPr>
          <p:nvPr/>
        </p:nvSpPr>
        <p:spPr>
          <a:xfrm xmlns:a="http://schemas.openxmlformats.org/drawingml/2006/main">
            <a:off x="9715500" y="1714500"/>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9" name="Rectangle 8">
            <a:extLst xmlns:a="http://schemas.openxmlformats.org/drawingml/2006/main">
              <a:ext uri="{FF2B5EF4-FFF2-40B4-BE49-F238E27FC236}">
                <a16:creationId xmlns:a16="http://schemas.microsoft.com/office/drawing/2014/main" id="{F2039153-23B4-4D78-96D4-206F11F536DA}"/>
              </a:ext>
            </a:extLst>
          </p:cNvPr>
          <p:cNvSpPr>
            <a:spLocks xmlns:a="http://schemas.openxmlformats.org/drawingml/2006/main" noGrp="1"/>
          </p:cNvSpPr>
          <p:nvPr/>
        </p:nvSpPr>
        <p:spPr>
          <a:xfrm xmlns:a="http://schemas.openxmlformats.org/drawingml/2006/main">
            <a:off x="57150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INJECTION</a:t>
            </a:r>
          </a:p>
        </p:txBody>
      </p:sp>
      <p:sp>
        <p:nvSpPr>
          <p:cNvPr id="10" name="Rectangle 9">
            <a:extLst xmlns:a="http://schemas.openxmlformats.org/drawingml/2006/main">
              <a:ext uri="{FF2B5EF4-FFF2-40B4-BE49-F238E27FC236}">
                <a16:creationId xmlns:a16="http://schemas.microsoft.com/office/drawing/2014/main" id="{9C07ADAB-46F6-4386-889F-9D42036A7127}"/>
              </a:ext>
            </a:extLst>
          </p:cNvPr>
          <p:cNvSpPr>
            <a:spLocks xmlns:a="http://schemas.openxmlformats.org/drawingml/2006/main" noGrp="1"/>
          </p:cNvSpPr>
          <p:nvPr/>
        </p:nvSpPr>
        <p:spPr>
          <a:xfrm xmlns:a="http://schemas.openxmlformats.org/drawingml/2006/main">
            <a:off x="571500" y="34290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New autonomous spending</a:t>
            </a:r>
          </a:p>
        </p:txBody>
      </p:sp>
      <p:sp>
        <p:nvSpPr>
          <p:cNvPr id="11" name="Rectangle 10">
            <a:extLst xmlns:a="http://schemas.openxmlformats.org/drawingml/2006/main">
              <a:ext uri="{FF2B5EF4-FFF2-40B4-BE49-F238E27FC236}">
                <a16:creationId xmlns:a16="http://schemas.microsoft.com/office/drawing/2014/main" id="{A5682073-B9DE-49E6-B207-5F1648A282EE}"/>
              </a:ext>
            </a:extLst>
          </p:cNvPr>
          <p:cNvSpPr>
            <a:spLocks xmlns:a="http://schemas.openxmlformats.org/drawingml/2006/main" noGrp="1"/>
          </p:cNvSpPr>
          <p:nvPr/>
        </p:nvSpPr>
        <p:spPr>
          <a:xfrm xmlns:a="http://schemas.openxmlformats.org/drawingml/2006/main">
            <a:off x="485775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INCOME</a:t>
            </a:r>
          </a:p>
        </p:txBody>
      </p:sp>
      <p:sp>
        <p:nvSpPr>
          <p:cNvPr id="12" name="Rectangle 11">
            <a:extLst xmlns:a="http://schemas.openxmlformats.org/drawingml/2006/main">
              <a:ext uri="{FF2B5EF4-FFF2-40B4-BE49-F238E27FC236}">
                <a16:creationId xmlns:a16="http://schemas.microsoft.com/office/drawing/2014/main" id="{848CFE36-3207-4E75-80DA-E216E7A0D7FF}"/>
              </a:ext>
            </a:extLst>
          </p:cNvPr>
          <p:cNvSpPr>
            <a:spLocks xmlns:a="http://schemas.openxmlformats.org/drawingml/2006/main" noGrp="1"/>
          </p:cNvSpPr>
          <p:nvPr/>
        </p:nvSpPr>
        <p:spPr>
          <a:xfrm xmlns:a="http://schemas.openxmlformats.org/drawingml/2006/main">
            <a:off x="4857750" y="34290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The payment becomes income</a:t>
            </a:r>
          </a:p>
        </p:txBody>
      </p:sp>
      <p:sp>
        <p:nvSpPr>
          <p:cNvPr id="13" name="Rectangle 12">
            <a:extLst xmlns:a="http://schemas.openxmlformats.org/drawingml/2006/main">
              <a:ext uri="{FF2B5EF4-FFF2-40B4-BE49-F238E27FC236}">
                <a16:creationId xmlns:a16="http://schemas.microsoft.com/office/drawing/2014/main" id="{7E22A489-E73E-431C-8B6F-62C0EC8C4D26}"/>
              </a:ext>
            </a:extLst>
          </p:cNvPr>
          <p:cNvSpPr>
            <a:spLocks xmlns:a="http://schemas.openxmlformats.org/drawingml/2006/main" noGrp="1"/>
          </p:cNvSpPr>
          <p:nvPr/>
        </p:nvSpPr>
        <p:spPr>
          <a:xfrm xmlns:a="http://schemas.openxmlformats.org/drawingml/2006/main">
            <a:off x="914400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RE-SPENDING</a:t>
            </a:r>
          </a:p>
        </p:txBody>
      </p:sp>
      <p:sp>
        <p:nvSpPr>
          <p:cNvPr id="14" name="Rectangle 13">
            <a:extLst xmlns:a="http://schemas.openxmlformats.org/drawingml/2006/main">
              <a:ext uri="{FF2B5EF4-FFF2-40B4-BE49-F238E27FC236}">
                <a16:creationId xmlns:a16="http://schemas.microsoft.com/office/drawing/2014/main" id="{80246384-742C-44F4-84C9-58DCD292892C}"/>
              </a:ext>
            </a:extLst>
          </p:cNvPr>
          <p:cNvSpPr>
            <a:spLocks xmlns:a="http://schemas.openxmlformats.org/drawingml/2006/main" noGrp="1"/>
          </p:cNvSpPr>
          <p:nvPr/>
        </p:nvSpPr>
        <p:spPr>
          <a:xfrm xmlns:a="http://schemas.openxmlformats.org/drawingml/2006/main">
            <a:off x="9144000" y="3429000"/>
            <a:ext cx="209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Part is spent again; the rest leaks out</a:t>
            </a:r>
          </a:p>
        </p:txBody>
      </p:sp>
      <p:sp>
        <p:nvSpPr>
          <p:cNvPr id="15" name="Rectangle 14">
            <a:extLst xmlns:a="http://schemas.openxmlformats.org/drawingml/2006/main">
              <a:ext uri="{FF2B5EF4-FFF2-40B4-BE49-F238E27FC236}">
                <a16:creationId xmlns:a16="http://schemas.microsoft.com/office/drawing/2014/main" id="{02FB88EC-CCCA-4DEC-AFA2-CF9E7332ED88}"/>
              </a:ext>
            </a:extLst>
          </p:cNvPr>
          <p:cNvSpPr>
            <a:spLocks xmlns:a="http://schemas.openxmlformats.org/drawingml/2006/main" noGrp="1"/>
          </p:cNvSpPr>
          <p:nvPr/>
        </p:nvSpPr>
        <p:spPr>
          <a:xfrm xmlns:a="http://schemas.openxmlformats.org/drawingml/2006/main">
            <a:off x="1381125" y="5429249"/>
            <a:ext cx="9429750" cy="9047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Multiplier process = an initial change in spending causes a larger final change in economic activity.</a:t>
            </a:r>
          </a:p>
        </p:txBody>
      </p:sp>
    </p:spTree>
    <p:extLst>
      <p:ext uri="{BB962C8B-B14F-4D97-AF65-F5344CB8AC3E}">
        <p14:creationId xmlns:p14="http://schemas.microsoft.com/office/powerpoint/2010/main" val="7758683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5-title">
            <a:extLst xmlns:a="http://schemas.openxmlformats.org/drawingml/2006/main">
              <a:ext uri="{FF2B5EF4-FFF2-40B4-BE49-F238E27FC236}">
                <a16:creationId xmlns:a16="http://schemas.microsoft.com/office/drawing/2014/main" id="{FA09F7E0-8A74-4CE0-A3E3-E26444B9CD0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Injections enlarge the flow; leakages reduce it</a:t>
            </a:r>
          </a:p>
        </p:txBody>
      </p:sp>
      <p:cxnSp>
        <p:nvCxnSpPr>
          <p:cNvPr id="33"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EA2BCB94-4BBF-42B6-AC55-60FE3F4F4C32}"/>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86E4CAB-5529-491A-879D-B6502E90A986}"/>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05</a:t>
            </a:r>
          </a:p>
        </p:txBody>
      </p:sp>
      <p:sp>
        <p:nvSpPr>
          <p:cNvPr id="5" name="Arrow: Right 4">
            <a:extLst xmlns:a="http://schemas.openxmlformats.org/drawingml/2006/main">
              <a:ext uri="{FF2B5EF4-FFF2-40B4-BE49-F238E27FC236}">
                <a16:creationId xmlns:a16="http://schemas.microsoft.com/office/drawing/2014/main" id="{C1C8103B-C713-4469-B63E-3D8C61D2F605}"/>
              </a:ext>
            </a:extLst>
          </p:cNvPr>
          <p:cNvSpPr>
            <a:spLocks xmlns:a="http://schemas.openxmlformats.org/drawingml/2006/main" noGrp="1"/>
          </p:cNvSpPr>
          <p:nvPr/>
        </p:nvSpPr>
        <p:spPr>
          <a:xfrm xmlns:a="http://schemas.openxmlformats.org/drawingml/2006/main">
            <a:off x="1047750" y="2476500"/>
            <a:ext cx="2857500" cy="7239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Arrow: Right 5">
            <a:extLst xmlns:a="http://schemas.openxmlformats.org/drawingml/2006/main">
              <a:ext uri="{FF2B5EF4-FFF2-40B4-BE49-F238E27FC236}">
                <a16:creationId xmlns:a16="http://schemas.microsoft.com/office/drawing/2014/main" id="{B63D4CF7-4F4B-4C66-A5B3-A4F8703C5AE4}"/>
              </a:ext>
            </a:extLst>
          </p:cNvPr>
          <p:cNvSpPr>
            <a:spLocks xmlns:a="http://schemas.openxmlformats.org/drawingml/2006/main" noGrp="1"/>
          </p:cNvSpPr>
          <p:nvPr/>
        </p:nvSpPr>
        <p:spPr>
          <a:xfrm xmlns:a="http://schemas.openxmlformats.org/drawingml/2006/main">
            <a:off x="8286750" y="2476500"/>
            <a:ext cx="2857500" cy="723900"/>
          </a:xfrm>
          <a:prstGeom xmlns:a="http://schemas.openxmlformats.org/drawingml/2006/main" prst="rightArrow">
            <a:avLst/>
          </a:prstGeom>
          <a:solidFill xmlns:a="http://schemas.openxmlformats.org/drawingml/2006/main">
            <a:srgbClr val="F26B5B"/>
          </a:solidFill>
          <a:ln xmlns:a="http://schemas.openxmlformats.org/drawingml/2006/main" w="0">
            <a:solidFill>
              <a:srgbClr val="F26B5B"/>
            </a:solidFill>
            <a:prstDash val="solid"/>
          </a:ln>
        </p:spPr>
      </p:sp>
      <p:sp>
        <p:nvSpPr>
          <p:cNvPr id="7" name="Rectangle 6">
            <a:extLst xmlns:a="http://schemas.openxmlformats.org/drawingml/2006/main">
              <a:ext uri="{FF2B5EF4-FFF2-40B4-BE49-F238E27FC236}">
                <a16:creationId xmlns:a16="http://schemas.microsoft.com/office/drawing/2014/main" id="{1E8DBC63-0E4D-4029-8D87-71031B65E294}"/>
              </a:ext>
            </a:extLst>
          </p:cNvPr>
          <p:cNvSpPr>
            <a:spLocks xmlns:a="http://schemas.openxmlformats.org/drawingml/2006/main" noGrp="1"/>
          </p:cNvSpPr>
          <p:nvPr/>
        </p:nvSpPr>
        <p:spPr>
          <a:xfrm xmlns:a="http://schemas.openxmlformats.org/drawingml/2006/main">
            <a:off x="4476750" y="2047875"/>
            <a:ext cx="3238500" cy="1571625"/>
          </a:xfrm>
          <a:prstGeom xmlns:a="http://schemas.openxmlformats.org/drawingml/2006/main" prst="rect">
            <a:avLst/>
          </a:prstGeom>
          <a:solidFill xmlns:a="http://schemas.openxmlformats.org/drawingml/2006/main">
            <a:srgbClr val="F7F7F5"/>
          </a:solidFill>
          <a:ln xmlns:a="http://schemas.openxmlformats.org/drawingml/2006/main" w="19050">
            <a:solidFill>
              <a:srgbClr val="000000"/>
            </a:solidFill>
            <a:prstDash val="solid"/>
          </a:ln>
        </p:spPr>
      </p:sp>
      <p:sp>
        <p:nvSpPr>
          <p:cNvPr id="8" name="Rectangle 7">
            <a:extLst xmlns:a="http://schemas.openxmlformats.org/drawingml/2006/main">
              <a:ext uri="{FF2B5EF4-FFF2-40B4-BE49-F238E27FC236}">
                <a16:creationId xmlns:a16="http://schemas.microsoft.com/office/drawing/2014/main" id="{69CF1EDF-8798-4A6A-B14D-6189B2D32744}"/>
              </a:ext>
            </a:extLst>
          </p:cNvPr>
          <p:cNvSpPr>
            <a:spLocks xmlns:a="http://schemas.openxmlformats.org/drawingml/2006/main" noGrp="1"/>
          </p:cNvSpPr>
          <p:nvPr/>
        </p:nvSpPr>
        <p:spPr>
          <a:xfrm xmlns:a="http://schemas.openxmlformats.org/drawingml/2006/main">
            <a:off x="4762500" y="2333625"/>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NATIONAL</a:t>
            </a:r>
          </a:p>
          <a:p xmlns:a="http://schemas.openxmlformats.org/drawingml/2006/main">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INCOME FLOW</a:t>
            </a:r>
          </a:p>
        </p:txBody>
      </p:sp>
      <p:sp>
        <p:nvSpPr>
          <p:cNvPr id="9" name="Rectangle 8">
            <a:extLst xmlns:a="http://schemas.openxmlformats.org/drawingml/2006/main">
              <a:ext uri="{FF2B5EF4-FFF2-40B4-BE49-F238E27FC236}">
                <a16:creationId xmlns:a16="http://schemas.microsoft.com/office/drawing/2014/main" id="{724F64E2-C2D6-464D-9FF9-C624E0D42A10}"/>
              </a:ext>
            </a:extLst>
          </p:cNvPr>
          <p:cNvSpPr>
            <a:spLocks xmlns:a="http://schemas.openxmlformats.org/drawingml/2006/main" noGrp="1"/>
          </p:cNvSpPr>
          <p:nvPr/>
        </p:nvSpPr>
        <p:spPr>
          <a:xfrm xmlns:a="http://schemas.openxmlformats.org/drawingml/2006/main">
            <a:off x="1047750" y="1619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INJECTIONS</a:t>
            </a:r>
          </a:p>
        </p:txBody>
      </p:sp>
      <p:sp>
        <p:nvSpPr>
          <p:cNvPr id="10" name="Rectangle 9">
            <a:extLst xmlns:a="http://schemas.openxmlformats.org/drawingml/2006/main">
              <a:ext uri="{FF2B5EF4-FFF2-40B4-BE49-F238E27FC236}">
                <a16:creationId xmlns:a16="http://schemas.microsoft.com/office/drawing/2014/main" id="{185BAA11-F3F6-4C59-ABF3-2C819EFE1652}"/>
              </a:ext>
            </a:extLst>
          </p:cNvPr>
          <p:cNvSpPr>
            <a:spLocks xmlns:a="http://schemas.openxmlformats.org/drawingml/2006/main" noGrp="1"/>
          </p:cNvSpPr>
          <p:nvPr/>
        </p:nvSpPr>
        <p:spPr>
          <a:xfrm xmlns:a="http://schemas.openxmlformats.org/drawingml/2006/main">
            <a:off x="1047750" y="3714750"/>
            <a:ext cx="304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Investment (I)</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Government spending (G)</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Exports (X)</a:t>
            </a:r>
          </a:p>
        </p:txBody>
      </p:sp>
      <p:sp>
        <p:nvSpPr>
          <p:cNvPr id="11" name="Rectangle 10">
            <a:extLst xmlns:a="http://schemas.openxmlformats.org/drawingml/2006/main">
              <a:ext uri="{FF2B5EF4-FFF2-40B4-BE49-F238E27FC236}">
                <a16:creationId xmlns:a16="http://schemas.microsoft.com/office/drawing/2014/main" id="{F3CB49E0-6026-4C9C-93ED-627E219751C0}"/>
              </a:ext>
            </a:extLst>
          </p:cNvPr>
          <p:cNvSpPr>
            <a:spLocks xmlns:a="http://schemas.openxmlformats.org/drawingml/2006/main" noGrp="1"/>
          </p:cNvSpPr>
          <p:nvPr/>
        </p:nvSpPr>
        <p:spPr>
          <a:xfrm xmlns:a="http://schemas.openxmlformats.org/drawingml/2006/main">
            <a:off x="8096250" y="16192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 WITHDRAWALS</a:t>
            </a:r>
          </a:p>
        </p:txBody>
      </p:sp>
      <p:sp>
        <p:nvSpPr>
          <p:cNvPr id="12" name="Rectangle 11">
            <a:extLst xmlns:a="http://schemas.openxmlformats.org/drawingml/2006/main">
              <a:ext uri="{FF2B5EF4-FFF2-40B4-BE49-F238E27FC236}">
                <a16:creationId xmlns:a16="http://schemas.microsoft.com/office/drawing/2014/main" id="{CD520CA0-1603-459E-B2DC-FFEC0ECE6D11}"/>
              </a:ext>
            </a:extLst>
          </p:cNvPr>
          <p:cNvSpPr>
            <a:spLocks xmlns:a="http://schemas.openxmlformats.org/drawingml/2006/main" noGrp="1"/>
          </p:cNvSpPr>
          <p:nvPr/>
        </p:nvSpPr>
        <p:spPr>
          <a:xfrm xmlns:a="http://schemas.openxmlformats.org/drawingml/2006/main">
            <a:off x="8286750" y="3714750"/>
            <a:ext cx="285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Saving (S)</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Taxation (T)</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Imports (M)</a:t>
            </a:r>
          </a:p>
        </p:txBody>
      </p:sp>
    </p:spTree>
    <p:extLst>
      <p:ext uri="{BB962C8B-B14F-4D97-AF65-F5344CB8AC3E}">
        <p14:creationId xmlns:p14="http://schemas.microsoft.com/office/powerpoint/2010/main" val="14888572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7-title">
            <a:extLst xmlns:a="http://schemas.openxmlformats.org/drawingml/2006/main">
              <a:ext uri="{FF2B5EF4-FFF2-40B4-BE49-F238E27FC236}">
                <a16:creationId xmlns:a16="http://schemas.microsoft.com/office/drawing/2014/main" id="{1A4A7859-199C-40A7-9F20-0C6C718175C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MPC 0.75 makes each round 25% smaller</a:t>
            </a:r>
          </a:p>
        </p:txBody>
      </p:sp>
      <p:cxnSp>
        <p:nvCxnSpPr>
          <p:cNvPr id="36"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5129D4-B078-4A4F-A213-E9597FCFF51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913195A7-56D6-4717-AD74-7E618C37935A}"/>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07</a:t>
            </a:r>
          </a:p>
        </p:txBody>
      </p:sp>
      <p:sp>
        <p:nvSpPr>
          <p:cNvPr id="5" name="Rectangle 4">
            <a:extLst xmlns:a="http://schemas.openxmlformats.org/drawingml/2006/main">
              <a:ext uri="{FF2B5EF4-FFF2-40B4-BE49-F238E27FC236}">
                <a16:creationId xmlns:a16="http://schemas.microsoft.com/office/drawing/2014/main" id="{428E79C4-76EB-4081-8E92-521DC27BB3DB}"/>
              </a:ext>
            </a:extLst>
          </p:cNvPr>
          <p:cNvSpPr>
            <a:spLocks xmlns:a="http://schemas.openxmlformats.org/drawingml/2006/main" noGrp="1"/>
          </p:cNvSpPr>
          <p:nvPr/>
        </p:nvSpPr>
        <p:spPr>
          <a:xfrm xmlns:a="http://schemas.openxmlformats.org/drawingml/2006/main">
            <a:off x="571500" y="138112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Assume a closed economy with no government and an initial investment of £100m.</a:t>
            </a:r>
          </a:p>
        </p:txBody>
      </p:sp>
      <p:graphicFrame>
        <p:nvGraphicFramePr>
          <p:cNvPr id="40" name="Table 30"/>
          <p:cNvGraphicFramePr/>
          <p:nvPr/>
        </p:nvGraphicFramePr>
        <p:xfrm>
          <a:off xmlns:a="http://schemas.openxmlformats.org/drawingml/2006/main" x="762000" y="2047875"/>
          <a:ext xmlns:a="http://schemas.openxmlformats.org/drawingml/2006/main" cx="10668000" cy="3143250"/>
        </p:xfrm>
        <a:graphic xmlns:a="http://schemas.openxmlformats.org/drawingml/2006/main">
          <a:graphicData uri="http://schemas.openxmlformats.org/drawingml/2006/table">
            <a:tbl>
              <a:tblPr/>
              <a:tblGrid>
                <a:gridCol w="1428750"/>
                <a:gridCol w="2857500"/>
                <a:gridCol w="3333750"/>
                <a:gridCol w="3048000"/>
              </a:tblGrid>
              <a:tr h="523875">
                <a:tc>
                  <a:txBody>
                    <a:bodyPr/>
                    <a:lstStyle/>
                    <a:p>
                      <a:pPr algn="ctr">
                        <a:buNone/>
                      </a:pPr>
                      <a:r>
                        <a:rPr sz="1500" b="1">
                          <a:solidFill>
                            <a:srgbClr val="FFFFFF"/>
                          </a:solidFill>
                          <a:latin typeface="Arial"/>
                          <a:ea typeface="Arial"/>
                          <a:cs typeface="Arial"/>
                        </a:rPr>
                        <a:t>Round</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Income received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Consumption next round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Saving leakage (£m)</a:t>
                      </a:r>
                    </a:p>
                  </a:txBody>
                  <a:tcPr marL="76200" marR="76200" marT="57150" marB="57150" anchor="ctr">
                    <a:solidFill>
                      <a:srgbClr val="000000"/>
                    </a:solidFill>
                  </a:tcPr>
                </a:tc>
              </a:tr>
              <a:tr h="523875">
                <a:tc>
                  <a:txBody>
                    <a:bodyPr/>
                    <a:lstStyle/>
                    <a:p>
                      <a:pPr algn="ctr">
                        <a:buNone/>
                      </a:pPr>
                      <a:r>
                        <a:rPr sz="1650">
                          <a:solidFill>
                            <a:srgbClr val="000000"/>
                          </a:solidFill>
                          <a:latin typeface="Arial"/>
                          <a:ea typeface="Arial"/>
                          <a:cs typeface="Arial"/>
                        </a:rPr>
                        <a:t>Initial</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75.00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25.00</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2</a:t>
                      </a:r>
                    </a:p>
                  </a:txBody>
                  <a:tcPr marL="76200" marR="76200" marT="47625" marB="47625" anchor="ctr"/>
                </a:tc>
                <a:tc>
                  <a:txBody>
                    <a:bodyPr/>
                    <a:lstStyle/>
                    <a:p>
                      <a:pPr algn="ctr">
                        <a:buNone/>
                      </a:pPr>
                      <a:r>
                        <a:rPr sz="1650">
                          <a:solidFill>
                            <a:srgbClr val="000000"/>
                          </a:solidFill>
                          <a:latin typeface="Arial"/>
                          <a:ea typeface="Arial"/>
                          <a:cs typeface="Arial"/>
                        </a:rPr>
                        <a:t>75.00</a:t>
                      </a:r>
                    </a:p>
                  </a:txBody>
                  <a:tcPr marL="76200" marR="76200" marT="47625" marB="47625" anchor="ctr"/>
                </a:tc>
                <a:tc>
                  <a:txBody>
                    <a:bodyPr/>
                    <a:lstStyle/>
                    <a:p>
                      <a:pPr algn="ctr">
                        <a:buNone/>
                      </a:pPr>
                      <a:r>
                        <a:rPr sz="1650">
                          <a:solidFill>
                            <a:srgbClr val="000000"/>
                          </a:solidFill>
                          <a:latin typeface="Arial"/>
                          <a:ea typeface="Arial"/>
                          <a:cs typeface="Arial"/>
                        </a:rPr>
                        <a:t>56.25</a:t>
                      </a:r>
                    </a:p>
                  </a:txBody>
                  <a:tcPr marL="76200" marR="76200" marT="47625" marB="47625" anchor="ctr"/>
                </a:tc>
                <a:tc>
                  <a:txBody>
                    <a:bodyPr/>
                    <a:lstStyle/>
                    <a:p>
                      <a:pPr algn="ctr">
                        <a:buNone/>
                      </a:pPr>
                      <a:r>
                        <a:rPr sz="1650">
                          <a:solidFill>
                            <a:srgbClr val="000000"/>
                          </a:solidFill>
                          <a:latin typeface="Arial"/>
                          <a:ea typeface="Arial"/>
                          <a:cs typeface="Arial"/>
                        </a:rPr>
                        <a:t>18.75</a:t>
                      </a:r>
                    </a:p>
                  </a:txBody>
                  <a:tcPr marL="76200" marR="76200" marT="47625" marB="47625" anchor="ctr"/>
                </a:tc>
              </a:tr>
              <a:tr h="523875">
                <a:tc>
                  <a:txBody>
                    <a:bodyPr/>
                    <a:lstStyle/>
                    <a:p>
                      <a:pPr algn="ctr">
                        <a:buNone/>
                      </a:pPr>
                      <a:r>
                        <a:rPr sz="1650">
                          <a:solidFill>
                            <a:srgbClr val="000000"/>
                          </a:solidFill>
                          <a:latin typeface="Arial"/>
                          <a:ea typeface="Arial"/>
                          <a:cs typeface="Arial"/>
                        </a:rPr>
                        <a:t>3</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56.25</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42.19</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14.06</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4</a:t>
                      </a:r>
                    </a:p>
                  </a:txBody>
                  <a:tcPr marL="76200" marR="76200" marT="47625" marB="47625" anchor="ctr"/>
                </a:tc>
                <a:tc>
                  <a:txBody>
                    <a:bodyPr/>
                    <a:lstStyle/>
                    <a:p>
                      <a:pPr algn="ctr">
                        <a:buNone/>
                      </a:pPr>
                      <a:r>
                        <a:rPr sz="1650">
                          <a:solidFill>
                            <a:srgbClr val="000000"/>
                          </a:solidFill>
                          <a:latin typeface="Arial"/>
                          <a:ea typeface="Arial"/>
                          <a:cs typeface="Arial"/>
                        </a:rPr>
                        <a:t>42.19</a:t>
                      </a:r>
                    </a:p>
                  </a:txBody>
                  <a:tcPr marL="76200" marR="76200" marT="47625" marB="47625" anchor="ctr"/>
                </a:tc>
                <a:tc>
                  <a:txBody>
                    <a:bodyPr/>
                    <a:lstStyle/>
                    <a:p>
                      <a:pPr algn="ctr">
                        <a:buNone/>
                      </a:pPr>
                      <a:r>
                        <a:rPr sz="1650">
                          <a:solidFill>
                            <a:srgbClr val="000000"/>
                          </a:solidFill>
                          <a:latin typeface="Arial"/>
                          <a:ea typeface="Arial"/>
                          <a:cs typeface="Arial"/>
                        </a:rPr>
                        <a:t>31.64</a:t>
                      </a:r>
                    </a:p>
                  </a:txBody>
                  <a:tcPr marL="76200" marR="76200" marT="47625" marB="47625" anchor="ctr"/>
                </a:tc>
                <a:tc>
                  <a:txBody>
                    <a:bodyPr/>
                    <a:lstStyle/>
                    <a:p>
                      <a:pPr algn="ctr">
                        <a:buNone/>
                      </a:pPr>
                      <a:r>
                        <a:rPr sz="1650">
                          <a:solidFill>
                            <a:srgbClr val="000000"/>
                          </a:solidFill>
                          <a:latin typeface="Arial"/>
                          <a:ea typeface="Arial"/>
                          <a:cs typeface="Arial"/>
                        </a:rPr>
                        <a:t>10.55</a:t>
                      </a:r>
                    </a:p>
                  </a:txBody>
                  <a:tcPr marL="76200" marR="76200" marT="47625" marB="47625" anchor="ctr"/>
                </a:tc>
              </a:tr>
              <a:tr h="523875">
                <a:tc>
                  <a:txBody>
                    <a:bodyPr/>
                    <a:lstStyle/>
                    <a:p>
                      <a:pPr algn="ctr">
                        <a:buNone/>
                      </a:pPr>
                      <a:r>
                        <a:rPr sz="1650">
                          <a:solidFill>
                            <a:srgbClr val="000000"/>
                          </a:solidFill>
                          <a:latin typeface="Arial"/>
                          <a:ea typeface="Arial"/>
                          <a:cs typeface="Arial"/>
                        </a:rPr>
                        <a:t>…</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smaller each round</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r>
            </a:tbl>
          </a:graphicData>
        </a:graphic>
      </p:graphicFrame>
      <p:sp>
        <p:nvSpPr>
          <p:cNvPr id="7" name="Rectangle 6">
            <a:extLst xmlns:a="http://schemas.openxmlformats.org/drawingml/2006/main">
              <a:ext uri="{FF2B5EF4-FFF2-40B4-BE49-F238E27FC236}">
                <a16:creationId xmlns:a16="http://schemas.microsoft.com/office/drawing/2014/main" id="{D86C3CE2-0D32-4876-931D-9F6DDE7D5C7F}"/>
              </a:ext>
            </a:extLst>
          </p:cNvPr>
          <p:cNvSpPr>
            <a:spLocks xmlns:a="http://schemas.openxmlformats.org/drawingml/2006/main" noGrp="1"/>
          </p:cNvSpPr>
          <p:nvPr/>
        </p:nvSpPr>
        <p:spPr>
          <a:xfrm xmlns:a="http://schemas.openxmlformats.org/drawingml/2006/main">
            <a:off x="1143000" y="552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3D8DFF"/>
                </a:solidFill>
                <a:latin typeface="Arial"/>
                <a:ea typeface="Arial"/>
                <a:cs typeface="Arial"/>
              </a:defRPr>
            </a:pPr>
            <a:r>
              <a:rPr sz="2100" b="1" i="0">
                <a:solidFill>
                  <a:srgbClr val="3D8DFF"/>
                </a:solidFill>
                <a:latin typeface="Arial"/>
                <a:ea typeface="Arial"/>
                <a:cs typeface="Arial"/>
              </a:rPr>
              <a:t>The total converges to £400m: 100 + 75 + 56.25 + …</a:t>
            </a:r>
          </a:p>
        </p:txBody>
      </p:sp>
    </p:spTree>
    <p:extLst>
      <p:ext uri="{BB962C8B-B14F-4D97-AF65-F5344CB8AC3E}">
        <p14:creationId xmlns:p14="http://schemas.microsoft.com/office/powerpoint/2010/main" val="43775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8-title">
            <a:extLst xmlns:a="http://schemas.openxmlformats.org/drawingml/2006/main">
              <a:ext uri="{FF2B5EF4-FFF2-40B4-BE49-F238E27FC236}">
                <a16:creationId xmlns:a16="http://schemas.microsoft.com/office/drawing/2014/main" id="{94858402-AD32-4D8E-A612-25F60EB23126}"/>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Multiplier = final income change ÷ injection</a:t>
            </a:r>
          </a:p>
        </p:txBody>
      </p:sp>
      <p:cxnSp>
        <p:nvCxnSpPr>
          <p:cNvPr id="30" name="Straight Arrow Connector 23"/>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05A4AA97-4481-42CF-A994-BA63381F47E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64743E84-0B32-4931-9260-3092F8956A38}"/>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08</a:t>
            </a:r>
          </a:p>
        </p:txBody>
      </p:sp>
      <p:sp>
        <p:nvSpPr>
          <p:cNvPr id="5" name="Rectangle 4">
            <a:extLst xmlns:a="http://schemas.openxmlformats.org/drawingml/2006/main">
              <a:ext uri="{FF2B5EF4-FFF2-40B4-BE49-F238E27FC236}">
                <a16:creationId xmlns:a16="http://schemas.microsoft.com/office/drawing/2014/main" id="{8867AC0E-EF01-48A9-A829-0D9731F74C6C}"/>
              </a:ext>
            </a:extLst>
          </p:cNvPr>
          <p:cNvSpPr>
            <a:spLocks xmlns:a="http://schemas.openxmlformats.org/drawingml/2006/main" noGrp="1"/>
          </p:cNvSpPr>
          <p:nvPr/>
        </p:nvSpPr>
        <p:spPr>
          <a:xfrm xmlns:a="http://schemas.openxmlformats.org/drawingml/2006/main">
            <a:off x="666750" y="1714500"/>
            <a:ext cx="5334000" cy="3143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BDDD80A2-DE00-40DE-BB46-7894BD94ED88}"/>
              </a:ext>
            </a:extLst>
          </p:cNvPr>
          <p:cNvSpPr>
            <a:spLocks xmlns:a="http://schemas.openxmlformats.org/drawingml/2006/main" noGrp="1"/>
          </p:cNvSpPr>
          <p:nvPr/>
        </p:nvSpPr>
        <p:spPr>
          <a:xfrm xmlns:a="http://schemas.openxmlformats.org/drawingml/2006/main">
            <a:off x="1047750" y="2238375"/>
            <a:ext cx="4572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k = change in national income</a:t>
            </a:r>
          </a:p>
          <a:p xmlns:a="http://schemas.openxmlformats.org/drawingml/2006/main">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 initial change in injection</a:t>
            </a:r>
          </a:p>
        </p:txBody>
      </p:sp>
      <p:sp>
        <p:nvSpPr>
          <p:cNvPr id="7" name="Rectangle 6">
            <a:extLst xmlns:a="http://schemas.openxmlformats.org/drawingml/2006/main">
              <a:ext uri="{FF2B5EF4-FFF2-40B4-BE49-F238E27FC236}">
                <a16:creationId xmlns:a16="http://schemas.microsoft.com/office/drawing/2014/main" id="{E808DC3E-34B7-4F28-ADA6-34799721A3F7}"/>
              </a:ext>
            </a:extLst>
          </p:cNvPr>
          <p:cNvSpPr>
            <a:spLocks xmlns:a="http://schemas.openxmlformats.org/drawingml/2006/main" noGrp="1"/>
          </p:cNvSpPr>
          <p:nvPr/>
        </p:nvSpPr>
        <p:spPr>
          <a:xfrm xmlns:a="http://schemas.openxmlformats.org/drawingml/2006/main">
            <a:off x="1047750" y="3619500"/>
            <a:ext cx="457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3600" b="1" i="0">
                <a:solidFill>
                  <a:srgbClr val="3D8DFF"/>
                </a:solidFill>
                <a:latin typeface="Arial"/>
                <a:ea typeface="Arial"/>
                <a:cs typeface="Arial"/>
              </a:defRPr>
            </a:pPr>
            <a:r>
              <a:rPr sz="3600" b="1" i="0">
                <a:solidFill>
                  <a:srgbClr val="3D8DFF"/>
                </a:solidFill>
                <a:latin typeface="Arial"/>
                <a:ea typeface="Arial"/>
                <a:cs typeface="Arial"/>
              </a:rPr>
              <a:t>k = ΔY / ΔJ</a:t>
            </a:r>
          </a:p>
        </p:txBody>
      </p:sp>
      <p:sp>
        <p:nvSpPr>
          <p:cNvPr id="8" name="Rectangle 7">
            <a:extLst xmlns:a="http://schemas.openxmlformats.org/drawingml/2006/main">
              <a:ext uri="{FF2B5EF4-FFF2-40B4-BE49-F238E27FC236}">
                <a16:creationId xmlns:a16="http://schemas.microsoft.com/office/drawing/2014/main" id="{7B37DDD6-D0DD-4241-ACF5-AAFBEE08618E}"/>
              </a:ext>
            </a:extLst>
          </p:cNvPr>
          <p:cNvSpPr>
            <a:spLocks xmlns:a="http://schemas.openxmlformats.org/drawingml/2006/main" noGrp="1"/>
          </p:cNvSpPr>
          <p:nvPr/>
        </p:nvSpPr>
        <p:spPr>
          <a:xfrm xmlns:a="http://schemas.openxmlformats.org/drawingml/2006/main">
            <a:off x="6667500" y="176212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INTERPRET THE NUMBER</a:t>
            </a:r>
          </a:p>
        </p:txBody>
      </p:sp>
      <p:sp>
        <p:nvSpPr>
          <p:cNvPr id="9" name="Rectangle 8">
            <a:extLst xmlns:a="http://schemas.openxmlformats.org/drawingml/2006/main">
              <a:ext uri="{FF2B5EF4-FFF2-40B4-BE49-F238E27FC236}">
                <a16:creationId xmlns:a16="http://schemas.microsoft.com/office/drawing/2014/main" id="{11D748F4-2D32-49E5-9D0E-3C3368B0090F}"/>
              </a:ext>
            </a:extLst>
          </p:cNvPr>
          <p:cNvSpPr>
            <a:spLocks xmlns:a="http://schemas.openxmlformats.org/drawingml/2006/main" noGrp="1"/>
          </p:cNvSpPr>
          <p:nvPr/>
        </p:nvSpPr>
        <p:spPr>
          <a:xfrm xmlns:a="http://schemas.openxmlformats.org/drawingml/2006/main">
            <a:off x="6667500" y="2238375"/>
            <a:ext cx="4381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1: no multiplied effect</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2.5: £1 creates £2.50 of income</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larger leakages → smaller k</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smaller leakages → larger k</a:t>
            </a:r>
          </a:p>
        </p:txBody>
      </p:sp>
      <p:sp>
        <p:nvSpPr>
          <p:cNvPr id="10" name="Rectangle 9">
            <a:extLst xmlns:a="http://schemas.openxmlformats.org/drawingml/2006/main">
              <a:ext uri="{FF2B5EF4-FFF2-40B4-BE49-F238E27FC236}">
                <a16:creationId xmlns:a16="http://schemas.microsoft.com/office/drawing/2014/main" id="{CACB9D09-373F-4CE2-8BCE-A75D7677F64F}"/>
              </a:ext>
            </a:extLst>
          </p:cNvPr>
          <p:cNvSpPr>
            <a:spLocks xmlns:a="http://schemas.openxmlformats.org/drawingml/2006/main" noGrp="1"/>
          </p:cNvSpPr>
          <p:nvPr/>
        </p:nvSpPr>
        <p:spPr>
          <a:xfrm xmlns:a="http://schemas.openxmlformats.org/drawingml/2006/main">
            <a:off x="1619250" y="54292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Example: £100m injection → £400m income, so k = 4.</a:t>
            </a:r>
          </a:p>
        </p:txBody>
      </p:sp>
    </p:spTree>
    <p:extLst>
      <p:ext uri="{BB962C8B-B14F-4D97-AF65-F5344CB8AC3E}">
        <p14:creationId xmlns:p14="http://schemas.microsoft.com/office/powerpoint/2010/main" val="15302320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9-title">
            <a:extLst xmlns:a="http://schemas.openxmlformats.org/drawingml/2006/main">
              <a:ext uri="{FF2B5EF4-FFF2-40B4-BE49-F238E27FC236}">
                <a16:creationId xmlns:a16="http://schemas.microsoft.com/office/drawing/2014/main" id="{93FD5C06-A4A9-48A3-B39F-0C85F4848084}"/>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Average uses totals; marginal uses changes</a:t>
            </a:r>
          </a:p>
        </p:txBody>
      </p:sp>
      <p:cxnSp>
        <p:nvCxnSpPr>
          <p:cNvPr id="33"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0EB97D04-A665-4160-A839-73236DC3E62D}"/>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75B85C9-AABC-49E8-B815-36F4156FFB0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09</a:t>
            </a:r>
          </a:p>
        </p:txBody>
      </p:sp>
      <p:sp>
        <p:nvSpPr>
          <p:cNvPr id="5" name="Rectangle 4">
            <a:extLst xmlns:a="http://schemas.openxmlformats.org/drawingml/2006/main">
              <a:ext uri="{FF2B5EF4-FFF2-40B4-BE49-F238E27FC236}">
                <a16:creationId xmlns:a16="http://schemas.microsoft.com/office/drawing/2014/main" id="{CAA7DFF3-34D5-4914-A1CA-57A7542A9205}"/>
              </a:ext>
            </a:extLst>
          </p:cNvPr>
          <p:cNvSpPr>
            <a:spLocks xmlns:a="http://schemas.openxmlformats.org/drawingml/2006/main" noGrp="1"/>
          </p:cNvSpPr>
          <p:nvPr/>
        </p:nvSpPr>
        <p:spPr>
          <a:xfrm xmlns:a="http://schemas.openxmlformats.org/drawingml/2006/main">
            <a:off x="666750" y="1762125"/>
            <a:ext cx="5048250" cy="34290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279D9F35-9A19-40D3-98FE-FF9735964FD5}"/>
              </a:ext>
            </a:extLst>
          </p:cNvPr>
          <p:cNvSpPr>
            <a:spLocks xmlns:a="http://schemas.openxmlformats.org/drawingml/2006/main" noGrp="1"/>
          </p:cNvSpPr>
          <p:nvPr/>
        </p:nvSpPr>
        <p:spPr>
          <a:xfrm xmlns:a="http://schemas.openxmlformats.org/drawingml/2006/main">
            <a:off x="6477000" y="1762125"/>
            <a:ext cx="5048250" cy="342900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7" name="Rectangle 6">
            <a:extLst xmlns:a="http://schemas.openxmlformats.org/drawingml/2006/main">
              <a:ext uri="{FF2B5EF4-FFF2-40B4-BE49-F238E27FC236}">
                <a16:creationId xmlns:a16="http://schemas.microsoft.com/office/drawing/2014/main" id="{46393A14-E45B-4BE5-B4DD-9D0705F527CF}"/>
              </a:ext>
            </a:extLst>
          </p:cNvPr>
          <p:cNvSpPr>
            <a:spLocks xmlns:a="http://schemas.openxmlformats.org/drawingml/2006/main" noGrp="1"/>
          </p:cNvSpPr>
          <p:nvPr/>
        </p:nvSpPr>
        <p:spPr>
          <a:xfrm xmlns:a="http://schemas.openxmlformats.org/drawingml/2006/main">
            <a:off x="1000125" y="20955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AVERAGE PROPENSITY</a:t>
            </a:r>
          </a:p>
        </p:txBody>
      </p:sp>
      <p:sp>
        <p:nvSpPr>
          <p:cNvPr id="8" name="Rectangle 7">
            <a:extLst xmlns:a="http://schemas.openxmlformats.org/drawingml/2006/main">
              <a:ext uri="{FF2B5EF4-FFF2-40B4-BE49-F238E27FC236}">
                <a16:creationId xmlns:a16="http://schemas.microsoft.com/office/drawing/2014/main" id="{DAE8971C-A4D3-44FF-9E64-3F99CE04F2C4}"/>
              </a:ext>
            </a:extLst>
          </p:cNvPr>
          <p:cNvSpPr>
            <a:spLocks xmlns:a="http://schemas.openxmlformats.org/drawingml/2006/main" noGrp="1"/>
          </p:cNvSpPr>
          <p:nvPr/>
        </p:nvSpPr>
        <p:spPr>
          <a:xfrm xmlns:a="http://schemas.openxmlformats.org/drawingml/2006/main">
            <a:off x="1000125" y="2619375"/>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total income</a:t>
            </a:r>
          </a:p>
        </p:txBody>
      </p:sp>
      <p:sp>
        <p:nvSpPr>
          <p:cNvPr id="9" name="Rectangle 8">
            <a:extLst xmlns:a="http://schemas.openxmlformats.org/drawingml/2006/main">
              <a:ext uri="{FF2B5EF4-FFF2-40B4-BE49-F238E27FC236}">
                <a16:creationId xmlns:a16="http://schemas.microsoft.com/office/drawing/2014/main" id="{75A0FC04-31AA-4554-84CB-6B8CE7A6AF42}"/>
              </a:ext>
            </a:extLst>
          </p:cNvPr>
          <p:cNvSpPr>
            <a:spLocks xmlns:a="http://schemas.openxmlformats.org/drawingml/2006/main" noGrp="1"/>
          </p:cNvSpPr>
          <p:nvPr/>
        </p:nvSpPr>
        <p:spPr>
          <a:xfrm xmlns:a="http://schemas.openxmlformats.org/drawingml/2006/main">
            <a:off x="1000125" y="3333750"/>
            <a:ext cx="4381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850" b="0" i="0">
                <a:solidFill>
                  <a:srgbClr val="000000"/>
                </a:solidFill>
                <a:latin typeface="Arial"/>
                <a:ea typeface="Arial"/>
                <a:cs typeface="Arial"/>
              </a:defRPr>
            </a:pPr>
            <a:r>
              <a:rPr sz="2850" b="0" i="0">
                <a:solidFill>
                  <a:srgbClr val="000000"/>
                </a:solidFill>
                <a:latin typeface="Arial"/>
                <a:ea typeface="Arial"/>
                <a:cs typeface="Arial"/>
              </a:rPr>
              <a:t>APC = C / Y</a:t>
            </a:r>
          </a:p>
          <a:p xmlns:a="http://schemas.openxmlformats.org/drawingml/2006/main">
            <a:pPr algn="ctr">
              <a:buNone/>
              <a:defRPr sz="2850" b="0" i="0">
                <a:solidFill>
                  <a:srgbClr val="000000"/>
                </a:solidFill>
                <a:latin typeface="Arial"/>
                <a:ea typeface="Arial"/>
                <a:cs typeface="Arial"/>
              </a:defRPr>
            </a:pPr>
            <a:r>
              <a:rPr sz="2850" b="0" i="0">
                <a:solidFill>
                  <a:srgbClr val="000000"/>
                </a:solidFill>
                <a:latin typeface="Arial"/>
                <a:ea typeface="Arial"/>
                <a:cs typeface="Arial"/>
              </a:rPr>
              <a:t>APS = S / Y</a:t>
            </a:r>
          </a:p>
        </p:txBody>
      </p:sp>
      <p:sp>
        <p:nvSpPr>
          <p:cNvPr id="10" name="Rectangle 9">
            <a:extLst xmlns:a="http://schemas.openxmlformats.org/drawingml/2006/main">
              <a:ext uri="{FF2B5EF4-FFF2-40B4-BE49-F238E27FC236}">
                <a16:creationId xmlns:a16="http://schemas.microsoft.com/office/drawing/2014/main" id="{2F30C4B3-ECD6-4D86-B140-C7D0DC26209F}"/>
              </a:ext>
            </a:extLst>
          </p:cNvPr>
          <p:cNvSpPr>
            <a:spLocks xmlns:a="http://schemas.openxmlformats.org/drawingml/2006/main" noGrp="1"/>
          </p:cNvSpPr>
          <p:nvPr/>
        </p:nvSpPr>
        <p:spPr>
          <a:xfrm xmlns:a="http://schemas.openxmlformats.org/drawingml/2006/main">
            <a:off x="6810375" y="20955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MARGINAL PROPENSITY</a:t>
            </a:r>
          </a:p>
        </p:txBody>
      </p:sp>
      <p:sp>
        <p:nvSpPr>
          <p:cNvPr id="11" name="Rectangle 10">
            <a:extLst xmlns:a="http://schemas.openxmlformats.org/drawingml/2006/main">
              <a:ext uri="{FF2B5EF4-FFF2-40B4-BE49-F238E27FC236}">
                <a16:creationId xmlns:a16="http://schemas.microsoft.com/office/drawing/2014/main" id="{7272A2D8-F79D-4B5C-AD44-73787624706A}"/>
              </a:ext>
            </a:extLst>
          </p:cNvPr>
          <p:cNvSpPr>
            <a:spLocks xmlns:a="http://schemas.openxmlformats.org/drawingml/2006/main" noGrp="1"/>
          </p:cNvSpPr>
          <p:nvPr/>
        </p:nvSpPr>
        <p:spPr>
          <a:xfrm xmlns:a="http://schemas.openxmlformats.org/drawingml/2006/main">
            <a:off x="6810375" y="2619375"/>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extra income</a:t>
            </a:r>
          </a:p>
        </p:txBody>
      </p:sp>
      <p:sp>
        <p:nvSpPr>
          <p:cNvPr id="12" name="Rectangle 11">
            <a:extLst xmlns:a="http://schemas.openxmlformats.org/drawingml/2006/main">
              <a:ext uri="{FF2B5EF4-FFF2-40B4-BE49-F238E27FC236}">
                <a16:creationId xmlns:a16="http://schemas.microsoft.com/office/drawing/2014/main" id="{E033ABDC-04C3-461B-B478-ED8F49C284A9}"/>
              </a:ext>
            </a:extLst>
          </p:cNvPr>
          <p:cNvSpPr>
            <a:spLocks xmlns:a="http://schemas.openxmlformats.org/drawingml/2006/main" noGrp="1"/>
          </p:cNvSpPr>
          <p:nvPr/>
        </p:nvSpPr>
        <p:spPr>
          <a:xfrm xmlns:a="http://schemas.openxmlformats.org/drawingml/2006/main">
            <a:off x="6810375" y="3333750"/>
            <a:ext cx="4381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MPC = ΔC / ΔY</a:t>
            </a:r>
          </a:p>
          <a:p xmlns:a="http://schemas.openxmlformats.org/drawingml/2006/main">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MPS = ΔS / ΔY</a:t>
            </a:r>
          </a:p>
        </p:txBody>
      </p:sp>
    </p:spTree>
    <p:extLst>
      <p:ext uri="{BB962C8B-B14F-4D97-AF65-F5344CB8AC3E}">
        <p14:creationId xmlns:p14="http://schemas.microsoft.com/office/powerpoint/2010/main" val="7777996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0-title">
            <a:extLst xmlns:a="http://schemas.openxmlformats.org/drawingml/2006/main">
              <a:ext uri="{FF2B5EF4-FFF2-40B4-BE49-F238E27FC236}">
                <a16:creationId xmlns:a16="http://schemas.microsoft.com/office/drawing/2014/main" id="{A1621E29-0D4C-4D14-914B-EB37EEE0AF84}"/>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flow has average and marginal measures</a:t>
            </a:r>
          </a:p>
        </p:txBody>
      </p:sp>
      <p:cxnSp>
        <p:nvCxnSpPr>
          <p:cNvPr id="36"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84EA4693-534E-4F25-8D36-54279DDBA557}"/>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E762A3B-8FEE-49CF-BFDA-A0B77EDD496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10</a:t>
            </a:r>
          </a:p>
        </p:txBody>
      </p:sp>
      <p:graphicFrame>
        <p:nvGraphicFramePr>
          <p:cNvPr id="39" name="Table 30"/>
          <p:cNvGraphicFramePr/>
          <p:nvPr/>
        </p:nvGraphicFramePr>
        <p:xfrm>
          <a:off xmlns:a="http://schemas.openxmlformats.org/drawingml/2006/main" x="666750" y="2047875"/>
          <a:ext xmlns:a="http://schemas.openxmlformats.org/drawingml/2006/main" cx="10858500" cy="3333750"/>
        </p:xfrm>
        <a:graphic xmlns:a="http://schemas.openxmlformats.org/drawingml/2006/main">
          <a:graphicData uri="http://schemas.openxmlformats.org/drawingml/2006/table">
            <a:tbl>
              <a:tblPr/>
              <a:tblGrid>
                <a:gridCol w="2286000"/>
                <a:gridCol w="2095500"/>
                <a:gridCol w="2095500"/>
                <a:gridCol w="2286000"/>
                <a:gridCol w="2095500"/>
              </a:tblGrid>
              <a:tr h="666750">
                <a:tc>
                  <a:txBody>
                    <a:bodyPr/>
                    <a:lstStyle/>
                    <a:p>
                      <a:pPr algn="ctr">
                        <a:buNone/>
                      </a:pPr>
                      <a:r>
                        <a:rPr sz="1500" b="1">
                          <a:solidFill>
                            <a:srgbClr val="FFFFFF"/>
                          </a:solidFill>
                          <a:latin typeface="Arial"/>
                          <a:ea typeface="Arial"/>
                          <a:cs typeface="Arial"/>
                        </a:rPr>
                        <a:t>Flow</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Average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Marginal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tr>
              <a:tr h="666750">
                <a:tc>
                  <a:txBody>
                    <a:bodyPr/>
                    <a:lstStyle/>
                    <a:p>
                      <a:pPr algn="ctr">
                        <a:buNone/>
                      </a:pPr>
                      <a:r>
                        <a:rPr sz="1725">
                          <a:solidFill>
                            <a:srgbClr val="000000"/>
                          </a:solidFill>
                          <a:latin typeface="Arial"/>
                          <a:ea typeface="Arial"/>
                          <a:cs typeface="Arial"/>
                        </a:rPr>
                        <a:t>Consumption</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APC</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C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MPC</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ΔC / ΔY</a:t>
                      </a:r>
                    </a:p>
                  </a:txBody>
                  <a:tcPr marL="76200" marR="76200" marT="47625" marB="47625" anchor="ctr">
                    <a:solidFill>
                      <a:srgbClr val="EAF5FB"/>
                    </a:solidFill>
                  </a:tcPr>
                </a:tc>
              </a:tr>
              <a:tr h="666750">
                <a:tc>
                  <a:txBody>
                    <a:bodyPr/>
                    <a:lstStyle/>
                    <a:p>
                      <a:pPr algn="ctr">
                        <a:buNone/>
                      </a:pPr>
                      <a:r>
                        <a:rPr sz="1725">
                          <a:solidFill>
                            <a:srgbClr val="000000"/>
                          </a:solidFill>
                          <a:latin typeface="Arial"/>
                          <a:ea typeface="Arial"/>
                          <a:cs typeface="Arial"/>
                        </a:rPr>
                        <a:t>Saving</a:t>
                      </a:r>
                    </a:p>
                  </a:txBody>
                  <a:tcPr marL="76200" marR="76200" marT="47625" marB="47625" anchor="ctr"/>
                </a:tc>
                <a:tc>
                  <a:txBody>
                    <a:bodyPr/>
                    <a:lstStyle/>
                    <a:p>
                      <a:pPr algn="ctr">
                        <a:buNone/>
                      </a:pPr>
                      <a:r>
                        <a:rPr sz="1725">
                          <a:solidFill>
                            <a:srgbClr val="000000"/>
                          </a:solidFill>
                          <a:latin typeface="Arial"/>
                          <a:ea typeface="Arial"/>
                          <a:cs typeface="Arial"/>
                        </a:rPr>
                        <a:t>APS</a:t>
                      </a:r>
                    </a:p>
                  </a:txBody>
                  <a:tcPr marL="76200" marR="76200" marT="47625" marB="47625" anchor="ctr"/>
                </a:tc>
                <a:tc>
                  <a:txBody>
                    <a:bodyPr/>
                    <a:lstStyle/>
                    <a:p>
                      <a:pPr algn="ctr">
                        <a:buNone/>
                      </a:pPr>
                      <a:r>
                        <a:rPr sz="1725">
                          <a:solidFill>
                            <a:srgbClr val="000000"/>
                          </a:solidFill>
                          <a:latin typeface="Arial"/>
                          <a:ea typeface="Arial"/>
                          <a:cs typeface="Arial"/>
                        </a:rPr>
                        <a:t>S / Y</a:t>
                      </a:r>
                    </a:p>
                  </a:txBody>
                  <a:tcPr marL="76200" marR="76200" marT="47625" marB="47625" anchor="ctr"/>
                </a:tc>
                <a:tc>
                  <a:txBody>
                    <a:bodyPr/>
                    <a:lstStyle/>
                    <a:p>
                      <a:pPr algn="ctr">
                        <a:buNone/>
                      </a:pPr>
                      <a:r>
                        <a:rPr sz="1725">
                          <a:solidFill>
                            <a:srgbClr val="000000"/>
                          </a:solidFill>
                          <a:latin typeface="Arial"/>
                          <a:ea typeface="Arial"/>
                          <a:cs typeface="Arial"/>
                        </a:rPr>
                        <a:t>MPS</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ΔS / ΔY</a:t>
                      </a:r>
                    </a:p>
                  </a:txBody>
                  <a:tcPr marL="76200" marR="76200" marT="47625" marB="47625" anchor="ctr">
                    <a:solidFill>
                      <a:srgbClr val="EAF5FB"/>
                    </a:solidFill>
                  </a:tcPr>
                </a:tc>
              </a:tr>
              <a:tr h="666750">
                <a:tc>
                  <a:txBody>
                    <a:bodyPr/>
                    <a:lstStyle/>
                    <a:p>
                      <a:pPr algn="ctr">
                        <a:buNone/>
                      </a:pPr>
                      <a:r>
                        <a:rPr sz="1725">
                          <a:solidFill>
                            <a:srgbClr val="000000"/>
                          </a:solidFill>
                          <a:latin typeface="Arial"/>
                          <a:ea typeface="Arial"/>
                          <a:cs typeface="Arial"/>
                        </a:rPr>
                        <a:t>Imports</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APM</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MPM</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ΔM / ΔY</a:t>
                      </a:r>
                    </a:p>
                  </a:txBody>
                  <a:tcPr marL="76200" marR="76200" marT="47625" marB="47625" anchor="ctr">
                    <a:solidFill>
                      <a:srgbClr val="EAF5FB"/>
                    </a:solidFill>
                  </a:tcPr>
                </a:tc>
              </a:tr>
              <a:tr h="666750">
                <a:tc>
                  <a:txBody>
                    <a:bodyPr/>
                    <a:lstStyle/>
                    <a:p>
                      <a:pPr algn="ctr">
                        <a:buNone/>
                      </a:pPr>
                      <a:r>
                        <a:rPr sz="1725">
                          <a:solidFill>
                            <a:srgbClr val="000000"/>
                          </a:solidFill>
                          <a:latin typeface="Arial"/>
                          <a:ea typeface="Arial"/>
                          <a:cs typeface="Arial"/>
                        </a:rPr>
                        <a:t>Tax</a:t>
                      </a:r>
                    </a:p>
                  </a:txBody>
                  <a:tcPr marL="76200" marR="76200" marT="47625" marB="47625" anchor="ctr"/>
                </a:tc>
                <a:tc>
                  <a:txBody>
                    <a:bodyPr/>
                    <a:lstStyle/>
                    <a:p>
                      <a:pPr algn="ctr">
                        <a:buNone/>
                      </a:pPr>
                      <a:r>
                        <a:rPr sz="1725">
                          <a:solidFill>
                            <a:srgbClr val="000000"/>
                          </a:solidFill>
                          <a:latin typeface="Arial"/>
                          <a:ea typeface="Arial"/>
                          <a:cs typeface="Arial"/>
                        </a:rPr>
                        <a:t>ART</a:t>
                      </a:r>
                    </a:p>
                  </a:txBody>
                  <a:tcPr marL="76200" marR="76200" marT="47625" marB="47625" anchor="ctr"/>
                </a:tc>
                <a:tc>
                  <a:txBody>
                    <a:bodyPr/>
                    <a:lstStyle/>
                    <a:p>
                      <a:pPr algn="ctr">
                        <a:buNone/>
                      </a:pPr>
                      <a:r>
                        <a:rPr sz="1725">
                          <a:solidFill>
                            <a:srgbClr val="000000"/>
                          </a:solidFill>
                          <a:latin typeface="Arial"/>
                          <a:ea typeface="Arial"/>
                          <a:cs typeface="Arial"/>
                        </a:rPr>
                        <a:t>T / Y</a:t>
                      </a:r>
                    </a:p>
                  </a:txBody>
                  <a:tcPr marL="76200" marR="76200" marT="47625" marB="47625" anchor="ctr"/>
                </a:tc>
                <a:tc>
                  <a:txBody>
                    <a:bodyPr/>
                    <a:lstStyle/>
                    <a:p>
                      <a:pPr algn="ctr">
                        <a:buNone/>
                      </a:pPr>
                      <a:r>
                        <a:rPr sz="1725">
                          <a:solidFill>
                            <a:srgbClr val="000000"/>
                          </a:solidFill>
                          <a:latin typeface="Arial"/>
                          <a:ea typeface="Arial"/>
                          <a:cs typeface="Arial"/>
                        </a:rPr>
                        <a:t>MRT</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ΔT / ΔY</a:t>
                      </a:r>
                    </a:p>
                  </a:txBody>
                  <a:tcPr marL="76200" marR="76200" marT="47625" marB="47625" anchor="ctr">
                    <a:solidFill>
                      <a:srgbClr val="EAF5FB"/>
                    </a:solidFill>
                  </a:tcPr>
                </a:tc>
              </a:tr>
            </a:tbl>
          </a:graphicData>
        </a:graphic>
      </p:graphicFrame>
    </p:spTree>
    <p:extLst>
      <p:ext uri="{BB962C8B-B14F-4D97-AF65-F5344CB8AC3E}">
        <p14:creationId xmlns:p14="http://schemas.microsoft.com/office/powerpoint/2010/main" val="15719516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1-title">
            <a:extLst xmlns:a="http://schemas.openxmlformats.org/drawingml/2006/main">
              <a:ext uri="{FF2B5EF4-FFF2-40B4-BE49-F238E27FC236}">
                <a16:creationId xmlns:a16="http://schemas.microsoft.com/office/drawing/2014/main" id="{0AD18E60-ACB3-4D11-BF24-80B8BC1EFD7D}"/>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Four economy models, one multiplier rule</a:t>
            </a:r>
          </a:p>
        </p:txBody>
      </p:sp>
      <p:cxnSp>
        <p:nvCxnSpPr>
          <p:cNvPr id="36"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CEFA20DD-522D-41E1-BDC3-4335A2257A57}"/>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875EE34-3023-481F-8F79-6AFC09D3CAA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11</a:t>
            </a:r>
          </a:p>
        </p:txBody>
      </p:sp>
      <p:sp>
        <p:nvSpPr>
          <p:cNvPr id="5" name="Rectangle 4">
            <a:extLst xmlns:a="http://schemas.openxmlformats.org/drawingml/2006/main">
              <a:ext uri="{FF2B5EF4-FFF2-40B4-BE49-F238E27FC236}">
                <a16:creationId xmlns:a16="http://schemas.microsoft.com/office/drawing/2014/main" id="{2D5E8979-737F-4A4E-A8D7-A3FE8639F98B}"/>
              </a:ext>
            </a:extLst>
          </p:cNvPr>
          <p:cNvSpPr>
            <a:spLocks xmlns:a="http://schemas.openxmlformats.org/drawingml/2006/main" noGrp="1"/>
          </p:cNvSpPr>
          <p:nvPr/>
        </p:nvSpPr>
        <p:spPr>
          <a:xfrm xmlns:a="http://schemas.openxmlformats.org/drawingml/2006/main">
            <a:off x="571500" y="1381125"/>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Step 1: identify the leakages. Step 2: add their marginal propensities.</a:t>
            </a:r>
          </a:p>
        </p:txBody>
      </p:sp>
      <p:graphicFrame>
        <p:nvGraphicFramePr>
          <p:cNvPr id="40" name="Table 30"/>
          <p:cNvGraphicFramePr/>
          <p:nvPr/>
        </p:nvGraphicFramePr>
        <p:xfrm>
          <a:off xmlns:a="http://schemas.openxmlformats.org/drawingml/2006/main" x="571500" y="2000250"/>
          <a:ext xmlns:a="http://schemas.openxmlformats.org/drawingml/2006/main" cx="11049000" cy="3524250"/>
        </p:xfrm>
        <a:graphic xmlns:a="http://schemas.openxmlformats.org/drawingml/2006/main">
          <a:graphicData uri="http://schemas.openxmlformats.org/drawingml/2006/table">
            <a:tbl>
              <a:tblPr/>
              <a:tblGrid>
                <a:gridCol w="2762250"/>
                <a:gridCol w="2000250"/>
                <a:gridCol w="3305503"/>
                <a:gridCol w="2980997"/>
              </a:tblGrid>
              <a:tr h="704850">
                <a:tc>
                  <a:txBody>
                    <a:bodyPr/>
                    <a:lstStyle/>
                    <a:p>
                      <a:pPr algn="ctr">
                        <a:buNone/>
                      </a:pPr>
                      <a:r>
                        <a:rPr sz="1425" b="1">
                          <a:solidFill>
                            <a:srgbClr val="FFFFFF"/>
                          </a:solidFill>
                          <a:latin typeface="Arial"/>
                          <a:ea typeface="Arial"/>
                          <a:cs typeface="Arial"/>
                        </a:rPr>
                        <a:t>Model</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Leakages</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Marginal propensity to withdraw (MPW)</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Multiplier</a:t>
                      </a:r>
                    </a:p>
                  </a:txBody>
                  <a:tcPr marL="76200" marR="76200" marT="57150" marB="57150" anchor="ctr">
                    <a:solidFill>
                      <a:srgbClr val="000000"/>
                    </a:solidFill>
                  </a:tcPr>
                </a:tc>
              </a:tr>
              <a:tr h="704850">
                <a:tc>
                  <a:txBody>
                    <a:bodyPr/>
                    <a:lstStyle/>
                    <a:p>
                      <a:pPr algn="ctr">
                        <a:buNone/>
                      </a:pPr>
                      <a:r>
                        <a:rPr sz="1575">
                          <a:solidFill>
                            <a:srgbClr val="000000"/>
                          </a:solidFill>
                          <a:latin typeface="Arial"/>
                          <a:ea typeface="Arial"/>
                          <a:cs typeface="Arial"/>
                        </a:rPr>
                        <a:t>Closed,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a:t>
                      </a:r>
                    </a:p>
                  </a:txBody>
                  <a:tcPr marL="76200" marR="76200" marT="47625" marB="47625" anchor="ctr">
                    <a:solidFill>
                      <a:srgbClr val="F7F7F5"/>
                    </a:solidFill>
                  </a:tcPr>
                </a:tc>
                <a:tc>
                  <a:txBody>
                    <a:bodyPr/>
                    <a:lstStyle/>
                    <a:p>
                      <a:pPr algn="ctr">
                        <a:buNone/>
                      </a:pPr>
                      <a:r>
                        <a:rPr sz="1725" b="1">
                          <a:solidFill>
                            <a:srgbClr val="3D8DFF"/>
                          </a:solidFill>
                          <a:latin typeface="Arial"/>
                          <a:ea typeface="Arial"/>
                          <a:cs typeface="Arial"/>
                        </a:rPr>
                        <a:t>1 / MPS</a:t>
                      </a:r>
                    </a:p>
                  </a:txBody>
                  <a:tcPr marL="76200" marR="76200" marT="47625" marB="47625" anchor="ctr">
                    <a:solidFill>
                      <a:srgbClr val="EAF5FB"/>
                    </a:solidFill>
                  </a:tcPr>
                </a:tc>
              </a:tr>
              <a:tr h="704850">
                <a:tc>
                  <a:txBody>
                    <a:bodyPr/>
                    <a:lstStyle/>
                    <a:p>
                      <a:pPr algn="ctr">
                        <a:buNone/>
                      </a:pPr>
                      <a:r>
                        <a:rPr sz="1575">
                          <a:solidFill>
                            <a:srgbClr val="000000"/>
                          </a:solidFill>
                          <a:latin typeface="Arial"/>
                          <a:ea typeface="Arial"/>
                          <a:cs typeface="Arial"/>
                        </a:rPr>
                        <a:t>Closed, with government</a:t>
                      </a:r>
                    </a:p>
                  </a:txBody>
                  <a:tcPr marL="76200" marR="76200" marT="47625" marB="47625" anchor="ctr"/>
                </a:tc>
                <a:tc>
                  <a:txBody>
                    <a:bodyPr/>
                    <a:lstStyle/>
                    <a:p>
                      <a:pPr algn="ctr">
                        <a:buNone/>
                      </a:pPr>
                      <a:r>
                        <a:rPr sz="1575">
                          <a:solidFill>
                            <a:srgbClr val="000000"/>
                          </a:solidFill>
                          <a:latin typeface="Arial"/>
                          <a:ea typeface="Arial"/>
                          <a:cs typeface="Arial"/>
                        </a:rPr>
                        <a:t>S + T</a:t>
                      </a:r>
                    </a:p>
                  </a:txBody>
                  <a:tcPr marL="76200" marR="76200" marT="47625" marB="47625" anchor="ctr"/>
                </a:tc>
                <a:tc>
                  <a:txBody>
                    <a:bodyPr/>
                    <a:lstStyle/>
                    <a:p>
                      <a:pPr algn="ctr">
                        <a:buNone/>
                      </a:pPr>
                      <a:r>
                        <a:rPr sz="1575">
                          <a:solidFill>
                            <a:srgbClr val="000000"/>
                          </a:solidFill>
                          <a:latin typeface="Arial"/>
                          <a:ea typeface="Arial"/>
                          <a:cs typeface="Arial"/>
                        </a:rPr>
                        <a:t>MPS + MRT</a:t>
                      </a:r>
                    </a:p>
                  </a:txBody>
                  <a:tcPr marL="76200" marR="76200" marT="47625" marB="47625" anchor="ctr"/>
                </a:tc>
                <a:tc>
                  <a:txBody>
                    <a:bodyPr/>
                    <a:lstStyle/>
                    <a:p>
                      <a:pPr algn="ctr">
                        <a:buNone/>
                      </a:pPr>
                      <a:r>
                        <a:rPr sz="1725" b="1">
                          <a:solidFill>
                            <a:srgbClr val="3D8DFF"/>
                          </a:solidFill>
                          <a:latin typeface="Arial"/>
                          <a:ea typeface="Arial"/>
                          <a:cs typeface="Arial"/>
                        </a:rPr>
                        <a:t>1 / (MPS + MRT)</a:t>
                      </a:r>
                    </a:p>
                  </a:txBody>
                  <a:tcPr marL="76200" marR="76200" marT="47625" marB="47625" anchor="ctr">
                    <a:solidFill>
                      <a:srgbClr val="EAF5FB"/>
                    </a:solidFill>
                  </a:tcPr>
                </a:tc>
              </a:tr>
              <a:tr h="704850">
                <a:tc>
                  <a:txBody>
                    <a:bodyPr/>
                    <a:lstStyle/>
                    <a:p>
                      <a:pPr algn="ctr">
                        <a:buNone/>
                      </a:pPr>
                      <a:r>
                        <a:rPr sz="1575">
                          <a:solidFill>
                            <a:srgbClr val="000000"/>
                          </a:solidFill>
                          <a:latin typeface="Arial"/>
                          <a:ea typeface="Arial"/>
                          <a:cs typeface="Arial"/>
                        </a:rPr>
                        <a:t>Open,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 + M</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 + MPM</a:t>
                      </a:r>
                    </a:p>
                  </a:txBody>
                  <a:tcPr marL="76200" marR="76200" marT="47625" marB="47625" anchor="ctr">
                    <a:solidFill>
                      <a:srgbClr val="F7F7F5"/>
                    </a:solidFill>
                  </a:tcPr>
                </a:tc>
                <a:tc>
                  <a:txBody>
                    <a:bodyPr/>
                    <a:lstStyle/>
                    <a:p>
                      <a:pPr algn="ctr">
                        <a:buNone/>
                      </a:pPr>
                      <a:r>
                        <a:rPr sz="1725" b="1">
                          <a:solidFill>
                            <a:srgbClr val="3D8DFF"/>
                          </a:solidFill>
                          <a:latin typeface="Arial"/>
                          <a:ea typeface="Arial"/>
                          <a:cs typeface="Arial"/>
                        </a:rPr>
                        <a:t>1 / (MPS + MPM)</a:t>
                      </a:r>
                    </a:p>
                  </a:txBody>
                  <a:tcPr marL="76200" marR="76200" marT="47625" marB="47625" anchor="ctr">
                    <a:solidFill>
                      <a:srgbClr val="EAF5FB"/>
                    </a:solidFill>
                  </a:tcPr>
                </a:tc>
              </a:tr>
              <a:tr h="704850">
                <a:tc>
                  <a:txBody>
                    <a:bodyPr/>
                    <a:lstStyle/>
                    <a:p>
                      <a:pPr algn="ctr">
                        <a:buNone/>
                      </a:pPr>
                      <a:r>
                        <a:rPr sz="1575">
                          <a:solidFill>
                            <a:srgbClr val="000000"/>
                          </a:solidFill>
                          <a:latin typeface="Arial"/>
                          <a:ea typeface="Arial"/>
                          <a:cs typeface="Arial"/>
                        </a:rPr>
                        <a:t>Open, with government</a:t>
                      </a:r>
                    </a:p>
                  </a:txBody>
                  <a:tcPr marL="76200" marR="76200" marT="47625" marB="47625" anchor="ctr"/>
                </a:tc>
                <a:tc>
                  <a:txBody>
                    <a:bodyPr/>
                    <a:lstStyle/>
                    <a:p>
                      <a:pPr algn="ctr">
                        <a:buNone/>
                      </a:pPr>
                      <a:r>
                        <a:rPr sz="1575">
                          <a:solidFill>
                            <a:srgbClr val="000000"/>
                          </a:solidFill>
                          <a:latin typeface="Arial"/>
                          <a:ea typeface="Arial"/>
                          <a:cs typeface="Arial"/>
                        </a:rPr>
                        <a:t>S + T + M</a:t>
                      </a:r>
                    </a:p>
                  </a:txBody>
                  <a:tcPr marL="76200" marR="76200" marT="47625" marB="47625" anchor="ctr"/>
                </a:tc>
                <a:tc>
                  <a:txBody>
                    <a:bodyPr/>
                    <a:lstStyle/>
                    <a:p>
                      <a:pPr algn="ctr">
                        <a:buNone/>
                      </a:pPr>
                      <a:r>
                        <a:rPr sz="1575">
                          <a:solidFill>
                            <a:srgbClr val="000000"/>
                          </a:solidFill>
                          <a:latin typeface="Arial"/>
                          <a:ea typeface="Arial"/>
                          <a:cs typeface="Arial"/>
                        </a:rPr>
                        <a:t>MPS + MRT + MPM</a:t>
                      </a:r>
                    </a:p>
                  </a:txBody>
                  <a:tcPr marL="76200" marR="76200" marT="47625" marB="47625" anchor="ctr"/>
                </a:tc>
                <a:tc>
                  <a:txBody>
                    <a:bodyPr/>
                    <a:lstStyle/>
                    <a:p>
                      <a:pPr algn="ctr">
                        <a:buNone/>
                      </a:pPr>
                      <a:r>
                        <a:rPr sz="1725" b="1">
                          <a:solidFill>
                            <a:srgbClr val="3D8DFF"/>
                          </a:solidFill>
                          <a:latin typeface="Arial"/>
                          <a:ea typeface="Arial"/>
                          <a:cs typeface="Arial"/>
                        </a:rPr>
                        <a:t>1 / </a:t>
                      </a:r>
                      <a:r>
                        <a:rPr sz="1725" b="1">
                          <a:solidFill>
                            <a:srgbClr val="3D8DFF"/>
                          </a:solidFill>
                          <a:latin typeface="Arial"/>
                          <a:ea typeface="Arial"/>
                          <a:cs typeface="Arial"/>
                        </a:rPr>
                        <a:t>(MPS + MRT + MPM)</a:t>
                      </a:r>
                      <a:endParaRPr sz="1725" b="1">
                        <a:solidFill>
                          <a:srgbClr val="3D8DFF"/>
                        </a:solidFill>
                        <a:latin typeface="Arial"/>
                        <a:ea typeface="Arial"/>
                        <a:cs typeface="Arial"/>
                      </a:endParaRPr>
                    </a:p>
                  </a:txBody>
                  <a:tcPr marL="76200" marR="76200" marT="47625" marB="47625" anchor="ctr">
                    <a:solidFill>
                      <a:srgbClr val="EAF5FB"/>
                    </a:solidFill>
                  </a:tcPr>
                </a:tc>
              </a:tr>
            </a:tbl>
          </a:graphicData>
        </a:graphic>
      </p:graphicFrame>
      <p:sp>
        <p:nvSpPr>
          <p:cNvPr id="7" name="Rectangle 6">
            <a:extLst xmlns:a="http://schemas.openxmlformats.org/drawingml/2006/main">
              <a:ext uri="{FF2B5EF4-FFF2-40B4-BE49-F238E27FC236}">
                <a16:creationId xmlns:a16="http://schemas.microsoft.com/office/drawing/2014/main" id="{00E71C89-2E0C-44AB-9757-253316E8ADC6}"/>
              </a:ext>
            </a:extLst>
          </p:cNvPr>
          <p:cNvSpPr>
            <a:spLocks xmlns:a="http://schemas.openxmlformats.org/drawingml/2006/main" noGrp="1"/>
          </p:cNvSpPr>
          <p:nvPr/>
        </p:nvSpPr>
        <p:spPr>
          <a:xfrm xmlns:a="http://schemas.openxmlformats.org/drawingml/2006/main">
            <a:off x="3619500" y="57626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400" b="1" i="0">
                <a:solidFill>
                  <a:srgbClr val="3D8DFF"/>
                </a:solidFill>
                <a:latin typeface="Arial"/>
                <a:ea typeface="Arial"/>
                <a:cs typeface="Arial"/>
              </a:defRPr>
            </a:pPr>
            <a:r>
              <a:rPr sz="2400" b="1" i="0">
                <a:solidFill>
                  <a:srgbClr val="3D8DFF"/>
                </a:solidFill>
                <a:latin typeface="Arial"/>
                <a:ea typeface="Arial"/>
                <a:cs typeface="Arial"/>
              </a:rPr>
              <a:t>General rule: k = 1 / MPW</a:t>
            </a:r>
          </a:p>
        </p:txBody>
      </p:sp>
    </p:spTree>
    <p:extLst>
      <p:ext uri="{BB962C8B-B14F-4D97-AF65-F5344CB8AC3E}">
        <p14:creationId xmlns:p14="http://schemas.microsoft.com/office/powerpoint/2010/main" val="9938428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12-title">
            <a:extLst xmlns:a="http://schemas.openxmlformats.org/drawingml/2006/main">
              <a:ext uri="{FF2B5EF4-FFF2-40B4-BE49-F238E27FC236}">
                <a16:creationId xmlns:a16="http://schemas.microsoft.com/office/drawing/2014/main" id="{DCF9AC5E-1EBC-4FAB-B477-261D2B3532F2}"/>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Worked example: open economy + government</a:t>
            </a:r>
          </a:p>
        </p:txBody>
      </p:sp>
      <p:cxnSp>
        <p:nvCxnSpPr>
          <p:cNvPr id="29" name="Straight Arrow Connector 22"/>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C4661E9A-949B-4796-AE2C-1EC02D67CF7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0FAF3A8-78D2-4C78-9CA6-A408C1DF270C}"/>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12</a:t>
            </a:r>
          </a:p>
        </p:txBody>
      </p:sp>
      <p:sp>
        <p:nvSpPr>
          <p:cNvPr id="5" name="Rectangle 4">
            <a:extLst xmlns:a="http://schemas.openxmlformats.org/drawingml/2006/main">
              <a:ext uri="{FF2B5EF4-FFF2-40B4-BE49-F238E27FC236}">
                <a16:creationId xmlns:a16="http://schemas.microsoft.com/office/drawing/2014/main" id="{B8EA1E4C-2486-4210-935A-1A1A680AB961}"/>
              </a:ext>
            </a:extLst>
          </p:cNvPr>
          <p:cNvSpPr>
            <a:spLocks xmlns:a="http://schemas.openxmlformats.org/drawingml/2006/main" noGrp="1"/>
          </p:cNvSpPr>
          <p:nvPr/>
        </p:nvSpPr>
        <p:spPr>
          <a:xfrm xmlns:a="http://schemas.openxmlformats.org/drawingml/2006/main">
            <a:off x="666750" y="16668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GIVEN</a:t>
            </a:r>
          </a:p>
        </p:txBody>
      </p:sp>
      <p:sp>
        <p:nvSpPr>
          <p:cNvPr id="6" name="Rectangle 5">
            <a:extLst xmlns:a="http://schemas.openxmlformats.org/drawingml/2006/main">
              <a:ext uri="{FF2B5EF4-FFF2-40B4-BE49-F238E27FC236}">
                <a16:creationId xmlns:a16="http://schemas.microsoft.com/office/drawing/2014/main" id="{ED29F257-2F8F-4453-9786-21424A64E85B}"/>
              </a:ext>
            </a:extLst>
          </p:cNvPr>
          <p:cNvSpPr>
            <a:spLocks xmlns:a="http://schemas.openxmlformats.org/drawingml/2006/main" noGrp="1"/>
          </p:cNvSpPr>
          <p:nvPr/>
        </p:nvSpPr>
        <p:spPr>
          <a:xfrm xmlns:a="http://schemas.openxmlformats.org/drawingml/2006/main">
            <a:off x="666750" y="2095500"/>
            <a:ext cx="4572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MPS = 0.20</a:t>
            </a:r>
          </a:p>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MPM = 0.10</a:t>
            </a:r>
          </a:p>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MRT = 0.10</a:t>
            </a:r>
          </a:p>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Exports rise by £80m</a:t>
            </a:r>
          </a:p>
        </p:txBody>
      </p:sp>
      <p:sp>
        <p:nvSpPr>
          <p:cNvPr id="7" name="Rectangle 6">
            <a:extLst xmlns:a="http://schemas.openxmlformats.org/drawingml/2006/main">
              <a:ext uri="{FF2B5EF4-FFF2-40B4-BE49-F238E27FC236}">
                <a16:creationId xmlns:a16="http://schemas.microsoft.com/office/drawing/2014/main" id="{EC126679-BF7C-4D3E-B728-D92BF63603E6}"/>
              </a:ext>
            </a:extLst>
          </p:cNvPr>
          <p:cNvSpPr>
            <a:spLocks xmlns:a="http://schemas.openxmlformats.org/drawingml/2006/main" noGrp="1"/>
          </p:cNvSpPr>
          <p:nvPr/>
        </p:nvSpPr>
        <p:spPr>
          <a:xfrm xmlns:a="http://schemas.openxmlformats.org/drawingml/2006/main">
            <a:off x="5905500" y="1619250"/>
            <a:ext cx="5334000" cy="33337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8" name="Rectangle 7">
            <a:extLst xmlns:a="http://schemas.openxmlformats.org/drawingml/2006/main">
              <a:ext uri="{FF2B5EF4-FFF2-40B4-BE49-F238E27FC236}">
                <a16:creationId xmlns:a16="http://schemas.microsoft.com/office/drawing/2014/main" id="{490D38FE-7168-489B-826E-530FB65FD009}"/>
              </a:ext>
            </a:extLst>
          </p:cNvPr>
          <p:cNvSpPr>
            <a:spLocks xmlns:a="http://schemas.openxmlformats.org/drawingml/2006/main" noGrp="1"/>
          </p:cNvSpPr>
          <p:nvPr/>
        </p:nvSpPr>
        <p:spPr>
          <a:xfrm xmlns:a="http://schemas.openxmlformats.org/drawingml/2006/main">
            <a:off x="6381750" y="2047875"/>
            <a:ext cx="4381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250" b="1" i="0">
                <a:solidFill>
                  <a:srgbClr val="000000"/>
                </a:solidFill>
                <a:latin typeface="Arial"/>
                <a:ea typeface="Arial"/>
                <a:cs typeface="Arial"/>
              </a:defRPr>
            </a:pPr>
            <a:r>
              <a:rPr sz="2250" b="1" i="0">
                <a:solidFill>
                  <a:srgbClr val="000000"/>
                </a:solidFill>
                <a:latin typeface="Arial"/>
                <a:ea typeface="Arial"/>
                <a:cs typeface="Arial"/>
              </a:rPr>
              <a:t>1  MPW = 0.20 + 0.10 + 0.10 = 0.40</a:t>
            </a:r>
          </a:p>
          <a:p xmlns:a="http://schemas.openxmlformats.org/drawingml/2006/main">
            <a:endParaRPr sz="2250" b="1" i="0">
              <a:solidFill>
                <a:srgbClr val="000000"/>
              </a:solidFill>
              <a:latin typeface="Arial"/>
              <a:ea typeface="Arial"/>
              <a:cs typeface="Arial"/>
            </a:endParaRPr>
          </a:p>
          <a:p xmlns:a="http://schemas.openxmlformats.org/drawingml/2006/main">
            <a:pPr algn="l">
              <a:buNone/>
              <a:defRPr sz="2250" b="1" i="0">
                <a:solidFill>
                  <a:srgbClr val="000000"/>
                </a:solidFill>
                <a:latin typeface="Arial"/>
                <a:ea typeface="Arial"/>
                <a:cs typeface="Arial"/>
              </a:defRPr>
            </a:pPr>
            <a:r>
              <a:rPr sz="2250" b="1" i="0">
                <a:solidFill>
                  <a:srgbClr val="000000"/>
                </a:solidFill>
                <a:latin typeface="Arial"/>
                <a:ea typeface="Arial"/>
                <a:cs typeface="Arial"/>
              </a:rPr>
              <a:t>2  k = 1 / 0.40 = 2.5</a:t>
            </a:r>
          </a:p>
          <a:p xmlns:a="http://schemas.openxmlformats.org/drawingml/2006/main">
            <a:endParaRPr sz="2250" b="1" i="0">
              <a:solidFill>
                <a:srgbClr val="000000"/>
              </a:solidFill>
              <a:latin typeface="Arial"/>
              <a:ea typeface="Arial"/>
              <a:cs typeface="Arial"/>
            </a:endParaRPr>
          </a:p>
          <a:p xmlns:a="http://schemas.openxmlformats.org/drawingml/2006/main">
            <a:pPr algn="l">
              <a:buNone/>
              <a:defRPr sz="2250" b="1" i="0">
                <a:solidFill>
                  <a:srgbClr val="000000"/>
                </a:solidFill>
                <a:latin typeface="Arial"/>
                <a:ea typeface="Arial"/>
                <a:cs typeface="Arial"/>
              </a:defRPr>
            </a:pPr>
            <a:r>
              <a:rPr sz="2250" b="1" i="0">
                <a:solidFill>
                  <a:srgbClr val="000000"/>
                </a:solidFill>
                <a:latin typeface="Arial"/>
                <a:ea typeface="Arial"/>
                <a:cs typeface="Arial"/>
              </a:rPr>
              <a:t>3  ΔY = 2.5 × £80m = £200m</a:t>
            </a:r>
          </a:p>
        </p:txBody>
      </p:sp>
      <p:sp>
        <p:nvSpPr>
          <p:cNvPr id="9" name="Rectangle 8">
            <a:extLst xmlns:a="http://schemas.openxmlformats.org/drawingml/2006/main">
              <a:ext uri="{FF2B5EF4-FFF2-40B4-BE49-F238E27FC236}">
                <a16:creationId xmlns:a16="http://schemas.microsoft.com/office/drawing/2014/main" id="{B06617D2-7B0F-4F85-B140-1F50940220F1}"/>
              </a:ext>
            </a:extLst>
          </p:cNvPr>
          <p:cNvSpPr>
            <a:spLocks xmlns:a="http://schemas.openxmlformats.org/drawingml/2006/main" noGrp="1"/>
          </p:cNvSpPr>
          <p:nvPr/>
        </p:nvSpPr>
        <p:spPr>
          <a:xfrm xmlns:a="http://schemas.openxmlformats.org/drawingml/2006/main">
            <a:off x="1524000" y="5476874"/>
            <a:ext cx="9144000" cy="917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Interpretation: every £1 of new exports creates £2.50 of national income.</a:t>
            </a:r>
          </a:p>
        </p:txBody>
      </p:sp>
    </p:spTree>
    <p:extLst>
      <p:ext uri="{BB962C8B-B14F-4D97-AF65-F5344CB8AC3E}">
        <p14:creationId xmlns:p14="http://schemas.microsoft.com/office/powerpoint/2010/main" val="18443387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13-title">
            <a:extLst xmlns:a="http://schemas.openxmlformats.org/drawingml/2006/main">
              <a:ext uri="{FF2B5EF4-FFF2-40B4-BE49-F238E27FC236}">
                <a16:creationId xmlns:a16="http://schemas.microsoft.com/office/drawing/2014/main" id="{23198C81-EB4C-44BA-BA43-F024D2415E3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Calculate.</a:t>
            </a:r>
            <a:endParaRPr sz="3600" b="1" i="0">
              <a:solidFill>
                <a:srgbClr val="000000"/>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2404B457-AB84-4078-8C06-DCE72B244039}"/>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9CBA21F6-D080-4B5E-AFCA-0F4893852DF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13</a:t>
            </a:r>
          </a:p>
        </p:txBody>
      </p:sp>
      <p:cxnSp>
        <p:nvCxnSpPr>
          <p:cNvPr id="74" name="Straight Arrow Connector 56"/>
          <p:cNvCxnSpPr/>
          <p:nvPr/>
        </p:nvCxnSpPr>
        <p:spPr>
          <a:xfrm xmlns:a="http://schemas.openxmlformats.org/drawingml/2006/main">
            <a:off x="4095750" y="1809750"/>
            <a:ext cx="95" cy="3857625"/>
          </a:xfrm>
          <a:prstGeom xmlns:a="http://schemas.openxmlformats.org/drawingml/2006/main" prst="straightConnector1">
            <a:avLst/>
          </a:prstGeom>
          <a:ln xmlns:a="http://schemas.openxmlformats.org/drawingml/2006/main" w="9525">
            <a:solidFill>
              <a:srgbClr val="B8BCC4"/>
            </a:solidFill>
            <a:prstDash val="solid"/>
          </a:ln>
        </p:spPr>
      </p:cxnSp>
      <p:cxnSp>
        <p:nvCxnSpPr>
          <p:cNvPr id="75" name="Straight Arrow Connector 57"/>
          <p:cNvCxnSpPr/>
          <p:nvPr/>
        </p:nvCxnSpPr>
        <p:spPr>
          <a:xfrm xmlns:a="http://schemas.openxmlformats.org/drawingml/2006/main">
            <a:off x="8096250" y="1809750"/>
            <a:ext cx="95" cy="3857625"/>
          </a:xfrm>
          <a:prstGeom xmlns:a="http://schemas.openxmlformats.org/drawingml/2006/main" prst="straightConnector1">
            <a:avLst/>
          </a:prstGeom>
          <a:ln xmlns:a="http://schemas.openxmlformats.org/drawingml/2006/main" w="9525">
            <a:solidFill>
              <a:srgbClr val="B8BCC4"/>
            </a:solidFill>
            <a:prstDash val="solid"/>
          </a:ln>
        </p:spPr>
      </p:cxnSp>
      <p:sp>
        <p:nvSpPr>
          <p:cNvPr id="7" name="Oval 6">
            <a:extLst xmlns:a="http://schemas.openxmlformats.org/drawingml/2006/main">
              <a:ext uri="{FF2B5EF4-FFF2-40B4-BE49-F238E27FC236}">
                <a16:creationId xmlns:a16="http://schemas.microsoft.com/office/drawing/2014/main" id="{4D5D0D1C-9588-4397-B951-686C94EFF9EB}"/>
              </a:ext>
            </a:extLst>
          </p:cNvPr>
          <p:cNvSpPr>
            <a:spLocks xmlns:a="http://schemas.openxmlformats.org/drawingml/2006/main" noGrp="1"/>
          </p:cNvSpPr>
          <p:nvPr/>
        </p:nvSpPr>
        <p:spPr>
          <a:xfrm xmlns:a="http://schemas.openxmlformats.org/drawingml/2006/main">
            <a:off x="666750" y="1952625"/>
            <a:ext cx="590550" cy="5905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000000"/>
                </a:solidFill>
                <a:latin typeface="Arial"/>
                <a:ea typeface="Arial"/>
                <a:cs typeface="Arial"/>
              </a:defRPr>
            </a:pPr>
            <a:r>
              <a:rPr sz="1950" b="1">
                <a:solidFill>
                  <a:srgbClr val="000000"/>
                </a:solidFill>
                <a:latin typeface="Arial"/>
                <a:ea typeface="Arial"/>
                <a:cs typeface="Arial"/>
              </a:rPr>
              <a:t>1</a:t>
            </a:r>
          </a:p>
        </p:txBody>
      </p:sp>
      <p:sp>
        <p:nvSpPr>
          <p:cNvPr id="8" name="Rectangle 7">
            <a:extLst xmlns:a="http://schemas.openxmlformats.org/drawingml/2006/main">
              <a:ext uri="{FF2B5EF4-FFF2-40B4-BE49-F238E27FC236}">
                <a16:creationId xmlns:a16="http://schemas.microsoft.com/office/drawing/2014/main" id="{2F4EAD5D-AA17-45C7-A624-A9598EF31FC4}"/>
              </a:ext>
            </a:extLst>
          </p:cNvPr>
          <p:cNvSpPr>
            <a:spLocks xmlns:a="http://schemas.openxmlformats.org/drawingml/2006/main" noGrp="1"/>
          </p:cNvSpPr>
          <p:nvPr/>
        </p:nvSpPr>
        <p:spPr>
          <a:xfrm xmlns:a="http://schemas.openxmlformats.org/drawingml/2006/main">
            <a:off x="666750" y="28098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1" i="0">
                <a:solidFill>
                  <a:srgbClr val="000000"/>
                </a:solidFill>
                <a:latin typeface="Arial"/>
                <a:ea typeface="Arial"/>
                <a:cs typeface="Arial"/>
              </a:defRPr>
            </a:pPr>
            <a:r>
              <a:rPr sz="1875">
                <a:solidFill>
                  <a:srgbClr val="000000"/>
                </a:solidFill>
                <a:latin typeface="Arial"/>
                <a:ea typeface="Arial"/>
                <a:cs typeface="Arial"/>
              </a:rPr>
              <a:t>Open, no government</a:t>
            </a:r>
          </a:p>
        </p:txBody>
      </p:sp>
      <p:sp>
        <p:nvSpPr>
          <p:cNvPr id="9" name="Rectangle 8">
            <a:extLst xmlns:a="http://schemas.openxmlformats.org/drawingml/2006/main">
              <a:ext uri="{FF2B5EF4-FFF2-40B4-BE49-F238E27FC236}">
                <a16:creationId xmlns:a16="http://schemas.microsoft.com/office/drawing/2014/main" id="{2E3C24B2-FD75-4FD2-8A07-7D21B1F5845E}"/>
              </a:ext>
            </a:extLst>
          </p:cNvPr>
          <p:cNvSpPr>
            <a:spLocks xmlns:a="http://schemas.openxmlformats.org/drawingml/2006/main" noGrp="1"/>
          </p:cNvSpPr>
          <p:nvPr/>
        </p:nvSpPr>
        <p:spPr>
          <a:xfrm xmlns:a="http://schemas.openxmlformats.org/drawingml/2006/main">
            <a:off x="666750" y="3619500"/>
            <a:ext cx="295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MPS = 1/6</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MPM = 1/3</a:t>
            </a:r>
          </a:p>
          <a:p xmlns:a="http://schemas.openxmlformats.org/drawingml/2006/main">
            <a:pPr algn="l">
              <a:buNone/>
              <a:defRPr sz="1875" b="0" i="0">
                <a:solidFill>
                  <a:srgbClr val="000000"/>
                </a:solidFill>
                <a:latin typeface="Arial"/>
                <a:ea typeface="Arial"/>
                <a:cs typeface="Arial"/>
              </a:defRPr>
            </a:pPr>
            <a:r>
              <a:rPr sz="1875" b="1" i="0">
                <a:solidFill>
                  <a:srgbClr val="000000"/>
                </a:solidFill>
                <a:latin typeface="Arial"/>
                <a:ea typeface="Arial"/>
                <a:cs typeface="Arial"/>
              </a:rPr>
              <a:t>Find k.</a:t>
            </a:r>
          </a:p>
        </p:txBody>
      </p:sp>
      <p:sp>
        <p:nvSpPr>
          <p:cNvPr id="10" name="Oval 9">
            <a:extLst xmlns:a="http://schemas.openxmlformats.org/drawingml/2006/main">
              <a:ext uri="{FF2B5EF4-FFF2-40B4-BE49-F238E27FC236}">
                <a16:creationId xmlns:a16="http://schemas.microsoft.com/office/drawing/2014/main" id="{A4F509BC-2F34-4E9F-9B2D-E7A017B487A5}"/>
              </a:ext>
            </a:extLst>
          </p:cNvPr>
          <p:cNvSpPr>
            <a:spLocks xmlns:a="http://schemas.openxmlformats.org/drawingml/2006/main" noGrp="1"/>
          </p:cNvSpPr>
          <p:nvPr/>
        </p:nvSpPr>
        <p:spPr>
          <a:xfrm xmlns:a="http://schemas.openxmlformats.org/drawingml/2006/main">
            <a:off x="4476750" y="1952625"/>
            <a:ext cx="590550" cy="5905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000000"/>
                </a:solidFill>
                <a:latin typeface="Arial"/>
                <a:ea typeface="Arial"/>
                <a:cs typeface="Arial"/>
              </a:defRPr>
            </a:pPr>
            <a:r>
              <a:rPr sz="1950" b="1">
                <a:solidFill>
                  <a:srgbClr val="000000"/>
                </a:solidFill>
                <a:latin typeface="Arial"/>
                <a:ea typeface="Arial"/>
                <a:cs typeface="Arial"/>
              </a:rPr>
              <a:t>2</a:t>
            </a:r>
          </a:p>
        </p:txBody>
      </p:sp>
      <p:sp>
        <p:nvSpPr>
          <p:cNvPr id="11" name="Rectangle 10">
            <a:extLst xmlns:a="http://schemas.openxmlformats.org/drawingml/2006/main">
              <a:ext uri="{FF2B5EF4-FFF2-40B4-BE49-F238E27FC236}">
                <a16:creationId xmlns:a16="http://schemas.microsoft.com/office/drawing/2014/main" id="{A5748D55-96C6-46EC-8DC3-84DDA3E1F553}"/>
              </a:ext>
            </a:extLst>
          </p:cNvPr>
          <p:cNvSpPr>
            <a:spLocks xmlns:a="http://schemas.openxmlformats.org/drawingml/2006/main" noGrp="1"/>
          </p:cNvSpPr>
          <p:nvPr/>
        </p:nvSpPr>
        <p:spPr>
          <a:xfrm xmlns:a="http://schemas.openxmlformats.org/drawingml/2006/main">
            <a:off x="4476750" y="28098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1" i="0">
                <a:solidFill>
                  <a:srgbClr val="000000"/>
                </a:solidFill>
                <a:latin typeface="Arial"/>
                <a:ea typeface="Arial"/>
                <a:cs typeface="Arial"/>
              </a:defRPr>
            </a:pPr>
            <a:r>
              <a:rPr sz="1875">
                <a:solidFill>
                  <a:srgbClr val="000000"/>
                </a:solidFill>
                <a:latin typeface="Arial"/>
                <a:ea typeface="Arial"/>
                <a:cs typeface="Arial"/>
              </a:rPr>
              <a:t>Closed, no government</a:t>
            </a:r>
          </a:p>
        </p:txBody>
      </p:sp>
      <p:sp>
        <p:nvSpPr>
          <p:cNvPr id="12" name="Rectangle 11">
            <a:extLst xmlns:a="http://schemas.openxmlformats.org/drawingml/2006/main">
              <a:ext uri="{FF2B5EF4-FFF2-40B4-BE49-F238E27FC236}">
                <a16:creationId xmlns:a16="http://schemas.microsoft.com/office/drawing/2014/main" id="{E5A76F3D-E95A-4FA3-9530-DE95ECD4CAA3}"/>
              </a:ext>
            </a:extLst>
          </p:cNvPr>
          <p:cNvSpPr>
            <a:spLocks xmlns:a="http://schemas.openxmlformats.org/drawingml/2006/main" noGrp="1"/>
          </p:cNvSpPr>
          <p:nvPr/>
        </p:nvSpPr>
        <p:spPr>
          <a:xfrm xmlns:a="http://schemas.openxmlformats.org/drawingml/2006/main">
            <a:off x="4476750" y="3619500"/>
            <a:ext cx="295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Initial Y = $5,000m</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MPS = 0.20</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Investment rises by $1,000m.</a:t>
            </a:r>
          </a:p>
          <a:p xmlns:a="http://schemas.openxmlformats.org/drawingml/2006/main">
            <a:pPr algn="l">
              <a:buNone/>
              <a:defRPr sz="1875" b="0" i="0">
                <a:solidFill>
                  <a:srgbClr val="000000"/>
                </a:solidFill>
                <a:latin typeface="Arial"/>
                <a:ea typeface="Arial"/>
                <a:cs typeface="Arial"/>
              </a:defRPr>
            </a:pPr>
            <a:r>
              <a:rPr sz="1875" b="1" i="0">
                <a:solidFill>
                  <a:srgbClr val="000000"/>
                </a:solidFill>
                <a:latin typeface="Arial"/>
                <a:ea typeface="Arial"/>
                <a:cs typeface="Arial"/>
              </a:rPr>
              <a:t>Find k and ΔY.</a:t>
            </a:r>
          </a:p>
        </p:txBody>
      </p:sp>
      <p:sp>
        <p:nvSpPr>
          <p:cNvPr id="13" name="Oval 12">
            <a:extLst xmlns:a="http://schemas.openxmlformats.org/drawingml/2006/main">
              <a:ext uri="{FF2B5EF4-FFF2-40B4-BE49-F238E27FC236}">
                <a16:creationId xmlns:a16="http://schemas.microsoft.com/office/drawing/2014/main" id="{6DC1BF5E-DF46-4763-A3F3-444F6B958088}"/>
              </a:ext>
            </a:extLst>
          </p:cNvPr>
          <p:cNvSpPr>
            <a:spLocks xmlns:a="http://schemas.openxmlformats.org/drawingml/2006/main" noGrp="1"/>
          </p:cNvSpPr>
          <p:nvPr/>
        </p:nvSpPr>
        <p:spPr>
          <a:xfrm xmlns:a="http://schemas.openxmlformats.org/drawingml/2006/main">
            <a:off x="8477250" y="1952625"/>
            <a:ext cx="590550" cy="5905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000000"/>
                </a:solidFill>
                <a:latin typeface="Arial"/>
                <a:ea typeface="Arial"/>
                <a:cs typeface="Arial"/>
              </a:defRPr>
            </a:pPr>
            <a:r>
              <a:rPr sz="1950" b="1">
                <a:solidFill>
                  <a:srgbClr val="000000"/>
                </a:solidFill>
                <a:latin typeface="Arial"/>
                <a:ea typeface="Arial"/>
                <a:cs typeface="Arial"/>
              </a:rPr>
              <a:t>3</a:t>
            </a:r>
          </a:p>
        </p:txBody>
      </p:sp>
      <p:sp>
        <p:nvSpPr>
          <p:cNvPr id="14" name="Rectangle 13">
            <a:extLst xmlns:a="http://schemas.openxmlformats.org/drawingml/2006/main">
              <a:ext uri="{FF2B5EF4-FFF2-40B4-BE49-F238E27FC236}">
                <a16:creationId xmlns:a16="http://schemas.microsoft.com/office/drawing/2014/main" id="{B76773F9-7A76-43A3-951B-557E47F42D66}"/>
              </a:ext>
            </a:extLst>
          </p:cNvPr>
          <p:cNvSpPr>
            <a:spLocks xmlns:a="http://schemas.openxmlformats.org/drawingml/2006/main" noGrp="1"/>
          </p:cNvSpPr>
          <p:nvPr/>
        </p:nvSpPr>
        <p:spPr>
          <a:xfrm xmlns:a="http://schemas.openxmlformats.org/drawingml/2006/main">
            <a:off x="8477250" y="28098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1" i="0">
                <a:solidFill>
                  <a:srgbClr val="000000"/>
                </a:solidFill>
                <a:latin typeface="Arial"/>
                <a:ea typeface="Arial"/>
                <a:cs typeface="Arial"/>
              </a:defRPr>
            </a:pPr>
            <a:r>
              <a:rPr sz="1875">
                <a:solidFill>
                  <a:srgbClr val="000000"/>
                </a:solidFill>
                <a:latin typeface="Arial"/>
                <a:ea typeface="Arial"/>
                <a:cs typeface="Arial"/>
              </a:rPr>
              <a:t>Open, with government</a:t>
            </a:r>
          </a:p>
        </p:txBody>
      </p:sp>
      <p:sp>
        <p:nvSpPr>
          <p:cNvPr id="15" name="Rectangle 14">
            <a:extLst xmlns:a="http://schemas.openxmlformats.org/drawingml/2006/main">
              <a:ext uri="{FF2B5EF4-FFF2-40B4-BE49-F238E27FC236}">
                <a16:creationId xmlns:a16="http://schemas.microsoft.com/office/drawing/2014/main" id="{6A5D6D39-3157-4847-B2EF-289AAB5ABE35}"/>
              </a:ext>
            </a:extLst>
          </p:cNvPr>
          <p:cNvSpPr>
            <a:spLocks xmlns:a="http://schemas.openxmlformats.org/drawingml/2006/main" noGrp="1"/>
          </p:cNvSpPr>
          <p:nvPr/>
        </p:nvSpPr>
        <p:spPr>
          <a:xfrm xmlns:a="http://schemas.openxmlformats.org/drawingml/2006/main">
            <a:off x="8477250" y="3619500"/>
            <a:ext cx="295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MPS = 0.20</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MPM = 0.30</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MRT = 0.30</a:t>
            </a:r>
          </a:p>
          <a:p xmlns:a="http://schemas.openxmlformats.org/drawingml/2006/main">
            <a:pPr algn="l">
              <a:buNone/>
              <a:defRPr sz="1875" b="0" i="0">
                <a:solidFill>
                  <a:srgbClr val="000000"/>
                </a:solidFill>
                <a:latin typeface="Arial"/>
                <a:ea typeface="Arial"/>
                <a:cs typeface="Arial"/>
              </a:defRPr>
            </a:pPr>
            <a:r>
              <a:rPr sz="1875" b="1" i="0">
                <a:solidFill>
                  <a:srgbClr val="000000"/>
                </a:solidFill>
                <a:latin typeface="Arial"/>
                <a:ea typeface="Arial"/>
                <a:cs typeface="Arial"/>
              </a:rPr>
              <a:t>Find k.</a:t>
            </a:r>
          </a:p>
        </p:txBody>
      </p:sp>
    </p:spTree>
    <p:extLst>
      <p:ext uri="{BB962C8B-B14F-4D97-AF65-F5344CB8AC3E}">
        <p14:creationId xmlns:p14="http://schemas.microsoft.com/office/powerpoint/2010/main" val="7642403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14-title">
            <a:extLst xmlns:a="http://schemas.openxmlformats.org/drawingml/2006/main">
              <a:ext uri="{FF2B5EF4-FFF2-40B4-BE49-F238E27FC236}">
                <a16:creationId xmlns:a16="http://schemas.microsoft.com/office/drawing/2014/main" id="{E4CCF6C8-5DD2-466A-A904-EFD3ACDDAAAD}"/>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Check the answer</a:t>
            </a:r>
          </a:p>
        </p:txBody>
      </p:sp>
      <p:sp>
        <p:nvSpPr>
          <p:cNvPr id="3" name="Rectangle 2">
            <a:extLst xmlns:a="http://schemas.openxmlformats.org/drawingml/2006/main">
              <a:ext uri="{FF2B5EF4-FFF2-40B4-BE49-F238E27FC236}">
                <a16:creationId xmlns:a16="http://schemas.microsoft.com/office/drawing/2014/main" id="{D85D3323-90DE-42D6-A56F-E6C562700C3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EA3BD6D-4128-499C-92CE-8F1505B9D13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14</a:t>
            </a:r>
          </a:p>
        </p:txBody>
      </p:sp>
      <p:sp>
        <p:nvSpPr>
          <p:cNvPr id="5" name="Rectangle 4">
            <a:extLst xmlns:a="http://schemas.openxmlformats.org/drawingml/2006/main">
              <a:ext uri="{FF2B5EF4-FFF2-40B4-BE49-F238E27FC236}">
                <a16:creationId xmlns:a16="http://schemas.microsoft.com/office/drawing/2014/main" id="{E41EA2DA-C5EF-48DA-AE77-9E6E828D7BCB}"/>
              </a:ext>
            </a:extLst>
          </p:cNvPr>
          <p:cNvSpPr>
            <a:spLocks xmlns:a="http://schemas.openxmlformats.org/drawingml/2006/main" noGrp="1"/>
          </p:cNvSpPr>
          <p:nvPr/>
        </p:nvSpPr>
        <p:spPr>
          <a:xfrm xmlns:a="http://schemas.openxmlformats.org/drawingml/2006/main">
            <a:off x="666750" y="1666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850" b="1" i="0">
                <a:solidFill>
                  <a:srgbClr val="3D8DFF"/>
                </a:solidFill>
                <a:latin typeface="Arial"/>
                <a:ea typeface="Arial"/>
                <a:cs typeface="Arial"/>
              </a:defRPr>
            </a:pPr>
            <a:r>
              <a:rPr sz="2850" b="1" i="0">
                <a:solidFill>
                  <a:srgbClr val="3D8DFF"/>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F5093B20-43FB-42A1-9D8E-D2B9AA7BAE5D}"/>
              </a:ext>
            </a:extLst>
          </p:cNvPr>
          <p:cNvSpPr>
            <a:spLocks xmlns:a="http://schemas.openxmlformats.org/drawingml/2006/main" noGrp="1"/>
          </p:cNvSpPr>
          <p:nvPr/>
        </p:nvSpPr>
        <p:spPr>
          <a:xfrm xmlns:a="http://schemas.openxmlformats.org/drawingml/2006/main">
            <a:off x="666750" y="2333625"/>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1/6 + 1/3 = 1/2</a:t>
            </a:r>
          </a:p>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1/2 = 2</a:t>
            </a:r>
          </a:p>
        </p:txBody>
      </p:sp>
      <p:cxnSp>
        <p:nvCxnSpPr>
          <p:cNvPr id="157" name="Straight Arrow Connector 112"/>
          <p:cNvCxnSpPr/>
          <p:nvPr/>
        </p:nvCxnSpPr>
        <p:spPr>
          <a:xfrm xmlns:a="http://schemas.openxmlformats.org/drawingml/2006/main">
            <a:off x="666750" y="4000500"/>
            <a:ext cx="3143250" cy="95"/>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62B5163-CF53-4634-978D-F23AE8988A2C}"/>
              </a:ext>
            </a:extLst>
          </p:cNvPr>
          <p:cNvSpPr>
            <a:spLocks xmlns:a="http://schemas.openxmlformats.org/drawingml/2006/main" noGrp="1"/>
          </p:cNvSpPr>
          <p:nvPr/>
        </p:nvSpPr>
        <p:spPr>
          <a:xfrm xmlns:a="http://schemas.openxmlformats.org/drawingml/2006/main">
            <a:off x="666750" y="4286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Imports count because the economy is open.</a:t>
            </a:r>
          </a:p>
        </p:txBody>
      </p:sp>
      <p:sp>
        <p:nvSpPr>
          <p:cNvPr id="9" name="Rectangle 8">
            <a:extLst xmlns:a="http://schemas.openxmlformats.org/drawingml/2006/main">
              <a:ext uri="{FF2B5EF4-FFF2-40B4-BE49-F238E27FC236}">
                <a16:creationId xmlns:a16="http://schemas.microsoft.com/office/drawing/2014/main" id="{96F4C155-9833-4C75-A63C-7D8C50E369A8}"/>
              </a:ext>
            </a:extLst>
          </p:cNvPr>
          <p:cNvSpPr>
            <a:spLocks xmlns:a="http://schemas.openxmlformats.org/drawingml/2006/main" noGrp="1"/>
          </p:cNvSpPr>
          <p:nvPr/>
        </p:nvSpPr>
        <p:spPr>
          <a:xfrm xmlns:a="http://schemas.openxmlformats.org/drawingml/2006/main">
            <a:off x="4476750" y="1666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850" b="1" i="0">
                <a:solidFill>
                  <a:srgbClr val="3D8DFF"/>
                </a:solidFill>
                <a:latin typeface="Arial"/>
                <a:ea typeface="Arial"/>
                <a:cs typeface="Arial"/>
              </a:defRPr>
            </a:pPr>
            <a:r>
              <a:rPr sz="2850" b="1" i="0">
                <a:solidFill>
                  <a:srgbClr val="3D8DFF"/>
                </a:solidFill>
                <a:latin typeface="Arial"/>
                <a:ea typeface="Arial"/>
                <a:cs typeface="Arial"/>
              </a:rPr>
              <a:t>2</a:t>
            </a:r>
          </a:p>
        </p:txBody>
      </p:sp>
      <p:sp>
        <p:nvSpPr>
          <p:cNvPr id="10" name="Rectangle 9">
            <a:extLst xmlns:a="http://schemas.openxmlformats.org/drawingml/2006/main">
              <a:ext uri="{FF2B5EF4-FFF2-40B4-BE49-F238E27FC236}">
                <a16:creationId xmlns:a16="http://schemas.microsoft.com/office/drawing/2014/main" id="{4EB8501D-E723-4476-A323-2D7A320958AE}"/>
              </a:ext>
            </a:extLst>
          </p:cNvPr>
          <p:cNvSpPr>
            <a:spLocks xmlns:a="http://schemas.openxmlformats.org/drawingml/2006/main" noGrp="1"/>
          </p:cNvSpPr>
          <p:nvPr/>
        </p:nvSpPr>
        <p:spPr>
          <a:xfrm xmlns:a="http://schemas.openxmlformats.org/drawingml/2006/main">
            <a:off x="4476750" y="2333625"/>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0.20 = 5</a:t>
            </a:r>
          </a:p>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ΔY = 5 × $1,000m = $5,000m</a:t>
            </a:r>
          </a:p>
        </p:txBody>
      </p:sp>
      <p:cxnSp>
        <p:nvCxnSpPr>
          <p:cNvPr id="161" name="Straight Arrow Connector 116"/>
          <p:cNvCxnSpPr/>
          <p:nvPr/>
        </p:nvCxnSpPr>
        <p:spPr>
          <a:xfrm xmlns:a="http://schemas.openxmlformats.org/drawingml/2006/main">
            <a:off x="4476750" y="4000500"/>
            <a:ext cx="3143250" cy="95"/>
          </a:xfrm>
          <a:prstGeom xmlns:a="http://schemas.openxmlformats.org/drawingml/2006/main" prst="straightConnector1">
            <a:avLst/>
          </a:prstGeom>
          <a:ln xmlns:a="http://schemas.openxmlformats.org/drawingml/2006/main" w="9525">
            <a:solidFill>
              <a:srgbClr val="B8BCC4"/>
            </a:solidFill>
            <a:prstDash val="solid"/>
          </a:ln>
        </p:spPr>
      </p:cxnSp>
      <p:sp>
        <p:nvSpPr>
          <p:cNvPr id="12" name="Rectangle 11">
            <a:extLst xmlns:a="http://schemas.openxmlformats.org/drawingml/2006/main">
              <a:ext uri="{FF2B5EF4-FFF2-40B4-BE49-F238E27FC236}">
                <a16:creationId xmlns:a16="http://schemas.microsoft.com/office/drawing/2014/main" id="{3149D24B-F194-4A9B-B9B5-16E8705032AE}"/>
              </a:ext>
            </a:extLst>
          </p:cNvPr>
          <p:cNvSpPr>
            <a:spLocks xmlns:a="http://schemas.openxmlformats.org/drawingml/2006/main" noGrp="1"/>
          </p:cNvSpPr>
          <p:nvPr/>
        </p:nvSpPr>
        <p:spPr>
          <a:xfrm xmlns:a="http://schemas.openxmlformats.org/drawingml/2006/main">
            <a:off x="4476750" y="4286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The $5,000m initial income is not part of ΔY.</a:t>
            </a:r>
          </a:p>
        </p:txBody>
      </p:sp>
      <p:sp>
        <p:nvSpPr>
          <p:cNvPr id="13" name="Rectangle 12">
            <a:extLst xmlns:a="http://schemas.openxmlformats.org/drawingml/2006/main">
              <a:ext uri="{FF2B5EF4-FFF2-40B4-BE49-F238E27FC236}">
                <a16:creationId xmlns:a16="http://schemas.microsoft.com/office/drawing/2014/main" id="{AEA9E4BE-E4F0-445C-8798-6CCCB8D98084}"/>
              </a:ext>
            </a:extLst>
          </p:cNvPr>
          <p:cNvSpPr>
            <a:spLocks xmlns:a="http://schemas.openxmlformats.org/drawingml/2006/main" noGrp="1"/>
          </p:cNvSpPr>
          <p:nvPr/>
        </p:nvSpPr>
        <p:spPr>
          <a:xfrm xmlns:a="http://schemas.openxmlformats.org/drawingml/2006/main">
            <a:off x="8286750" y="1666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850" b="1" i="0">
                <a:solidFill>
                  <a:srgbClr val="3D8DFF"/>
                </a:solidFill>
                <a:latin typeface="Arial"/>
                <a:ea typeface="Arial"/>
                <a:cs typeface="Arial"/>
              </a:defRPr>
            </a:pPr>
            <a:r>
              <a:rPr sz="2850" b="1" i="0">
                <a:solidFill>
                  <a:srgbClr val="3D8DFF"/>
                </a:solidFill>
                <a:latin typeface="Arial"/>
                <a:ea typeface="Arial"/>
                <a:cs typeface="Arial"/>
              </a:rPr>
              <a:t>3</a:t>
            </a:r>
          </a:p>
        </p:txBody>
      </p:sp>
      <p:sp>
        <p:nvSpPr>
          <p:cNvPr id="14" name="Rectangle 13">
            <a:extLst xmlns:a="http://schemas.openxmlformats.org/drawingml/2006/main">
              <a:ext uri="{FF2B5EF4-FFF2-40B4-BE49-F238E27FC236}">
                <a16:creationId xmlns:a16="http://schemas.microsoft.com/office/drawing/2014/main" id="{F9ED7BCF-E06F-46D4-BC80-1D0AAD686FCF}"/>
              </a:ext>
            </a:extLst>
          </p:cNvPr>
          <p:cNvSpPr>
            <a:spLocks xmlns:a="http://schemas.openxmlformats.org/drawingml/2006/main" noGrp="1"/>
          </p:cNvSpPr>
          <p:nvPr/>
        </p:nvSpPr>
        <p:spPr>
          <a:xfrm xmlns:a="http://schemas.openxmlformats.org/drawingml/2006/main">
            <a:off x="8286750" y="2333625"/>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0.20 + 0.30 + 0.30 = 0.80</a:t>
            </a:r>
          </a:p>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0.80 = 1.25</a:t>
            </a:r>
          </a:p>
        </p:txBody>
      </p:sp>
      <p:cxnSp>
        <p:nvCxnSpPr>
          <p:cNvPr id="165" name="Straight Arrow Connector 120"/>
          <p:cNvCxnSpPr/>
          <p:nvPr/>
        </p:nvCxnSpPr>
        <p:spPr>
          <a:xfrm xmlns:a="http://schemas.openxmlformats.org/drawingml/2006/main">
            <a:off x="8286750" y="4000500"/>
            <a:ext cx="3143250" cy="95"/>
          </a:xfrm>
          <a:prstGeom xmlns:a="http://schemas.openxmlformats.org/drawingml/2006/main" prst="straightConnector1">
            <a:avLst/>
          </a:prstGeom>
          <a:ln xmlns:a="http://schemas.openxmlformats.org/drawingml/2006/main" w="9525">
            <a:solidFill>
              <a:srgbClr val="B8BCC4"/>
            </a:solidFill>
            <a:prstDash val="solid"/>
          </a:ln>
        </p:spPr>
      </p:cxnSp>
      <p:sp>
        <p:nvSpPr>
          <p:cNvPr id="16" name="Rectangle 15">
            <a:extLst xmlns:a="http://schemas.openxmlformats.org/drawingml/2006/main">
              <a:ext uri="{FF2B5EF4-FFF2-40B4-BE49-F238E27FC236}">
                <a16:creationId xmlns:a16="http://schemas.microsoft.com/office/drawing/2014/main" id="{45B901F1-E066-4126-BD98-20114100C9DE}"/>
              </a:ext>
            </a:extLst>
          </p:cNvPr>
          <p:cNvSpPr>
            <a:spLocks xmlns:a="http://schemas.openxmlformats.org/drawingml/2006/main" noGrp="1"/>
          </p:cNvSpPr>
          <p:nvPr/>
        </p:nvSpPr>
        <p:spPr>
          <a:xfrm xmlns:a="http://schemas.openxmlformats.org/drawingml/2006/main">
            <a:off x="8286750" y="4286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Add marginal leakages before inverting.</a:t>
            </a:r>
          </a:p>
        </p:txBody>
      </p:sp>
    </p:spTree>
    <p:extLst>
      <p:ext uri="{BB962C8B-B14F-4D97-AF65-F5344CB8AC3E}">
        <p14:creationId xmlns:p14="http://schemas.microsoft.com/office/powerpoint/2010/main" val="76585954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15-title">
            <a:extLst xmlns:a="http://schemas.openxmlformats.org/drawingml/2006/main">
              <a:ext uri="{FF2B5EF4-FFF2-40B4-BE49-F238E27FC236}">
                <a16:creationId xmlns:a16="http://schemas.microsoft.com/office/drawing/2014/main" id="{2CB795C1-8ADB-4B01-9761-E1095C89F6D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Exit ticket</a:t>
            </a:r>
          </a:p>
        </p:txBody>
      </p:sp>
      <p:sp>
        <p:nvSpPr>
          <p:cNvPr id="3" name="Rectangle 2">
            <a:extLst xmlns:a="http://schemas.openxmlformats.org/drawingml/2006/main">
              <a:ext uri="{FF2B5EF4-FFF2-40B4-BE49-F238E27FC236}">
                <a16:creationId xmlns:a16="http://schemas.microsoft.com/office/drawing/2014/main" id="{1234C856-A521-4AFD-A245-726D1F92F33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9284279-11D0-4CAC-9210-E6A565FA8F68}"/>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15</a:t>
            </a:r>
          </a:p>
        </p:txBody>
      </p:sp>
      <p:sp>
        <p:nvSpPr>
          <p:cNvPr id="5" name="Rectangle 4">
            <a:extLst xmlns:a="http://schemas.openxmlformats.org/drawingml/2006/main">
              <a:ext uri="{FF2B5EF4-FFF2-40B4-BE49-F238E27FC236}">
                <a16:creationId xmlns:a16="http://schemas.microsoft.com/office/drawing/2014/main" id="{B99ECCCB-9315-41D0-B1C2-DC2864969AD3}"/>
              </a:ext>
            </a:extLst>
          </p:cNvPr>
          <p:cNvSpPr>
            <a:spLocks xmlns:a="http://schemas.openxmlformats.org/drawingml/2006/main" noGrp="1"/>
          </p:cNvSpPr>
          <p:nvPr/>
        </p:nvSpPr>
        <p:spPr>
          <a:xfrm xmlns:a="http://schemas.openxmlformats.org/drawingml/2006/main">
            <a:off x="857250" y="18097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3D8DFF"/>
                </a:solidFill>
                <a:latin typeface="Arial"/>
                <a:ea typeface="Arial"/>
                <a:cs typeface="Arial"/>
              </a:defRPr>
            </a:pPr>
            <a:r>
              <a:rPr sz="2700" b="1" i="0">
                <a:solidFill>
                  <a:srgbClr val="3D8DFF"/>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A6913887-CBF5-4869-8DC6-BAE414364D1E}"/>
              </a:ext>
            </a:extLst>
          </p:cNvPr>
          <p:cNvSpPr>
            <a:spLocks xmlns:a="http://schemas.openxmlformats.org/drawingml/2006/main" noGrp="1"/>
          </p:cNvSpPr>
          <p:nvPr/>
        </p:nvSpPr>
        <p:spPr>
          <a:xfrm xmlns:a="http://schemas.openxmlformats.org/drawingml/2006/main">
            <a:off x="1714500" y="1809750"/>
            <a:ext cx="904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75" b="0" i="0">
                <a:solidFill>
                  <a:srgbClr val="000000"/>
                </a:solidFill>
                <a:latin typeface="Arial"/>
                <a:ea typeface="Arial"/>
                <a:cs typeface="Arial"/>
              </a:defRPr>
            </a:pPr>
            <a:r>
              <a:rPr sz="2175" b="0" i="0">
                <a:solidFill>
                  <a:srgbClr val="000000"/>
                </a:solidFill>
                <a:latin typeface="Arial"/>
                <a:ea typeface="Arial"/>
                <a:cs typeface="Arial"/>
              </a:rPr>
              <a:t>Define the multiplier in one precise sentence.</a:t>
            </a:r>
          </a:p>
        </p:txBody>
      </p:sp>
      <p:sp>
        <p:nvSpPr>
          <p:cNvPr id="8" name="Rectangle 7">
            <a:extLst xmlns:a="http://schemas.openxmlformats.org/drawingml/2006/main">
              <a:ext uri="{FF2B5EF4-FFF2-40B4-BE49-F238E27FC236}">
                <a16:creationId xmlns:a16="http://schemas.microsoft.com/office/drawing/2014/main" id="{B7009BE8-ED95-4F24-8712-5C2F500C44E5}"/>
              </a:ext>
            </a:extLst>
          </p:cNvPr>
          <p:cNvSpPr>
            <a:spLocks xmlns:a="http://schemas.openxmlformats.org/drawingml/2006/main" noGrp="1"/>
          </p:cNvSpPr>
          <p:nvPr/>
        </p:nvSpPr>
        <p:spPr>
          <a:xfrm xmlns:a="http://schemas.openxmlformats.org/drawingml/2006/main">
            <a:off x="857250" y="3095625"/>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3D8DFF"/>
                </a:solidFill>
                <a:latin typeface="Arial"/>
                <a:ea typeface="Arial"/>
                <a:cs typeface="Arial"/>
              </a:defRPr>
            </a:pPr>
            <a:r>
              <a:rPr sz="2700" b="1" i="0">
                <a:solidFill>
                  <a:srgbClr val="3D8DFF"/>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A13B2CF3-3395-489E-8075-3508F679ECD2}"/>
              </a:ext>
            </a:extLst>
          </p:cNvPr>
          <p:cNvSpPr>
            <a:spLocks xmlns:a="http://schemas.openxmlformats.org/drawingml/2006/main" noGrp="1"/>
          </p:cNvSpPr>
          <p:nvPr/>
        </p:nvSpPr>
        <p:spPr>
          <a:xfrm xmlns:a="http://schemas.openxmlformats.org/drawingml/2006/main">
            <a:off x="1714500" y="3095625"/>
            <a:ext cx="904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75" b="0" i="0">
                <a:solidFill>
                  <a:srgbClr val="000000"/>
                </a:solidFill>
                <a:latin typeface="Arial"/>
                <a:ea typeface="Arial"/>
                <a:cs typeface="Arial"/>
              </a:defRPr>
            </a:pPr>
            <a:r>
              <a:rPr sz="2175" b="0" i="0">
                <a:solidFill>
                  <a:srgbClr val="000000"/>
                </a:solidFill>
                <a:latin typeface="Arial"/>
                <a:ea typeface="Arial"/>
                <a:cs typeface="Arial"/>
              </a:rPr>
              <a:t>Explain why larger leakages make the multiplier smaller.</a:t>
            </a:r>
          </a:p>
        </p:txBody>
      </p:sp>
      <p:sp>
        <p:nvSpPr>
          <p:cNvPr id="11" name="Rectangle 10">
            <a:extLst xmlns:a="http://schemas.openxmlformats.org/drawingml/2006/main">
              <a:ext uri="{FF2B5EF4-FFF2-40B4-BE49-F238E27FC236}">
                <a16:creationId xmlns:a16="http://schemas.microsoft.com/office/drawing/2014/main" id="{C0B947A4-8CEB-455B-8F6E-957ADF74E90C}"/>
              </a:ext>
            </a:extLst>
          </p:cNvPr>
          <p:cNvSpPr>
            <a:spLocks xmlns:a="http://schemas.openxmlformats.org/drawingml/2006/main" noGrp="1"/>
          </p:cNvSpPr>
          <p:nvPr/>
        </p:nvSpPr>
        <p:spPr>
          <a:xfrm xmlns:a="http://schemas.openxmlformats.org/drawingml/2006/main">
            <a:off x="857250" y="43815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3D8DFF"/>
                </a:solidFill>
                <a:latin typeface="Arial"/>
                <a:ea typeface="Arial"/>
                <a:cs typeface="Arial"/>
              </a:defRPr>
            </a:pPr>
            <a:r>
              <a:rPr sz="2700" b="1" i="0">
                <a:solidFill>
                  <a:srgbClr val="3D8DFF"/>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FA8785F5-2287-4DFE-BEEB-272305FF8875}"/>
              </a:ext>
            </a:extLst>
          </p:cNvPr>
          <p:cNvSpPr>
            <a:spLocks xmlns:a="http://schemas.openxmlformats.org/drawingml/2006/main" noGrp="1"/>
          </p:cNvSpPr>
          <p:nvPr/>
        </p:nvSpPr>
        <p:spPr>
          <a:xfrm xmlns:a="http://schemas.openxmlformats.org/drawingml/2006/main">
            <a:off x="1714500" y="4381500"/>
            <a:ext cx="904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175">
                <a:solidFill>
                  <a:srgbClr val="000000"/>
                </a:solidFill>
                <a:latin typeface="Arial"/>
                <a:ea typeface="Arial"/>
                <a:cs typeface="Arial"/>
              </a:rPr>
              <a:t>An open economy has MPS = 0.15, MPM = 0.20 and MRT = 0.15. Calculate k.</a:t>
            </a:r>
          </a:p>
        </p:txBody>
      </p:sp>
    </p:spTree>
    <p:extLst>
      <p:ext uri="{BB962C8B-B14F-4D97-AF65-F5344CB8AC3E}">
        <p14:creationId xmlns:p14="http://schemas.microsoft.com/office/powerpoint/2010/main" val="1660482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BE5BD9DC-E7FC-4F11-A8B2-0354D70E032C}"/>
              </a:ext>
            </a:extLst>
          </p:cNvPr>
          <p:cNvSpPr>
            <a:spLocks xmlns:a="http://schemas.openxmlformats.org/drawingml/2006/main" noGrp="1"/>
          </p:cNvSpPr>
          <p:nvPr/>
        </p:nvSpPr>
        <p:spPr>
          <a:xfrm xmlns:a="http://schemas.openxmlformats.org/drawingml/2006/main">
            <a:off x="5715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75" b="1" i="0">
                <a:solidFill>
                  <a:srgbClr val="3D8DFF"/>
                </a:solidFill>
                <a:latin typeface="Arial"/>
                <a:ea typeface="Arial"/>
                <a:cs typeface="Arial"/>
              </a:defRPr>
            </a:pPr>
            <a:r>
              <a:rPr sz="1275" b="1" i="0">
                <a:solidFill>
                  <a:srgbClr val="3D8DFF"/>
                </a:solidFill>
                <a:latin typeface="Arial"/>
                <a:ea typeface="Arial"/>
                <a:cs typeface="Arial"/>
              </a:rPr>
              <a:t>LESSON 2</a:t>
            </a:r>
          </a:p>
        </p:txBody>
      </p:sp>
      <p:sp>
        <p:nvSpPr>
          <p:cNvPr id="2" name="Rectangle 1">
            <a:extLst xmlns:a="http://schemas.openxmlformats.org/drawingml/2006/main">
              <a:ext uri="{FF2B5EF4-FFF2-40B4-BE49-F238E27FC236}">
                <a16:creationId xmlns:a16="http://schemas.microsoft.com/office/drawing/2014/main" id="{7D75FFEE-7122-4BC8-9B10-9D583698F0D2}"/>
              </a:ext>
            </a:extLst>
          </p:cNvPr>
          <p:cNvSpPr>
            <a:spLocks xmlns:a="http://schemas.openxmlformats.org/drawingml/2006/main" noGrp="1"/>
          </p:cNvSpPr>
          <p:nvPr/>
        </p:nvSpPr>
        <p:spPr>
          <a:xfrm xmlns:a="http://schemas.openxmlformats.org/drawingml/2006/main">
            <a:off x="571500" y="1476374"/>
            <a:ext cx="4953000" cy="30388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Calculations</a:t>
            </a:r>
          </a:p>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and national income</a:t>
            </a:r>
          </a:p>
        </p:txBody>
      </p:sp>
      <p:sp>
        <p:nvSpPr>
          <p:cNvPr id="6" name="Rectangle 5">
            <a:extLst xmlns:a="http://schemas.openxmlformats.org/drawingml/2006/main">
              <a:ext uri="{FF2B5EF4-FFF2-40B4-BE49-F238E27FC236}">
                <a16:creationId xmlns:a16="http://schemas.microsoft.com/office/drawing/2014/main" id="{4224AAF0-AA13-4945-A57E-D7145A152C22}"/>
              </a:ext>
            </a:extLst>
          </p:cNvPr>
          <p:cNvSpPr>
            <a:spLocks xmlns:a="http://schemas.openxmlformats.org/drawingml/2006/main" noGrp="1"/>
          </p:cNvSpPr>
          <p:nvPr/>
        </p:nvSpPr>
        <p:spPr>
          <a:xfrm xmlns:a="http://schemas.openxmlformats.org/drawingml/2006/main">
            <a:off x="6267450" y="400050"/>
            <a:ext cx="5353050" cy="561975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pic>
        <p:nvPicPr>
          <p:cNvPr id="15" name="Picture 45"/>
          <p:cNvPicPr>
            <a:picLocks xmlns:a="http://schemas.openxmlformats.org/drawingml/2006/main" noChangeAspect="1"/>
          </p:cNvPicPr>
          <p:nvPr/>
        </p:nvPicPr>
        <p:blipFill>
          <a:blip xmlns:r="http://schemas.openxmlformats.org/officeDocument/2006/relationships" xmlns:a="http://schemas.openxmlformats.org/drawingml/2006/main" r:embed="Rc065886d4818426a"/>
          <a:srcRect xmlns:a="http://schemas.openxmlformats.org/drawingml/2006/main" l="22069" t="0" r="22069"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8" name="Rectangle 7">
            <a:extLst xmlns:a="http://schemas.openxmlformats.org/drawingml/2006/main">
              <a:ext uri="{FF2B5EF4-FFF2-40B4-BE49-F238E27FC236}">
                <a16:creationId xmlns:a16="http://schemas.microsoft.com/office/drawing/2014/main" id="{4832DD0D-6580-409E-A3FF-839BEE15B883}"/>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9" name="Rectangle 8">
            <a:extLst xmlns:a="http://schemas.openxmlformats.org/drawingml/2006/main">
              <a:ext uri="{FF2B5EF4-FFF2-40B4-BE49-F238E27FC236}">
                <a16:creationId xmlns:a16="http://schemas.microsoft.com/office/drawing/2014/main" id="{F1A8CAEA-8BE8-41F5-AE7B-B15DE03FCA2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16</a:t>
            </a:r>
          </a:p>
        </p:txBody>
      </p:sp>
    </p:spTree>
    <p:extLst>
      <p:ext uri="{BB962C8B-B14F-4D97-AF65-F5344CB8AC3E}">
        <p14:creationId xmlns:p14="http://schemas.microsoft.com/office/powerpoint/2010/main" val="191242816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7-title">
            <a:extLst xmlns:a="http://schemas.openxmlformats.org/drawingml/2006/main">
              <a:ext uri="{FF2B5EF4-FFF2-40B4-BE49-F238E27FC236}">
                <a16:creationId xmlns:a16="http://schemas.microsoft.com/office/drawing/2014/main" id="{1F5E8E51-9152-4D25-AE91-80C54A243B76}"/>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buNone/>
              <a:defRPr sz="3600" b="1" i="0">
                <a:solidFill>
                  <a:srgbClr val="000000"/>
                </a:solidFill>
                <a:latin typeface="Arial"/>
                <a:ea typeface="Arial"/>
                <a:cs typeface="Arial"/>
              </a:defRPr>
            </a:pPr>
            <a:r>
              <a:rPr sz="3600" b="1" i="0">
                <a:solidFill>
                  <a:srgbClr val="000000"/>
                </a:solidFill>
                <a:latin typeface="Arial"/>
                <a:ea typeface="Arial"/>
                <a:cs typeface="Arial"/>
              </a:rPr>
              <a:t>Recall from </a:t>
            </a:r>
            <a:r>
              <a:rPr sz="3600" b="1">
                <a:solidFill>
                  <a:srgbClr val="000000"/>
                </a:solidFill>
                <a:latin typeface="Arial"/>
                <a:ea typeface="Arial"/>
                <a:cs typeface="Arial"/>
              </a:rPr>
              <a:t>l</a:t>
            </a:r>
            <a:r>
              <a:rPr sz="3600" b="1" i="0">
                <a:solidFill>
                  <a:srgbClr val="000000"/>
                </a:solidFill>
                <a:latin typeface="Arial"/>
                <a:ea typeface="Arial"/>
                <a:cs typeface="Arial"/>
              </a:rPr>
              <a:t>ast lesson</a:t>
            </a:r>
          </a:p>
        </p:txBody>
      </p:sp>
      <p:sp>
        <p:nvSpPr>
          <p:cNvPr id="3" name="Rectangle 2">
            <a:extLst xmlns:a="http://schemas.openxmlformats.org/drawingml/2006/main">
              <a:ext uri="{FF2B5EF4-FFF2-40B4-BE49-F238E27FC236}">
                <a16:creationId xmlns:a16="http://schemas.microsoft.com/office/drawing/2014/main" id="{6ECB88C5-5C0A-4DCB-B406-D9E595B3AE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1911F5CE-1108-427A-A036-71CB087F303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17</a:t>
            </a:r>
          </a:p>
        </p:txBody>
      </p:sp>
      <p:sp>
        <p:nvSpPr>
          <p:cNvPr id="5" name="Rectangle 4">
            <a:extLst xmlns:a="http://schemas.openxmlformats.org/drawingml/2006/main">
              <a:ext uri="{FF2B5EF4-FFF2-40B4-BE49-F238E27FC236}">
                <a16:creationId xmlns:a16="http://schemas.microsoft.com/office/drawing/2014/main" id="{1F5D9A02-B402-4038-B4D0-A3450121F994}"/>
              </a:ext>
            </a:extLst>
          </p:cNvPr>
          <p:cNvSpPr>
            <a:spLocks xmlns:a="http://schemas.openxmlformats.org/drawingml/2006/main" noGrp="1"/>
          </p:cNvSpPr>
          <p:nvPr/>
        </p:nvSpPr>
        <p:spPr>
          <a:xfrm xmlns:a="http://schemas.openxmlformats.org/drawingml/2006/main">
            <a:off x="666750" y="1666875"/>
            <a:ext cx="5143500" cy="371475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A4C4D33E-3B06-4CC3-9505-EC155B259C47}"/>
              </a:ext>
            </a:extLst>
          </p:cNvPr>
          <p:cNvSpPr>
            <a:spLocks xmlns:a="http://schemas.openxmlformats.org/drawingml/2006/main" noGrp="1"/>
          </p:cNvSpPr>
          <p:nvPr/>
        </p:nvSpPr>
        <p:spPr>
          <a:xfrm xmlns:a="http://schemas.openxmlformats.org/drawingml/2006/main">
            <a:off x="1047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RECALL</a:t>
            </a:r>
          </a:p>
        </p:txBody>
      </p:sp>
      <p:sp>
        <p:nvSpPr>
          <p:cNvPr id="7" name="Rectangle 6">
            <a:extLst xmlns:a="http://schemas.openxmlformats.org/drawingml/2006/main">
              <a:ext uri="{FF2B5EF4-FFF2-40B4-BE49-F238E27FC236}">
                <a16:creationId xmlns:a16="http://schemas.microsoft.com/office/drawing/2014/main" id="{33620425-9C0E-45ED-8C26-DC650D3A0C0A}"/>
              </a:ext>
            </a:extLst>
          </p:cNvPr>
          <p:cNvSpPr>
            <a:spLocks xmlns:a="http://schemas.openxmlformats.org/drawingml/2006/main" noGrp="1"/>
          </p:cNvSpPr>
          <p:nvPr/>
        </p:nvSpPr>
        <p:spPr>
          <a:xfrm xmlns:a="http://schemas.openxmlformats.org/drawingml/2006/main">
            <a:off x="1047750" y="2571750"/>
            <a:ext cx="4286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Define k.</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Write the general MPW formula.</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Name the three leakages in an open economy with government.</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State the relationship between leakages and k.</a:t>
            </a:r>
          </a:p>
        </p:txBody>
      </p:sp>
      <p:sp>
        <p:nvSpPr>
          <p:cNvPr id="8" name="Rectangle 7">
            <a:extLst xmlns:a="http://schemas.openxmlformats.org/drawingml/2006/main">
              <a:ext uri="{FF2B5EF4-FFF2-40B4-BE49-F238E27FC236}">
                <a16:creationId xmlns:a16="http://schemas.microsoft.com/office/drawing/2014/main" id="{02C52675-89C0-48A7-B8E3-6A52BA483907}"/>
              </a:ext>
            </a:extLst>
          </p:cNvPr>
          <p:cNvSpPr>
            <a:spLocks xmlns:a="http://schemas.openxmlformats.org/drawingml/2006/main" noGrp="1"/>
          </p:cNvSpPr>
          <p:nvPr/>
        </p:nvSpPr>
        <p:spPr>
          <a:xfrm xmlns:a="http://schemas.openxmlformats.org/drawingml/2006/main">
            <a:off x="6381750" y="1666875"/>
            <a:ext cx="5143500" cy="3714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62D4504D-0702-46C3-82B4-7118C0DDF17B}"/>
              </a:ext>
            </a:extLst>
          </p:cNvPr>
          <p:cNvSpPr>
            <a:spLocks xmlns:a="http://schemas.openxmlformats.org/drawingml/2006/main" noGrp="1"/>
          </p:cNvSpPr>
          <p:nvPr/>
        </p:nvSpPr>
        <p:spPr>
          <a:xfrm xmlns:a="http://schemas.openxmlformats.org/drawingml/2006/main">
            <a:off x="6762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10" name="Rectangle 9">
            <a:extLst xmlns:a="http://schemas.openxmlformats.org/drawingml/2006/main">
              <a:ext uri="{FF2B5EF4-FFF2-40B4-BE49-F238E27FC236}">
                <a16:creationId xmlns:a16="http://schemas.microsoft.com/office/drawing/2014/main" id="{A8D39BC7-19F0-4432-BF49-E11168B68A24}"/>
              </a:ext>
            </a:extLst>
          </p:cNvPr>
          <p:cNvSpPr>
            <a:spLocks xmlns:a="http://schemas.openxmlformats.org/drawingml/2006/main" noGrp="1"/>
          </p:cNvSpPr>
          <p:nvPr/>
        </p:nvSpPr>
        <p:spPr>
          <a:xfrm xmlns:a="http://schemas.openxmlformats.org/drawingml/2006/main">
            <a:off x="6762750" y="2667000"/>
            <a:ext cx="4381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MPS = 0.10</a:t>
            </a: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MPM = 0.20</a:t>
            </a: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MRT = 0.20</a:t>
            </a:r>
          </a:p>
          <a:p xmlns:a="http://schemas.openxmlformats.org/drawingml/2006/main">
            <a:pPr>
              <a:spcAft>
                <a:spcPts val="600"/>
              </a:spcAft>
              <a:buNone/>
            </a:pPr>
            <a:endParaRPr sz="2000" b="1" i="0">
              <a:solidFill>
                <a:srgbClr val="000000"/>
              </a:solidFill>
              <a:latin typeface="Arial"/>
              <a:ea typeface="Arial"/>
              <a:cs typeface="Arial"/>
            </a:endParaRP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Find MPW and k.</a:t>
            </a:r>
          </a:p>
        </p:txBody>
      </p:sp>
    </p:spTree>
    <p:extLst>
      <p:ext uri="{BB962C8B-B14F-4D97-AF65-F5344CB8AC3E}">
        <p14:creationId xmlns:p14="http://schemas.microsoft.com/office/powerpoint/2010/main" val="72823260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8-title">
            <a:extLst xmlns:a="http://schemas.openxmlformats.org/drawingml/2006/main">
              <a:ext uri="{FF2B5EF4-FFF2-40B4-BE49-F238E27FC236}">
                <a16:creationId xmlns:a16="http://schemas.microsoft.com/office/drawing/2014/main" id="{B33BB813-A44A-46BF-888B-984FDC187F5D}"/>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a:solidFill>
                  <a:srgbClr val="000000"/>
                </a:solidFill>
                <a:latin typeface="Arial"/>
                <a:ea typeface="Arial"/>
                <a:cs typeface="Arial"/>
              </a:rPr>
              <a:t>F</a:t>
            </a:r>
            <a:r>
              <a:rPr sz="3600" b="1" i="0">
                <a:solidFill>
                  <a:srgbClr val="000000"/>
                </a:solidFill>
                <a:latin typeface="Arial"/>
                <a:ea typeface="Arial"/>
                <a:cs typeface="Arial"/>
              </a:rPr>
              <a:t>ind marginal propensities</a:t>
            </a:r>
          </a:p>
        </p:txBody>
      </p:sp>
      <p:sp>
        <p:nvSpPr>
          <p:cNvPr id="3" name="Rectangle 2">
            <a:extLst xmlns:a="http://schemas.openxmlformats.org/drawingml/2006/main">
              <a:ext uri="{FF2B5EF4-FFF2-40B4-BE49-F238E27FC236}">
                <a16:creationId xmlns:a16="http://schemas.microsoft.com/office/drawing/2014/main" id="{F7EAE205-C23C-4129-AC41-CAB1FC01CF8E}"/>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B32C2DC5-6631-4FED-BA1D-509EF14D747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18</a:t>
            </a:r>
          </a:p>
        </p:txBody>
      </p:sp>
      <p:graphicFrame>
        <p:nvGraphicFramePr>
          <p:cNvPr id="14" name="Table 30"/>
          <p:cNvGraphicFramePr/>
          <p:nvPr/>
        </p:nvGraphicFramePr>
        <p:xfrm>
          <a:off xmlns:a="http://schemas.openxmlformats.org/drawingml/2006/main" x="666750" y="2047875"/>
          <a:ext xmlns:a="http://schemas.openxmlformats.org/drawingml/2006/main" cx="6191250" cy="2190750"/>
        </p:xfrm>
        <a:graphic xmlns:a="http://schemas.openxmlformats.org/drawingml/2006/main">
          <a:graphicData uri="http://schemas.openxmlformats.org/drawingml/2006/table">
            <a:tbl>
              <a:tblPr/>
              <a:tblGrid>
                <a:gridCol w="1238250"/>
                <a:gridCol w="1238250"/>
                <a:gridCol w="1238250"/>
                <a:gridCol w="1238250"/>
                <a:gridCol w="1238250"/>
              </a:tblGrid>
              <a:tr h="730250">
                <a:tc>
                  <a:txBody>
                    <a:bodyPr/>
                    <a:lstStyle/>
                    <a:p>
                      <a:pPr algn="ctr">
                        <a:buNone/>
                      </a:pPr>
                      <a:r>
                        <a:rPr sz="1650" b="1">
                          <a:solidFill>
                            <a:srgbClr val="FFFFFF"/>
                          </a:solidFill>
                          <a:latin typeface="Arial"/>
                          <a:ea typeface="Arial"/>
                          <a:cs typeface="Arial"/>
                        </a:rPr>
                        <a:t>Y</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C (domestic)</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S</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M</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T</a:t>
                      </a:r>
                    </a:p>
                  </a:txBody>
                  <a:tcPr marL="76200" marR="76200" marT="57150" marB="57150" anchor="ctr">
                    <a:solidFill>
                      <a:srgbClr val="000000"/>
                    </a:solidFill>
                  </a:tcPr>
                </a:tc>
              </a:tr>
              <a:tr h="730250">
                <a:tc>
                  <a:txBody>
                    <a:bodyPr/>
                    <a:lstStyle/>
                    <a:p>
                      <a:pPr algn="ctr">
                        <a:buNone/>
                      </a:pPr>
                      <a:r>
                        <a:rPr sz="2100">
                          <a:solidFill>
                            <a:srgbClr val="000000"/>
                          </a:solidFill>
                          <a:latin typeface="Arial"/>
                          <a:ea typeface="Arial"/>
                          <a:cs typeface="Arial"/>
                        </a:rPr>
                        <a:t>1,000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800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100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tr>
              <a:tr h="730250">
                <a:tc>
                  <a:txBody>
                    <a:bodyPr/>
                    <a:lstStyle/>
                    <a:p>
                      <a:pPr algn="ctr">
                        <a:buNone/>
                      </a:pPr>
                      <a:r>
                        <a:rPr sz="2100">
                          <a:solidFill>
                            <a:srgbClr val="000000"/>
                          </a:solidFill>
                          <a:latin typeface="Arial"/>
                          <a:ea typeface="Arial"/>
                          <a:cs typeface="Arial"/>
                        </a:rPr>
                        <a:t>1,200</a:t>
                      </a:r>
                    </a:p>
                  </a:txBody>
                  <a:tcPr marL="76200" marR="76200" marT="47625" marB="47625" anchor="ctr"/>
                </a:tc>
                <a:tc>
                  <a:txBody>
                    <a:bodyPr/>
                    <a:lstStyle/>
                    <a:p>
                      <a:pPr algn="ctr">
                        <a:buNone/>
                      </a:pPr>
                      <a:r>
                        <a:rPr sz="2100">
                          <a:solidFill>
                            <a:srgbClr val="000000"/>
                          </a:solidFill>
                          <a:latin typeface="Arial"/>
                          <a:ea typeface="Arial"/>
                          <a:cs typeface="Arial"/>
                        </a:rPr>
                        <a:t>940</a:t>
                      </a:r>
                    </a:p>
                  </a:txBody>
                  <a:tcPr marL="76200" marR="76200" marT="47625" marB="47625" anchor="ctr"/>
                </a:tc>
                <a:tc>
                  <a:txBody>
                    <a:bodyPr/>
                    <a:lstStyle/>
                    <a:p>
                      <a:pPr algn="ctr">
                        <a:buNone/>
                      </a:pPr>
                      <a:r>
                        <a:rPr sz="2100">
                          <a:solidFill>
                            <a:srgbClr val="000000"/>
                          </a:solidFill>
                          <a:latin typeface="Arial"/>
                          <a:ea typeface="Arial"/>
                          <a:cs typeface="Arial"/>
                        </a:rPr>
                        <a:t>120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tr>
            </a:tbl>
          </a:graphicData>
        </a:graphic>
      </p:graphicFrame>
      <p:sp>
        <p:nvSpPr>
          <p:cNvPr id="6" name="Rectangle 5">
            <a:extLst xmlns:a="http://schemas.openxmlformats.org/drawingml/2006/main">
              <a:ext uri="{FF2B5EF4-FFF2-40B4-BE49-F238E27FC236}">
                <a16:creationId xmlns:a16="http://schemas.microsoft.com/office/drawing/2014/main" id="{B0445370-7CF6-491B-A773-1AC9823DF61E}"/>
              </a:ext>
            </a:extLst>
          </p:cNvPr>
          <p:cNvSpPr>
            <a:spLocks xmlns:a="http://schemas.openxmlformats.org/drawingml/2006/main" noGrp="1"/>
          </p:cNvSpPr>
          <p:nvPr/>
        </p:nvSpPr>
        <p:spPr>
          <a:xfrm xmlns:a="http://schemas.openxmlformats.org/drawingml/2006/main">
            <a:off x="7524750" y="19526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7" name="Rectangle 6">
            <a:extLst xmlns:a="http://schemas.openxmlformats.org/drawingml/2006/main">
              <a:ext uri="{FF2B5EF4-FFF2-40B4-BE49-F238E27FC236}">
                <a16:creationId xmlns:a16="http://schemas.microsoft.com/office/drawing/2014/main" id="{04A18C53-13A6-47D2-B8F3-A4FEAA68BAAF}"/>
              </a:ext>
            </a:extLst>
          </p:cNvPr>
          <p:cNvSpPr>
            <a:spLocks xmlns:a="http://schemas.openxmlformats.org/drawingml/2006/main" noGrp="1"/>
          </p:cNvSpPr>
          <p:nvPr/>
        </p:nvSpPr>
        <p:spPr>
          <a:xfrm xmlns:a="http://schemas.openxmlformats.org/drawingml/2006/main">
            <a:off x="7524750" y="2381250"/>
            <a:ext cx="3714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1  MPC</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2  MPS</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3  MPM</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4  MRT</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5  MPW and k</a:t>
            </a:r>
          </a:p>
        </p:txBody>
      </p:sp>
    </p:spTree>
    <p:extLst>
      <p:ext uri="{BB962C8B-B14F-4D97-AF65-F5344CB8AC3E}">
        <p14:creationId xmlns:p14="http://schemas.microsoft.com/office/powerpoint/2010/main" val="15243560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9-title">
            <a:extLst xmlns:a="http://schemas.openxmlformats.org/drawingml/2006/main">
              <a:ext uri="{FF2B5EF4-FFF2-40B4-BE49-F238E27FC236}">
                <a16:creationId xmlns:a16="http://schemas.microsoft.com/office/drawing/2014/main" id="{B12ED84C-922D-458A-AC1D-7B3E536BD892}"/>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Solution</a:t>
            </a:r>
          </a:p>
        </p:txBody>
      </p:sp>
      <p:sp>
        <p:nvSpPr>
          <p:cNvPr id="3" name="Rectangle 2">
            <a:extLst xmlns:a="http://schemas.openxmlformats.org/drawingml/2006/main">
              <a:ext uri="{FF2B5EF4-FFF2-40B4-BE49-F238E27FC236}">
                <a16:creationId xmlns:a16="http://schemas.microsoft.com/office/drawing/2014/main" id="{D532D152-8BA7-47BD-86F9-19B2107BD9B7}"/>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EA22E506-703B-4936-9A98-A557BD49901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19</a:t>
            </a:r>
          </a:p>
        </p:txBody>
      </p:sp>
      <p:sp>
        <p:nvSpPr>
          <p:cNvPr id="5" name="Rectangle 4">
            <a:extLst xmlns:a="http://schemas.openxmlformats.org/drawingml/2006/main">
              <a:ext uri="{FF2B5EF4-FFF2-40B4-BE49-F238E27FC236}">
                <a16:creationId xmlns:a16="http://schemas.microsoft.com/office/drawing/2014/main" id="{905F4EAD-0903-497E-B288-D136963039CE}"/>
              </a:ext>
            </a:extLst>
          </p:cNvPr>
          <p:cNvSpPr>
            <a:spLocks xmlns:a="http://schemas.openxmlformats.org/drawingml/2006/main" noGrp="1"/>
          </p:cNvSpPr>
          <p:nvPr/>
        </p:nvSpPr>
        <p:spPr>
          <a:xfrm xmlns:a="http://schemas.openxmlformats.org/drawingml/2006/main">
            <a:off x="666750" y="1619250"/>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550" b="1" i="0">
                <a:solidFill>
                  <a:srgbClr val="3D8DFF"/>
                </a:solidFill>
                <a:latin typeface="Arial"/>
                <a:ea typeface="Arial"/>
                <a:cs typeface="Arial"/>
              </a:defRPr>
            </a:pPr>
            <a:r>
              <a:rPr sz="2550" b="1" i="0">
                <a:solidFill>
                  <a:srgbClr val="3D8DFF"/>
                </a:solidFill>
                <a:latin typeface="Arial"/>
                <a:ea typeface="Arial"/>
                <a:cs typeface="Arial"/>
              </a:rPr>
              <a:t>ΔY = 1,200 - 1,000 = 200</a:t>
            </a:r>
          </a:p>
        </p:txBody>
      </p:sp>
      <p:graphicFrame>
        <p:nvGraphicFramePr>
          <p:cNvPr id="14" name="Table 30"/>
          <p:cNvGraphicFramePr/>
          <p:nvPr/>
        </p:nvGraphicFramePr>
        <p:xfrm>
          <a:off xmlns:a="http://schemas.openxmlformats.org/drawingml/2006/main" x="666750" y="2381250"/>
          <a:ext xmlns:a="http://schemas.openxmlformats.org/drawingml/2006/main" cx="10858500" cy="2857500"/>
        </p:xfrm>
        <a:graphic xmlns:a="http://schemas.openxmlformats.org/drawingml/2006/main">
          <a:graphicData uri="http://schemas.openxmlformats.org/drawingml/2006/table">
            <a:tbl>
              <a:tblPr/>
              <a:tblGrid>
                <a:gridCol w="1905000"/>
                <a:gridCol w="3333750"/>
                <a:gridCol w="2857500"/>
                <a:gridCol w="2762250"/>
              </a:tblGrid>
              <a:tr h="571500">
                <a:tc>
                  <a:txBody>
                    <a:bodyPr/>
                    <a:lstStyle/>
                    <a:p>
                      <a:pPr algn="ctr">
                        <a:buNone/>
                      </a:pPr>
                      <a:r>
                        <a:rPr sz="1500" b="1">
                          <a:solidFill>
                            <a:srgbClr val="FFFFFF"/>
                          </a:solidFill>
                          <a:latin typeface="Arial"/>
                          <a:ea typeface="Arial"/>
                          <a:cs typeface="Arial"/>
                        </a:rPr>
                        <a:t>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Change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Calculation</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Value</a:t>
                      </a:r>
                    </a:p>
                  </a:txBody>
                  <a:tcPr marL="76200" marR="76200" marT="57150" marB="57150" anchor="ctr">
                    <a:solidFill>
                      <a:srgbClr val="000000"/>
                    </a:solidFill>
                  </a:tcPr>
                </a:tc>
              </a:tr>
              <a:tr h="571500">
                <a:tc>
                  <a:txBody>
                    <a:bodyPr/>
                    <a:lstStyle/>
                    <a:p>
                      <a:pPr algn="ctr">
                        <a:buNone/>
                      </a:pPr>
                      <a:r>
                        <a:rPr sz="1650">
                          <a:solidFill>
                            <a:srgbClr val="000000"/>
                          </a:solidFill>
                          <a:latin typeface="Arial"/>
                          <a:ea typeface="Arial"/>
                          <a:cs typeface="Arial"/>
                        </a:rPr>
                        <a:t>MPC</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940 - 800 = 140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0.70</a:t>
                      </a:r>
                    </a:p>
                  </a:txBody>
                  <a:tcPr marL="76200" marR="76200" marT="47625" marB="47625" anchor="ctr">
                    <a:solidFill>
                      <a:srgbClr val="F7F7F5"/>
                    </a:solidFill>
                  </a:tcPr>
                </a:tc>
              </a:tr>
              <a:tr h="571500">
                <a:tc>
                  <a:txBody>
                    <a:bodyPr/>
                    <a:lstStyle/>
                    <a:p>
                      <a:pPr algn="ctr">
                        <a:buNone/>
                      </a:pPr>
                      <a:r>
                        <a:rPr sz="1650">
                          <a:solidFill>
                            <a:srgbClr val="000000"/>
                          </a:solidFill>
                          <a:latin typeface="Arial"/>
                          <a:ea typeface="Arial"/>
                          <a:cs typeface="Arial"/>
                        </a:rPr>
                        <a:t>MPS</a:t>
                      </a:r>
                    </a:p>
                  </a:txBody>
                  <a:tcPr marL="76200" marR="76200" marT="47625" marB="47625" anchor="ctr"/>
                </a:tc>
                <a:tc>
                  <a:txBody>
                    <a:bodyPr/>
                    <a:lstStyle/>
                    <a:p>
                      <a:pPr algn="ctr">
                        <a:buNone/>
                      </a:pPr>
                      <a:r>
                        <a:rPr sz="1650">
                          <a:solidFill>
                            <a:srgbClr val="000000"/>
                          </a:solidFill>
                          <a:latin typeface="Arial"/>
                          <a:ea typeface="Arial"/>
                          <a:cs typeface="Arial"/>
                        </a:rPr>
                        <a:t>120 - 100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tr>
              <a:tr h="571500">
                <a:tc>
                  <a:txBody>
                    <a:bodyPr/>
                    <a:lstStyle/>
                    <a:p>
                      <a:pPr algn="ctr">
                        <a:buNone/>
                      </a:pPr>
                      <a:r>
                        <a:rPr sz="1650">
                          <a:solidFill>
                            <a:srgbClr val="000000"/>
                          </a:solidFill>
                          <a:latin typeface="Arial"/>
                          <a:ea typeface="Arial"/>
                          <a:cs typeface="Arial"/>
                        </a:rPr>
                        <a:t>MPM</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70 - 50 = 20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0.10</a:t>
                      </a:r>
                    </a:p>
                  </a:txBody>
                  <a:tcPr marL="76200" marR="76200" marT="47625" marB="47625" anchor="ctr">
                    <a:solidFill>
                      <a:srgbClr val="F7F7F5"/>
                    </a:solidFill>
                  </a:tcPr>
                </a:tc>
              </a:tr>
              <a:tr h="571500">
                <a:tc>
                  <a:txBody>
                    <a:bodyPr/>
                    <a:lstStyle/>
                    <a:p>
                      <a:pPr algn="ctr">
                        <a:buNone/>
                      </a:pPr>
                      <a:r>
                        <a:rPr sz="1650">
                          <a:solidFill>
                            <a:srgbClr val="000000"/>
                          </a:solidFill>
                          <a:latin typeface="Arial"/>
                          <a:ea typeface="Arial"/>
                          <a:cs typeface="Arial"/>
                        </a:rPr>
                        <a:t>MRT</a:t>
                      </a:r>
                    </a:p>
                  </a:txBody>
                  <a:tcPr marL="76200" marR="76200" marT="47625" marB="47625" anchor="ctr"/>
                </a:tc>
                <a:tc>
                  <a:txBody>
                    <a:bodyPr/>
                    <a:lstStyle/>
                    <a:p>
                      <a:pPr algn="ctr">
                        <a:buNone/>
                      </a:pPr>
                      <a:r>
                        <a:rPr sz="1650">
                          <a:solidFill>
                            <a:srgbClr val="000000"/>
                          </a:solidFill>
                          <a:latin typeface="Arial"/>
                          <a:ea typeface="Arial"/>
                          <a:cs typeface="Arial"/>
                        </a:rPr>
                        <a:t>70 - 50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tr>
            </a:tbl>
          </a:graphicData>
        </a:graphic>
      </p:graphicFrame>
      <p:sp>
        <p:nvSpPr>
          <p:cNvPr id="7" name="Rectangle 6">
            <a:extLst xmlns:a="http://schemas.openxmlformats.org/drawingml/2006/main">
              <a:ext uri="{FF2B5EF4-FFF2-40B4-BE49-F238E27FC236}">
                <a16:creationId xmlns:a16="http://schemas.microsoft.com/office/drawing/2014/main" id="{C0ABF0D9-3278-42C3-98F9-EC801FE52FF8}"/>
              </a:ext>
            </a:extLst>
          </p:cNvPr>
          <p:cNvSpPr>
            <a:spLocks xmlns:a="http://schemas.openxmlformats.org/drawingml/2006/main" noGrp="1"/>
          </p:cNvSpPr>
          <p:nvPr/>
        </p:nvSpPr>
        <p:spPr>
          <a:xfrm xmlns:a="http://schemas.openxmlformats.org/drawingml/2006/main">
            <a:off x="2571750" y="5572125"/>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3D8DFF"/>
                </a:solidFill>
                <a:latin typeface="Arial"/>
                <a:ea typeface="Arial"/>
                <a:cs typeface="Arial"/>
              </a:defRPr>
            </a:pPr>
            <a:r>
              <a:rPr sz="2250" b="1" i="0">
                <a:solidFill>
                  <a:srgbClr val="3D8DFF"/>
                </a:solidFill>
                <a:latin typeface="Arial"/>
                <a:ea typeface="Arial"/>
                <a:cs typeface="Arial"/>
              </a:rPr>
              <a:t>MPW = 0.30, so k = 1 / 0.30 = 3.33</a:t>
            </a:r>
          </a:p>
        </p:txBody>
      </p:sp>
    </p:spTree>
    <p:extLst>
      <p:ext uri="{BB962C8B-B14F-4D97-AF65-F5344CB8AC3E}">
        <p14:creationId xmlns:p14="http://schemas.microsoft.com/office/powerpoint/2010/main" val="188281472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20-title">
            <a:extLst xmlns:a="http://schemas.openxmlformats.org/drawingml/2006/main">
              <a:ext uri="{FF2B5EF4-FFF2-40B4-BE49-F238E27FC236}">
                <a16:creationId xmlns:a16="http://schemas.microsoft.com/office/drawing/2014/main" id="{B56F6E62-1A5A-4296-80AE-CD3F8867E6A0}"/>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How to </a:t>
            </a:r>
            <a:r>
              <a:rPr sz="3600" b="1" i="0">
                <a:solidFill>
                  <a:srgbClr val="000000"/>
                </a:solidFill>
                <a:latin typeface="Arial"/>
                <a:ea typeface="Arial"/>
                <a:cs typeface="Arial"/>
              </a:rPr>
              <a:t>calculate</a:t>
            </a:r>
            <a:endParaRPr sz="3600" b="1" i="0">
              <a:solidFill>
                <a:srgbClr val="000000"/>
              </a:solidFill>
              <a:latin typeface="Arial"/>
              <a:ea typeface="Arial"/>
              <a:cs typeface="Arial"/>
            </a:endParaRPr>
          </a:p>
        </p:txBody>
      </p:sp>
      <p:cxnSp>
        <p:nvCxnSpPr>
          <p:cNvPr id="65" name="Straight Arrow Connector 4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E27D33CD-E24D-4426-B1DC-95A3D2A5A3FD}"/>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83A96B4B-C3C5-4880-9BA2-1D4DDA59E83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20</a:t>
            </a:r>
          </a:p>
        </p:txBody>
      </p:sp>
      <p:cxnSp>
        <p:nvCxnSpPr>
          <p:cNvPr id="68" name="Straight Arrow Connector 52"/>
          <p:cNvCxnSpPr/>
          <p:nvPr/>
        </p:nvCxnSpPr>
        <p:spPr>
          <a:xfrm xmlns:a="http://schemas.openxmlformats.org/drawingml/2006/main">
            <a:off x="1333500" y="3143250"/>
            <a:ext cx="9525000" cy="95"/>
          </a:xfrm>
          <a:prstGeom xmlns:a="http://schemas.openxmlformats.org/drawingml/2006/main" prst="straightConnector1">
            <a:avLst/>
          </a:prstGeom>
          <a:ln xmlns:a="http://schemas.openxmlformats.org/drawingml/2006/main" w="28575">
            <a:solidFill>
              <a:srgbClr val="B8BCC4"/>
            </a:solidFill>
            <a:prstDash val="solid"/>
          </a:ln>
        </p:spPr>
      </p:cxnSp>
      <p:sp>
        <p:nvSpPr>
          <p:cNvPr id="6" name="Oval 5">
            <a:extLst xmlns:a="http://schemas.openxmlformats.org/drawingml/2006/main">
              <a:ext uri="{FF2B5EF4-FFF2-40B4-BE49-F238E27FC236}">
                <a16:creationId xmlns:a16="http://schemas.microsoft.com/office/drawing/2014/main" id="{EF79ACD5-74F8-4477-853F-72C5152965D3}"/>
              </a:ext>
            </a:extLst>
          </p:cNvPr>
          <p:cNvSpPr>
            <a:spLocks xmlns:a="http://schemas.openxmlformats.org/drawingml/2006/main" noGrp="1"/>
          </p:cNvSpPr>
          <p:nvPr/>
        </p:nvSpPr>
        <p:spPr>
          <a:xfrm xmlns:a="http://schemas.openxmlformats.org/drawingml/2006/main">
            <a:off x="1047750" y="2714625"/>
            <a:ext cx="857250" cy="8572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7" name="Rectangle 6">
            <a:extLst xmlns:a="http://schemas.openxmlformats.org/drawingml/2006/main">
              <a:ext uri="{FF2B5EF4-FFF2-40B4-BE49-F238E27FC236}">
                <a16:creationId xmlns:a16="http://schemas.microsoft.com/office/drawing/2014/main" id="{C385459E-18D1-45FE-A9CC-A4BB7DC005FB}"/>
              </a:ext>
            </a:extLst>
          </p:cNvPr>
          <p:cNvSpPr>
            <a:spLocks xmlns:a="http://schemas.openxmlformats.org/drawingml/2006/main" noGrp="1"/>
          </p:cNvSpPr>
          <p:nvPr/>
        </p:nvSpPr>
        <p:spPr>
          <a:xfrm xmlns:a="http://schemas.openxmlformats.org/drawingml/2006/main">
            <a:off x="666750" y="39052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MODEL</a:t>
            </a:r>
          </a:p>
        </p:txBody>
      </p:sp>
      <p:sp>
        <p:nvSpPr>
          <p:cNvPr id="8" name="Rectangle 7">
            <a:extLst xmlns:a="http://schemas.openxmlformats.org/drawingml/2006/main">
              <a:ext uri="{FF2B5EF4-FFF2-40B4-BE49-F238E27FC236}">
                <a16:creationId xmlns:a16="http://schemas.microsoft.com/office/drawing/2014/main" id="{25B134D6-8541-45C8-936D-B38374C4EF9B}"/>
              </a:ext>
            </a:extLst>
          </p:cNvPr>
          <p:cNvSpPr>
            <a:spLocks xmlns:a="http://schemas.openxmlformats.org/drawingml/2006/main" noGrp="1"/>
          </p:cNvSpPr>
          <p:nvPr/>
        </p:nvSpPr>
        <p:spPr>
          <a:xfrm xmlns:a="http://schemas.openxmlformats.org/drawingml/2006/main">
            <a:off x="428625" y="4333875"/>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Closed/open?</a:t>
            </a:r>
          </a:p>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Government?</a:t>
            </a:r>
          </a:p>
        </p:txBody>
      </p:sp>
      <p:sp>
        <p:nvSpPr>
          <p:cNvPr id="9" name="Oval 8">
            <a:extLst xmlns:a="http://schemas.openxmlformats.org/drawingml/2006/main">
              <a:ext uri="{FF2B5EF4-FFF2-40B4-BE49-F238E27FC236}">
                <a16:creationId xmlns:a16="http://schemas.microsoft.com/office/drawing/2014/main" id="{19A73F17-05C8-4293-822A-2D43F6B391E2}"/>
              </a:ext>
            </a:extLst>
          </p:cNvPr>
          <p:cNvSpPr>
            <a:spLocks xmlns:a="http://schemas.openxmlformats.org/drawingml/2006/main" noGrp="1"/>
          </p:cNvSpPr>
          <p:nvPr/>
        </p:nvSpPr>
        <p:spPr>
          <a:xfrm xmlns:a="http://schemas.openxmlformats.org/drawingml/2006/main">
            <a:off x="3810000" y="2714625"/>
            <a:ext cx="857250" cy="8572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0" name="Rectangle 9">
            <a:extLst xmlns:a="http://schemas.openxmlformats.org/drawingml/2006/main">
              <a:ext uri="{FF2B5EF4-FFF2-40B4-BE49-F238E27FC236}">
                <a16:creationId xmlns:a16="http://schemas.microsoft.com/office/drawing/2014/main" id="{26DBD59C-A2CB-46D8-8E79-5028687A913D}"/>
              </a:ext>
            </a:extLst>
          </p:cNvPr>
          <p:cNvSpPr>
            <a:spLocks xmlns:a="http://schemas.openxmlformats.org/drawingml/2006/main" noGrp="1"/>
          </p:cNvSpPr>
          <p:nvPr/>
        </p:nvSpPr>
        <p:spPr>
          <a:xfrm xmlns:a="http://schemas.openxmlformats.org/drawingml/2006/main">
            <a:off x="3429000" y="39052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LEAKAGES</a:t>
            </a:r>
          </a:p>
        </p:txBody>
      </p:sp>
      <p:sp>
        <p:nvSpPr>
          <p:cNvPr id="11" name="Rectangle 10">
            <a:extLst xmlns:a="http://schemas.openxmlformats.org/drawingml/2006/main">
              <a:ext uri="{FF2B5EF4-FFF2-40B4-BE49-F238E27FC236}">
                <a16:creationId xmlns:a16="http://schemas.microsoft.com/office/drawing/2014/main" id="{129823E0-18CA-4627-BE6C-075011D1C2BC}"/>
              </a:ext>
            </a:extLst>
          </p:cNvPr>
          <p:cNvSpPr>
            <a:spLocks xmlns:a="http://schemas.openxmlformats.org/drawingml/2006/main" noGrp="1"/>
          </p:cNvSpPr>
          <p:nvPr/>
        </p:nvSpPr>
        <p:spPr>
          <a:xfrm xmlns:a="http://schemas.openxmlformats.org/drawingml/2006/main">
            <a:off x="3190875" y="4333875"/>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Write MPW</a:t>
            </a:r>
          </a:p>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from S, T, M</a:t>
            </a:r>
          </a:p>
        </p:txBody>
      </p:sp>
      <p:sp>
        <p:nvSpPr>
          <p:cNvPr id="12" name="Oval 11">
            <a:extLst xmlns:a="http://schemas.openxmlformats.org/drawingml/2006/main">
              <a:ext uri="{FF2B5EF4-FFF2-40B4-BE49-F238E27FC236}">
                <a16:creationId xmlns:a16="http://schemas.microsoft.com/office/drawing/2014/main" id="{F785F149-E567-4156-B2A1-A21CB57D90EA}"/>
              </a:ext>
            </a:extLst>
          </p:cNvPr>
          <p:cNvSpPr>
            <a:spLocks xmlns:a="http://schemas.openxmlformats.org/drawingml/2006/main" noGrp="1"/>
          </p:cNvSpPr>
          <p:nvPr/>
        </p:nvSpPr>
        <p:spPr>
          <a:xfrm xmlns:a="http://schemas.openxmlformats.org/drawingml/2006/main">
            <a:off x="6572250" y="2714625"/>
            <a:ext cx="857250" cy="8572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3" name="Rectangle 12">
            <a:extLst xmlns:a="http://schemas.openxmlformats.org/drawingml/2006/main">
              <a:ext uri="{FF2B5EF4-FFF2-40B4-BE49-F238E27FC236}">
                <a16:creationId xmlns:a16="http://schemas.microsoft.com/office/drawing/2014/main" id="{922CED59-E0E3-4B09-A6D5-C585BA6884BC}"/>
              </a:ext>
            </a:extLst>
          </p:cNvPr>
          <p:cNvSpPr>
            <a:spLocks xmlns:a="http://schemas.openxmlformats.org/drawingml/2006/main" noGrp="1"/>
          </p:cNvSpPr>
          <p:nvPr/>
        </p:nvSpPr>
        <p:spPr>
          <a:xfrm xmlns:a="http://schemas.openxmlformats.org/drawingml/2006/main">
            <a:off x="6191250" y="39052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MULTIPLIER</a:t>
            </a:r>
          </a:p>
        </p:txBody>
      </p:sp>
      <p:sp>
        <p:nvSpPr>
          <p:cNvPr id="14" name="Rectangle 13">
            <a:extLst xmlns:a="http://schemas.openxmlformats.org/drawingml/2006/main">
              <a:ext uri="{FF2B5EF4-FFF2-40B4-BE49-F238E27FC236}">
                <a16:creationId xmlns:a16="http://schemas.microsoft.com/office/drawing/2014/main" id="{A2DF8FD6-11A0-46C3-9E3E-C0F955545BD6}"/>
              </a:ext>
            </a:extLst>
          </p:cNvPr>
          <p:cNvSpPr>
            <a:spLocks xmlns:a="http://schemas.openxmlformats.org/drawingml/2006/main" noGrp="1"/>
          </p:cNvSpPr>
          <p:nvPr/>
        </p:nvSpPr>
        <p:spPr>
          <a:xfrm xmlns:a="http://schemas.openxmlformats.org/drawingml/2006/main">
            <a:off x="5953125" y="4333875"/>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k = 1 / MPW</a:t>
            </a:r>
          </a:p>
        </p:txBody>
      </p:sp>
      <p:sp>
        <p:nvSpPr>
          <p:cNvPr id="15" name="Oval 14">
            <a:extLst xmlns:a="http://schemas.openxmlformats.org/drawingml/2006/main">
              <a:ext uri="{FF2B5EF4-FFF2-40B4-BE49-F238E27FC236}">
                <a16:creationId xmlns:a16="http://schemas.microsoft.com/office/drawing/2014/main" id="{552C0A72-3139-49BD-B5FC-7FC9D940C258}"/>
              </a:ext>
            </a:extLst>
          </p:cNvPr>
          <p:cNvSpPr>
            <a:spLocks xmlns:a="http://schemas.openxmlformats.org/drawingml/2006/main" noGrp="1"/>
          </p:cNvSpPr>
          <p:nvPr/>
        </p:nvSpPr>
        <p:spPr>
          <a:xfrm xmlns:a="http://schemas.openxmlformats.org/drawingml/2006/main">
            <a:off x="9334500" y="2714625"/>
            <a:ext cx="857250" cy="857250"/>
          </a:xfrm>
          <a:prstGeom xmlns:a="http://schemas.openxmlformats.org/drawingml/2006/main" prst="ellipse">
            <a:avLst/>
          </a:prstGeom>
          <a:solidFill xmlns:a="http://schemas.openxmlformats.org/drawingml/2006/main">
            <a:srgbClr val="EAF6EF"/>
          </a:solidFill>
          <a:ln xmlns:a="http://schemas.openxmlformats.org/drawingml/2006/main" w="9525">
            <a:solidFill>
              <a:srgbClr val="2B9A6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6" name="Rectangle 15">
            <a:extLst xmlns:a="http://schemas.openxmlformats.org/drawingml/2006/main">
              <a:ext uri="{FF2B5EF4-FFF2-40B4-BE49-F238E27FC236}">
                <a16:creationId xmlns:a16="http://schemas.microsoft.com/office/drawing/2014/main" id="{6809F52C-59E5-47F8-9499-D9067EF2545D}"/>
              </a:ext>
            </a:extLst>
          </p:cNvPr>
          <p:cNvSpPr>
            <a:spLocks xmlns:a="http://schemas.openxmlformats.org/drawingml/2006/main" noGrp="1"/>
          </p:cNvSpPr>
          <p:nvPr/>
        </p:nvSpPr>
        <p:spPr>
          <a:xfrm xmlns:a="http://schemas.openxmlformats.org/drawingml/2006/main">
            <a:off x="8953500" y="39052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INCOME</a:t>
            </a:r>
          </a:p>
        </p:txBody>
      </p:sp>
      <p:sp>
        <p:nvSpPr>
          <p:cNvPr id="17" name="Rectangle 16">
            <a:extLst xmlns:a="http://schemas.openxmlformats.org/drawingml/2006/main">
              <a:ext uri="{FF2B5EF4-FFF2-40B4-BE49-F238E27FC236}">
                <a16:creationId xmlns:a16="http://schemas.microsoft.com/office/drawing/2014/main" id="{B9228A1E-191F-4BC8-8CCB-609EC0D76190}"/>
              </a:ext>
            </a:extLst>
          </p:cNvPr>
          <p:cNvSpPr>
            <a:spLocks xmlns:a="http://schemas.openxmlformats.org/drawingml/2006/main" noGrp="1"/>
          </p:cNvSpPr>
          <p:nvPr/>
        </p:nvSpPr>
        <p:spPr>
          <a:xfrm xmlns:a="http://schemas.openxmlformats.org/drawingml/2006/main">
            <a:off x="8715375" y="4333875"/>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ΔY = k × ΔJ</a:t>
            </a:r>
          </a:p>
        </p:txBody>
      </p:sp>
      <p:sp>
        <p:nvSpPr>
          <p:cNvPr id="18" name="Rectangle 17">
            <a:extLst xmlns:a="http://schemas.openxmlformats.org/drawingml/2006/main">
              <a:ext uri="{FF2B5EF4-FFF2-40B4-BE49-F238E27FC236}">
                <a16:creationId xmlns:a16="http://schemas.microsoft.com/office/drawing/2014/main" id="{046FF3D8-6685-4B43-80BD-E9FF5B41B96C}"/>
              </a:ext>
            </a:extLst>
          </p:cNvPr>
          <p:cNvSpPr>
            <a:spLocks xmlns:a="http://schemas.openxmlformats.org/drawingml/2006/main" noGrp="1"/>
          </p:cNvSpPr>
          <p:nvPr/>
        </p:nvSpPr>
        <p:spPr>
          <a:xfrm xmlns:a="http://schemas.openxmlformats.org/drawingml/2006/main">
            <a:off x="2381250" y="566737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Final check: a larger MPW must produce a smaller k.</a:t>
            </a:r>
          </a:p>
        </p:txBody>
      </p:sp>
    </p:spTree>
    <p:extLst>
      <p:ext uri="{BB962C8B-B14F-4D97-AF65-F5344CB8AC3E}">
        <p14:creationId xmlns:p14="http://schemas.microsoft.com/office/powerpoint/2010/main" val="136790603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1-title">
            <a:extLst xmlns:a="http://schemas.openxmlformats.org/drawingml/2006/main">
              <a:ext uri="{FF2B5EF4-FFF2-40B4-BE49-F238E27FC236}">
                <a16:creationId xmlns:a16="http://schemas.microsoft.com/office/drawing/2014/main" id="{6A979400-93DC-4E17-8CA5-7727CF968A8F}"/>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A: closed economy, no government</a:t>
            </a:r>
          </a:p>
        </p:txBody>
      </p:sp>
      <p:sp>
        <p:nvSpPr>
          <p:cNvPr id="3" name="Rectangle 2">
            <a:extLst xmlns:a="http://schemas.openxmlformats.org/drawingml/2006/main">
              <a:ext uri="{FF2B5EF4-FFF2-40B4-BE49-F238E27FC236}">
                <a16:creationId xmlns:a16="http://schemas.microsoft.com/office/drawing/2014/main" id="{55C6E880-0FF0-4360-BDF2-EAF5A8C4787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3263A9AB-8527-4010-966F-E5A7D1F7185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21</a:t>
            </a:r>
          </a:p>
        </p:txBody>
      </p:sp>
      <p:sp>
        <p:nvSpPr>
          <p:cNvPr id="5" name="Rectangle 4">
            <a:extLst xmlns:a="http://schemas.openxmlformats.org/drawingml/2006/main">
              <a:ext uri="{FF2B5EF4-FFF2-40B4-BE49-F238E27FC236}">
                <a16:creationId xmlns:a16="http://schemas.microsoft.com/office/drawing/2014/main" id="{58D7145C-409A-4DAE-A925-3CEC7AD70351}"/>
              </a:ext>
            </a:extLst>
          </p:cNvPr>
          <p:cNvSpPr>
            <a:spLocks xmlns:a="http://schemas.openxmlformats.org/drawingml/2006/main" noGrp="1"/>
          </p:cNvSpPr>
          <p:nvPr/>
        </p:nvSpPr>
        <p:spPr>
          <a:xfrm xmlns:a="http://schemas.openxmlformats.org/drawingml/2006/main">
            <a:off x="666750" y="1666875"/>
            <a:ext cx="4762500" cy="36195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57840AFE-A9D2-44EB-8EBD-7BFA49B39B95}"/>
              </a:ext>
            </a:extLst>
          </p:cNvPr>
          <p:cNvSpPr>
            <a:spLocks xmlns:a="http://schemas.openxmlformats.org/drawingml/2006/main" noGrp="1"/>
          </p:cNvSpPr>
          <p:nvPr/>
        </p:nvSpPr>
        <p:spPr>
          <a:xfrm xmlns:a="http://schemas.openxmlformats.org/drawingml/2006/main">
            <a:off x="1047750" y="20478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xmlns:a="http://schemas.openxmlformats.org/drawingml/2006/main">
              <a:ext uri="{FF2B5EF4-FFF2-40B4-BE49-F238E27FC236}">
                <a16:creationId xmlns:a16="http://schemas.microsoft.com/office/drawing/2014/main" id="{7F59BF6C-D005-4BDB-9F4C-4F04597E8B07}"/>
              </a:ext>
            </a:extLst>
          </p:cNvPr>
          <p:cNvSpPr>
            <a:spLocks xmlns:a="http://schemas.openxmlformats.org/drawingml/2006/main" noGrp="1"/>
          </p:cNvSpPr>
          <p:nvPr/>
        </p:nvSpPr>
        <p:spPr>
          <a:xfrm xmlns:a="http://schemas.openxmlformats.org/drawingml/2006/main">
            <a:off x="1047750" y="2619375"/>
            <a:ext cx="4000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MPS = 0.25</a:t>
            </a:r>
          </a:p>
          <a:p xmlns:a="http://schemas.openxmlformats.org/drawingml/2006/main">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Investment rises by £60m.</a:t>
            </a:r>
          </a:p>
          <a:p xmlns:a="http://schemas.openxmlformats.org/drawingml/2006/main">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Find k and ΔY.</a:t>
            </a:r>
          </a:p>
        </p:txBody>
      </p:sp>
      <p:sp>
        <p:nvSpPr>
          <p:cNvPr id="8" name="Rectangle 7">
            <a:extLst xmlns:a="http://schemas.openxmlformats.org/drawingml/2006/main">
              <a:ext uri="{FF2B5EF4-FFF2-40B4-BE49-F238E27FC236}">
                <a16:creationId xmlns:a16="http://schemas.microsoft.com/office/drawing/2014/main" id="{367EF02D-CC0C-4000-A08E-8865DFAA13ED}"/>
              </a:ext>
            </a:extLst>
          </p:cNvPr>
          <p:cNvSpPr>
            <a:spLocks xmlns:a="http://schemas.openxmlformats.org/drawingml/2006/main" noGrp="1"/>
          </p:cNvSpPr>
          <p:nvPr/>
        </p:nvSpPr>
        <p:spPr>
          <a:xfrm xmlns:a="http://schemas.openxmlformats.org/drawingml/2006/main">
            <a:off x="6191250" y="1666875"/>
            <a:ext cx="5334000" cy="361950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D8E53E10-3434-47FE-BA03-131F8877DFA4}"/>
              </a:ext>
            </a:extLst>
          </p:cNvPr>
          <p:cNvSpPr>
            <a:spLocks xmlns:a="http://schemas.openxmlformats.org/drawingml/2006/main" noGrp="1"/>
          </p:cNvSpPr>
          <p:nvPr/>
        </p:nvSpPr>
        <p:spPr>
          <a:xfrm xmlns:a="http://schemas.openxmlformats.org/drawingml/2006/main">
            <a:off x="666750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xmlns:a="http://schemas.openxmlformats.org/drawingml/2006/main">
              <a:ext uri="{FF2B5EF4-FFF2-40B4-BE49-F238E27FC236}">
                <a16:creationId xmlns:a16="http://schemas.microsoft.com/office/drawing/2014/main" id="{D2CF0726-D85B-439E-8456-4FB47043A6E5}"/>
              </a:ext>
            </a:extLst>
          </p:cNvPr>
          <p:cNvSpPr>
            <a:spLocks xmlns:a="http://schemas.openxmlformats.org/drawingml/2006/main" noGrp="1"/>
          </p:cNvSpPr>
          <p:nvPr/>
        </p:nvSpPr>
        <p:spPr>
          <a:xfrm xmlns:a="http://schemas.openxmlformats.org/drawingml/2006/main">
            <a:off x="6667500" y="2571750"/>
            <a:ext cx="4381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k = 1 / MPS</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1 / 0.25</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4</a:t>
            </a:r>
          </a:p>
          <a:p xmlns:a="http://schemas.openxmlformats.org/drawingml/2006/main">
            <a:endParaRPr sz="2400" b="1" i="0">
              <a:solidFill>
                <a:srgbClr val="000000"/>
              </a:solidFill>
              <a:latin typeface="Arial"/>
              <a:ea typeface="Arial"/>
              <a:cs typeface="Arial"/>
            </a:endParaRP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ΔY = 4 × £60m = £240m</a:t>
            </a:r>
          </a:p>
        </p:txBody>
      </p:sp>
    </p:spTree>
    <p:extLst>
      <p:ext uri="{BB962C8B-B14F-4D97-AF65-F5344CB8AC3E}">
        <p14:creationId xmlns:p14="http://schemas.microsoft.com/office/powerpoint/2010/main" val="4784236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2-title">
            <a:extLst xmlns:a="http://schemas.openxmlformats.org/drawingml/2006/main">
              <a:ext uri="{FF2B5EF4-FFF2-40B4-BE49-F238E27FC236}">
                <a16:creationId xmlns:a16="http://schemas.microsoft.com/office/drawing/2014/main" id="{E07225DA-120E-455E-BA82-EA065B2E1833}"/>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B: open economy with government</a:t>
            </a:r>
          </a:p>
        </p:txBody>
      </p:sp>
      <p:sp>
        <p:nvSpPr>
          <p:cNvPr id="3" name="Rectangle 2">
            <a:extLst xmlns:a="http://schemas.openxmlformats.org/drawingml/2006/main">
              <a:ext uri="{FF2B5EF4-FFF2-40B4-BE49-F238E27FC236}">
                <a16:creationId xmlns:a16="http://schemas.microsoft.com/office/drawing/2014/main" id="{42442838-0020-4872-A4B0-BE9653170A2E}"/>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A7498B18-508A-4A09-9A74-71FA8ACE1776}"/>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22</a:t>
            </a:r>
          </a:p>
        </p:txBody>
      </p:sp>
      <p:sp>
        <p:nvSpPr>
          <p:cNvPr id="5" name="Rectangle 4">
            <a:extLst xmlns:a="http://schemas.openxmlformats.org/drawingml/2006/main">
              <a:ext uri="{FF2B5EF4-FFF2-40B4-BE49-F238E27FC236}">
                <a16:creationId xmlns:a16="http://schemas.microsoft.com/office/drawing/2014/main" id="{251E8996-3CFA-467E-A04D-740E4A272695}"/>
              </a:ext>
            </a:extLst>
          </p:cNvPr>
          <p:cNvSpPr>
            <a:spLocks xmlns:a="http://schemas.openxmlformats.org/drawingml/2006/main" noGrp="1"/>
          </p:cNvSpPr>
          <p:nvPr/>
        </p:nvSpPr>
        <p:spPr>
          <a:xfrm xmlns:a="http://schemas.openxmlformats.org/drawingml/2006/main">
            <a:off x="666750" y="1666875"/>
            <a:ext cx="4762500" cy="36195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DE8F546D-2BF8-4567-B583-D6771F5800AF}"/>
              </a:ext>
            </a:extLst>
          </p:cNvPr>
          <p:cNvSpPr>
            <a:spLocks xmlns:a="http://schemas.openxmlformats.org/drawingml/2006/main" noGrp="1"/>
          </p:cNvSpPr>
          <p:nvPr/>
        </p:nvSpPr>
        <p:spPr>
          <a:xfrm xmlns:a="http://schemas.openxmlformats.org/drawingml/2006/main">
            <a:off x="1047750" y="20478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xmlns:a="http://schemas.openxmlformats.org/drawingml/2006/main">
              <a:ext uri="{FF2B5EF4-FFF2-40B4-BE49-F238E27FC236}">
                <a16:creationId xmlns:a16="http://schemas.microsoft.com/office/drawing/2014/main" id="{477F9AF9-B64F-4CA0-8C0C-2883A583FE11}"/>
              </a:ext>
            </a:extLst>
          </p:cNvPr>
          <p:cNvSpPr>
            <a:spLocks xmlns:a="http://schemas.openxmlformats.org/drawingml/2006/main" noGrp="1"/>
          </p:cNvSpPr>
          <p:nvPr/>
        </p:nvSpPr>
        <p:spPr>
          <a:xfrm xmlns:a="http://schemas.openxmlformats.org/drawingml/2006/main">
            <a:off x="1047750" y="2524125"/>
            <a:ext cx="4000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MPS = 0.20</a:t>
            </a:r>
          </a:p>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MPM = 0.15</a:t>
            </a:r>
          </a:p>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MRT = 0.15</a:t>
            </a:r>
          </a:p>
          <a:p xmlns:a="http://schemas.openxmlformats.org/drawingml/2006/main">
            <a:endParaRPr sz="2175" b="1" i="0">
              <a:solidFill>
                <a:srgbClr val="000000"/>
              </a:solidFill>
              <a:latin typeface="Arial"/>
              <a:ea typeface="Arial"/>
              <a:cs typeface="Arial"/>
            </a:endParaRPr>
          </a:p>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Government spending rises by £90m.</a:t>
            </a:r>
          </a:p>
        </p:txBody>
      </p:sp>
      <p:sp>
        <p:nvSpPr>
          <p:cNvPr id="8" name="Rectangle 7">
            <a:extLst xmlns:a="http://schemas.openxmlformats.org/drawingml/2006/main">
              <a:ext uri="{FF2B5EF4-FFF2-40B4-BE49-F238E27FC236}">
                <a16:creationId xmlns:a16="http://schemas.microsoft.com/office/drawing/2014/main" id="{E7C8F353-71F7-4E7B-8E33-4E2DB2E959CC}"/>
              </a:ext>
            </a:extLst>
          </p:cNvPr>
          <p:cNvSpPr>
            <a:spLocks xmlns:a="http://schemas.openxmlformats.org/drawingml/2006/main" noGrp="1"/>
          </p:cNvSpPr>
          <p:nvPr/>
        </p:nvSpPr>
        <p:spPr>
          <a:xfrm xmlns:a="http://schemas.openxmlformats.org/drawingml/2006/main">
            <a:off x="6191250" y="1666875"/>
            <a:ext cx="5334000" cy="361950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7DFB1A63-CFAB-4C92-9BE8-F351E7609945}"/>
              </a:ext>
            </a:extLst>
          </p:cNvPr>
          <p:cNvSpPr>
            <a:spLocks xmlns:a="http://schemas.openxmlformats.org/drawingml/2006/main" noGrp="1"/>
          </p:cNvSpPr>
          <p:nvPr/>
        </p:nvSpPr>
        <p:spPr>
          <a:xfrm xmlns:a="http://schemas.openxmlformats.org/drawingml/2006/main">
            <a:off x="666750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xmlns:a="http://schemas.openxmlformats.org/drawingml/2006/main">
              <a:ext uri="{FF2B5EF4-FFF2-40B4-BE49-F238E27FC236}">
                <a16:creationId xmlns:a16="http://schemas.microsoft.com/office/drawing/2014/main" id="{B60ED464-4748-48C1-885B-B769655C1957}"/>
              </a:ext>
            </a:extLst>
          </p:cNvPr>
          <p:cNvSpPr>
            <a:spLocks xmlns:a="http://schemas.openxmlformats.org/drawingml/2006/main" noGrp="1"/>
          </p:cNvSpPr>
          <p:nvPr/>
        </p:nvSpPr>
        <p:spPr>
          <a:xfrm xmlns:a="http://schemas.openxmlformats.org/drawingml/2006/main">
            <a:off x="6667500" y="2571750"/>
            <a:ext cx="4381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MPW = 0.20 + 0.15 + 0.15 = 0.50</a:t>
            </a:r>
          </a:p>
          <a:p xmlns:a="http://schemas.openxmlformats.org/drawingml/2006/main">
            <a:endParaRPr sz="2250" b="1" i="0">
              <a:solidFill>
                <a:srgbClr val="000000"/>
              </a:solidFill>
              <a:latin typeface="Arial"/>
              <a:ea typeface="Arial"/>
              <a:cs typeface="Arial"/>
            </a:endParaRP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k = 1 / 0.50 = 2</a:t>
            </a:r>
          </a:p>
          <a:p xmlns:a="http://schemas.openxmlformats.org/drawingml/2006/main">
            <a:endParaRPr sz="2250" b="1" i="0">
              <a:solidFill>
                <a:srgbClr val="000000"/>
              </a:solidFill>
              <a:latin typeface="Arial"/>
              <a:ea typeface="Arial"/>
              <a:cs typeface="Arial"/>
            </a:endParaRP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ΔY = 2 × £90m = £180m</a:t>
            </a:r>
          </a:p>
        </p:txBody>
      </p:sp>
    </p:spTree>
    <p:extLst>
      <p:ext uri="{BB962C8B-B14F-4D97-AF65-F5344CB8AC3E}">
        <p14:creationId xmlns:p14="http://schemas.microsoft.com/office/powerpoint/2010/main" val="100137572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23-title">
            <a:extLst xmlns:a="http://schemas.openxmlformats.org/drawingml/2006/main">
              <a:ext uri="{FF2B5EF4-FFF2-40B4-BE49-F238E27FC236}">
                <a16:creationId xmlns:a16="http://schemas.microsoft.com/office/drawing/2014/main" id="{FC9BFC23-9B3D-4EFF-ADA2-958E2945408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Work backwards: reconstruct the total change</a:t>
            </a:r>
          </a:p>
        </p:txBody>
      </p:sp>
      <p:sp>
        <p:nvSpPr>
          <p:cNvPr id="3" name="Rectangle 2">
            <a:extLst xmlns:a="http://schemas.openxmlformats.org/drawingml/2006/main">
              <a:ext uri="{FF2B5EF4-FFF2-40B4-BE49-F238E27FC236}">
                <a16:creationId xmlns:a16="http://schemas.microsoft.com/office/drawing/2014/main" id="{849FAF19-7ADD-4D4E-B6B1-0F977DD18310}"/>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CE459E5-38C8-4D0C-802D-923832E7199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23</a:t>
            </a:r>
          </a:p>
        </p:txBody>
      </p:sp>
      <p:sp>
        <p:nvSpPr>
          <p:cNvPr id="5" name="Rectangle 4">
            <a:extLst xmlns:a="http://schemas.openxmlformats.org/drawingml/2006/main">
              <a:ext uri="{FF2B5EF4-FFF2-40B4-BE49-F238E27FC236}">
                <a16:creationId xmlns:a16="http://schemas.microsoft.com/office/drawing/2014/main" id="{5FBD971A-EAA2-4BB3-9FE9-F4D175415441}"/>
              </a:ext>
            </a:extLst>
          </p:cNvPr>
          <p:cNvSpPr>
            <a:spLocks xmlns:a="http://schemas.openxmlformats.org/drawingml/2006/main" noGrp="1"/>
          </p:cNvSpPr>
          <p:nvPr/>
        </p:nvSpPr>
        <p:spPr>
          <a:xfrm xmlns:a="http://schemas.openxmlformats.org/drawingml/2006/main">
            <a:off x="857250" y="1571625"/>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In a closed economy with no government, investment rises by £400m and consumption rises by £1,200m.</a:t>
            </a:r>
          </a:p>
        </p:txBody>
      </p:sp>
      <p:cxnSp>
        <p:nvCxnSpPr>
          <p:cNvPr id="78" name="Straight Arrow Connector 60"/>
          <p:cNvCxnSpPr/>
          <p:nvPr/>
        </p:nvCxnSpPr>
        <p:spPr>
          <a:xfrm xmlns:a="http://schemas.openxmlformats.org/drawingml/2006/main">
            <a:off x="1619250" y="3381375"/>
            <a:ext cx="8953500" cy="95"/>
          </a:xfrm>
          <a:prstGeom xmlns:a="http://schemas.openxmlformats.org/drawingml/2006/main" prst="straightConnector1">
            <a:avLst/>
          </a:prstGeom>
          <a:ln xmlns:a="http://schemas.openxmlformats.org/drawingml/2006/main" w="28575">
            <a:solidFill>
              <a:srgbClr val="B8BCC4"/>
            </a:solidFill>
            <a:prstDash val="solid"/>
          </a:ln>
        </p:spPr>
      </p:cxnSp>
      <p:sp>
        <p:nvSpPr>
          <p:cNvPr id="7" name="Oval 6">
            <a:extLst xmlns:a="http://schemas.openxmlformats.org/drawingml/2006/main">
              <a:ext uri="{FF2B5EF4-FFF2-40B4-BE49-F238E27FC236}">
                <a16:creationId xmlns:a16="http://schemas.microsoft.com/office/drawing/2014/main" id="{2A148A05-D9BC-44F3-9C78-3790A66777CF}"/>
              </a:ext>
            </a:extLst>
          </p:cNvPr>
          <p:cNvSpPr>
            <a:spLocks xmlns:a="http://schemas.openxmlformats.org/drawingml/2006/main" noGrp="1"/>
          </p:cNvSpPr>
          <p:nvPr/>
        </p:nvSpPr>
        <p:spPr>
          <a:xfrm xmlns:a="http://schemas.openxmlformats.org/drawingml/2006/main">
            <a:off x="1238250" y="2905125"/>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8" name="Rectangle 7">
            <a:extLst xmlns:a="http://schemas.openxmlformats.org/drawingml/2006/main">
              <a:ext uri="{FF2B5EF4-FFF2-40B4-BE49-F238E27FC236}">
                <a16:creationId xmlns:a16="http://schemas.microsoft.com/office/drawing/2014/main" id="{28D33796-3082-4BD4-9129-AC7B4E6A43BB}"/>
              </a:ext>
            </a:extLst>
          </p:cNvPr>
          <p:cNvSpPr>
            <a:spLocks xmlns:a="http://schemas.openxmlformats.org/drawingml/2006/main" noGrp="1"/>
          </p:cNvSpPr>
          <p:nvPr/>
        </p:nvSpPr>
        <p:spPr>
          <a:xfrm xmlns:a="http://schemas.openxmlformats.org/drawingml/2006/main">
            <a:off x="71437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INJECTION</a:t>
            </a:r>
          </a:p>
        </p:txBody>
      </p:sp>
      <p:sp>
        <p:nvSpPr>
          <p:cNvPr id="9" name="Rectangle 8">
            <a:extLst xmlns:a="http://schemas.openxmlformats.org/drawingml/2006/main">
              <a:ext uri="{FF2B5EF4-FFF2-40B4-BE49-F238E27FC236}">
                <a16:creationId xmlns:a16="http://schemas.microsoft.com/office/drawing/2014/main" id="{348999A4-5422-45A5-B56A-97A3E25A3664}"/>
              </a:ext>
            </a:extLst>
          </p:cNvPr>
          <p:cNvSpPr>
            <a:spLocks xmlns:a="http://schemas.openxmlformats.org/drawingml/2006/main" noGrp="1"/>
          </p:cNvSpPr>
          <p:nvPr/>
        </p:nvSpPr>
        <p:spPr>
          <a:xfrm xmlns:a="http://schemas.openxmlformats.org/drawingml/2006/main">
            <a:off x="57150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£400m</a:t>
            </a:r>
          </a:p>
        </p:txBody>
      </p:sp>
      <p:sp>
        <p:nvSpPr>
          <p:cNvPr id="10" name="Oval 9">
            <a:extLst xmlns:a="http://schemas.openxmlformats.org/drawingml/2006/main">
              <a:ext uri="{FF2B5EF4-FFF2-40B4-BE49-F238E27FC236}">
                <a16:creationId xmlns:a16="http://schemas.microsoft.com/office/drawing/2014/main" id="{10AA7DD8-8CEA-4BCF-B16F-01C98E16FE3B}"/>
              </a:ext>
            </a:extLst>
          </p:cNvPr>
          <p:cNvSpPr>
            <a:spLocks xmlns:a="http://schemas.openxmlformats.org/drawingml/2006/main" noGrp="1"/>
          </p:cNvSpPr>
          <p:nvPr/>
        </p:nvSpPr>
        <p:spPr>
          <a:xfrm xmlns:a="http://schemas.openxmlformats.org/drawingml/2006/main">
            <a:off x="4191000" y="2905125"/>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1" name="Rectangle 10">
            <a:extLst xmlns:a="http://schemas.openxmlformats.org/drawingml/2006/main">
              <a:ext uri="{FF2B5EF4-FFF2-40B4-BE49-F238E27FC236}">
                <a16:creationId xmlns:a16="http://schemas.microsoft.com/office/drawing/2014/main" id="{03949470-50FE-4254-86D1-AE6BAACEF825}"/>
              </a:ext>
            </a:extLst>
          </p:cNvPr>
          <p:cNvSpPr>
            <a:spLocks xmlns:a="http://schemas.openxmlformats.org/drawingml/2006/main" noGrp="1"/>
          </p:cNvSpPr>
          <p:nvPr/>
        </p:nvSpPr>
        <p:spPr>
          <a:xfrm xmlns:a="http://schemas.openxmlformats.org/drawingml/2006/main">
            <a:off x="366712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INDUCED C</a:t>
            </a:r>
          </a:p>
        </p:txBody>
      </p:sp>
      <p:sp>
        <p:nvSpPr>
          <p:cNvPr id="12" name="Rectangle 11">
            <a:extLst xmlns:a="http://schemas.openxmlformats.org/drawingml/2006/main">
              <a:ext uri="{FF2B5EF4-FFF2-40B4-BE49-F238E27FC236}">
                <a16:creationId xmlns:a16="http://schemas.microsoft.com/office/drawing/2014/main" id="{58322866-639C-4F07-96F8-58482DACFD36}"/>
              </a:ext>
            </a:extLst>
          </p:cNvPr>
          <p:cNvSpPr>
            <a:spLocks xmlns:a="http://schemas.openxmlformats.org/drawingml/2006/main" noGrp="1"/>
          </p:cNvSpPr>
          <p:nvPr/>
        </p:nvSpPr>
        <p:spPr>
          <a:xfrm xmlns:a="http://schemas.openxmlformats.org/drawingml/2006/main">
            <a:off x="352425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£1,200m</a:t>
            </a:r>
          </a:p>
        </p:txBody>
      </p:sp>
      <p:sp>
        <p:nvSpPr>
          <p:cNvPr id="13" name="Oval 12">
            <a:extLst xmlns:a="http://schemas.openxmlformats.org/drawingml/2006/main">
              <a:ext uri="{FF2B5EF4-FFF2-40B4-BE49-F238E27FC236}">
                <a16:creationId xmlns:a16="http://schemas.microsoft.com/office/drawing/2014/main" id="{43AD14F2-A36A-4DD8-8B41-DCCE53138814}"/>
              </a:ext>
            </a:extLst>
          </p:cNvPr>
          <p:cNvSpPr>
            <a:spLocks xmlns:a="http://schemas.openxmlformats.org/drawingml/2006/main" noGrp="1"/>
          </p:cNvSpPr>
          <p:nvPr/>
        </p:nvSpPr>
        <p:spPr>
          <a:xfrm xmlns:a="http://schemas.openxmlformats.org/drawingml/2006/main">
            <a:off x="7143750" y="2905125"/>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4" name="Rectangle 13">
            <a:extLst xmlns:a="http://schemas.openxmlformats.org/drawingml/2006/main">
              <a:ext uri="{FF2B5EF4-FFF2-40B4-BE49-F238E27FC236}">
                <a16:creationId xmlns:a16="http://schemas.microsoft.com/office/drawing/2014/main" id="{E413A01A-CA7F-414F-81D6-61B398F1408C}"/>
              </a:ext>
            </a:extLst>
          </p:cNvPr>
          <p:cNvSpPr>
            <a:spLocks xmlns:a="http://schemas.openxmlformats.org/drawingml/2006/main" noGrp="1"/>
          </p:cNvSpPr>
          <p:nvPr/>
        </p:nvSpPr>
        <p:spPr>
          <a:xfrm xmlns:a="http://schemas.openxmlformats.org/drawingml/2006/main">
            <a:off x="661987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TOTAL ΔY</a:t>
            </a:r>
          </a:p>
        </p:txBody>
      </p:sp>
      <p:sp>
        <p:nvSpPr>
          <p:cNvPr id="15" name="Rectangle 14">
            <a:extLst xmlns:a="http://schemas.openxmlformats.org/drawingml/2006/main">
              <a:ext uri="{FF2B5EF4-FFF2-40B4-BE49-F238E27FC236}">
                <a16:creationId xmlns:a16="http://schemas.microsoft.com/office/drawing/2014/main" id="{9D577C2F-77D4-4DDA-8962-E7A9C59F4F9A}"/>
              </a:ext>
            </a:extLst>
          </p:cNvPr>
          <p:cNvSpPr>
            <a:spLocks xmlns:a="http://schemas.openxmlformats.org/drawingml/2006/main" noGrp="1"/>
          </p:cNvSpPr>
          <p:nvPr/>
        </p:nvSpPr>
        <p:spPr>
          <a:xfrm xmlns:a="http://schemas.openxmlformats.org/drawingml/2006/main">
            <a:off x="647700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£1,600m</a:t>
            </a:r>
          </a:p>
        </p:txBody>
      </p:sp>
      <p:sp>
        <p:nvSpPr>
          <p:cNvPr id="16" name="Oval 15">
            <a:extLst xmlns:a="http://schemas.openxmlformats.org/drawingml/2006/main">
              <a:ext uri="{FF2B5EF4-FFF2-40B4-BE49-F238E27FC236}">
                <a16:creationId xmlns:a16="http://schemas.microsoft.com/office/drawing/2014/main" id="{06D1F5FB-1115-4981-AFEF-EEC0608EB87F}"/>
              </a:ext>
            </a:extLst>
          </p:cNvPr>
          <p:cNvSpPr>
            <a:spLocks xmlns:a="http://schemas.openxmlformats.org/drawingml/2006/main" noGrp="1"/>
          </p:cNvSpPr>
          <p:nvPr/>
        </p:nvSpPr>
        <p:spPr>
          <a:xfrm xmlns:a="http://schemas.openxmlformats.org/drawingml/2006/main">
            <a:off x="9715500" y="2905125"/>
            <a:ext cx="952500" cy="952500"/>
          </a:xfrm>
          <a:prstGeom xmlns:a="http://schemas.openxmlformats.org/drawingml/2006/main" prst="ellipse">
            <a:avLst/>
          </a:prstGeom>
          <a:solidFill xmlns:a="http://schemas.openxmlformats.org/drawingml/2006/main">
            <a:srgbClr val="EAF6EF"/>
          </a:solidFill>
          <a:ln xmlns:a="http://schemas.openxmlformats.org/drawingml/2006/main" w="9525">
            <a:solidFill>
              <a:srgbClr val="2B9A6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7" name="Rectangle 16">
            <a:extLst xmlns:a="http://schemas.openxmlformats.org/drawingml/2006/main">
              <a:ext uri="{FF2B5EF4-FFF2-40B4-BE49-F238E27FC236}">
                <a16:creationId xmlns:a16="http://schemas.microsoft.com/office/drawing/2014/main" id="{32A4B055-A80F-4852-90CE-45A8A6199DC7}"/>
              </a:ext>
            </a:extLst>
          </p:cNvPr>
          <p:cNvSpPr>
            <a:spLocks xmlns:a="http://schemas.openxmlformats.org/drawingml/2006/main" noGrp="1"/>
          </p:cNvSpPr>
          <p:nvPr/>
        </p:nvSpPr>
        <p:spPr>
          <a:xfrm xmlns:a="http://schemas.openxmlformats.org/drawingml/2006/main">
            <a:off x="919162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MULTIPLIER</a:t>
            </a:r>
          </a:p>
        </p:txBody>
      </p:sp>
      <p:sp>
        <p:nvSpPr>
          <p:cNvPr id="18" name="Rectangle 17">
            <a:extLst xmlns:a="http://schemas.openxmlformats.org/drawingml/2006/main">
              <a:ext uri="{FF2B5EF4-FFF2-40B4-BE49-F238E27FC236}">
                <a16:creationId xmlns:a16="http://schemas.microsoft.com/office/drawing/2014/main" id="{C0AA5310-6480-4364-8F1B-90ADE80040E7}"/>
              </a:ext>
            </a:extLst>
          </p:cNvPr>
          <p:cNvSpPr>
            <a:spLocks xmlns:a="http://schemas.openxmlformats.org/drawingml/2006/main" noGrp="1"/>
          </p:cNvSpPr>
          <p:nvPr/>
        </p:nvSpPr>
        <p:spPr>
          <a:xfrm xmlns:a="http://schemas.openxmlformats.org/drawingml/2006/main">
            <a:off x="904875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1,600 / 400 = 4</a:t>
            </a:r>
          </a:p>
        </p:txBody>
      </p:sp>
      <p:sp>
        <p:nvSpPr>
          <p:cNvPr id="19" name="Rectangle 18">
            <a:extLst xmlns:a="http://schemas.openxmlformats.org/drawingml/2006/main">
              <a:ext uri="{FF2B5EF4-FFF2-40B4-BE49-F238E27FC236}">
                <a16:creationId xmlns:a16="http://schemas.microsoft.com/office/drawing/2014/main" id="{8E326908-BED1-428A-9240-6DD75913A540}"/>
              </a:ext>
            </a:extLst>
          </p:cNvPr>
          <p:cNvSpPr>
            <a:spLocks xmlns:a="http://schemas.openxmlformats.org/drawingml/2006/main" noGrp="1"/>
          </p:cNvSpPr>
          <p:nvPr/>
        </p:nvSpPr>
        <p:spPr>
          <a:xfrm xmlns:a="http://schemas.openxmlformats.org/drawingml/2006/main">
            <a:off x="2857500" y="5762625"/>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Then MPS = 1/k = 0.25 and MPC = 0.75.</a:t>
            </a:r>
          </a:p>
        </p:txBody>
      </p:sp>
    </p:spTree>
    <p:extLst>
      <p:ext uri="{BB962C8B-B14F-4D97-AF65-F5344CB8AC3E}">
        <p14:creationId xmlns:p14="http://schemas.microsoft.com/office/powerpoint/2010/main" val="1510802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7-title">
            <a:extLst xmlns:a="http://schemas.openxmlformats.org/drawingml/2006/main">
              <a:ext uri="{FF2B5EF4-FFF2-40B4-BE49-F238E27FC236}">
                <a16:creationId xmlns:a16="http://schemas.microsoft.com/office/drawing/2014/main" id="{1F5E8E51-9152-4D25-AE91-80C54A243B76}"/>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buNone/>
              <a:defRPr sz="3600" b="1" i="0">
                <a:solidFill>
                  <a:srgbClr val="000000"/>
                </a:solidFill>
                <a:latin typeface="Arial"/>
                <a:ea typeface="Arial"/>
                <a:cs typeface="Arial"/>
              </a:defRPr>
            </a:pPr>
            <a:r>
              <a:rPr sz="3600" b="1" i="0">
                <a:solidFill>
                  <a:srgbClr val="000000"/>
                </a:solidFill>
                <a:latin typeface="Arial"/>
                <a:ea typeface="Arial"/>
                <a:cs typeface="Arial"/>
              </a:rPr>
              <a:t>Recall from </a:t>
            </a:r>
            <a:r>
              <a:rPr sz="3600" b="1">
                <a:solidFill>
                  <a:srgbClr val="000000"/>
                </a:solidFill>
                <a:latin typeface="Arial"/>
                <a:ea typeface="Arial"/>
                <a:cs typeface="Arial"/>
              </a:rPr>
              <a:t>l</a:t>
            </a:r>
            <a:r>
              <a:rPr sz="3600" b="1" i="0">
                <a:solidFill>
                  <a:srgbClr val="000000"/>
                </a:solidFill>
                <a:latin typeface="Arial"/>
                <a:ea typeface="Arial"/>
                <a:cs typeface="Arial"/>
              </a:rPr>
              <a:t>ast lesson</a:t>
            </a:r>
          </a:p>
        </p:txBody>
      </p:sp>
      <p:sp>
        <p:nvSpPr>
          <p:cNvPr id="3" name="Rectangle 2">
            <a:extLst xmlns:a="http://schemas.openxmlformats.org/drawingml/2006/main">
              <a:ext uri="{FF2B5EF4-FFF2-40B4-BE49-F238E27FC236}">
                <a16:creationId xmlns:a16="http://schemas.microsoft.com/office/drawing/2014/main" id="{6ECB88C5-5C0A-4DCB-B406-D9E595B3AE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1911F5CE-1108-427A-A036-71CB087F303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17</a:t>
            </a:r>
          </a:p>
        </p:txBody>
      </p:sp>
      <p:sp>
        <p:nvSpPr>
          <p:cNvPr id="5" name="Rectangle 4">
            <a:extLst xmlns:a="http://schemas.openxmlformats.org/drawingml/2006/main">
              <a:ext uri="{FF2B5EF4-FFF2-40B4-BE49-F238E27FC236}">
                <a16:creationId xmlns:a16="http://schemas.microsoft.com/office/drawing/2014/main" id="{1F5D9A02-B402-4038-B4D0-A3450121F994}"/>
              </a:ext>
            </a:extLst>
          </p:cNvPr>
          <p:cNvSpPr>
            <a:spLocks xmlns:a="http://schemas.openxmlformats.org/drawingml/2006/main" noGrp="1"/>
          </p:cNvSpPr>
          <p:nvPr/>
        </p:nvSpPr>
        <p:spPr>
          <a:xfrm xmlns:a="http://schemas.openxmlformats.org/drawingml/2006/main">
            <a:off x="666750" y="1666875"/>
            <a:ext cx="5143500" cy="371475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A4C4D33E-3B06-4CC3-9505-EC155B259C47}"/>
              </a:ext>
            </a:extLst>
          </p:cNvPr>
          <p:cNvSpPr>
            <a:spLocks xmlns:a="http://schemas.openxmlformats.org/drawingml/2006/main" noGrp="1"/>
          </p:cNvSpPr>
          <p:nvPr/>
        </p:nvSpPr>
        <p:spPr>
          <a:xfrm xmlns:a="http://schemas.openxmlformats.org/drawingml/2006/main">
            <a:off x="1047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RECALL</a:t>
            </a:r>
          </a:p>
        </p:txBody>
      </p:sp>
      <p:sp>
        <p:nvSpPr>
          <p:cNvPr id="7" name="Rectangle 6">
            <a:extLst xmlns:a="http://schemas.openxmlformats.org/drawingml/2006/main">
              <a:ext uri="{FF2B5EF4-FFF2-40B4-BE49-F238E27FC236}">
                <a16:creationId xmlns:a16="http://schemas.microsoft.com/office/drawing/2014/main" id="{33620425-9C0E-45ED-8C26-DC650D3A0C0A}"/>
              </a:ext>
            </a:extLst>
          </p:cNvPr>
          <p:cNvSpPr>
            <a:spLocks xmlns:a="http://schemas.openxmlformats.org/drawingml/2006/main" noGrp="1"/>
          </p:cNvSpPr>
          <p:nvPr/>
        </p:nvSpPr>
        <p:spPr>
          <a:xfrm xmlns:a="http://schemas.openxmlformats.org/drawingml/2006/main">
            <a:off x="1047750" y="2571750"/>
            <a:ext cx="4286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Define k.</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Write the general MPW formula.</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Name the three leakages in an open economy with government.</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State the relationship between leakages and k.</a:t>
            </a:r>
          </a:p>
        </p:txBody>
      </p:sp>
      <p:sp>
        <p:nvSpPr>
          <p:cNvPr id="8" name="Rectangle 7">
            <a:extLst xmlns:a="http://schemas.openxmlformats.org/drawingml/2006/main">
              <a:ext uri="{FF2B5EF4-FFF2-40B4-BE49-F238E27FC236}">
                <a16:creationId xmlns:a16="http://schemas.microsoft.com/office/drawing/2014/main" id="{02C52675-89C0-48A7-B8E3-6A52BA483907}"/>
              </a:ext>
            </a:extLst>
          </p:cNvPr>
          <p:cNvSpPr>
            <a:spLocks xmlns:a="http://schemas.openxmlformats.org/drawingml/2006/main" noGrp="1"/>
          </p:cNvSpPr>
          <p:nvPr/>
        </p:nvSpPr>
        <p:spPr>
          <a:xfrm xmlns:a="http://schemas.openxmlformats.org/drawingml/2006/main">
            <a:off x="6381750" y="1666875"/>
            <a:ext cx="5143500" cy="3714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62D4504D-0702-46C3-82B4-7118C0DDF17B}"/>
              </a:ext>
            </a:extLst>
          </p:cNvPr>
          <p:cNvSpPr>
            <a:spLocks xmlns:a="http://schemas.openxmlformats.org/drawingml/2006/main" noGrp="1"/>
          </p:cNvSpPr>
          <p:nvPr/>
        </p:nvSpPr>
        <p:spPr>
          <a:xfrm xmlns:a="http://schemas.openxmlformats.org/drawingml/2006/main">
            <a:off x="6762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10" name="Rectangle 9">
            <a:extLst xmlns:a="http://schemas.openxmlformats.org/drawingml/2006/main">
              <a:ext uri="{FF2B5EF4-FFF2-40B4-BE49-F238E27FC236}">
                <a16:creationId xmlns:a16="http://schemas.microsoft.com/office/drawing/2014/main" id="{A8D39BC7-19F0-4432-BF49-E11168B68A24}"/>
              </a:ext>
            </a:extLst>
          </p:cNvPr>
          <p:cNvSpPr>
            <a:spLocks xmlns:a="http://schemas.openxmlformats.org/drawingml/2006/main" noGrp="1"/>
          </p:cNvSpPr>
          <p:nvPr/>
        </p:nvSpPr>
        <p:spPr>
          <a:xfrm xmlns:a="http://schemas.openxmlformats.org/drawingml/2006/main">
            <a:off x="6762750" y="2667000"/>
            <a:ext cx="4381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MPS = 0.10</a:t>
            </a: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MPM = 0.20</a:t>
            </a: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MRT = 0.20</a:t>
            </a:r>
          </a:p>
          <a:p xmlns:a="http://schemas.openxmlformats.org/drawingml/2006/main">
            <a:pPr>
              <a:spcAft>
                <a:spcPts val="600"/>
              </a:spcAft>
              <a:buNone/>
            </a:pPr>
            <a:endParaRPr sz="2000" b="1" i="0">
              <a:solidFill>
                <a:srgbClr val="000000"/>
              </a:solidFill>
              <a:latin typeface="Arial"/>
              <a:ea typeface="Arial"/>
              <a:cs typeface="Arial"/>
            </a:endParaRP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Find MPW and k.</a:t>
            </a:r>
          </a:p>
        </p:txBody>
      </p:sp>
    </p:spTree>
    <p:extLst>
      <p:ext uri="{BB962C8B-B14F-4D97-AF65-F5344CB8AC3E}">
        <p14:creationId xmlns:p14="http://schemas.microsoft.com/office/powerpoint/2010/main" val="72823260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7-title">
            <a:extLst xmlns:a="http://schemas.openxmlformats.org/drawingml/2006/main">
              <a:ext uri="{FF2B5EF4-FFF2-40B4-BE49-F238E27FC236}">
                <a16:creationId xmlns:a16="http://schemas.microsoft.com/office/drawing/2014/main" id="{1A4A7859-199C-40A7-9F20-0C6C718175C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MPC 0.75 makes each round 25% smaller</a:t>
            </a:r>
          </a:p>
        </p:txBody>
      </p:sp>
      <p:cxnSp>
        <p:nvCxnSpPr>
          <p:cNvPr id="36"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5129D4-B078-4A4F-A213-E9597FCFF51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913195A7-56D6-4717-AD74-7E618C37935A}"/>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07</a:t>
            </a:r>
          </a:p>
        </p:txBody>
      </p:sp>
      <p:sp>
        <p:nvSpPr>
          <p:cNvPr id="5" name="Rectangle 4">
            <a:extLst xmlns:a="http://schemas.openxmlformats.org/drawingml/2006/main">
              <a:ext uri="{FF2B5EF4-FFF2-40B4-BE49-F238E27FC236}">
                <a16:creationId xmlns:a16="http://schemas.microsoft.com/office/drawing/2014/main" id="{428E79C4-76EB-4081-8E92-521DC27BB3DB}"/>
              </a:ext>
            </a:extLst>
          </p:cNvPr>
          <p:cNvSpPr>
            <a:spLocks xmlns:a="http://schemas.openxmlformats.org/drawingml/2006/main" noGrp="1"/>
          </p:cNvSpPr>
          <p:nvPr/>
        </p:nvSpPr>
        <p:spPr>
          <a:xfrm xmlns:a="http://schemas.openxmlformats.org/drawingml/2006/main">
            <a:off x="571500" y="138112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Assume a closed economy with no government and an initial investment of £100m.</a:t>
            </a:r>
          </a:p>
        </p:txBody>
      </p:sp>
      <p:graphicFrame>
        <p:nvGraphicFramePr>
          <p:cNvPr id="40" name="Table 30"/>
          <p:cNvGraphicFramePr/>
          <p:nvPr/>
        </p:nvGraphicFramePr>
        <p:xfrm>
          <a:off xmlns:a="http://schemas.openxmlformats.org/drawingml/2006/main" x="762000" y="2047875"/>
          <a:ext xmlns:a="http://schemas.openxmlformats.org/drawingml/2006/main" cx="10668000" cy="3143250"/>
        </p:xfrm>
        <a:graphic xmlns:a="http://schemas.openxmlformats.org/drawingml/2006/main">
          <a:graphicData uri="http://schemas.openxmlformats.org/drawingml/2006/table">
            <a:tbl>
              <a:tblPr/>
              <a:tblGrid>
                <a:gridCol w="1428750"/>
                <a:gridCol w="2857500"/>
                <a:gridCol w="3333750"/>
                <a:gridCol w="3048000"/>
              </a:tblGrid>
              <a:tr h="523875">
                <a:tc>
                  <a:txBody>
                    <a:bodyPr/>
                    <a:lstStyle/>
                    <a:p>
                      <a:pPr algn="ctr">
                        <a:buNone/>
                      </a:pPr>
                      <a:r>
                        <a:rPr sz="1500" b="1">
                          <a:solidFill>
                            <a:srgbClr val="FFFFFF"/>
                          </a:solidFill>
                          <a:latin typeface="Arial"/>
                          <a:ea typeface="Arial"/>
                          <a:cs typeface="Arial"/>
                        </a:rPr>
                        <a:t>Round</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Income received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Consumption next round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Saving leakage (£m)</a:t>
                      </a:r>
                    </a:p>
                  </a:txBody>
                  <a:tcPr marL="76200" marR="76200" marT="57150" marB="57150" anchor="ctr">
                    <a:solidFill>
                      <a:srgbClr val="000000"/>
                    </a:solidFill>
                  </a:tcPr>
                </a:tc>
              </a:tr>
              <a:tr h="523875">
                <a:tc>
                  <a:txBody>
                    <a:bodyPr/>
                    <a:lstStyle/>
                    <a:p>
                      <a:pPr algn="ctr">
                        <a:buNone/>
                      </a:pPr>
                      <a:r>
                        <a:rPr sz="1650">
                          <a:solidFill>
                            <a:srgbClr val="000000"/>
                          </a:solidFill>
                          <a:latin typeface="Arial"/>
                          <a:ea typeface="Arial"/>
                          <a:cs typeface="Arial"/>
                        </a:rPr>
                        <a:t>Initial</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75.00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25.00</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2</a:t>
                      </a:r>
                    </a:p>
                  </a:txBody>
                  <a:tcPr marL="76200" marR="76200" marT="47625" marB="47625" anchor="ctr"/>
                </a:tc>
                <a:tc>
                  <a:txBody>
                    <a:bodyPr/>
                    <a:lstStyle/>
                    <a:p>
                      <a:pPr algn="ctr">
                        <a:buNone/>
                      </a:pPr>
                      <a:r>
                        <a:rPr sz="1650">
                          <a:solidFill>
                            <a:srgbClr val="000000"/>
                          </a:solidFill>
                          <a:latin typeface="Arial"/>
                          <a:ea typeface="Arial"/>
                          <a:cs typeface="Arial"/>
                        </a:rPr>
                        <a:t>75.00</a:t>
                      </a:r>
                    </a:p>
                  </a:txBody>
                  <a:tcPr marL="76200" marR="76200" marT="47625" marB="47625" anchor="ctr"/>
                </a:tc>
                <a:tc>
                  <a:txBody>
                    <a:bodyPr/>
                    <a:lstStyle/>
                    <a:p>
                      <a:pPr algn="ctr">
                        <a:buNone/>
                      </a:pPr>
                      <a:r>
                        <a:rPr sz="1650">
                          <a:solidFill>
                            <a:srgbClr val="000000"/>
                          </a:solidFill>
                          <a:latin typeface="Arial"/>
                          <a:ea typeface="Arial"/>
                          <a:cs typeface="Arial"/>
                        </a:rPr>
                        <a:t>56.25</a:t>
                      </a:r>
                    </a:p>
                  </a:txBody>
                  <a:tcPr marL="76200" marR="76200" marT="47625" marB="47625" anchor="ctr"/>
                </a:tc>
                <a:tc>
                  <a:txBody>
                    <a:bodyPr/>
                    <a:lstStyle/>
                    <a:p>
                      <a:pPr algn="ctr">
                        <a:buNone/>
                      </a:pPr>
                      <a:r>
                        <a:rPr sz="1650">
                          <a:solidFill>
                            <a:srgbClr val="000000"/>
                          </a:solidFill>
                          <a:latin typeface="Arial"/>
                          <a:ea typeface="Arial"/>
                          <a:cs typeface="Arial"/>
                        </a:rPr>
                        <a:t>18.75</a:t>
                      </a:r>
                    </a:p>
                  </a:txBody>
                  <a:tcPr marL="76200" marR="76200" marT="47625" marB="47625" anchor="ctr"/>
                </a:tc>
              </a:tr>
              <a:tr h="523875">
                <a:tc>
                  <a:txBody>
                    <a:bodyPr/>
                    <a:lstStyle/>
                    <a:p>
                      <a:pPr algn="ctr">
                        <a:buNone/>
                      </a:pPr>
                      <a:r>
                        <a:rPr sz="1650">
                          <a:solidFill>
                            <a:srgbClr val="000000"/>
                          </a:solidFill>
                          <a:latin typeface="Arial"/>
                          <a:ea typeface="Arial"/>
                          <a:cs typeface="Arial"/>
                        </a:rPr>
                        <a:t>3</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56.25</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42.19</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14.06</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4</a:t>
                      </a:r>
                    </a:p>
                  </a:txBody>
                  <a:tcPr marL="76200" marR="76200" marT="47625" marB="47625" anchor="ctr"/>
                </a:tc>
                <a:tc>
                  <a:txBody>
                    <a:bodyPr/>
                    <a:lstStyle/>
                    <a:p>
                      <a:pPr algn="ctr">
                        <a:buNone/>
                      </a:pPr>
                      <a:r>
                        <a:rPr sz="1650">
                          <a:solidFill>
                            <a:srgbClr val="000000"/>
                          </a:solidFill>
                          <a:latin typeface="Arial"/>
                          <a:ea typeface="Arial"/>
                          <a:cs typeface="Arial"/>
                        </a:rPr>
                        <a:t>42.19</a:t>
                      </a:r>
                    </a:p>
                  </a:txBody>
                  <a:tcPr marL="76200" marR="76200" marT="47625" marB="47625" anchor="ctr"/>
                </a:tc>
                <a:tc>
                  <a:txBody>
                    <a:bodyPr/>
                    <a:lstStyle/>
                    <a:p>
                      <a:pPr algn="ctr">
                        <a:buNone/>
                      </a:pPr>
                      <a:r>
                        <a:rPr sz="1650">
                          <a:solidFill>
                            <a:srgbClr val="000000"/>
                          </a:solidFill>
                          <a:latin typeface="Arial"/>
                          <a:ea typeface="Arial"/>
                          <a:cs typeface="Arial"/>
                        </a:rPr>
                        <a:t>31.64</a:t>
                      </a:r>
                    </a:p>
                  </a:txBody>
                  <a:tcPr marL="76200" marR="76200" marT="47625" marB="47625" anchor="ctr"/>
                </a:tc>
                <a:tc>
                  <a:txBody>
                    <a:bodyPr/>
                    <a:lstStyle/>
                    <a:p>
                      <a:pPr algn="ctr">
                        <a:buNone/>
                      </a:pPr>
                      <a:r>
                        <a:rPr sz="1650">
                          <a:solidFill>
                            <a:srgbClr val="000000"/>
                          </a:solidFill>
                          <a:latin typeface="Arial"/>
                          <a:ea typeface="Arial"/>
                          <a:cs typeface="Arial"/>
                        </a:rPr>
                        <a:t>10.55</a:t>
                      </a:r>
                    </a:p>
                  </a:txBody>
                  <a:tcPr marL="76200" marR="76200" marT="47625" marB="47625" anchor="ctr"/>
                </a:tc>
              </a:tr>
              <a:tr h="523875">
                <a:tc>
                  <a:txBody>
                    <a:bodyPr/>
                    <a:lstStyle/>
                    <a:p>
                      <a:pPr algn="ctr">
                        <a:buNone/>
                      </a:pPr>
                      <a:r>
                        <a:rPr sz="1650">
                          <a:solidFill>
                            <a:srgbClr val="000000"/>
                          </a:solidFill>
                          <a:latin typeface="Arial"/>
                          <a:ea typeface="Arial"/>
                          <a:cs typeface="Arial"/>
                        </a:rPr>
                        <a:t>…</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smaller each round</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r>
            </a:tbl>
          </a:graphicData>
        </a:graphic>
      </p:graphicFrame>
      <p:sp>
        <p:nvSpPr>
          <p:cNvPr id="7" name="Rectangle 6">
            <a:extLst xmlns:a="http://schemas.openxmlformats.org/drawingml/2006/main">
              <a:ext uri="{FF2B5EF4-FFF2-40B4-BE49-F238E27FC236}">
                <a16:creationId xmlns:a16="http://schemas.microsoft.com/office/drawing/2014/main" id="{D86C3CE2-0D32-4876-931D-9F6DDE7D5C7F}"/>
              </a:ext>
            </a:extLst>
          </p:cNvPr>
          <p:cNvSpPr>
            <a:spLocks xmlns:a="http://schemas.openxmlformats.org/drawingml/2006/main" noGrp="1"/>
          </p:cNvSpPr>
          <p:nvPr/>
        </p:nvSpPr>
        <p:spPr>
          <a:xfrm xmlns:a="http://schemas.openxmlformats.org/drawingml/2006/main">
            <a:off x="1143000" y="552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3D8DFF"/>
                </a:solidFill>
                <a:latin typeface="Arial"/>
                <a:ea typeface="Arial"/>
                <a:cs typeface="Arial"/>
              </a:defRPr>
            </a:pPr>
            <a:r>
              <a:rPr sz="2100" b="1" i="0">
                <a:solidFill>
                  <a:srgbClr val="3D8DFF"/>
                </a:solidFill>
                <a:latin typeface="Arial"/>
                <a:ea typeface="Arial"/>
                <a:cs typeface="Arial"/>
              </a:rPr>
              <a:t>The total converges to £400m: 100 + 75 + 56.25 + …</a:t>
            </a:r>
          </a:p>
        </p:txBody>
      </p:sp>
    </p:spTree>
    <p:extLst>
      <p:ext uri="{BB962C8B-B14F-4D97-AF65-F5344CB8AC3E}">
        <p14:creationId xmlns:p14="http://schemas.microsoft.com/office/powerpoint/2010/main" val="437758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7-title">
            <a:extLst xmlns:a="http://schemas.openxmlformats.org/drawingml/2006/main">
              <a:ext uri="{FF2B5EF4-FFF2-40B4-BE49-F238E27FC236}">
                <a16:creationId xmlns:a16="http://schemas.microsoft.com/office/drawing/2014/main" id="{1A4A7859-199C-40A7-9F20-0C6C718175C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MPC 0.75 makes each round 25% smaller</a:t>
            </a:r>
          </a:p>
        </p:txBody>
      </p:sp>
      <p:cxnSp>
        <p:nvCxnSpPr>
          <p:cNvPr id="36"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5129D4-B078-4A4F-A213-E9597FCFF51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913195A7-56D6-4717-AD74-7E618C37935A}"/>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07</a:t>
            </a:r>
          </a:p>
        </p:txBody>
      </p:sp>
      <p:sp>
        <p:nvSpPr>
          <p:cNvPr id="5" name="Rectangle 4">
            <a:extLst xmlns:a="http://schemas.openxmlformats.org/drawingml/2006/main">
              <a:ext uri="{FF2B5EF4-FFF2-40B4-BE49-F238E27FC236}">
                <a16:creationId xmlns:a16="http://schemas.microsoft.com/office/drawing/2014/main" id="{428E79C4-76EB-4081-8E92-521DC27BB3DB}"/>
              </a:ext>
            </a:extLst>
          </p:cNvPr>
          <p:cNvSpPr>
            <a:spLocks xmlns:a="http://schemas.openxmlformats.org/drawingml/2006/main" noGrp="1"/>
          </p:cNvSpPr>
          <p:nvPr/>
        </p:nvSpPr>
        <p:spPr>
          <a:xfrm xmlns:a="http://schemas.openxmlformats.org/drawingml/2006/main">
            <a:off x="571500" y="138112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Assume a closed economy with no government and an initial investment of £100m.</a:t>
            </a:r>
          </a:p>
        </p:txBody>
      </p:sp>
      <p:graphicFrame>
        <p:nvGraphicFramePr>
          <p:cNvPr id="40" name="Table 30"/>
          <p:cNvGraphicFramePr/>
          <p:nvPr/>
        </p:nvGraphicFramePr>
        <p:xfrm>
          <a:off xmlns:a="http://schemas.openxmlformats.org/drawingml/2006/main" x="762000" y="2047875"/>
          <a:ext xmlns:a="http://schemas.openxmlformats.org/drawingml/2006/main" cx="10668000" cy="3143250"/>
        </p:xfrm>
        <a:graphic xmlns:a="http://schemas.openxmlformats.org/drawingml/2006/main">
          <a:graphicData uri="http://schemas.openxmlformats.org/drawingml/2006/table">
            <a:tbl>
              <a:tblPr/>
              <a:tblGrid>
                <a:gridCol w="1428750"/>
                <a:gridCol w="2857500"/>
                <a:gridCol w="3333750"/>
                <a:gridCol w="3048000"/>
              </a:tblGrid>
              <a:tr h="523875">
                <a:tc>
                  <a:txBody>
                    <a:bodyPr/>
                    <a:lstStyle/>
                    <a:p>
                      <a:pPr algn="ctr">
                        <a:buNone/>
                      </a:pPr>
                      <a:r>
                        <a:rPr sz="1500" b="1">
                          <a:solidFill>
                            <a:srgbClr val="FFFFFF"/>
                          </a:solidFill>
                          <a:latin typeface="Arial"/>
                          <a:ea typeface="Arial"/>
                          <a:cs typeface="Arial"/>
                        </a:rPr>
                        <a:t>Round</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Income received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Consumption next round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Saving leakage (£m)</a:t>
                      </a:r>
                    </a:p>
                  </a:txBody>
                  <a:tcPr marL="76200" marR="76200" marT="57150" marB="57150" anchor="ctr">
                    <a:solidFill>
                      <a:srgbClr val="000000"/>
                    </a:solidFill>
                  </a:tcPr>
                </a:tc>
              </a:tr>
              <a:tr h="523875">
                <a:tc>
                  <a:txBody>
                    <a:bodyPr/>
                    <a:lstStyle/>
                    <a:p>
                      <a:pPr algn="ctr">
                        <a:buNone/>
                      </a:pPr>
                      <a:r>
                        <a:rPr sz="1650">
                          <a:solidFill>
                            <a:srgbClr val="000000"/>
                          </a:solidFill>
                          <a:latin typeface="Arial"/>
                          <a:ea typeface="Arial"/>
                          <a:cs typeface="Arial"/>
                        </a:rPr>
                        <a:t>Initial</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75.00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25.00</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2</a:t>
                      </a:r>
                    </a:p>
                  </a:txBody>
                  <a:tcPr marL="76200" marR="76200" marT="47625" marB="47625" anchor="ctr"/>
                </a:tc>
                <a:tc>
                  <a:txBody>
                    <a:bodyPr/>
                    <a:lstStyle/>
                    <a:p>
                      <a:pPr algn="ctr">
                        <a:buNone/>
                      </a:pPr>
                      <a:r>
                        <a:rPr sz="1650">
                          <a:solidFill>
                            <a:srgbClr val="000000"/>
                          </a:solidFill>
                          <a:latin typeface="Arial"/>
                          <a:ea typeface="Arial"/>
                          <a:cs typeface="Arial"/>
                        </a:rPr>
                        <a:t>75.00</a:t>
                      </a:r>
                    </a:p>
                  </a:txBody>
                  <a:tcPr marL="76200" marR="76200" marT="47625" marB="47625" anchor="ctr"/>
                </a:tc>
                <a:tc>
                  <a:txBody>
                    <a:bodyPr/>
                    <a:lstStyle/>
                    <a:p>
                      <a:pPr algn="ctr">
                        <a:buNone/>
                      </a:pPr>
                      <a:r>
                        <a:rPr sz="1650">
                          <a:solidFill>
                            <a:srgbClr val="000000"/>
                          </a:solidFill>
                          <a:latin typeface="Arial"/>
                          <a:ea typeface="Arial"/>
                          <a:cs typeface="Arial"/>
                        </a:rPr>
                        <a:t>56.25</a:t>
                      </a:r>
                    </a:p>
                  </a:txBody>
                  <a:tcPr marL="76200" marR="76200" marT="47625" marB="47625" anchor="ctr"/>
                </a:tc>
                <a:tc>
                  <a:txBody>
                    <a:bodyPr/>
                    <a:lstStyle/>
                    <a:p>
                      <a:pPr algn="ctr">
                        <a:buNone/>
                      </a:pPr>
                      <a:r>
                        <a:rPr sz="1650">
                          <a:solidFill>
                            <a:srgbClr val="000000"/>
                          </a:solidFill>
                          <a:latin typeface="Arial"/>
                          <a:ea typeface="Arial"/>
                          <a:cs typeface="Arial"/>
                        </a:rPr>
                        <a:t>18.75</a:t>
                      </a:r>
                    </a:p>
                  </a:txBody>
                  <a:tcPr marL="76200" marR="76200" marT="47625" marB="47625" anchor="ctr"/>
                </a:tc>
              </a:tr>
              <a:tr h="523875">
                <a:tc>
                  <a:txBody>
                    <a:bodyPr/>
                    <a:lstStyle/>
                    <a:p>
                      <a:pPr algn="ctr">
                        <a:buNone/>
                      </a:pPr>
                      <a:r>
                        <a:rPr sz="1650">
                          <a:solidFill>
                            <a:srgbClr val="000000"/>
                          </a:solidFill>
                          <a:latin typeface="Arial"/>
                          <a:ea typeface="Arial"/>
                          <a:cs typeface="Arial"/>
                        </a:rPr>
                        <a:t>3</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56.25</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42.19</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14.06</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4</a:t>
                      </a:r>
                    </a:p>
                  </a:txBody>
                  <a:tcPr marL="76200" marR="76200" marT="47625" marB="47625" anchor="ctr"/>
                </a:tc>
                <a:tc>
                  <a:txBody>
                    <a:bodyPr/>
                    <a:lstStyle/>
                    <a:p>
                      <a:pPr algn="ctr">
                        <a:buNone/>
                      </a:pPr>
                      <a:r>
                        <a:rPr sz="1650">
                          <a:solidFill>
                            <a:srgbClr val="000000"/>
                          </a:solidFill>
                          <a:latin typeface="Arial"/>
                          <a:ea typeface="Arial"/>
                          <a:cs typeface="Arial"/>
                        </a:rPr>
                        <a:t>42.19</a:t>
                      </a:r>
                    </a:p>
                  </a:txBody>
                  <a:tcPr marL="76200" marR="76200" marT="47625" marB="47625" anchor="ctr"/>
                </a:tc>
                <a:tc>
                  <a:txBody>
                    <a:bodyPr/>
                    <a:lstStyle/>
                    <a:p>
                      <a:pPr algn="ctr">
                        <a:buNone/>
                      </a:pPr>
                      <a:r>
                        <a:rPr sz="1650">
                          <a:solidFill>
                            <a:srgbClr val="000000"/>
                          </a:solidFill>
                          <a:latin typeface="Arial"/>
                          <a:ea typeface="Arial"/>
                          <a:cs typeface="Arial"/>
                        </a:rPr>
                        <a:t>31.64</a:t>
                      </a:r>
                    </a:p>
                  </a:txBody>
                  <a:tcPr marL="76200" marR="76200" marT="47625" marB="47625" anchor="ctr"/>
                </a:tc>
                <a:tc>
                  <a:txBody>
                    <a:bodyPr/>
                    <a:lstStyle/>
                    <a:p>
                      <a:pPr algn="ctr">
                        <a:buNone/>
                      </a:pPr>
                      <a:r>
                        <a:rPr sz="1650">
                          <a:solidFill>
                            <a:srgbClr val="000000"/>
                          </a:solidFill>
                          <a:latin typeface="Arial"/>
                          <a:ea typeface="Arial"/>
                          <a:cs typeface="Arial"/>
                        </a:rPr>
                        <a:t>10.55</a:t>
                      </a:r>
                    </a:p>
                  </a:txBody>
                  <a:tcPr marL="76200" marR="76200" marT="47625" marB="47625" anchor="ctr"/>
                </a:tc>
              </a:tr>
              <a:tr h="523875">
                <a:tc>
                  <a:txBody>
                    <a:bodyPr/>
                    <a:lstStyle/>
                    <a:p>
                      <a:pPr algn="ctr">
                        <a:buNone/>
                      </a:pPr>
                      <a:r>
                        <a:rPr sz="1650">
                          <a:solidFill>
                            <a:srgbClr val="000000"/>
                          </a:solidFill>
                          <a:latin typeface="Arial"/>
                          <a:ea typeface="Arial"/>
                          <a:cs typeface="Arial"/>
                        </a:rPr>
                        <a:t>…</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smaller each round</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r>
            </a:tbl>
          </a:graphicData>
        </a:graphic>
      </p:graphicFrame>
      <p:sp>
        <p:nvSpPr>
          <p:cNvPr id="7" name="Rectangle 6">
            <a:extLst xmlns:a="http://schemas.openxmlformats.org/drawingml/2006/main">
              <a:ext uri="{FF2B5EF4-FFF2-40B4-BE49-F238E27FC236}">
                <a16:creationId xmlns:a16="http://schemas.microsoft.com/office/drawing/2014/main" id="{D86C3CE2-0D32-4876-931D-9F6DDE7D5C7F}"/>
              </a:ext>
            </a:extLst>
          </p:cNvPr>
          <p:cNvSpPr>
            <a:spLocks xmlns:a="http://schemas.openxmlformats.org/drawingml/2006/main" noGrp="1"/>
          </p:cNvSpPr>
          <p:nvPr/>
        </p:nvSpPr>
        <p:spPr>
          <a:xfrm xmlns:a="http://schemas.openxmlformats.org/drawingml/2006/main">
            <a:off x="1143000" y="552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3D8DFF"/>
                </a:solidFill>
                <a:latin typeface="Arial"/>
                <a:ea typeface="Arial"/>
                <a:cs typeface="Arial"/>
              </a:defRPr>
            </a:pPr>
            <a:r>
              <a:rPr sz="2100" b="1" i="0">
                <a:solidFill>
                  <a:srgbClr val="3D8DFF"/>
                </a:solidFill>
                <a:latin typeface="Arial"/>
                <a:ea typeface="Arial"/>
                <a:cs typeface="Arial"/>
              </a:rPr>
              <a:t>The total converges to £400m: 100 + 75 + 56.25 + …</a:t>
            </a:r>
          </a:p>
        </p:txBody>
      </p:sp>
    </p:spTree>
    <p:extLst>
      <p:ext uri="{BB962C8B-B14F-4D97-AF65-F5344CB8AC3E}">
        <p14:creationId xmlns:p14="http://schemas.microsoft.com/office/powerpoint/2010/main" val="437758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1-title">
            <a:extLst xmlns:a="http://schemas.openxmlformats.org/drawingml/2006/main">
              <a:ext uri="{FF2B5EF4-FFF2-40B4-BE49-F238E27FC236}">
                <a16:creationId xmlns:a16="http://schemas.microsoft.com/office/drawing/2014/main" id="{6A979400-93DC-4E17-8CA5-7727CF968A8F}"/>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A: closed economy, no government</a:t>
            </a:r>
          </a:p>
        </p:txBody>
      </p:sp>
      <p:sp>
        <p:nvSpPr>
          <p:cNvPr id="3" name="Rectangle 2">
            <a:extLst xmlns:a="http://schemas.openxmlformats.org/drawingml/2006/main">
              <a:ext uri="{FF2B5EF4-FFF2-40B4-BE49-F238E27FC236}">
                <a16:creationId xmlns:a16="http://schemas.microsoft.com/office/drawing/2014/main" id="{55C6E880-0FF0-4360-BDF2-EAF5A8C4787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3263A9AB-8527-4010-966F-E5A7D1F7185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21</a:t>
            </a:r>
          </a:p>
        </p:txBody>
      </p:sp>
      <p:sp>
        <p:nvSpPr>
          <p:cNvPr id="5" name="Rectangle 4">
            <a:extLst xmlns:a="http://schemas.openxmlformats.org/drawingml/2006/main">
              <a:ext uri="{FF2B5EF4-FFF2-40B4-BE49-F238E27FC236}">
                <a16:creationId xmlns:a16="http://schemas.microsoft.com/office/drawing/2014/main" id="{58D7145C-409A-4DAE-A925-3CEC7AD70351}"/>
              </a:ext>
            </a:extLst>
          </p:cNvPr>
          <p:cNvSpPr>
            <a:spLocks xmlns:a="http://schemas.openxmlformats.org/drawingml/2006/main" noGrp="1"/>
          </p:cNvSpPr>
          <p:nvPr/>
        </p:nvSpPr>
        <p:spPr>
          <a:xfrm xmlns:a="http://schemas.openxmlformats.org/drawingml/2006/main">
            <a:off x="666750" y="1666875"/>
            <a:ext cx="4762500" cy="36195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57840AFE-A9D2-44EB-8EBD-7BFA49B39B95}"/>
              </a:ext>
            </a:extLst>
          </p:cNvPr>
          <p:cNvSpPr>
            <a:spLocks xmlns:a="http://schemas.openxmlformats.org/drawingml/2006/main" noGrp="1"/>
          </p:cNvSpPr>
          <p:nvPr/>
        </p:nvSpPr>
        <p:spPr>
          <a:xfrm xmlns:a="http://schemas.openxmlformats.org/drawingml/2006/main">
            <a:off x="1047750" y="20478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xmlns:a="http://schemas.openxmlformats.org/drawingml/2006/main">
              <a:ext uri="{FF2B5EF4-FFF2-40B4-BE49-F238E27FC236}">
                <a16:creationId xmlns:a16="http://schemas.microsoft.com/office/drawing/2014/main" id="{7F59BF6C-D005-4BDB-9F4C-4F04597E8B07}"/>
              </a:ext>
            </a:extLst>
          </p:cNvPr>
          <p:cNvSpPr>
            <a:spLocks xmlns:a="http://schemas.openxmlformats.org/drawingml/2006/main" noGrp="1"/>
          </p:cNvSpPr>
          <p:nvPr/>
        </p:nvSpPr>
        <p:spPr>
          <a:xfrm xmlns:a="http://schemas.openxmlformats.org/drawingml/2006/main">
            <a:off x="1047750" y="2619375"/>
            <a:ext cx="4000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MPS = 0.25</a:t>
            </a:r>
          </a:p>
          <a:p xmlns:a="http://schemas.openxmlformats.org/drawingml/2006/main">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Investment rises by £60m.</a:t>
            </a:r>
          </a:p>
          <a:p xmlns:a="http://schemas.openxmlformats.org/drawingml/2006/main">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Find k and ΔY.</a:t>
            </a:r>
          </a:p>
        </p:txBody>
      </p:sp>
      <p:sp>
        <p:nvSpPr>
          <p:cNvPr id="8" name="Rectangle 7">
            <a:extLst xmlns:a="http://schemas.openxmlformats.org/drawingml/2006/main">
              <a:ext uri="{FF2B5EF4-FFF2-40B4-BE49-F238E27FC236}">
                <a16:creationId xmlns:a16="http://schemas.microsoft.com/office/drawing/2014/main" id="{367EF02D-CC0C-4000-A08E-8865DFAA13ED}"/>
              </a:ext>
            </a:extLst>
          </p:cNvPr>
          <p:cNvSpPr>
            <a:spLocks xmlns:a="http://schemas.openxmlformats.org/drawingml/2006/main" noGrp="1"/>
          </p:cNvSpPr>
          <p:nvPr/>
        </p:nvSpPr>
        <p:spPr>
          <a:xfrm xmlns:a="http://schemas.openxmlformats.org/drawingml/2006/main">
            <a:off x="6191250" y="1666875"/>
            <a:ext cx="5334000" cy="361950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D8E53E10-3434-47FE-BA03-131F8877DFA4}"/>
              </a:ext>
            </a:extLst>
          </p:cNvPr>
          <p:cNvSpPr>
            <a:spLocks xmlns:a="http://schemas.openxmlformats.org/drawingml/2006/main" noGrp="1"/>
          </p:cNvSpPr>
          <p:nvPr/>
        </p:nvSpPr>
        <p:spPr>
          <a:xfrm xmlns:a="http://schemas.openxmlformats.org/drawingml/2006/main">
            <a:off x="666750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xmlns:a="http://schemas.openxmlformats.org/drawingml/2006/main">
              <a:ext uri="{FF2B5EF4-FFF2-40B4-BE49-F238E27FC236}">
                <a16:creationId xmlns:a16="http://schemas.microsoft.com/office/drawing/2014/main" id="{D2CF0726-D85B-439E-8456-4FB47043A6E5}"/>
              </a:ext>
            </a:extLst>
          </p:cNvPr>
          <p:cNvSpPr>
            <a:spLocks xmlns:a="http://schemas.openxmlformats.org/drawingml/2006/main" noGrp="1"/>
          </p:cNvSpPr>
          <p:nvPr/>
        </p:nvSpPr>
        <p:spPr>
          <a:xfrm xmlns:a="http://schemas.openxmlformats.org/drawingml/2006/main">
            <a:off x="6667500" y="2571750"/>
            <a:ext cx="4381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k = 1 / MPS</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1 / 0.25</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4</a:t>
            </a:r>
          </a:p>
          <a:p xmlns:a="http://schemas.openxmlformats.org/drawingml/2006/main">
            <a:endParaRPr sz="2400" b="1" i="0">
              <a:solidFill>
                <a:srgbClr val="000000"/>
              </a:solidFill>
              <a:latin typeface="Arial"/>
              <a:ea typeface="Arial"/>
              <a:cs typeface="Arial"/>
            </a:endParaRP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ΔY = 4 × £60m = £240m</a:t>
            </a:r>
          </a:p>
        </p:txBody>
      </p:sp>
    </p:spTree>
    <p:extLst>
      <p:ext uri="{BB962C8B-B14F-4D97-AF65-F5344CB8AC3E}">
        <p14:creationId xmlns:p14="http://schemas.microsoft.com/office/powerpoint/2010/main" val="47842367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7-title">
            <a:extLst xmlns:a="http://schemas.openxmlformats.org/drawingml/2006/main">
              <a:ext uri="{FF2B5EF4-FFF2-40B4-BE49-F238E27FC236}">
                <a16:creationId xmlns:a16="http://schemas.microsoft.com/office/drawing/2014/main" id="{1F5E8E51-9152-4D25-AE91-80C54A243B76}"/>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buNone/>
              <a:defRPr sz="3600" b="1" i="0">
                <a:solidFill>
                  <a:srgbClr val="000000"/>
                </a:solidFill>
                <a:latin typeface="Arial"/>
                <a:ea typeface="Arial"/>
                <a:cs typeface="Arial"/>
              </a:defRPr>
            </a:pPr>
            <a:r>
              <a:rPr sz="3600" b="1" i="0">
                <a:solidFill>
                  <a:srgbClr val="000000"/>
                </a:solidFill>
                <a:latin typeface="Arial"/>
                <a:ea typeface="Arial"/>
                <a:cs typeface="Arial"/>
              </a:rPr>
              <a:t>Recall from </a:t>
            </a:r>
            <a:r>
              <a:rPr sz="3600" b="1">
                <a:solidFill>
                  <a:srgbClr val="000000"/>
                </a:solidFill>
                <a:latin typeface="Arial"/>
                <a:ea typeface="Arial"/>
                <a:cs typeface="Arial"/>
              </a:rPr>
              <a:t>l</a:t>
            </a:r>
            <a:r>
              <a:rPr sz="3600" b="1" i="0">
                <a:solidFill>
                  <a:srgbClr val="000000"/>
                </a:solidFill>
                <a:latin typeface="Arial"/>
                <a:ea typeface="Arial"/>
                <a:cs typeface="Arial"/>
              </a:rPr>
              <a:t>ast lesson</a:t>
            </a:r>
          </a:p>
        </p:txBody>
      </p:sp>
      <p:sp>
        <p:nvSpPr>
          <p:cNvPr id="3" name="Rectangle 2">
            <a:extLst xmlns:a="http://schemas.openxmlformats.org/drawingml/2006/main">
              <a:ext uri="{FF2B5EF4-FFF2-40B4-BE49-F238E27FC236}">
                <a16:creationId xmlns:a16="http://schemas.microsoft.com/office/drawing/2014/main" id="{6ECB88C5-5C0A-4DCB-B406-D9E595B3AE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1911F5CE-1108-427A-A036-71CB087F303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17</a:t>
            </a:r>
          </a:p>
        </p:txBody>
      </p:sp>
      <p:sp>
        <p:nvSpPr>
          <p:cNvPr id="5" name="Rectangle 4">
            <a:extLst xmlns:a="http://schemas.openxmlformats.org/drawingml/2006/main">
              <a:ext uri="{FF2B5EF4-FFF2-40B4-BE49-F238E27FC236}">
                <a16:creationId xmlns:a16="http://schemas.microsoft.com/office/drawing/2014/main" id="{1F5D9A02-B402-4038-B4D0-A3450121F994}"/>
              </a:ext>
            </a:extLst>
          </p:cNvPr>
          <p:cNvSpPr>
            <a:spLocks xmlns:a="http://schemas.openxmlformats.org/drawingml/2006/main" noGrp="1"/>
          </p:cNvSpPr>
          <p:nvPr/>
        </p:nvSpPr>
        <p:spPr>
          <a:xfrm xmlns:a="http://schemas.openxmlformats.org/drawingml/2006/main">
            <a:off x="666750" y="1666875"/>
            <a:ext cx="5143500" cy="371475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A4C4D33E-3B06-4CC3-9505-EC155B259C47}"/>
              </a:ext>
            </a:extLst>
          </p:cNvPr>
          <p:cNvSpPr>
            <a:spLocks xmlns:a="http://schemas.openxmlformats.org/drawingml/2006/main" noGrp="1"/>
          </p:cNvSpPr>
          <p:nvPr/>
        </p:nvSpPr>
        <p:spPr>
          <a:xfrm xmlns:a="http://schemas.openxmlformats.org/drawingml/2006/main">
            <a:off x="1047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RECALL</a:t>
            </a:r>
          </a:p>
        </p:txBody>
      </p:sp>
      <p:sp>
        <p:nvSpPr>
          <p:cNvPr id="7" name="Rectangle 6">
            <a:extLst xmlns:a="http://schemas.openxmlformats.org/drawingml/2006/main">
              <a:ext uri="{FF2B5EF4-FFF2-40B4-BE49-F238E27FC236}">
                <a16:creationId xmlns:a16="http://schemas.microsoft.com/office/drawing/2014/main" id="{33620425-9C0E-45ED-8C26-DC650D3A0C0A}"/>
              </a:ext>
            </a:extLst>
          </p:cNvPr>
          <p:cNvSpPr>
            <a:spLocks xmlns:a="http://schemas.openxmlformats.org/drawingml/2006/main" noGrp="1"/>
          </p:cNvSpPr>
          <p:nvPr/>
        </p:nvSpPr>
        <p:spPr>
          <a:xfrm xmlns:a="http://schemas.openxmlformats.org/drawingml/2006/main">
            <a:off x="1047750" y="2571750"/>
            <a:ext cx="4286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Define k.</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Write the general MPW formula.</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Name the three leakages in an open economy with government.</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State the relationship between leakages and k.</a:t>
            </a:r>
          </a:p>
        </p:txBody>
      </p:sp>
      <p:sp>
        <p:nvSpPr>
          <p:cNvPr id="8" name="Rectangle 7">
            <a:extLst xmlns:a="http://schemas.openxmlformats.org/drawingml/2006/main">
              <a:ext uri="{FF2B5EF4-FFF2-40B4-BE49-F238E27FC236}">
                <a16:creationId xmlns:a16="http://schemas.microsoft.com/office/drawing/2014/main" id="{02C52675-89C0-48A7-B8E3-6A52BA483907}"/>
              </a:ext>
            </a:extLst>
          </p:cNvPr>
          <p:cNvSpPr>
            <a:spLocks xmlns:a="http://schemas.openxmlformats.org/drawingml/2006/main" noGrp="1"/>
          </p:cNvSpPr>
          <p:nvPr/>
        </p:nvSpPr>
        <p:spPr>
          <a:xfrm xmlns:a="http://schemas.openxmlformats.org/drawingml/2006/main">
            <a:off x="6381750" y="1666875"/>
            <a:ext cx="5143500" cy="3714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62D4504D-0702-46C3-82B4-7118C0DDF17B}"/>
              </a:ext>
            </a:extLst>
          </p:cNvPr>
          <p:cNvSpPr>
            <a:spLocks xmlns:a="http://schemas.openxmlformats.org/drawingml/2006/main" noGrp="1"/>
          </p:cNvSpPr>
          <p:nvPr/>
        </p:nvSpPr>
        <p:spPr>
          <a:xfrm xmlns:a="http://schemas.openxmlformats.org/drawingml/2006/main">
            <a:off x="6762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10" name="Rectangle 9">
            <a:extLst xmlns:a="http://schemas.openxmlformats.org/drawingml/2006/main">
              <a:ext uri="{FF2B5EF4-FFF2-40B4-BE49-F238E27FC236}">
                <a16:creationId xmlns:a16="http://schemas.microsoft.com/office/drawing/2014/main" id="{A8D39BC7-19F0-4432-BF49-E11168B68A24}"/>
              </a:ext>
            </a:extLst>
          </p:cNvPr>
          <p:cNvSpPr>
            <a:spLocks xmlns:a="http://schemas.openxmlformats.org/drawingml/2006/main" noGrp="1"/>
          </p:cNvSpPr>
          <p:nvPr/>
        </p:nvSpPr>
        <p:spPr>
          <a:xfrm xmlns:a="http://schemas.openxmlformats.org/drawingml/2006/main">
            <a:off x="6762750" y="2667000"/>
            <a:ext cx="4381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MPS = 0.10</a:t>
            </a: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MPM = 0.20</a:t>
            </a: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MRT = 0.20</a:t>
            </a:r>
          </a:p>
          <a:p xmlns:a="http://schemas.openxmlformats.org/drawingml/2006/main">
            <a:pPr>
              <a:spcAft>
                <a:spcPts val="600"/>
              </a:spcAft>
              <a:buNone/>
            </a:pPr>
            <a:endParaRPr sz="2000" b="1" i="0">
              <a:solidFill>
                <a:srgbClr val="000000"/>
              </a:solidFill>
              <a:latin typeface="Arial"/>
              <a:ea typeface="Arial"/>
              <a:cs typeface="Arial"/>
            </a:endParaRP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Find MPW and k.</a:t>
            </a:r>
          </a:p>
        </p:txBody>
      </p:sp>
    </p:spTree>
    <p:extLst>
      <p:ext uri="{BB962C8B-B14F-4D97-AF65-F5344CB8AC3E}">
        <p14:creationId xmlns:p14="http://schemas.microsoft.com/office/powerpoint/2010/main" val="72823260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24-title">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Equilibrium returns when J = W</a:t>
            </a:r>
          </a:p>
        </p:txBody>
      </p:sp>
      <p:sp>
        <p:nvSpPr>
          <p:cNvPr id="3" name="Rectangle 2">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24" name="Straight Arrow Connector 91"/>
          <p:cNvCxnSpPr/>
          <p:nvPr/>
        </p:nvCxnSpPr>
        <p:spPr>
          <a:xfrm xmlns:a="http://schemas.openxmlformats.org/drawingml/2006/main">
            <a:off x="1143000" y="5286375"/>
            <a:ext cx="4286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a:off x="1143000" y="1762125"/>
            <a:ext cx="95" cy="3524250"/>
          </a:xfrm>
          <a:prstGeom xmlns:a="http://schemas.openxmlformats.org/drawingml/2006/main" prst="straightConnector1">
            <a:avLst/>
          </a:prstGeom>
          <a:ln xmlns:a="http://schemas.openxmlformats.org/drawingml/2006/main" w="19050">
            <a:solidFill>
              <a:srgbClr val="000000"/>
            </a:solidFill>
            <a:prstDash val="solid"/>
          </a:ln>
        </p:spPr>
      </p:cxnSp>
      <p:cxnSp>
        <p:nvCxnSpPr>
          <p:cNvPr id="126" name="Straight Arrow Connector 93"/>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19050">
            <a:solidFill>
              <a:srgbClr val="000000"/>
            </a:solidFill>
            <a:prstDash val="solid"/>
          </a:ln>
        </p:spPr>
      </p:cxnSp>
      <p:cxnSp>
        <p:nvCxnSpPr>
          <p:cNvPr id="127" name="Straight Arrow Connector 94"/>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38100">
            <a:solidFill>
              <a:srgbClr val="B8BCC4"/>
            </a:solidFill>
            <a:prstDash val="solid"/>
          </a:ln>
        </p:spPr>
      </p:cxnSp>
      <p:cxnSp>
        <p:nvCxnSpPr>
          <p:cNvPr id="128" name="Straight Arrow Connector 95"/>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38100">
            <a:solidFill>
              <a:srgbClr val="3D8DFF"/>
            </a:solidFill>
            <a:prstDash val="solid"/>
          </a:ln>
        </p:spPr>
      </p:cxnSp>
      <p:cxnSp>
        <p:nvCxnSpPr>
          <p:cNvPr id="129" name="Straight Arrow Connector 96"/>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9525">
            <a:solidFill>
              <a:srgbClr val="B8BCC4"/>
            </a:solidFill>
            <a:prstDash val="dash"/>
          </a:ln>
        </p:spPr>
      </p:cxnSp>
      <p:cxnSp>
        <p:nvCxnSpPr>
          <p:cNvPr id="130" name="Straight Arrow Connector 97"/>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9525">
            <a:solidFill>
              <a:srgbClr val="3D8DFF"/>
            </a:solidFill>
            <a:prstDash val="dash"/>
          </a:ln>
        </p:spPr>
      </p:cxnSp>
      <p:sp>
        <p:nvSpPr>
          <p:cNvPr id="12" name="Rectangle 11">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81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3524250" y="5605823"/>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a:t>
            </a:r>
            <a:r>
              <a:rPr sz="1500" b="1" i="0">
                <a:solidFill>
                  <a:srgbClr val="000000"/>
                </a:solidFill>
                <a:latin typeface="Arial"/>
                <a:ea typeface="Arial"/>
                <a:cs typeface="Arial"/>
              </a:rPr>
              <a:t>income</a:t>
            </a:r>
          </a:p>
        </p:txBody>
      </p:sp>
      <p:sp>
        <p:nvSpPr>
          <p:cNvPr id="14" name="Rectangle 13">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67250" y="17621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95875" y="2795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95875" y="2033683"/>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Rectangle 16">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25-title">
            <a:extLst xmlns:a="http://schemas.openxmlformats.org/drawingml/2006/main">
              <a:ext uri="{FF2B5EF4-FFF2-40B4-BE49-F238E27FC236}">
                <a16:creationId xmlns:a16="http://schemas.microsoft.com/office/drawing/2014/main" id="{D2045BB7-12D4-4A8D-AF3B-0CD5956637C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spending round shifts AD again</a:t>
            </a:r>
          </a:p>
        </p:txBody>
      </p:sp>
      <p:sp>
        <p:nvSpPr>
          <p:cNvPr id="3" name="Rectangle 2">
            <a:extLst xmlns:a="http://schemas.openxmlformats.org/drawingml/2006/main">
              <a:ext uri="{FF2B5EF4-FFF2-40B4-BE49-F238E27FC236}">
                <a16:creationId xmlns:a16="http://schemas.microsoft.com/office/drawing/2014/main" id="{26FBDA1F-AB12-415C-A17F-BDCF2F6784E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F8B82AE8-57FB-4E22-9A4F-E4DBF6C0B7D9}"/>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25</a:t>
            </a:r>
          </a:p>
        </p:txBody>
      </p:sp>
      <p:cxnSp>
        <p:nvCxnSpPr>
          <p:cNvPr id="123" name="Straight Arrow Connector 90"/>
          <p:cNvCxnSpPr/>
          <p:nvPr/>
        </p:nvCxnSpPr>
        <p:spPr>
          <a:xfrm xmlns:a="http://schemas.openxmlformats.org/drawingml/2006/main">
            <a:off x="857250" y="5238750"/>
            <a:ext cx="5048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4" name="Straight Arrow Connector 91"/>
          <p:cNvCxnSpPr/>
          <p:nvPr/>
        </p:nvCxnSpPr>
        <p:spPr>
          <a:xfrm xmlns:a="http://schemas.openxmlformats.org/drawingml/2006/main">
            <a:off x="857250" y="1762125"/>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flipV="1">
            <a:off x="1428750" y="2238375"/>
            <a:ext cx="3810000" cy="2714625"/>
          </a:xfrm>
          <a:prstGeom xmlns:a="http://schemas.openxmlformats.org/drawingml/2006/main" prst="straightConnector1">
            <a:avLst/>
          </a:prstGeom>
          <a:ln xmlns:a="http://schemas.openxmlformats.org/drawingml/2006/main" w="47625">
            <a:solidFill>
              <a:srgbClr val="F26B5B"/>
            </a:solidFill>
            <a:prstDash val="solid"/>
          </a:ln>
        </p:spPr>
      </p:cxnSp>
      <p:cxnSp>
        <p:nvCxnSpPr>
          <p:cNvPr id="126" name="Straight Arrow Connector 93"/>
          <p:cNvCxnSpPr/>
          <p:nvPr/>
        </p:nvCxnSpPr>
        <p:spPr>
          <a:xfrm xmlns:a="http://schemas.openxmlformats.org/drawingml/2006/main">
            <a:off x="1428750" y="3238500"/>
            <a:ext cx="3524250" cy="1714500"/>
          </a:xfrm>
          <a:prstGeom xmlns:a="http://schemas.openxmlformats.org/drawingml/2006/main" prst="straightConnector1">
            <a:avLst/>
          </a:prstGeom>
          <a:ln xmlns:a="http://schemas.openxmlformats.org/drawingml/2006/main" w="28575">
            <a:solidFill>
              <a:srgbClr val="B8BCC4"/>
            </a:solidFill>
            <a:prstDash val="solid"/>
          </a:ln>
        </p:spPr>
      </p:cxnSp>
      <p:cxnSp>
        <p:nvCxnSpPr>
          <p:cNvPr id="127" name="Straight Arrow Connector 94"/>
          <p:cNvCxnSpPr/>
          <p:nvPr/>
        </p:nvCxnSpPr>
        <p:spPr>
          <a:xfrm xmlns:a="http://schemas.openxmlformats.org/drawingml/2006/main">
            <a:off x="1762125" y="2905125"/>
            <a:ext cx="3524250" cy="1714500"/>
          </a:xfrm>
          <a:prstGeom xmlns:a="http://schemas.openxmlformats.org/drawingml/2006/main" prst="straightConnector1">
            <a:avLst/>
          </a:prstGeom>
          <a:ln xmlns:a="http://schemas.openxmlformats.org/drawingml/2006/main" w="28575">
            <a:solidFill>
              <a:srgbClr val="3D8DFF"/>
            </a:solidFill>
            <a:prstDash val="solid"/>
          </a:ln>
        </p:spPr>
      </p:cxnSp>
      <p:cxnSp>
        <p:nvCxnSpPr>
          <p:cNvPr id="128" name="Straight Arrow Connector 95"/>
          <p:cNvCxnSpPr/>
          <p:nvPr/>
        </p:nvCxnSpPr>
        <p:spPr>
          <a:xfrm xmlns:a="http://schemas.openxmlformats.org/drawingml/2006/main">
            <a:off x="2095500" y="2571750"/>
            <a:ext cx="3524250" cy="1714500"/>
          </a:xfrm>
          <a:prstGeom xmlns:a="http://schemas.openxmlformats.org/drawingml/2006/main" prst="straightConnector1">
            <a:avLst/>
          </a:prstGeom>
          <a:ln xmlns:a="http://schemas.openxmlformats.org/drawingml/2006/main" w="28575">
            <a:solidFill>
              <a:srgbClr val="6DCBF4"/>
            </a:solidFill>
            <a:prstDash val="solid"/>
          </a:ln>
        </p:spPr>
      </p:cxnSp>
      <p:cxnSp>
        <p:nvCxnSpPr>
          <p:cNvPr id="129" name="Straight Arrow Connector 96"/>
          <p:cNvCxnSpPr/>
          <p:nvPr/>
        </p:nvCxnSpPr>
        <p:spPr>
          <a:xfrm xmlns:a="http://schemas.openxmlformats.org/drawingml/2006/main">
            <a:off x="2428875" y="2238375"/>
            <a:ext cx="3524250" cy="1714500"/>
          </a:xfrm>
          <a:prstGeom xmlns:a="http://schemas.openxmlformats.org/drawingml/2006/main" prst="straightConnector1">
            <a:avLst/>
          </a:prstGeom>
          <a:ln xmlns:a="http://schemas.openxmlformats.org/drawingml/2006/main" w="28575">
            <a:solidFill>
              <a:srgbClr val="2B9A66"/>
            </a:solidFill>
            <a:prstDash val="solid"/>
          </a:ln>
        </p:spPr>
      </p:cxnSp>
      <p:sp>
        <p:nvSpPr>
          <p:cNvPr id="12" name="Rectangle 11">
            <a:extLst xmlns:a="http://schemas.openxmlformats.org/drawingml/2006/main">
              <a:ext uri="{FF2B5EF4-FFF2-40B4-BE49-F238E27FC236}">
                <a16:creationId xmlns:a16="http://schemas.microsoft.com/office/drawing/2014/main" id="{8B9F1143-030A-464B-80B7-7C09B7A34299}"/>
              </a:ext>
            </a:extLst>
          </p:cNvPr>
          <p:cNvSpPr>
            <a:spLocks xmlns:a="http://schemas.openxmlformats.org/drawingml/2006/main" noGrp="1"/>
          </p:cNvSpPr>
          <p:nvPr/>
        </p:nvSpPr>
        <p:spPr>
          <a:xfrm xmlns:a="http://schemas.openxmlformats.org/drawingml/2006/main">
            <a:off x="333375" y="1395413"/>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Price level</a:t>
            </a:r>
          </a:p>
        </p:txBody>
      </p:sp>
      <p:sp>
        <p:nvSpPr>
          <p:cNvPr id="13" name="Rectangle 12">
            <a:extLst xmlns:a="http://schemas.openxmlformats.org/drawingml/2006/main">
              <a:ext uri="{FF2B5EF4-FFF2-40B4-BE49-F238E27FC236}">
                <a16:creationId xmlns:a16="http://schemas.microsoft.com/office/drawing/2014/main" id="{59A0D291-DB4A-40A7-9E80-E37033D9A2AF}"/>
              </a:ext>
            </a:extLst>
          </p:cNvPr>
          <p:cNvSpPr>
            <a:spLocks xmlns:a="http://schemas.openxmlformats.org/drawingml/2006/main" noGrp="1"/>
          </p:cNvSpPr>
          <p:nvPr/>
        </p:nvSpPr>
        <p:spPr>
          <a:xfrm xmlns:a="http://schemas.openxmlformats.org/drawingml/2006/main">
            <a:off x="4762500" y="53816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Real GDP</a:t>
            </a:r>
          </a:p>
        </p:txBody>
      </p:sp>
      <p:sp>
        <p:nvSpPr>
          <p:cNvPr id="14" name="Rectangle 13">
            <a:extLst xmlns:a="http://schemas.openxmlformats.org/drawingml/2006/main">
              <a:ext uri="{FF2B5EF4-FFF2-40B4-BE49-F238E27FC236}">
                <a16:creationId xmlns:a16="http://schemas.microsoft.com/office/drawing/2014/main" id="{7ACC0ADE-82F3-4BB9-95AE-8CCC9234F00B}"/>
              </a:ext>
            </a:extLst>
          </p:cNvPr>
          <p:cNvSpPr>
            <a:spLocks xmlns:a="http://schemas.openxmlformats.org/drawingml/2006/main" noGrp="1"/>
          </p:cNvSpPr>
          <p:nvPr/>
        </p:nvSpPr>
        <p:spPr>
          <a:xfrm xmlns:a="http://schemas.openxmlformats.org/drawingml/2006/main">
            <a:off x="5095875" y="2095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F26B5B"/>
                </a:solidFill>
                <a:latin typeface="Arial"/>
                <a:ea typeface="Arial"/>
                <a:cs typeface="Arial"/>
              </a:defRPr>
            </a:pPr>
            <a:r>
              <a:rPr sz="1500" b="1" i="0">
                <a:solidFill>
                  <a:srgbClr val="F26B5B"/>
                </a:solidFill>
                <a:latin typeface="Arial"/>
                <a:ea typeface="Arial"/>
                <a:cs typeface="Arial"/>
              </a:rPr>
              <a:t>AS</a:t>
            </a:r>
          </a:p>
        </p:txBody>
      </p:sp>
      <p:sp>
        <p:nvSpPr>
          <p:cNvPr id="15" name="Rectangle 14">
            <a:extLst xmlns:a="http://schemas.openxmlformats.org/drawingml/2006/main">
              <a:ext uri="{FF2B5EF4-FFF2-40B4-BE49-F238E27FC236}">
                <a16:creationId xmlns:a16="http://schemas.microsoft.com/office/drawing/2014/main" id="{3ED3C4C7-FD30-4672-8CAA-DFB2561EDE3B}"/>
              </a:ext>
            </a:extLst>
          </p:cNvPr>
          <p:cNvSpPr>
            <a:spLocks xmlns:a="http://schemas.openxmlformats.org/drawingml/2006/main" noGrp="1"/>
          </p:cNvSpPr>
          <p:nvPr/>
        </p:nvSpPr>
        <p:spPr>
          <a:xfrm xmlns:a="http://schemas.openxmlformats.org/drawingml/2006/main">
            <a:off x="5014748" y="48101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59616B"/>
                </a:solidFill>
                <a:latin typeface="Arial"/>
                <a:ea typeface="Arial"/>
                <a:cs typeface="Arial"/>
              </a:defRPr>
            </a:pPr>
            <a:r>
              <a:rPr sz="1350" b="0" i="0">
                <a:solidFill>
                  <a:srgbClr val="59616B"/>
                </a:solidFill>
                <a:latin typeface="Arial"/>
                <a:ea typeface="Arial"/>
                <a:cs typeface="Arial"/>
              </a:rPr>
              <a:t>AD₁</a:t>
            </a:r>
          </a:p>
        </p:txBody>
      </p:sp>
      <p:sp>
        <p:nvSpPr>
          <p:cNvPr id="16" name="Rectangle 15">
            <a:extLst xmlns:a="http://schemas.openxmlformats.org/drawingml/2006/main">
              <a:ext uri="{FF2B5EF4-FFF2-40B4-BE49-F238E27FC236}">
                <a16:creationId xmlns:a16="http://schemas.microsoft.com/office/drawing/2014/main" id="{8C5A9764-29A7-4DAF-9276-67FCADB8AE37}"/>
              </a:ext>
            </a:extLst>
          </p:cNvPr>
          <p:cNvSpPr>
            <a:spLocks xmlns:a="http://schemas.openxmlformats.org/drawingml/2006/main" noGrp="1"/>
          </p:cNvSpPr>
          <p:nvPr/>
        </p:nvSpPr>
        <p:spPr>
          <a:xfrm xmlns:a="http://schemas.openxmlformats.org/drawingml/2006/main">
            <a:off x="5348123" y="4476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3D8DFF"/>
                </a:solidFill>
                <a:latin typeface="Arial"/>
                <a:ea typeface="Arial"/>
                <a:cs typeface="Arial"/>
              </a:defRPr>
            </a:pPr>
            <a:r>
              <a:rPr sz="1350" b="0" i="0">
                <a:solidFill>
                  <a:srgbClr val="3D8DFF"/>
                </a:solidFill>
                <a:latin typeface="Arial"/>
                <a:ea typeface="Arial"/>
                <a:cs typeface="Arial"/>
              </a:rPr>
              <a:t>AD₂</a:t>
            </a:r>
          </a:p>
        </p:txBody>
      </p:sp>
      <p:sp>
        <p:nvSpPr>
          <p:cNvPr id="17" name="Rectangle 16">
            <a:extLst xmlns:a="http://schemas.openxmlformats.org/drawingml/2006/main">
              <a:ext uri="{FF2B5EF4-FFF2-40B4-BE49-F238E27FC236}">
                <a16:creationId xmlns:a16="http://schemas.microsoft.com/office/drawing/2014/main" id="{9883FD48-CA3E-497D-917C-EB84D05195A9}"/>
              </a:ext>
            </a:extLst>
          </p:cNvPr>
          <p:cNvSpPr>
            <a:spLocks xmlns:a="http://schemas.openxmlformats.org/drawingml/2006/main" noGrp="1"/>
          </p:cNvSpPr>
          <p:nvPr/>
        </p:nvSpPr>
        <p:spPr>
          <a:xfrm xmlns:a="http://schemas.openxmlformats.org/drawingml/2006/main">
            <a:off x="5681498" y="41433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2B9A66"/>
                </a:solidFill>
                <a:latin typeface="Arial"/>
                <a:ea typeface="Arial"/>
                <a:cs typeface="Arial"/>
              </a:defRPr>
            </a:pPr>
            <a:r>
              <a:rPr sz="1350" b="0" i="0">
                <a:solidFill>
                  <a:srgbClr val="2B9A66"/>
                </a:solidFill>
                <a:latin typeface="Arial"/>
                <a:ea typeface="Arial"/>
                <a:cs typeface="Arial"/>
              </a:rPr>
              <a:t>AD₃</a:t>
            </a:r>
          </a:p>
        </p:txBody>
      </p:sp>
      <p:sp>
        <p:nvSpPr>
          <p:cNvPr id="18" name="Rectangle 17">
            <a:extLst xmlns:a="http://schemas.openxmlformats.org/drawingml/2006/main">
              <a:ext uri="{FF2B5EF4-FFF2-40B4-BE49-F238E27FC236}">
                <a16:creationId xmlns:a16="http://schemas.microsoft.com/office/drawing/2014/main" id="{6024C9A4-1093-4A00-B28C-DE2BFC16A4DB}"/>
              </a:ext>
            </a:extLst>
          </p:cNvPr>
          <p:cNvSpPr>
            <a:spLocks xmlns:a="http://schemas.openxmlformats.org/drawingml/2006/main" noGrp="1"/>
          </p:cNvSpPr>
          <p:nvPr/>
        </p:nvSpPr>
        <p:spPr>
          <a:xfrm xmlns:a="http://schemas.openxmlformats.org/drawingml/2006/main">
            <a:off x="666750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MULTIPLIER SEQUENCE</a:t>
            </a:r>
          </a:p>
        </p:txBody>
      </p:sp>
      <p:sp>
        <p:nvSpPr>
          <p:cNvPr id="19" name="Rectangle 18">
            <a:extLst xmlns:a="http://schemas.openxmlformats.org/drawingml/2006/main">
              <a:ext uri="{FF2B5EF4-FFF2-40B4-BE49-F238E27FC236}">
                <a16:creationId xmlns:a16="http://schemas.microsoft.com/office/drawing/2014/main" id="{28F362A0-8F74-4007-A603-7BECAB47FA3B}"/>
              </a:ext>
            </a:extLst>
          </p:cNvPr>
          <p:cNvSpPr>
            <a:spLocks xmlns:a="http://schemas.openxmlformats.org/drawingml/2006/main" noGrp="1"/>
          </p:cNvSpPr>
          <p:nvPr/>
        </p:nvSpPr>
        <p:spPr>
          <a:xfrm xmlns:a="http://schemas.openxmlformats.org/drawingml/2006/main">
            <a:off x="666750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autonomous injection shifts AD.</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Higher income induces more consumption.</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Further spending shifts AD again.</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process ends when extra leakages match the injection.</a:t>
            </a:r>
          </a:p>
        </p:txBody>
      </p:sp>
      <p:sp>
        <p:nvSpPr>
          <p:cNvPr id="20" name="Rectangle 19">
            <a:extLst xmlns:a="http://schemas.openxmlformats.org/drawingml/2006/main">
              <a:ext uri="{FF2B5EF4-FFF2-40B4-BE49-F238E27FC236}">
                <a16:creationId xmlns:a16="http://schemas.microsoft.com/office/drawing/2014/main" id="{DD7F7F05-9B40-411B-82A3-A6686DA8D6C6}"/>
              </a:ext>
            </a:extLst>
          </p:cNvPr>
          <p:cNvSpPr>
            <a:spLocks xmlns:a="http://schemas.openxmlformats.org/drawingml/2006/main" noGrp="1"/>
          </p:cNvSpPr>
          <p:nvPr/>
        </p:nvSpPr>
        <p:spPr>
          <a:xfrm xmlns:a="http://schemas.openxmlformats.org/drawingml/2006/main">
            <a:off x="6286500" y="533400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Final ΔY = k × ΔJ; the price/output split depends on AS and spare capacity.</a:t>
            </a:r>
          </a:p>
        </p:txBody>
      </p:sp>
    </p:spTree>
    <p:extLst>
      <p:ext uri="{BB962C8B-B14F-4D97-AF65-F5344CB8AC3E}">
        <p14:creationId xmlns:p14="http://schemas.microsoft.com/office/powerpoint/2010/main" val="95412863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25-title">
            <a:extLst xmlns:a="http://schemas.openxmlformats.org/drawingml/2006/main">
              <a:ext uri="{FF2B5EF4-FFF2-40B4-BE49-F238E27FC236}">
                <a16:creationId xmlns:a16="http://schemas.microsoft.com/office/drawing/2014/main" id="{D2045BB7-12D4-4A8D-AF3B-0CD5956637C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spending round shifts AD again</a:t>
            </a:r>
          </a:p>
        </p:txBody>
      </p:sp>
      <p:sp>
        <p:nvSpPr>
          <p:cNvPr id="3" name="Rectangle 2">
            <a:extLst xmlns:a="http://schemas.openxmlformats.org/drawingml/2006/main">
              <a:ext uri="{FF2B5EF4-FFF2-40B4-BE49-F238E27FC236}">
                <a16:creationId xmlns:a16="http://schemas.microsoft.com/office/drawing/2014/main" id="{26FBDA1F-AB12-415C-A17F-BDCF2F6784E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F8B82AE8-57FB-4E22-9A4F-E4DBF6C0B7D9}"/>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25</a:t>
            </a:r>
          </a:p>
        </p:txBody>
      </p:sp>
      <p:cxnSp>
        <p:nvCxnSpPr>
          <p:cNvPr id="123" name="Straight Arrow Connector 90"/>
          <p:cNvCxnSpPr/>
          <p:nvPr/>
        </p:nvCxnSpPr>
        <p:spPr>
          <a:xfrm xmlns:a="http://schemas.openxmlformats.org/drawingml/2006/main">
            <a:off x="857250" y="5238750"/>
            <a:ext cx="5048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4" name="Straight Arrow Connector 91"/>
          <p:cNvCxnSpPr/>
          <p:nvPr/>
        </p:nvCxnSpPr>
        <p:spPr>
          <a:xfrm xmlns:a="http://schemas.openxmlformats.org/drawingml/2006/main">
            <a:off x="857250" y="1762125"/>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flipV="1">
            <a:off x="1428750" y="2238375"/>
            <a:ext cx="3810000" cy="2714625"/>
          </a:xfrm>
          <a:prstGeom xmlns:a="http://schemas.openxmlformats.org/drawingml/2006/main" prst="straightConnector1">
            <a:avLst/>
          </a:prstGeom>
          <a:ln xmlns:a="http://schemas.openxmlformats.org/drawingml/2006/main" w="47625">
            <a:solidFill>
              <a:srgbClr val="F26B5B"/>
            </a:solidFill>
            <a:prstDash val="solid"/>
          </a:ln>
        </p:spPr>
      </p:cxnSp>
      <p:cxnSp>
        <p:nvCxnSpPr>
          <p:cNvPr id="126" name="Straight Arrow Connector 93"/>
          <p:cNvCxnSpPr/>
          <p:nvPr/>
        </p:nvCxnSpPr>
        <p:spPr>
          <a:xfrm xmlns:a="http://schemas.openxmlformats.org/drawingml/2006/main">
            <a:off x="1428750" y="3238500"/>
            <a:ext cx="3524250" cy="1714500"/>
          </a:xfrm>
          <a:prstGeom xmlns:a="http://schemas.openxmlformats.org/drawingml/2006/main" prst="straightConnector1">
            <a:avLst/>
          </a:prstGeom>
          <a:ln xmlns:a="http://schemas.openxmlformats.org/drawingml/2006/main" w="28575">
            <a:solidFill>
              <a:srgbClr val="B8BCC4"/>
            </a:solidFill>
            <a:prstDash val="solid"/>
          </a:ln>
        </p:spPr>
      </p:cxnSp>
      <p:cxnSp>
        <p:nvCxnSpPr>
          <p:cNvPr id="127" name="Straight Arrow Connector 94"/>
          <p:cNvCxnSpPr/>
          <p:nvPr/>
        </p:nvCxnSpPr>
        <p:spPr>
          <a:xfrm xmlns:a="http://schemas.openxmlformats.org/drawingml/2006/main">
            <a:off x="1762125" y="2905125"/>
            <a:ext cx="3524250" cy="1714500"/>
          </a:xfrm>
          <a:prstGeom xmlns:a="http://schemas.openxmlformats.org/drawingml/2006/main" prst="straightConnector1">
            <a:avLst/>
          </a:prstGeom>
          <a:ln xmlns:a="http://schemas.openxmlformats.org/drawingml/2006/main" w="28575">
            <a:solidFill>
              <a:srgbClr val="3D8DFF"/>
            </a:solidFill>
            <a:prstDash val="solid"/>
          </a:ln>
        </p:spPr>
      </p:cxnSp>
      <p:cxnSp>
        <p:nvCxnSpPr>
          <p:cNvPr id="128" name="Straight Arrow Connector 95"/>
          <p:cNvCxnSpPr/>
          <p:nvPr/>
        </p:nvCxnSpPr>
        <p:spPr>
          <a:xfrm xmlns:a="http://schemas.openxmlformats.org/drawingml/2006/main">
            <a:off x="2095500" y="2571750"/>
            <a:ext cx="3524250" cy="1714500"/>
          </a:xfrm>
          <a:prstGeom xmlns:a="http://schemas.openxmlformats.org/drawingml/2006/main" prst="straightConnector1">
            <a:avLst/>
          </a:prstGeom>
          <a:ln xmlns:a="http://schemas.openxmlformats.org/drawingml/2006/main" w="28575">
            <a:solidFill>
              <a:srgbClr val="6DCBF4"/>
            </a:solidFill>
            <a:prstDash val="solid"/>
          </a:ln>
        </p:spPr>
      </p:cxnSp>
      <p:cxnSp>
        <p:nvCxnSpPr>
          <p:cNvPr id="129" name="Straight Arrow Connector 96"/>
          <p:cNvCxnSpPr/>
          <p:nvPr/>
        </p:nvCxnSpPr>
        <p:spPr>
          <a:xfrm xmlns:a="http://schemas.openxmlformats.org/drawingml/2006/main">
            <a:off x="2428875" y="2238375"/>
            <a:ext cx="3524250" cy="1714500"/>
          </a:xfrm>
          <a:prstGeom xmlns:a="http://schemas.openxmlformats.org/drawingml/2006/main" prst="straightConnector1">
            <a:avLst/>
          </a:prstGeom>
          <a:ln xmlns:a="http://schemas.openxmlformats.org/drawingml/2006/main" w="28575">
            <a:solidFill>
              <a:srgbClr val="2B9A66"/>
            </a:solidFill>
            <a:prstDash val="solid"/>
          </a:ln>
        </p:spPr>
      </p:cxnSp>
      <p:sp>
        <p:nvSpPr>
          <p:cNvPr id="12" name="Rectangle 11">
            <a:extLst xmlns:a="http://schemas.openxmlformats.org/drawingml/2006/main">
              <a:ext uri="{FF2B5EF4-FFF2-40B4-BE49-F238E27FC236}">
                <a16:creationId xmlns:a16="http://schemas.microsoft.com/office/drawing/2014/main" id="{8B9F1143-030A-464B-80B7-7C09B7A34299}"/>
              </a:ext>
            </a:extLst>
          </p:cNvPr>
          <p:cNvSpPr>
            <a:spLocks xmlns:a="http://schemas.openxmlformats.org/drawingml/2006/main" noGrp="1"/>
          </p:cNvSpPr>
          <p:nvPr/>
        </p:nvSpPr>
        <p:spPr>
          <a:xfrm xmlns:a="http://schemas.openxmlformats.org/drawingml/2006/main">
            <a:off x="333375" y="1395413"/>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Price level</a:t>
            </a:r>
          </a:p>
        </p:txBody>
      </p:sp>
      <p:sp>
        <p:nvSpPr>
          <p:cNvPr id="13" name="Rectangle 12">
            <a:extLst xmlns:a="http://schemas.openxmlformats.org/drawingml/2006/main">
              <a:ext uri="{FF2B5EF4-FFF2-40B4-BE49-F238E27FC236}">
                <a16:creationId xmlns:a16="http://schemas.microsoft.com/office/drawing/2014/main" id="{59A0D291-DB4A-40A7-9E80-E37033D9A2AF}"/>
              </a:ext>
            </a:extLst>
          </p:cNvPr>
          <p:cNvSpPr>
            <a:spLocks xmlns:a="http://schemas.openxmlformats.org/drawingml/2006/main" noGrp="1"/>
          </p:cNvSpPr>
          <p:nvPr/>
        </p:nvSpPr>
        <p:spPr>
          <a:xfrm xmlns:a="http://schemas.openxmlformats.org/drawingml/2006/main">
            <a:off x="4762500" y="53816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Real GDP</a:t>
            </a:r>
          </a:p>
        </p:txBody>
      </p:sp>
      <p:sp>
        <p:nvSpPr>
          <p:cNvPr id="14" name="Rectangle 13">
            <a:extLst xmlns:a="http://schemas.openxmlformats.org/drawingml/2006/main">
              <a:ext uri="{FF2B5EF4-FFF2-40B4-BE49-F238E27FC236}">
                <a16:creationId xmlns:a16="http://schemas.microsoft.com/office/drawing/2014/main" id="{7ACC0ADE-82F3-4BB9-95AE-8CCC9234F00B}"/>
              </a:ext>
            </a:extLst>
          </p:cNvPr>
          <p:cNvSpPr>
            <a:spLocks xmlns:a="http://schemas.openxmlformats.org/drawingml/2006/main" noGrp="1"/>
          </p:cNvSpPr>
          <p:nvPr/>
        </p:nvSpPr>
        <p:spPr>
          <a:xfrm xmlns:a="http://schemas.openxmlformats.org/drawingml/2006/main">
            <a:off x="5095875" y="2095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F26B5B"/>
                </a:solidFill>
                <a:latin typeface="Arial"/>
                <a:ea typeface="Arial"/>
                <a:cs typeface="Arial"/>
              </a:defRPr>
            </a:pPr>
            <a:r>
              <a:rPr sz="1500" b="1" i="0">
                <a:solidFill>
                  <a:srgbClr val="F26B5B"/>
                </a:solidFill>
                <a:latin typeface="Arial"/>
                <a:ea typeface="Arial"/>
                <a:cs typeface="Arial"/>
              </a:rPr>
              <a:t>AS</a:t>
            </a:r>
          </a:p>
        </p:txBody>
      </p:sp>
      <p:sp>
        <p:nvSpPr>
          <p:cNvPr id="15" name="Rectangle 14">
            <a:extLst xmlns:a="http://schemas.openxmlformats.org/drawingml/2006/main">
              <a:ext uri="{FF2B5EF4-FFF2-40B4-BE49-F238E27FC236}">
                <a16:creationId xmlns:a16="http://schemas.microsoft.com/office/drawing/2014/main" id="{3ED3C4C7-FD30-4672-8CAA-DFB2561EDE3B}"/>
              </a:ext>
            </a:extLst>
          </p:cNvPr>
          <p:cNvSpPr>
            <a:spLocks xmlns:a="http://schemas.openxmlformats.org/drawingml/2006/main" noGrp="1"/>
          </p:cNvSpPr>
          <p:nvPr/>
        </p:nvSpPr>
        <p:spPr>
          <a:xfrm xmlns:a="http://schemas.openxmlformats.org/drawingml/2006/main">
            <a:off x="5014748" y="48101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59616B"/>
                </a:solidFill>
                <a:latin typeface="Arial"/>
                <a:ea typeface="Arial"/>
                <a:cs typeface="Arial"/>
              </a:defRPr>
            </a:pPr>
            <a:r>
              <a:rPr sz="1350" b="0" i="0">
                <a:solidFill>
                  <a:srgbClr val="59616B"/>
                </a:solidFill>
                <a:latin typeface="Arial"/>
                <a:ea typeface="Arial"/>
                <a:cs typeface="Arial"/>
              </a:rPr>
              <a:t>AD₁</a:t>
            </a:r>
          </a:p>
        </p:txBody>
      </p:sp>
      <p:sp>
        <p:nvSpPr>
          <p:cNvPr id="16" name="Rectangle 15">
            <a:extLst xmlns:a="http://schemas.openxmlformats.org/drawingml/2006/main">
              <a:ext uri="{FF2B5EF4-FFF2-40B4-BE49-F238E27FC236}">
                <a16:creationId xmlns:a16="http://schemas.microsoft.com/office/drawing/2014/main" id="{8C5A9764-29A7-4DAF-9276-67FCADB8AE37}"/>
              </a:ext>
            </a:extLst>
          </p:cNvPr>
          <p:cNvSpPr>
            <a:spLocks xmlns:a="http://schemas.openxmlformats.org/drawingml/2006/main" noGrp="1"/>
          </p:cNvSpPr>
          <p:nvPr/>
        </p:nvSpPr>
        <p:spPr>
          <a:xfrm xmlns:a="http://schemas.openxmlformats.org/drawingml/2006/main">
            <a:off x="5348123" y="4476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3D8DFF"/>
                </a:solidFill>
                <a:latin typeface="Arial"/>
                <a:ea typeface="Arial"/>
                <a:cs typeface="Arial"/>
              </a:defRPr>
            </a:pPr>
            <a:r>
              <a:rPr sz="1350" b="0" i="0">
                <a:solidFill>
                  <a:srgbClr val="3D8DFF"/>
                </a:solidFill>
                <a:latin typeface="Arial"/>
                <a:ea typeface="Arial"/>
                <a:cs typeface="Arial"/>
              </a:rPr>
              <a:t>AD₂</a:t>
            </a:r>
          </a:p>
        </p:txBody>
      </p:sp>
      <p:sp>
        <p:nvSpPr>
          <p:cNvPr id="17" name="Rectangle 16">
            <a:extLst xmlns:a="http://schemas.openxmlformats.org/drawingml/2006/main">
              <a:ext uri="{FF2B5EF4-FFF2-40B4-BE49-F238E27FC236}">
                <a16:creationId xmlns:a16="http://schemas.microsoft.com/office/drawing/2014/main" id="{9883FD48-CA3E-497D-917C-EB84D05195A9}"/>
              </a:ext>
            </a:extLst>
          </p:cNvPr>
          <p:cNvSpPr>
            <a:spLocks xmlns:a="http://schemas.openxmlformats.org/drawingml/2006/main" noGrp="1"/>
          </p:cNvSpPr>
          <p:nvPr/>
        </p:nvSpPr>
        <p:spPr>
          <a:xfrm xmlns:a="http://schemas.openxmlformats.org/drawingml/2006/main">
            <a:off x="5681498" y="41433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2B9A66"/>
                </a:solidFill>
                <a:latin typeface="Arial"/>
                <a:ea typeface="Arial"/>
                <a:cs typeface="Arial"/>
              </a:defRPr>
            </a:pPr>
            <a:r>
              <a:rPr sz="1350" b="0" i="0">
                <a:solidFill>
                  <a:srgbClr val="2B9A66"/>
                </a:solidFill>
                <a:latin typeface="Arial"/>
                <a:ea typeface="Arial"/>
                <a:cs typeface="Arial"/>
              </a:rPr>
              <a:t>AD₃</a:t>
            </a:r>
          </a:p>
        </p:txBody>
      </p:sp>
      <p:sp>
        <p:nvSpPr>
          <p:cNvPr id="18" name="Rectangle 17">
            <a:extLst xmlns:a="http://schemas.openxmlformats.org/drawingml/2006/main">
              <a:ext uri="{FF2B5EF4-FFF2-40B4-BE49-F238E27FC236}">
                <a16:creationId xmlns:a16="http://schemas.microsoft.com/office/drawing/2014/main" id="{6024C9A4-1093-4A00-B28C-DE2BFC16A4DB}"/>
              </a:ext>
            </a:extLst>
          </p:cNvPr>
          <p:cNvSpPr>
            <a:spLocks xmlns:a="http://schemas.openxmlformats.org/drawingml/2006/main" noGrp="1"/>
          </p:cNvSpPr>
          <p:nvPr/>
        </p:nvSpPr>
        <p:spPr>
          <a:xfrm xmlns:a="http://schemas.openxmlformats.org/drawingml/2006/main">
            <a:off x="666750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MULTIPLIER SEQUENCE</a:t>
            </a:r>
          </a:p>
        </p:txBody>
      </p:sp>
      <p:sp>
        <p:nvSpPr>
          <p:cNvPr id="19" name="Rectangle 18">
            <a:extLst xmlns:a="http://schemas.openxmlformats.org/drawingml/2006/main">
              <a:ext uri="{FF2B5EF4-FFF2-40B4-BE49-F238E27FC236}">
                <a16:creationId xmlns:a16="http://schemas.microsoft.com/office/drawing/2014/main" id="{28F362A0-8F74-4007-A603-7BECAB47FA3B}"/>
              </a:ext>
            </a:extLst>
          </p:cNvPr>
          <p:cNvSpPr>
            <a:spLocks xmlns:a="http://schemas.openxmlformats.org/drawingml/2006/main" noGrp="1"/>
          </p:cNvSpPr>
          <p:nvPr/>
        </p:nvSpPr>
        <p:spPr>
          <a:xfrm xmlns:a="http://schemas.openxmlformats.org/drawingml/2006/main">
            <a:off x="666750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autonomous injection shifts AD.</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Higher income induces more consumption.</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Further spending shifts AD again.</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process ends when extra leakages match the injection.</a:t>
            </a:r>
          </a:p>
        </p:txBody>
      </p:sp>
      <p:sp>
        <p:nvSpPr>
          <p:cNvPr id="20" name="Rectangle 19">
            <a:extLst xmlns:a="http://schemas.openxmlformats.org/drawingml/2006/main">
              <a:ext uri="{FF2B5EF4-FFF2-40B4-BE49-F238E27FC236}">
                <a16:creationId xmlns:a16="http://schemas.microsoft.com/office/drawing/2014/main" id="{DD7F7F05-9B40-411B-82A3-A6686DA8D6C6}"/>
              </a:ext>
            </a:extLst>
          </p:cNvPr>
          <p:cNvSpPr>
            <a:spLocks xmlns:a="http://schemas.openxmlformats.org/drawingml/2006/main" noGrp="1"/>
          </p:cNvSpPr>
          <p:nvPr/>
        </p:nvSpPr>
        <p:spPr>
          <a:xfrm xmlns:a="http://schemas.openxmlformats.org/drawingml/2006/main">
            <a:off x="6286500" y="533400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Final ΔY = k × ΔJ; the price/output split depends on AS and spare capacity.</a:t>
            </a:r>
          </a:p>
        </p:txBody>
      </p:sp>
    </p:spTree>
    <p:extLst>
      <p:ext uri="{BB962C8B-B14F-4D97-AF65-F5344CB8AC3E}">
        <p14:creationId xmlns:p14="http://schemas.microsoft.com/office/powerpoint/2010/main" val="95412863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25-title">
            <a:extLst xmlns:a="http://schemas.openxmlformats.org/drawingml/2006/main">
              <a:ext uri="{FF2B5EF4-FFF2-40B4-BE49-F238E27FC236}">
                <a16:creationId xmlns:a16="http://schemas.microsoft.com/office/drawing/2014/main" id="{D2045BB7-12D4-4A8D-AF3B-0CD5956637C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spending round shifts AD again</a:t>
            </a:r>
          </a:p>
        </p:txBody>
      </p:sp>
      <p:sp>
        <p:nvSpPr>
          <p:cNvPr id="3" name="Rectangle 2">
            <a:extLst xmlns:a="http://schemas.openxmlformats.org/drawingml/2006/main">
              <a:ext uri="{FF2B5EF4-FFF2-40B4-BE49-F238E27FC236}">
                <a16:creationId xmlns:a16="http://schemas.microsoft.com/office/drawing/2014/main" id="{26FBDA1F-AB12-415C-A17F-BDCF2F6784E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F8B82AE8-57FB-4E22-9A4F-E4DBF6C0B7D9}"/>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25</a:t>
            </a:r>
          </a:p>
        </p:txBody>
      </p:sp>
      <p:cxnSp>
        <p:nvCxnSpPr>
          <p:cNvPr id="123" name="Straight Arrow Connector 90"/>
          <p:cNvCxnSpPr/>
          <p:nvPr/>
        </p:nvCxnSpPr>
        <p:spPr>
          <a:xfrm xmlns:a="http://schemas.openxmlformats.org/drawingml/2006/main">
            <a:off x="857250" y="5238750"/>
            <a:ext cx="504825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24" name="Straight Arrow Connector 91"/>
          <p:cNvCxnSpPr/>
          <p:nvPr/>
        </p:nvCxnSpPr>
        <p:spPr>
          <a:xfrm xmlns:a="http://schemas.openxmlformats.org/drawingml/2006/main">
            <a:off x="857250" y="1762125"/>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25" name="Straight Arrow Connector 92"/>
          <p:cNvCxnSpPr/>
          <p:nvPr/>
        </p:nvCxnSpPr>
        <p:spPr>
          <a:xfrm xmlns:a="http://schemas.openxmlformats.org/drawingml/2006/main" flipV="1">
            <a:off x="1428750" y="2238375"/>
            <a:ext cx="3810000" cy="2714625"/>
          </a:xfrm>
          <a:prstGeom xmlns:a="http://schemas.openxmlformats.org/drawingml/2006/main" prst="straightConnector1">
            <a:avLst/>
          </a:prstGeom>
          <a:ln xmlns:a="http://schemas.openxmlformats.org/drawingml/2006/main" w="47625">
            <a:solidFill>
              <a:srgbClr val="F26B5B"/>
            </a:solidFill>
            <a:prstDash val="solid"/>
          </a:ln>
        </p:spPr>
      </p:cxnSp>
      <p:cxnSp>
        <p:nvCxnSpPr>
          <p:cNvPr id="126" name="Straight Arrow Connector 93"/>
          <p:cNvCxnSpPr/>
          <p:nvPr/>
        </p:nvCxnSpPr>
        <p:spPr>
          <a:xfrm xmlns:a="http://schemas.openxmlformats.org/drawingml/2006/main">
            <a:off x="1428750" y="3238500"/>
            <a:ext cx="3524250" cy="1714500"/>
          </a:xfrm>
          <a:prstGeom xmlns:a="http://schemas.openxmlformats.org/drawingml/2006/main" prst="straightConnector1">
            <a:avLst/>
          </a:prstGeom>
          <a:ln xmlns:a="http://schemas.openxmlformats.org/drawingml/2006/main" w="28575">
            <a:solidFill>
              <a:srgbClr val="B8BCC4"/>
            </a:solidFill>
            <a:prstDash val="solid"/>
          </a:ln>
        </p:spPr>
      </p:cxnSp>
      <p:cxnSp>
        <p:nvCxnSpPr>
          <p:cNvPr id="127" name="Straight Arrow Connector 94"/>
          <p:cNvCxnSpPr/>
          <p:nvPr/>
        </p:nvCxnSpPr>
        <p:spPr>
          <a:xfrm xmlns:a="http://schemas.openxmlformats.org/drawingml/2006/main">
            <a:off x="1762125" y="2905125"/>
            <a:ext cx="3524250" cy="1714500"/>
          </a:xfrm>
          <a:prstGeom xmlns:a="http://schemas.openxmlformats.org/drawingml/2006/main" prst="straightConnector1">
            <a:avLst/>
          </a:prstGeom>
          <a:ln xmlns:a="http://schemas.openxmlformats.org/drawingml/2006/main" w="28575">
            <a:solidFill>
              <a:srgbClr val="3D8DFF"/>
            </a:solidFill>
            <a:prstDash val="solid"/>
          </a:ln>
        </p:spPr>
      </p:cxnSp>
      <p:cxnSp>
        <p:nvCxnSpPr>
          <p:cNvPr id="128" name="Straight Arrow Connector 95"/>
          <p:cNvCxnSpPr/>
          <p:nvPr/>
        </p:nvCxnSpPr>
        <p:spPr>
          <a:xfrm xmlns:a="http://schemas.openxmlformats.org/drawingml/2006/main">
            <a:off x="2095500" y="2571750"/>
            <a:ext cx="3524250" cy="1714500"/>
          </a:xfrm>
          <a:prstGeom xmlns:a="http://schemas.openxmlformats.org/drawingml/2006/main" prst="straightConnector1">
            <a:avLst/>
          </a:prstGeom>
          <a:ln xmlns:a="http://schemas.openxmlformats.org/drawingml/2006/main" w="28575">
            <a:solidFill>
              <a:srgbClr val="6DCBF4"/>
            </a:solidFill>
            <a:prstDash val="solid"/>
          </a:ln>
        </p:spPr>
      </p:cxnSp>
      <p:cxnSp>
        <p:nvCxnSpPr>
          <p:cNvPr id="129" name="Straight Arrow Connector 96"/>
          <p:cNvCxnSpPr/>
          <p:nvPr/>
        </p:nvCxnSpPr>
        <p:spPr>
          <a:xfrm xmlns:a="http://schemas.openxmlformats.org/drawingml/2006/main">
            <a:off x="2428875" y="2238375"/>
            <a:ext cx="3524250" cy="1714500"/>
          </a:xfrm>
          <a:prstGeom xmlns:a="http://schemas.openxmlformats.org/drawingml/2006/main" prst="straightConnector1">
            <a:avLst/>
          </a:prstGeom>
          <a:ln xmlns:a="http://schemas.openxmlformats.org/drawingml/2006/main" w="28575">
            <a:solidFill>
              <a:srgbClr val="2B9A66"/>
            </a:solidFill>
            <a:prstDash val="solid"/>
          </a:ln>
        </p:spPr>
      </p:cxnSp>
      <p:sp>
        <p:nvSpPr>
          <p:cNvPr id="12" name="Rectangle 11">
            <a:extLst xmlns:a="http://schemas.openxmlformats.org/drawingml/2006/main">
              <a:ext uri="{FF2B5EF4-FFF2-40B4-BE49-F238E27FC236}">
                <a16:creationId xmlns:a16="http://schemas.microsoft.com/office/drawing/2014/main" id="{8B9F1143-030A-464B-80B7-7C09B7A34299}"/>
              </a:ext>
            </a:extLst>
          </p:cNvPr>
          <p:cNvSpPr>
            <a:spLocks xmlns:a="http://schemas.openxmlformats.org/drawingml/2006/main" noGrp="1"/>
          </p:cNvSpPr>
          <p:nvPr/>
        </p:nvSpPr>
        <p:spPr>
          <a:xfrm xmlns:a="http://schemas.openxmlformats.org/drawingml/2006/main">
            <a:off x="333375" y="1395413"/>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Price level</a:t>
            </a:r>
          </a:p>
        </p:txBody>
      </p:sp>
      <p:sp>
        <p:nvSpPr>
          <p:cNvPr id="13" name="Rectangle 12">
            <a:extLst xmlns:a="http://schemas.openxmlformats.org/drawingml/2006/main">
              <a:ext uri="{FF2B5EF4-FFF2-40B4-BE49-F238E27FC236}">
                <a16:creationId xmlns:a16="http://schemas.microsoft.com/office/drawing/2014/main" id="{59A0D291-DB4A-40A7-9E80-E37033D9A2AF}"/>
              </a:ext>
            </a:extLst>
          </p:cNvPr>
          <p:cNvSpPr>
            <a:spLocks xmlns:a="http://schemas.openxmlformats.org/drawingml/2006/main" noGrp="1"/>
          </p:cNvSpPr>
          <p:nvPr/>
        </p:nvSpPr>
        <p:spPr>
          <a:xfrm xmlns:a="http://schemas.openxmlformats.org/drawingml/2006/main">
            <a:off x="4762500" y="53816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Real GDP</a:t>
            </a:r>
          </a:p>
        </p:txBody>
      </p:sp>
      <p:sp>
        <p:nvSpPr>
          <p:cNvPr id="14" name="Rectangle 13">
            <a:extLst xmlns:a="http://schemas.openxmlformats.org/drawingml/2006/main">
              <a:ext uri="{FF2B5EF4-FFF2-40B4-BE49-F238E27FC236}">
                <a16:creationId xmlns:a16="http://schemas.microsoft.com/office/drawing/2014/main" id="{7ACC0ADE-82F3-4BB9-95AE-8CCC9234F00B}"/>
              </a:ext>
            </a:extLst>
          </p:cNvPr>
          <p:cNvSpPr>
            <a:spLocks xmlns:a="http://schemas.openxmlformats.org/drawingml/2006/main" noGrp="1"/>
          </p:cNvSpPr>
          <p:nvPr/>
        </p:nvSpPr>
        <p:spPr>
          <a:xfrm xmlns:a="http://schemas.openxmlformats.org/drawingml/2006/main">
            <a:off x="5095875" y="2095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F26B5B"/>
                </a:solidFill>
                <a:latin typeface="Arial"/>
                <a:ea typeface="Arial"/>
                <a:cs typeface="Arial"/>
              </a:defRPr>
            </a:pPr>
            <a:r>
              <a:rPr sz="1500" b="1" i="0">
                <a:solidFill>
                  <a:srgbClr val="F26B5B"/>
                </a:solidFill>
                <a:latin typeface="Arial"/>
                <a:ea typeface="Arial"/>
                <a:cs typeface="Arial"/>
              </a:rPr>
              <a:t>AS</a:t>
            </a:r>
          </a:p>
        </p:txBody>
      </p:sp>
      <p:sp>
        <p:nvSpPr>
          <p:cNvPr id="15" name="Rectangle 14">
            <a:extLst xmlns:a="http://schemas.openxmlformats.org/drawingml/2006/main">
              <a:ext uri="{FF2B5EF4-FFF2-40B4-BE49-F238E27FC236}">
                <a16:creationId xmlns:a16="http://schemas.microsoft.com/office/drawing/2014/main" id="{3ED3C4C7-FD30-4672-8CAA-DFB2561EDE3B}"/>
              </a:ext>
            </a:extLst>
          </p:cNvPr>
          <p:cNvSpPr>
            <a:spLocks xmlns:a="http://schemas.openxmlformats.org/drawingml/2006/main" noGrp="1"/>
          </p:cNvSpPr>
          <p:nvPr/>
        </p:nvSpPr>
        <p:spPr>
          <a:xfrm xmlns:a="http://schemas.openxmlformats.org/drawingml/2006/main">
            <a:off x="5014748" y="48101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59616B"/>
                </a:solidFill>
                <a:latin typeface="Arial"/>
                <a:ea typeface="Arial"/>
                <a:cs typeface="Arial"/>
              </a:defRPr>
            </a:pPr>
            <a:r>
              <a:rPr sz="1350" b="0" i="0">
                <a:solidFill>
                  <a:srgbClr val="59616B"/>
                </a:solidFill>
                <a:latin typeface="Arial"/>
                <a:ea typeface="Arial"/>
                <a:cs typeface="Arial"/>
              </a:rPr>
              <a:t>AD₁</a:t>
            </a:r>
          </a:p>
        </p:txBody>
      </p:sp>
      <p:sp>
        <p:nvSpPr>
          <p:cNvPr id="16" name="Rectangle 15">
            <a:extLst xmlns:a="http://schemas.openxmlformats.org/drawingml/2006/main">
              <a:ext uri="{FF2B5EF4-FFF2-40B4-BE49-F238E27FC236}">
                <a16:creationId xmlns:a16="http://schemas.microsoft.com/office/drawing/2014/main" id="{8C5A9764-29A7-4DAF-9276-67FCADB8AE37}"/>
              </a:ext>
            </a:extLst>
          </p:cNvPr>
          <p:cNvSpPr>
            <a:spLocks xmlns:a="http://schemas.openxmlformats.org/drawingml/2006/main" noGrp="1"/>
          </p:cNvSpPr>
          <p:nvPr/>
        </p:nvSpPr>
        <p:spPr>
          <a:xfrm xmlns:a="http://schemas.openxmlformats.org/drawingml/2006/main">
            <a:off x="5348123" y="4476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3D8DFF"/>
                </a:solidFill>
                <a:latin typeface="Arial"/>
                <a:ea typeface="Arial"/>
                <a:cs typeface="Arial"/>
              </a:defRPr>
            </a:pPr>
            <a:r>
              <a:rPr sz="1350" b="0" i="0">
                <a:solidFill>
                  <a:srgbClr val="3D8DFF"/>
                </a:solidFill>
                <a:latin typeface="Arial"/>
                <a:ea typeface="Arial"/>
                <a:cs typeface="Arial"/>
              </a:rPr>
              <a:t>AD₂</a:t>
            </a:r>
          </a:p>
        </p:txBody>
      </p:sp>
      <p:sp>
        <p:nvSpPr>
          <p:cNvPr id="17" name="Rectangle 16">
            <a:extLst xmlns:a="http://schemas.openxmlformats.org/drawingml/2006/main">
              <a:ext uri="{FF2B5EF4-FFF2-40B4-BE49-F238E27FC236}">
                <a16:creationId xmlns:a16="http://schemas.microsoft.com/office/drawing/2014/main" id="{9883FD48-CA3E-497D-917C-EB84D05195A9}"/>
              </a:ext>
            </a:extLst>
          </p:cNvPr>
          <p:cNvSpPr>
            <a:spLocks xmlns:a="http://schemas.openxmlformats.org/drawingml/2006/main" noGrp="1"/>
          </p:cNvSpPr>
          <p:nvPr/>
        </p:nvSpPr>
        <p:spPr>
          <a:xfrm xmlns:a="http://schemas.openxmlformats.org/drawingml/2006/main">
            <a:off x="5681498" y="41433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2B9A66"/>
                </a:solidFill>
                <a:latin typeface="Arial"/>
                <a:ea typeface="Arial"/>
                <a:cs typeface="Arial"/>
              </a:defRPr>
            </a:pPr>
            <a:r>
              <a:rPr sz="1350" b="0" i="0">
                <a:solidFill>
                  <a:srgbClr val="2B9A66"/>
                </a:solidFill>
                <a:latin typeface="Arial"/>
                <a:ea typeface="Arial"/>
                <a:cs typeface="Arial"/>
              </a:rPr>
              <a:t>AD₃</a:t>
            </a:r>
          </a:p>
        </p:txBody>
      </p:sp>
      <p:sp>
        <p:nvSpPr>
          <p:cNvPr id="18" name="Rectangle 17">
            <a:extLst xmlns:a="http://schemas.openxmlformats.org/drawingml/2006/main">
              <a:ext uri="{FF2B5EF4-FFF2-40B4-BE49-F238E27FC236}">
                <a16:creationId xmlns:a16="http://schemas.microsoft.com/office/drawing/2014/main" id="{6024C9A4-1093-4A00-B28C-DE2BFC16A4DB}"/>
              </a:ext>
            </a:extLst>
          </p:cNvPr>
          <p:cNvSpPr>
            <a:spLocks xmlns:a="http://schemas.openxmlformats.org/drawingml/2006/main" noGrp="1"/>
          </p:cNvSpPr>
          <p:nvPr/>
        </p:nvSpPr>
        <p:spPr>
          <a:xfrm xmlns:a="http://schemas.openxmlformats.org/drawingml/2006/main">
            <a:off x="666750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MULTIPLIER SEQUENCE</a:t>
            </a:r>
          </a:p>
        </p:txBody>
      </p:sp>
      <p:sp>
        <p:nvSpPr>
          <p:cNvPr id="19" name="Rectangle 18">
            <a:extLst xmlns:a="http://schemas.openxmlformats.org/drawingml/2006/main">
              <a:ext uri="{FF2B5EF4-FFF2-40B4-BE49-F238E27FC236}">
                <a16:creationId xmlns:a16="http://schemas.microsoft.com/office/drawing/2014/main" id="{28F362A0-8F74-4007-A603-7BECAB47FA3B}"/>
              </a:ext>
            </a:extLst>
          </p:cNvPr>
          <p:cNvSpPr>
            <a:spLocks xmlns:a="http://schemas.openxmlformats.org/drawingml/2006/main" noGrp="1"/>
          </p:cNvSpPr>
          <p:nvPr/>
        </p:nvSpPr>
        <p:spPr>
          <a:xfrm xmlns:a="http://schemas.openxmlformats.org/drawingml/2006/main">
            <a:off x="666750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autonomous injection shifts AD.</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Higher income induces more consumption.</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Further spending shifts AD again.</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process ends when extra leakages match the injection.</a:t>
            </a:r>
          </a:p>
        </p:txBody>
      </p:sp>
      <p:sp>
        <p:nvSpPr>
          <p:cNvPr id="20" name="Rectangle 19">
            <a:extLst xmlns:a="http://schemas.openxmlformats.org/drawingml/2006/main">
              <a:ext uri="{FF2B5EF4-FFF2-40B4-BE49-F238E27FC236}">
                <a16:creationId xmlns:a16="http://schemas.microsoft.com/office/drawing/2014/main" id="{DD7F7F05-9B40-411B-82A3-A6686DA8D6C6}"/>
              </a:ext>
            </a:extLst>
          </p:cNvPr>
          <p:cNvSpPr>
            <a:spLocks xmlns:a="http://schemas.openxmlformats.org/drawingml/2006/main" noGrp="1"/>
          </p:cNvSpPr>
          <p:nvPr/>
        </p:nvSpPr>
        <p:spPr>
          <a:xfrm xmlns:a="http://schemas.openxmlformats.org/drawingml/2006/main">
            <a:off x="6286500" y="533400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Final ΔY = k × ΔJ; the price/output split depends on AS and spare capacity.</a:t>
            </a:r>
          </a:p>
        </p:txBody>
      </p:sp>
    </p:spTree>
    <p:extLst>
      <p:ext uri="{BB962C8B-B14F-4D97-AF65-F5344CB8AC3E}">
        <p14:creationId xmlns:p14="http://schemas.microsoft.com/office/powerpoint/2010/main" val="95412863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26-title">
            <a:extLst xmlns:a="http://schemas.openxmlformats.org/drawingml/2006/main">
              <a:ext uri="{FF2B5EF4-FFF2-40B4-BE49-F238E27FC236}">
                <a16:creationId xmlns:a16="http://schemas.microsoft.com/office/drawing/2014/main" id="{05CA1C81-BBEB-493E-86D0-EAC70A9171F0}"/>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multiplier falls when more income leaks out</a:t>
            </a:r>
          </a:p>
        </p:txBody>
      </p:sp>
      <p:sp>
        <p:nvSpPr>
          <p:cNvPr id="3" name="Rectangle 2">
            <a:extLst xmlns:a="http://schemas.openxmlformats.org/drawingml/2006/main">
              <a:ext uri="{FF2B5EF4-FFF2-40B4-BE49-F238E27FC236}">
                <a16:creationId xmlns:a16="http://schemas.microsoft.com/office/drawing/2014/main" id="{F87E27E2-701A-4D10-86CD-6AD056F8FE80}"/>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78B290E7-C82D-40D5-BA4E-1B595996ECE3}"/>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26</a:t>
            </a:r>
          </a:p>
        </p:txBody>
      </p:sp>
      <p:sp>
        <p:nvSpPr>
          <p:cNvPr id="5" name="Rectangle 4">
            <a:extLst xmlns:a="http://schemas.openxmlformats.org/drawingml/2006/main">
              <a:ext uri="{FF2B5EF4-FFF2-40B4-BE49-F238E27FC236}">
                <a16:creationId xmlns:a16="http://schemas.microsoft.com/office/drawing/2014/main" id="{CEA9590D-3D67-4F21-8133-CBF776EBC094}"/>
              </a:ext>
            </a:extLst>
          </p:cNvPr>
          <p:cNvSpPr>
            <a:spLocks xmlns:a="http://schemas.openxmlformats.org/drawingml/2006/main" noGrp="1"/>
          </p:cNvSpPr>
          <p:nvPr/>
        </p:nvSpPr>
        <p:spPr>
          <a:xfrm xmlns:a="http://schemas.openxmlformats.org/drawingml/2006/main">
            <a:off x="666750" y="1714500"/>
            <a:ext cx="4953000" cy="3333750"/>
          </a:xfrm>
          <a:prstGeom xmlns:a="http://schemas.openxmlformats.org/drawingml/2006/main" prst="rect">
            <a:avLst/>
          </a:prstGeom>
          <a:solidFill xmlns:a="http://schemas.openxmlformats.org/drawingml/2006/main">
            <a:srgbClr val="FDEBE8"/>
          </a:solidFill>
          <a:ln xmlns:a="http://schemas.openxmlformats.org/drawingml/2006/main" w="9525">
            <a:solidFill>
              <a:srgbClr val="F26B5B"/>
            </a:solidFill>
            <a:prstDash val="solid"/>
          </a:ln>
        </p:spPr>
      </p:sp>
      <p:sp>
        <p:nvSpPr>
          <p:cNvPr id="6" name="Rectangle 5">
            <a:extLst xmlns:a="http://schemas.openxmlformats.org/drawingml/2006/main">
              <a:ext uri="{FF2B5EF4-FFF2-40B4-BE49-F238E27FC236}">
                <a16:creationId xmlns:a16="http://schemas.microsoft.com/office/drawing/2014/main" id="{38D3EAA6-8C7F-4278-B08B-97461BF967B0}"/>
              </a:ext>
            </a:extLst>
          </p:cNvPr>
          <p:cNvSpPr>
            <a:spLocks xmlns:a="http://schemas.openxmlformats.org/drawingml/2006/main" noGrp="1"/>
          </p:cNvSpPr>
          <p:nvPr/>
        </p:nvSpPr>
        <p:spPr>
          <a:xfrm xmlns:a="http://schemas.openxmlformats.org/drawingml/2006/main">
            <a:off x="1047750" y="2095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RISE</a:t>
            </a:r>
          </a:p>
        </p:txBody>
      </p:sp>
      <p:sp>
        <p:nvSpPr>
          <p:cNvPr id="7" name="Rectangle 6">
            <a:extLst xmlns:a="http://schemas.openxmlformats.org/drawingml/2006/main">
              <a:ext uri="{FF2B5EF4-FFF2-40B4-BE49-F238E27FC236}">
                <a16:creationId xmlns:a16="http://schemas.microsoft.com/office/drawing/2014/main" id="{5E1DAD29-B279-4707-95A7-3BDE68CBF55C}"/>
              </a:ext>
            </a:extLst>
          </p:cNvPr>
          <p:cNvSpPr>
            <a:spLocks xmlns:a="http://schemas.openxmlformats.org/drawingml/2006/main" noGrp="1"/>
          </p:cNvSpPr>
          <p:nvPr/>
        </p:nvSpPr>
        <p:spPr>
          <a:xfrm xmlns:a="http://schemas.openxmlformats.org/drawingml/2006/main">
            <a:off x="1047750" y="2667000"/>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F26B5B"/>
                </a:solidFill>
                <a:latin typeface="Arial"/>
                <a:ea typeface="Arial"/>
                <a:cs typeface="Arial"/>
              </a:defRPr>
            </a:pPr>
            <a:r>
              <a:rPr sz="2700" b="1" i="0">
                <a:solidFill>
                  <a:srgbClr val="F26B5B"/>
                </a:solidFill>
                <a:latin typeface="Arial"/>
                <a:ea typeface="Arial"/>
                <a:cs typeface="Arial"/>
              </a:rPr>
              <a:t>↑ MPS   ↑ MPM   ↑ MRT</a:t>
            </a:r>
          </a:p>
        </p:txBody>
      </p:sp>
      <p:sp>
        <p:nvSpPr>
          <p:cNvPr id="8" name="Rectangle 7">
            <a:extLst xmlns:a="http://schemas.openxmlformats.org/drawingml/2006/main">
              <a:ext uri="{FF2B5EF4-FFF2-40B4-BE49-F238E27FC236}">
                <a16:creationId xmlns:a16="http://schemas.microsoft.com/office/drawing/2014/main" id="{B8731F23-303B-4179-AF6D-2CF2BEBE25BA}"/>
              </a:ext>
            </a:extLst>
          </p:cNvPr>
          <p:cNvSpPr>
            <a:spLocks xmlns:a="http://schemas.openxmlformats.org/drawingml/2006/main" noGrp="1"/>
          </p:cNvSpPr>
          <p:nvPr/>
        </p:nvSpPr>
        <p:spPr>
          <a:xfrm xmlns:a="http://schemas.openxmlformats.org/drawingml/2006/main">
            <a:off x="1047750" y="3524250"/>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Each round of domestic spending is smaller.</a:t>
            </a:r>
          </a:p>
        </p:txBody>
      </p:sp>
      <p:sp>
        <p:nvSpPr>
          <p:cNvPr id="9" name="Rectangle 8">
            <a:extLst xmlns:a="http://schemas.openxmlformats.org/drawingml/2006/main">
              <a:ext uri="{FF2B5EF4-FFF2-40B4-BE49-F238E27FC236}">
                <a16:creationId xmlns:a16="http://schemas.microsoft.com/office/drawing/2014/main" id="{AA3D3FF0-0A1C-424A-8BF0-395612D46323}"/>
              </a:ext>
            </a:extLst>
          </p:cNvPr>
          <p:cNvSpPr>
            <a:spLocks xmlns:a="http://schemas.openxmlformats.org/drawingml/2006/main" noGrp="1"/>
          </p:cNvSpPr>
          <p:nvPr/>
        </p:nvSpPr>
        <p:spPr>
          <a:xfrm xmlns:a="http://schemas.openxmlformats.org/drawingml/2006/main">
            <a:off x="6572250" y="1714500"/>
            <a:ext cx="4953000" cy="3333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10" name="Rectangle 9">
            <a:extLst xmlns:a="http://schemas.openxmlformats.org/drawingml/2006/main">
              <a:ext uri="{FF2B5EF4-FFF2-40B4-BE49-F238E27FC236}">
                <a16:creationId xmlns:a16="http://schemas.microsoft.com/office/drawing/2014/main" id="{4549D589-34C4-45D8-AD5A-2C4F95E1826B}"/>
              </a:ext>
            </a:extLst>
          </p:cNvPr>
          <p:cNvSpPr>
            <a:spLocks xmlns:a="http://schemas.openxmlformats.org/drawingml/2006/main" noGrp="1"/>
          </p:cNvSpPr>
          <p:nvPr/>
        </p:nvSpPr>
        <p:spPr>
          <a:xfrm xmlns:a="http://schemas.openxmlformats.org/drawingml/2006/main">
            <a:off x="6953250" y="2095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POLICY IMPLICATION</a:t>
            </a:r>
          </a:p>
        </p:txBody>
      </p:sp>
      <p:sp>
        <p:nvSpPr>
          <p:cNvPr id="11" name="Rectangle 10">
            <a:extLst xmlns:a="http://schemas.openxmlformats.org/drawingml/2006/main">
              <a:ext uri="{FF2B5EF4-FFF2-40B4-BE49-F238E27FC236}">
                <a16:creationId xmlns:a16="http://schemas.microsoft.com/office/drawing/2014/main" id="{668C319A-7871-4445-B2D7-8C674A6A7446}"/>
              </a:ext>
            </a:extLst>
          </p:cNvPr>
          <p:cNvSpPr>
            <a:spLocks xmlns:a="http://schemas.openxmlformats.org/drawingml/2006/main" noGrp="1"/>
          </p:cNvSpPr>
          <p:nvPr/>
        </p:nvSpPr>
        <p:spPr>
          <a:xfrm xmlns:a="http://schemas.openxmlformats.org/drawingml/2006/main">
            <a:off x="6953250" y="2762250"/>
            <a:ext cx="4191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A tax cut is not all spent.</a:t>
            </a: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Some becomes saving or imports.</a:t>
            </a:r>
          </a:p>
        </p:txBody>
      </p:sp>
      <p:sp>
        <p:nvSpPr>
          <p:cNvPr id="12" name="Rectangle 11">
            <a:extLst xmlns:a="http://schemas.openxmlformats.org/drawingml/2006/main">
              <a:ext uri="{FF2B5EF4-FFF2-40B4-BE49-F238E27FC236}">
                <a16:creationId xmlns:a16="http://schemas.microsoft.com/office/drawing/2014/main" id="{3F1E7F3B-FCD8-426A-99D7-5E1952659472}"/>
              </a:ext>
            </a:extLst>
          </p:cNvPr>
          <p:cNvSpPr>
            <a:spLocks xmlns:a="http://schemas.openxmlformats.org/drawingml/2006/main" noGrp="1"/>
          </p:cNvSpPr>
          <p:nvPr/>
        </p:nvSpPr>
        <p:spPr>
          <a:xfrm xmlns:a="http://schemas.openxmlformats.org/drawingml/2006/main">
            <a:off x="6953250" y="4143375"/>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0" i="0">
                <a:solidFill>
                  <a:srgbClr val="59616B"/>
                </a:solidFill>
                <a:latin typeface="Arial"/>
                <a:ea typeface="Arial"/>
                <a:cs typeface="Arial"/>
              </a:defRPr>
            </a:pPr>
            <a:r>
              <a:rPr sz="1875" b="0" i="0">
                <a:solidFill>
                  <a:srgbClr val="59616B"/>
                </a:solidFill>
                <a:latin typeface="Arial"/>
                <a:ea typeface="Arial"/>
                <a:cs typeface="Arial"/>
              </a:rPr>
              <a:t>Government spending enters AD directly.</a:t>
            </a:r>
          </a:p>
        </p:txBody>
      </p:sp>
      <p:sp>
        <p:nvSpPr>
          <p:cNvPr id="13" name="Rectangle 12">
            <a:extLst xmlns:a="http://schemas.openxmlformats.org/drawingml/2006/main">
              <a:ext uri="{FF2B5EF4-FFF2-40B4-BE49-F238E27FC236}">
                <a16:creationId xmlns:a16="http://schemas.microsoft.com/office/drawing/2014/main" id="{55F10B2F-F3AA-48E4-A820-88DF4F4BE9FE}"/>
              </a:ext>
            </a:extLst>
          </p:cNvPr>
          <p:cNvSpPr>
            <a:spLocks xmlns:a="http://schemas.openxmlformats.org/drawingml/2006/main" noGrp="1"/>
          </p:cNvSpPr>
          <p:nvPr/>
        </p:nvSpPr>
        <p:spPr>
          <a:xfrm xmlns:a="http://schemas.openxmlformats.org/drawingml/2006/main">
            <a:off x="2571750" y="5572125"/>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Formula check: MPW ↑  →  1/MPW ↓</a:t>
            </a:r>
          </a:p>
        </p:txBody>
      </p:sp>
    </p:spTree>
    <p:extLst>
      <p:ext uri="{BB962C8B-B14F-4D97-AF65-F5344CB8AC3E}">
        <p14:creationId xmlns:p14="http://schemas.microsoft.com/office/powerpoint/2010/main" val="21495090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9708/32/M/J/25 Q15</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27</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862232"/>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initial injection into the circular flow of income causes a much larger increase in GDP.</a:t>
            </a:r>
            <a:r>
              <a:rPr sz="2025" b="1">
                <a:solidFill>
                  <a:srgbClr val="000000"/>
                </a:solidFill>
                <a:latin typeface="Arial"/>
                <a:ea typeface="Arial"/>
                <a:cs typeface="Arial"/>
              </a:rPr>
              <a:t> </a:t>
            </a:r>
            <a:r>
              <a:rPr sz="2025" b="1" i="0">
                <a:solidFill>
                  <a:srgbClr val="000000"/>
                </a:solidFill>
                <a:latin typeface="Arial"/>
                <a:ea typeface="Arial"/>
                <a:cs typeface="Arial"/>
              </a:rPr>
              <a:t>What does this define?</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A  autonomous investment</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B  demand-pull inflation</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C  the accelerator principle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the national income multiplier</a:t>
            </a:r>
          </a:p>
        </p:txBody>
      </p:sp>
    </p:spTree>
    <p:extLst>
      <p:ext uri="{BB962C8B-B14F-4D97-AF65-F5344CB8AC3E}">
        <p14:creationId xmlns:p14="http://schemas.microsoft.com/office/powerpoint/2010/main" val="160088276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9708/31/M/J/26 Q16</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29</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9526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What would increase the value of the multiplier?</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A  </a:t>
            </a:r>
            <a:r>
              <a:rPr sz="2025">
                <a:solidFill>
                  <a:srgbClr val="000000"/>
                </a:solidFill>
                <a:latin typeface="Arial"/>
                <a:ea typeface="Arial"/>
                <a:cs typeface="Arial"/>
              </a:rPr>
              <a:t>a</a:t>
            </a:r>
            <a:r>
              <a:rPr sz="2025">
                <a:solidFill>
                  <a:srgbClr val="000000"/>
                </a:solidFill>
                <a:latin typeface="Arial"/>
                <a:ea typeface="Arial"/>
                <a:cs typeface="Arial"/>
              </a:rPr>
              <a:t> decrease in the marginal propensity to consume</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B  a decrease in the marginal rate of tax</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C  an increase in the marginal propensity to import</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an increase in the marginal propensity to save</a:t>
            </a:r>
          </a:p>
        </p:txBody>
      </p:sp>
    </p:spTree>
    <p:extLst>
      <p:ext uri="{BB962C8B-B14F-4D97-AF65-F5344CB8AC3E}">
        <p14:creationId xmlns:p14="http://schemas.microsoft.com/office/powerpoint/2010/main" val="160088276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28-title">
            <a:extLst xmlns:a="http://schemas.openxmlformats.org/drawingml/2006/main">
              <a:ext uri="{FF2B5EF4-FFF2-40B4-BE49-F238E27FC236}">
                <a16:creationId xmlns:a16="http://schemas.microsoft.com/office/drawing/2014/main" id="{6803C822-5FCC-46B1-9DC5-6A919507D68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concepts and propensities</a:t>
            </a:r>
          </a:p>
        </p:txBody>
      </p:sp>
      <p:cxnSp>
        <p:nvCxnSpPr>
          <p:cNvPr id="125" name="Straight Arrow Connector 88"/>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3BD99998-3687-47AF-9CE9-D174A5660C4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5C97E3E-7E79-4767-A7F2-FC8021EB938D}"/>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30</a:t>
            </a:r>
          </a:p>
        </p:txBody>
      </p:sp>
      <p:sp>
        <p:nvSpPr>
          <p:cNvPr id="5" name="Rectangle 4">
            <a:extLst xmlns:a="http://schemas.openxmlformats.org/drawingml/2006/main">
              <a:ext uri="{FF2B5EF4-FFF2-40B4-BE49-F238E27FC236}">
                <a16:creationId xmlns:a16="http://schemas.microsoft.com/office/drawing/2014/main" id="{63C20010-C4D6-441B-B36B-28E06521E701}"/>
              </a:ext>
            </a:extLst>
          </p:cNvPr>
          <p:cNvSpPr>
            <a:spLocks xmlns:a="http://schemas.openxmlformats.org/drawingml/2006/main" noGrp="1"/>
          </p:cNvSpPr>
          <p:nvPr/>
        </p:nvSpPr>
        <p:spPr>
          <a:xfrm xmlns:a="http://schemas.openxmlformats.org/drawingml/2006/main">
            <a:off x="809625" y="166687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1  D</a:t>
            </a:r>
          </a:p>
        </p:txBody>
      </p:sp>
      <p:sp>
        <p:nvSpPr>
          <p:cNvPr id="6" name="Rectangle 5">
            <a:extLst xmlns:a="http://schemas.openxmlformats.org/drawingml/2006/main">
              <a:ext uri="{FF2B5EF4-FFF2-40B4-BE49-F238E27FC236}">
                <a16:creationId xmlns:a16="http://schemas.microsoft.com/office/drawing/2014/main" id="{6AE0371F-C661-420B-A6AF-A2FBBDE856E2}"/>
              </a:ext>
            </a:extLst>
          </p:cNvPr>
          <p:cNvSpPr>
            <a:spLocks xmlns:a="http://schemas.openxmlformats.org/drawingml/2006/main" noGrp="1"/>
          </p:cNvSpPr>
          <p:nvPr/>
        </p:nvSpPr>
        <p:spPr>
          <a:xfrm xmlns:a="http://schemas.openxmlformats.org/drawingml/2006/main">
            <a:off x="2667000" y="166687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Definition</a:t>
            </a:r>
          </a:p>
        </p:txBody>
      </p:sp>
      <p:sp>
        <p:nvSpPr>
          <p:cNvPr id="7" name="Rectangle 6">
            <a:extLst xmlns:a="http://schemas.openxmlformats.org/drawingml/2006/main">
              <a:ext uri="{FF2B5EF4-FFF2-40B4-BE49-F238E27FC236}">
                <a16:creationId xmlns:a16="http://schemas.microsoft.com/office/drawing/2014/main" id="{1547264C-3480-4850-9BE3-3746B50AB9BB}"/>
              </a:ext>
            </a:extLst>
          </p:cNvPr>
          <p:cNvSpPr>
            <a:spLocks xmlns:a="http://schemas.openxmlformats.org/drawingml/2006/main" noGrp="1"/>
          </p:cNvSpPr>
          <p:nvPr/>
        </p:nvSpPr>
        <p:spPr>
          <a:xfrm xmlns:a="http://schemas.openxmlformats.org/drawingml/2006/main">
            <a:off x="6667500" y="166687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Initial injection -&gt; more-than-proportionate rise in GDP.</a:t>
            </a:r>
          </a:p>
        </p:txBody>
      </p:sp>
      <p:cxnSp>
        <p:nvCxnSpPr>
          <p:cNvPr id="131" name="Straight Arrow Connector 94"/>
          <p:cNvCxnSpPr/>
          <p:nvPr/>
        </p:nvCxnSpPr>
        <p:spPr>
          <a:xfrm xmlns:a="http://schemas.openxmlformats.org/drawingml/2006/main">
            <a:off x="809625" y="2667000"/>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Rectangle 8">
            <a:extLst xmlns:a="http://schemas.openxmlformats.org/drawingml/2006/main">
              <a:ext uri="{FF2B5EF4-FFF2-40B4-BE49-F238E27FC236}">
                <a16:creationId xmlns:a16="http://schemas.microsoft.com/office/drawing/2014/main" id="{07F9070C-813F-478A-81BD-7DB6489B9A98}"/>
              </a:ext>
            </a:extLst>
          </p:cNvPr>
          <p:cNvSpPr>
            <a:spLocks xmlns:a="http://schemas.openxmlformats.org/drawingml/2006/main" noGrp="1"/>
          </p:cNvSpPr>
          <p:nvPr/>
        </p:nvSpPr>
        <p:spPr>
          <a:xfrm xmlns:a="http://schemas.openxmlformats.org/drawingml/2006/main">
            <a:off x="809625" y="304800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2  D</a:t>
            </a:r>
          </a:p>
        </p:txBody>
      </p:sp>
      <p:sp>
        <p:nvSpPr>
          <p:cNvPr id="10" name="Rectangle 9">
            <a:extLst xmlns:a="http://schemas.openxmlformats.org/drawingml/2006/main">
              <a:ext uri="{FF2B5EF4-FFF2-40B4-BE49-F238E27FC236}">
                <a16:creationId xmlns:a16="http://schemas.microsoft.com/office/drawing/2014/main" id="{0679F31D-A495-4D12-AACB-2460F8221326}"/>
              </a:ext>
            </a:extLst>
          </p:cNvPr>
          <p:cNvSpPr>
            <a:spLocks xmlns:a="http://schemas.openxmlformats.org/drawingml/2006/main" noGrp="1"/>
          </p:cNvSpPr>
          <p:nvPr/>
        </p:nvSpPr>
        <p:spPr>
          <a:xfrm xmlns:a="http://schemas.openxmlformats.org/drawingml/2006/main">
            <a:off x="2667000" y="3048000"/>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C = a + bY</a:t>
            </a:r>
          </a:p>
        </p:txBody>
      </p:sp>
      <p:sp>
        <p:nvSpPr>
          <p:cNvPr id="11" name="Rectangle 10">
            <a:extLst xmlns:a="http://schemas.openxmlformats.org/drawingml/2006/main">
              <a:ext uri="{FF2B5EF4-FFF2-40B4-BE49-F238E27FC236}">
                <a16:creationId xmlns:a16="http://schemas.microsoft.com/office/drawing/2014/main" id="{AD71A006-F2E8-45AD-9AC9-EBDFCE5EFB45}"/>
              </a:ext>
            </a:extLst>
          </p:cNvPr>
          <p:cNvSpPr>
            <a:spLocks xmlns:a="http://schemas.openxmlformats.org/drawingml/2006/main" noGrp="1"/>
          </p:cNvSpPr>
          <p:nvPr/>
        </p:nvSpPr>
        <p:spPr>
          <a:xfrm xmlns:a="http://schemas.openxmlformats.org/drawingml/2006/main">
            <a:off x="6667500" y="304800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MPC = b = 0.8; APC = a/Y + b, so APC &gt; MPC.</a:t>
            </a:r>
          </a:p>
        </p:txBody>
      </p:sp>
      <p:cxnSp>
        <p:nvCxnSpPr>
          <p:cNvPr id="135" name="Straight Arrow Connector 98"/>
          <p:cNvCxnSpPr/>
          <p:nvPr/>
        </p:nvCxnSpPr>
        <p:spPr>
          <a:xfrm xmlns:a="http://schemas.openxmlformats.org/drawingml/2006/main">
            <a:off x="809625" y="4048125"/>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Rectangle 12">
            <a:extLst xmlns:a="http://schemas.openxmlformats.org/drawingml/2006/main">
              <a:ext uri="{FF2B5EF4-FFF2-40B4-BE49-F238E27FC236}">
                <a16:creationId xmlns:a16="http://schemas.microsoft.com/office/drawing/2014/main" id="{E2EADD9C-34B7-423A-8481-007ACD14F25D}"/>
              </a:ext>
            </a:extLst>
          </p:cNvPr>
          <p:cNvSpPr>
            <a:spLocks xmlns:a="http://schemas.openxmlformats.org/drawingml/2006/main" noGrp="1"/>
          </p:cNvSpPr>
          <p:nvPr/>
        </p:nvSpPr>
        <p:spPr>
          <a:xfrm xmlns:a="http://schemas.openxmlformats.org/drawingml/2006/main">
            <a:off x="809625" y="442912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3  B</a:t>
            </a:r>
          </a:p>
        </p:txBody>
      </p:sp>
      <p:sp>
        <p:nvSpPr>
          <p:cNvPr id="14" name="Rectangle 13">
            <a:extLst xmlns:a="http://schemas.openxmlformats.org/drawingml/2006/main">
              <a:ext uri="{FF2B5EF4-FFF2-40B4-BE49-F238E27FC236}">
                <a16:creationId xmlns:a16="http://schemas.microsoft.com/office/drawing/2014/main" id="{78865455-ED7B-460B-AB6E-5953BFF844FB}"/>
              </a:ext>
            </a:extLst>
          </p:cNvPr>
          <p:cNvSpPr>
            <a:spLocks xmlns:a="http://schemas.openxmlformats.org/drawingml/2006/main" noGrp="1"/>
          </p:cNvSpPr>
          <p:nvPr/>
        </p:nvSpPr>
        <p:spPr>
          <a:xfrm xmlns:a="http://schemas.openxmlformats.org/drawingml/2006/main">
            <a:off x="2667000" y="44291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MRT falls</a:t>
            </a:r>
          </a:p>
        </p:txBody>
      </p:sp>
      <p:sp>
        <p:nvSpPr>
          <p:cNvPr id="15" name="Rectangle 14">
            <a:extLst xmlns:a="http://schemas.openxmlformats.org/drawingml/2006/main">
              <a:ext uri="{FF2B5EF4-FFF2-40B4-BE49-F238E27FC236}">
                <a16:creationId xmlns:a16="http://schemas.microsoft.com/office/drawing/2014/main" id="{ED8AAA65-6C01-42A5-AB42-3EBD2841E328}"/>
              </a:ext>
            </a:extLst>
          </p:cNvPr>
          <p:cNvSpPr>
            <a:spLocks xmlns:a="http://schemas.openxmlformats.org/drawingml/2006/main" noGrp="1"/>
          </p:cNvSpPr>
          <p:nvPr/>
        </p:nvSpPr>
        <p:spPr>
          <a:xfrm xmlns:a="http://schemas.openxmlformats.org/drawingml/2006/main">
            <a:off x="6667500" y="442912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MPW falls, so k = 1/MPW rises.</a:t>
            </a:r>
          </a:p>
        </p:txBody>
      </p:sp>
    </p:spTree>
    <p:extLst>
      <p:ext uri="{BB962C8B-B14F-4D97-AF65-F5344CB8AC3E}">
        <p14:creationId xmlns:p14="http://schemas.microsoft.com/office/powerpoint/2010/main" val="175383642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9708/32/F/M/21 Q24</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31</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61925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In a closed economy, the marginal propensity to save is 0.1 and the marginal propensity to pay taxes is also 0.1. These values are constant and do not vary with the level of income.</a:t>
            </a:r>
          </a:p>
          <a:p xmlns:a="http://schemas.openxmlformats.org/drawingml/2006/main">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What will be the increase in national income if there is an injection of $100 million into the circular flow?</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095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$1000 million</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762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$500 million</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429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$100 million</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095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$80 million</a:t>
            </a:r>
          </a:p>
        </p:txBody>
      </p:sp>
    </p:spTree>
    <p:extLst>
      <p:ext uri="{BB962C8B-B14F-4D97-AF65-F5344CB8AC3E}">
        <p14:creationId xmlns:p14="http://schemas.microsoft.com/office/powerpoint/2010/main" val="160088276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9708/31/O/N/22 Q26</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32</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61925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In an economy, the marginal propensity to consume is 0.2, the marginal propensity to save is 0.3, the marginal propensity to tax is 0.3 and the marginal propensity to import is 0.2 at all levels of income.</a:t>
            </a:r>
          </a:p>
          <a:p xmlns:a="http://schemas.openxmlformats.org/drawingml/2006/main">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What would be the most likely consequence of an increase in government expenditure of $1000m?</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095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Import expenditure would increase by $200m.</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762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Import expenditure would increase by $1000m.</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429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Tax revenues would increase by $75m.</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095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Tax revenues would increase by $375m.</a:t>
            </a:r>
          </a:p>
        </p:txBody>
      </p:sp>
    </p:spTree>
    <p:extLst>
      <p:ext uri="{BB962C8B-B14F-4D97-AF65-F5344CB8AC3E}">
        <p14:creationId xmlns:p14="http://schemas.microsoft.com/office/powerpoint/2010/main" val="160088276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9708/31/O/N/23 Q17</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33</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9526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What might decrease if a closed economy with a government sector decides to allow international trade?</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components of aggregate expenditure</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number of injections into the circular flow of income</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number of leakages from the circular flow of income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value of the economy’s multiplier</a:t>
            </a:r>
          </a:p>
        </p:txBody>
      </p:sp>
    </p:spTree>
    <p:extLst>
      <p:ext uri="{BB962C8B-B14F-4D97-AF65-F5344CB8AC3E}">
        <p14:creationId xmlns:p14="http://schemas.microsoft.com/office/powerpoint/2010/main" val="160088276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28-title">
            <a:extLst xmlns:a="http://schemas.openxmlformats.org/drawingml/2006/main">
              <a:ext uri="{FF2B5EF4-FFF2-40B4-BE49-F238E27FC236}">
                <a16:creationId xmlns:a16="http://schemas.microsoft.com/office/drawing/2014/main" id="{6803C822-5FCC-46B1-9DC5-6A919507D68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calculations and trade</a:t>
            </a:r>
          </a:p>
        </p:txBody>
      </p:sp>
      <p:cxnSp>
        <p:nvCxnSpPr>
          <p:cNvPr id="125" name="Straight Arrow Connector 88"/>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3BD99998-3687-47AF-9CE9-D174A5660C4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5C97E3E-7E79-4767-A7F2-FC8021EB938D}"/>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34</a:t>
            </a:r>
          </a:p>
        </p:txBody>
      </p:sp>
      <p:sp>
        <p:nvSpPr>
          <p:cNvPr id="5" name="Rectangle 4">
            <a:extLst xmlns:a="http://schemas.openxmlformats.org/drawingml/2006/main">
              <a:ext uri="{FF2B5EF4-FFF2-40B4-BE49-F238E27FC236}">
                <a16:creationId xmlns:a16="http://schemas.microsoft.com/office/drawing/2014/main" id="{63C20010-C4D6-441B-B36B-28E06521E701}"/>
              </a:ext>
            </a:extLst>
          </p:cNvPr>
          <p:cNvSpPr>
            <a:spLocks xmlns:a="http://schemas.openxmlformats.org/drawingml/2006/main" noGrp="1"/>
          </p:cNvSpPr>
          <p:nvPr/>
        </p:nvSpPr>
        <p:spPr>
          <a:xfrm xmlns:a="http://schemas.openxmlformats.org/drawingml/2006/main">
            <a:off x="809625" y="166687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1  B</a:t>
            </a:r>
          </a:p>
        </p:txBody>
      </p:sp>
      <p:sp>
        <p:nvSpPr>
          <p:cNvPr id="6" name="Rectangle 5">
            <a:extLst xmlns:a="http://schemas.openxmlformats.org/drawingml/2006/main">
              <a:ext uri="{FF2B5EF4-FFF2-40B4-BE49-F238E27FC236}">
                <a16:creationId xmlns:a16="http://schemas.microsoft.com/office/drawing/2014/main" id="{6AE0371F-C661-420B-A6AF-A2FBBDE856E2}"/>
              </a:ext>
            </a:extLst>
          </p:cNvPr>
          <p:cNvSpPr>
            <a:spLocks xmlns:a="http://schemas.openxmlformats.org/drawingml/2006/main" noGrp="1"/>
          </p:cNvSpPr>
          <p:nvPr/>
        </p:nvSpPr>
        <p:spPr>
          <a:xfrm xmlns:a="http://schemas.openxmlformats.org/drawingml/2006/main">
            <a:off x="2667000" y="166687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MPW = 0.20</a:t>
            </a:r>
          </a:p>
        </p:txBody>
      </p:sp>
      <p:sp>
        <p:nvSpPr>
          <p:cNvPr id="7" name="Rectangle 6">
            <a:extLst xmlns:a="http://schemas.openxmlformats.org/drawingml/2006/main">
              <a:ext uri="{FF2B5EF4-FFF2-40B4-BE49-F238E27FC236}">
                <a16:creationId xmlns:a16="http://schemas.microsoft.com/office/drawing/2014/main" id="{1547264C-3480-4850-9BE3-3746B50AB9BB}"/>
              </a:ext>
            </a:extLst>
          </p:cNvPr>
          <p:cNvSpPr>
            <a:spLocks xmlns:a="http://schemas.openxmlformats.org/drawingml/2006/main" noGrp="1"/>
          </p:cNvSpPr>
          <p:nvPr/>
        </p:nvSpPr>
        <p:spPr>
          <a:xfrm xmlns:a="http://schemas.openxmlformats.org/drawingml/2006/main">
            <a:off x="6667500" y="166687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59616B"/>
                </a:solidFill>
                <a:latin typeface="Arial"/>
                <a:ea typeface="Arial"/>
                <a:cs typeface="Arial"/>
              </a:defRPr>
            </a:pPr>
            <a:r>
              <a:rPr sz="1875" b="0" i="0">
                <a:solidFill>
                  <a:srgbClr val="59616B"/>
                </a:solidFill>
                <a:latin typeface="Arial"/>
                <a:ea typeface="Arial"/>
                <a:cs typeface="Arial"/>
              </a:rPr>
              <a:t>k = 5, so ΔY = $500m.</a:t>
            </a:r>
          </a:p>
        </p:txBody>
      </p:sp>
      <p:cxnSp>
        <p:nvCxnSpPr>
          <p:cNvPr id="131" name="Straight Arrow Connector 94"/>
          <p:cNvCxnSpPr/>
          <p:nvPr/>
        </p:nvCxnSpPr>
        <p:spPr>
          <a:xfrm xmlns:a="http://schemas.openxmlformats.org/drawingml/2006/main">
            <a:off x="809625" y="2667000"/>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Rectangle 8">
            <a:extLst xmlns:a="http://schemas.openxmlformats.org/drawingml/2006/main">
              <a:ext uri="{FF2B5EF4-FFF2-40B4-BE49-F238E27FC236}">
                <a16:creationId xmlns:a16="http://schemas.microsoft.com/office/drawing/2014/main" id="{07F9070C-813F-478A-81BD-7DB6489B9A98}"/>
              </a:ext>
            </a:extLst>
          </p:cNvPr>
          <p:cNvSpPr>
            <a:spLocks xmlns:a="http://schemas.openxmlformats.org/drawingml/2006/main" noGrp="1"/>
          </p:cNvSpPr>
          <p:nvPr/>
        </p:nvSpPr>
        <p:spPr>
          <a:xfrm xmlns:a="http://schemas.openxmlformats.org/drawingml/2006/main">
            <a:off x="809625" y="304800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2  D</a:t>
            </a:r>
          </a:p>
        </p:txBody>
      </p:sp>
      <p:sp>
        <p:nvSpPr>
          <p:cNvPr id="10" name="Rectangle 9">
            <a:extLst xmlns:a="http://schemas.openxmlformats.org/drawingml/2006/main">
              <a:ext uri="{FF2B5EF4-FFF2-40B4-BE49-F238E27FC236}">
                <a16:creationId xmlns:a16="http://schemas.microsoft.com/office/drawing/2014/main" id="{0679F31D-A495-4D12-AACB-2460F8221326}"/>
              </a:ext>
            </a:extLst>
          </p:cNvPr>
          <p:cNvSpPr>
            <a:spLocks xmlns:a="http://schemas.openxmlformats.org/drawingml/2006/main" noGrp="1"/>
          </p:cNvSpPr>
          <p:nvPr/>
        </p:nvSpPr>
        <p:spPr>
          <a:xfrm xmlns:a="http://schemas.openxmlformats.org/drawingml/2006/main">
            <a:off x="2667000" y="3048000"/>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ΔY = $1,250m</a:t>
            </a:r>
          </a:p>
        </p:txBody>
      </p:sp>
      <p:sp>
        <p:nvSpPr>
          <p:cNvPr id="11" name="Rectangle 10">
            <a:extLst xmlns:a="http://schemas.openxmlformats.org/drawingml/2006/main">
              <a:ext uri="{FF2B5EF4-FFF2-40B4-BE49-F238E27FC236}">
                <a16:creationId xmlns:a16="http://schemas.microsoft.com/office/drawing/2014/main" id="{AD71A006-F2E8-45AD-9AC9-EBDFCE5EFB45}"/>
              </a:ext>
            </a:extLst>
          </p:cNvPr>
          <p:cNvSpPr>
            <a:spLocks xmlns:a="http://schemas.openxmlformats.org/drawingml/2006/main" noGrp="1"/>
          </p:cNvSpPr>
          <p:nvPr/>
        </p:nvSpPr>
        <p:spPr>
          <a:xfrm xmlns:a="http://schemas.openxmlformats.org/drawingml/2006/main">
            <a:off x="6667500" y="304800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59616B"/>
                </a:solidFill>
                <a:latin typeface="Arial"/>
                <a:ea typeface="Arial"/>
                <a:cs typeface="Arial"/>
              </a:defRPr>
            </a:pPr>
            <a:r>
              <a:rPr sz="1875" b="0" i="0">
                <a:solidFill>
                  <a:srgbClr val="59616B"/>
                </a:solidFill>
                <a:latin typeface="Arial"/>
                <a:ea typeface="Arial"/>
                <a:cs typeface="Arial"/>
              </a:rPr>
              <a:t>ΔT = 0.30 × 1,250 = $375m.</a:t>
            </a:r>
          </a:p>
        </p:txBody>
      </p:sp>
      <p:cxnSp>
        <p:nvCxnSpPr>
          <p:cNvPr id="135" name="Straight Arrow Connector 98"/>
          <p:cNvCxnSpPr/>
          <p:nvPr/>
        </p:nvCxnSpPr>
        <p:spPr>
          <a:xfrm xmlns:a="http://schemas.openxmlformats.org/drawingml/2006/main">
            <a:off x="809625" y="4048125"/>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Rectangle 12">
            <a:extLst xmlns:a="http://schemas.openxmlformats.org/drawingml/2006/main">
              <a:ext uri="{FF2B5EF4-FFF2-40B4-BE49-F238E27FC236}">
                <a16:creationId xmlns:a16="http://schemas.microsoft.com/office/drawing/2014/main" id="{E2EADD9C-34B7-423A-8481-007ACD14F25D}"/>
              </a:ext>
            </a:extLst>
          </p:cNvPr>
          <p:cNvSpPr>
            <a:spLocks xmlns:a="http://schemas.openxmlformats.org/drawingml/2006/main" noGrp="1"/>
          </p:cNvSpPr>
          <p:nvPr/>
        </p:nvSpPr>
        <p:spPr>
          <a:xfrm xmlns:a="http://schemas.openxmlformats.org/drawingml/2006/main">
            <a:off x="809625" y="442912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3  D</a:t>
            </a:r>
          </a:p>
        </p:txBody>
      </p:sp>
      <p:sp>
        <p:nvSpPr>
          <p:cNvPr id="14" name="Rectangle 13">
            <a:extLst xmlns:a="http://schemas.openxmlformats.org/drawingml/2006/main">
              <a:ext uri="{FF2B5EF4-FFF2-40B4-BE49-F238E27FC236}">
                <a16:creationId xmlns:a16="http://schemas.microsoft.com/office/drawing/2014/main" id="{78865455-ED7B-460B-AB6E-5953BFF844FB}"/>
              </a:ext>
            </a:extLst>
          </p:cNvPr>
          <p:cNvSpPr>
            <a:spLocks xmlns:a="http://schemas.openxmlformats.org/drawingml/2006/main" noGrp="1"/>
          </p:cNvSpPr>
          <p:nvPr/>
        </p:nvSpPr>
        <p:spPr>
          <a:xfrm xmlns:a="http://schemas.openxmlformats.org/drawingml/2006/main">
            <a:off x="2667000" y="44291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Opening to trade</a:t>
            </a:r>
          </a:p>
        </p:txBody>
      </p:sp>
      <p:sp>
        <p:nvSpPr>
          <p:cNvPr id="15" name="Rectangle 14">
            <a:extLst xmlns:a="http://schemas.openxmlformats.org/drawingml/2006/main">
              <a:ext uri="{FF2B5EF4-FFF2-40B4-BE49-F238E27FC236}">
                <a16:creationId xmlns:a16="http://schemas.microsoft.com/office/drawing/2014/main" id="{ED8AAA65-6C01-42A5-AB42-3EBD2841E328}"/>
              </a:ext>
            </a:extLst>
          </p:cNvPr>
          <p:cNvSpPr>
            <a:spLocks xmlns:a="http://schemas.openxmlformats.org/drawingml/2006/main" noGrp="1"/>
          </p:cNvSpPr>
          <p:nvPr/>
        </p:nvSpPr>
        <p:spPr>
          <a:xfrm xmlns:a="http://schemas.openxmlformats.org/drawingml/2006/main">
            <a:off x="6667500" y="442912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Imports add a leakage, so MPW rises and k falls.</a:t>
            </a:r>
          </a:p>
        </p:txBody>
      </p:sp>
    </p:spTree>
    <p:extLst>
      <p:ext uri="{BB962C8B-B14F-4D97-AF65-F5344CB8AC3E}">
        <p14:creationId xmlns:p14="http://schemas.microsoft.com/office/powerpoint/2010/main" val="175383642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9-title">
            <a:extLst xmlns:a="http://schemas.openxmlformats.org/drawingml/2006/main">
              <a:ext uri="{FF2B5EF4-FFF2-40B4-BE49-F238E27FC236}">
                <a16:creationId xmlns:a16="http://schemas.microsoft.com/office/drawing/2014/main" id="{64BB336E-D6D4-4954-86E1-50C2921E80A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9708/41/O/N/24 Q1(b) [4]</a:t>
            </a:r>
          </a:p>
        </p:txBody>
      </p:sp>
      <p:cxnSp>
        <p:nvCxnSpPr>
          <p:cNvPr id="28" name="Straight Arrow Connector 21"/>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9F8EEA27-5156-4EE2-9C9A-FC8019FF006C}"/>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B150D57-C97C-4348-AE13-E46B1C9689B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35</a:t>
            </a:r>
          </a:p>
        </p:txBody>
      </p:sp>
      <p:sp>
        <p:nvSpPr>
          <p:cNvPr id="5" name="Rectangle 4">
            <a:extLst xmlns:a="http://schemas.openxmlformats.org/drawingml/2006/main">
              <a:ext uri="{FF2B5EF4-FFF2-40B4-BE49-F238E27FC236}">
                <a16:creationId xmlns:a16="http://schemas.microsoft.com/office/drawing/2014/main" id="{C019E555-1B74-4D2B-A021-8ECB42B594EE}"/>
              </a:ext>
            </a:extLst>
          </p:cNvPr>
          <p:cNvSpPr>
            <a:spLocks xmlns:a="http://schemas.openxmlformats.org/drawingml/2006/main" noGrp="1"/>
          </p:cNvSpPr>
          <p:nvPr/>
        </p:nvSpPr>
        <p:spPr>
          <a:xfrm xmlns:a="http://schemas.openxmlformats.org/drawingml/2006/main">
            <a:off x="857250" y="1666875"/>
            <a:ext cx="10477500" cy="2000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DFD8891B-9E8C-4789-BF50-00A7BB59BB7C}"/>
              </a:ext>
            </a:extLst>
          </p:cNvPr>
          <p:cNvSpPr>
            <a:spLocks xmlns:a="http://schemas.openxmlformats.org/drawingml/2006/main" noGrp="1"/>
          </p:cNvSpPr>
          <p:nvPr/>
        </p:nvSpPr>
        <p:spPr>
          <a:xfrm xmlns:a="http://schemas.openxmlformats.org/drawingml/2006/main">
            <a:off x="1285875" y="2095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Explain how the extraction of natural resources in Ghana will ‘create further employment in other sectors through the multiplier effect’. [4]</a:t>
            </a:r>
          </a:p>
        </p:txBody>
      </p:sp>
      <p:sp>
        <p:nvSpPr>
          <p:cNvPr id="7" name="Rectangle 6">
            <a:extLst xmlns:a="http://schemas.openxmlformats.org/drawingml/2006/main">
              <a:ext uri="{FF2B5EF4-FFF2-40B4-BE49-F238E27FC236}">
                <a16:creationId xmlns:a16="http://schemas.microsoft.com/office/drawing/2014/main" id="{D875EA82-00A8-460E-B0C7-8A8F353F8143}"/>
              </a:ext>
            </a:extLst>
          </p:cNvPr>
          <p:cNvSpPr>
            <a:spLocks xmlns:a="http://schemas.openxmlformats.org/drawingml/2006/main" noGrp="1"/>
          </p:cNvSpPr>
          <p:nvPr/>
        </p:nvSpPr>
        <p:spPr>
          <a:xfrm xmlns:a="http://schemas.openxmlformats.org/drawingml/2006/main">
            <a:off x="1428750" y="41910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MARK TARGET</a:t>
            </a:r>
          </a:p>
        </p:txBody>
      </p:sp>
      <p:sp>
        <p:nvSpPr>
          <p:cNvPr id="8" name="Rectangle 7">
            <a:extLst xmlns:a="http://schemas.openxmlformats.org/drawingml/2006/main">
              <a:ext uri="{FF2B5EF4-FFF2-40B4-BE49-F238E27FC236}">
                <a16:creationId xmlns:a16="http://schemas.microsoft.com/office/drawing/2014/main" id="{A9317FF2-B123-4F5D-9F35-CDCCE0B64A10}"/>
              </a:ext>
            </a:extLst>
          </p:cNvPr>
          <p:cNvSpPr>
            <a:spLocks xmlns:a="http://schemas.openxmlformats.org/drawingml/2006/main" noGrp="1"/>
          </p:cNvSpPr>
          <p:nvPr/>
        </p:nvSpPr>
        <p:spPr>
          <a:xfrm xmlns:a="http://schemas.openxmlformats.org/drawingml/2006/main">
            <a:off x="1428750" y="46672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0" i="0">
                <a:solidFill>
                  <a:srgbClr val="000000"/>
                </a:solidFill>
                <a:latin typeface="Arial"/>
                <a:ea typeface="Arial"/>
                <a:cs typeface="Arial"/>
              </a:defRPr>
            </a:pPr>
            <a:r>
              <a:rPr sz="2025" b="0" i="0">
                <a:solidFill>
                  <a:srgbClr val="000000"/>
                </a:solidFill>
                <a:latin typeface="Arial"/>
                <a:ea typeface="Arial"/>
                <a:cs typeface="Arial"/>
              </a:rPr>
              <a:t>2 marks: multiplier knowledge | 2 marks: case application</a:t>
            </a:r>
          </a:p>
        </p:txBody>
      </p:sp>
    </p:spTree>
    <p:extLst>
      <p:ext uri="{BB962C8B-B14F-4D97-AF65-F5344CB8AC3E}">
        <p14:creationId xmlns:p14="http://schemas.microsoft.com/office/powerpoint/2010/main" val="109163777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30-title">
            <a:extLst xmlns:a="http://schemas.openxmlformats.org/drawingml/2006/main">
              <a:ext uri="{FF2B5EF4-FFF2-40B4-BE49-F238E27FC236}">
                <a16:creationId xmlns:a16="http://schemas.microsoft.com/office/drawing/2014/main" id="{C8F62F67-5E23-414B-820A-0BF66CC3B60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Ghana multiplier chain</a:t>
            </a:r>
          </a:p>
        </p:txBody>
      </p:sp>
      <p:cxnSp>
        <p:nvCxnSpPr>
          <p:cNvPr id="81" name="Straight Arrow Connector 5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867EC3-3B94-464A-A337-5248D0C6CD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28FD230-6FFE-485F-BE7B-FFC9B856C76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36</a:t>
            </a:r>
          </a:p>
        </p:txBody>
      </p:sp>
      <p:cxnSp>
        <p:nvCxnSpPr>
          <p:cNvPr id="84" name="Straight Arrow Connector 62"/>
          <p:cNvCxnSpPr/>
          <p:nvPr/>
        </p:nvCxnSpPr>
        <p:spPr>
          <a:xfrm xmlns:a="http://schemas.openxmlformats.org/drawingml/2006/main">
            <a:off x="3143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5" name="Straight Arrow Connector 63"/>
          <p:cNvCxnSpPr/>
          <p:nvPr/>
        </p:nvCxnSpPr>
        <p:spPr>
          <a:xfrm xmlns:a="http://schemas.openxmlformats.org/drawingml/2006/main">
            <a:off x="60007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6" name="Straight Arrow Connector 64"/>
          <p:cNvCxnSpPr/>
          <p:nvPr/>
        </p:nvCxnSpPr>
        <p:spPr>
          <a:xfrm xmlns:a="http://schemas.openxmlformats.org/drawingml/2006/main">
            <a:off x="8858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E330697-18B0-4EE9-BD5D-E00820D97D9D}"/>
              </a:ext>
            </a:extLst>
          </p:cNvPr>
          <p:cNvSpPr>
            <a:spLocks xmlns:a="http://schemas.openxmlformats.org/drawingml/2006/main" noGrp="1"/>
          </p:cNvSpPr>
          <p:nvPr/>
        </p:nvSpPr>
        <p:spPr>
          <a:xfrm xmlns:a="http://schemas.openxmlformats.org/drawingml/2006/main">
            <a:off x="571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DEFINE</a:t>
            </a:r>
          </a:p>
        </p:txBody>
      </p:sp>
      <p:sp>
        <p:nvSpPr>
          <p:cNvPr id="9" name="Rectangle 8">
            <a:extLst xmlns:a="http://schemas.openxmlformats.org/drawingml/2006/main">
              <a:ext uri="{FF2B5EF4-FFF2-40B4-BE49-F238E27FC236}">
                <a16:creationId xmlns:a16="http://schemas.microsoft.com/office/drawing/2014/main" id="{B19562FE-DE2A-4052-964A-B412A0DE3A0F}"/>
              </a:ext>
            </a:extLst>
          </p:cNvPr>
          <p:cNvSpPr>
            <a:spLocks xmlns:a="http://schemas.openxmlformats.org/drawingml/2006/main" noGrp="1"/>
          </p:cNvSpPr>
          <p:nvPr/>
        </p:nvSpPr>
        <p:spPr>
          <a:xfrm xmlns:a="http://schemas.openxmlformats.org/drawingml/2006/main">
            <a:off x="571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000000"/>
                </a:solidFill>
                <a:latin typeface="Arial"/>
                <a:ea typeface="Arial"/>
                <a:cs typeface="Arial"/>
              </a:defRPr>
            </a:pPr>
            <a:r>
              <a:rPr sz="1575" b="1" i="0">
                <a:solidFill>
                  <a:srgbClr val="000000"/>
                </a:solidFill>
                <a:latin typeface="Arial"/>
                <a:ea typeface="Arial"/>
                <a:cs typeface="Arial"/>
              </a:rPr>
              <a:t>Multiplier = total rise in output from an initial injection; k = ΔY/ΔJ.</a:t>
            </a:r>
          </a:p>
        </p:txBody>
      </p:sp>
      <p:sp>
        <p:nvSpPr>
          <p:cNvPr id="10" name="Rectangle 9">
            <a:extLst xmlns:a="http://schemas.openxmlformats.org/drawingml/2006/main">
              <a:ext uri="{FF2B5EF4-FFF2-40B4-BE49-F238E27FC236}">
                <a16:creationId xmlns:a16="http://schemas.microsoft.com/office/drawing/2014/main" id="{9D6D74AC-211E-495B-ADD1-776C49D0BF03}"/>
              </a:ext>
            </a:extLst>
          </p:cNvPr>
          <p:cNvSpPr>
            <a:spLocks xmlns:a="http://schemas.openxmlformats.org/drawingml/2006/main" noGrp="1"/>
          </p:cNvSpPr>
          <p:nvPr/>
        </p:nvSpPr>
        <p:spPr>
          <a:xfrm xmlns:a="http://schemas.openxmlformats.org/drawingml/2006/main">
            <a:off x="3429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APPLY 1</a:t>
            </a:r>
          </a:p>
        </p:txBody>
      </p:sp>
      <p:sp>
        <p:nvSpPr>
          <p:cNvPr id="11" name="Rectangle 10">
            <a:extLst xmlns:a="http://schemas.openxmlformats.org/drawingml/2006/main">
              <a:ext uri="{FF2B5EF4-FFF2-40B4-BE49-F238E27FC236}">
                <a16:creationId xmlns:a16="http://schemas.microsoft.com/office/drawing/2014/main" id="{7495D2F6-481A-492F-9B33-9CB49A5DA670}"/>
              </a:ext>
            </a:extLst>
          </p:cNvPr>
          <p:cNvSpPr>
            <a:spLocks xmlns:a="http://schemas.openxmlformats.org/drawingml/2006/main" noGrp="1"/>
          </p:cNvSpPr>
          <p:nvPr/>
        </p:nvSpPr>
        <p:spPr>
          <a:xfrm xmlns:a="http://schemas.openxmlformats.org/drawingml/2006/main">
            <a:off x="3429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Oil extraction creates new jobs and incomes in Ghana.</a:t>
            </a:r>
          </a:p>
        </p:txBody>
      </p:sp>
      <p:sp>
        <p:nvSpPr>
          <p:cNvPr id="12" name="Rectangle 11">
            <a:extLst xmlns:a="http://schemas.openxmlformats.org/drawingml/2006/main">
              <a:ext uri="{FF2B5EF4-FFF2-40B4-BE49-F238E27FC236}">
                <a16:creationId xmlns:a16="http://schemas.microsoft.com/office/drawing/2014/main" id="{83944F80-9C2B-48C4-AF9D-5362AEDAE5C5}"/>
              </a:ext>
            </a:extLst>
          </p:cNvPr>
          <p:cNvSpPr>
            <a:spLocks xmlns:a="http://schemas.openxmlformats.org/drawingml/2006/main" noGrp="1"/>
          </p:cNvSpPr>
          <p:nvPr/>
        </p:nvSpPr>
        <p:spPr>
          <a:xfrm xmlns:a="http://schemas.openxmlformats.org/drawingml/2006/main">
            <a:off x="6286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APPLY 2</a:t>
            </a:r>
          </a:p>
        </p:txBody>
      </p:sp>
      <p:sp>
        <p:nvSpPr>
          <p:cNvPr id="13" name="Rectangle 12">
            <a:extLst xmlns:a="http://schemas.openxmlformats.org/drawingml/2006/main">
              <a:ext uri="{FF2B5EF4-FFF2-40B4-BE49-F238E27FC236}">
                <a16:creationId xmlns:a16="http://schemas.microsoft.com/office/drawing/2014/main" id="{4131707E-7A04-4C59-A1F3-75683F26DE06}"/>
              </a:ext>
            </a:extLst>
          </p:cNvPr>
          <p:cNvSpPr>
            <a:spLocks xmlns:a="http://schemas.openxmlformats.org/drawingml/2006/main" noGrp="1"/>
          </p:cNvSpPr>
          <p:nvPr/>
        </p:nvSpPr>
        <p:spPr>
          <a:xfrm xmlns:a="http://schemas.openxmlformats.org/drawingml/2006/main">
            <a:off x="6286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Workers spend income in other sectors, creating more jobs and income.</a:t>
            </a:r>
          </a:p>
        </p:txBody>
      </p:sp>
      <p:sp>
        <p:nvSpPr>
          <p:cNvPr id="14" name="Rectangle 13">
            <a:extLst xmlns:a="http://schemas.openxmlformats.org/drawingml/2006/main">
              <a:ext uri="{FF2B5EF4-FFF2-40B4-BE49-F238E27FC236}">
                <a16:creationId xmlns:a16="http://schemas.microsoft.com/office/drawing/2014/main" id="{23EB09EC-A599-44D4-8315-12A476731FBC}"/>
              </a:ext>
            </a:extLst>
          </p:cNvPr>
          <p:cNvSpPr>
            <a:spLocks xmlns:a="http://schemas.openxmlformats.org/drawingml/2006/main" noGrp="1"/>
          </p:cNvSpPr>
          <p:nvPr/>
        </p:nvSpPr>
        <p:spPr>
          <a:xfrm xmlns:a="http://schemas.openxmlformats.org/drawingml/2006/main">
            <a:off x="9144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CHECK</a:t>
            </a:r>
          </a:p>
        </p:txBody>
      </p:sp>
      <p:sp>
        <p:nvSpPr>
          <p:cNvPr id="15" name="Rectangle 14">
            <a:extLst xmlns:a="http://schemas.openxmlformats.org/drawingml/2006/main">
              <a:ext uri="{FF2B5EF4-FFF2-40B4-BE49-F238E27FC236}">
                <a16:creationId xmlns:a16="http://schemas.microsoft.com/office/drawing/2014/main" id="{D9E72E05-144E-4D69-843C-FA0016BF8F08}"/>
              </a:ext>
            </a:extLst>
          </p:cNvPr>
          <p:cNvSpPr>
            <a:spLocks xmlns:a="http://schemas.openxmlformats.org/drawingml/2006/main" noGrp="1"/>
          </p:cNvSpPr>
          <p:nvPr/>
        </p:nvSpPr>
        <p:spPr>
          <a:xfrm xmlns:a="http://schemas.openxmlformats.org/drawingml/2006/main">
            <a:off x="9144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Name Ghana, the injection, income, re-spending and employment.</a:t>
            </a:r>
          </a:p>
        </p:txBody>
      </p:sp>
      <p:sp>
        <p:nvSpPr>
          <p:cNvPr id="16" name="Rectangle 15">
            <a:extLst xmlns:a="http://schemas.openxmlformats.org/drawingml/2006/main">
              <a:ext uri="{FF2B5EF4-FFF2-40B4-BE49-F238E27FC236}">
                <a16:creationId xmlns:a16="http://schemas.microsoft.com/office/drawing/2014/main" id="{0CDFD4F0-60E8-4FC5-A094-E92B2A40C7E7}"/>
              </a:ext>
            </a:extLst>
          </p:cNvPr>
          <p:cNvSpPr>
            <a:spLocks xmlns:a="http://schemas.openxmlformats.org/drawingml/2006/main" noGrp="1"/>
          </p:cNvSpPr>
          <p:nvPr/>
        </p:nvSpPr>
        <p:spPr>
          <a:xfrm xmlns:a="http://schemas.openxmlformats.org/drawingml/2006/main">
            <a:off x="1539437" y="602932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1" i="0">
                <a:solidFill>
                  <a:srgbClr val="000000"/>
                </a:solidFill>
                <a:latin typeface="Arial"/>
                <a:ea typeface="Arial"/>
                <a:cs typeface="Arial"/>
              </a:defRPr>
            </a:pPr>
            <a:r>
              <a:rPr sz="1875" b="1" i="0">
                <a:solidFill>
                  <a:srgbClr val="000000"/>
                </a:solidFill>
                <a:latin typeface="Arial"/>
                <a:ea typeface="Arial"/>
                <a:cs typeface="Arial"/>
              </a:rPr>
              <a:t>Do not evaluate in a four-mark 'explain' response; complete the chain.</a:t>
            </a:r>
          </a:p>
        </p:txBody>
      </p:sp>
    </p:spTree>
    <p:extLst>
      <p:ext uri="{BB962C8B-B14F-4D97-AF65-F5344CB8AC3E}">
        <p14:creationId xmlns:p14="http://schemas.microsoft.com/office/powerpoint/2010/main" val="94133379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Teacher-created assessment: multiplier</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37</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9526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open economy with government has MPS = 0.10, MPM = 0.20 and MRT = 0.20. Exports rise by £120m.</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i="0">
                <a:solidFill>
                  <a:srgbClr val="000000"/>
                </a:solidFill>
                <a:latin typeface="Arial"/>
                <a:ea typeface="Arial"/>
                <a:cs typeface="Arial"/>
              </a:rPr>
              <a:t>a  Calculate MPW.</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i="0">
                <a:solidFill>
                  <a:srgbClr val="000000"/>
                </a:solidFill>
                <a:latin typeface="Arial"/>
                <a:ea typeface="Arial"/>
                <a:cs typeface="Arial"/>
              </a:rPr>
              <a:t>b  Calculate the multiplier.</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i="0">
                <a:solidFill>
                  <a:srgbClr val="000000"/>
                </a:solidFill>
                <a:latin typeface="Arial"/>
                <a:ea typeface="Arial"/>
                <a:cs typeface="Arial"/>
              </a:rPr>
              <a:t>c  Calculate the final change in national income.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Explain one reason why the rise in real GDP may be smaller than your answer to c.</a:t>
            </a:r>
          </a:p>
        </p:txBody>
      </p:sp>
    </p:spTree>
    <p:extLst>
      <p:ext uri="{BB962C8B-B14F-4D97-AF65-F5344CB8AC3E}">
        <p14:creationId xmlns:p14="http://schemas.microsoft.com/office/powerpoint/2010/main" val="160088276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32-title">
            <a:extLst xmlns:a="http://schemas.openxmlformats.org/drawingml/2006/main">
              <a:ext uri="{FF2B5EF4-FFF2-40B4-BE49-F238E27FC236}">
                <a16:creationId xmlns:a16="http://schemas.microsoft.com/office/drawing/2014/main" id="{9B894E70-433A-4BF7-990F-7D05587A6D5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Core Lessons 1-2: process, size and outcome</a:t>
            </a:r>
          </a:p>
        </p:txBody>
      </p:sp>
      <p:cxnSp>
        <p:nvCxnSpPr>
          <p:cNvPr id="62" name="Straight Arrow Connector 4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ABCE905A-A9B8-46C4-BCCF-C6B59E6CB22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979478D-5CE9-4E38-9195-1E97D33D590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38</a:t>
            </a:r>
          </a:p>
        </p:txBody>
      </p:sp>
      <p:cxnSp>
        <p:nvCxnSpPr>
          <p:cNvPr id="65" name="Straight Arrow Connector 49"/>
          <p:cNvCxnSpPr/>
          <p:nvPr/>
        </p:nvCxnSpPr>
        <p:spPr>
          <a:xfrm xmlns:a="http://schemas.openxmlformats.org/drawingml/2006/main">
            <a:off x="1638169" y="2514647"/>
            <a:ext cx="8953500" cy="95"/>
          </a:xfrm>
          <a:prstGeom xmlns:a="http://schemas.openxmlformats.org/drawingml/2006/main" prst="straightConnector1">
            <a:avLst/>
          </a:prstGeom>
          <a:ln xmlns:a="http://schemas.openxmlformats.org/drawingml/2006/main" w="28575">
            <a:solidFill>
              <a:srgbClr val="B8BCC4"/>
            </a:solidFill>
            <a:prstDash val="solid"/>
          </a:ln>
        </p:spPr>
      </p:cxnSp>
      <p:sp>
        <p:nvSpPr>
          <p:cNvPr id="6" name="Oval 5">
            <a:extLst xmlns:a="http://schemas.openxmlformats.org/drawingml/2006/main">
              <a:ext uri="{FF2B5EF4-FFF2-40B4-BE49-F238E27FC236}">
                <a16:creationId xmlns:a16="http://schemas.microsoft.com/office/drawing/2014/main" id="{6B5182AC-9591-4B6A-95DA-A6850D5AA88C}"/>
              </a:ext>
            </a:extLst>
          </p:cNvPr>
          <p:cNvSpPr>
            <a:spLocks xmlns:a="http://schemas.openxmlformats.org/drawingml/2006/main" noGrp="1"/>
          </p:cNvSpPr>
          <p:nvPr/>
        </p:nvSpPr>
        <p:spPr>
          <a:xfrm xmlns:a="http://schemas.openxmlformats.org/drawingml/2006/main">
            <a:off x="1257169" y="1990772"/>
            <a:ext cx="1047750" cy="10477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Rectangle 6">
            <a:extLst xmlns:a="http://schemas.openxmlformats.org/drawingml/2006/main">
              <a:ext uri="{FF2B5EF4-FFF2-40B4-BE49-F238E27FC236}">
                <a16:creationId xmlns:a16="http://schemas.microsoft.com/office/drawing/2014/main" id="{C0D61783-26B6-4A86-88AF-9E7ECD2CF4C8}"/>
              </a:ext>
            </a:extLst>
          </p:cNvPr>
          <p:cNvSpPr>
            <a:spLocks xmlns:a="http://schemas.openxmlformats.org/drawingml/2006/main" noGrp="1"/>
          </p:cNvSpPr>
          <p:nvPr/>
        </p:nvSpPr>
        <p:spPr>
          <a:xfrm xmlns:a="http://schemas.openxmlformats.org/drawingml/2006/main">
            <a:off x="876169" y="3419522"/>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PROCESS</a:t>
            </a:r>
          </a:p>
        </p:txBody>
      </p:sp>
      <p:sp>
        <p:nvSpPr>
          <p:cNvPr id="8" name="Rectangle 7">
            <a:extLst xmlns:a="http://schemas.openxmlformats.org/drawingml/2006/main">
              <a:ext uri="{FF2B5EF4-FFF2-40B4-BE49-F238E27FC236}">
                <a16:creationId xmlns:a16="http://schemas.microsoft.com/office/drawing/2014/main" id="{2EB3DF0D-D324-40FC-8735-94DB2341616D}"/>
              </a:ext>
            </a:extLst>
          </p:cNvPr>
          <p:cNvSpPr>
            <a:spLocks xmlns:a="http://schemas.openxmlformats.org/drawingml/2006/main" noGrp="1"/>
          </p:cNvSpPr>
          <p:nvPr/>
        </p:nvSpPr>
        <p:spPr>
          <a:xfrm xmlns:a="http://schemas.openxmlformats.org/drawingml/2006/main">
            <a:off x="495169" y="3895772"/>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An injection becomes income, then repeated rounds of spending.</a:t>
            </a:r>
          </a:p>
        </p:txBody>
      </p:sp>
      <p:sp>
        <p:nvSpPr>
          <p:cNvPr id="9" name="Oval 8">
            <a:extLst xmlns:a="http://schemas.openxmlformats.org/drawingml/2006/main">
              <a:ext uri="{FF2B5EF4-FFF2-40B4-BE49-F238E27FC236}">
                <a16:creationId xmlns:a16="http://schemas.microsoft.com/office/drawing/2014/main" id="{9EE759D6-35AF-45C3-B516-0D6A2792B0D1}"/>
              </a:ext>
            </a:extLst>
          </p:cNvPr>
          <p:cNvSpPr>
            <a:spLocks xmlns:a="http://schemas.openxmlformats.org/drawingml/2006/main" noGrp="1"/>
          </p:cNvSpPr>
          <p:nvPr/>
        </p:nvSpPr>
        <p:spPr>
          <a:xfrm xmlns:a="http://schemas.openxmlformats.org/drawingml/2006/main">
            <a:off x="4781419" y="1990772"/>
            <a:ext cx="1047750" cy="10477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2</a:t>
            </a:r>
          </a:p>
        </p:txBody>
      </p:sp>
      <p:sp>
        <p:nvSpPr>
          <p:cNvPr id="10" name="Rectangle 9">
            <a:extLst xmlns:a="http://schemas.openxmlformats.org/drawingml/2006/main">
              <a:ext uri="{FF2B5EF4-FFF2-40B4-BE49-F238E27FC236}">
                <a16:creationId xmlns:a16="http://schemas.microsoft.com/office/drawing/2014/main" id="{6768D990-09E5-4BD3-B19C-F71818DCB80A}"/>
              </a:ext>
            </a:extLst>
          </p:cNvPr>
          <p:cNvSpPr>
            <a:spLocks xmlns:a="http://schemas.openxmlformats.org/drawingml/2006/main" noGrp="1"/>
          </p:cNvSpPr>
          <p:nvPr/>
        </p:nvSpPr>
        <p:spPr>
          <a:xfrm xmlns:a="http://schemas.openxmlformats.org/drawingml/2006/main">
            <a:off x="4400419" y="3419522"/>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SIZE</a:t>
            </a:r>
          </a:p>
        </p:txBody>
      </p:sp>
      <p:sp>
        <p:nvSpPr>
          <p:cNvPr id="11" name="Rectangle 10">
            <a:extLst xmlns:a="http://schemas.openxmlformats.org/drawingml/2006/main">
              <a:ext uri="{FF2B5EF4-FFF2-40B4-BE49-F238E27FC236}">
                <a16:creationId xmlns:a16="http://schemas.microsoft.com/office/drawing/2014/main" id="{0F1CACD2-4FA1-46FC-A4E0-84860FBAE73B}"/>
              </a:ext>
            </a:extLst>
          </p:cNvPr>
          <p:cNvSpPr>
            <a:spLocks xmlns:a="http://schemas.openxmlformats.org/drawingml/2006/main" noGrp="1"/>
          </p:cNvSpPr>
          <p:nvPr/>
        </p:nvSpPr>
        <p:spPr>
          <a:xfrm xmlns:a="http://schemas.openxmlformats.org/drawingml/2006/main">
            <a:off x="4019419" y="3895772"/>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k = 1/MPW. More saving, imports or tax means a smaller multiplier.</a:t>
            </a:r>
          </a:p>
        </p:txBody>
      </p:sp>
      <p:sp>
        <p:nvSpPr>
          <p:cNvPr id="12" name="Oval 11">
            <a:extLst xmlns:a="http://schemas.openxmlformats.org/drawingml/2006/main">
              <a:ext uri="{FF2B5EF4-FFF2-40B4-BE49-F238E27FC236}">
                <a16:creationId xmlns:a16="http://schemas.microsoft.com/office/drawing/2014/main" id="{560CD2CC-3ABD-48E1-8803-E64FD5AE5AB5}"/>
              </a:ext>
            </a:extLst>
          </p:cNvPr>
          <p:cNvSpPr>
            <a:spLocks xmlns:a="http://schemas.openxmlformats.org/drawingml/2006/main" noGrp="1"/>
          </p:cNvSpPr>
          <p:nvPr/>
        </p:nvSpPr>
        <p:spPr>
          <a:xfrm xmlns:a="http://schemas.openxmlformats.org/drawingml/2006/main">
            <a:off x="8305669" y="1990772"/>
            <a:ext cx="1047750" cy="1047750"/>
          </a:xfrm>
          <a:prstGeom xmlns:a="http://schemas.openxmlformats.org/drawingml/2006/main" prst="ellipse">
            <a:avLst/>
          </a:prstGeom>
          <a:solidFill xmlns:a="http://schemas.openxmlformats.org/drawingml/2006/main">
            <a:srgbClr val="EAF6EF"/>
          </a:solidFill>
          <a:ln xmlns:a="http://schemas.openxmlformats.org/drawingml/2006/main" w="9525">
            <a:solidFill>
              <a:srgbClr val="2B9A6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13" name="Rectangle 12">
            <a:extLst xmlns:a="http://schemas.openxmlformats.org/drawingml/2006/main">
              <a:ext uri="{FF2B5EF4-FFF2-40B4-BE49-F238E27FC236}">
                <a16:creationId xmlns:a16="http://schemas.microsoft.com/office/drawing/2014/main" id="{8CBA91D2-B24D-458B-953A-52712ACCDEEC}"/>
              </a:ext>
            </a:extLst>
          </p:cNvPr>
          <p:cNvSpPr>
            <a:spLocks xmlns:a="http://schemas.openxmlformats.org/drawingml/2006/main" noGrp="1"/>
          </p:cNvSpPr>
          <p:nvPr/>
        </p:nvSpPr>
        <p:spPr>
          <a:xfrm xmlns:a="http://schemas.openxmlformats.org/drawingml/2006/main">
            <a:off x="7924669" y="3419522"/>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425" b="1" i="0">
                <a:solidFill>
                  <a:srgbClr val="2B9A66"/>
                </a:solidFill>
                <a:latin typeface="Arial"/>
                <a:ea typeface="Arial"/>
                <a:cs typeface="Arial"/>
              </a:defRPr>
            </a:pPr>
            <a:r>
              <a:rPr sz="1425" b="1" i="0">
                <a:solidFill>
                  <a:srgbClr val="2B9A66"/>
                </a:solidFill>
                <a:latin typeface="Arial"/>
                <a:ea typeface="Arial"/>
                <a:cs typeface="Arial"/>
              </a:rPr>
              <a:t>OUTCOME</a:t>
            </a:r>
          </a:p>
        </p:txBody>
      </p:sp>
      <p:sp>
        <p:nvSpPr>
          <p:cNvPr id="14" name="Rectangle 13">
            <a:extLst xmlns:a="http://schemas.openxmlformats.org/drawingml/2006/main">
              <a:ext uri="{FF2B5EF4-FFF2-40B4-BE49-F238E27FC236}">
                <a16:creationId xmlns:a16="http://schemas.microsoft.com/office/drawing/2014/main" id="{C4856213-0F74-4BB2-839E-4AC23E393483}"/>
              </a:ext>
            </a:extLst>
          </p:cNvPr>
          <p:cNvSpPr>
            <a:spLocks xmlns:a="http://schemas.openxmlformats.org/drawingml/2006/main" noGrp="1"/>
          </p:cNvSpPr>
          <p:nvPr/>
        </p:nvSpPr>
        <p:spPr>
          <a:xfrm xmlns:a="http://schemas.openxmlformats.org/drawingml/2006/main">
            <a:off x="7543669" y="3895772"/>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0" i="0">
                <a:solidFill>
                  <a:srgbClr val="000000"/>
                </a:solidFill>
                <a:latin typeface="Arial"/>
                <a:ea typeface="Arial"/>
                <a:cs typeface="Arial"/>
              </a:defRPr>
            </a:pPr>
            <a:r>
              <a:rPr sz="1575" b="0" i="0">
                <a:solidFill>
                  <a:srgbClr val="000000"/>
                </a:solidFill>
                <a:latin typeface="Arial"/>
                <a:ea typeface="Arial"/>
                <a:cs typeface="Arial"/>
              </a:rPr>
              <a:t>ΔY = k × ΔJ, but real output versus inflation depends on spare capacity.</a:t>
            </a:r>
          </a:p>
        </p:txBody>
      </p:sp>
      <p:sp>
        <p:nvSpPr>
          <p:cNvPr id="15" name="Rectangle 14">
            <a:extLst xmlns:a="http://schemas.openxmlformats.org/drawingml/2006/main">
              <a:ext uri="{FF2B5EF4-FFF2-40B4-BE49-F238E27FC236}">
                <a16:creationId xmlns:a16="http://schemas.microsoft.com/office/drawing/2014/main" id="{5476BFBB-8864-408B-8349-BDDD8373681A}"/>
              </a:ext>
            </a:extLst>
          </p:cNvPr>
          <p:cNvSpPr>
            <a:spLocks xmlns:a="http://schemas.openxmlformats.org/drawingml/2006/main" noGrp="1"/>
          </p:cNvSpPr>
          <p:nvPr/>
        </p:nvSpPr>
        <p:spPr>
          <a:xfrm xmlns:a="http://schemas.openxmlformats.org/drawingml/2006/main">
            <a:off x="2381250" y="57626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1" i="0">
                <a:solidFill>
                  <a:srgbClr val="3D8DFF"/>
                </a:solidFill>
                <a:latin typeface="Arial"/>
                <a:ea typeface="Arial"/>
                <a:cs typeface="Arial"/>
              </a:defRPr>
            </a:pPr>
            <a:r>
              <a:rPr sz="1875" b="1" i="0">
                <a:solidFill>
                  <a:srgbClr val="3D8DFF"/>
                </a:solidFill>
                <a:latin typeface="Arial"/>
                <a:ea typeface="Arial"/>
                <a:cs typeface="Arial"/>
              </a:rPr>
              <a:t>Final challenge: MPW 0.50 | k 2 | ΔY £240m</a:t>
            </a:r>
          </a:p>
        </p:txBody>
      </p:sp>
    </p:spTree>
    <p:extLst>
      <p:ext uri="{BB962C8B-B14F-4D97-AF65-F5344CB8AC3E}">
        <p14:creationId xmlns:p14="http://schemas.microsoft.com/office/powerpoint/2010/main" val="1246874713"/>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9708/32/F/M/26 Q15</a:t>
            </a:r>
          </a:p>
        </p:txBody>
      </p:sp>
      <p:cxnSp>
        <p:nvCxnSpPr>
          <p:cNvPr id="31"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i="0">
                <a:solidFill>
                  <a:srgbClr val="59616B"/>
                </a:solidFill>
                <a:latin typeface="Arial"/>
                <a:ea typeface="Arial"/>
                <a:cs typeface="Arial"/>
              </a:rPr>
              <a:t>28</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619298"/>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estimate of the consumption function of an economy is given by an equation C = 10 000 + 0.8Y where C = consumption and Y = income.</a:t>
            </a:r>
            <a:r>
              <a:rPr sz="2025" b="1" i="0">
                <a:solidFill>
                  <a:srgbClr val="000000"/>
                </a:solidFill>
                <a:latin typeface="Arial"/>
                <a:ea typeface="Arial"/>
                <a:cs typeface="Arial"/>
              </a:rPr>
              <a:t> </a:t>
            </a:r>
            <a:endParaRPr sz="2025" b="1" i="0">
              <a:solidFill>
                <a:srgbClr val="000000"/>
              </a:solidFill>
              <a:latin typeface="Arial"/>
              <a:ea typeface="Arial"/>
              <a:cs typeface="Arial"/>
            </a:endParaRPr>
          </a:p>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Which conclusion can be drawn from this information?</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A  The average propensity to consume is constant.</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B  The average propensity to consume increases as income increases.</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C  The average propensity to consume is always equal to the marginal propensity to consume.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381625"/>
            <a:ext cx="9525000" cy="76824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i="0">
                <a:solidFill>
                  <a:srgbClr val="000000"/>
                </a:solidFill>
                <a:latin typeface="Arial"/>
                <a:ea typeface="Arial"/>
                <a:cs typeface="Arial"/>
              </a:rPr>
              <a:t>D  The average propensity to consume is always greater than the marginal propensity to consume.</a:t>
            </a:r>
          </a:p>
        </p:txBody>
      </p:sp>
    </p:spTree>
    <p:extLst>
      <p:ext uri="{BB962C8B-B14F-4D97-AF65-F5344CB8AC3E}">
        <p14:creationId xmlns:p14="http://schemas.microsoft.com/office/powerpoint/2010/main" val="160088276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9-title">
            <a:extLst xmlns:a="http://schemas.openxmlformats.org/drawingml/2006/main">
              <a:ext uri="{FF2B5EF4-FFF2-40B4-BE49-F238E27FC236}">
                <a16:creationId xmlns:a16="http://schemas.microsoft.com/office/drawing/2014/main" id="{64BB336E-D6D4-4954-86E1-50C2921E80A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9708/41/O/N/21 Q4(a) [12]</a:t>
            </a:r>
          </a:p>
        </p:txBody>
      </p:sp>
      <p:cxnSp>
        <p:nvCxnSpPr>
          <p:cNvPr id="28" name="Straight Arrow Connector 21"/>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9F8EEA27-5156-4EE2-9C9A-FC8019FF006C}"/>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B150D57-C97C-4348-AE13-E46B1C9689B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39</a:t>
            </a:r>
          </a:p>
        </p:txBody>
      </p:sp>
      <p:sp>
        <p:nvSpPr>
          <p:cNvPr id="5" name="Rectangle 4">
            <a:extLst xmlns:a="http://schemas.openxmlformats.org/drawingml/2006/main">
              <a:ext uri="{FF2B5EF4-FFF2-40B4-BE49-F238E27FC236}">
                <a16:creationId xmlns:a16="http://schemas.microsoft.com/office/drawing/2014/main" id="{C019E555-1B74-4D2B-A021-8ECB42B594EE}"/>
              </a:ext>
            </a:extLst>
          </p:cNvPr>
          <p:cNvSpPr>
            <a:spLocks xmlns:a="http://schemas.openxmlformats.org/drawingml/2006/main" noGrp="1"/>
          </p:cNvSpPr>
          <p:nvPr/>
        </p:nvSpPr>
        <p:spPr>
          <a:xfrm xmlns:a="http://schemas.openxmlformats.org/drawingml/2006/main">
            <a:off x="857250" y="1666875"/>
            <a:ext cx="10477500" cy="2000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DFD8891B-9E8C-4789-BF50-00A7BB59BB7C}"/>
              </a:ext>
            </a:extLst>
          </p:cNvPr>
          <p:cNvSpPr>
            <a:spLocks xmlns:a="http://schemas.openxmlformats.org/drawingml/2006/main" noGrp="1"/>
          </p:cNvSpPr>
          <p:nvPr/>
        </p:nvSpPr>
        <p:spPr>
          <a:xfrm xmlns:a="http://schemas.openxmlformats.org/drawingml/2006/main">
            <a:off x="1285875" y="2095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Explain what economists mean by the marginal propensity to consume and consider the importance of this concept in relation to government macroeconomic policy. [12]</a:t>
            </a:r>
          </a:p>
        </p:txBody>
      </p:sp>
      <p:sp>
        <p:nvSpPr>
          <p:cNvPr id="7" name="Rectangle 6">
            <a:extLst xmlns:a="http://schemas.openxmlformats.org/drawingml/2006/main">
              <a:ext uri="{FF2B5EF4-FFF2-40B4-BE49-F238E27FC236}">
                <a16:creationId xmlns:a16="http://schemas.microsoft.com/office/drawing/2014/main" id="{D875EA82-00A8-460E-B0C7-8A8F353F8143}"/>
              </a:ext>
            </a:extLst>
          </p:cNvPr>
          <p:cNvSpPr>
            <a:spLocks xmlns:a="http://schemas.openxmlformats.org/drawingml/2006/main" noGrp="1"/>
          </p:cNvSpPr>
          <p:nvPr/>
        </p:nvSpPr>
        <p:spPr>
          <a:xfrm xmlns:a="http://schemas.openxmlformats.org/drawingml/2006/main">
            <a:off x="1428750" y="41910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xmlns:a="http://schemas.openxmlformats.org/drawingml/2006/main">
              <a:ext uri="{FF2B5EF4-FFF2-40B4-BE49-F238E27FC236}">
                <a16:creationId xmlns:a16="http://schemas.microsoft.com/office/drawing/2014/main" id="{A9317FF2-B123-4F5D-9F35-CDCCE0B64A10}"/>
              </a:ext>
            </a:extLst>
          </p:cNvPr>
          <p:cNvSpPr>
            <a:spLocks xmlns:a="http://schemas.openxmlformats.org/drawingml/2006/main" noGrp="1"/>
          </p:cNvSpPr>
          <p:nvPr/>
        </p:nvSpPr>
        <p:spPr>
          <a:xfrm xmlns:a="http://schemas.openxmlformats.org/drawingml/2006/main">
            <a:off x="1428750" y="46672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0" i="0">
                <a:solidFill>
                  <a:srgbClr val="000000"/>
                </a:solidFill>
                <a:latin typeface="Arial"/>
                <a:ea typeface="Arial"/>
                <a:cs typeface="Arial"/>
              </a:defRPr>
            </a:pPr>
            <a:r>
              <a:rPr sz="1875" b="0" i="0">
                <a:solidFill>
                  <a:srgbClr val="000000"/>
                </a:solidFill>
                <a:latin typeface="Arial"/>
                <a:ea typeface="Arial"/>
                <a:cs typeface="Arial"/>
              </a:rPr>
              <a:t>Today: define MPC and explain its multiplier link. Complete the policy evaluation later.</a:t>
            </a:r>
          </a:p>
        </p:txBody>
      </p:sp>
    </p:spTree>
    <p:extLst>
      <p:ext uri="{BB962C8B-B14F-4D97-AF65-F5344CB8AC3E}">
        <p14:creationId xmlns:p14="http://schemas.microsoft.com/office/powerpoint/2010/main" val="109163777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30-title">
            <a:extLst xmlns:a="http://schemas.openxmlformats.org/drawingml/2006/main">
              <a:ext uri="{FF2B5EF4-FFF2-40B4-BE49-F238E27FC236}">
                <a16:creationId xmlns:a16="http://schemas.microsoft.com/office/drawing/2014/main" id="{C8F62F67-5E23-414B-820A-0BF66CC3B60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Study later: plan for 9708/41/O/N/21 Q4(a)</a:t>
            </a:r>
          </a:p>
        </p:txBody>
      </p:sp>
      <p:cxnSp>
        <p:nvCxnSpPr>
          <p:cNvPr id="81" name="Straight Arrow Connector 5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867EC3-3B94-464A-A337-5248D0C6CD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28FD230-6FFE-485F-BE7B-FFC9B856C76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40</a:t>
            </a:r>
          </a:p>
        </p:txBody>
      </p:sp>
      <p:cxnSp>
        <p:nvCxnSpPr>
          <p:cNvPr id="84" name="Straight Arrow Connector 62"/>
          <p:cNvCxnSpPr/>
          <p:nvPr/>
        </p:nvCxnSpPr>
        <p:spPr>
          <a:xfrm xmlns:a="http://schemas.openxmlformats.org/drawingml/2006/main">
            <a:off x="3143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5" name="Straight Arrow Connector 63"/>
          <p:cNvCxnSpPr/>
          <p:nvPr/>
        </p:nvCxnSpPr>
        <p:spPr>
          <a:xfrm xmlns:a="http://schemas.openxmlformats.org/drawingml/2006/main">
            <a:off x="60007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6" name="Straight Arrow Connector 64"/>
          <p:cNvCxnSpPr/>
          <p:nvPr/>
        </p:nvCxnSpPr>
        <p:spPr>
          <a:xfrm xmlns:a="http://schemas.openxmlformats.org/drawingml/2006/main">
            <a:off x="8858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E330697-18B0-4EE9-BD5D-E00820D97D9D}"/>
              </a:ext>
            </a:extLst>
          </p:cNvPr>
          <p:cNvSpPr>
            <a:spLocks xmlns:a="http://schemas.openxmlformats.org/drawingml/2006/main" noGrp="1"/>
          </p:cNvSpPr>
          <p:nvPr/>
        </p:nvSpPr>
        <p:spPr>
          <a:xfrm xmlns:a="http://schemas.openxmlformats.org/drawingml/2006/main">
            <a:off x="571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DEFINE</a:t>
            </a:r>
          </a:p>
        </p:txBody>
      </p:sp>
      <p:sp>
        <p:nvSpPr>
          <p:cNvPr id="9" name="Rectangle 8">
            <a:extLst xmlns:a="http://schemas.openxmlformats.org/drawingml/2006/main">
              <a:ext uri="{FF2B5EF4-FFF2-40B4-BE49-F238E27FC236}">
                <a16:creationId xmlns:a16="http://schemas.microsoft.com/office/drawing/2014/main" id="{B19562FE-DE2A-4052-964A-B412A0DE3A0F}"/>
              </a:ext>
            </a:extLst>
          </p:cNvPr>
          <p:cNvSpPr>
            <a:spLocks xmlns:a="http://schemas.openxmlformats.org/drawingml/2006/main" noGrp="1"/>
          </p:cNvSpPr>
          <p:nvPr/>
        </p:nvSpPr>
        <p:spPr>
          <a:xfrm xmlns:a="http://schemas.openxmlformats.org/drawingml/2006/main">
            <a:off x="571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MPC = ΔC/ΔY</a:t>
            </a:r>
          </a:p>
          <a:p xmlns:a="http://schemas.openxmlformats.org/drawingml/2006/main">
            <a:endParaRPr sz="1800" b="1" i="0">
              <a:solidFill>
                <a:srgbClr val="000000"/>
              </a:solidFill>
              <a:latin typeface="Arial"/>
              <a:ea typeface="Arial"/>
              <a:cs typeface="Arial"/>
            </a:endParaRPr>
          </a:p>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C = a + bY; b is MPC.</a:t>
            </a:r>
          </a:p>
        </p:txBody>
      </p:sp>
      <p:sp>
        <p:nvSpPr>
          <p:cNvPr id="10" name="Rectangle 9">
            <a:extLst xmlns:a="http://schemas.openxmlformats.org/drawingml/2006/main">
              <a:ext uri="{FF2B5EF4-FFF2-40B4-BE49-F238E27FC236}">
                <a16:creationId xmlns:a16="http://schemas.microsoft.com/office/drawing/2014/main" id="{9D6D74AC-211E-495B-ADD1-776C49D0BF03}"/>
              </a:ext>
            </a:extLst>
          </p:cNvPr>
          <p:cNvSpPr>
            <a:spLocks xmlns:a="http://schemas.openxmlformats.org/drawingml/2006/main" noGrp="1"/>
          </p:cNvSpPr>
          <p:nvPr/>
        </p:nvSpPr>
        <p:spPr>
          <a:xfrm xmlns:a="http://schemas.openxmlformats.org/drawingml/2006/main">
            <a:off x="3429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EXPLAIN</a:t>
            </a:r>
          </a:p>
        </p:txBody>
      </p:sp>
      <p:sp>
        <p:nvSpPr>
          <p:cNvPr id="11" name="Rectangle 10">
            <a:extLst xmlns:a="http://schemas.openxmlformats.org/drawingml/2006/main">
              <a:ext uri="{FF2B5EF4-FFF2-40B4-BE49-F238E27FC236}">
                <a16:creationId xmlns:a16="http://schemas.microsoft.com/office/drawing/2014/main" id="{7495D2F6-481A-492F-9B33-9CB49A5DA670}"/>
              </a:ext>
            </a:extLst>
          </p:cNvPr>
          <p:cNvSpPr>
            <a:spLocks xmlns:a="http://schemas.openxmlformats.org/drawingml/2006/main" noGrp="1"/>
          </p:cNvSpPr>
          <p:nvPr/>
        </p:nvSpPr>
        <p:spPr>
          <a:xfrm xmlns:a="http://schemas.openxmlformats.org/drawingml/2006/main">
            <a:off x="3429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Higher MPC -&gt; lower MPW -&gt; larger k and a stronger change in AD.</a:t>
            </a:r>
          </a:p>
        </p:txBody>
      </p:sp>
      <p:sp>
        <p:nvSpPr>
          <p:cNvPr id="12" name="Rectangle 11">
            <a:extLst xmlns:a="http://schemas.openxmlformats.org/drawingml/2006/main">
              <a:ext uri="{FF2B5EF4-FFF2-40B4-BE49-F238E27FC236}">
                <a16:creationId xmlns:a16="http://schemas.microsoft.com/office/drawing/2014/main" id="{83944F80-9C2B-48C4-AF9D-5362AEDAE5C5}"/>
              </a:ext>
            </a:extLst>
          </p:cNvPr>
          <p:cNvSpPr>
            <a:spLocks xmlns:a="http://schemas.openxmlformats.org/drawingml/2006/main" noGrp="1"/>
          </p:cNvSpPr>
          <p:nvPr/>
        </p:nvSpPr>
        <p:spPr>
          <a:xfrm xmlns:a="http://schemas.openxmlformats.org/drawingml/2006/main">
            <a:off x="6286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APPLY LATER</a:t>
            </a:r>
          </a:p>
        </p:txBody>
      </p:sp>
      <p:sp>
        <p:nvSpPr>
          <p:cNvPr id="13" name="Rectangle 12">
            <a:extLst xmlns:a="http://schemas.openxmlformats.org/drawingml/2006/main">
              <a:ext uri="{FF2B5EF4-FFF2-40B4-BE49-F238E27FC236}">
                <a16:creationId xmlns:a16="http://schemas.microsoft.com/office/drawing/2014/main" id="{4131707E-7A04-4C59-A1F3-75683F26DE06}"/>
              </a:ext>
            </a:extLst>
          </p:cNvPr>
          <p:cNvSpPr>
            <a:spLocks xmlns:a="http://schemas.openxmlformats.org/drawingml/2006/main" noGrp="1"/>
          </p:cNvSpPr>
          <p:nvPr/>
        </p:nvSpPr>
        <p:spPr>
          <a:xfrm xmlns:a="http://schemas.openxmlformats.org/drawingml/2006/main">
            <a:off x="6286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Link to growth, employment, inflation, the BOP and redistribution.</a:t>
            </a:r>
          </a:p>
        </p:txBody>
      </p:sp>
      <p:sp>
        <p:nvSpPr>
          <p:cNvPr id="14" name="Rectangle 13">
            <a:extLst xmlns:a="http://schemas.openxmlformats.org/drawingml/2006/main">
              <a:ext uri="{FF2B5EF4-FFF2-40B4-BE49-F238E27FC236}">
                <a16:creationId xmlns:a16="http://schemas.microsoft.com/office/drawing/2014/main" id="{23EB09EC-A599-44D4-8315-12A476731FBC}"/>
              </a:ext>
            </a:extLst>
          </p:cNvPr>
          <p:cNvSpPr>
            <a:spLocks xmlns:a="http://schemas.openxmlformats.org/drawingml/2006/main" noGrp="1"/>
          </p:cNvSpPr>
          <p:nvPr/>
        </p:nvSpPr>
        <p:spPr>
          <a:xfrm xmlns:a="http://schemas.openxmlformats.org/drawingml/2006/main">
            <a:off x="9144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JUDGE LATER</a:t>
            </a:r>
          </a:p>
        </p:txBody>
      </p:sp>
      <p:sp>
        <p:nvSpPr>
          <p:cNvPr id="15" name="Rectangle 14">
            <a:extLst xmlns:a="http://schemas.openxmlformats.org/drawingml/2006/main">
              <a:ext uri="{FF2B5EF4-FFF2-40B4-BE49-F238E27FC236}">
                <a16:creationId xmlns:a16="http://schemas.microsoft.com/office/drawing/2014/main" id="{D9E72E05-144E-4D69-843C-FA0016BF8F08}"/>
              </a:ext>
            </a:extLst>
          </p:cNvPr>
          <p:cNvSpPr>
            <a:spLocks xmlns:a="http://schemas.openxmlformats.org/drawingml/2006/main" noGrp="1"/>
          </p:cNvSpPr>
          <p:nvPr/>
        </p:nvSpPr>
        <p:spPr>
          <a:xfrm xmlns:a="http://schemas.openxmlformats.org/drawingml/2006/main">
            <a:off x="9144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Importance varies by policy, MPM/MRT/MPS, spare capacity and confidence.</a:t>
            </a:r>
          </a:p>
        </p:txBody>
      </p:sp>
      <p:sp>
        <p:nvSpPr>
          <p:cNvPr id="16" name="Rectangle 15">
            <a:extLst xmlns:a="http://schemas.openxmlformats.org/drawingml/2006/main">
              <a:ext uri="{FF2B5EF4-FFF2-40B4-BE49-F238E27FC236}">
                <a16:creationId xmlns:a16="http://schemas.microsoft.com/office/drawing/2014/main" id="{0CDFD4F0-60E8-4FC5-A094-E92B2A40C7E7}"/>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1" i="0">
                <a:solidFill>
                  <a:srgbClr val="000000"/>
                </a:solidFill>
                <a:latin typeface="Arial"/>
                <a:ea typeface="Arial"/>
                <a:cs typeface="Arial"/>
              </a:defRPr>
            </a:pPr>
            <a:r>
              <a:rPr sz="1875" b="1" i="0">
                <a:solidFill>
                  <a:srgbClr val="000000"/>
                </a:solidFill>
                <a:latin typeface="Arial"/>
                <a:ea typeface="Arial"/>
                <a:cs typeface="Arial"/>
              </a:rPr>
              <a:t>Return after macroeconomic policy: then apply to objectives and make a supported judgment.</a:t>
            </a:r>
          </a:p>
        </p:txBody>
      </p:sp>
    </p:spTree>
    <p:extLst>
      <p:ext uri="{BB962C8B-B14F-4D97-AF65-F5344CB8AC3E}">
        <p14:creationId xmlns:p14="http://schemas.microsoft.com/office/powerpoint/2010/main" val="94133379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9-title">
            <a:extLst xmlns:a="http://schemas.openxmlformats.org/drawingml/2006/main">
              <a:ext uri="{FF2B5EF4-FFF2-40B4-BE49-F238E27FC236}">
                <a16:creationId xmlns:a16="http://schemas.microsoft.com/office/drawing/2014/main" id="{64BB336E-D6D4-4954-86E1-50C2921E80A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9708/41/M/J/26 Q4 [20]</a:t>
            </a:r>
          </a:p>
        </p:txBody>
      </p:sp>
      <p:cxnSp>
        <p:nvCxnSpPr>
          <p:cNvPr id="28" name="Straight Arrow Connector 21"/>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9F8EEA27-5156-4EE2-9C9A-FC8019FF006C}"/>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B150D57-C97C-4348-AE13-E46B1C9689B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41</a:t>
            </a:r>
          </a:p>
        </p:txBody>
      </p:sp>
      <p:sp>
        <p:nvSpPr>
          <p:cNvPr id="5" name="Rectangle 4">
            <a:extLst xmlns:a="http://schemas.openxmlformats.org/drawingml/2006/main">
              <a:ext uri="{FF2B5EF4-FFF2-40B4-BE49-F238E27FC236}">
                <a16:creationId xmlns:a16="http://schemas.microsoft.com/office/drawing/2014/main" id="{C019E555-1B74-4D2B-A021-8ECB42B594EE}"/>
              </a:ext>
            </a:extLst>
          </p:cNvPr>
          <p:cNvSpPr>
            <a:spLocks xmlns:a="http://schemas.openxmlformats.org/drawingml/2006/main" noGrp="1"/>
          </p:cNvSpPr>
          <p:nvPr/>
        </p:nvSpPr>
        <p:spPr>
          <a:xfrm xmlns:a="http://schemas.openxmlformats.org/drawingml/2006/main">
            <a:off x="857250" y="1666875"/>
            <a:ext cx="10477500" cy="2000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DFD8891B-9E8C-4789-BF50-00A7BB59BB7C}"/>
              </a:ext>
            </a:extLst>
          </p:cNvPr>
          <p:cNvSpPr>
            <a:spLocks xmlns:a="http://schemas.openxmlformats.org/drawingml/2006/main" noGrp="1"/>
          </p:cNvSpPr>
          <p:nvPr/>
        </p:nvSpPr>
        <p:spPr>
          <a:xfrm xmlns:a="http://schemas.openxmlformats.org/drawingml/2006/main">
            <a:off x="1285875" y="2095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500" b="1" i="0">
                <a:solidFill>
                  <a:srgbClr val="000000"/>
                </a:solidFill>
                <a:latin typeface="Arial"/>
                <a:ea typeface="Arial"/>
                <a:cs typeface="Arial"/>
              </a:defRPr>
            </a:pPr>
            <a:r>
              <a:rPr sz="1500" b="1" i="0">
                <a:solidFill>
                  <a:srgbClr val="000000"/>
                </a:solidFill>
                <a:latin typeface="Arial"/>
                <a:ea typeface="Arial"/>
                <a:cs typeface="Arial"/>
              </a:rPr>
              <a:t>Due to the multiplier process, governments conducting an expansionary fiscal policy do not need to increase spending by the full amount of the negative output gap to bring the output of the economy to its full employment level. Evaluate this statement. [20]</a:t>
            </a:r>
          </a:p>
        </p:txBody>
      </p:sp>
      <p:sp>
        <p:nvSpPr>
          <p:cNvPr id="7" name="Rectangle 6">
            <a:extLst xmlns:a="http://schemas.openxmlformats.org/drawingml/2006/main">
              <a:ext uri="{FF2B5EF4-FFF2-40B4-BE49-F238E27FC236}">
                <a16:creationId xmlns:a16="http://schemas.microsoft.com/office/drawing/2014/main" id="{D875EA82-00A8-460E-B0C7-8A8F353F8143}"/>
              </a:ext>
            </a:extLst>
          </p:cNvPr>
          <p:cNvSpPr>
            <a:spLocks xmlns:a="http://schemas.openxmlformats.org/drawingml/2006/main" noGrp="1"/>
          </p:cNvSpPr>
          <p:nvPr/>
        </p:nvSpPr>
        <p:spPr>
          <a:xfrm xmlns:a="http://schemas.openxmlformats.org/drawingml/2006/main">
            <a:off x="1428750" y="41910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xmlns:a="http://schemas.openxmlformats.org/drawingml/2006/main">
              <a:ext uri="{FF2B5EF4-FFF2-40B4-BE49-F238E27FC236}">
                <a16:creationId xmlns:a16="http://schemas.microsoft.com/office/drawing/2014/main" id="{A9317FF2-B123-4F5D-9F35-CDCCE0B64A10}"/>
              </a:ext>
            </a:extLst>
          </p:cNvPr>
          <p:cNvSpPr>
            <a:spLocks xmlns:a="http://schemas.openxmlformats.org/drawingml/2006/main" noGrp="1"/>
          </p:cNvSpPr>
          <p:nvPr/>
        </p:nvSpPr>
        <p:spPr>
          <a:xfrm xmlns:a="http://schemas.openxmlformats.org/drawingml/2006/main">
            <a:off x="1428750" y="46672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Do not assess yet: this needs output gaps, fiscal policy and AD/AS.</a:t>
            </a:r>
          </a:p>
        </p:txBody>
      </p:sp>
    </p:spTree>
    <p:extLst>
      <p:ext uri="{BB962C8B-B14F-4D97-AF65-F5344CB8AC3E}">
        <p14:creationId xmlns:p14="http://schemas.microsoft.com/office/powerpoint/2010/main" val="109163777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30-title">
            <a:extLst xmlns:a="http://schemas.openxmlformats.org/drawingml/2006/main">
              <a:ext uri="{FF2B5EF4-FFF2-40B4-BE49-F238E27FC236}">
                <a16:creationId xmlns:a16="http://schemas.microsoft.com/office/drawing/2014/main" id="{C8F62F67-5E23-414B-820A-0BF66CC3B60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Study later: plan for 9708/41/M/J/26 Q4</a:t>
            </a:r>
          </a:p>
        </p:txBody>
      </p:sp>
      <p:cxnSp>
        <p:nvCxnSpPr>
          <p:cNvPr id="81" name="Straight Arrow Connector 5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867EC3-3B94-464A-A337-5248D0C6CD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28FD230-6FFE-485F-BE7B-FFC9B856C76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42</a:t>
            </a:r>
          </a:p>
        </p:txBody>
      </p:sp>
      <p:cxnSp>
        <p:nvCxnSpPr>
          <p:cNvPr id="84" name="Straight Arrow Connector 62"/>
          <p:cNvCxnSpPr/>
          <p:nvPr/>
        </p:nvCxnSpPr>
        <p:spPr>
          <a:xfrm xmlns:a="http://schemas.openxmlformats.org/drawingml/2006/main">
            <a:off x="3143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5" name="Straight Arrow Connector 63"/>
          <p:cNvCxnSpPr/>
          <p:nvPr/>
        </p:nvCxnSpPr>
        <p:spPr>
          <a:xfrm xmlns:a="http://schemas.openxmlformats.org/drawingml/2006/main">
            <a:off x="60007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6" name="Straight Arrow Connector 64"/>
          <p:cNvCxnSpPr/>
          <p:nvPr/>
        </p:nvCxnSpPr>
        <p:spPr>
          <a:xfrm xmlns:a="http://schemas.openxmlformats.org/drawingml/2006/main">
            <a:off x="8858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E330697-18B0-4EE9-BD5D-E00820D97D9D}"/>
              </a:ext>
            </a:extLst>
          </p:cNvPr>
          <p:cNvSpPr>
            <a:spLocks xmlns:a="http://schemas.openxmlformats.org/drawingml/2006/main" noGrp="1"/>
          </p:cNvSpPr>
          <p:nvPr/>
        </p:nvSpPr>
        <p:spPr>
          <a:xfrm xmlns:a="http://schemas.openxmlformats.org/drawingml/2006/main">
            <a:off x="571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OUTPUT GAP</a:t>
            </a:r>
          </a:p>
        </p:txBody>
      </p:sp>
      <p:sp>
        <p:nvSpPr>
          <p:cNvPr id="9" name="Rectangle 8">
            <a:extLst xmlns:a="http://schemas.openxmlformats.org/drawingml/2006/main">
              <a:ext uri="{FF2B5EF4-FFF2-40B4-BE49-F238E27FC236}">
                <a16:creationId xmlns:a16="http://schemas.microsoft.com/office/drawing/2014/main" id="{B19562FE-DE2A-4052-964A-B412A0DE3A0F}"/>
              </a:ext>
            </a:extLst>
          </p:cNvPr>
          <p:cNvSpPr>
            <a:spLocks xmlns:a="http://schemas.openxmlformats.org/drawingml/2006/main" noGrp="1"/>
          </p:cNvSpPr>
          <p:nvPr/>
        </p:nvSpPr>
        <p:spPr>
          <a:xfrm xmlns:a="http://schemas.openxmlformats.org/drawingml/2006/main">
            <a:off x="571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Actual output &lt; potential output.</a:t>
            </a:r>
          </a:p>
          <a:p xmlns:a="http://schemas.openxmlformats.org/drawingml/2006/main">
            <a:endParaRPr sz="1800" b="1" i="0">
              <a:solidFill>
                <a:srgbClr val="000000"/>
              </a:solidFill>
              <a:latin typeface="Arial"/>
              <a:ea typeface="Arial"/>
              <a:cs typeface="Arial"/>
            </a:endParaRPr>
          </a:p>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Full employment removes cyclical unemployment.</a:t>
            </a:r>
          </a:p>
        </p:txBody>
      </p:sp>
      <p:sp>
        <p:nvSpPr>
          <p:cNvPr id="10" name="Rectangle 9">
            <a:extLst xmlns:a="http://schemas.openxmlformats.org/drawingml/2006/main">
              <a:ext uri="{FF2B5EF4-FFF2-40B4-BE49-F238E27FC236}">
                <a16:creationId xmlns:a16="http://schemas.microsoft.com/office/drawing/2014/main" id="{9D6D74AC-211E-495B-ADD1-776C49D0BF03}"/>
              </a:ext>
            </a:extLst>
          </p:cNvPr>
          <p:cNvSpPr>
            <a:spLocks xmlns:a="http://schemas.openxmlformats.org/drawingml/2006/main" noGrp="1"/>
          </p:cNvSpPr>
          <p:nvPr/>
        </p:nvSpPr>
        <p:spPr>
          <a:xfrm xmlns:a="http://schemas.openxmlformats.org/drawingml/2006/main">
            <a:off x="3429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MULTIPLIER</a:t>
            </a:r>
          </a:p>
        </p:txBody>
      </p:sp>
      <p:sp>
        <p:nvSpPr>
          <p:cNvPr id="11" name="Rectangle 10">
            <a:extLst xmlns:a="http://schemas.openxmlformats.org/drawingml/2006/main">
              <a:ext uri="{FF2B5EF4-FFF2-40B4-BE49-F238E27FC236}">
                <a16:creationId xmlns:a16="http://schemas.microsoft.com/office/drawing/2014/main" id="{7495D2F6-481A-492F-9B33-9CB49A5DA670}"/>
              </a:ext>
            </a:extLst>
          </p:cNvPr>
          <p:cNvSpPr>
            <a:spLocks xmlns:a="http://schemas.openxmlformats.org/drawingml/2006/main" noGrp="1"/>
          </p:cNvSpPr>
          <p:nvPr/>
        </p:nvSpPr>
        <p:spPr>
          <a:xfrm xmlns:a="http://schemas.openxmlformats.org/drawingml/2006/main">
            <a:off x="3429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G is an injection; repeated rounds mean ΔY = k × ΔG.</a:t>
            </a:r>
          </a:p>
        </p:txBody>
      </p:sp>
      <p:sp>
        <p:nvSpPr>
          <p:cNvPr id="12" name="Rectangle 11">
            <a:extLst xmlns:a="http://schemas.openxmlformats.org/drawingml/2006/main">
              <a:ext uri="{FF2B5EF4-FFF2-40B4-BE49-F238E27FC236}">
                <a16:creationId xmlns:a16="http://schemas.microsoft.com/office/drawing/2014/main" id="{83944F80-9C2B-48C4-AF9D-5362AEDAE5C5}"/>
              </a:ext>
            </a:extLst>
          </p:cNvPr>
          <p:cNvSpPr>
            <a:spLocks xmlns:a="http://schemas.openxmlformats.org/drawingml/2006/main" noGrp="1"/>
          </p:cNvSpPr>
          <p:nvPr/>
        </p:nvSpPr>
        <p:spPr>
          <a:xfrm xmlns:a="http://schemas.openxmlformats.org/drawingml/2006/main">
            <a:off x="6286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AD/AS</a:t>
            </a:r>
          </a:p>
        </p:txBody>
      </p:sp>
      <p:sp>
        <p:nvSpPr>
          <p:cNvPr id="13" name="Rectangle 12">
            <a:extLst xmlns:a="http://schemas.openxmlformats.org/drawingml/2006/main">
              <a:ext uri="{FF2B5EF4-FFF2-40B4-BE49-F238E27FC236}">
                <a16:creationId xmlns:a16="http://schemas.microsoft.com/office/drawing/2014/main" id="{4131707E-7A04-4C59-A1F3-75683F26DE06}"/>
              </a:ext>
            </a:extLst>
          </p:cNvPr>
          <p:cNvSpPr>
            <a:spLocks xmlns:a="http://schemas.openxmlformats.org/drawingml/2006/main" noGrp="1"/>
          </p:cNvSpPr>
          <p:nvPr/>
        </p:nvSpPr>
        <p:spPr>
          <a:xfrm xmlns:a="http://schemas.openxmlformats.org/drawingml/2006/main">
            <a:off x="6286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Show AD moving toward full-employment output; explain the total shift exceeds ΔG.</a:t>
            </a:r>
          </a:p>
        </p:txBody>
      </p:sp>
      <p:sp>
        <p:nvSpPr>
          <p:cNvPr id="14" name="Rectangle 13">
            <a:extLst xmlns:a="http://schemas.openxmlformats.org/drawingml/2006/main">
              <a:ext uri="{FF2B5EF4-FFF2-40B4-BE49-F238E27FC236}">
                <a16:creationId xmlns:a16="http://schemas.microsoft.com/office/drawing/2014/main" id="{23EB09EC-A599-44D4-8315-12A476731FBC}"/>
              </a:ext>
            </a:extLst>
          </p:cNvPr>
          <p:cNvSpPr>
            <a:spLocks xmlns:a="http://schemas.openxmlformats.org/drawingml/2006/main" noGrp="1"/>
          </p:cNvSpPr>
          <p:nvPr/>
        </p:nvSpPr>
        <p:spPr>
          <a:xfrm xmlns:a="http://schemas.openxmlformats.org/drawingml/2006/main">
            <a:off x="9144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EVALUATE</a:t>
            </a:r>
          </a:p>
        </p:txBody>
      </p:sp>
      <p:sp>
        <p:nvSpPr>
          <p:cNvPr id="15" name="Rectangle 14">
            <a:extLst xmlns:a="http://schemas.openxmlformats.org/drawingml/2006/main">
              <a:ext uri="{FF2B5EF4-FFF2-40B4-BE49-F238E27FC236}">
                <a16:creationId xmlns:a16="http://schemas.microsoft.com/office/drawing/2014/main" id="{D9E72E05-144E-4D69-843C-FA0016BF8F08}"/>
              </a:ext>
            </a:extLst>
          </p:cNvPr>
          <p:cNvSpPr>
            <a:spLocks xmlns:a="http://schemas.openxmlformats.org/drawingml/2006/main" noGrp="1"/>
          </p:cNvSpPr>
          <p:nvPr/>
        </p:nvSpPr>
        <p:spPr>
          <a:xfrm xmlns:a="http://schemas.openxmlformats.org/drawingml/2006/main">
            <a:off x="9144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Unstable k, high MPM, crowding out, debt, time lags and overshooting inflation.</a:t>
            </a:r>
          </a:p>
        </p:txBody>
      </p:sp>
      <p:sp>
        <p:nvSpPr>
          <p:cNvPr id="16" name="Rectangle 15">
            <a:extLst xmlns:a="http://schemas.openxmlformats.org/drawingml/2006/main">
              <a:ext uri="{FF2B5EF4-FFF2-40B4-BE49-F238E27FC236}">
                <a16:creationId xmlns:a16="http://schemas.microsoft.com/office/drawing/2014/main" id="{0CDFD4F0-60E8-4FC5-A094-E92B2A40C7E7}"/>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Return after output gaps, fiscal policy and AD/AS; then add crowding out, debt and time lags.</a:t>
            </a:r>
          </a:p>
        </p:txBody>
      </p:sp>
    </p:spTree>
    <p:extLst>
      <p:ext uri="{BB962C8B-B14F-4D97-AF65-F5344CB8AC3E}">
        <p14:creationId xmlns:p14="http://schemas.microsoft.com/office/powerpoint/2010/main" val="94133379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9-title">
            <a:extLst xmlns:a="http://schemas.openxmlformats.org/drawingml/2006/main">
              <a:ext uri="{FF2B5EF4-FFF2-40B4-BE49-F238E27FC236}">
                <a16:creationId xmlns:a16="http://schemas.microsoft.com/office/drawing/2014/main" id="{64BB336E-D6D4-4954-86E1-50C2921E80A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9708/44/M/J/26 Q4 [20]</a:t>
            </a:r>
          </a:p>
        </p:txBody>
      </p:sp>
      <p:cxnSp>
        <p:nvCxnSpPr>
          <p:cNvPr id="28" name="Straight Arrow Connector 21"/>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9F8EEA27-5156-4EE2-9C9A-FC8019FF006C}"/>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B150D57-C97C-4348-AE13-E46B1C9689B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43</a:t>
            </a:r>
          </a:p>
        </p:txBody>
      </p:sp>
      <p:sp>
        <p:nvSpPr>
          <p:cNvPr id="5" name="Rectangle 4">
            <a:extLst xmlns:a="http://schemas.openxmlformats.org/drawingml/2006/main">
              <a:ext uri="{FF2B5EF4-FFF2-40B4-BE49-F238E27FC236}">
                <a16:creationId xmlns:a16="http://schemas.microsoft.com/office/drawing/2014/main" id="{C019E555-1B74-4D2B-A021-8ECB42B594EE}"/>
              </a:ext>
            </a:extLst>
          </p:cNvPr>
          <p:cNvSpPr>
            <a:spLocks xmlns:a="http://schemas.openxmlformats.org/drawingml/2006/main" noGrp="1"/>
          </p:cNvSpPr>
          <p:nvPr/>
        </p:nvSpPr>
        <p:spPr>
          <a:xfrm xmlns:a="http://schemas.openxmlformats.org/drawingml/2006/main">
            <a:off x="857250" y="1666875"/>
            <a:ext cx="10477500" cy="2000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DFD8891B-9E8C-4789-BF50-00A7BB59BB7C}"/>
              </a:ext>
            </a:extLst>
          </p:cNvPr>
          <p:cNvSpPr>
            <a:spLocks xmlns:a="http://schemas.openxmlformats.org/drawingml/2006/main" noGrp="1"/>
          </p:cNvSpPr>
          <p:nvPr/>
        </p:nvSpPr>
        <p:spPr>
          <a:xfrm xmlns:a="http://schemas.openxmlformats.org/drawingml/2006/main">
            <a:off x="1285875" y="2095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Knowledge of both the multiplier and the accelerator enable a government to implement effective fiscal policies to close a deflationary gap. Evaluate this statement. [20]</a:t>
            </a:r>
          </a:p>
        </p:txBody>
      </p:sp>
      <p:sp>
        <p:nvSpPr>
          <p:cNvPr id="7" name="Rectangle 6">
            <a:extLst xmlns:a="http://schemas.openxmlformats.org/drawingml/2006/main">
              <a:ext uri="{FF2B5EF4-FFF2-40B4-BE49-F238E27FC236}">
                <a16:creationId xmlns:a16="http://schemas.microsoft.com/office/drawing/2014/main" id="{D875EA82-00A8-460E-B0C7-8A8F353F8143}"/>
              </a:ext>
            </a:extLst>
          </p:cNvPr>
          <p:cNvSpPr>
            <a:spLocks xmlns:a="http://schemas.openxmlformats.org/drawingml/2006/main" noGrp="1"/>
          </p:cNvSpPr>
          <p:nvPr/>
        </p:nvSpPr>
        <p:spPr>
          <a:xfrm xmlns:a="http://schemas.openxmlformats.org/drawingml/2006/main">
            <a:off x="1428750" y="41910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xmlns:a="http://schemas.openxmlformats.org/drawingml/2006/main">
              <a:ext uri="{FF2B5EF4-FFF2-40B4-BE49-F238E27FC236}">
                <a16:creationId xmlns:a16="http://schemas.microsoft.com/office/drawing/2014/main" id="{A9317FF2-B123-4F5D-9F35-CDCCE0B64A10}"/>
              </a:ext>
            </a:extLst>
          </p:cNvPr>
          <p:cNvSpPr>
            <a:spLocks xmlns:a="http://schemas.openxmlformats.org/drawingml/2006/main" noGrp="1"/>
          </p:cNvSpPr>
          <p:nvPr/>
        </p:nvSpPr>
        <p:spPr>
          <a:xfrm xmlns:a="http://schemas.openxmlformats.org/drawingml/2006/main">
            <a:off x="1428750" y="46672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Today: distinguish autonomous from induced investment. Complete the evaluation later.</a:t>
            </a:r>
          </a:p>
        </p:txBody>
      </p:sp>
    </p:spTree>
    <p:extLst>
      <p:ext uri="{BB962C8B-B14F-4D97-AF65-F5344CB8AC3E}">
        <p14:creationId xmlns:p14="http://schemas.microsoft.com/office/powerpoint/2010/main" val="109163777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30-title">
            <a:extLst xmlns:a="http://schemas.openxmlformats.org/drawingml/2006/main">
              <a:ext uri="{FF2B5EF4-FFF2-40B4-BE49-F238E27FC236}">
                <a16:creationId xmlns:a16="http://schemas.microsoft.com/office/drawing/2014/main" id="{C8F62F67-5E23-414B-820A-0BF66CC3B60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When to revisit the later-syllabus questions</a:t>
            </a:r>
          </a:p>
        </p:txBody>
      </p:sp>
      <p:cxnSp>
        <p:nvCxnSpPr>
          <p:cNvPr id="81" name="Straight Arrow Connector 5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867EC3-3B94-464A-A337-5248D0C6CD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28FD230-6FFE-485F-BE7B-FFC9B856C76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44</a:t>
            </a:r>
          </a:p>
        </p:txBody>
      </p:sp>
      <p:cxnSp>
        <p:nvCxnSpPr>
          <p:cNvPr id="84" name="Straight Arrow Connector 62"/>
          <p:cNvCxnSpPr/>
          <p:nvPr/>
        </p:nvCxnSpPr>
        <p:spPr>
          <a:xfrm xmlns:a="http://schemas.openxmlformats.org/drawingml/2006/main">
            <a:off x="3143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5" name="Straight Arrow Connector 63"/>
          <p:cNvCxnSpPr/>
          <p:nvPr/>
        </p:nvCxnSpPr>
        <p:spPr>
          <a:xfrm xmlns:a="http://schemas.openxmlformats.org/drawingml/2006/main">
            <a:off x="60007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86" name="Straight Arrow Connector 64"/>
          <p:cNvCxnSpPr/>
          <p:nvPr/>
        </p:nvCxnSpPr>
        <p:spPr>
          <a:xfrm xmlns:a="http://schemas.openxmlformats.org/drawingml/2006/main">
            <a:off x="8858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E330697-18B0-4EE9-BD5D-E00820D97D9D}"/>
              </a:ext>
            </a:extLst>
          </p:cNvPr>
          <p:cNvSpPr>
            <a:spLocks xmlns:a="http://schemas.openxmlformats.org/drawingml/2006/main" noGrp="1"/>
          </p:cNvSpPr>
          <p:nvPr/>
        </p:nvSpPr>
        <p:spPr>
          <a:xfrm xmlns:a="http://schemas.openxmlformats.org/drawingml/2006/main">
            <a:off x="571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POLICY</a:t>
            </a:r>
          </a:p>
        </p:txBody>
      </p:sp>
      <p:sp>
        <p:nvSpPr>
          <p:cNvPr id="9" name="Rectangle 8">
            <a:extLst xmlns:a="http://schemas.openxmlformats.org/drawingml/2006/main">
              <a:ext uri="{FF2B5EF4-FFF2-40B4-BE49-F238E27FC236}">
                <a16:creationId xmlns:a16="http://schemas.microsoft.com/office/drawing/2014/main" id="{B19562FE-DE2A-4052-964A-B412A0DE3A0F}"/>
              </a:ext>
            </a:extLst>
          </p:cNvPr>
          <p:cNvSpPr>
            <a:spLocks xmlns:a="http://schemas.openxmlformats.org/drawingml/2006/main" noGrp="1"/>
          </p:cNvSpPr>
          <p:nvPr/>
        </p:nvSpPr>
        <p:spPr>
          <a:xfrm xmlns:a="http://schemas.openxmlformats.org/drawingml/2006/main">
            <a:off x="571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1" i="0">
                <a:solidFill>
                  <a:srgbClr val="000000"/>
                </a:solidFill>
                <a:latin typeface="Arial"/>
                <a:ea typeface="Arial"/>
                <a:cs typeface="Arial"/>
              </a:defRPr>
            </a:pPr>
            <a:r>
              <a:rPr sz="1650" b="1" i="0">
                <a:solidFill>
                  <a:srgbClr val="000000"/>
                </a:solidFill>
                <a:latin typeface="Arial"/>
                <a:ea typeface="Arial"/>
                <a:cs typeface="Arial"/>
              </a:rPr>
              <a:t>After macro policy objectives and fiscal-policy instruments.</a:t>
            </a:r>
          </a:p>
        </p:txBody>
      </p:sp>
      <p:sp>
        <p:nvSpPr>
          <p:cNvPr id="10" name="Rectangle 9">
            <a:extLst xmlns:a="http://schemas.openxmlformats.org/drawingml/2006/main">
              <a:ext uri="{FF2B5EF4-FFF2-40B4-BE49-F238E27FC236}">
                <a16:creationId xmlns:a16="http://schemas.microsoft.com/office/drawing/2014/main" id="{9D6D74AC-211E-495B-ADD1-776C49D0BF03}"/>
              </a:ext>
            </a:extLst>
          </p:cNvPr>
          <p:cNvSpPr>
            <a:spLocks xmlns:a="http://schemas.openxmlformats.org/drawingml/2006/main" noGrp="1"/>
          </p:cNvSpPr>
          <p:nvPr/>
        </p:nvSpPr>
        <p:spPr>
          <a:xfrm xmlns:a="http://schemas.openxmlformats.org/drawingml/2006/main">
            <a:off x="3429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OUTPUT GAPS</a:t>
            </a:r>
          </a:p>
        </p:txBody>
      </p:sp>
      <p:sp>
        <p:nvSpPr>
          <p:cNvPr id="11" name="Rectangle 10">
            <a:extLst xmlns:a="http://schemas.openxmlformats.org/drawingml/2006/main">
              <a:ext uri="{FF2B5EF4-FFF2-40B4-BE49-F238E27FC236}">
                <a16:creationId xmlns:a16="http://schemas.microsoft.com/office/drawing/2014/main" id="{7495D2F6-481A-492F-9B33-9CB49A5DA670}"/>
              </a:ext>
            </a:extLst>
          </p:cNvPr>
          <p:cNvSpPr>
            <a:spLocks xmlns:a="http://schemas.openxmlformats.org/drawingml/2006/main" noGrp="1"/>
          </p:cNvSpPr>
          <p:nvPr/>
        </p:nvSpPr>
        <p:spPr>
          <a:xfrm xmlns:a="http://schemas.openxmlformats.org/drawingml/2006/main">
            <a:off x="3429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After negative or deflationary gaps and AD/AS analysis.</a:t>
            </a:r>
          </a:p>
        </p:txBody>
      </p:sp>
      <p:sp>
        <p:nvSpPr>
          <p:cNvPr id="12" name="Rectangle 11">
            <a:extLst xmlns:a="http://schemas.openxmlformats.org/drawingml/2006/main">
              <a:ext uri="{FF2B5EF4-FFF2-40B4-BE49-F238E27FC236}">
                <a16:creationId xmlns:a16="http://schemas.microsoft.com/office/drawing/2014/main" id="{83944F80-9C2B-48C4-AF9D-5362AEDAE5C5}"/>
              </a:ext>
            </a:extLst>
          </p:cNvPr>
          <p:cNvSpPr>
            <a:spLocks xmlns:a="http://schemas.openxmlformats.org/drawingml/2006/main" noGrp="1"/>
          </p:cNvSpPr>
          <p:nvPr/>
        </p:nvSpPr>
        <p:spPr>
          <a:xfrm xmlns:a="http://schemas.openxmlformats.org/drawingml/2006/main">
            <a:off x="6286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ACCELERATOR</a:t>
            </a:r>
          </a:p>
        </p:txBody>
      </p:sp>
      <p:sp>
        <p:nvSpPr>
          <p:cNvPr id="13" name="Rectangle 12">
            <a:extLst xmlns:a="http://schemas.openxmlformats.org/drawingml/2006/main">
              <a:ext uri="{FF2B5EF4-FFF2-40B4-BE49-F238E27FC236}">
                <a16:creationId xmlns:a16="http://schemas.microsoft.com/office/drawing/2014/main" id="{4131707E-7A04-4C59-A1F3-75683F26DE06}"/>
              </a:ext>
            </a:extLst>
          </p:cNvPr>
          <p:cNvSpPr>
            <a:spLocks xmlns:a="http://schemas.openxmlformats.org/drawingml/2006/main" noGrp="1"/>
          </p:cNvSpPr>
          <p:nvPr/>
        </p:nvSpPr>
        <p:spPr>
          <a:xfrm xmlns:a="http://schemas.openxmlformats.org/drawingml/2006/main">
            <a:off x="6286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After induced investment and the accelerator principle.</a:t>
            </a:r>
          </a:p>
        </p:txBody>
      </p:sp>
      <p:sp>
        <p:nvSpPr>
          <p:cNvPr id="14" name="Rectangle 13">
            <a:extLst xmlns:a="http://schemas.openxmlformats.org/drawingml/2006/main">
              <a:ext uri="{FF2B5EF4-FFF2-40B4-BE49-F238E27FC236}">
                <a16:creationId xmlns:a16="http://schemas.microsoft.com/office/drawing/2014/main" id="{23EB09EC-A599-44D4-8315-12A476731FBC}"/>
              </a:ext>
            </a:extLst>
          </p:cNvPr>
          <p:cNvSpPr>
            <a:spLocks xmlns:a="http://schemas.openxmlformats.org/drawingml/2006/main" noGrp="1"/>
          </p:cNvSpPr>
          <p:nvPr/>
        </p:nvSpPr>
        <p:spPr>
          <a:xfrm xmlns:a="http://schemas.openxmlformats.org/drawingml/2006/main">
            <a:off x="9144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THEN ANSWER</a:t>
            </a:r>
          </a:p>
        </p:txBody>
      </p:sp>
      <p:sp>
        <p:nvSpPr>
          <p:cNvPr id="15" name="Rectangle 14">
            <a:extLst xmlns:a="http://schemas.openxmlformats.org/drawingml/2006/main">
              <a:ext uri="{FF2B5EF4-FFF2-40B4-BE49-F238E27FC236}">
                <a16:creationId xmlns:a16="http://schemas.microsoft.com/office/drawing/2014/main" id="{D9E72E05-144E-4D69-843C-FA0016BF8F08}"/>
              </a:ext>
            </a:extLst>
          </p:cNvPr>
          <p:cNvSpPr>
            <a:spLocks xmlns:a="http://schemas.openxmlformats.org/drawingml/2006/main" noGrp="1"/>
          </p:cNvSpPr>
          <p:nvPr/>
        </p:nvSpPr>
        <p:spPr>
          <a:xfrm xmlns:a="http://schemas.openxmlformats.org/drawingml/2006/main">
            <a:off x="9144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Return to the 12- and 20-mark questions in this appendix.</a:t>
            </a:r>
          </a:p>
        </p:txBody>
      </p:sp>
      <p:sp>
        <p:nvSpPr>
          <p:cNvPr id="16" name="Rectangle 15">
            <a:extLst xmlns:a="http://schemas.openxmlformats.org/drawingml/2006/main">
              <a:ext uri="{FF2B5EF4-FFF2-40B4-BE49-F238E27FC236}">
                <a16:creationId xmlns:a16="http://schemas.microsoft.com/office/drawing/2014/main" id="{0CDFD4F0-60E8-4FC5-A094-E92B2A40C7E7}"/>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Lessons 1-2 assessment ends on slide 38. Slides 39-44 are for later study.</a:t>
            </a:r>
          </a:p>
        </p:txBody>
      </p:sp>
    </p:spTree>
    <p:extLst>
      <p:ext uri="{BB962C8B-B14F-4D97-AF65-F5344CB8AC3E}">
        <p14:creationId xmlns:p14="http://schemas.microsoft.com/office/powerpoint/2010/main" val="9413337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2026-09-04T04:12:24.8850000Z</dcterms:created>
  <dcterms:modified xsi:type="dcterms:W3CDTF">2026-09-04T04:12:24.8850000Z</dcterms:modified>
</coreProperties>
</file>