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304d0069ee45d4" /><Relationship Type="http://schemas.openxmlformats.org/officeDocument/2006/relationships/extended-properties" Target="/docProps/app.xml" Id="R2faccdfefe324219" /><Relationship Type="http://schemas.openxmlformats.org/officeDocument/2006/relationships/officeDocument" Target="/ppt/presentation.xml" Id="R7bb96dfc808e4754" /></Relationships>
</file>

<file path=ppt/presentation.xml><?xml version="1.0" encoding="utf-8"?>
<p:presentation xmlns:p="http://schemas.openxmlformats.org/presentationml/2006/main">
  <p:sldMasterIdLst>
    <p:sldMasterId xmlns:r="http://schemas.openxmlformats.org/officeDocument/2006/relationships" id="2147483648" r:id="Re6875be7319b44a6"/>
  </p:sldMasterIdLst>
  <p:notesMasterIdLst>
    <p:notesMasterId xmlns:r="http://schemas.openxmlformats.org/officeDocument/2006/relationships" r:id="Rf37be6a286df480d"/>
  </p:notesMasterIdLst>
  <p:sldIdLst>
    <p:sldId xmlns:r="http://schemas.openxmlformats.org/officeDocument/2006/relationships" id="256" r:id="R456d534c9861415c"/>
    <p:sldId xmlns:r="http://schemas.openxmlformats.org/officeDocument/2006/relationships" id="257" r:id="R8e46a20376624969"/>
    <p:sldId xmlns:r="http://schemas.openxmlformats.org/officeDocument/2006/relationships" id="258" r:id="R3380716b638341b5"/>
    <p:sldId xmlns:r="http://schemas.openxmlformats.org/officeDocument/2006/relationships" id="259" r:id="R45770eda4ca1419c"/>
    <p:sldId xmlns:r="http://schemas.openxmlformats.org/officeDocument/2006/relationships" id="260" r:id="R3c1d8a2a11d64941"/>
    <p:sldId xmlns:r="http://schemas.openxmlformats.org/officeDocument/2006/relationships" id="261" r:id="Rab2e4e90c7cb45bc"/>
    <p:sldId xmlns:r="http://schemas.openxmlformats.org/officeDocument/2006/relationships" id="262" r:id="R87430dc31d0242d3"/>
    <p:sldId xmlns:r="http://schemas.openxmlformats.org/officeDocument/2006/relationships" id="263" r:id="R161cebf8193a4bf4"/>
    <p:sldId xmlns:r="http://schemas.openxmlformats.org/officeDocument/2006/relationships" id="264" r:id="Rd1f4a77427054057"/>
    <p:sldId xmlns:r="http://schemas.openxmlformats.org/officeDocument/2006/relationships" id="265" r:id="R0851238d7c744bdd"/>
    <p:sldId xmlns:r="http://schemas.openxmlformats.org/officeDocument/2006/relationships" id="266" r:id="Ra2c27f4aba16462b"/>
    <p:sldId xmlns:r="http://schemas.openxmlformats.org/officeDocument/2006/relationships" id="267" r:id="R4fd1e5f8faaa40a1"/>
    <p:sldId xmlns:r="http://schemas.openxmlformats.org/officeDocument/2006/relationships" id="268" r:id="R4757b077a3cd4613"/>
    <p:sldId xmlns:r="http://schemas.openxmlformats.org/officeDocument/2006/relationships" id="269" r:id="R4f29705cf72347be"/>
    <p:sldId xmlns:r="http://schemas.openxmlformats.org/officeDocument/2006/relationships" id="270" r:id="R9232eac1c0a84f2f"/>
    <p:sldId xmlns:r="http://schemas.openxmlformats.org/officeDocument/2006/relationships" id="271" r:id="R3daa31fd712d48ea"/>
    <p:sldId xmlns:r="http://schemas.openxmlformats.org/officeDocument/2006/relationships" id="272" r:id="Ref047429ad744ebd"/>
    <p:sldId xmlns:r="http://schemas.openxmlformats.org/officeDocument/2006/relationships" id="273" r:id="R2aee1d311ee6403e"/>
    <p:sldId xmlns:r="http://schemas.openxmlformats.org/officeDocument/2006/relationships" id="274" r:id="Rbd4bd7afe60a4291"/>
    <p:sldId xmlns:r="http://schemas.openxmlformats.org/officeDocument/2006/relationships" id="275" r:id="R2bf42e963c6641f3"/>
    <p:sldId xmlns:r="http://schemas.openxmlformats.org/officeDocument/2006/relationships" id="276" r:id="Redd6bccd8d704143"/>
    <p:sldId xmlns:r="http://schemas.openxmlformats.org/officeDocument/2006/relationships" id="277" r:id="R5e589b1153ae4856"/>
    <p:sldId xmlns:r="http://schemas.openxmlformats.org/officeDocument/2006/relationships" id="278" r:id="R61b699824a6e4884"/>
    <p:sldId xmlns:r="http://schemas.openxmlformats.org/officeDocument/2006/relationships" id="279" r:id="R9fbf33247c9f4706"/>
    <p:sldId xmlns:r="http://schemas.openxmlformats.org/officeDocument/2006/relationships" id="280" r:id="R4627583166024cc6"/>
    <p:sldId xmlns:r="http://schemas.openxmlformats.org/officeDocument/2006/relationships" id="281" r:id="R44c28e30da144889"/>
    <p:sldId xmlns:r="http://schemas.openxmlformats.org/officeDocument/2006/relationships" id="282" r:id="R274611f80fda47a3"/>
    <p:sldId xmlns:r="http://schemas.openxmlformats.org/officeDocument/2006/relationships" id="283" r:id="Reafbeec7787848a1"/>
    <p:sldId xmlns:r="http://schemas.openxmlformats.org/officeDocument/2006/relationships" id="284" r:id="Ra5495d432b28417e"/>
    <p:sldId xmlns:r="http://schemas.openxmlformats.org/officeDocument/2006/relationships" id="285" r:id="Ra3a5cfe06a594aeb"/>
    <p:sldId xmlns:r="http://schemas.openxmlformats.org/officeDocument/2006/relationships" id="286" r:id="Re6bc27c94c304b60"/>
    <p:sldId xmlns:r="http://schemas.openxmlformats.org/officeDocument/2006/relationships" id="287" r:id="R6fe2d99d7973441f"/>
    <p:sldId xmlns:r="http://schemas.openxmlformats.org/officeDocument/2006/relationships" id="288" r:id="Rfcf3046eba3e4706"/>
    <p:sldId xmlns:r="http://schemas.openxmlformats.org/officeDocument/2006/relationships" id="289" r:id="Re60e4855483c439d"/>
    <p:sldId xmlns:r="http://schemas.openxmlformats.org/officeDocument/2006/relationships" id="290" r:id="R8df35800a4354efb"/>
    <p:sldId xmlns:r="http://schemas.openxmlformats.org/officeDocument/2006/relationships" id="291" r:id="R7a8e289cf2834191"/>
    <p:sldId xmlns:r="http://schemas.openxmlformats.org/officeDocument/2006/relationships" id="292" r:id="Ra01a9ffd34e546c4"/>
    <p:sldId xmlns:r="http://schemas.openxmlformats.org/officeDocument/2006/relationships" id="293" r:id="Ra5084771ba3d4638"/>
    <p:sldId xmlns:r="http://schemas.openxmlformats.org/officeDocument/2006/relationships" id="294" r:id="Reb75bdb11d1d47c0"/>
    <p:sldId xmlns:r="http://schemas.openxmlformats.org/officeDocument/2006/relationships" id="295" r:id="R7f45f8a18a9041a0"/>
    <p:sldId xmlns:r="http://schemas.openxmlformats.org/officeDocument/2006/relationships" id="296" r:id="R0c0dce562e5f4ae3"/>
    <p:sldId xmlns:r="http://schemas.openxmlformats.org/officeDocument/2006/relationships" id="297" r:id="R67822883f24a4a25"/>
    <p:sldId xmlns:r="http://schemas.openxmlformats.org/officeDocument/2006/relationships" id="298" r:id="R3a8cfac078fd4755"/>
    <p:sldId xmlns:r="http://schemas.openxmlformats.org/officeDocument/2006/relationships" id="299" r:id="R83c88e33d39249d0"/>
    <p:sldId xmlns:r="http://schemas.openxmlformats.org/officeDocument/2006/relationships" id="300" r:id="Rfe439b1dcb224033"/>
    <p:sldId xmlns:r="http://schemas.openxmlformats.org/officeDocument/2006/relationships" id="301" r:id="R6e8e02c020c343bc"/>
    <p:sldId xmlns:r="http://schemas.openxmlformats.org/officeDocument/2006/relationships" id="302" r:id="R65711f2768554846"/>
    <p:sldId xmlns:r="http://schemas.openxmlformats.org/officeDocument/2006/relationships" id="303" r:id="Rf0d1fc9015104402"/>
    <p:sldId xmlns:r="http://schemas.openxmlformats.org/officeDocument/2006/relationships" id="304" r:id="R7c50772c9436412e"/>
    <p:sldId xmlns:r="http://schemas.openxmlformats.org/officeDocument/2006/relationships" id="305" r:id="Rbc67ea9197b04ed3"/>
    <p:sldId xmlns:r="http://schemas.openxmlformats.org/officeDocument/2006/relationships" id="306" r:id="R16873609f923471f"/>
    <p:sldId xmlns:r="http://schemas.openxmlformats.org/officeDocument/2006/relationships" id="307" r:id="R0e57b139b0ee4ae2"/>
    <p:sldId xmlns:r="http://schemas.openxmlformats.org/officeDocument/2006/relationships" id="308" r:id="R718d728a77e8452e"/>
    <p:sldId xmlns:r="http://schemas.openxmlformats.org/officeDocument/2006/relationships" id="309" r:id="R37808ee3159047f0"/>
    <p:sldId xmlns:r="http://schemas.openxmlformats.org/officeDocument/2006/relationships" id="310" r:id="R21b4cda211c14e2d"/>
    <p:sldId xmlns:r="http://schemas.openxmlformats.org/officeDocument/2006/relationships" id="311" r:id="R85ab53b52cf44f5e"/>
    <p:sldId xmlns:r="http://schemas.openxmlformats.org/officeDocument/2006/relationships" id="312" r:id="R0e346564878e4bb2"/>
    <p:sldId xmlns:r="http://schemas.openxmlformats.org/officeDocument/2006/relationships" id="313" r:id="R9fa2763906eb4d34"/>
    <p:sldId xmlns:r="http://schemas.openxmlformats.org/officeDocument/2006/relationships" id="314" r:id="R6b6911a96b27439f"/>
    <p:sldId xmlns:r="http://schemas.openxmlformats.org/officeDocument/2006/relationships" id="315" r:id="Rf9d17ce9cb8343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8de3c4da1b04585" /><Relationship Type="http://schemas.openxmlformats.org/officeDocument/2006/relationships/slideMaster" Target="/ppt/slideMasters/slideMaster1.xml" Id="Re6875be7319b44a6" /><Relationship Type="http://schemas.openxmlformats.org/officeDocument/2006/relationships/notesMaster" Target="/ppt/notesMasters/notesMaster1.xml" Id="Rf37be6a286df480d" /><Relationship Type="http://schemas.openxmlformats.org/officeDocument/2006/relationships/presProps" Target="/ppt/presProps.xml" Id="Rd37f1e5f67ee417f" /><Relationship Type="http://schemas.openxmlformats.org/officeDocument/2006/relationships/viewProps" Target="/ppt/viewProps.xml" Id="R18dbb13b37104c31" /><Relationship Type="http://schemas.openxmlformats.org/officeDocument/2006/relationships/tableStyles" Target="/ppt/tableStyles.xml" Id="R7d6dcf67f6534ba7" /><Relationship Type="http://schemas.openxmlformats.org/officeDocument/2006/relationships/slide" Target="/ppt/slides/slide1.xml" Id="R456d534c9861415c" /><Relationship Type="http://schemas.openxmlformats.org/officeDocument/2006/relationships/slide" Target="/ppt/slides/slide2.xml" Id="R8e46a20376624969" /><Relationship Type="http://schemas.openxmlformats.org/officeDocument/2006/relationships/slide" Target="/ppt/slides/slide3.xml" Id="R3380716b638341b5" /><Relationship Type="http://schemas.openxmlformats.org/officeDocument/2006/relationships/slide" Target="/ppt/slides/slide4.xml" Id="R45770eda4ca1419c" /><Relationship Type="http://schemas.openxmlformats.org/officeDocument/2006/relationships/slide" Target="/ppt/slides/slide5.xml" Id="R3c1d8a2a11d64941" /><Relationship Type="http://schemas.openxmlformats.org/officeDocument/2006/relationships/slide" Target="/ppt/slides/slide6.xml" Id="Rab2e4e90c7cb45bc" /><Relationship Type="http://schemas.openxmlformats.org/officeDocument/2006/relationships/slide" Target="/ppt/slides/slide7.xml" Id="R87430dc31d0242d3" /><Relationship Type="http://schemas.openxmlformats.org/officeDocument/2006/relationships/slide" Target="/ppt/slides/slide8.xml" Id="R161cebf8193a4bf4" /><Relationship Type="http://schemas.openxmlformats.org/officeDocument/2006/relationships/slide" Target="/ppt/slides/slide9.xml" Id="Rd1f4a77427054057" /><Relationship Type="http://schemas.openxmlformats.org/officeDocument/2006/relationships/slide" Target="/ppt/slides/slide10.xml" Id="R0851238d7c744bdd" /><Relationship Type="http://schemas.openxmlformats.org/officeDocument/2006/relationships/slide" Target="/ppt/slides/slide11.xml" Id="Ra2c27f4aba16462b" /><Relationship Type="http://schemas.openxmlformats.org/officeDocument/2006/relationships/slide" Target="/ppt/slides/slide12.xml" Id="R4fd1e5f8faaa40a1" /><Relationship Type="http://schemas.openxmlformats.org/officeDocument/2006/relationships/slide" Target="/ppt/slides/slide13.xml" Id="R4757b077a3cd4613" /><Relationship Type="http://schemas.openxmlformats.org/officeDocument/2006/relationships/slide" Target="/ppt/slides/slide14.xml" Id="R4f29705cf72347be" /><Relationship Type="http://schemas.openxmlformats.org/officeDocument/2006/relationships/slide" Target="/ppt/slides/slide15.xml" Id="R9232eac1c0a84f2f" /><Relationship Type="http://schemas.openxmlformats.org/officeDocument/2006/relationships/slide" Target="/ppt/slides/slide16.xml" Id="R3daa31fd712d48ea" /><Relationship Type="http://schemas.openxmlformats.org/officeDocument/2006/relationships/slide" Target="/ppt/slides/slide17.xml" Id="Ref047429ad744ebd" /><Relationship Type="http://schemas.openxmlformats.org/officeDocument/2006/relationships/slide" Target="/ppt/slides/slide18.xml" Id="R2aee1d311ee6403e" /><Relationship Type="http://schemas.openxmlformats.org/officeDocument/2006/relationships/slide" Target="/ppt/slides/slide19.xml" Id="Rbd4bd7afe60a4291" /><Relationship Type="http://schemas.openxmlformats.org/officeDocument/2006/relationships/slide" Target="/ppt/slides/slide20.xml" Id="R2bf42e963c6641f3" /><Relationship Type="http://schemas.openxmlformats.org/officeDocument/2006/relationships/slide" Target="/ppt/slides/slide21.xml" Id="Redd6bccd8d704143" /><Relationship Type="http://schemas.openxmlformats.org/officeDocument/2006/relationships/slide" Target="/ppt/slides/slide22.xml" Id="R5e589b1153ae4856" /><Relationship Type="http://schemas.openxmlformats.org/officeDocument/2006/relationships/slide" Target="/ppt/slides/slide23.xml" Id="R61b699824a6e4884" /><Relationship Type="http://schemas.openxmlformats.org/officeDocument/2006/relationships/slide" Target="/ppt/slides/slide24.xml" Id="R9fbf33247c9f4706" /><Relationship Type="http://schemas.openxmlformats.org/officeDocument/2006/relationships/slide" Target="/ppt/slides/slide25.xml" Id="R4627583166024cc6" /><Relationship Type="http://schemas.openxmlformats.org/officeDocument/2006/relationships/slide" Target="/ppt/slides/slide26.xml" Id="R44c28e30da144889" /><Relationship Type="http://schemas.openxmlformats.org/officeDocument/2006/relationships/slide" Target="/ppt/slides/slide27.xml" Id="R274611f80fda47a3" /><Relationship Type="http://schemas.openxmlformats.org/officeDocument/2006/relationships/slide" Target="/ppt/slides/slide28.xml" Id="Reafbeec7787848a1" /><Relationship Type="http://schemas.openxmlformats.org/officeDocument/2006/relationships/slide" Target="/ppt/slides/slide29.xml" Id="Ra5495d432b28417e" /><Relationship Type="http://schemas.openxmlformats.org/officeDocument/2006/relationships/slide" Target="/ppt/slides/slide30.xml" Id="Ra3a5cfe06a594aeb" /><Relationship Type="http://schemas.openxmlformats.org/officeDocument/2006/relationships/slide" Target="/ppt/slides/slide31.xml" Id="Re6bc27c94c304b60" /><Relationship Type="http://schemas.openxmlformats.org/officeDocument/2006/relationships/slide" Target="/ppt/slides/slide32.xml" Id="R6fe2d99d7973441f" /><Relationship Type="http://schemas.openxmlformats.org/officeDocument/2006/relationships/slide" Target="/ppt/slides/slide33.xml" Id="Rfcf3046eba3e4706" /><Relationship Type="http://schemas.openxmlformats.org/officeDocument/2006/relationships/slide" Target="/ppt/slides/slide34.xml" Id="Re60e4855483c439d" /><Relationship Type="http://schemas.openxmlformats.org/officeDocument/2006/relationships/slide" Target="/ppt/slides/slide35.xml" Id="R8df35800a4354efb" /><Relationship Type="http://schemas.openxmlformats.org/officeDocument/2006/relationships/slide" Target="/ppt/slides/slide36.xml" Id="R7a8e289cf2834191" /><Relationship Type="http://schemas.openxmlformats.org/officeDocument/2006/relationships/slide" Target="/ppt/slides/slide37.xml" Id="Ra01a9ffd34e546c4" /><Relationship Type="http://schemas.openxmlformats.org/officeDocument/2006/relationships/slide" Target="/ppt/slides/slide38.xml" Id="Ra5084771ba3d4638" /><Relationship Type="http://schemas.openxmlformats.org/officeDocument/2006/relationships/slide" Target="/ppt/slides/slide39.xml" Id="Reb75bdb11d1d47c0" /><Relationship Type="http://schemas.openxmlformats.org/officeDocument/2006/relationships/slide" Target="/ppt/slides/slide40.xml" Id="R7f45f8a18a9041a0" /><Relationship Type="http://schemas.openxmlformats.org/officeDocument/2006/relationships/slide" Target="/ppt/slides/slide41.xml" Id="R0c0dce562e5f4ae3" /><Relationship Type="http://schemas.openxmlformats.org/officeDocument/2006/relationships/slide" Target="/ppt/slides/slide42.xml" Id="R67822883f24a4a25" /><Relationship Type="http://schemas.openxmlformats.org/officeDocument/2006/relationships/slide" Target="/ppt/slides/slide43.xml" Id="R3a8cfac078fd4755" /><Relationship Type="http://schemas.openxmlformats.org/officeDocument/2006/relationships/slide" Target="/ppt/slides/slide44.xml" Id="R83c88e33d39249d0" /><Relationship Type="http://schemas.openxmlformats.org/officeDocument/2006/relationships/slide" Target="/ppt/slides/slide45.xml" Id="Rfe439b1dcb224033" /><Relationship Type="http://schemas.openxmlformats.org/officeDocument/2006/relationships/slide" Target="/ppt/slides/slide46.xml" Id="R6e8e02c020c343bc" /><Relationship Type="http://schemas.openxmlformats.org/officeDocument/2006/relationships/slide" Target="/ppt/slides/slide47.xml" Id="R65711f2768554846" /><Relationship Type="http://schemas.openxmlformats.org/officeDocument/2006/relationships/slide" Target="/ppt/slides/slide48.xml" Id="Rf0d1fc9015104402" /><Relationship Type="http://schemas.openxmlformats.org/officeDocument/2006/relationships/slide" Target="/ppt/slides/slide49.xml" Id="R7c50772c9436412e" /><Relationship Type="http://schemas.openxmlformats.org/officeDocument/2006/relationships/slide" Target="/ppt/slides/slide50.xml" Id="Rbc67ea9197b04ed3" /><Relationship Type="http://schemas.openxmlformats.org/officeDocument/2006/relationships/slide" Target="/ppt/slides/slide51.xml" Id="R16873609f923471f" /><Relationship Type="http://schemas.openxmlformats.org/officeDocument/2006/relationships/slide" Target="/ppt/slides/slide52.xml" Id="R0e57b139b0ee4ae2" /><Relationship Type="http://schemas.openxmlformats.org/officeDocument/2006/relationships/slide" Target="/ppt/slides/slide53.xml" Id="R718d728a77e8452e" /><Relationship Type="http://schemas.openxmlformats.org/officeDocument/2006/relationships/slide" Target="/ppt/slides/slide54.xml" Id="R37808ee3159047f0" /><Relationship Type="http://schemas.openxmlformats.org/officeDocument/2006/relationships/slide" Target="/ppt/slides/slide55.xml" Id="R21b4cda211c14e2d" /><Relationship Type="http://schemas.openxmlformats.org/officeDocument/2006/relationships/slide" Target="/ppt/slides/slide56.xml" Id="R85ab53b52cf44f5e" /><Relationship Type="http://schemas.openxmlformats.org/officeDocument/2006/relationships/slide" Target="/ppt/slides/slide57.xml" Id="R0e346564878e4bb2" /><Relationship Type="http://schemas.openxmlformats.org/officeDocument/2006/relationships/slide" Target="/ppt/slides/slide58.xml" Id="R9fa2763906eb4d34" /><Relationship Type="http://schemas.openxmlformats.org/officeDocument/2006/relationships/slide" Target="/ppt/slides/slide59.xml" Id="R6b6911a96b27439f" /><Relationship Type="http://schemas.openxmlformats.org/officeDocument/2006/relationships/slide" Target="/ppt/slides/slide60.xml" Id="Rf9d17ce9cb8343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65d3c39df544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0087095d3345df" /><Relationship Type="http://schemas.openxmlformats.org/officeDocument/2006/relationships/notesMaster" Target="/ppt/notesMasters/notesMaster1.xml" Id="R81b9766f989b42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43ebf254ee4119" /><Relationship Type="http://schemas.openxmlformats.org/officeDocument/2006/relationships/notesMaster" Target="/ppt/notesMasters/notesMaster1.xml" Id="R4669fc259ce245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6780f801564649" /><Relationship Type="http://schemas.openxmlformats.org/officeDocument/2006/relationships/notesMaster" Target="/ppt/notesMasters/notesMaster1.xml" Id="Rd31ab8f67cc34f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657325d9a74227" /><Relationship Type="http://schemas.openxmlformats.org/officeDocument/2006/relationships/notesMaster" Target="/ppt/notesMasters/notesMaster1.xml" Id="Rb5c99a2f383d42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14649c22e7420a" /><Relationship Type="http://schemas.openxmlformats.org/officeDocument/2006/relationships/notesMaster" Target="/ppt/notesMasters/notesMaster1.xml" Id="R076c2fabdbd945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0c6d9602fa4b1a" /><Relationship Type="http://schemas.openxmlformats.org/officeDocument/2006/relationships/notesMaster" Target="/ppt/notesMasters/notesMaster1.xml" Id="R80437551ae8d49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9c448f40914e74" /><Relationship Type="http://schemas.openxmlformats.org/officeDocument/2006/relationships/notesMaster" Target="/ppt/notesMasters/notesMaster1.xml" Id="Rb7ad297ceb6247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c3bec6c6b14107" /><Relationship Type="http://schemas.openxmlformats.org/officeDocument/2006/relationships/notesMaster" Target="/ppt/notesMasters/notesMaster1.xml" Id="R01f80929f88749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9dffdb11b244f9" /><Relationship Type="http://schemas.openxmlformats.org/officeDocument/2006/relationships/notesMaster" Target="/ppt/notesMasters/notesMaster1.xml" Id="R9503fca67e5148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b55207fa724792" /><Relationship Type="http://schemas.openxmlformats.org/officeDocument/2006/relationships/notesMaster" Target="/ppt/notesMasters/notesMaster1.xml" Id="Red488ab732bf4a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aa34ba722f479b" /><Relationship Type="http://schemas.openxmlformats.org/officeDocument/2006/relationships/notesMaster" Target="/ppt/notesMasters/notesMaster1.xml" Id="R32e6fbbf00f94a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baf105710a42dd" /><Relationship Type="http://schemas.openxmlformats.org/officeDocument/2006/relationships/notesMaster" Target="/ppt/notesMasters/notesMaster1.xml" Id="R95c3fa49252d46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f9c05a0dd94b64" /><Relationship Type="http://schemas.openxmlformats.org/officeDocument/2006/relationships/notesMaster" Target="/ppt/notesMasters/notesMaster1.xml" Id="R0506477ad2a54f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8ecd5cf71c46bc" /><Relationship Type="http://schemas.openxmlformats.org/officeDocument/2006/relationships/notesMaster" Target="/ppt/notesMasters/notesMaster1.xml" Id="R7a4a3dd4a48d47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7245cdfec14629" /><Relationship Type="http://schemas.openxmlformats.org/officeDocument/2006/relationships/notesMaster" Target="/ppt/notesMasters/notesMaster1.xml" Id="Rd9d3db19fb1046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0961f778b274b80" /><Relationship Type="http://schemas.openxmlformats.org/officeDocument/2006/relationships/notesMaster" Target="/ppt/notesMasters/notesMaster1.xml" Id="Rc80b4ba36c0e4f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31de783c97c4ef5" /><Relationship Type="http://schemas.openxmlformats.org/officeDocument/2006/relationships/notesMaster" Target="/ppt/notesMasters/notesMaster1.xml" Id="R9b7e22445d9e42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1846610c8443b1" /><Relationship Type="http://schemas.openxmlformats.org/officeDocument/2006/relationships/notesMaster" Target="/ppt/notesMasters/notesMaster1.xml" Id="R21b39f7f67e044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a0d5cd4e994322" /><Relationship Type="http://schemas.openxmlformats.org/officeDocument/2006/relationships/notesMaster" Target="/ppt/notesMasters/notesMaster1.xml" Id="Rba6298ae118648e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796f177b2643cd" /><Relationship Type="http://schemas.openxmlformats.org/officeDocument/2006/relationships/notesMaster" Target="/ppt/notesMasters/notesMaster1.xml" Id="Rb540f50cc55b4f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49a7d164694600" /><Relationship Type="http://schemas.openxmlformats.org/officeDocument/2006/relationships/notesMaster" Target="/ppt/notesMasters/notesMaster1.xml" Id="Racf7383ac1c043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e33a5ec68a3429d" /><Relationship Type="http://schemas.openxmlformats.org/officeDocument/2006/relationships/notesMaster" Target="/ppt/notesMasters/notesMaster1.xml" Id="R249ed5da00ce44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811ec5cbce40f6" /><Relationship Type="http://schemas.openxmlformats.org/officeDocument/2006/relationships/notesMaster" Target="/ppt/notesMasters/notesMaster1.xml" Id="R09c1a7eb1a6242f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a1e6f2760e4834" /><Relationship Type="http://schemas.openxmlformats.org/officeDocument/2006/relationships/notesMaster" Target="/ppt/notesMasters/notesMaster1.xml" Id="Rba218cb1d6f74e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1a637a66b942d7" /><Relationship Type="http://schemas.openxmlformats.org/officeDocument/2006/relationships/notesMaster" Target="/ppt/notesMasters/notesMaster1.xml" Id="Reda2f1aa5999419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0012f2a6f7a4c94" /><Relationship Type="http://schemas.openxmlformats.org/officeDocument/2006/relationships/notesMaster" Target="/ppt/notesMasters/notesMaster1.xml" Id="Ref38a8a7589c493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5f666c65b64724" /><Relationship Type="http://schemas.openxmlformats.org/officeDocument/2006/relationships/notesMaster" Target="/ppt/notesMasters/notesMaster1.xml" Id="Ra36b2941a91242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a7dcb197fa14eda" /><Relationship Type="http://schemas.openxmlformats.org/officeDocument/2006/relationships/notesMaster" Target="/ppt/notesMasters/notesMaster1.xml" Id="Rf2e018959d4d4e8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7c0f307da404fd4" /><Relationship Type="http://schemas.openxmlformats.org/officeDocument/2006/relationships/notesMaster" Target="/ppt/notesMasters/notesMaster1.xml" Id="R2d7ba7b6732548c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36e739a4faa431f" /><Relationship Type="http://schemas.openxmlformats.org/officeDocument/2006/relationships/notesMaster" Target="/ppt/notesMasters/notesMaster1.xml" Id="Rf3d631fc133a4b7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0b38f48d16e4e52" /><Relationship Type="http://schemas.openxmlformats.org/officeDocument/2006/relationships/notesMaster" Target="/ppt/notesMasters/notesMaster1.xml" Id="Rf5ea00eb321b455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609638f2a1a4464" /><Relationship Type="http://schemas.openxmlformats.org/officeDocument/2006/relationships/notesMaster" Target="/ppt/notesMasters/notesMaster1.xml" Id="Rc0aa86e5c8974d2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bc2ca2876434f3a" /><Relationship Type="http://schemas.openxmlformats.org/officeDocument/2006/relationships/notesMaster" Target="/ppt/notesMasters/notesMaster1.xml" Id="R07be2f3c7cb54ad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52e54bc8ec746a3" /><Relationship Type="http://schemas.openxmlformats.org/officeDocument/2006/relationships/notesMaster" Target="/ppt/notesMasters/notesMaster1.xml" Id="R167f93397b13455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bea3ff98dd4e1f" /><Relationship Type="http://schemas.openxmlformats.org/officeDocument/2006/relationships/notesMaster" Target="/ppt/notesMasters/notesMaster1.xml" Id="Rf381faac712f47c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ea5de37d704420c" /><Relationship Type="http://schemas.openxmlformats.org/officeDocument/2006/relationships/notesMaster" Target="/ppt/notesMasters/notesMaster1.xml" Id="R9aa0271846cc461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41ae41678df4bc4" /><Relationship Type="http://schemas.openxmlformats.org/officeDocument/2006/relationships/notesMaster" Target="/ppt/notesMasters/notesMaster1.xml" Id="R334eff05e26542e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9ceef74539b4c36" /><Relationship Type="http://schemas.openxmlformats.org/officeDocument/2006/relationships/notesMaster" Target="/ppt/notesMasters/notesMaster1.xml" Id="R14cd04f8a63e45c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7a2ccee6e1b4ca0" /><Relationship Type="http://schemas.openxmlformats.org/officeDocument/2006/relationships/notesMaster" Target="/ppt/notesMasters/notesMaster1.xml" Id="Rc01151b12be74a0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1bafed301e6461e" /><Relationship Type="http://schemas.openxmlformats.org/officeDocument/2006/relationships/notesMaster" Target="/ppt/notesMasters/notesMaster1.xml" Id="R84fcb160ff6e40c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1cd92291f204460" /><Relationship Type="http://schemas.openxmlformats.org/officeDocument/2006/relationships/notesMaster" Target="/ppt/notesMasters/notesMaster1.xml" Id="R50df9be70abf4c9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23bc46483494f4b" /><Relationship Type="http://schemas.openxmlformats.org/officeDocument/2006/relationships/notesMaster" Target="/ppt/notesMasters/notesMaster1.xml" Id="R4c491178cb4d4be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1ee68c20bfb434d" /><Relationship Type="http://schemas.openxmlformats.org/officeDocument/2006/relationships/notesMaster" Target="/ppt/notesMasters/notesMaster1.xml" Id="R867c863f0b504b5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4e1f7ec83dc491a" /><Relationship Type="http://schemas.openxmlformats.org/officeDocument/2006/relationships/notesMaster" Target="/ppt/notesMasters/notesMaster1.xml" Id="Rce20caaeae2e404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fee977c8a9044ec" /><Relationship Type="http://schemas.openxmlformats.org/officeDocument/2006/relationships/notesMaster" Target="/ppt/notesMasters/notesMaster1.xml" Id="R36f07be497c24e0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2a0156f97164e97" /><Relationship Type="http://schemas.openxmlformats.org/officeDocument/2006/relationships/notesMaster" Target="/ppt/notesMasters/notesMaster1.xml" Id="R6e7f9b2e2d484bc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22d924bc5084286" /><Relationship Type="http://schemas.openxmlformats.org/officeDocument/2006/relationships/notesMaster" Target="/ppt/notesMasters/notesMaster1.xml" Id="R540288b4ea354c1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1ddecf3050d4ac3" /><Relationship Type="http://schemas.openxmlformats.org/officeDocument/2006/relationships/notesMaster" Target="/ppt/notesMasters/notesMaster1.xml" Id="R38a439a04e90499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a093e29469d4368" /><Relationship Type="http://schemas.openxmlformats.org/officeDocument/2006/relationships/notesMaster" Target="/ppt/notesMasters/notesMaster1.xml" Id="R6d868a549bcf44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1b2a1f59baf4f8c" /><Relationship Type="http://schemas.openxmlformats.org/officeDocument/2006/relationships/notesMaster" Target="/ppt/notesMasters/notesMaster1.xml" Id="Ra5375aefb276439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250b3a8637e4988" /><Relationship Type="http://schemas.openxmlformats.org/officeDocument/2006/relationships/notesMaster" Target="/ppt/notesMasters/notesMaster1.xml" Id="R62ed994ed0c34e3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d43e75fb9da49e2" /><Relationship Type="http://schemas.openxmlformats.org/officeDocument/2006/relationships/notesMaster" Target="/ppt/notesMasters/notesMaster1.xml" Id="R52e07789d2264e0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40aabd9069440cf" /><Relationship Type="http://schemas.openxmlformats.org/officeDocument/2006/relationships/notesMaster" Target="/ppt/notesMasters/notesMaster1.xml" Id="R0fb73237bf75403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de90f3d5bd142da" /><Relationship Type="http://schemas.openxmlformats.org/officeDocument/2006/relationships/notesMaster" Target="/ppt/notesMasters/notesMaster1.xml" Id="R4c3cfdf07f71409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f75e62309bc402f" /><Relationship Type="http://schemas.openxmlformats.org/officeDocument/2006/relationships/notesMaster" Target="/ppt/notesMasters/notesMaster1.xml" Id="R81730d65a64942a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aaa246fc2814088" /><Relationship Type="http://schemas.openxmlformats.org/officeDocument/2006/relationships/notesMaster" Target="/ppt/notesMasters/notesMaster1.xml" Id="R2637a1a3605b488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eb1a5c63b0b4086" /><Relationship Type="http://schemas.openxmlformats.org/officeDocument/2006/relationships/notesMaster" Target="/ppt/notesMasters/notesMaster1.xml" Id="R1357b92650964fc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17849055120470f" /><Relationship Type="http://schemas.openxmlformats.org/officeDocument/2006/relationships/notesMaster" Target="/ppt/notesMasters/notesMaster1.xml" Id="Raace827965be45d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cb860d8aa764d54" /><Relationship Type="http://schemas.openxmlformats.org/officeDocument/2006/relationships/notesMaster" Target="/ppt/notesMasters/notesMaster1.xml" Id="R31ee88393f3e413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1970721bb3b4791" /><Relationship Type="http://schemas.openxmlformats.org/officeDocument/2006/relationships/notesMaster" Target="/ppt/notesMasters/notesMaster1.xml" Id="R57bde9610e0646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road project: government spending is income for firms and workers. Ask students why the eventual rise in GDP might exceed the initial spending. Do not supply the formula yet.</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A-Level_Macro_International_32-Lesson_Coverage_Planner.xlsx, '32-Lesson Model', lessons 1-2 (local workbook).</a:t>
            </a:r>
          </a:p>
          <a:p xmlns:a="http://schemas.openxmlformats.org/drawingml/2006/main">
            <a:r>
              <a:t>- 9.1.1 Multiplier process SHARE.pdf / PPTX (previous lesson material). Road-construction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[Sources]
Road-construction photograph: inherited from the user’s manual deck; originally reused from 9.1.1 Multiplier process SHARE.pptx in previous-lesson-materials.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learning contract. The first two outcomes dominate Lesson 1; the second two are revisited and extended in Lesson 2.</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A-Level_Macro_International_32-Lesson_Coverage_Planner.xlsx, '32-Lesson Model', lessons 1-2 (local workbook).</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the same spending is simultaneously someone else's income. The lesson follows that income as it moves through the circular flow.</a:t>
            </a:r>
          </a:p>
          <a:p xmlns:a="http://schemas.openxmlformats.org/drawingml/2006/main">
            <a:endParaRPr/>
          </a:p>
          <a:p xmlns:a="http://schemas.openxmlformats.org/drawingml/2006/main">
            <a:r>
              <a:t>[Sources]</a:t>
            </a:r>
          </a:p>
          <a:p xmlns:a="http://schemas.openxmlformats.org/drawingml/2006/main">
            <a:r>
              <a:t>- A-Level_Macro_International_32-Lesson_Coverage_Planner.xlsx, '32-Lesson Model', lessons 1-2 (local workbook).</a:t>
            </a:r>
          </a:p>
          <a:p xmlns:a="http://schemas.openxmlformats.org/drawingml/2006/main">
            <a:r>
              <a:t>- 9.1.1 Multiplier process SHARE.pdf / PPTX (previous lesson material). Construction-workers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a minute to predict. Accept ranges, but press for the missing behaviour: how much of each extra pound is re-spent and how much leaks out. The coursebook's Puerto Rico context provides a source-backed comparison: $160m of investment was estimated to produce $240m of final spending.</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the process can work in reverse: a fall in autonomous spending can create a multiplied fall in income. The size depends on leakages in every round.</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classification: exports are an injection; saving is a leakage. Re-establish that equilibrium requires planned injections to equal planned withdrawals.</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row by row if presenting interactively. Ask why the rounds shrink. Answer: 25% leaks into saving in every round. The infinite geometric sum tends to £400m. This mirrors the coursebook's round-by-round method, which uses a different numerical example.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ΔJ for the initial autonomous injection, matching the coursebook convention. Students may also see ΔAD. Emphasise units cancel: the multiplier is a ratio, not a currency amount.</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if income rises from 100 to 140 and consumption rises from 90 to 122, what is MPC? Answer: 32/40 = 0.8. APC at the new income is 122/140 ≈ 0.871. For household consumption and saving questions, the coursebook commonly uses disposable income as the income base.</a:t>
            </a:r>
          </a:p>
          <a:p xmlns:a="http://schemas.openxmlformats.org/drawingml/2006/main">
            <a:endParaRPr/>
          </a:p>
          <a:p xmlns:a="http://schemas.openxmlformats.org/drawingml/2006/main">
            <a:r>
              <a:t>[Sources]</a:t>
            </a:r>
          </a:p>
          <a:p xmlns:a="http://schemas.openxmlformats.org/drawingml/2006/main">
            <a:r>
              <a:t>- 9.1.1 Multiplier process SHARE.pdf / PPTX (previous lesson material).</a:t>
            </a:r>
          </a:p>
          <a:p xmlns:a="http://schemas.openxmlformats.org/drawingml/2006/main">
            <a:r>
              <a:t>- Cambridge International AS &amp; A Level Economics 9708 syllabus for 2026, 2027 and 2028, section 9.1.1, p.29 (local PDF).</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syllabus uses 'art' for average rate of tax and 'mrt' for marginal rate of tax. Do not let students write MTR unless the examiner wording allows it. The coursebook confirms that marginal propensities, not average propensities, enter the multiplier.</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 the table and ask what institution/sector introduces each new leakage. The coursebook explicitly develops the closed no-government, closed with-government and open with-government cases; the syllabus and previous deck also require the open no-government case.</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 disciplined routine: identify model → identify leakages → calculate MPW → invert → multiply by the autonomous injection. Check that k &gt; 1 because MPW is below 1.</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MPW = 1/6 + 1/3 = 1/2, so k = 2. 2) k = 5 and ΔY = $5,000m. 3) MPW = 0.80, so k = 1.25. Insist on working, not just answers.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correct in a different colour. Common errors: omitting a leakage, adding the initial level of income to the change, and using MPW instead of 1/MPW.</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answers: 1) A ratio of the final change in national income to the initial change in autonomous spending. 2) More income leaves the spending stream in every round, so later rounds are smaller. 3) MPW = 0.50; k = 2.</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- 9.1.2 Calculating the multiplier SHARE.pdf / PPTX, especially slides 33-41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island to cue the open-economy model: imports are a leakage and exports are an injection. Lesson 2 begins with retrieval before moving into data and national-income determination.</a:t>
            </a:r>
          </a:p>
          <a:p xmlns:a="http://schemas.openxmlformats.org/drawingml/2006/main">
            <a:endParaRPr/>
          </a:p>
          <a:p xmlns:a="http://schemas.openxmlformats.org/drawingml/2006/main">
            <a:r>
              <a:t>[Sources]</a:t>
            </a:r>
          </a:p>
          <a:p xmlns:a="http://schemas.openxmlformats.org/drawingml/2006/main">
            <a:r>
              <a:t>- A-Level_Macro_International_32-Lesson_Coverage_Planner.xlsx, '32-Lesson Model', lessons 1-2 (local workbook).</a:t>
            </a:r>
          </a:p>
          <a:p xmlns:a="http://schemas.openxmlformats.org/drawingml/2006/main">
            <a:r>
              <a:t>- 9.1.2 Calculating the multiplier SHARE.pdf / PPTX, especially slides 33-41 (previous lesson material). Island photograph extracted from the source 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k = ΔY/ΔJ. MPW = MPS + MPM + MRT. Leakages: saving, imports and taxation. Larger leakages lower k. Calculation: MPW = 0.50, k = 2.</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first find ΔY = 200. Then divide each flow change by 200. C is labelled domestic consumption so the simplified marginal allocation can be read alongside separate import, saving and tax leakages.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the simplified allocation: MPC + MPS + MPM + MRT = 1. The multiplier uses only the withdrawals: 0.10 + 0.10 + 0.10 = 0.30. Do not include MPC in MPW.</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 p.29 (local PDF).</a:t>
            </a:r>
          </a:p>
          <a:p xmlns:a="http://schemas.openxmlformats.org/drawingml/2006/main">
            <a:r>
              <a:t>- 9.1.1 Multiplier process SHARE.pdf / PPTX (previous lesson material).</a:t>
            </a:r>
          </a:p>
          <a:p xmlns:a="http://schemas.openxmlformats.org/drawingml/2006/main">
            <a:r>
              <a:t>- 9.1.2 Calculating the multiplier SHARE.pdf / PPTX, especially slides 33-41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copy the routine as a margin checklist. It reduces most formula-selection errors and makes working easy to reward in exams.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why no MPM or MRT appears. Answer: the model explicitly excludes the foreign and government sectors. Interpret k = 4 in words.</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with Example A. The initial injection is larger here, but k is smaller because more types of leakage are present.</a:t>
            </a:r>
          </a:p>
          <a:p xmlns:a="http://schemas.openxmlformats.org/drawingml/2006/main">
            <a:endParaRPr/>
          </a:p>
          <a:p xmlns:a="http://schemas.openxmlformats.org/drawingml/2006/main">
            <a:r>
              <a:t>[Sources]</a:t>
            </a:r>
          </a:p>
          <a:p xmlns:a="http://schemas.openxmlformats.org/drawingml/2006/main">
            <a:r>
              <a:t>- 9.1.2 Calculating the multiplier SHARE.pdf / PPTX, especially slides 33-41 (previous lesson material).</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adapts exercise 4. Students often divide 1,200 by 400 and miss the initial investment in total ΔY. In a closed no-government model, ΔY = ΔI + induced ΔC.</a:t>
            </a:r>
          </a:p>
          <a:p xmlns:a="http://schemas.openxmlformats.org/drawingml/2006/main">
            <a:endParaRPr/>
          </a:p>
          <a:p xmlns:a="http://schemas.openxmlformats.org/drawingml/2006/main">
            <a:r>
              <a:t>[Sources]</a:t>
            </a:r>
          </a:p>
          <a:p xmlns:a="http://schemas.openxmlformats.org/drawingml/2006/main">
            <a:r>
              <a:t>- Multiplier Exercises.pdf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as-bridge</a:t>
            </a:r>
          </a:p>
          <a:p xmlns:a="http://schemas.openxmlformats.org/drawingml/2006/main">
            <a:r>
              <a:t>AS 4.2 explicitly excludes the multiplier and propensities; these were introduced in Lesson 1, not assumed from AS. Retrieve the components of AD orally: C+I+G+(X−M). Define AE as planned purchases of the economy’s output at each income level. In this simplified model prices are fixed and spare resources allow output to respond. Do not start with a finished Keynesian cross. Allow 1–2 minutes to check the AS bridge.</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ae-axes</a:t>
            </a:r>
          </a:p>
          <a:p xmlns:a="http://schemas.openxmlformats.org/drawingml/2006/main">
            <a:r>
              <a:t>Define aggregate = total and expenditure = spending. First ask learners to read A horizontally (400) and vertically (350); do not yet infer adjustment. Explain why the value of output creates incomes: wages, rent, interest and profit. The vertical axis is planned expenditure, NOT the price level and NOT actual measured expenditure including unplanned stock changes. It can differ from current output. Both axes are £m per year; at fixed prices the output/income change represents a real output change. This is not a GDP income-measurement method; it is a model of income determination.</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ae-equality-line</a:t>
            </a:r>
          </a:p>
          <a:p xmlns:a="http://schemas.openxmlformats.org/drawingml/2006/main">
            <a:r>
              <a:t>Draw only the equality line after the axes. Ask students to generate the equal-value pairs (200,200), (400,400) and (600,600). The answer to the check is the point further up the same line at (600,600). The line is a reference condition, not a spending rule and not an AS curve. It does not mean that every actual economy is automatically in equilibrium. The AE line is still missing; only its intersection with this reference line will identify equilibrium.</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ae-spending-table</a:t>
            </a:r>
          </a:p>
          <a:p xmlns:a="http://schemas.openxmlformats.org/drawingml/2006/main">
            <a:r>
              <a:t>All data are teacher-created. Read C=0.75Y as a simple rule: households plan to consume 75p from every £1 of income. This deliberately omits autonomous consumption; do not assume general C=a+bY theory from 9.1.2. I is investment expenditure on capital goods, not buying financial assets. Assume I is fixed at100 at each income level. Since no government or foreign trade is included, AE=C+I. Ask students to compute the400 and600 rows before pointing to the answers. Explain that the rows are possible income levels, not successive years. Prices and MPC are fixed.</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ae-spending-line</a:t>
            </a:r>
          </a:p>
          <a:p xmlns:a="http://schemas.openxmlformats.org/drawingml/2006/main">
            <a:r>
              <a:t>Plot the table pairs on the same axes as the preceding slides. Use the horizontal 200 and vertical150 step to define slope, not merely the visual angle. The intercept100 is investment in this example, not autonomous consumption. The slope is MPC only because we assumed a closed economy, no government, C=0.75Y and fixed investment. In a richer economy imports and taxes affect the induced domestic spending slope. Do not generalise this simplified slope unconditionally. Ask: why does AE rise by less than Y? Answer: some extra income is saved.</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ae-equilibrium</a:t>
            </a:r>
          </a:p>
          <a:p xmlns:a="http://schemas.openxmlformats.org/drawingml/2006/main">
            <a:r>
              <a:t>Add the equality line to the AE line, holding the axes and data unchanged. Trace E0 to BOTH axes. Ask students to verify AE=100+0.75×400=400. Equilibrium means no tendency for output to change within this model, not necessarily full employment. Save inflationary/deflationary gap analysis for9.1.3. Explain stocks/inventories simply as goods firms have produced but not yet sold. Planned stocks can exist; it is the unplanned change that signals disequilibrium.</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ae-below-equilibrium</a:t>
            </a:r>
          </a:p>
          <a:p xmlns:a="http://schemas.openxmlformats.org/drawingml/2006/main">
            <a:r>
              <a:t>Before explaining, ask for AE atY200 using the table/rule. Answer250. Trace the vertical gap between the AE schedule and equality line at this SAME income. Actual expenditure still equals output in national accounts when unplanned inventory investment is included; planned purchases are larger here. Producers meet some demand by drawing down stocks and respond by expanding production. Extra output generates incomes which induce consumption, but saving prevents endlessly accelerating expansion. The direction is toward400, not necessarily an immediate one-step jump.</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ae-above-equilibrium</a:t>
            </a:r>
          </a:p>
          <a:p xmlns:a="http://schemas.openxmlformats.org/drawingml/2006/main">
            <a:r>
              <a:t>Let students predict before revealing the stock mechanism. AtY600, C450+I100 gives plannedAE550. Unsold output50 increases inventories unintentionally, so firms reduce production. The check answer must mention planned spending below output, not simply that the point is on the right. Compare to the previous slide: above/below equilibrium describes the income level on the horizontal axis; AE above/below the equality line describes the planned-spending gap. Return to400.</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ae-injection-shift</a:t>
            </a:r>
          </a:p>
          <a:p xmlns:a="http://schemas.openxmlformats.org/drawingml/2006/main">
            <a:r>
              <a:t>Keep Y at400 while adding the second AE line. Ask: what changed before any extra income was earned? Only plannedI rose50. NewAE=150+0.75Y. Compare old and new AE at any common Y: the vertical gap is always50, hence a parallel shift. MPC is unchanged. Do not label a new income equilibrium yet. The initial50 spending can prompt firms to expand, creating the first extra income round. Distinguish an autonomous shift caused by I from income-induced consumption represented by movement along the NEW AE line.</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ae-spending-rounds</a:t>
            </a:r>
          </a:p>
          <a:p xmlns:a="http://schemas.openxmlformats.org/drawingml/2006/main">
            <a:r>
              <a:t>Values displayed to2decimal places; calculations use unrounded values. Draw the link back to the Lesson1 rounds table. These figures are CHANGES in income/spending, not the level of national income. Households spend75% of each new income round; the remaining25% is saved. Total induced extraC150 plus initialΔI50 equals totalΔY200. Output does not jump instantly from400 to600. The income-induced C is movement alongAE1; do not shiftAE again for that same response (which would double-count it). Ask learners to predict the second-round consumption before reading the table.</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ae-new-equilibrium</a:t>
            </a:r>
          </a:p>
          <a:p xmlns:a="http://schemas.openxmlformats.org/drawingml/2006/main">
            <a:r>
              <a:t>Trace newE1 down to600. Ask students to give the LEVEL of final income (600), then the CHANGE (200), then the INITIAL injection (50). Explicitly contrast verticalΔI and horizontalΔY. ValidateAE1=150+0.75×600=600. On these equal scales horizontal gap90px is4times vertical22.5px. Both AE lines have slope0.75, flatter than the equality line. This is a fixed-price/spare-capacity model, not a claim that any economy must increase real output by the full calculated amount.</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ae-injections-leakages</a:t>
            </a:r>
          </a:p>
          <a:p xmlns:a="http://schemas.openxmlformats.org/drawingml/2006/main">
            <a:r>
              <a:t>Bridge the income-expenditure diagram to the AS circular-flow equilibrium condition. In the closed economy without government, Y=C+S and plannedAE=C+I. EquilibriumY=AE means C+S=C+I, thereforeS=I. Distinguish LEVELS I=S=150 at final equilibrium from CHANGES ΔI=ΔS=50 after an initial equilibrium at100. Extra saving0.25×200=50 matches the injection. In an open economy with government the equivalent condition is I+G+X=S+T+M; introduce orally using the familiar AS leakages, without another new graph. Ask students why saving has not risen by200.</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ae-draw-and-explain</a:t>
            </a:r>
          </a:p>
          <a:p xmlns:a="http://schemas.openxmlformats.org/drawingml/2006/main">
            <a:r>
              <a:t>Allow students to construct the axes, equality line, original and lower AE lines on paper. Keep the next answer slide hidden until they have predicted the direction. Scaffold only if needed: oldAE100+0.75Y; newAE50+0.75Y. Answers on the following slide: k4, ΔI−50, ΔY−200, newY200. At oldY400 newAE350, so unexpected stocks rise50 and output falls. A strong answer distinguishes an initial fall in investment from induced falls in consumption and labels the vertical/horizontal gaps separately. This is teacher-created, not an examination question.</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ae-negative-multiplier</a:t>
            </a:r>
          </a:p>
          <a:p xmlns:a="http://schemas.openxmlformats.org/drawingml/2006/main">
            <a:r>
              <a:t>Reveal after the independent draw. Check: (1) correct axes; (2) equality line through origin; (3) two parallelAE lines with lower new intercept; (4) equilibrium income200, below400; (5) contraction chain. The multiplier remains positive4; the income change is negative because the injection change is negative. At new equilibriumC150 plusI50 equalsY200, and saving50 equals investment50.</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adas-recall</a:t>
            </a:r>
          </a:p>
          <a:p xmlns:a="http://schemas.openxmlformats.org/drawingml/2006/main">
            <a:r>
              <a:t>Use the AS4.3 model as retrieval, not as a new prerequisite. Ask whyAD slopes down with respect to price level and whySRAS slopes up before progressing. Do not claim that the risingAE schedule is anAD curve. The same spending categories C,I,G,(X−M) are involved, but what varies is different: price level inAD/AS, income at fixed prices inAE. The labelled graph is schematic, not numerical; it does not reuse the£m scales of theAE example.</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adas-initial-injection</a:t>
            </a:r>
          </a:p>
          <a:p xmlns:a="http://schemas.openxmlformats.org/drawingml/2006/main">
            <a:r>
              <a:t>Show only one additionalAD line so students can trace the initial injection and read both new outputs. E1 illustrates the first-stage effect before the full induced spending response, not a claim of a separate lasting equilibrium. Ask students to verbalise Y0→Y1 andP0→P1. The prediction answer: spend part and leak/save part. The exact magnitudes are not inferred from this schematicAD/AS drawing.</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adas-multiplier-outcome</a:t>
            </a:r>
          </a:p>
          <a:p xmlns:a="http://schemas.openxmlformats.org/drawingml/2006/main">
            <a:r>
              <a:t>Use the coursebookFigure41.5 spending-round representation:AD2 summarises all later induced-spending rounds, not exactly one more round or a measured equal-sized shift. We show just3curves for readability. Explain the representation difference carefully: income-induced consumption is movement along the newAE schedule in the income-expenditure model; the book represents the rounds as furtherAD shifts in price/output space. Never add shifts toAE for this same inducedC. If prices rise with upward-slopingSRAS, the fixed-price resultk×ΔJ should not be asserted as a guaranteed real GDP change. More spare capacity/more elasticAS allows more output; capacity constraints raise prices more. This uses AS knowledge only: defer detailed output-gap and accelerator evaluation. Check: name the vertical axis in each model and one reason real output may rise by less than the fixed-price calculation.</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fiscal policy: an equal-sized rise in G and fall in tax revenue need not shift AD equally because households spend only a fraction of extra disposable income. Keep the claim conditional on behaviour. The coursebook also links multiplier differences between countries to mps, mrt and mpm.</a:t>
            </a:r>
          </a:p>
          <a:p xmlns:a="http://schemas.openxmlformats.org/drawingml/2006/main">
            <a:endParaRPr/>
          </a:p>
          <a:p xmlns:a="http://schemas.openxmlformats.org/drawingml/2006/main">
            <a:r>
              <a:t>[Sources]</a:t>
            </a:r>
          </a:p>
          <a:p xmlns:a="http://schemas.openxmlformats.org/drawingml/2006/main">
            <a:r>
              <a:t>- Multiplier Exercises.pdf (previous lesson material).</a:t>
            </a:r>
          </a:p>
          <a:p xmlns:a="http://schemas.openxmlformats.org/drawingml/2006/main">
            <a:r>
              <a:t>- Essay worksheet 2 - MPC and multiplier effect.pdf (previous lesson material).</a:t>
            </a:r>
          </a:p>
          <a:p xmlns:a="http://schemas.openxmlformats.org/drawingml/2006/main">
            <a:r>
              <a:t>- Cambridge A Level Economics - Text.pdf, Chapter 41, especially PDF pp.351-353 and 357 (uploaded coursebook).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Ask students to identify the defining feature: an initial injection leads to a more-than-proportionate rise in GDP through repeated spending rounds.</a:t>
            </a:r>
          </a:p>
          <a:p xmlns:a="http://schemas.openxmlformats.org/drawingml/2006/main">
            <a:endParaRPr/>
          </a:p>
          <a:p xmlns:a="http://schemas.openxmlformats.org/drawingml/2006/main">
            <a:r>
              <a:t>[Sources]</a:t>
            </a:r>
          </a:p>
          <a:p xmlns:a="http://schemas.openxmlformats.org/drawingml/2006/main">
            <a:r>
              <a:t>- 9708_s25_qp_32.pdf, 9708/32/M/J/25 Q15 (local Paper 3 question-paper folder).</a:t>
            </a:r>
          </a:p>
          <a:p xmlns:a="http://schemas.openxmlformats.org/drawingml/2006/main">
            <a:r>
              <a:t>- 9708_s25_ms_32.pdf, Q15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B. The item is reproduced verbatim. A lower marginal rate of tax reduces withdrawals, lowers MPW and raises k = 1/MPW.</a:t>
            </a:r>
          </a:p>
          <a:p xmlns:a="http://schemas.openxmlformats.org/drawingml/2006/main">
            <a:endParaRPr/>
          </a:p>
          <a:p xmlns:a="http://schemas.openxmlformats.org/drawingml/2006/main">
            <a:r>
              <a:t>[Sources]</a:t>
            </a:r>
          </a:p>
          <a:p xmlns:a="http://schemas.openxmlformats.org/drawingml/2006/main">
            <a:r>
              <a:t>- 9708_s26_qp_31.pdf, 9708/31/M/J/26 Q16 (local 2026 Paper 3 question-paper folder).</a:t>
            </a:r>
          </a:p>
          <a:p xmlns:a="http://schemas.openxmlformats.org/drawingml/2006/main">
            <a:r>
              <a:t>- 9708_s26_ms_31.pdf, Q16 answer key (local 2026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core-feedback</a:t>
            </a:r>
          </a:p>
          <a:p xmlns:a="http://schemas.openxmlformats.org/drawingml/2006/main">
            <a:r>
              <a:t>Feedback for9708/32/M/J/25Q15 (D) and9708/31/M/J/26Q16 (B). The consumption-function MCQ9708/32/F/M/26Q15 has moved to the later-study appendix because it requires the general function in9.1.2. Do not assess that equation yet.</a:t>
            </a:r>
            <a:endParaRPr/>
          </a:p>
          <a:p xmlns:a="http://schemas.openxmlformats.org/drawingml/2006/main">
            <a:r>
              <a:t>[Sources]</a:t>
            </a:r>
          </a:p>
          <a:p xmlns:a="http://schemas.openxmlformats.org/drawingml/2006/main">
            <a:r>
              <a:t>Original question papers and mark schemes in the local past-paper folder:9708_s25_qp_32,9708_s25_ms_32,9708_s26_qp_31,9708_s26_ms_31.</a:t>
            </a:r>
          </a:p>
          <a:p xmlns:a="http://schemas.openxmlformats.org/drawingml/2006/main">
            <a:r>
              <a:t>[/Sources]</a:t>
            </a: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B. The item is reproduced verbatim. MPW = 0.1 + 0.1 = 0.2, k = 5, and the increase in national income is $500 million.</a:t>
            </a:r>
          </a:p>
          <a:p xmlns:a="http://schemas.openxmlformats.org/drawingml/2006/main">
            <a:endParaRPr/>
          </a:p>
          <a:p xmlns:a="http://schemas.openxmlformats.org/drawingml/2006/main">
            <a:r>
              <a:t>[Sources]</a:t>
            </a:r>
          </a:p>
          <a:p xmlns:a="http://schemas.openxmlformats.org/drawingml/2006/main">
            <a:r>
              <a:t>- 9708_m21_qp_32.pdf, 9708/32/F/M/21 Q24 (local Paper 3 question-paper folder).</a:t>
            </a:r>
          </a:p>
          <a:p xmlns:a="http://schemas.openxmlformats.org/drawingml/2006/main">
            <a:r>
              <a:t>- 9708_m21_ms_32.pdf, Q24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MPW = 0.8, k = 1.25, the rise in income is $1250m, and tax revenue rises by 0.3 × $1250m = $375m.</a:t>
            </a:r>
          </a:p>
          <a:p xmlns:a="http://schemas.openxmlformats.org/drawingml/2006/main">
            <a:endParaRPr/>
          </a:p>
          <a:p xmlns:a="http://schemas.openxmlformats.org/drawingml/2006/main">
            <a:r>
              <a:t>[Sources]</a:t>
            </a:r>
          </a:p>
          <a:p xmlns:a="http://schemas.openxmlformats.org/drawingml/2006/main">
            <a:r>
              <a:t>- 9708_w22_qp_31.pdf, 9708/31/O/N/22 Q26 (local Paper 3 question-paper folder).</a:t>
            </a:r>
          </a:p>
          <a:p xmlns:a="http://schemas.openxmlformats.org/drawingml/2006/main">
            <a:r>
              <a:t>- 9708_w22_ms_31.pdf, Q26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Opening the economy adds imports as a leakage, so MPW rises and the multiplier falls.</a:t>
            </a:r>
          </a:p>
          <a:p xmlns:a="http://schemas.openxmlformats.org/drawingml/2006/main">
            <a:endParaRPr/>
          </a:p>
          <a:p xmlns:a="http://schemas.openxmlformats.org/drawingml/2006/main">
            <a:r>
              <a:t>[Sources]</a:t>
            </a:r>
          </a:p>
          <a:p xmlns:a="http://schemas.openxmlformats.org/drawingml/2006/main">
            <a:r>
              <a:t>- 9708_w23_qp_31.pdf, 9708/31/O/N/23 Q17 (local Paper 3 question-paper folder).</a:t>
            </a:r>
          </a:p>
          <a:p xmlns:a="http://schemas.openxmlformats.org/drawingml/2006/main">
            <a:r>
              <a:t>- 9708_w23_ms_31.pdf, Q17 answer key (local Paper 3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1 B; 2 D; 3 D. Require MPW and k beside the two numerical items; for the trade item, require the chain imports -&gt; leakage -&gt; higher MPW -&gt; lower k.</a:t>
            </a:r>
          </a:p>
          <a:p xmlns:a="http://schemas.openxmlformats.org/drawingml/2006/main">
            <a:endParaRPr/>
          </a:p>
          <a:p xmlns:a="http://schemas.openxmlformats.org/drawingml/2006/main">
            <a:r>
              <a:t>[Sources]</a:t>
            </a:r>
          </a:p>
          <a:p xmlns:a="http://schemas.openxmlformats.org/drawingml/2006/main">
            <a:r>
              <a:t>- 9708_m21_ms_32.pdf, Q24; 9708_w22_ms_31.pdf, Q26; 9708_w23_ms_31.pdf, Q17 (local Paper 3 mark-scheme folders).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reproduced verbatim. Award through a developed chain: extraction creates employment/income; workers or firms spend; demand, employment and income rise in other Ghanaian sectors; repeated rounds generate the multiplier effect.</a:t>
            </a:r>
          </a:p>
          <a:p xmlns:a="http://schemas.openxmlformats.org/drawingml/2006/main">
            <a:endParaRPr/>
          </a:p>
          <a:p xmlns:a="http://schemas.openxmlformats.org/drawingml/2006/main">
            <a:r>
              <a:t>[Sources]</a:t>
            </a:r>
          </a:p>
          <a:p xmlns:a="http://schemas.openxmlformats.org/drawingml/2006/main">
            <a:r>
              <a:t>- 9708_w24_qp_41.pdf, 9708/41/O/N/24 Q1(b) (local Paper 4 question-paper folder).</a:t>
            </a:r>
          </a:p>
          <a:p xmlns:a="http://schemas.openxmlformats.org/drawingml/2006/main">
            <a:r>
              <a:t>- 9708_w24_ms_41.pdf, Q1(b)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 columns as a concise Paper 4 chain. The response should explain, not merely name, the multiplier and must apply the mechanism to Ghana and employment in other sectors.</a:t>
            </a:r>
          </a:p>
          <a:p xmlns:a="http://schemas.openxmlformats.org/drawingml/2006/main">
            <a:endParaRPr/>
          </a:p>
          <a:p xmlns:a="http://schemas.openxmlformats.org/drawingml/2006/main">
            <a:r>
              <a:t>[Sources]</a:t>
            </a:r>
          </a:p>
          <a:p xmlns:a="http://schemas.openxmlformats.org/drawingml/2006/main">
            <a:r>
              <a:t>- 9708_w24_ms_41.pdf, Q1(b)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teacher-created assessment, not a past-paper question. Answers: MPW = 0.50; k = 2; ΔY = £240m. A valid qualification is that near full employment part of the rise in AD may raise prices rather than real output, or that confidence and marginal propensities may change.</a:t>
            </a:r>
          </a:p>
          <a:p xmlns:a="http://schemas.openxmlformats.org/drawingml/2006/main">
            <a:endParaRPr/>
          </a:p>
          <a:p xmlns:a="http://schemas.openxmlformats.org/drawingml/2006/main">
            <a:r>
              <a:t>[Sources]</a:t>
            </a:r>
          </a:p>
          <a:p xmlns:a="http://schemas.openxmlformats.org/drawingml/2006/main">
            <a:r>
              <a:t>- 9.1.2 Calculating the multiplier SHARE.pdf / PPTX, previous lesson material.</a:t>
            </a:r>
          </a:p>
          <a:p xmlns:a="http://schemas.openxmlformats.org/drawingml/2006/main">
            <a:r>
              <a:t>- Essay worksheet 2 - MPC and multiplier effect.pdf, previous lesson material.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end of the assessed Lessons 1-2 sequence. Close with process, size and outcome. Slides 39-44 are a later-syllabus question bank and should be revisited after the named macroeconomic units.</a:t>
            </a:r>
          </a:p>
          <a:p xmlns:a="http://schemas.openxmlformats.org/drawingml/2006/main">
            <a:endParaRPr/>
          </a:p>
          <a:p xmlns:a="http://schemas.openxmlformats.org/drawingml/2006/main">
            <a:r>
              <a:t>[Sources]</a:t>
            </a:r>
          </a:p>
          <a:p xmlns:a="http://schemas.openxmlformats.org/drawingml/2006/main">
            <a:r>
              <a:t>- Cambridge International AS &amp; A Level Economics 9708 syllabus for 2026, 2027 and 2028, section 9.1.1.</a:t>
            </a:r>
          </a:p>
          <a:p xmlns:a="http://schemas.openxmlformats.org/drawingml/2006/main">
            <a:r>
              <a:t>- A-Level_Macro_International_32-Lesson_Coverage_Planner.xlsx, lessons 1-2.</a:t>
            </a:r>
          </a:p>
          <a:p xmlns:a="http://schemas.openxmlformats.org/drawingml/2006/main">
            <a:r>
              <a:t>- Cambridge A Level Economics - Text.pdf, Chapter 41.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 The item is reproduced verbatim. MPC is 0.8, while APC = 10 000/Y + 0.8, so APC remains greater than MPC for positive income.</a:t>
            </a:r>
          </a:p>
          <a:p xmlns:a="http://schemas.openxmlformats.org/drawingml/2006/main">
            <a:endParaRPr/>
          </a:p>
          <a:p xmlns:a="http://schemas.openxmlformats.org/drawingml/2006/main">
            <a:r>
              <a:t>[Sources]</a:t>
            </a:r>
          </a:p>
          <a:p xmlns:a="http://schemas.openxmlformats.org/drawingml/2006/main">
            <a:r>
              <a:t>- 9708_m26_qp_32.pdf, 9708/32/F/M/26 Q15 (local 2026 Paper 3 question-paper folder).</a:t>
            </a:r>
          </a:p>
          <a:p xmlns:a="http://schemas.openxmlformats.org/drawingml/2006/main">
            <a:r>
              <a:t>- 9708_m26_ms_32.pdf, Q15 answer key (local 2026 Paper 3 mark-scheme folder).</a:t>
            </a:r>
          </a:p>
          <a:p xmlns:a="http://schemas.openxmlformats.org/drawingml/2006/main">
            <a:r>
              <a:t>[/Sources]</a:t>
            </a:r>
          </a:p>
          <a:p xmlns:a="http://schemas.openxmlformats.org/drawingml/2006/main">
            <a:r>
              <a:t>
Prerequisite decision: defer until9.1.2, after autonomous consumption and the general consumption functionC=a+bY. AnswerD: MPC0.8, APC=10000/Y+0.8, greater thanMPC for positiveY. Question stem and all options retained verbatim.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reproduced verbatim. Do not use it as a full 12-mark assessment in Lessons 1-2. Students can define MPC and explain its multiplier link now, but policy application and evaluation belong after macroeconomic objectives and policy instruments.</a:t>
            </a:r>
          </a:p>
          <a:p xmlns:a="http://schemas.openxmlformats.org/drawingml/2006/main">
            <a:endParaRPr/>
          </a:p>
          <a:p xmlns:a="http://schemas.openxmlformats.org/drawingml/2006/main">
            <a:r>
              <a:t>[Sources]</a:t>
            </a:r>
          </a:p>
          <a:p xmlns:a="http://schemas.openxmlformats.org/drawingml/2006/main">
            <a:r>
              <a:t>- 9708_w21_qp_41.pdf, 9708/41/O/N/21 Q4(a) (local Paper 4 question-paper folder).</a:t>
            </a:r>
          </a:p>
          <a:p xmlns:a="http://schemas.openxmlformats.org/drawingml/2006/main">
            <a:r>
              <a:t>- 9708_w21_ms_41.pdf, Q4(a) level descriptors and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current teaching, use only DEFINE and EXPLAIN. Revisit APPLY and JUDGE after students have studied government macroeconomic policy and its objectives.</a:t>
            </a:r>
          </a:p>
          <a:p xmlns:a="http://schemas.openxmlformats.org/drawingml/2006/main">
            <a:endParaRPr/>
          </a:p>
          <a:p xmlns:a="http://schemas.openxmlformats.org/drawingml/2006/main">
            <a:r>
              <a:t>[Sources]</a:t>
            </a:r>
          </a:p>
          <a:p xmlns:a="http://schemas.openxmlformats.org/drawingml/2006/main">
            <a:r>
              <a:t>- 9708_w21_ms_41.pdf, Q4(a) level descriptors and indicative content (local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2026 question is reproduced verbatim. Keep it for later: students need negative output gaps, full employment, expansionary fiscal policy and AD/AS analysis before they can evaluate the claim properly.</a:t>
            </a:r>
          </a:p>
          <a:p xmlns:a="http://schemas.openxmlformats.org/drawingml/2006/main">
            <a:endParaRPr/>
          </a:p>
          <a:p xmlns:a="http://schemas.openxmlformats.org/drawingml/2006/main">
            <a:r>
              <a:t>[Sources]</a:t>
            </a:r>
          </a:p>
          <a:p xmlns:a="http://schemas.openxmlformats.org/drawingml/2006/main">
            <a:r>
              <a:t>- 9708_s26_qp_41.pdf, 9708/41/M/J/26 Q4 (local 2026 Paper 4 question-paper folder).</a:t>
            </a:r>
          </a:p>
          <a:p xmlns:a="http://schemas.openxmlformats.org/drawingml/2006/main">
            <a:r>
              <a:t>- 9708_s26_ms_41.pdf, Q4 level descriptors and indicative content (local 2026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plan only after output gaps, fiscal policy and AD/AS have been taught. Complete evaluation also depends on later knowledge of crowding out, public debt, inflation and time lags.</a:t>
            </a:r>
          </a:p>
          <a:p xmlns:a="http://schemas.openxmlformats.org/drawingml/2006/main">
            <a:endParaRPr/>
          </a:p>
          <a:p xmlns:a="http://schemas.openxmlformats.org/drawingml/2006/main">
            <a:r>
              <a:t>[Sources]</a:t>
            </a:r>
          </a:p>
          <a:p xmlns:a="http://schemas.openxmlformats.org/drawingml/2006/main">
            <a:r>
              <a:t>- 9708_s26_ms_41.pdf, Q4 level descriptors and indicative content (local 2026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2026 question is reproduced verbatim. Students can distinguish autonomous from induced investment now, but the full evaluation belongs after the accelerator principle, deflationary gaps and fiscal-policy effectiveness.</a:t>
            </a:r>
          </a:p>
          <a:p xmlns:a="http://schemas.openxmlformats.org/drawingml/2006/main">
            <a:endParaRPr/>
          </a:p>
          <a:p xmlns:a="http://schemas.openxmlformats.org/drawingml/2006/main">
            <a:r>
              <a:t>[Sources]</a:t>
            </a:r>
          </a:p>
          <a:p xmlns:a="http://schemas.openxmlformats.org/drawingml/2006/main">
            <a:r>
              <a:t>- 9708_s26_qp_44.pdf, 9708/44/M/J/26 Q4 (local 2026 Paper 4 question-paper folder).</a:t>
            </a:r>
          </a:p>
          <a:p xmlns:a="http://schemas.openxmlformats.org/drawingml/2006/main">
            <a:r>
              <a:t>- 9708_s26_ms_44.pdf, Q4 level descriptors and indicative content (local 2026 Paper 4 mark-scheme folder).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Stable slide ID: later-study-guide</a:t>
            </a:r>
          </a:p>
          <a:p xmlns:a="http://schemas.openxmlformats.org/drawingml/2006/main">
            <a:r>
              <a:t>Syllabus-based prerequisite boundary, not a claim that AS students have never studied policy orAD/AS. They have learned the AS tools. The formal consumption function, accelerator and output gaps are later9.1.2–9.1.3 content, while developed policy evaluation is taught in later A Level lessons. Core diagram building is25–41. Suggested pacing: use these as cumulative clicks, not seventeen separate lecture topics; allow about18–22minutes including the drawing check. Use selected core past-paper questions in class and retain remaining practice for consolidation.</a:t>
            </a:r>
            <a:endParaRPr/>
          </a:p>
          <a:p xmlns:a="http://schemas.openxmlformats.org/drawingml/2006/main">
            <a:r>
              <a:t/>
            </a:r>
          </a:p>
          <a:p xmlns:a="http://schemas.openxmlformats.org/drawingml/2006/main">
            <a:r>
              <a:t>[Sources]</a:t>
            </a:r>
          </a:p>
          <a:p xmlns:a="http://schemas.openxmlformats.org/drawingml/2006/main">
            <a:r>
              <a:t>AS &amp; A Economics Syllabus 2026-2028.pdf, PDF p20 (4.2-4.3), p29 (9.1.1-9.1.3).</a:t>
            </a:r>
          </a:p>
          <a:p xmlns:a="http://schemas.openxmlformats.org/drawingml/2006/main">
            <a:r>
              <a:t>Cambridge A Level Economics - Textbook.pdf, PDF pp352-354, section 41.1 and Figures 41.3-41.5.</a:t>
            </a:r>
          </a:p>
          <a:p xmlns:a="http://schemas.openxmlformats.org/drawingml/2006/main">
            <a:r>
              <a:t>Numerical examples and checks: teacher-created for this lesson; not past-paper questions.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a620aa30cc4d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ef9a1aa68f40ab" /><Relationship Type="http://schemas.openxmlformats.org/officeDocument/2006/relationships/slideLayout" Target="/ppt/slideLayouts/slideLayout1.xml" Id="R80afd6ee036544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afd6ee036544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c9f24b83d242c9" /><Relationship Type="http://schemas.openxmlformats.org/officeDocument/2006/relationships/image" Target="/ppt/media/image.jpeg" Id="R93693c771e7e4e46" /><Relationship Type="http://schemas.openxmlformats.org/officeDocument/2006/relationships/notesSlide" Target="/ppt/notesSlides/notesSlide1.xml" Id="R74a09c01ffd34b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37f543a3d34a98" /><Relationship Type="http://schemas.openxmlformats.org/officeDocument/2006/relationships/image" Target="/ppt/media/image.jpeg" Id="R7d2581635e29439a" /><Relationship Type="http://schemas.openxmlformats.org/officeDocument/2006/relationships/notesSlide" Target="/ppt/notesSlides/notesSlide2.xml" Id="R00d91b22143c4b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67739631014102" /><Relationship Type="http://schemas.openxmlformats.org/officeDocument/2006/relationships/notesSlide" Target="/ppt/notesSlides/notesSlide3.xml" Id="R9581b2aa895a4e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5efda0c3b44360" /><Relationship Type="http://schemas.openxmlformats.org/officeDocument/2006/relationships/image" Target="/ppt/media/image2.jpeg" Id="Rd52b5f62cf484368" /><Relationship Type="http://schemas.openxmlformats.org/officeDocument/2006/relationships/notesSlide" Target="/ppt/notesSlides/notesSlide4.xml" Id="R5eb60ba83e4a4a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bb0c159e784014" /><Relationship Type="http://schemas.openxmlformats.org/officeDocument/2006/relationships/image" Target="/ppt/media/image2.jpeg" Id="Rffda174494504942" /><Relationship Type="http://schemas.openxmlformats.org/officeDocument/2006/relationships/notesSlide" Target="/ppt/notesSlides/notesSlide5.xml" Id="R0d0934964ecf4f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69c60bea1d4e13" /><Relationship Type="http://schemas.openxmlformats.org/officeDocument/2006/relationships/notesSlide" Target="/ppt/notesSlides/notesSlide6.xml" Id="Rfa54af30c03245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4c06f871404ec1" /><Relationship Type="http://schemas.openxmlformats.org/officeDocument/2006/relationships/notesSlide" Target="/ppt/notesSlides/notesSlide7.xml" Id="R39688edb0f7448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03ccb8c0644101" /><Relationship Type="http://schemas.openxmlformats.org/officeDocument/2006/relationships/notesSlide" Target="/ppt/notesSlides/notesSlide8.xml" Id="Ra4150e847e4445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b60094b7274350" /><Relationship Type="http://schemas.openxmlformats.org/officeDocument/2006/relationships/notesSlide" Target="/ppt/notesSlides/notesSlide9.xml" Id="R34733a0549a447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57468f23cd4d2a" /><Relationship Type="http://schemas.openxmlformats.org/officeDocument/2006/relationships/notesSlide" Target="/ppt/notesSlides/notesSlide10.xml" Id="R6a40a085232946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920b09a879497b" /><Relationship Type="http://schemas.openxmlformats.org/officeDocument/2006/relationships/notesSlide" Target="/ppt/notesSlides/notesSlide11.xml" Id="R9bfc2aad896f4e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4f4d0209b64318" /><Relationship Type="http://schemas.openxmlformats.org/officeDocument/2006/relationships/notesSlide" Target="/ppt/notesSlides/notesSlide12.xml" Id="Rd3d156a7162644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746cbd6137144f8" /><Relationship Type="http://schemas.openxmlformats.org/officeDocument/2006/relationships/notesSlide" Target="/ppt/notesSlides/notesSlide13.xml" Id="R3b341dea21c14a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ea6f42824c4130" /><Relationship Type="http://schemas.openxmlformats.org/officeDocument/2006/relationships/notesSlide" Target="/ppt/notesSlides/notesSlide14.xml" Id="Rad0ff271770143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a5268ef58e44716" /><Relationship Type="http://schemas.openxmlformats.org/officeDocument/2006/relationships/notesSlide" Target="/ppt/notesSlides/notesSlide15.xml" Id="Rd7aac424872a4a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9a5e46807434056" /><Relationship Type="http://schemas.openxmlformats.org/officeDocument/2006/relationships/notesSlide" Target="/ppt/notesSlides/notesSlide16.xml" Id="R66bd1d2b47a645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b6d476274248c8" /><Relationship Type="http://schemas.openxmlformats.org/officeDocument/2006/relationships/image" Target="/ppt/media/image3.jpeg" Id="R7cb69b6efdd64dfc" /><Relationship Type="http://schemas.openxmlformats.org/officeDocument/2006/relationships/notesSlide" Target="/ppt/notesSlides/notesSlide17.xml" Id="R77add433f20c4b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5ca12f13bd2479b" /><Relationship Type="http://schemas.openxmlformats.org/officeDocument/2006/relationships/notesSlide" Target="/ppt/notesSlides/notesSlide18.xml" Id="Ra00a99666d8f43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906f1d75801459b" /><Relationship Type="http://schemas.openxmlformats.org/officeDocument/2006/relationships/notesSlide" Target="/ppt/notesSlides/notesSlide19.xml" Id="Rb28624cf1ea44f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30b0b710ade48f0" /><Relationship Type="http://schemas.openxmlformats.org/officeDocument/2006/relationships/notesSlide" Target="/ppt/notesSlides/notesSlide20.xml" Id="R4f923b1cc0264b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559f152554d4ba3" /><Relationship Type="http://schemas.openxmlformats.org/officeDocument/2006/relationships/notesSlide" Target="/ppt/notesSlides/notesSlide21.xml" Id="R2e7bf28c81fd47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4d14415c6f54038" /><Relationship Type="http://schemas.openxmlformats.org/officeDocument/2006/relationships/notesSlide" Target="/ppt/notesSlides/notesSlide22.xml" Id="Rd401e59df97e48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e1b9c0af0c245fe" /><Relationship Type="http://schemas.openxmlformats.org/officeDocument/2006/relationships/notesSlide" Target="/ppt/notesSlides/notesSlide23.xml" Id="R379eb3f09f5447d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bdad8bcaa4b4bfa" /><Relationship Type="http://schemas.openxmlformats.org/officeDocument/2006/relationships/notesSlide" Target="/ppt/notesSlides/notesSlide24.xml" Id="R1bcf7384818941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ad924afb66c4855" /><Relationship Type="http://schemas.openxmlformats.org/officeDocument/2006/relationships/notesSlide" Target="/ppt/notesSlides/notesSlide25.xml" Id="Rae0f3ff845b644d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72ddd1a7fd44df2" /><Relationship Type="http://schemas.openxmlformats.org/officeDocument/2006/relationships/notesSlide" Target="/ppt/notesSlides/notesSlide26.xml" Id="Rbac8c845e9f047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ee8edc90c274865" /><Relationship Type="http://schemas.openxmlformats.org/officeDocument/2006/relationships/notesSlide" Target="/ppt/notesSlides/notesSlide27.xml" Id="R1f00b7ef794b4c0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3cf23673dbf4733" /><Relationship Type="http://schemas.openxmlformats.org/officeDocument/2006/relationships/notesSlide" Target="/ppt/notesSlides/notesSlide28.xml" Id="R771d64d4b9854b2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ee17c5940824054" /><Relationship Type="http://schemas.openxmlformats.org/officeDocument/2006/relationships/notesSlide" Target="/ppt/notesSlides/notesSlide29.xml" Id="R1736b8f05be4474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c674a86ff4b4f74" /><Relationship Type="http://schemas.openxmlformats.org/officeDocument/2006/relationships/notesSlide" Target="/ppt/notesSlides/notesSlide30.xml" Id="R7bf018b41cb8418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e45a50b2cda43d9" /><Relationship Type="http://schemas.openxmlformats.org/officeDocument/2006/relationships/notesSlide" Target="/ppt/notesSlides/notesSlide31.xml" Id="Rf77b72f9a45548c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216c3ea999449c9" /><Relationship Type="http://schemas.openxmlformats.org/officeDocument/2006/relationships/notesSlide" Target="/ppt/notesSlides/notesSlide32.xml" Id="R3d4612ec2b494e0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88143e551024489" /><Relationship Type="http://schemas.openxmlformats.org/officeDocument/2006/relationships/notesSlide" Target="/ppt/notesSlides/notesSlide33.xml" Id="R09395ffd0447481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dca663a4428427c" /><Relationship Type="http://schemas.openxmlformats.org/officeDocument/2006/relationships/notesSlide" Target="/ppt/notesSlides/notesSlide34.xml" Id="Rafe943caea864e0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83d335b975a4fd8" /><Relationship Type="http://schemas.openxmlformats.org/officeDocument/2006/relationships/notesSlide" Target="/ppt/notesSlides/notesSlide35.xml" Id="Rfcd24ee3157d439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28106fd31f146ec" /><Relationship Type="http://schemas.openxmlformats.org/officeDocument/2006/relationships/notesSlide" Target="/ppt/notesSlides/notesSlide36.xml" Id="R646005afbe334c1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95445d8db1f4f2c" /><Relationship Type="http://schemas.openxmlformats.org/officeDocument/2006/relationships/notesSlide" Target="/ppt/notesSlides/notesSlide37.xml" Id="R664a797e6b364ba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5fd7a6d8cba44fc" /><Relationship Type="http://schemas.openxmlformats.org/officeDocument/2006/relationships/notesSlide" Target="/ppt/notesSlides/notesSlide38.xml" Id="R45ba62c5639840f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ce546f0e1094cfd" /><Relationship Type="http://schemas.openxmlformats.org/officeDocument/2006/relationships/notesSlide" Target="/ppt/notesSlides/notesSlide39.xml" Id="R926ff6a6d2284b6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02f0f307b9e4650" /><Relationship Type="http://schemas.openxmlformats.org/officeDocument/2006/relationships/notesSlide" Target="/ppt/notesSlides/notesSlide40.xml" Id="R9d7ef9c9251047d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967cb79066e466e" /><Relationship Type="http://schemas.openxmlformats.org/officeDocument/2006/relationships/notesSlide" Target="/ppt/notesSlides/notesSlide41.xml" Id="Rbe3234ce331e428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63855b584ab4d9a" /><Relationship Type="http://schemas.openxmlformats.org/officeDocument/2006/relationships/notesSlide" Target="/ppt/notesSlides/notesSlide42.xml" Id="Rc3ef1d8be99043a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3544610b1ff497f" /><Relationship Type="http://schemas.openxmlformats.org/officeDocument/2006/relationships/notesSlide" Target="/ppt/notesSlides/notesSlide43.xml" Id="Ra41b9b1ded7d406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86ee1e3ae7e4e19" /><Relationship Type="http://schemas.openxmlformats.org/officeDocument/2006/relationships/notesSlide" Target="/ppt/notesSlides/notesSlide44.xml" Id="R9094cc847cd54e2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3bf4ec89b0964374" /><Relationship Type="http://schemas.openxmlformats.org/officeDocument/2006/relationships/notesSlide" Target="/ppt/notesSlides/notesSlide45.xml" Id="R0e2abeebabb74f9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c59e856bcec48e4" /><Relationship Type="http://schemas.openxmlformats.org/officeDocument/2006/relationships/notesSlide" Target="/ppt/notesSlides/notesSlide46.xml" Id="Ra5301483f3ba454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7be93fb7988499f" /><Relationship Type="http://schemas.openxmlformats.org/officeDocument/2006/relationships/notesSlide" Target="/ppt/notesSlides/notesSlide47.xml" Id="R142b539c68ee434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ee0782a064b487a" /><Relationship Type="http://schemas.openxmlformats.org/officeDocument/2006/relationships/notesSlide" Target="/ppt/notesSlides/notesSlide48.xml" Id="Reb1aa792467a49c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6cfb403b78d45f2" /><Relationship Type="http://schemas.openxmlformats.org/officeDocument/2006/relationships/notesSlide" Target="/ppt/notesSlides/notesSlide49.xml" Id="R1a41ed6d95a04c5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b601b4f65304677" /><Relationship Type="http://schemas.openxmlformats.org/officeDocument/2006/relationships/notesSlide" Target="/ppt/notesSlides/notesSlide50.xml" Id="R733458d2c92f4de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00e52a65b464e26" /><Relationship Type="http://schemas.openxmlformats.org/officeDocument/2006/relationships/notesSlide" Target="/ppt/notesSlides/notesSlide51.xml" Id="R05f77dd6cf0f477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0793ef2bef6446c" /><Relationship Type="http://schemas.openxmlformats.org/officeDocument/2006/relationships/notesSlide" Target="/ppt/notesSlides/notesSlide52.xml" Id="Rafa4bc2a1e254d2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dce3027796ea4d17" /><Relationship Type="http://schemas.openxmlformats.org/officeDocument/2006/relationships/notesSlide" Target="/ppt/notesSlides/notesSlide53.xml" Id="R5e01f3c89a254d3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3fac23482de4923" /><Relationship Type="http://schemas.openxmlformats.org/officeDocument/2006/relationships/notesSlide" Target="/ppt/notesSlides/notesSlide54.xml" Id="R992e3b4ce19b455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146d2413d5c4e8e" /><Relationship Type="http://schemas.openxmlformats.org/officeDocument/2006/relationships/notesSlide" Target="/ppt/notesSlides/notesSlide55.xml" Id="Red62dcac19a6415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e1e35c2ce314bf9" /><Relationship Type="http://schemas.openxmlformats.org/officeDocument/2006/relationships/notesSlide" Target="/ppt/notesSlides/notesSlide56.xml" Id="R3e2ea8a24f5843c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c900be1dabc47ce" /><Relationship Type="http://schemas.openxmlformats.org/officeDocument/2006/relationships/notesSlide" Target="/ppt/notesSlides/notesSlide57.xml" Id="R51c07a54d85446d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f631b96435664e97" /><Relationship Type="http://schemas.openxmlformats.org/officeDocument/2006/relationships/notesSlide" Target="/ppt/notesSlides/notesSlide58.xml" Id="R91ea8cb8bb61499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c0952fa170040ec" /><Relationship Type="http://schemas.openxmlformats.org/officeDocument/2006/relationships/notesSlide" Target="/ppt/notesSlides/notesSlide59.xml" Id="R4360d80777e14b4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5184e6bcb184a74" /><Relationship Type="http://schemas.openxmlformats.org/officeDocument/2006/relationships/notesSlide" Target="/ppt/notesSlides/notesSlide60.xml" Id="Rbbdfa2ebb4ec47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CE72BD74-9A55-4C6E-9511-1FA5546C1E23}"/>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CAMBRIDGE A LEVEL ECONOMICS 9708</a:t>
            </a:r>
          </a:p>
        </p:txBody>
      </p:sp>
      <p:sp>
        <p:nvSpPr>
          <p:cNvPr id="2" name="Rectangle 1">
            <a:extLst xmlns:a="http://schemas.openxmlformats.org/drawingml/2006/main">
              <a:ext uri="{FF2B5EF4-FFF2-40B4-BE49-F238E27FC236}">
                <a16:creationId xmlns:a16="http://schemas.microsoft.com/office/drawing/2014/main" id="{A60313B9-8871-491F-A6F3-00B872E4A018}"/>
              </a:ext>
            </a:extLst>
          </p:cNvPr>
          <p:cNvSpPr>
            <a:spLocks xmlns:a="http://schemas.openxmlformats.org/drawingml/2006/main" noGrp="1"/>
          </p:cNvSpPr>
          <p:nvPr/>
        </p:nvSpPr>
        <p:spPr>
          <a:xfrm xmlns:a="http://schemas.openxmlformats.org/drawingml/2006/main">
            <a:off x="571500" y="1476375"/>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The</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multiplier</a:t>
            </a:r>
          </a:p>
        </p:txBody>
      </p:sp>
      <p:sp>
        <p:nvSpPr>
          <p:cNvPr id="3" name="Rectangle 2">
            <a:extLst xmlns:a="http://schemas.openxmlformats.org/drawingml/2006/main">
              <a:ext uri="{FF2B5EF4-FFF2-40B4-BE49-F238E27FC236}">
                <a16:creationId xmlns:a16="http://schemas.microsoft.com/office/drawing/2014/main" id="{F47DF6F3-EE29-4AA8-9A7F-E7A85D108B55}"/>
              </a:ext>
            </a:extLst>
          </p:cNvPr>
          <p:cNvSpPr>
            <a:spLocks xmlns:a="http://schemas.openxmlformats.org/drawingml/2006/main" noGrp="1"/>
          </p:cNvSpPr>
          <p:nvPr/>
        </p:nvSpPr>
        <p:spPr>
          <a:xfrm xmlns:a="http://schemas.openxmlformats.org/drawingml/2006/main">
            <a:off x="571500" y="3333750"/>
            <a:ext cx="541309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0" i="0">
                <a:solidFill>
                  <a:srgbClr val="59616B"/>
                </a:solidFill>
                <a:latin typeface="Arial"/>
                <a:ea typeface="Arial"/>
                <a:cs typeface="Arial"/>
              </a:defRPr>
            </a:pPr>
            <a:r>
              <a:rPr sz="2100">
                <a:solidFill>
                  <a:srgbClr val="59616B"/>
                </a:solidFill>
                <a:latin typeface="Arial"/>
                <a:ea typeface="Arial"/>
                <a:cs typeface="Arial"/>
              </a:rPr>
              <a:t>C</a:t>
            </a:r>
            <a:r>
              <a:rPr sz="2100" b="0" i="0">
                <a:solidFill>
                  <a:srgbClr val="59616B"/>
                </a:solidFill>
                <a:latin typeface="Arial"/>
                <a:ea typeface="Arial"/>
                <a:cs typeface="Arial"/>
              </a:rPr>
              <a:t>oncept, calculation and national income</a:t>
            </a:r>
          </a:p>
        </p:txBody>
      </p:sp>
      <p:cxnSp>
        <p:nvCxnSpPr>
          <p:cNvPr id="63" name="Straight Arrow Connector 42"/>
          <p:cNvCxnSpPr/>
          <p:nvPr/>
        </p:nvCxnSpPr>
        <p:spPr>
          <a:xfrm xmlns:a="http://schemas.openxmlformats.org/drawingml/2006/main">
            <a:off x="571500" y="4619625"/>
            <a:ext cx="4953000" cy="95"/>
          </a:xfrm>
          <a:prstGeom xmlns:a="http://schemas.openxmlformats.org/drawingml/2006/main" prst="straightConnector1">
            <a:avLst/>
          </a:prstGeom>
          <a:ln xmlns:a="http://schemas.openxmlformats.org/drawingml/2006/main" w="9525">
            <a:solidFill>
              <a:srgbClr val="B8BCC4"/>
            </a:solidFill>
            <a:prstDash val="solid"/>
          </a:ln>
        </p:spPr>
      </p:cxnSp>
      <p:sp>
        <p:nvSpPr>
          <p:cNvPr id="5" name="Rectangle 4">
            <a:extLst xmlns:a="http://schemas.openxmlformats.org/drawingml/2006/main">
              <a:ext uri="{FF2B5EF4-FFF2-40B4-BE49-F238E27FC236}">
                <a16:creationId xmlns:a16="http://schemas.microsoft.com/office/drawing/2014/main" id="{97289363-19E7-4438-ADD1-D8AB3BE6E19D}"/>
              </a:ext>
            </a:extLst>
          </p:cNvPr>
          <p:cNvSpPr>
            <a:spLocks xmlns:a="http://schemas.openxmlformats.org/drawingml/2006/main" noGrp="1"/>
          </p:cNvSpPr>
          <p:nvPr/>
        </p:nvSpPr>
        <p:spPr>
          <a:xfrm xmlns:a="http://schemas.openxmlformats.org/drawingml/2006/main">
            <a:off x="571500" y="485775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Syllabus section 9.1.1</a:t>
            </a:r>
          </a:p>
        </p:txBody>
      </p:sp>
      <p:sp>
        <p:nvSpPr>
          <p:cNvPr id="6" name="Rectangle 5">
            <a:extLst xmlns:a="http://schemas.openxmlformats.org/drawingml/2006/main">
              <a:ext uri="{FF2B5EF4-FFF2-40B4-BE49-F238E27FC236}">
                <a16:creationId xmlns:a16="http://schemas.microsoft.com/office/drawing/2014/main" id="{66440773-8E59-4957-BF51-3443B7F681C0}"/>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pic>
        <p:nvPicPr>
          <p:cNvPr id="66" name="Picture 45"/>
          <p:cNvPicPr>
            <a:picLocks xmlns:a="http://schemas.openxmlformats.org/drawingml/2006/main" noChangeAspect="1"/>
          </p:cNvPicPr>
          <p:nvPr/>
        </p:nvPicPr>
        <p:blipFill>
          <a:blip xmlns:r="http://schemas.openxmlformats.org/officeDocument/2006/relationships" xmlns:a="http://schemas.openxmlformats.org/drawingml/2006/main" r:embed="R93693c771e7e4e46"/>
          <a:srcRect xmlns:a="http://schemas.openxmlformats.org/drawingml/2006/main" l="23210" t="0" r="23210"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B0EE0841-029B-48FC-BA1D-3F6FF8EEAE6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01</a:t>
            </a:r>
          </a:p>
        </p:txBody>
      </p:sp>
    </p:spTree>
    <p:extLst>
      <p:ext uri="{BB962C8B-B14F-4D97-AF65-F5344CB8AC3E}">
        <p14:creationId xmlns:p14="http://schemas.microsoft.com/office/powerpoint/2010/main" val="17777747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 name="Picture 45"/>
          <p:cNvPicPr>
            <a:picLocks xmlns:a="http://schemas.openxmlformats.org/drawingml/2006/main" noChangeAspect="1"/>
          </p:cNvPicPr>
          <p:nvPr/>
        </p:nvPicPr>
        <p:blipFill>
          <a:blip xmlns:r="http://schemas.openxmlformats.org/officeDocument/2006/relationships" xmlns:a="http://schemas.openxmlformats.org/drawingml/2006/main" r:embed="R7d2581635e29439a"/>
          <a:srcRect xmlns:a="http://schemas.openxmlformats.org/drawingml/2006/main" l="23210" t="0" r="23210"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85C2CE8B-052A-B18C-5FD7-EFCF2CF91621}"/>
              </a:ext>
            </a:extLst>
          </p:cNvPr>
          <p:cNvSpPr>
            <a:spLocks xmlns:a="http://schemas.openxmlformats.org/drawingml/2006/main" noGrp="1"/>
          </p:cNvSpPr>
          <p:nvPr/>
        </p:nvSpPr>
        <p:spPr>
          <a:xfrm xmlns:a="http://schemas.openxmlformats.org/drawingml/2006/main">
            <a:off x="1048407" y="1843950"/>
            <a:ext cx="4570423" cy="31700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4000" b="1" i="0">
                <a:solidFill>
                  <a:srgbClr val="000000"/>
                </a:solidFill>
                <a:latin typeface="Arial"/>
                <a:ea typeface="Arial"/>
                <a:cs typeface="Arial"/>
              </a:rPr>
              <a:t>Why can £100m </a:t>
            </a:r>
            <a:r>
              <a:rPr sz="4000" b="1">
                <a:solidFill>
                  <a:srgbClr val="000000"/>
                </a:solidFill>
                <a:latin typeface="Arial"/>
                <a:ea typeface="Arial"/>
                <a:cs typeface="Arial"/>
              </a:rPr>
              <a:t>of</a:t>
            </a:r>
            <a:r>
              <a:rPr sz="4000" b="1">
                <a:solidFill>
                  <a:srgbClr val="000000"/>
                </a:solidFill>
                <a:latin typeface="Arial"/>
                <a:ea typeface="Arial"/>
                <a:cs typeface="Arial"/>
              </a:rPr>
              <a:t> </a:t>
            </a:r>
            <a:r>
              <a:rPr sz="4000" b="1">
                <a:solidFill>
                  <a:srgbClr val="000000"/>
                </a:solidFill>
                <a:latin typeface="Arial"/>
                <a:ea typeface="Arial"/>
                <a:cs typeface="Arial"/>
              </a:rPr>
              <a:t>government</a:t>
            </a:r>
            <a:r>
              <a:rPr sz="4000" b="1">
                <a:solidFill>
                  <a:srgbClr val="000000"/>
                </a:solidFill>
                <a:latin typeface="Arial"/>
                <a:ea typeface="Arial"/>
                <a:cs typeface="Arial"/>
              </a:rPr>
              <a:t> </a:t>
            </a:r>
            <a:r>
              <a:rPr sz="4000" b="1">
                <a:solidFill>
                  <a:srgbClr val="000000"/>
                </a:solidFill>
                <a:latin typeface="Arial"/>
                <a:ea typeface="Arial"/>
                <a:cs typeface="Arial"/>
              </a:rPr>
              <a:t>spending</a:t>
            </a:r>
            <a:r>
              <a:rPr sz="4000" b="1">
                <a:solidFill>
                  <a:srgbClr val="000000"/>
                </a:solidFill>
                <a:latin typeface="Arial"/>
                <a:ea typeface="Arial"/>
                <a:cs typeface="Arial"/>
              </a:rPr>
              <a:t> </a:t>
            </a:r>
            <a:r>
              <a:rPr sz="4000" b="1" i="0">
                <a:solidFill>
                  <a:srgbClr val="000000"/>
                </a:solidFill>
                <a:latin typeface="Arial"/>
                <a:ea typeface="Arial"/>
                <a:cs typeface="Arial"/>
              </a:rPr>
              <a:t>create more than £100m of GDP?</a:t>
            </a:r>
          </a:p>
        </p:txBody>
      </p:sp>
    </p:spTree>
    <p:extLst>
      <p:ext uri="{BB962C8B-B14F-4D97-AF65-F5344CB8AC3E}">
        <p14:creationId xmlns:p14="http://schemas.microsoft.com/office/powerpoint/2010/main" val="4214046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2-title">
            <a:extLst xmlns:a="http://schemas.openxmlformats.org/drawingml/2006/main">
              <a:ext uri="{FF2B5EF4-FFF2-40B4-BE49-F238E27FC236}">
                <a16:creationId xmlns:a16="http://schemas.microsoft.com/office/drawing/2014/main" id="{F7C2B5A6-CBFD-40C2-BDE9-231F71FE854F}"/>
              </a:ext>
            </a:extLst>
          </p:cNvPr>
          <p:cNvSpPr>
            <a:spLocks xmlns:a="http://schemas.openxmlformats.org/drawingml/2006/main" noGrp="1"/>
          </p:cNvSpPr>
          <p:nvPr/>
        </p:nvSpPr>
        <p:spPr>
          <a:xfrm xmlns:a="http://schemas.openxmlformats.org/drawingml/2006/main">
            <a:off x="571500" y="485775"/>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3600" b="1" i="0">
                <a:solidFill>
                  <a:srgbClr val="000000"/>
                </a:solidFill>
                <a:latin typeface="Arial"/>
                <a:ea typeface="Arial"/>
                <a:cs typeface="Arial"/>
              </a:defRPr>
            </a:pPr>
            <a:r>
              <a:rPr sz="3600" b="1" i="0">
                <a:solidFill>
                  <a:srgbClr val="000000"/>
                </a:solidFill>
                <a:latin typeface="Arial"/>
                <a:ea typeface="Arial"/>
                <a:cs typeface="Arial"/>
              </a:rPr>
              <a:t>What you will be able to do</a:t>
            </a:r>
          </a:p>
        </p:txBody>
      </p:sp>
      <p:cxnSp>
        <p:nvCxnSpPr>
          <p:cNvPr id="76" name="Straight Arrow Connector 59"/>
          <p:cNvCxnSpPr/>
          <p:nvPr/>
        </p:nvCxnSpPr>
        <p:spPr>
          <a:xfrm xmlns:a="http://schemas.openxmlformats.org/drawingml/2006/main">
            <a:off x="1047750" y="2682767"/>
            <a:ext cx="9906000" cy="95"/>
          </a:xfrm>
          <a:prstGeom xmlns:a="http://schemas.openxmlformats.org/drawingml/2006/main" prst="straightConnector1">
            <a:avLst/>
          </a:prstGeom>
          <a:ln xmlns:a="http://schemas.openxmlformats.org/drawingml/2006/main" w="19050">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E1CA9BA0-9B83-47C7-A839-4296F643992E}"/>
              </a:ext>
            </a:extLst>
          </p:cNvPr>
          <p:cNvSpPr>
            <a:spLocks xmlns:a="http://schemas.openxmlformats.org/drawingml/2006/main" noGrp="1"/>
          </p:cNvSpPr>
          <p:nvPr/>
        </p:nvSpPr>
        <p:spPr>
          <a:xfrm xmlns:a="http://schemas.openxmlformats.org/drawingml/2006/main">
            <a:off x="1285875" y="2282717"/>
            <a:ext cx="800100" cy="8001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1</a:t>
            </a:r>
          </a:p>
        </p:txBody>
      </p:sp>
      <p:sp>
        <p:nvSpPr>
          <p:cNvPr id="9" name="Rectangle 8">
            <a:extLst xmlns:a="http://schemas.openxmlformats.org/drawingml/2006/main">
              <a:ext uri="{FF2B5EF4-FFF2-40B4-BE49-F238E27FC236}">
                <a16:creationId xmlns:a16="http://schemas.microsoft.com/office/drawing/2014/main" id="{654D32A2-D977-45B3-8842-C1910CDB5CED}"/>
              </a:ext>
            </a:extLst>
          </p:cNvPr>
          <p:cNvSpPr>
            <a:spLocks xmlns:a="http://schemas.openxmlformats.org/drawingml/2006/main" noGrp="1"/>
          </p:cNvSpPr>
          <p:nvPr/>
        </p:nvSpPr>
        <p:spPr>
          <a:xfrm xmlns:a="http://schemas.openxmlformats.org/drawingml/2006/main">
            <a:off x="6667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Show how an injection creates </a:t>
            </a:r>
            <a:r>
              <a:rPr sz="2000" b="1" i="0">
                <a:solidFill>
                  <a:srgbClr val="59616B"/>
                </a:solidFill>
                <a:latin typeface="Arial"/>
                <a:ea typeface="Arial"/>
                <a:cs typeface="Arial"/>
              </a:rPr>
              <a:t>repeated rounds of income and spending</a:t>
            </a:r>
            <a:r>
              <a:rPr sz="2000" b="0" i="0">
                <a:solidFill>
                  <a:srgbClr val="59616B"/>
                </a:solidFill>
                <a:latin typeface="Arial"/>
                <a:ea typeface="Arial"/>
                <a:cs typeface="Arial"/>
              </a:rPr>
              <a:t>.</a:t>
            </a:r>
          </a:p>
        </p:txBody>
      </p:sp>
      <p:sp>
        <p:nvSpPr>
          <p:cNvPr id="10" name="Oval 9">
            <a:extLst xmlns:a="http://schemas.openxmlformats.org/drawingml/2006/main">
              <a:ext uri="{FF2B5EF4-FFF2-40B4-BE49-F238E27FC236}">
                <a16:creationId xmlns:a16="http://schemas.microsoft.com/office/drawing/2014/main" id="{58D4255C-6E2A-4926-8D3E-424BFF4DB32E}"/>
              </a:ext>
            </a:extLst>
          </p:cNvPr>
          <p:cNvSpPr>
            <a:spLocks xmlns:a="http://schemas.openxmlformats.org/drawingml/2006/main" noGrp="1"/>
          </p:cNvSpPr>
          <p:nvPr/>
        </p:nvSpPr>
        <p:spPr>
          <a:xfrm xmlns:a="http://schemas.openxmlformats.org/drawingml/2006/main">
            <a:off x="4143375" y="2282717"/>
            <a:ext cx="800100" cy="8001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2</a:t>
            </a:r>
          </a:p>
        </p:txBody>
      </p:sp>
      <p:sp>
        <p:nvSpPr>
          <p:cNvPr id="12" name="Rectangle 11">
            <a:extLst xmlns:a="http://schemas.openxmlformats.org/drawingml/2006/main">
              <a:ext uri="{FF2B5EF4-FFF2-40B4-BE49-F238E27FC236}">
                <a16:creationId xmlns:a16="http://schemas.microsoft.com/office/drawing/2014/main" id="{C41C1124-7517-473B-96BE-C3B1C25AE5A5}"/>
              </a:ext>
            </a:extLst>
          </p:cNvPr>
          <p:cNvSpPr>
            <a:spLocks xmlns:a="http://schemas.openxmlformats.org/drawingml/2006/main" noGrp="1"/>
          </p:cNvSpPr>
          <p:nvPr/>
        </p:nvSpPr>
        <p:spPr>
          <a:xfrm xmlns:a="http://schemas.openxmlformats.org/drawingml/2006/main">
            <a:off x="35242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Use the correct </a:t>
            </a:r>
            <a:r>
              <a:rPr sz="2000" b="1" i="0">
                <a:solidFill>
                  <a:srgbClr val="59616B"/>
                </a:solidFill>
                <a:latin typeface="Arial"/>
                <a:ea typeface="Arial"/>
                <a:cs typeface="Arial"/>
              </a:rPr>
              <a:t>multiplier formula </a:t>
            </a:r>
            <a:r>
              <a:rPr sz="2000" b="0" i="0">
                <a:solidFill>
                  <a:srgbClr val="59616B"/>
                </a:solidFill>
                <a:latin typeface="Arial"/>
                <a:ea typeface="Arial"/>
                <a:cs typeface="Arial"/>
              </a:rPr>
              <a:t>for four models of an economy.</a:t>
            </a:r>
          </a:p>
        </p:txBody>
      </p:sp>
      <p:sp>
        <p:nvSpPr>
          <p:cNvPr id="13" name="Oval 12">
            <a:extLst xmlns:a="http://schemas.openxmlformats.org/drawingml/2006/main">
              <a:ext uri="{FF2B5EF4-FFF2-40B4-BE49-F238E27FC236}">
                <a16:creationId xmlns:a16="http://schemas.microsoft.com/office/drawing/2014/main" id="{18657CC7-0699-4D6F-81BB-34E360ED4C1A}"/>
              </a:ext>
            </a:extLst>
          </p:cNvPr>
          <p:cNvSpPr>
            <a:spLocks xmlns:a="http://schemas.openxmlformats.org/drawingml/2006/main" noGrp="1"/>
          </p:cNvSpPr>
          <p:nvPr/>
        </p:nvSpPr>
        <p:spPr>
          <a:xfrm xmlns:a="http://schemas.openxmlformats.org/drawingml/2006/main">
            <a:off x="7000875" y="2282717"/>
            <a:ext cx="800100" cy="800100"/>
          </a:xfrm>
          <a:prstGeom xmlns:a="http://schemas.openxmlformats.org/drawingml/2006/main" prst="ellipse">
            <a:avLst/>
          </a:prstGeom>
          <a:solidFill xmlns:a="http://schemas.openxmlformats.org/drawingml/2006/main">
            <a:srgbClr val="EDEDED"/>
          </a:solidFill>
          <a:ln xmlns:a="http://schemas.openxmlformats.org/drawingml/2006/main" w="9525">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391B6A0D-26CE-4709-A4C0-5E8168C5941F}"/>
              </a:ext>
            </a:extLst>
          </p:cNvPr>
          <p:cNvSpPr>
            <a:spLocks xmlns:a="http://schemas.openxmlformats.org/drawingml/2006/main" noGrp="1"/>
          </p:cNvSpPr>
          <p:nvPr/>
        </p:nvSpPr>
        <p:spPr>
          <a:xfrm xmlns:a="http://schemas.openxmlformats.org/drawingml/2006/main">
            <a:off x="63817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Find </a:t>
            </a:r>
            <a:r>
              <a:rPr sz="2000" b="1" i="0">
                <a:solidFill>
                  <a:srgbClr val="59616B"/>
                </a:solidFill>
                <a:latin typeface="Arial"/>
                <a:ea typeface="Arial"/>
                <a:cs typeface="Arial"/>
              </a:rPr>
              <a:t>average and marginal propensities </a:t>
            </a:r>
            <a:r>
              <a:rPr sz="2000" b="0" i="0">
                <a:solidFill>
                  <a:srgbClr val="59616B"/>
                </a:solidFill>
                <a:latin typeface="Arial"/>
                <a:ea typeface="Arial"/>
                <a:cs typeface="Arial"/>
              </a:rPr>
              <a:t>from data.</a:t>
            </a:r>
          </a:p>
        </p:txBody>
      </p:sp>
      <p:sp>
        <p:nvSpPr>
          <p:cNvPr id="16" name="Oval 15">
            <a:extLst xmlns:a="http://schemas.openxmlformats.org/drawingml/2006/main">
              <a:ext uri="{FF2B5EF4-FFF2-40B4-BE49-F238E27FC236}">
                <a16:creationId xmlns:a16="http://schemas.microsoft.com/office/drawing/2014/main" id="{267EEE1D-B829-4DBE-87B3-1EB7F6F03665}"/>
              </a:ext>
            </a:extLst>
          </p:cNvPr>
          <p:cNvSpPr>
            <a:spLocks xmlns:a="http://schemas.openxmlformats.org/drawingml/2006/main" noGrp="1"/>
          </p:cNvSpPr>
          <p:nvPr/>
        </p:nvSpPr>
        <p:spPr>
          <a:xfrm xmlns:a="http://schemas.openxmlformats.org/drawingml/2006/main">
            <a:off x="9858375" y="2282717"/>
            <a:ext cx="800100" cy="800100"/>
          </a:xfrm>
          <a:prstGeom xmlns:a="http://schemas.openxmlformats.org/drawingml/2006/main" prst="ellipse">
            <a:avLst/>
          </a:prstGeom>
          <a:solidFill xmlns:a="http://schemas.openxmlformats.org/drawingml/2006/main">
            <a:srgbClr val="EDEDED"/>
          </a:solidFill>
          <a:ln xmlns:a="http://schemas.openxmlformats.org/drawingml/2006/main" w="9525">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000000"/>
                </a:solidFill>
                <a:latin typeface="Arial"/>
                <a:ea typeface="Arial"/>
                <a:cs typeface="Arial"/>
              </a:defRPr>
            </a:pPr>
            <a:r>
              <a:rPr sz="2100" b="1">
                <a:solidFill>
                  <a:srgbClr val="000000"/>
                </a:solidFill>
                <a:latin typeface="Arial"/>
                <a:ea typeface="Arial"/>
                <a:cs typeface="Arial"/>
              </a:rPr>
              <a:t>4</a:t>
            </a:r>
          </a:p>
        </p:txBody>
      </p:sp>
      <p:sp>
        <p:nvSpPr>
          <p:cNvPr id="18" name="Rectangle 17">
            <a:extLst xmlns:a="http://schemas.openxmlformats.org/drawingml/2006/main">
              <a:ext uri="{FF2B5EF4-FFF2-40B4-BE49-F238E27FC236}">
                <a16:creationId xmlns:a16="http://schemas.microsoft.com/office/drawing/2014/main" id="{22C70F6F-C4B2-4E8C-A85B-6175630C9B79}"/>
              </a:ext>
            </a:extLst>
          </p:cNvPr>
          <p:cNvSpPr>
            <a:spLocks xmlns:a="http://schemas.openxmlformats.org/drawingml/2006/main" noGrp="1"/>
          </p:cNvSpPr>
          <p:nvPr/>
        </p:nvSpPr>
        <p:spPr>
          <a:xfrm xmlns:a="http://schemas.openxmlformats.org/drawingml/2006/main">
            <a:off x="9239250" y="3207891"/>
            <a:ext cx="2047875" cy="226580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59616B"/>
                </a:solidFill>
                <a:latin typeface="Arial"/>
                <a:ea typeface="Arial"/>
                <a:cs typeface="Arial"/>
              </a:defRPr>
            </a:pPr>
            <a:r>
              <a:rPr sz="2000" b="0" i="0">
                <a:solidFill>
                  <a:srgbClr val="59616B"/>
                </a:solidFill>
                <a:latin typeface="Arial"/>
                <a:ea typeface="Arial"/>
                <a:cs typeface="Arial"/>
              </a:rPr>
              <a:t>Connect </a:t>
            </a:r>
            <a:r>
              <a:rPr sz="2000" b="1" i="0">
                <a:solidFill>
                  <a:srgbClr val="59616B"/>
                </a:solidFill>
                <a:latin typeface="Arial"/>
                <a:ea typeface="Arial"/>
                <a:cs typeface="Arial"/>
              </a:rPr>
              <a:t>changing AD to equilibrium national income </a:t>
            </a:r>
            <a:r>
              <a:rPr sz="2000" b="0" i="0">
                <a:solidFill>
                  <a:srgbClr val="59616B"/>
                </a:solidFill>
                <a:latin typeface="Arial"/>
                <a:ea typeface="Arial"/>
                <a:cs typeface="Arial"/>
              </a:rPr>
              <a:t>and exam questions.</a:t>
            </a:r>
          </a:p>
        </p:txBody>
      </p:sp>
    </p:spTree>
    <p:extLst>
      <p:ext uri="{BB962C8B-B14F-4D97-AF65-F5344CB8AC3E}">
        <p14:creationId xmlns:p14="http://schemas.microsoft.com/office/powerpoint/2010/main" val="19182883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1836A410-7F06-4B38-AD49-B79993B13B27}"/>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1</a:t>
            </a:r>
          </a:p>
        </p:txBody>
      </p:sp>
      <p:sp>
        <p:nvSpPr>
          <p:cNvPr id="2" name="Rectangle 1">
            <a:extLst xmlns:a="http://schemas.openxmlformats.org/drawingml/2006/main">
              <a:ext uri="{FF2B5EF4-FFF2-40B4-BE49-F238E27FC236}">
                <a16:creationId xmlns:a16="http://schemas.microsoft.com/office/drawing/2014/main" id="{6D6DAFEB-AB8E-46D1-A642-F74232869243}"/>
              </a:ext>
            </a:extLst>
          </p:cNvPr>
          <p:cNvSpPr>
            <a:spLocks xmlns:a="http://schemas.openxmlformats.org/drawingml/2006/main" noGrp="1"/>
          </p:cNvSpPr>
          <p:nvPr/>
        </p:nvSpPr>
        <p:spPr>
          <a:xfrm xmlns:a="http://schemas.openxmlformats.org/drawingml/2006/main">
            <a:off x="571500" y="1476375"/>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Concept</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and formulae</a:t>
            </a:r>
          </a:p>
        </p:txBody>
      </p:sp>
      <p:sp>
        <p:nvSpPr>
          <p:cNvPr id="3" name="Rectangle 2">
            <a:extLst xmlns:a="http://schemas.openxmlformats.org/drawingml/2006/main">
              <a:ext uri="{FF2B5EF4-FFF2-40B4-BE49-F238E27FC236}">
                <a16:creationId xmlns:a16="http://schemas.microsoft.com/office/drawing/2014/main" id="{8F0A39F3-F949-40B3-8FE7-C52907B64A8D}"/>
              </a:ext>
            </a:extLst>
          </p:cNvPr>
          <p:cNvSpPr>
            <a:spLocks xmlns:a="http://schemas.openxmlformats.org/drawingml/2006/main" noGrp="1"/>
          </p:cNvSpPr>
          <p:nvPr/>
        </p:nvSpPr>
        <p:spPr>
          <a:xfrm xmlns:a="http://schemas.openxmlformats.org/drawingml/2006/main">
            <a:off x="571500" y="333375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0" i="0">
                <a:solidFill>
                  <a:srgbClr val="59616B"/>
                </a:solidFill>
                <a:latin typeface="Arial"/>
                <a:ea typeface="Arial"/>
                <a:cs typeface="Arial"/>
              </a:defRPr>
            </a:pPr>
            <a:r>
              <a:rPr sz="2100" b="0" i="0">
                <a:solidFill>
                  <a:srgbClr val="59616B"/>
                </a:solidFill>
                <a:latin typeface="Arial"/>
                <a:ea typeface="Arial"/>
                <a:cs typeface="Arial"/>
              </a:rPr>
              <a:t>Why one injection can create a larger final change in national income</a:t>
            </a:r>
          </a:p>
        </p:txBody>
      </p:sp>
      <p:sp>
        <p:nvSpPr>
          <p:cNvPr id="6" name="Rectangle 5">
            <a:extLst xmlns:a="http://schemas.openxmlformats.org/drawingml/2006/main">
              <a:ext uri="{FF2B5EF4-FFF2-40B4-BE49-F238E27FC236}">
                <a16:creationId xmlns:a16="http://schemas.microsoft.com/office/drawing/2014/main" id="{52719F81-B9F5-40DB-B5B6-F0D52EFEACEB}"/>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pic>
        <p:nvPicPr>
          <p:cNvPr id="16" name="Picture 45"/>
          <p:cNvPicPr>
            <a:picLocks xmlns:a="http://schemas.openxmlformats.org/drawingml/2006/main" noChangeAspect="1"/>
          </p:cNvPicPr>
          <p:nvPr/>
        </p:nvPicPr>
        <p:blipFill>
          <a:blip xmlns:r="http://schemas.openxmlformats.org/officeDocument/2006/relationships" xmlns:a="http://schemas.openxmlformats.org/drawingml/2006/main" r:embed="Rd52b5f62cf484368"/>
          <a:srcRect xmlns:a="http://schemas.openxmlformats.org/drawingml/2006/main" l="23176" t="0" r="23176"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525BD3E8-333D-4F37-9FE8-F25245851B52}"/>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04</a:t>
            </a:r>
          </a:p>
        </p:txBody>
      </p:sp>
    </p:spTree>
    <p:extLst>
      <p:ext uri="{BB962C8B-B14F-4D97-AF65-F5344CB8AC3E}">
        <p14:creationId xmlns:p14="http://schemas.microsoft.com/office/powerpoint/2010/main" val="456151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C23B0987-94A6-4D49-AB75-FD6034DBF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Why can £100m create more than £100m of GDP?</a:t>
            </a:r>
          </a:p>
        </p:txBody>
      </p:sp>
      <p:cxnSp>
        <p:nvCxnSpPr>
          <p:cNvPr id="35"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BC9599DC-5BE4-4792-8749-2AFF6E57B0B9}"/>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CA539AB-88A4-4F03-A639-6552A77677E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05</a:t>
            </a:r>
          </a:p>
        </p:txBody>
      </p:sp>
      <p:sp>
        <p:nvSpPr>
          <p:cNvPr id="5" name="Rectangle 4">
            <a:extLst xmlns:a="http://schemas.openxmlformats.org/drawingml/2006/main">
              <a:ext uri="{FF2B5EF4-FFF2-40B4-BE49-F238E27FC236}">
                <a16:creationId xmlns:a16="http://schemas.microsoft.com/office/drawing/2014/main" id="{2AF6F8D6-4D68-4C5B-A3A5-6D5A14B4FCDD}"/>
              </a:ext>
            </a:extLst>
          </p:cNvPr>
          <p:cNvSpPr>
            <a:spLocks xmlns:a="http://schemas.openxmlformats.org/drawingml/2006/main" noGrp="1"/>
          </p:cNvSpPr>
          <p:nvPr/>
        </p:nvSpPr>
        <p:spPr>
          <a:xfrm xmlns:a="http://schemas.openxmlformats.org/drawingml/2006/main">
            <a:off x="666750" y="1666876"/>
            <a:ext cx="4762500" cy="29871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2250" b="1" i="0">
                <a:solidFill>
                  <a:srgbClr val="000000"/>
                </a:solidFill>
                <a:latin typeface="Arial"/>
                <a:ea typeface="Arial"/>
                <a:cs typeface="Arial"/>
              </a:defRPr>
            </a:pPr>
            <a:r>
              <a:rPr sz="2250" b="1" i="0">
                <a:solidFill>
                  <a:srgbClr val="000000"/>
                </a:solidFill>
                <a:latin typeface="Arial"/>
                <a:ea typeface="Arial"/>
                <a:cs typeface="Arial"/>
              </a:rPr>
              <a:t>The government commissions a new </a:t>
            </a:r>
            <a:r>
              <a:rPr sz="2250" b="1">
                <a:solidFill>
                  <a:srgbClr val="000000"/>
                </a:solidFill>
                <a:latin typeface="Arial"/>
                <a:ea typeface="Arial"/>
                <a:cs typeface="Arial"/>
              </a:rPr>
              <a:t>road</a:t>
            </a:r>
            <a:r>
              <a:rPr sz="2250" b="1" i="0">
                <a:solidFill>
                  <a:srgbClr val="000000"/>
                </a:solidFill>
                <a:latin typeface="Arial"/>
                <a:ea typeface="Arial"/>
                <a:cs typeface="Arial"/>
              </a:rPr>
              <a:t>.</a:t>
            </a:r>
          </a:p>
        </p:txBody>
      </p:sp>
      <p:sp>
        <p:nvSpPr>
          <p:cNvPr id="6" name="Rectangle 5">
            <a:extLst xmlns:a="http://schemas.openxmlformats.org/drawingml/2006/main">
              <a:ext uri="{FF2B5EF4-FFF2-40B4-BE49-F238E27FC236}">
                <a16:creationId xmlns:a16="http://schemas.microsoft.com/office/drawing/2014/main" id="{0CCAE040-BBDD-4679-80A5-2E4A3F2D9E7D}"/>
              </a:ext>
            </a:extLst>
          </p:cNvPr>
          <p:cNvSpPr>
            <a:spLocks xmlns:a="http://schemas.openxmlformats.org/drawingml/2006/main" noGrp="1"/>
          </p:cNvSpPr>
          <p:nvPr/>
        </p:nvSpPr>
        <p:spPr>
          <a:xfrm xmlns:a="http://schemas.openxmlformats.org/drawingml/2006/main">
            <a:off x="666750" y="2543175"/>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Firms receive new orders.</a:t>
            </a:r>
          </a:p>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Workers and suppliers receive income.</a:t>
            </a:r>
          </a:p>
          <a:p xmlns:a="http://schemas.openxmlformats.org/drawingml/2006/main">
            <a:pPr algn="l">
              <a:spcAft>
                <a:spcPts val="600"/>
              </a:spcAft>
              <a:buNone/>
              <a:defRPr sz="1950" b="0" i="0">
                <a:solidFill>
                  <a:srgbClr val="000000"/>
                </a:solidFill>
                <a:latin typeface="Arial"/>
                <a:ea typeface="Arial"/>
                <a:cs typeface="Arial"/>
              </a:defRPr>
            </a:pPr>
            <a:r>
              <a:rPr sz="1950" b="0" i="0">
                <a:solidFill>
                  <a:srgbClr val="000000"/>
                </a:solidFill>
                <a:latin typeface="Arial"/>
                <a:ea typeface="Arial"/>
                <a:cs typeface="Arial"/>
              </a:rPr>
              <a:t>• They spend part of that extra income.</a:t>
            </a:r>
          </a:p>
        </p:txBody>
      </p:sp>
      <p:pic>
        <p:nvPicPr>
          <p:cNvPr id="40" name="Picture 45"/>
          <p:cNvPicPr>
            <a:picLocks xmlns:a="http://schemas.openxmlformats.org/drawingml/2006/main" noChangeAspect="1"/>
          </p:cNvPicPr>
          <p:nvPr/>
        </p:nvPicPr>
        <p:blipFill>
          <a:blip xmlns:r="http://schemas.openxmlformats.org/officeDocument/2006/relationships" xmlns:a="http://schemas.openxmlformats.org/drawingml/2006/main" r:embed="Rffda174494504942"/>
          <a:srcRect xmlns:a="http://schemas.openxmlformats.org/drawingml/2006/main" l="23176" t="0" r="23176" b="0"/>
          <a:stretch xmlns:a="http://schemas.openxmlformats.org/drawingml/2006/main">
            <a:fillRect l="0" t="0" r="0" b="0"/>
          </a:stretch>
        </p:blipFill>
        <p:spPr>
          <a:xfrm xmlns:a="http://schemas.openxmlformats.org/drawingml/2006/main">
            <a:off x="6762752" y="1588442"/>
            <a:ext cx="4447790" cy="4669388"/>
          </a:xfrm>
          <a:prstGeom xmlns:a="http://schemas.openxmlformats.org/drawingml/2006/main" prst="rect">
            <a:avLst/>
          </a:prstGeom>
        </p:spPr>
      </p:pic>
    </p:spTree>
    <p:extLst>
      <p:ext uri="{BB962C8B-B14F-4D97-AF65-F5344CB8AC3E}">
        <p14:creationId xmlns:p14="http://schemas.microsoft.com/office/powerpoint/2010/main" val="9713596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6-title">
            <a:extLst xmlns:a="http://schemas.openxmlformats.org/drawingml/2006/main">
              <a:ext uri="{FF2B5EF4-FFF2-40B4-BE49-F238E27FC236}">
                <a16:creationId xmlns:a16="http://schemas.microsoft.com/office/drawing/2014/main" id="{41A7F465-6676-499B-A7F5-4C72530CCD0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One injection creates repeated spending rounds</a:t>
            </a:r>
          </a:p>
        </p:txBody>
      </p:sp>
      <p:sp>
        <p:nvSpPr>
          <p:cNvPr id="3" name="Rectangle 2">
            <a:extLst xmlns:a="http://schemas.openxmlformats.org/drawingml/2006/main">
              <a:ext uri="{FF2B5EF4-FFF2-40B4-BE49-F238E27FC236}">
                <a16:creationId xmlns:a16="http://schemas.microsoft.com/office/drawing/2014/main" id="{23287D97-A153-4CD9-B3F1-2FC68F122715}"/>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3290EA7F-A106-44B5-A939-19A42FD60D5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06</a:t>
            </a:r>
          </a:p>
        </p:txBody>
      </p:sp>
      <p:cxnSp>
        <p:nvCxnSpPr>
          <p:cNvPr id="68" name="Straight Arrow Connector 49"/>
          <p:cNvCxnSpPr/>
          <p:nvPr/>
        </p:nvCxnSpPr>
        <p:spPr>
          <a:xfrm xmlns:a="http://schemas.openxmlformats.org/drawingml/2006/main">
            <a:off x="1619250" y="2190750"/>
            <a:ext cx="8572500" cy="95"/>
          </a:xfrm>
          <a:prstGeom xmlns:a="http://schemas.openxmlformats.org/drawingml/2006/main" prst="straightConnector1">
            <a:avLst/>
          </a:prstGeom>
          <a:ln xmlns:a="http://schemas.openxmlformats.org/drawingml/2006/main" w="38100">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F5331DC6-0CBE-46B6-BE50-81EAAFA045FF}"/>
              </a:ext>
            </a:extLst>
          </p:cNvPr>
          <p:cNvSpPr>
            <a:spLocks xmlns:a="http://schemas.openxmlformats.org/drawingml/2006/main" noGrp="1"/>
          </p:cNvSpPr>
          <p:nvPr/>
        </p:nvSpPr>
        <p:spPr>
          <a:xfrm xmlns:a="http://schemas.openxmlformats.org/drawingml/2006/main">
            <a:off x="114300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Oval 6">
            <a:extLst xmlns:a="http://schemas.openxmlformats.org/drawingml/2006/main">
              <a:ext uri="{FF2B5EF4-FFF2-40B4-BE49-F238E27FC236}">
                <a16:creationId xmlns:a16="http://schemas.microsoft.com/office/drawing/2014/main" id="{EC0BFCD8-057A-4F46-8A90-81B87E5DBACB}"/>
              </a:ext>
            </a:extLst>
          </p:cNvPr>
          <p:cNvSpPr>
            <a:spLocks xmlns:a="http://schemas.openxmlformats.org/drawingml/2006/main" noGrp="1"/>
          </p:cNvSpPr>
          <p:nvPr/>
        </p:nvSpPr>
        <p:spPr>
          <a:xfrm xmlns:a="http://schemas.openxmlformats.org/drawingml/2006/main">
            <a:off x="542925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8" name="Oval 7">
            <a:extLst xmlns:a="http://schemas.openxmlformats.org/drawingml/2006/main">
              <a:ext uri="{FF2B5EF4-FFF2-40B4-BE49-F238E27FC236}">
                <a16:creationId xmlns:a16="http://schemas.microsoft.com/office/drawing/2014/main" id="{32469B18-BF1B-47CC-824C-43E710BFB4F1}"/>
              </a:ext>
            </a:extLst>
          </p:cNvPr>
          <p:cNvSpPr>
            <a:spLocks xmlns:a="http://schemas.openxmlformats.org/drawingml/2006/main" noGrp="1"/>
          </p:cNvSpPr>
          <p:nvPr/>
        </p:nvSpPr>
        <p:spPr>
          <a:xfrm xmlns:a="http://schemas.openxmlformats.org/drawingml/2006/main">
            <a:off x="9715500" y="1714500"/>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9" name="Rectangle 8">
            <a:extLst xmlns:a="http://schemas.openxmlformats.org/drawingml/2006/main">
              <a:ext uri="{FF2B5EF4-FFF2-40B4-BE49-F238E27FC236}">
                <a16:creationId xmlns:a16="http://schemas.microsoft.com/office/drawing/2014/main" id="{F2039153-23B4-4D78-96D4-206F11F536DA}"/>
              </a:ext>
            </a:extLst>
          </p:cNvPr>
          <p:cNvSpPr>
            <a:spLocks xmlns:a="http://schemas.openxmlformats.org/drawingml/2006/main" noGrp="1"/>
          </p:cNvSpPr>
          <p:nvPr/>
        </p:nvSpPr>
        <p:spPr>
          <a:xfrm xmlns:a="http://schemas.openxmlformats.org/drawingml/2006/main">
            <a:off x="57150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INJECTION</a:t>
            </a:r>
          </a:p>
        </p:txBody>
      </p:sp>
      <p:sp>
        <p:nvSpPr>
          <p:cNvPr id="10" name="Rectangle 9">
            <a:extLst xmlns:a="http://schemas.openxmlformats.org/drawingml/2006/main">
              <a:ext uri="{FF2B5EF4-FFF2-40B4-BE49-F238E27FC236}">
                <a16:creationId xmlns:a16="http://schemas.microsoft.com/office/drawing/2014/main" id="{9C07ADAB-46F6-4386-889F-9D42036A7127}"/>
              </a:ext>
            </a:extLst>
          </p:cNvPr>
          <p:cNvSpPr>
            <a:spLocks xmlns:a="http://schemas.openxmlformats.org/drawingml/2006/main" noGrp="1"/>
          </p:cNvSpPr>
          <p:nvPr/>
        </p:nvSpPr>
        <p:spPr>
          <a:xfrm xmlns:a="http://schemas.openxmlformats.org/drawingml/2006/main">
            <a:off x="571500" y="3429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New autonomous spending</a:t>
            </a:r>
          </a:p>
        </p:txBody>
      </p:sp>
      <p:sp>
        <p:nvSpPr>
          <p:cNvPr id="11" name="Rectangle 10">
            <a:extLst xmlns:a="http://schemas.openxmlformats.org/drawingml/2006/main">
              <a:ext uri="{FF2B5EF4-FFF2-40B4-BE49-F238E27FC236}">
                <a16:creationId xmlns:a16="http://schemas.microsoft.com/office/drawing/2014/main" id="{A5682073-B9DE-49E6-B207-5F1648A282EE}"/>
              </a:ext>
            </a:extLst>
          </p:cNvPr>
          <p:cNvSpPr>
            <a:spLocks xmlns:a="http://schemas.openxmlformats.org/drawingml/2006/main" noGrp="1"/>
          </p:cNvSpPr>
          <p:nvPr/>
        </p:nvSpPr>
        <p:spPr>
          <a:xfrm xmlns:a="http://schemas.openxmlformats.org/drawingml/2006/main">
            <a:off x="485775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INCOME</a:t>
            </a:r>
          </a:p>
        </p:txBody>
      </p:sp>
      <p:sp>
        <p:nvSpPr>
          <p:cNvPr id="12" name="Rectangle 11">
            <a:extLst xmlns:a="http://schemas.openxmlformats.org/drawingml/2006/main">
              <a:ext uri="{FF2B5EF4-FFF2-40B4-BE49-F238E27FC236}">
                <a16:creationId xmlns:a16="http://schemas.microsoft.com/office/drawing/2014/main" id="{848CFE36-3207-4E75-80DA-E216E7A0D7FF}"/>
              </a:ext>
            </a:extLst>
          </p:cNvPr>
          <p:cNvSpPr>
            <a:spLocks xmlns:a="http://schemas.openxmlformats.org/drawingml/2006/main" noGrp="1"/>
          </p:cNvSpPr>
          <p:nvPr/>
        </p:nvSpPr>
        <p:spPr>
          <a:xfrm xmlns:a="http://schemas.openxmlformats.org/drawingml/2006/main">
            <a:off x="4857750" y="3429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The payment becomes income</a:t>
            </a:r>
          </a:p>
        </p:txBody>
      </p:sp>
      <p:sp>
        <p:nvSpPr>
          <p:cNvPr id="13" name="Rectangle 12">
            <a:extLst xmlns:a="http://schemas.openxmlformats.org/drawingml/2006/main">
              <a:ext uri="{FF2B5EF4-FFF2-40B4-BE49-F238E27FC236}">
                <a16:creationId xmlns:a16="http://schemas.microsoft.com/office/drawing/2014/main" id="{7E22A489-E73E-431C-8B6F-62C0EC8C4D26}"/>
              </a:ext>
            </a:extLst>
          </p:cNvPr>
          <p:cNvSpPr>
            <a:spLocks xmlns:a="http://schemas.openxmlformats.org/drawingml/2006/main" noGrp="1"/>
          </p:cNvSpPr>
          <p:nvPr/>
        </p:nvSpPr>
        <p:spPr>
          <a:xfrm xmlns:a="http://schemas.openxmlformats.org/drawingml/2006/main">
            <a:off x="9144000" y="3000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RE-SPENDING</a:t>
            </a:r>
          </a:p>
        </p:txBody>
      </p:sp>
      <p:sp>
        <p:nvSpPr>
          <p:cNvPr id="14" name="Rectangle 13">
            <a:extLst xmlns:a="http://schemas.openxmlformats.org/drawingml/2006/main">
              <a:ext uri="{FF2B5EF4-FFF2-40B4-BE49-F238E27FC236}">
                <a16:creationId xmlns:a16="http://schemas.microsoft.com/office/drawing/2014/main" id="{80246384-742C-44F4-84C9-58DCD292892C}"/>
              </a:ext>
            </a:extLst>
          </p:cNvPr>
          <p:cNvSpPr>
            <a:spLocks xmlns:a="http://schemas.openxmlformats.org/drawingml/2006/main" noGrp="1"/>
          </p:cNvSpPr>
          <p:nvPr/>
        </p:nvSpPr>
        <p:spPr>
          <a:xfrm xmlns:a="http://schemas.openxmlformats.org/drawingml/2006/main">
            <a:off x="9144000" y="3429000"/>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Part is spent again; the rest leaks out</a:t>
            </a:r>
          </a:p>
        </p:txBody>
      </p:sp>
      <p:sp>
        <p:nvSpPr>
          <p:cNvPr id="15" name="Rectangle 14">
            <a:extLst xmlns:a="http://schemas.openxmlformats.org/drawingml/2006/main">
              <a:ext uri="{FF2B5EF4-FFF2-40B4-BE49-F238E27FC236}">
                <a16:creationId xmlns:a16="http://schemas.microsoft.com/office/drawing/2014/main" id="{02FB88EC-CCCA-4DEC-AFA2-CF9E7332ED88}"/>
              </a:ext>
            </a:extLst>
          </p:cNvPr>
          <p:cNvSpPr>
            <a:spLocks xmlns:a="http://schemas.openxmlformats.org/drawingml/2006/main" noGrp="1"/>
          </p:cNvSpPr>
          <p:nvPr/>
        </p:nvSpPr>
        <p:spPr>
          <a:xfrm xmlns:a="http://schemas.openxmlformats.org/drawingml/2006/main">
            <a:off x="1381125" y="5429249"/>
            <a:ext cx="9429750" cy="9047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Multiplier process = an initial change in spending causes a larger final change in economic activity.</a:t>
            </a:r>
          </a:p>
        </p:txBody>
      </p:sp>
    </p:spTree>
    <p:extLst>
      <p:ext uri="{BB962C8B-B14F-4D97-AF65-F5344CB8AC3E}">
        <p14:creationId xmlns:p14="http://schemas.microsoft.com/office/powerpoint/2010/main" val="7758683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5-title">
            <a:extLst xmlns:a="http://schemas.openxmlformats.org/drawingml/2006/main">
              <a:ext uri="{FF2B5EF4-FFF2-40B4-BE49-F238E27FC236}">
                <a16:creationId xmlns:a16="http://schemas.microsoft.com/office/drawing/2014/main" id="{FA09F7E0-8A74-4CE0-A3E3-E26444B9CD0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Injections enlarge the flow; leakages reduce it</a:t>
            </a:r>
          </a:p>
        </p:txBody>
      </p:sp>
      <p:cxnSp>
        <p:nvCxnSpPr>
          <p:cNvPr id="35"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EA2BCB94-4BBF-42B6-AC55-60FE3F4F4C32}"/>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86E4CAB-5529-491A-879D-B6502E90A986}"/>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07</a:t>
            </a:r>
          </a:p>
        </p:txBody>
      </p:sp>
      <p:sp>
        <p:nvSpPr>
          <p:cNvPr id="5" name="Arrow: Right 4">
            <a:extLst xmlns:a="http://schemas.openxmlformats.org/drawingml/2006/main">
              <a:ext uri="{FF2B5EF4-FFF2-40B4-BE49-F238E27FC236}">
                <a16:creationId xmlns:a16="http://schemas.microsoft.com/office/drawing/2014/main" id="{C1C8103B-C713-4469-B63E-3D8C61D2F605}"/>
              </a:ext>
            </a:extLst>
          </p:cNvPr>
          <p:cNvSpPr>
            <a:spLocks xmlns:a="http://schemas.openxmlformats.org/drawingml/2006/main" noGrp="1"/>
          </p:cNvSpPr>
          <p:nvPr/>
        </p:nvSpPr>
        <p:spPr>
          <a:xfrm xmlns:a="http://schemas.openxmlformats.org/drawingml/2006/main">
            <a:off x="1047750" y="2476500"/>
            <a:ext cx="2857500" cy="7239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Arrow: Right 5">
            <a:extLst xmlns:a="http://schemas.openxmlformats.org/drawingml/2006/main">
              <a:ext uri="{FF2B5EF4-FFF2-40B4-BE49-F238E27FC236}">
                <a16:creationId xmlns:a16="http://schemas.microsoft.com/office/drawing/2014/main" id="{B63D4CF7-4F4B-4C66-A5B3-A4F8703C5AE4}"/>
              </a:ext>
            </a:extLst>
          </p:cNvPr>
          <p:cNvSpPr>
            <a:spLocks xmlns:a="http://schemas.openxmlformats.org/drawingml/2006/main" noGrp="1"/>
          </p:cNvSpPr>
          <p:nvPr/>
        </p:nvSpPr>
        <p:spPr>
          <a:xfrm xmlns:a="http://schemas.openxmlformats.org/drawingml/2006/main">
            <a:off x="8286750" y="2476500"/>
            <a:ext cx="2857500" cy="723900"/>
          </a:xfrm>
          <a:prstGeom xmlns:a="http://schemas.openxmlformats.org/drawingml/2006/main" prst="rightArrow">
            <a:avLst/>
          </a:prstGeom>
          <a:solidFill xmlns:a="http://schemas.openxmlformats.org/drawingml/2006/main">
            <a:srgbClr val="F26B5B"/>
          </a:solidFill>
          <a:ln xmlns:a="http://schemas.openxmlformats.org/drawingml/2006/main" w="0">
            <a:solidFill>
              <a:srgbClr val="F26B5B"/>
            </a:solidFill>
            <a:prstDash val="solid"/>
          </a:ln>
        </p:spPr>
      </p:sp>
      <p:sp>
        <p:nvSpPr>
          <p:cNvPr id="7" name="Rectangle 6">
            <a:extLst xmlns:a="http://schemas.openxmlformats.org/drawingml/2006/main">
              <a:ext uri="{FF2B5EF4-FFF2-40B4-BE49-F238E27FC236}">
                <a16:creationId xmlns:a16="http://schemas.microsoft.com/office/drawing/2014/main" id="{1E8DBC63-0E4D-4029-8D87-71031B65E294}"/>
              </a:ext>
            </a:extLst>
          </p:cNvPr>
          <p:cNvSpPr>
            <a:spLocks xmlns:a="http://schemas.openxmlformats.org/drawingml/2006/main" noGrp="1"/>
          </p:cNvSpPr>
          <p:nvPr/>
        </p:nvSpPr>
        <p:spPr>
          <a:xfrm xmlns:a="http://schemas.openxmlformats.org/drawingml/2006/main">
            <a:off x="4476750" y="2047875"/>
            <a:ext cx="3238500" cy="1571625"/>
          </a:xfrm>
          <a:prstGeom xmlns:a="http://schemas.openxmlformats.org/drawingml/2006/main" prst="rect">
            <a:avLst/>
          </a:prstGeom>
          <a:solidFill xmlns:a="http://schemas.openxmlformats.org/drawingml/2006/main">
            <a:srgbClr val="F7F7F5"/>
          </a:solidFill>
          <a:ln xmlns:a="http://schemas.openxmlformats.org/drawingml/2006/main" w="19050">
            <a:solidFill>
              <a:srgbClr val="000000"/>
            </a:solidFill>
            <a:prstDash val="solid"/>
          </a:ln>
        </p:spPr>
      </p:sp>
      <p:sp>
        <p:nvSpPr>
          <p:cNvPr id="8" name="Rectangle 7">
            <a:extLst xmlns:a="http://schemas.openxmlformats.org/drawingml/2006/main">
              <a:ext uri="{FF2B5EF4-FFF2-40B4-BE49-F238E27FC236}">
                <a16:creationId xmlns:a16="http://schemas.microsoft.com/office/drawing/2014/main" id="{69CF1EDF-8798-4A6A-B14D-6189B2D32744}"/>
              </a:ext>
            </a:extLst>
          </p:cNvPr>
          <p:cNvSpPr>
            <a:spLocks xmlns:a="http://schemas.openxmlformats.org/drawingml/2006/main" noGrp="1"/>
          </p:cNvSpPr>
          <p:nvPr/>
        </p:nvSpPr>
        <p:spPr>
          <a:xfrm xmlns:a="http://schemas.openxmlformats.org/drawingml/2006/main">
            <a:off x="4762500" y="2333625"/>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NATIONAL</a:t>
            </a:r>
          </a:p>
          <a:p xmlns:a="http://schemas.openxmlformats.org/drawingml/2006/main">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INCOME FLOW</a:t>
            </a:r>
          </a:p>
        </p:txBody>
      </p:sp>
      <p:sp>
        <p:nvSpPr>
          <p:cNvPr id="9" name="Rectangle 8">
            <a:extLst xmlns:a="http://schemas.openxmlformats.org/drawingml/2006/main">
              <a:ext uri="{FF2B5EF4-FFF2-40B4-BE49-F238E27FC236}">
                <a16:creationId xmlns:a16="http://schemas.microsoft.com/office/drawing/2014/main" id="{724F64E2-C2D6-464D-9FF9-C624E0D42A10}"/>
              </a:ext>
            </a:extLst>
          </p:cNvPr>
          <p:cNvSpPr>
            <a:spLocks xmlns:a="http://schemas.openxmlformats.org/drawingml/2006/main" noGrp="1"/>
          </p:cNvSpPr>
          <p:nvPr/>
        </p:nvSpPr>
        <p:spPr>
          <a:xfrm xmlns:a="http://schemas.openxmlformats.org/drawingml/2006/main">
            <a:off x="1047750" y="1619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INJECTIONS</a:t>
            </a:r>
          </a:p>
        </p:txBody>
      </p:sp>
      <p:sp>
        <p:nvSpPr>
          <p:cNvPr id="10" name="Rectangle 9">
            <a:extLst xmlns:a="http://schemas.openxmlformats.org/drawingml/2006/main">
              <a:ext uri="{FF2B5EF4-FFF2-40B4-BE49-F238E27FC236}">
                <a16:creationId xmlns:a16="http://schemas.microsoft.com/office/drawing/2014/main" id="{185BAA11-F3F6-4C59-ABF3-2C819EFE1652}"/>
              </a:ext>
            </a:extLst>
          </p:cNvPr>
          <p:cNvSpPr>
            <a:spLocks xmlns:a="http://schemas.openxmlformats.org/drawingml/2006/main" noGrp="1"/>
          </p:cNvSpPr>
          <p:nvPr/>
        </p:nvSpPr>
        <p:spPr>
          <a:xfrm xmlns:a="http://schemas.openxmlformats.org/drawingml/2006/main">
            <a:off x="1047750" y="3714750"/>
            <a:ext cx="304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Investment (I)</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Government spending (G)</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Exports (X)</a:t>
            </a:r>
          </a:p>
        </p:txBody>
      </p:sp>
      <p:sp>
        <p:nvSpPr>
          <p:cNvPr id="11" name="Rectangle 10">
            <a:extLst xmlns:a="http://schemas.openxmlformats.org/drawingml/2006/main">
              <a:ext uri="{FF2B5EF4-FFF2-40B4-BE49-F238E27FC236}">
                <a16:creationId xmlns:a16="http://schemas.microsoft.com/office/drawing/2014/main" id="{F3CB49E0-6026-4C9C-93ED-627E219751C0}"/>
              </a:ext>
            </a:extLst>
          </p:cNvPr>
          <p:cNvSpPr>
            <a:spLocks xmlns:a="http://schemas.openxmlformats.org/drawingml/2006/main" noGrp="1"/>
          </p:cNvSpPr>
          <p:nvPr/>
        </p:nvSpPr>
        <p:spPr>
          <a:xfrm xmlns:a="http://schemas.openxmlformats.org/drawingml/2006/main">
            <a:off x="8096250" y="16192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 WITHDRAWALS</a:t>
            </a:r>
          </a:p>
        </p:txBody>
      </p:sp>
      <p:sp>
        <p:nvSpPr>
          <p:cNvPr id="12" name="Rectangle 11">
            <a:extLst xmlns:a="http://schemas.openxmlformats.org/drawingml/2006/main">
              <a:ext uri="{FF2B5EF4-FFF2-40B4-BE49-F238E27FC236}">
                <a16:creationId xmlns:a16="http://schemas.microsoft.com/office/drawing/2014/main" id="{CD520CA0-1603-459E-B2DC-FFEC0ECE6D11}"/>
              </a:ext>
            </a:extLst>
          </p:cNvPr>
          <p:cNvSpPr>
            <a:spLocks xmlns:a="http://schemas.openxmlformats.org/drawingml/2006/main" noGrp="1"/>
          </p:cNvSpPr>
          <p:nvPr/>
        </p:nvSpPr>
        <p:spPr>
          <a:xfrm xmlns:a="http://schemas.openxmlformats.org/drawingml/2006/main">
            <a:off x="8286750" y="3714750"/>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Saving (S)</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Taxation (T)</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Imports (M)</a:t>
            </a:r>
          </a:p>
        </p:txBody>
      </p:sp>
    </p:spTree>
    <p:extLst>
      <p:ext uri="{BB962C8B-B14F-4D97-AF65-F5344CB8AC3E}">
        <p14:creationId xmlns:p14="http://schemas.microsoft.com/office/powerpoint/2010/main" val="1488857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7-title">
            <a:extLst xmlns:a="http://schemas.openxmlformats.org/drawingml/2006/main">
              <a:ext uri="{FF2B5EF4-FFF2-40B4-BE49-F238E27FC236}">
                <a16:creationId xmlns:a16="http://schemas.microsoft.com/office/drawing/2014/main" id="{1A4A7859-199C-40A7-9F20-0C6C718175C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MPC 0.75 makes each round 25% smaller</a:t>
            </a:r>
          </a:p>
        </p:txBody>
      </p:sp>
      <p:cxnSp>
        <p:nvCxnSpPr>
          <p:cNvPr id="39"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5129D4-B078-4A4F-A213-E9597FCFF51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13195A7-56D6-4717-AD74-7E618C37935A}"/>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08</a:t>
            </a:r>
          </a:p>
        </p:txBody>
      </p:sp>
      <p:sp>
        <p:nvSpPr>
          <p:cNvPr id="5" name="Rectangle 4">
            <a:extLst xmlns:a="http://schemas.openxmlformats.org/drawingml/2006/main">
              <a:ext uri="{FF2B5EF4-FFF2-40B4-BE49-F238E27FC236}">
                <a16:creationId xmlns:a16="http://schemas.microsoft.com/office/drawing/2014/main" id="{428E79C4-76EB-4081-8E92-521DC27BB3DB}"/>
              </a:ext>
            </a:extLst>
          </p:cNvPr>
          <p:cNvSpPr>
            <a:spLocks xmlns:a="http://schemas.openxmlformats.org/drawingml/2006/main" noGrp="1"/>
          </p:cNvSpPr>
          <p:nvPr/>
        </p:nvSpPr>
        <p:spPr>
          <a:xfrm xmlns:a="http://schemas.openxmlformats.org/drawingml/2006/main">
            <a:off x="571500" y="13811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Assume a closed economy with no government and an initial investment of £100m.</a:t>
            </a:r>
          </a:p>
        </p:txBody>
      </p:sp>
      <p:graphicFrame>
        <p:nvGraphicFramePr>
          <p:cNvPr id="43" name="Table 30"/>
          <p:cNvGraphicFramePr/>
          <p:nvPr/>
        </p:nvGraphicFramePr>
        <p:xfrm>
          <a:off xmlns:a="http://schemas.openxmlformats.org/drawingml/2006/main" x="762000" y="2047875"/>
          <a:ext xmlns:a="http://schemas.openxmlformats.org/drawingml/2006/main" cx="10668000" cy="3143250"/>
        </p:xfrm>
        <a:graphic xmlns:a="http://schemas.openxmlformats.org/drawingml/2006/main">
          <a:graphicData uri="http://schemas.openxmlformats.org/drawingml/2006/table">
            <a:tbl>
              <a:tblPr/>
              <a:tblGrid>
                <a:gridCol w="1428750"/>
                <a:gridCol w="2857500"/>
                <a:gridCol w="3333750"/>
                <a:gridCol w="3048000"/>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Income received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Consumption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Saving leakage (£m)</a:t>
                      </a:r>
                    </a:p>
                  </a:txBody>
                  <a:tcPr marL="76200" marR="76200" marT="57150" marB="57150" anchor="ctr">
                    <a:solidFill>
                      <a:srgbClr val="000000"/>
                    </a:solidFill>
                  </a:tcPr>
                </a:tc>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75.00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25.00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75.00</a:t>
                      </a:r>
                    </a:p>
                  </a:txBody>
                  <a:tcPr marL="76200" marR="76200" marT="47625" marB="47625" anchor="ctr"/>
                </a:tc>
                <a:tc>
                  <a:txBody>
                    <a:bodyPr/>
                    <a:lstStyle/>
                    <a:p>
                      <a:pPr algn="ctr">
                        <a:buNone/>
                      </a:pPr>
                      <a:r>
                        <a:rPr sz="1650">
                          <a:solidFill>
                            <a:srgbClr val="000000"/>
                          </a:solidFill>
                          <a:latin typeface="Arial"/>
                          <a:ea typeface="Arial"/>
                          <a:cs typeface="Arial"/>
                        </a:rPr>
                        <a:t>56.25</a:t>
                      </a:r>
                    </a:p>
                  </a:txBody>
                  <a:tcPr marL="76200" marR="76200" marT="47625" marB="47625" anchor="ctr"/>
                </a:tc>
                <a:tc>
                  <a:txBody>
                    <a:bodyPr/>
                    <a:lstStyle/>
                    <a:p>
                      <a:pPr algn="ctr">
                        <a:buNone/>
                      </a:pPr>
                      <a:r>
                        <a:rPr sz="1650">
                          <a:solidFill>
                            <a:srgbClr val="000000"/>
                          </a:solidFill>
                          <a:latin typeface="Arial"/>
                          <a:ea typeface="Arial"/>
                          <a:cs typeface="Arial"/>
                        </a:rPr>
                        <a:t>18.75</a:t>
                      </a:r>
                    </a:p>
                  </a:txBody>
                  <a:tcPr marL="76200" marR="76200" marT="47625" marB="47625" anchor="ctr"/>
                </a:tc>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56.25</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42.19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14.06</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42.19</a:t>
                      </a:r>
                    </a:p>
                  </a:txBody>
                  <a:tcPr marL="76200" marR="76200" marT="47625" marB="47625" anchor="ctr"/>
                </a:tc>
                <a:tc>
                  <a:txBody>
                    <a:bodyPr/>
                    <a:lstStyle/>
                    <a:p>
                      <a:pPr algn="ctr">
                        <a:buNone/>
                      </a:pPr>
                      <a:r>
                        <a:rPr sz="1650">
                          <a:solidFill>
                            <a:srgbClr val="000000"/>
                          </a:solidFill>
                          <a:latin typeface="Arial"/>
                          <a:ea typeface="Arial"/>
                          <a:cs typeface="Arial"/>
                        </a:rPr>
                        <a:t>31.64</a:t>
                      </a:r>
                    </a:p>
                  </a:txBody>
                  <a:tcPr marL="76200" marR="76200" marT="47625" marB="47625" anchor="ctr"/>
                </a:tc>
                <a:tc>
                  <a:txBody>
                    <a:bodyPr/>
                    <a:lstStyle/>
                    <a:p>
                      <a:pPr algn="ctr">
                        <a:buNone/>
                      </a:pPr>
                      <a:r>
                        <a:rPr sz="1650">
                          <a:solidFill>
                            <a:srgbClr val="000000"/>
                          </a:solidFill>
                          <a:latin typeface="Arial"/>
                          <a:ea typeface="Arial"/>
                          <a:cs typeface="Arial"/>
                        </a:rPr>
                        <a:t>10.55</a:t>
                      </a:r>
                    </a:p>
                  </a:txBody>
                  <a:tcPr marL="76200" marR="76200" marT="47625" marB="47625" anchor="ctr"/>
                </a:tc>
              </a:tr>
              <a:tr h="523875">
                <a:tc>
                  <a:txBody>
                    <a:bodyPr/>
                    <a:lstStyle/>
                    <a:p>
                      <a:pPr algn="ctr">
                        <a:buNone/>
                      </a:pPr>
                      <a:r>
                        <a:rPr sz="1650">
                          <a:solidFill>
                            <a:srgbClr val="000000"/>
                          </a:solidFill>
                          <a:latin typeface="Arial"/>
                          <a:ea typeface="Arial"/>
                          <a:cs typeface="Arial"/>
                        </a:rPr>
                        <a:t>…</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smaller each round</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r>
            </a:tbl>
          </a:graphicData>
        </a:graphic>
      </p:graphicFrame>
      <p:sp>
        <p:nvSpPr>
          <p:cNvPr id="7" name="Rectangle 6">
            <a:extLst xmlns:a="http://schemas.openxmlformats.org/drawingml/2006/main">
              <a:ext uri="{FF2B5EF4-FFF2-40B4-BE49-F238E27FC236}">
                <a16:creationId xmlns:a16="http://schemas.microsoft.com/office/drawing/2014/main" id="{D86C3CE2-0D32-4876-931D-9F6DDE7D5C7F}"/>
              </a:ext>
            </a:extLst>
          </p:cNvPr>
          <p:cNvSpPr>
            <a:spLocks xmlns:a="http://schemas.openxmlformats.org/drawingml/2006/main" noGrp="1"/>
          </p:cNvSpPr>
          <p:nvPr/>
        </p:nvSpPr>
        <p:spPr>
          <a:xfrm xmlns:a="http://schemas.openxmlformats.org/drawingml/2006/main">
            <a:off x="1143000" y="552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The total converges to £400m: 100 + 75 + 56.25 + …</a:t>
            </a:r>
          </a:p>
        </p:txBody>
      </p:sp>
    </p:spTree>
    <p:extLst>
      <p:ext uri="{BB962C8B-B14F-4D97-AF65-F5344CB8AC3E}">
        <p14:creationId xmlns:p14="http://schemas.microsoft.com/office/powerpoint/2010/main" val="43775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8-title">
            <a:extLst xmlns:a="http://schemas.openxmlformats.org/drawingml/2006/main">
              <a:ext uri="{FF2B5EF4-FFF2-40B4-BE49-F238E27FC236}">
                <a16:creationId xmlns:a16="http://schemas.microsoft.com/office/drawing/2014/main" id="{94858402-AD32-4D8E-A612-25F60EB2312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Multiplier = final income change ÷ injection</a:t>
            </a:r>
          </a:p>
        </p:txBody>
      </p:sp>
      <p:cxnSp>
        <p:nvCxnSpPr>
          <p:cNvPr id="32" name="Straight Arrow Connector 23"/>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05A4AA97-4481-42CF-A994-BA63381F47E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64743E84-0B32-4931-9260-3092F8956A38}"/>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09</a:t>
            </a:r>
          </a:p>
        </p:txBody>
      </p:sp>
      <p:sp>
        <p:nvSpPr>
          <p:cNvPr id="5" name="Rectangle 4">
            <a:extLst xmlns:a="http://schemas.openxmlformats.org/drawingml/2006/main">
              <a:ext uri="{FF2B5EF4-FFF2-40B4-BE49-F238E27FC236}">
                <a16:creationId xmlns:a16="http://schemas.microsoft.com/office/drawing/2014/main" id="{8867AC0E-EF01-48A9-A829-0D9731F74C6C}"/>
              </a:ext>
            </a:extLst>
          </p:cNvPr>
          <p:cNvSpPr>
            <a:spLocks xmlns:a="http://schemas.openxmlformats.org/drawingml/2006/main" noGrp="1"/>
          </p:cNvSpPr>
          <p:nvPr/>
        </p:nvSpPr>
        <p:spPr>
          <a:xfrm xmlns:a="http://schemas.openxmlformats.org/drawingml/2006/main">
            <a:off x="666750" y="1714500"/>
            <a:ext cx="5334000" cy="3143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BDDD80A2-DE00-40DE-BB46-7894BD94ED88}"/>
              </a:ext>
            </a:extLst>
          </p:cNvPr>
          <p:cNvSpPr>
            <a:spLocks xmlns:a="http://schemas.openxmlformats.org/drawingml/2006/main" noGrp="1"/>
          </p:cNvSpPr>
          <p:nvPr/>
        </p:nvSpPr>
        <p:spPr>
          <a:xfrm xmlns:a="http://schemas.openxmlformats.org/drawingml/2006/main">
            <a:off x="1047750" y="2238375"/>
            <a:ext cx="4572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k = change in national income</a:t>
            </a:r>
          </a:p>
          <a:p xmlns:a="http://schemas.openxmlformats.org/drawingml/2006/main">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 initial change in injection</a:t>
            </a:r>
          </a:p>
        </p:txBody>
      </p:sp>
      <p:sp>
        <p:nvSpPr>
          <p:cNvPr id="7" name="Rectangle 6">
            <a:extLst xmlns:a="http://schemas.openxmlformats.org/drawingml/2006/main">
              <a:ext uri="{FF2B5EF4-FFF2-40B4-BE49-F238E27FC236}">
                <a16:creationId xmlns:a16="http://schemas.microsoft.com/office/drawing/2014/main" id="{E808DC3E-34B7-4F28-ADA6-34799721A3F7}"/>
              </a:ext>
            </a:extLst>
          </p:cNvPr>
          <p:cNvSpPr>
            <a:spLocks xmlns:a="http://schemas.openxmlformats.org/drawingml/2006/main" noGrp="1"/>
          </p:cNvSpPr>
          <p:nvPr/>
        </p:nvSpPr>
        <p:spPr>
          <a:xfrm xmlns:a="http://schemas.openxmlformats.org/drawingml/2006/main">
            <a:off x="1047750" y="3619500"/>
            <a:ext cx="457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3600" b="1" i="0">
                <a:solidFill>
                  <a:srgbClr val="3D8DFF"/>
                </a:solidFill>
                <a:latin typeface="Arial"/>
                <a:ea typeface="Arial"/>
                <a:cs typeface="Arial"/>
              </a:defRPr>
            </a:pPr>
            <a:r>
              <a:rPr sz="3600" b="1" i="0">
                <a:solidFill>
                  <a:srgbClr val="3D8DFF"/>
                </a:solidFill>
                <a:latin typeface="Arial"/>
                <a:ea typeface="Arial"/>
                <a:cs typeface="Arial"/>
              </a:rPr>
              <a:t>k = ΔY / ΔJ</a:t>
            </a:r>
          </a:p>
        </p:txBody>
      </p:sp>
      <p:sp>
        <p:nvSpPr>
          <p:cNvPr id="8" name="Rectangle 7">
            <a:extLst xmlns:a="http://schemas.openxmlformats.org/drawingml/2006/main">
              <a:ext uri="{FF2B5EF4-FFF2-40B4-BE49-F238E27FC236}">
                <a16:creationId xmlns:a16="http://schemas.microsoft.com/office/drawing/2014/main" id="{7B37DDD6-D0DD-4241-ACF5-AAFBEE08618E}"/>
              </a:ext>
            </a:extLst>
          </p:cNvPr>
          <p:cNvSpPr>
            <a:spLocks xmlns:a="http://schemas.openxmlformats.org/drawingml/2006/main" noGrp="1"/>
          </p:cNvSpPr>
          <p:nvPr/>
        </p:nvSpPr>
        <p:spPr>
          <a:xfrm xmlns:a="http://schemas.openxmlformats.org/drawingml/2006/main">
            <a:off x="6667500" y="176212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INTERPRET THE NUMBER</a:t>
            </a:r>
          </a:p>
        </p:txBody>
      </p:sp>
      <p:sp>
        <p:nvSpPr>
          <p:cNvPr id="9" name="Rectangle 8">
            <a:extLst xmlns:a="http://schemas.openxmlformats.org/drawingml/2006/main">
              <a:ext uri="{FF2B5EF4-FFF2-40B4-BE49-F238E27FC236}">
                <a16:creationId xmlns:a16="http://schemas.microsoft.com/office/drawing/2014/main" id="{11D748F4-2D32-49E5-9D0E-3C3368B0090F}"/>
              </a:ext>
            </a:extLst>
          </p:cNvPr>
          <p:cNvSpPr>
            <a:spLocks xmlns:a="http://schemas.openxmlformats.org/drawingml/2006/main" noGrp="1"/>
          </p:cNvSpPr>
          <p:nvPr/>
        </p:nvSpPr>
        <p:spPr>
          <a:xfrm xmlns:a="http://schemas.openxmlformats.org/drawingml/2006/main">
            <a:off x="6667500" y="2238375"/>
            <a:ext cx="4381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1: no multiplied effect</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2.5: £1 creates £2.50 of income</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larger leakages → smaller k</a:t>
            </a:r>
          </a:p>
          <a:p xmlns:a="http://schemas.openxmlformats.org/drawingml/2006/main">
            <a:pPr algn="l">
              <a:buNone/>
              <a:defRPr sz="1950" b="0" i="0">
                <a:solidFill>
                  <a:srgbClr val="000000"/>
                </a:solidFill>
                <a:latin typeface="Arial"/>
                <a:ea typeface="Arial"/>
                <a:cs typeface="Arial"/>
              </a:defRPr>
            </a:pPr>
            <a:r>
              <a:rPr sz="1950" b="0" i="0">
                <a:solidFill>
                  <a:srgbClr val="000000"/>
                </a:solidFill>
                <a:latin typeface="Arial"/>
                <a:ea typeface="Arial"/>
                <a:cs typeface="Arial"/>
              </a:rPr>
              <a:t>• smaller leakages → larger k</a:t>
            </a:r>
          </a:p>
        </p:txBody>
      </p:sp>
      <p:sp>
        <p:nvSpPr>
          <p:cNvPr id="10" name="Rectangle 9">
            <a:extLst xmlns:a="http://schemas.openxmlformats.org/drawingml/2006/main">
              <a:ext uri="{FF2B5EF4-FFF2-40B4-BE49-F238E27FC236}">
                <a16:creationId xmlns:a16="http://schemas.microsoft.com/office/drawing/2014/main" id="{CACB9D09-373F-4CE2-8BCE-A75D7677F64F}"/>
              </a:ext>
            </a:extLst>
          </p:cNvPr>
          <p:cNvSpPr>
            <a:spLocks xmlns:a="http://schemas.openxmlformats.org/drawingml/2006/main" noGrp="1"/>
          </p:cNvSpPr>
          <p:nvPr/>
        </p:nvSpPr>
        <p:spPr>
          <a:xfrm xmlns:a="http://schemas.openxmlformats.org/drawingml/2006/main">
            <a:off x="1619250" y="54292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Example: £100m injection → £400m income, so k = 4.</a:t>
            </a:r>
          </a:p>
        </p:txBody>
      </p:sp>
    </p:spTree>
    <p:extLst>
      <p:ext uri="{BB962C8B-B14F-4D97-AF65-F5344CB8AC3E}">
        <p14:creationId xmlns:p14="http://schemas.microsoft.com/office/powerpoint/2010/main" val="15302320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9-title">
            <a:extLst xmlns:a="http://schemas.openxmlformats.org/drawingml/2006/main">
              <a:ext uri="{FF2B5EF4-FFF2-40B4-BE49-F238E27FC236}">
                <a16:creationId xmlns:a16="http://schemas.microsoft.com/office/drawing/2014/main" id="{93FD5C06-A4A9-48A3-B39F-0C85F484808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Average uses totals; marginal uses changes</a:t>
            </a:r>
          </a:p>
        </p:txBody>
      </p:sp>
      <p:cxnSp>
        <p:nvCxnSpPr>
          <p:cNvPr id="35"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0EB97D04-A665-4160-A839-73236DC3E62D}"/>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75B85C9-AABC-49E8-B815-36F4156FFB0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10</a:t>
            </a:r>
          </a:p>
        </p:txBody>
      </p:sp>
      <p:sp>
        <p:nvSpPr>
          <p:cNvPr id="5" name="Rectangle 4">
            <a:extLst xmlns:a="http://schemas.openxmlformats.org/drawingml/2006/main">
              <a:ext uri="{FF2B5EF4-FFF2-40B4-BE49-F238E27FC236}">
                <a16:creationId xmlns:a16="http://schemas.microsoft.com/office/drawing/2014/main" id="{CAA7DFF3-34D5-4914-A1CA-57A7542A9205}"/>
              </a:ext>
            </a:extLst>
          </p:cNvPr>
          <p:cNvSpPr>
            <a:spLocks xmlns:a="http://schemas.openxmlformats.org/drawingml/2006/main" noGrp="1"/>
          </p:cNvSpPr>
          <p:nvPr/>
        </p:nvSpPr>
        <p:spPr>
          <a:xfrm xmlns:a="http://schemas.openxmlformats.org/drawingml/2006/main">
            <a:off x="666750" y="1762125"/>
            <a:ext cx="5048250" cy="34290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279D9F35-9A19-40D3-98FE-FF9735964FD5}"/>
              </a:ext>
            </a:extLst>
          </p:cNvPr>
          <p:cNvSpPr>
            <a:spLocks xmlns:a="http://schemas.openxmlformats.org/drawingml/2006/main" noGrp="1"/>
          </p:cNvSpPr>
          <p:nvPr/>
        </p:nvSpPr>
        <p:spPr>
          <a:xfrm xmlns:a="http://schemas.openxmlformats.org/drawingml/2006/main">
            <a:off x="6477000" y="1762125"/>
            <a:ext cx="5048250" cy="342900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7" name="Rectangle 6">
            <a:extLst xmlns:a="http://schemas.openxmlformats.org/drawingml/2006/main">
              <a:ext uri="{FF2B5EF4-FFF2-40B4-BE49-F238E27FC236}">
                <a16:creationId xmlns:a16="http://schemas.microsoft.com/office/drawing/2014/main" id="{46393A14-E45B-4BE5-B4DD-9D0705F527CF}"/>
              </a:ext>
            </a:extLst>
          </p:cNvPr>
          <p:cNvSpPr>
            <a:spLocks xmlns:a="http://schemas.openxmlformats.org/drawingml/2006/main" noGrp="1"/>
          </p:cNvSpPr>
          <p:nvPr/>
        </p:nvSpPr>
        <p:spPr>
          <a:xfrm xmlns:a="http://schemas.openxmlformats.org/drawingml/2006/main">
            <a:off x="1000125" y="20955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AVERAGE PROPENSITY</a:t>
            </a:r>
          </a:p>
        </p:txBody>
      </p:sp>
      <p:sp>
        <p:nvSpPr>
          <p:cNvPr id="8" name="Rectangle 7">
            <a:extLst xmlns:a="http://schemas.openxmlformats.org/drawingml/2006/main">
              <a:ext uri="{FF2B5EF4-FFF2-40B4-BE49-F238E27FC236}">
                <a16:creationId xmlns:a16="http://schemas.microsoft.com/office/drawing/2014/main" id="{DAE8971C-A4D3-44FF-9E64-3F99CE04F2C4}"/>
              </a:ext>
            </a:extLst>
          </p:cNvPr>
          <p:cNvSpPr>
            <a:spLocks xmlns:a="http://schemas.openxmlformats.org/drawingml/2006/main" noGrp="1"/>
          </p:cNvSpPr>
          <p:nvPr/>
        </p:nvSpPr>
        <p:spPr>
          <a:xfrm xmlns:a="http://schemas.openxmlformats.org/drawingml/2006/main">
            <a:off x="1000125" y="26193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total income</a:t>
            </a:r>
          </a:p>
        </p:txBody>
      </p:sp>
      <p:sp>
        <p:nvSpPr>
          <p:cNvPr id="9" name="Rectangle 8">
            <a:extLst xmlns:a="http://schemas.openxmlformats.org/drawingml/2006/main">
              <a:ext uri="{FF2B5EF4-FFF2-40B4-BE49-F238E27FC236}">
                <a16:creationId xmlns:a16="http://schemas.microsoft.com/office/drawing/2014/main" id="{75A0FC04-31AA-4554-84CB-6B8CE7A6AF42}"/>
              </a:ext>
            </a:extLst>
          </p:cNvPr>
          <p:cNvSpPr>
            <a:spLocks xmlns:a="http://schemas.openxmlformats.org/drawingml/2006/main" noGrp="1"/>
          </p:cNvSpPr>
          <p:nvPr/>
        </p:nvSpPr>
        <p:spPr>
          <a:xfrm xmlns:a="http://schemas.openxmlformats.org/drawingml/2006/main">
            <a:off x="1000125" y="3333750"/>
            <a:ext cx="4381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APC = C / Y</a:t>
            </a:r>
          </a:p>
          <a:p xmlns:a="http://schemas.openxmlformats.org/drawingml/2006/main">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APS = S / Y</a:t>
            </a:r>
          </a:p>
        </p:txBody>
      </p:sp>
      <p:sp>
        <p:nvSpPr>
          <p:cNvPr id="10" name="Rectangle 9">
            <a:extLst xmlns:a="http://schemas.openxmlformats.org/drawingml/2006/main">
              <a:ext uri="{FF2B5EF4-FFF2-40B4-BE49-F238E27FC236}">
                <a16:creationId xmlns:a16="http://schemas.microsoft.com/office/drawing/2014/main" id="{2F30C4B3-ECD6-4D86-B140-C7D0DC26209F}"/>
              </a:ext>
            </a:extLst>
          </p:cNvPr>
          <p:cNvSpPr>
            <a:spLocks xmlns:a="http://schemas.openxmlformats.org/drawingml/2006/main" noGrp="1"/>
          </p:cNvSpPr>
          <p:nvPr/>
        </p:nvSpPr>
        <p:spPr>
          <a:xfrm xmlns:a="http://schemas.openxmlformats.org/drawingml/2006/main">
            <a:off x="6810375" y="20955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MARGINAL PROPENSITY</a:t>
            </a:r>
          </a:p>
        </p:txBody>
      </p:sp>
      <p:sp>
        <p:nvSpPr>
          <p:cNvPr id="11" name="Rectangle 10">
            <a:extLst xmlns:a="http://schemas.openxmlformats.org/drawingml/2006/main">
              <a:ext uri="{FF2B5EF4-FFF2-40B4-BE49-F238E27FC236}">
                <a16:creationId xmlns:a16="http://schemas.microsoft.com/office/drawing/2014/main" id="{7272A2D8-F79D-4B5C-AD44-73787624706A}"/>
              </a:ext>
            </a:extLst>
          </p:cNvPr>
          <p:cNvSpPr>
            <a:spLocks xmlns:a="http://schemas.openxmlformats.org/drawingml/2006/main" noGrp="1"/>
          </p:cNvSpPr>
          <p:nvPr/>
        </p:nvSpPr>
        <p:spPr>
          <a:xfrm xmlns:a="http://schemas.openxmlformats.org/drawingml/2006/main">
            <a:off x="6810375" y="26193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extra income</a:t>
            </a:r>
          </a:p>
        </p:txBody>
      </p:sp>
      <p:sp>
        <p:nvSpPr>
          <p:cNvPr id="12" name="Rectangle 11">
            <a:extLst xmlns:a="http://schemas.openxmlformats.org/drawingml/2006/main">
              <a:ext uri="{FF2B5EF4-FFF2-40B4-BE49-F238E27FC236}">
                <a16:creationId xmlns:a16="http://schemas.microsoft.com/office/drawing/2014/main" id="{E033ABDC-04C3-461B-B478-ED8F49C284A9}"/>
              </a:ext>
            </a:extLst>
          </p:cNvPr>
          <p:cNvSpPr>
            <a:spLocks xmlns:a="http://schemas.openxmlformats.org/drawingml/2006/main" noGrp="1"/>
          </p:cNvSpPr>
          <p:nvPr/>
        </p:nvSpPr>
        <p:spPr>
          <a:xfrm xmlns:a="http://schemas.openxmlformats.org/drawingml/2006/main">
            <a:off x="6810375" y="3333750"/>
            <a:ext cx="4381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MPC = ΔC / ΔY</a:t>
            </a:r>
          </a:p>
          <a:p xmlns:a="http://schemas.openxmlformats.org/drawingml/2006/main">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MPS = ΔS / ΔY</a:t>
            </a:r>
          </a:p>
        </p:txBody>
      </p:sp>
    </p:spTree>
    <p:extLst>
      <p:ext uri="{BB962C8B-B14F-4D97-AF65-F5344CB8AC3E}">
        <p14:creationId xmlns:p14="http://schemas.microsoft.com/office/powerpoint/2010/main" val="7777996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0-title">
            <a:extLst xmlns:a="http://schemas.openxmlformats.org/drawingml/2006/main">
              <a:ext uri="{FF2B5EF4-FFF2-40B4-BE49-F238E27FC236}">
                <a16:creationId xmlns:a16="http://schemas.microsoft.com/office/drawing/2014/main" id="{A1621E29-0D4C-4D14-914B-EB37EEE0AF84}"/>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flow has average and marginal measures</a:t>
            </a:r>
          </a:p>
        </p:txBody>
      </p:sp>
      <p:cxnSp>
        <p:nvCxnSpPr>
          <p:cNvPr id="39"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84EA4693-534E-4F25-8D36-54279DDBA55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E762A3B-8FEE-49CF-BFDA-A0B77EDD496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11</a:t>
            </a:r>
          </a:p>
        </p:txBody>
      </p:sp>
      <p:graphicFrame>
        <p:nvGraphicFramePr>
          <p:cNvPr id="42" name="Table 30"/>
          <p:cNvGraphicFramePr/>
          <p:nvPr/>
        </p:nvGraphicFramePr>
        <p:xfrm>
          <a:off xmlns:a="http://schemas.openxmlformats.org/drawingml/2006/main" x="666750" y="2047875"/>
          <a:ext xmlns:a="http://schemas.openxmlformats.org/drawingml/2006/main" cx="10858500" cy="3333750"/>
        </p:xfrm>
        <a:graphic xmlns:a="http://schemas.openxmlformats.org/drawingml/2006/main">
          <a:graphicData uri="http://schemas.openxmlformats.org/drawingml/2006/table">
            <a:tbl>
              <a:tblPr/>
              <a:tblGrid>
                <a:gridCol w="2286000"/>
                <a:gridCol w="2095500"/>
                <a:gridCol w="2095500"/>
                <a:gridCol w="2286000"/>
                <a:gridCol w="2095500"/>
              </a:tblGrid>
              <a:tr h="666750">
                <a:tc>
                  <a:txBody>
                    <a:bodyPr/>
                    <a:lstStyle/>
                    <a:p>
                      <a:pPr algn="ctr">
                        <a:buNone/>
                      </a:pPr>
                      <a:r>
                        <a:rPr sz="1500" b="1">
                          <a:solidFill>
                            <a:srgbClr val="FFFFFF"/>
                          </a:solidFill>
                          <a:latin typeface="Arial"/>
                          <a:ea typeface="Arial"/>
                          <a:cs typeface="Arial"/>
                        </a:rPr>
                        <a:t>Flow</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Average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Marginal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r>
              <a:tr h="666750">
                <a:tc>
                  <a:txBody>
                    <a:bodyPr/>
                    <a:lstStyle/>
                    <a:p>
                      <a:pPr algn="ctr">
                        <a:buNone/>
                      </a:pPr>
                      <a:r>
                        <a:rPr sz="1725">
                          <a:solidFill>
                            <a:srgbClr val="000000"/>
                          </a:solidFill>
                          <a:latin typeface="Arial"/>
                          <a:ea typeface="Arial"/>
                          <a:cs typeface="Arial"/>
                        </a:rPr>
                        <a:t>Consumption</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APC</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C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MPC</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ΔC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Saving</a:t>
                      </a:r>
                    </a:p>
                  </a:txBody>
                  <a:tcPr marL="76200" marR="76200" marT="47625" marB="47625" anchor="ctr"/>
                </a:tc>
                <a:tc>
                  <a:txBody>
                    <a:bodyPr/>
                    <a:lstStyle/>
                    <a:p>
                      <a:pPr algn="ctr">
                        <a:buNone/>
                      </a:pPr>
                      <a:r>
                        <a:rPr sz="1725">
                          <a:solidFill>
                            <a:srgbClr val="000000"/>
                          </a:solidFill>
                          <a:latin typeface="Arial"/>
                          <a:ea typeface="Arial"/>
                          <a:cs typeface="Arial"/>
                        </a:rPr>
                        <a:t>APS</a:t>
                      </a:r>
                    </a:p>
                  </a:txBody>
                  <a:tcPr marL="76200" marR="76200" marT="47625" marB="47625" anchor="ctr"/>
                </a:tc>
                <a:tc>
                  <a:txBody>
                    <a:bodyPr/>
                    <a:lstStyle/>
                    <a:p>
                      <a:pPr algn="ctr">
                        <a:buNone/>
                      </a:pPr>
                      <a:r>
                        <a:rPr sz="1725">
                          <a:solidFill>
                            <a:srgbClr val="000000"/>
                          </a:solidFill>
                          <a:latin typeface="Arial"/>
                          <a:ea typeface="Arial"/>
                          <a:cs typeface="Arial"/>
                        </a:rPr>
                        <a:t>S / Y</a:t>
                      </a:r>
                    </a:p>
                  </a:txBody>
                  <a:tcPr marL="76200" marR="76200" marT="47625" marB="47625" anchor="ctr"/>
                </a:tc>
                <a:tc>
                  <a:txBody>
                    <a:bodyPr/>
                    <a:lstStyle/>
                    <a:p>
                      <a:pPr algn="ctr">
                        <a:buNone/>
                      </a:pPr>
                      <a:r>
                        <a:rPr sz="1725">
                          <a:solidFill>
                            <a:srgbClr val="000000"/>
                          </a:solidFill>
                          <a:latin typeface="Arial"/>
                          <a:ea typeface="Arial"/>
                          <a:cs typeface="Arial"/>
                        </a:rPr>
                        <a:t>MPS</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ΔS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Imports</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APM</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MPM</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ΔM / ΔY</a:t>
                      </a:r>
                    </a:p>
                  </a:txBody>
                  <a:tcPr marL="76200" marR="76200" marT="47625" marB="47625" anchor="ctr">
                    <a:solidFill>
                      <a:srgbClr val="EAF5FB"/>
                    </a:solidFill>
                  </a:tcPr>
                </a:tc>
              </a:tr>
              <a:tr h="666750">
                <a:tc>
                  <a:txBody>
                    <a:bodyPr/>
                    <a:lstStyle/>
                    <a:p>
                      <a:pPr algn="ctr">
                        <a:buNone/>
                      </a:pPr>
                      <a:r>
                        <a:rPr sz="1725">
                          <a:solidFill>
                            <a:srgbClr val="000000"/>
                          </a:solidFill>
                          <a:latin typeface="Arial"/>
                          <a:ea typeface="Arial"/>
                          <a:cs typeface="Arial"/>
                        </a:rPr>
                        <a:t>Tax</a:t>
                      </a:r>
                    </a:p>
                  </a:txBody>
                  <a:tcPr marL="76200" marR="76200" marT="47625" marB="47625" anchor="ctr"/>
                </a:tc>
                <a:tc>
                  <a:txBody>
                    <a:bodyPr/>
                    <a:lstStyle/>
                    <a:p>
                      <a:pPr algn="ctr">
                        <a:buNone/>
                      </a:pPr>
                      <a:r>
                        <a:rPr sz="1725">
                          <a:solidFill>
                            <a:srgbClr val="000000"/>
                          </a:solidFill>
                          <a:latin typeface="Arial"/>
                          <a:ea typeface="Arial"/>
                          <a:cs typeface="Arial"/>
                        </a:rPr>
                        <a:t>ART</a:t>
                      </a:r>
                    </a:p>
                  </a:txBody>
                  <a:tcPr marL="76200" marR="76200" marT="47625" marB="47625" anchor="ctr"/>
                </a:tc>
                <a:tc>
                  <a:txBody>
                    <a:bodyPr/>
                    <a:lstStyle/>
                    <a:p>
                      <a:pPr algn="ctr">
                        <a:buNone/>
                      </a:pPr>
                      <a:r>
                        <a:rPr sz="1725">
                          <a:solidFill>
                            <a:srgbClr val="000000"/>
                          </a:solidFill>
                          <a:latin typeface="Arial"/>
                          <a:ea typeface="Arial"/>
                          <a:cs typeface="Arial"/>
                        </a:rPr>
                        <a:t>T / Y</a:t>
                      </a:r>
                    </a:p>
                  </a:txBody>
                  <a:tcPr marL="76200" marR="76200" marT="47625" marB="47625" anchor="ctr"/>
                </a:tc>
                <a:tc>
                  <a:txBody>
                    <a:bodyPr/>
                    <a:lstStyle/>
                    <a:p>
                      <a:pPr algn="ctr">
                        <a:buNone/>
                      </a:pPr>
                      <a:r>
                        <a:rPr sz="1725">
                          <a:solidFill>
                            <a:srgbClr val="000000"/>
                          </a:solidFill>
                          <a:latin typeface="Arial"/>
                          <a:ea typeface="Arial"/>
                          <a:cs typeface="Arial"/>
                        </a:rPr>
                        <a:t>MRT</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ΔT / ΔY</a:t>
                      </a:r>
                    </a:p>
                  </a:txBody>
                  <a:tcPr marL="76200" marR="76200" marT="47625" marB="47625" anchor="ctr">
                    <a:solidFill>
                      <a:srgbClr val="EAF5FB"/>
                    </a:solidFill>
                  </a:tcPr>
                </a:tc>
              </a:tr>
            </a:tbl>
          </a:graphicData>
        </a:graphic>
      </p:graphicFrame>
    </p:spTree>
    <p:extLst>
      <p:ext uri="{BB962C8B-B14F-4D97-AF65-F5344CB8AC3E}">
        <p14:creationId xmlns:p14="http://schemas.microsoft.com/office/powerpoint/2010/main" val="15719516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1-title">
            <a:extLst xmlns:a="http://schemas.openxmlformats.org/drawingml/2006/main">
              <a:ext uri="{FF2B5EF4-FFF2-40B4-BE49-F238E27FC236}">
                <a16:creationId xmlns:a16="http://schemas.microsoft.com/office/drawing/2014/main" id="{0AD18E60-ACB3-4D11-BF24-80B8BC1EFD7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Four economy models, one multiplier rule</a:t>
            </a:r>
          </a:p>
        </p:txBody>
      </p:sp>
      <p:cxnSp>
        <p:nvCxnSpPr>
          <p:cNvPr id="39" name="Straight Arrow Connector 2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CEFA20DD-522D-41E1-BDC3-4335A2257A5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875EE34-3023-481F-8F79-6AFC09D3CAA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12</a:t>
            </a:r>
          </a:p>
        </p:txBody>
      </p:sp>
      <p:sp>
        <p:nvSpPr>
          <p:cNvPr id="5" name="Rectangle 4">
            <a:extLst xmlns:a="http://schemas.openxmlformats.org/drawingml/2006/main">
              <a:ext uri="{FF2B5EF4-FFF2-40B4-BE49-F238E27FC236}">
                <a16:creationId xmlns:a16="http://schemas.microsoft.com/office/drawing/2014/main" id="{2D5E8979-737F-4A4E-A8D7-A3FE8639F98B}"/>
              </a:ext>
            </a:extLst>
          </p:cNvPr>
          <p:cNvSpPr>
            <a:spLocks xmlns:a="http://schemas.openxmlformats.org/drawingml/2006/main" noGrp="1"/>
          </p:cNvSpPr>
          <p:nvPr/>
        </p:nvSpPr>
        <p:spPr>
          <a:xfrm xmlns:a="http://schemas.openxmlformats.org/drawingml/2006/main">
            <a:off x="571500" y="1381125"/>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Step 1: identify the leakages. Step 2: add their marginal propensities.</a:t>
            </a:r>
          </a:p>
        </p:txBody>
      </p:sp>
      <p:graphicFrame>
        <p:nvGraphicFramePr>
          <p:cNvPr id="43" name="Table 30"/>
          <p:cNvGraphicFramePr/>
          <p:nvPr/>
        </p:nvGraphicFramePr>
        <p:xfrm>
          <a:off xmlns:a="http://schemas.openxmlformats.org/drawingml/2006/main" x="571500" y="2000250"/>
          <a:ext xmlns:a="http://schemas.openxmlformats.org/drawingml/2006/main" cx="11049000" cy="3524250"/>
        </p:xfrm>
        <a:graphic xmlns:a="http://schemas.openxmlformats.org/drawingml/2006/main">
          <a:graphicData uri="http://schemas.openxmlformats.org/drawingml/2006/table">
            <a:tbl>
              <a:tblPr/>
              <a:tblGrid>
                <a:gridCol w="2762250"/>
                <a:gridCol w="2000250"/>
                <a:gridCol w="3305503"/>
                <a:gridCol w="2980997"/>
              </a:tblGrid>
              <a:tr h="704850">
                <a:tc>
                  <a:txBody>
                    <a:bodyPr/>
                    <a:lstStyle/>
                    <a:p>
                      <a:pPr algn="ctr">
                        <a:buNone/>
                      </a:pPr>
                      <a:r>
                        <a:rPr sz="1425" b="1">
                          <a:solidFill>
                            <a:srgbClr val="FFFFFF"/>
                          </a:solidFill>
                          <a:latin typeface="Arial"/>
                          <a:ea typeface="Arial"/>
                          <a:cs typeface="Arial"/>
                        </a:rPr>
                        <a:t>Model</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Leakages</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Marginal propensity to withdraw (MPW)</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Multiplier</a:t>
                      </a:r>
                    </a:p>
                  </a:txBody>
                  <a:tcPr marL="76200" marR="76200" marT="57150" marB="57150" anchor="ctr">
                    <a:solidFill>
                      <a:srgbClr val="000000"/>
                    </a:solidFill>
                  </a:tcPr>
                </a:tc>
              </a:tr>
              <a:tr h="704850">
                <a:tc>
                  <a:txBody>
                    <a:bodyPr/>
                    <a:lstStyle/>
                    <a:p>
                      <a:pPr algn="ctr">
                        <a:buNone/>
                      </a:pPr>
                      <a:r>
                        <a:rPr sz="1575">
                          <a:solidFill>
                            <a:srgbClr val="000000"/>
                          </a:solidFill>
                          <a:latin typeface="Arial"/>
                          <a:ea typeface="Arial"/>
                          <a:cs typeface="Arial"/>
                        </a:rPr>
                        <a:t>Closed,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Closed, with government</a:t>
                      </a:r>
                    </a:p>
                  </a:txBody>
                  <a:tcPr marL="76200" marR="76200" marT="47625" marB="47625" anchor="ctr"/>
                </a:tc>
                <a:tc>
                  <a:txBody>
                    <a:bodyPr/>
                    <a:lstStyle/>
                    <a:p>
                      <a:pPr algn="ctr">
                        <a:buNone/>
                      </a:pPr>
                      <a:r>
                        <a:rPr sz="1575">
                          <a:solidFill>
                            <a:srgbClr val="000000"/>
                          </a:solidFill>
                          <a:latin typeface="Arial"/>
                          <a:ea typeface="Arial"/>
                          <a:cs typeface="Arial"/>
                        </a:rPr>
                        <a:t>S + T</a:t>
                      </a:r>
                    </a:p>
                  </a:txBody>
                  <a:tcPr marL="76200" marR="76200" marT="47625" marB="47625" anchor="ctr"/>
                </a:tc>
                <a:tc>
                  <a:txBody>
                    <a:bodyPr/>
                    <a:lstStyle/>
                    <a:p>
                      <a:pPr algn="ctr">
                        <a:buNone/>
                      </a:pPr>
                      <a:r>
                        <a:rPr sz="1575">
                          <a:solidFill>
                            <a:srgbClr val="000000"/>
                          </a:solidFill>
                          <a:latin typeface="Arial"/>
                          <a:ea typeface="Arial"/>
                          <a:cs typeface="Arial"/>
                        </a:rPr>
                        <a:t>MPS + MRT</a:t>
                      </a:r>
                    </a:p>
                  </a:txBody>
                  <a:tcPr marL="76200" marR="76200" marT="47625" marB="47625" anchor="ctr"/>
                </a:tc>
                <a:tc>
                  <a:txBody>
                    <a:bodyPr/>
                    <a:lstStyle/>
                    <a:p>
                      <a:pPr algn="ctr">
                        <a:buNone/>
                      </a:pPr>
                      <a:r>
                        <a:rPr sz="1725" b="1">
                          <a:solidFill>
                            <a:srgbClr val="3D8DFF"/>
                          </a:solidFill>
                          <a:latin typeface="Arial"/>
                          <a:ea typeface="Arial"/>
                          <a:cs typeface="Arial"/>
                        </a:rPr>
                        <a:t>1 / (MPS + MRT)</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Open,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 + M</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 + MPM</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 + MPM)</a:t>
                      </a:r>
                    </a:p>
                  </a:txBody>
                  <a:tcPr marL="76200" marR="76200" marT="47625" marB="47625" anchor="ctr">
                    <a:solidFill>
                      <a:srgbClr val="EAF5FB"/>
                    </a:solidFill>
                  </a:tcPr>
                </a:tc>
              </a:tr>
              <a:tr h="704850">
                <a:tc>
                  <a:txBody>
                    <a:bodyPr/>
                    <a:lstStyle/>
                    <a:p>
                      <a:pPr algn="ctr">
                        <a:buNone/>
                      </a:pPr>
                      <a:r>
                        <a:rPr sz="1575">
                          <a:solidFill>
                            <a:srgbClr val="000000"/>
                          </a:solidFill>
                          <a:latin typeface="Arial"/>
                          <a:ea typeface="Arial"/>
                          <a:cs typeface="Arial"/>
                        </a:rPr>
                        <a:t>Open, with government</a:t>
                      </a:r>
                    </a:p>
                  </a:txBody>
                  <a:tcPr marL="76200" marR="76200" marT="47625" marB="47625" anchor="ctr"/>
                </a:tc>
                <a:tc>
                  <a:txBody>
                    <a:bodyPr/>
                    <a:lstStyle/>
                    <a:p>
                      <a:pPr algn="ctr">
                        <a:buNone/>
                      </a:pPr>
                      <a:r>
                        <a:rPr sz="1575">
                          <a:solidFill>
                            <a:srgbClr val="000000"/>
                          </a:solidFill>
                          <a:latin typeface="Arial"/>
                          <a:ea typeface="Arial"/>
                          <a:cs typeface="Arial"/>
                        </a:rPr>
                        <a:t>S + T + M</a:t>
                      </a:r>
                    </a:p>
                  </a:txBody>
                  <a:tcPr marL="76200" marR="76200" marT="47625" marB="47625" anchor="ctr"/>
                </a:tc>
                <a:tc>
                  <a:txBody>
                    <a:bodyPr/>
                    <a:lstStyle/>
                    <a:p>
                      <a:pPr algn="ctr">
                        <a:buNone/>
                      </a:pPr>
                      <a:r>
                        <a:rPr sz="1575">
                          <a:solidFill>
                            <a:srgbClr val="000000"/>
                          </a:solidFill>
                          <a:latin typeface="Arial"/>
                          <a:ea typeface="Arial"/>
                          <a:cs typeface="Arial"/>
                        </a:rPr>
                        <a:t>MPS + MRT + MPM</a:t>
                      </a:r>
                    </a:p>
                  </a:txBody>
                  <a:tcPr marL="76200" marR="76200" marT="47625" marB="47625" anchor="ctr"/>
                </a:tc>
                <a:tc>
                  <a:txBody>
                    <a:bodyPr/>
                    <a:lstStyle/>
                    <a:p>
                      <a:pPr algn="ctr">
                        <a:buNone/>
                      </a:pPr>
                      <a:r>
                        <a:rPr sz="1725" b="1">
                          <a:solidFill>
                            <a:srgbClr val="3D8DFF"/>
                          </a:solidFill>
                          <a:latin typeface="Arial"/>
                          <a:ea typeface="Arial"/>
                          <a:cs typeface="Arial"/>
                        </a:rPr>
                        <a:t>1 / </a:t>
                      </a:r>
                      <a:r>
                        <a:rPr sz="1725" b="1">
                          <a:solidFill>
                            <a:srgbClr val="3D8DFF"/>
                          </a:solidFill>
                          <a:latin typeface="Arial"/>
                          <a:ea typeface="Arial"/>
                          <a:cs typeface="Arial"/>
                        </a:rPr>
                        <a:t>(MPS + MRT + MPM)</a:t>
                      </a:r>
                      <a:endParaRPr sz="1725" b="1">
                        <a:solidFill>
                          <a:srgbClr val="3D8DFF"/>
                        </a:solidFill>
                        <a:latin typeface="Arial"/>
                        <a:ea typeface="Arial"/>
                        <a:cs typeface="Arial"/>
                      </a:endParaRPr>
                    </a:p>
                  </a:txBody>
                  <a:tcPr marL="76200" marR="76200" marT="47625" marB="47625" anchor="ctr">
                    <a:solidFill>
                      <a:srgbClr val="EAF5FB"/>
                    </a:solidFill>
                  </a:tcPr>
                </a:tc>
              </a:tr>
            </a:tbl>
          </a:graphicData>
        </a:graphic>
      </p:graphicFrame>
      <p:sp>
        <p:nvSpPr>
          <p:cNvPr id="7" name="Rectangle 6">
            <a:extLst xmlns:a="http://schemas.openxmlformats.org/drawingml/2006/main">
              <a:ext uri="{FF2B5EF4-FFF2-40B4-BE49-F238E27FC236}">
                <a16:creationId xmlns:a16="http://schemas.microsoft.com/office/drawing/2014/main" id="{00E71C89-2E0C-44AB-9757-253316E8ADC6}"/>
              </a:ext>
            </a:extLst>
          </p:cNvPr>
          <p:cNvSpPr>
            <a:spLocks xmlns:a="http://schemas.openxmlformats.org/drawingml/2006/main" noGrp="1"/>
          </p:cNvSpPr>
          <p:nvPr/>
        </p:nvSpPr>
        <p:spPr>
          <a:xfrm xmlns:a="http://schemas.openxmlformats.org/drawingml/2006/main">
            <a:off x="3619500" y="57626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400" b="1" i="0">
                <a:solidFill>
                  <a:srgbClr val="3D8DFF"/>
                </a:solidFill>
                <a:latin typeface="Arial"/>
                <a:ea typeface="Arial"/>
                <a:cs typeface="Arial"/>
              </a:defRPr>
            </a:pPr>
            <a:r>
              <a:rPr sz="2400" b="1" i="0">
                <a:solidFill>
                  <a:srgbClr val="3D8DFF"/>
                </a:solidFill>
                <a:latin typeface="Arial"/>
                <a:ea typeface="Arial"/>
                <a:cs typeface="Arial"/>
              </a:rPr>
              <a:t>General rule: k = 1 / MPW</a:t>
            </a:r>
          </a:p>
        </p:txBody>
      </p:sp>
    </p:spTree>
    <p:extLst>
      <p:ext uri="{BB962C8B-B14F-4D97-AF65-F5344CB8AC3E}">
        <p14:creationId xmlns:p14="http://schemas.microsoft.com/office/powerpoint/2010/main" val="9938428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12-title">
            <a:extLst xmlns:a="http://schemas.openxmlformats.org/drawingml/2006/main">
              <a:ext uri="{FF2B5EF4-FFF2-40B4-BE49-F238E27FC236}">
                <a16:creationId xmlns:a16="http://schemas.microsoft.com/office/drawing/2014/main" id="{DCF9AC5E-1EBC-4FAB-B477-261D2B3532F2}"/>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Worked example: open economy + government</a:t>
            </a:r>
          </a:p>
        </p:txBody>
      </p:sp>
      <p:cxnSp>
        <p:nvCxnSpPr>
          <p:cNvPr id="31" name="Straight Arrow Connector 22"/>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C4661E9A-949B-4796-AE2C-1EC02D67CF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0FAF3A8-78D2-4C78-9CA6-A408C1DF270C}"/>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13</a:t>
            </a:r>
          </a:p>
        </p:txBody>
      </p:sp>
      <p:sp>
        <p:nvSpPr>
          <p:cNvPr id="5" name="Rectangle 4">
            <a:extLst xmlns:a="http://schemas.openxmlformats.org/drawingml/2006/main">
              <a:ext uri="{FF2B5EF4-FFF2-40B4-BE49-F238E27FC236}">
                <a16:creationId xmlns:a16="http://schemas.microsoft.com/office/drawing/2014/main" id="{B8EA1E4C-2486-4210-935A-1A1A680AB961}"/>
              </a:ext>
            </a:extLst>
          </p:cNvPr>
          <p:cNvSpPr>
            <a:spLocks xmlns:a="http://schemas.openxmlformats.org/drawingml/2006/main" noGrp="1"/>
          </p:cNvSpPr>
          <p:nvPr/>
        </p:nvSpPr>
        <p:spPr>
          <a:xfrm xmlns:a="http://schemas.openxmlformats.org/drawingml/2006/main">
            <a:off x="666750" y="16668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GIVEN</a:t>
            </a:r>
          </a:p>
        </p:txBody>
      </p:sp>
      <p:sp>
        <p:nvSpPr>
          <p:cNvPr id="6" name="Rectangle 5">
            <a:extLst xmlns:a="http://schemas.openxmlformats.org/drawingml/2006/main">
              <a:ext uri="{FF2B5EF4-FFF2-40B4-BE49-F238E27FC236}">
                <a16:creationId xmlns:a16="http://schemas.microsoft.com/office/drawing/2014/main" id="{ED29F257-2F8F-4453-9786-21424A64E85B}"/>
              </a:ext>
            </a:extLst>
          </p:cNvPr>
          <p:cNvSpPr>
            <a:spLocks xmlns:a="http://schemas.openxmlformats.org/drawingml/2006/main" noGrp="1"/>
          </p:cNvSpPr>
          <p:nvPr/>
        </p:nvSpPr>
        <p:spPr>
          <a:xfrm xmlns:a="http://schemas.openxmlformats.org/drawingml/2006/main">
            <a:off x="666750" y="2095500"/>
            <a:ext cx="4572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MPS = 0.20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MPM = 0.10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MRT = 0.10</a:t>
            </a:r>
          </a:p>
          <a:p xmlns:a="http://schemas.openxmlformats.org/drawingml/2006/main">
            <a:pPr algn="l">
              <a:buNone/>
              <a:defRPr sz="2400" b="0" i="0">
                <a:solidFill>
                  <a:srgbClr val="000000"/>
                </a:solidFill>
                <a:latin typeface="Arial"/>
                <a:ea typeface="Arial"/>
                <a:cs typeface="Arial"/>
              </a:defRPr>
            </a:pPr>
            <a:r>
              <a:rPr sz="2400" b="0" i="0">
                <a:solidFill>
                  <a:srgbClr val="000000"/>
                </a:solidFill>
                <a:latin typeface="Arial"/>
                <a:ea typeface="Arial"/>
                <a:cs typeface="Arial"/>
              </a:rPr>
              <a:t>Exports rise by £80m</a:t>
            </a:r>
          </a:p>
        </p:txBody>
      </p:sp>
      <p:sp>
        <p:nvSpPr>
          <p:cNvPr id="7" name="Rectangle 6">
            <a:extLst xmlns:a="http://schemas.openxmlformats.org/drawingml/2006/main">
              <a:ext uri="{FF2B5EF4-FFF2-40B4-BE49-F238E27FC236}">
                <a16:creationId xmlns:a16="http://schemas.microsoft.com/office/drawing/2014/main" id="{EC126679-BF7C-4D3E-B728-D92BF63603E6}"/>
              </a:ext>
            </a:extLst>
          </p:cNvPr>
          <p:cNvSpPr>
            <a:spLocks xmlns:a="http://schemas.openxmlformats.org/drawingml/2006/main" noGrp="1"/>
          </p:cNvSpPr>
          <p:nvPr/>
        </p:nvSpPr>
        <p:spPr>
          <a:xfrm xmlns:a="http://schemas.openxmlformats.org/drawingml/2006/main">
            <a:off x="5905500" y="1619250"/>
            <a:ext cx="5334000" cy="33337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8" name="Rectangle 7">
            <a:extLst xmlns:a="http://schemas.openxmlformats.org/drawingml/2006/main">
              <a:ext uri="{FF2B5EF4-FFF2-40B4-BE49-F238E27FC236}">
                <a16:creationId xmlns:a16="http://schemas.microsoft.com/office/drawing/2014/main" id="{490D38FE-7168-489B-826E-530FB65FD009}"/>
              </a:ext>
            </a:extLst>
          </p:cNvPr>
          <p:cNvSpPr>
            <a:spLocks xmlns:a="http://schemas.openxmlformats.org/drawingml/2006/main" noGrp="1"/>
          </p:cNvSpPr>
          <p:nvPr/>
        </p:nvSpPr>
        <p:spPr>
          <a:xfrm xmlns:a="http://schemas.openxmlformats.org/drawingml/2006/main">
            <a:off x="6381750" y="2047875"/>
            <a:ext cx="4381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1  MPW = 0.20 + 0.10 + 0.10 = 0.40</a:t>
            </a:r>
          </a:p>
          <a:p xmlns:a="http://schemas.openxmlformats.org/drawingml/2006/main">
            <a:endParaRPr sz="2250" b="1" i="0">
              <a:solidFill>
                <a:srgbClr val="000000"/>
              </a:solidFill>
              <a:latin typeface="Arial"/>
              <a:ea typeface="Arial"/>
              <a:cs typeface="Arial"/>
            </a:endParaRPr>
          </a:p>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2  k = 1 / 0.40 = 2.5</a:t>
            </a:r>
          </a:p>
          <a:p xmlns:a="http://schemas.openxmlformats.org/drawingml/2006/main">
            <a:endParaRPr sz="2250" b="1" i="0">
              <a:solidFill>
                <a:srgbClr val="000000"/>
              </a:solidFill>
              <a:latin typeface="Arial"/>
              <a:ea typeface="Arial"/>
              <a:cs typeface="Arial"/>
            </a:endParaRPr>
          </a:p>
          <a:p xmlns:a="http://schemas.openxmlformats.org/drawingml/2006/main">
            <a:pPr algn="l">
              <a:buNone/>
              <a:defRPr sz="2250" b="1" i="0">
                <a:solidFill>
                  <a:srgbClr val="000000"/>
                </a:solidFill>
                <a:latin typeface="Arial"/>
                <a:ea typeface="Arial"/>
                <a:cs typeface="Arial"/>
              </a:defRPr>
            </a:pPr>
            <a:r>
              <a:rPr sz="2250" b="1" i="0">
                <a:solidFill>
                  <a:srgbClr val="000000"/>
                </a:solidFill>
                <a:latin typeface="Arial"/>
                <a:ea typeface="Arial"/>
                <a:cs typeface="Arial"/>
              </a:rPr>
              <a:t>3  ΔY = 2.5 × £80m = £200m</a:t>
            </a:r>
          </a:p>
        </p:txBody>
      </p:sp>
      <p:sp>
        <p:nvSpPr>
          <p:cNvPr id="9" name="Rectangle 8">
            <a:extLst xmlns:a="http://schemas.openxmlformats.org/drawingml/2006/main">
              <a:ext uri="{FF2B5EF4-FFF2-40B4-BE49-F238E27FC236}">
                <a16:creationId xmlns:a16="http://schemas.microsoft.com/office/drawing/2014/main" id="{B06617D2-7B0F-4F85-B140-1F50940220F1}"/>
              </a:ext>
            </a:extLst>
          </p:cNvPr>
          <p:cNvSpPr>
            <a:spLocks xmlns:a="http://schemas.openxmlformats.org/drawingml/2006/main" noGrp="1"/>
          </p:cNvSpPr>
          <p:nvPr/>
        </p:nvSpPr>
        <p:spPr>
          <a:xfrm xmlns:a="http://schemas.openxmlformats.org/drawingml/2006/main">
            <a:off x="1524000" y="5476874"/>
            <a:ext cx="9144000" cy="9176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Interpretation: every £1 of new exports creates £2.50 of national income.</a:t>
            </a:r>
          </a:p>
        </p:txBody>
      </p:sp>
    </p:spTree>
    <p:extLst>
      <p:ext uri="{BB962C8B-B14F-4D97-AF65-F5344CB8AC3E}">
        <p14:creationId xmlns:p14="http://schemas.microsoft.com/office/powerpoint/2010/main" val="18443387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3-title">
            <a:extLst xmlns:a="http://schemas.openxmlformats.org/drawingml/2006/main">
              <a:ext uri="{FF2B5EF4-FFF2-40B4-BE49-F238E27FC236}">
                <a16:creationId xmlns:a16="http://schemas.microsoft.com/office/drawing/2014/main" id="{23198C81-EB4C-44BA-BA43-F024D2415E3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Calculate.</a:t>
            </a:r>
            <a:endParaRPr sz="3600" b="1" i="0">
              <a:solidFill>
                <a:srgbClr val="000000"/>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2404B457-AB84-4078-8C06-DCE72B244039}"/>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9CBA21F6-D080-4B5E-AFCA-0F4893852DF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14</a:t>
            </a:r>
          </a:p>
        </p:txBody>
      </p:sp>
      <p:cxnSp>
        <p:nvCxnSpPr>
          <p:cNvPr id="79" name="Straight Arrow Connector 56"/>
          <p:cNvCxnSpPr/>
          <p:nvPr/>
        </p:nvCxnSpPr>
        <p:spPr>
          <a:xfrm xmlns:a="http://schemas.openxmlformats.org/drawingml/2006/main">
            <a:off x="4095750" y="1809750"/>
            <a:ext cx="95" cy="3857625"/>
          </a:xfrm>
          <a:prstGeom xmlns:a="http://schemas.openxmlformats.org/drawingml/2006/main" prst="straightConnector1">
            <a:avLst/>
          </a:prstGeom>
          <a:ln xmlns:a="http://schemas.openxmlformats.org/drawingml/2006/main" w="9525">
            <a:solidFill>
              <a:srgbClr val="B8BCC4"/>
            </a:solidFill>
            <a:prstDash val="solid"/>
          </a:ln>
        </p:spPr>
      </p:cxnSp>
      <p:cxnSp>
        <p:nvCxnSpPr>
          <p:cNvPr id="80" name="Straight Arrow Connector 57"/>
          <p:cNvCxnSpPr/>
          <p:nvPr/>
        </p:nvCxnSpPr>
        <p:spPr>
          <a:xfrm xmlns:a="http://schemas.openxmlformats.org/drawingml/2006/main">
            <a:off x="8096250" y="1809750"/>
            <a:ext cx="95" cy="3857625"/>
          </a:xfrm>
          <a:prstGeom xmlns:a="http://schemas.openxmlformats.org/drawingml/2006/main" prst="straightConnector1">
            <a:avLst/>
          </a:prstGeom>
          <a:ln xmlns:a="http://schemas.openxmlformats.org/drawingml/2006/main" w="9525">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4D5D0D1C-9588-4397-B951-686C94EFF9EB}"/>
              </a:ext>
            </a:extLst>
          </p:cNvPr>
          <p:cNvSpPr>
            <a:spLocks xmlns:a="http://schemas.openxmlformats.org/drawingml/2006/main" noGrp="1"/>
          </p:cNvSpPr>
          <p:nvPr/>
        </p:nvSpPr>
        <p:spPr>
          <a:xfrm xmlns:a="http://schemas.openxmlformats.org/drawingml/2006/main">
            <a:off x="6667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1</a:t>
            </a:r>
          </a:p>
        </p:txBody>
      </p:sp>
      <p:sp>
        <p:nvSpPr>
          <p:cNvPr id="8" name="Rectangle 7">
            <a:extLst xmlns:a="http://schemas.openxmlformats.org/drawingml/2006/main">
              <a:ext uri="{FF2B5EF4-FFF2-40B4-BE49-F238E27FC236}">
                <a16:creationId xmlns:a16="http://schemas.microsoft.com/office/drawing/2014/main" id="{2F4EAD5D-AA17-45C7-A624-A9598EF31FC4}"/>
              </a:ext>
            </a:extLst>
          </p:cNvPr>
          <p:cNvSpPr>
            <a:spLocks xmlns:a="http://schemas.openxmlformats.org/drawingml/2006/main" noGrp="1"/>
          </p:cNvSpPr>
          <p:nvPr/>
        </p:nvSpPr>
        <p:spPr>
          <a:xfrm xmlns:a="http://schemas.openxmlformats.org/drawingml/2006/main">
            <a:off x="6667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Open, no government</a:t>
            </a:r>
          </a:p>
        </p:txBody>
      </p:sp>
      <p:sp>
        <p:nvSpPr>
          <p:cNvPr id="9" name="Rectangle 8">
            <a:extLst xmlns:a="http://schemas.openxmlformats.org/drawingml/2006/main">
              <a:ext uri="{FF2B5EF4-FFF2-40B4-BE49-F238E27FC236}">
                <a16:creationId xmlns:a16="http://schemas.microsoft.com/office/drawing/2014/main" id="{2E3C24B2-FD75-4FD2-8A07-7D21B1F5845E}"/>
              </a:ext>
            </a:extLst>
          </p:cNvPr>
          <p:cNvSpPr>
            <a:spLocks xmlns:a="http://schemas.openxmlformats.org/drawingml/2006/main" noGrp="1"/>
          </p:cNvSpPr>
          <p:nvPr/>
        </p:nvSpPr>
        <p:spPr>
          <a:xfrm xmlns:a="http://schemas.openxmlformats.org/drawingml/2006/main">
            <a:off x="6667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1/6</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MPM = 1/3</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a:t>
            </a:r>
          </a:p>
        </p:txBody>
      </p:sp>
      <p:sp>
        <p:nvSpPr>
          <p:cNvPr id="10" name="Oval 9">
            <a:extLst xmlns:a="http://schemas.openxmlformats.org/drawingml/2006/main">
              <a:ext uri="{FF2B5EF4-FFF2-40B4-BE49-F238E27FC236}">
                <a16:creationId xmlns:a16="http://schemas.microsoft.com/office/drawing/2014/main" id="{A4F509BC-2F34-4E9F-9B2D-E7A017B487A5}"/>
              </a:ext>
            </a:extLst>
          </p:cNvPr>
          <p:cNvSpPr>
            <a:spLocks xmlns:a="http://schemas.openxmlformats.org/drawingml/2006/main" noGrp="1"/>
          </p:cNvSpPr>
          <p:nvPr/>
        </p:nvSpPr>
        <p:spPr>
          <a:xfrm xmlns:a="http://schemas.openxmlformats.org/drawingml/2006/main">
            <a:off x="44767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2</a:t>
            </a:r>
          </a:p>
        </p:txBody>
      </p:sp>
      <p:sp>
        <p:nvSpPr>
          <p:cNvPr id="11" name="Rectangle 10">
            <a:extLst xmlns:a="http://schemas.openxmlformats.org/drawingml/2006/main">
              <a:ext uri="{FF2B5EF4-FFF2-40B4-BE49-F238E27FC236}">
                <a16:creationId xmlns:a16="http://schemas.microsoft.com/office/drawing/2014/main" id="{A5748D55-96C6-46EC-8DC3-84DDA3E1F553}"/>
              </a:ext>
            </a:extLst>
          </p:cNvPr>
          <p:cNvSpPr>
            <a:spLocks xmlns:a="http://schemas.openxmlformats.org/drawingml/2006/main" noGrp="1"/>
          </p:cNvSpPr>
          <p:nvPr/>
        </p:nvSpPr>
        <p:spPr>
          <a:xfrm xmlns:a="http://schemas.openxmlformats.org/drawingml/2006/main">
            <a:off x="44767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Closed, no government</a:t>
            </a:r>
          </a:p>
        </p:txBody>
      </p:sp>
      <p:sp>
        <p:nvSpPr>
          <p:cNvPr id="12" name="Rectangle 11">
            <a:extLst xmlns:a="http://schemas.openxmlformats.org/drawingml/2006/main">
              <a:ext uri="{FF2B5EF4-FFF2-40B4-BE49-F238E27FC236}">
                <a16:creationId xmlns:a16="http://schemas.microsoft.com/office/drawing/2014/main" id="{E5A76F3D-E95A-4FA3-9530-DE95ECD4CAA3}"/>
              </a:ext>
            </a:extLst>
          </p:cNvPr>
          <p:cNvSpPr>
            <a:spLocks xmlns:a="http://schemas.openxmlformats.org/drawingml/2006/main" noGrp="1"/>
          </p:cNvSpPr>
          <p:nvPr/>
        </p:nvSpPr>
        <p:spPr>
          <a:xfrm xmlns:a="http://schemas.openxmlformats.org/drawingml/2006/main">
            <a:off x="44767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Initial Y = $5,000m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0.20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Investment rises by $1,000m.</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 and ΔY.</a:t>
            </a:r>
          </a:p>
        </p:txBody>
      </p:sp>
      <p:sp>
        <p:nvSpPr>
          <p:cNvPr id="13" name="Oval 12">
            <a:extLst xmlns:a="http://schemas.openxmlformats.org/drawingml/2006/main">
              <a:ext uri="{FF2B5EF4-FFF2-40B4-BE49-F238E27FC236}">
                <a16:creationId xmlns:a16="http://schemas.microsoft.com/office/drawing/2014/main" id="{6DC1BF5E-DF46-4763-A3F3-444F6B958088}"/>
              </a:ext>
            </a:extLst>
          </p:cNvPr>
          <p:cNvSpPr>
            <a:spLocks xmlns:a="http://schemas.openxmlformats.org/drawingml/2006/main" noGrp="1"/>
          </p:cNvSpPr>
          <p:nvPr/>
        </p:nvSpPr>
        <p:spPr>
          <a:xfrm xmlns:a="http://schemas.openxmlformats.org/drawingml/2006/main">
            <a:off x="8477250" y="1952625"/>
            <a:ext cx="590550" cy="5905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950" b="1">
                <a:solidFill>
                  <a:srgbClr val="000000"/>
                </a:solidFill>
                <a:latin typeface="Arial"/>
                <a:ea typeface="Arial"/>
                <a:cs typeface="Arial"/>
              </a:defRPr>
            </a:pPr>
            <a:r>
              <a:rPr sz="1950" b="1">
                <a:solidFill>
                  <a:srgbClr val="000000"/>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B76773F9-7A76-43A3-951B-557E47F42D66}"/>
              </a:ext>
            </a:extLst>
          </p:cNvPr>
          <p:cNvSpPr>
            <a:spLocks xmlns:a="http://schemas.openxmlformats.org/drawingml/2006/main" noGrp="1"/>
          </p:cNvSpPr>
          <p:nvPr/>
        </p:nvSpPr>
        <p:spPr>
          <a:xfrm xmlns:a="http://schemas.openxmlformats.org/drawingml/2006/main">
            <a:off x="8477250" y="28098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1" i="0">
                <a:solidFill>
                  <a:srgbClr val="000000"/>
                </a:solidFill>
                <a:latin typeface="Arial"/>
                <a:ea typeface="Arial"/>
                <a:cs typeface="Arial"/>
              </a:defRPr>
            </a:pPr>
            <a:r>
              <a:rPr sz="1875">
                <a:solidFill>
                  <a:srgbClr val="000000"/>
                </a:solidFill>
                <a:latin typeface="Arial"/>
                <a:ea typeface="Arial"/>
                <a:cs typeface="Arial"/>
              </a:rPr>
              <a:t>Open, with government</a:t>
            </a:r>
          </a:p>
        </p:txBody>
      </p:sp>
      <p:sp>
        <p:nvSpPr>
          <p:cNvPr id="15" name="Rectangle 14">
            <a:extLst xmlns:a="http://schemas.openxmlformats.org/drawingml/2006/main">
              <a:ext uri="{FF2B5EF4-FFF2-40B4-BE49-F238E27FC236}">
                <a16:creationId xmlns:a16="http://schemas.microsoft.com/office/drawing/2014/main" id="{6A5D6D39-3157-4847-B2EF-289AAB5ABE35}"/>
              </a:ext>
            </a:extLst>
          </p:cNvPr>
          <p:cNvSpPr>
            <a:spLocks xmlns:a="http://schemas.openxmlformats.org/drawingml/2006/main" noGrp="1"/>
          </p:cNvSpPr>
          <p:nvPr/>
        </p:nvSpPr>
        <p:spPr>
          <a:xfrm xmlns:a="http://schemas.openxmlformats.org/drawingml/2006/main">
            <a:off x="8477250" y="3619500"/>
            <a:ext cx="2952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MPS = 0.20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MPM = 0.30</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MRT = 0.30</a:t>
            </a:r>
          </a:p>
          <a:p xmlns:a="http://schemas.openxmlformats.org/drawingml/2006/main">
            <a:pPr algn="l">
              <a:buNone/>
              <a:defRPr sz="1875" b="0" i="0">
                <a:solidFill>
                  <a:srgbClr val="000000"/>
                </a:solidFill>
                <a:latin typeface="Arial"/>
                <a:ea typeface="Arial"/>
                <a:cs typeface="Arial"/>
              </a:defRPr>
            </a:pPr>
            <a:r>
              <a:rPr sz="1875" b="1" i="0">
                <a:solidFill>
                  <a:srgbClr val="000000"/>
                </a:solidFill>
                <a:latin typeface="Arial"/>
                <a:ea typeface="Arial"/>
                <a:cs typeface="Arial"/>
              </a:rPr>
              <a:t>Find k.</a:t>
            </a:r>
          </a:p>
        </p:txBody>
      </p:sp>
    </p:spTree>
    <p:extLst>
      <p:ext uri="{BB962C8B-B14F-4D97-AF65-F5344CB8AC3E}">
        <p14:creationId xmlns:p14="http://schemas.microsoft.com/office/powerpoint/2010/main" val="7642403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4-title">
            <a:extLst xmlns:a="http://schemas.openxmlformats.org/drawingml/2006/main">
              <a:ext uri="{FF2B5EF4-FFF2-40B4-BE49-F238E27FC236}">
                <a16:creationId xmlns:a16="http://schemas.microsoft.com/office/drawing/2014/main" id="{E4CCF6C8-5DD2-466A-A904-EFD3ACDDAAA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Check the answer</a:t>
            </a:r>
          </a:p>
        </p:txBody>
      </p:sp>
      <p:sp>
        <p:nvSpPr>
          <p:cNvPr id="3" name="Rectangle 2">
            <a:extLst xmlns:a="http://schemas.openxmlformats.org/drawingml/2006/main">
              <a:ext uri="{FF2B5EF4-FFF2-40B4-BE49-F238E27FC236}">
                <a16:creationId xmlns:a16="http://schemas.microsoft.com/office/drawing/2014/main" id="{D85D3323-90DE-42D6-A56F-E6C562700C3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4EA3BD6D-4128-499C-92CE-8F1505B9D13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15</a:t>
            </a:r>
          </a:p>
        </p:txBody>
      </p:sp>
      <p:sp>
        <p:nvSpPr>
          <p:cNvPr id="5" name="Rectangle 4">
            <a:extLst xmlns:a="http://schemas.openxmlformats.org/drawingml/2006/main">
              <a:ext uri="{FF2B5EF4-FFF2-40B4-BE49-F238E27FC236}">
                <a16:creationId xmlns:a16="http://schemas.microsoft.com/office/drawing/2014/main" id="{E41EA2DA-C5EF-48DA-AE77-9E6E828D7BCB}"/>
              </a:ext>
            </a:extLst>
          </p:cNvPr>
          <p:cNvSpPr>
            <a:spLocks xmlns:a="http://schemas.openxmlformats.org/drawingml/2006/main" noGrp="1"/>
          </p:cNvSpPr>
          <p:nvPr/>
        </p:nvSpPr>
        <p:spPr>
          <a:xfrm xmlns:a="http://schemas.openxmlformats.org/drawingml/2006/main">
            <a:off x="66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F5093B20-43FB-42A1-9D8E-D2B9AA7BAE5D}"/>
              </a:ext>
            </a:extLst>
          </p:cNvPr>
          <p:cNvSpPr>
            <a:spLocks xmlns:a="http://schemas.openxmlformats.org/drawingml/2006/main" noGrp="1"/>
          </p:cNvSpPr>
          <p:nvPr/>
        </p:nvSpPr>
        <p:spPr>
          <a:xfrm xmlns:a="http://schemas.openxmlformats.org/drawingml/2006/main">
            <a:off x="66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1/6 + 1/3 = 1/2</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1/2 = 2</a:t>
            </a:r>
          </a:p>
        </p:txBody>
      </p:sp>
      <p:cxnSp>
        <p:nvCxnSpPr>
          <p:cNvPr id="171" name="Straight Arrow Connector 112"/>
          <p:cNvCxnSpPr/>
          <p:nvPr/>
        </p:nvCxnSpPr>
        <p:spPr>
          <a:xfrm xmlns:a="http://schemas.openxmlformats.org/drawingml/2006/main">
            <a:off x="66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62B5163-CF53-4634-978D-F23AE8988A2C}"/>
              </a:ext>
            </a:extLst>
          </p:cNvPr>
          <p:cNvSpPr>
            <a:spLocks xmlns:a="http://schemas.openxmlformats.org/drawingml/2006/main" noGrp="1"/>
          </p:cNvSpPr>
          <p:nvPr/>
        </p:nvSpPr>
        <p:spPr>
          <a:xfrm xmlns:a="http://schemas.openxmlformats.org/drawingml/2006/main">
            <a:off x="66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count because the economy is open.</a:t>
            </a:r>
          </a:p>
        </p:txBody>
      </p:sp>
      <p:sp>
        <p:nvSpPr>
          <p:cNvPr id="9" name="Rectangle 8">
            <a:extLst xmlns:a="http://schemas.openxmlformats.org/drawingml/2006/main">
              <a:ext uri="{FF2B5EF4-FFF2-40B4-BE49-F238E27FC236}">
                <a16:creationId xmlns:a16="http://schemas.microsoft.com/office/drawing/2014/main" id="{96F4C155-9833-4C75-A63C-7D8C50E369A8}"/>
              </a:ext>
            </a:extLst>
          </p:cNvPr>
          <p:cNvSpPr>
            <a:spLocks xmlns:a="http://schemas.openxmlformats.org/drawingml/2006/main" noGrp="1"/>
          </p:cNvSpPr>
          <p:nvPr/>
        </p:nvSpPr>
        <p:spPr>
          <a:xfrm xmlns:a="http://schemas.openxmlformats.org/drawingml/2006/main">
            <a:off x="447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4EB8501D-E723-4476-A323-2D7A320958AE}"/>
              </a:ext>
            </a:extLst>
          </p:cNvPr>
          <p:cNvSpPr>
            <a:spLocks xmlns:a="http://schemas.openxmlformats.org/drawingml/2006/main" noGrp="1"/>
          </p:cNvSpPr>
          <p:nvPr/>
        </p:nvSpPr>
        <p:spPr>
          <a:xfrm xmlns:a="http://schemas.openxmlformats.org/drawingml/2006/main">
            <a:off x="447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0.20 = 5</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ΔY = 5 × $1,000m = $5,000m</a:t>
            </a:r>
          </a:p>
        </p:txBody>
      </p:sp>
      <p:cxnSp>
        <p:nvCxnSpPr>
          <p:cNvPr id="175" name="Straight Arrow Connector 116"/>
          <p:cNvCxnSpPr/>
          <p:nvPr/>
        </p:nvCxnSpPr>
        <p:spPr>
          <a:xfrm xmlns:a="http://schemas.openxmlformats.org/drawingml/2006/main">
            <a:off x="447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Rectangle 11">
            <a:extLst xmlns:a="http://schemas.openxmlformats.org/drawingml/2006/main">
              <a:ext uri="{FF2B5EF4-FFF2-40B4-BE49-F238E27FC236}">
                <a16:creationId xmlns:a16="http://schemas.microsoft.com/office/drawing/2014/main" id="{3149D24B-F194-4A9B-B9B5-16E8705032AE}"/>
              </a:ext>
            </a:extLst>
          </p:cNvPr>
          <p:cNvSpPr>
            <a:spLocks xmlns:a="http://schemas.openxmlformats.org/drawingml/2006/main" noGrp="1"/>
          </p:cNvSpPr>
          <p:nvPr/>
        </p:nvSpPr>
        <p:spPr>
          <a:xfrm xmlns:a="http://schemas.openxmlformats.org/drawingml/2006/main">
            <a:off x="447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The $5,000m initial income is not part of ΔY.</a:t>
            </a:r>
          </a:p>
        </p:txBody>
      </p:sp>
      <p:sp>
        <p:nvSpPr>
          <p:cNvPr id="13" name="Rectangle 12">
            <a:extLst xmlns:a="http://schemas.openxmlformats.org/drawingml/2006/main">
              <a:ext uri="{FF2B5EF4-FFF2-40B4-BE49-F238E27FC236}">
                <a16:creationId xmlns:a16="http://schemas.microsoft.com/office/drawing/2014/main" id="{AEA9E4BE-E4F0-445C-8798-6CCCB8D98084}"/>
              </a:ext>
            </a:extLst>
          </p:cNvPr>
          <p:cNvSpPr>
            <a:spLocks xmlns:a="http://schemas.openxmlformats.org/drawingml/2006/main" noGrp="1"/>
          </p:cNvSpPr>
          <p:nvPr/>
        </p:nvSpPr>
        <p:spPr>
          <a:xfrm xmlns:a="http://schemas.openxmlformats.org/drawingml/2006/main">
            <a:off x="8286750" y="1666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850" b="1" i="0">
                <a:solidFill>
                  <a:srgbClr val="3D8DFF"/>
                </a:solidFill>
                <a:latin typeface="Arial"/>
                <a:ea typeface="Arial"/>
                <a:cs typeface="Arial"/>
              </a:defRPr>
            </a:pPr>
            <a:r>
              <a:rPr sz="2850" b="1" i="0">
                <a:solidFill>
                  <a:srgbClr val="3D8DFF"/>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F9ED7BCF-E06F-46D4-BC80-1D0AAD686FCF}"/>
              </a:ext>
            </a:extLst>
          </p:cNvPr>
          <p:cNvSpPr>
            <a:spLocks xmlns:a="http://schemas.openxmlformats.org/drawingml/2006/main" noGrp="1"/>
          </p:cNvSpPr>
          <p:nvPr/>
        </p:nvSpPr>
        <p:spPr>
          <a:xfrm xmlns:a="http://schemas.openxmlformats.org/drawingml/2006/main">
            <a:off x="8286750" y="2333625"/>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0.20 + 0.30 + 0.30 = 0.80</a:t>
            </a:r>
          </a:p>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0.80 = 1.25</a:t>
            </a:r>
          </a:p>
        </p:txBody>
      </p:sp>
      <p:cxnSp>
        <p:nvCxnSpPr>
          <p:cNvPr id="179" name="Straight Arrow Connector 120"/>
          <p:cNvCxnSpPr/>
          <p:nvPr/>
        </p:nvCxnSpPr>
        <p:spPr>
          <a:xfrm xmlns:a="http://schemas.openxmlformats.org/drawingml/2006/main">
            <a:off x="8286750" y="4000500"/>
            <a:ext cx="314325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Rectangle 15">
            <a:extLst xmlns:a="http://schemas.openxmlformats.org/drawingml/2006/main">
              <a:ext uri="{FF2B5EF4-FFF2-40B4-BE49-F238E27FC236}">
                <a16:creationId xmlns:a16="http://schemas.microsoft.com/office/drawing/2014/main" id="{45B901F1-E066-4126-BD98-20114100C9DE}"/>
              </a:ext>
            </a:extLst>
          </p:cNvPr>
          <p:cNvSpPr>
            <a:spLocks xmlns:a="http://schemas.openxmlformats.org/drawingml/2006/main" noGrp="1"/>
          </p:cNvSpPr>
          <p:nvPr/>
        </p:nvSpPr>
        <p:spPr>
          <a:xfrm xmlns:a="http://schemas.openxmlformats.org/drawingml/2006/main">
            <a:off x="8286750" y="42862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Add marginal leakages before inverting.</a:t>
            </a:r>
          </a:p>
        </p:txBody>
      </p:sp>
    </p:spTree>
    <p:extLst>
      <p:ext uri="{BB962C8B-B14F-4D97-AF65-F5344CB8AC3E}">
        <p14:creationId xmlns:p14="http://schemas.microsoft.com/office/powerpoint/2010/main" val="7658595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15-title">
            <a:extLst xmlns:a="http://schemas.openxmlformats.org/drawingml/2006/main">
              <a:ext uri="{FF2B5EF4-FFF2-40B4-BE49-F238E27FC236}">
                <a16:creationId xmlns:a16="http://schemas.microsoft.com/office/drawing/2014/main" id="{2CB795C1-8ADB-4B01-9761-E1095C89F6D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Exit ticket</a:t>
            </a:r>
          </a:p>
        </p:txBody>
      </p:sp>
      <p:sp>
        <p:nvSpPr>
          <p:cNvPr id="3" name="Rectangle 2">
            <a:extLst xmlns:a="http://schemas.openxmlformats.org/drawingml/2006/main">
              <a:ext uri="{FF2B5EF4-FFF2-40B4-BE49-F238E27FC236}">
                <a16:creationId xmlns:a16="http://schemas.microsoft.com/office/drawing/2014/main" id="{1234C856-A521-4AFD-A245-726D1F92F33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9284279-11D0-4CAC-9210-E6A565FA8F68}"/>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16</a:t>
            </a:r>
          </a:p>
        </p:txBody>
      </p:sp>
      <p:sp>
        <p:nvSpPr>
          <p:cNvPr id="5" name="Rectangle 4">
            <a:extLst xmlns:a="http://schemas.openxmlformats.org/drawingml/2006/main">
              <a:ext uri="{FF2B5EF4-FFF2-40B4-BE49-F238E27FC236}">
                <a16:creationId xmlns:a16="http://schemas.microsoft.com/office/drawing/2014/main" id="{B99ECCCB-9315-41D0-B1C2-DC2864969AD3}"/>
              </a:ext>
            </a:extLst>
          </p:cNvPr>
          <p:cNvSpPr>
            <a:spLocks xmlns:a="http://schemas.openxmlformats.org/drawingml/2006/main" noGrp="1"/>
          </p:cNvSpPr>
          <p:nvPr/>
        </p:nvSpPr>
        <p:spPr>
          <a:xfrm xmlns:a="http://schemas.openxmlformats.org/drawingml/2006/main">
            <a:off x="857250" y="18097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A6913887-CBF5-4869-8DC6-BAE414364D1E}"/>
              </a:ext>
            </a:extLst>
          </p:cNvPr>
          <p:cNvSpPr>
            <a:spLocks xmlns:a="http://schemas.openxmlformats.org/drawingml/2006/main" noGrp="1"/>
          </p:cNvSpPr>
          <p:nvPr/>
        </p:nvSpPr>
        <p:spPr>
          <a:xfrm xmlns:a="http://schemas.openxmlformats.org/drawingml/2006/main">
            <a:off x="1714500" y="1809750"/>
            <a:ext cx="904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0" i="0">
                <a:solidFill>
                  <a:srgbClr val="000000"/>
                </a:solidFill>
                <a:latin typeface="Arial"/>
                <a:ea typeface="Arial"/>
                <a:cs typeface="Arial"/>
              </a:defRPr>
            </a:pPr>
            <a:r>
              <a:rPr sz="2175" b="0" i="0">
                <a:solidFill>
                  <a:srgbClr val="000000"/>
                </a:solidFill>
                <a:latin typeface="Arial"/>
                <a:ea typeface="Arial"/>
                <a:cs typeface="Arial"/>
              </a:rPr>
              <a:t>Define the multiplier in one precise sentence.</a:t>
            </a:r>
          </a:p>
        </p:txBody>
      </p:sp>
      <p:sp>
        <p:nvSpPr>
          <p:cNvPr id="8" name="Rectangle 7">
            <a:extLst xmlns:a="http://schemas.openxmlformats.org/drawingml/2006/main">
              <a:ext uri="{FF2B5EF4-FFF2-40B4-BE49-F238E27FC236}">
                <a16:creationId xmlns:a16="http://schemas.microsoft.com/office/drawing/2014/main" id="{B7009BE8-ED95-4F24-8712-5C2F500C44E5}"/>
              </a:ext>
            </a:extLst>
          </p:cNvPr>
          <p:cNvSpPr>
            <a:spLocks xmlns:a="http://schemas.openxmlformats.org/drawingml/2006/main" noGrp="1"/>
          </p:cNvSpPr>
          <p:nvPr/>
        </p:nvSpPr>
        <p:spPr>
          <a:xfrm xmlns:a="http://schemas.openxmlformats.org/drawingml/2006/main">
            <a:off x="857250" y="309562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A13B2CF3-3395-489E-8075-3508F679ECD2}"/>
              </a:ext>
            </a:extLst>
          </p:cNvPr>
          <p:cNvSpPr>
            <a:spLocks xmlns:a="http://schemas.openxmlformats.org/drawingml/2006/main" noGrp="1"/>
          </p:cNvSpPr>
          <p:nvPr/>
        </p:nvSpPr>
        <p:spPr>
          <a:xfrm xmlns:a="http://schemas.openxmlformats.org/drawingml/2006/main">
            <a:off x="1714500" y="3095625"/>
            <a:ext cx="904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0" i="0">
                <a:solidFill>
                  <a:srgbClr val="000000"/>
                </a:solidFill>
                <a:latin typeface="Arial"/>
                <a:ea typeface="Arial"/>
                <a:cs typeface="Arial"/>
              </a:defRPr>
            </a:pPr>
            <a:r>
              <a:rPr sz="2175" b="0" i="0">
                <a:solidFill>
                  <a:srgbClr val="000000"/>
                </a:solidFill>
                <a:latin typeface="Arial"/>
                <a:ea typeface="Arial"/>
                <a:cs typeface="Arial"/>
              </a:rPr>
              <a:t>Explain why larger leakages make the multiplier smaller.</a:t>
            </a:r>
          </a:p>
        </p:txBody>
      </p:sp>
      <p:sp>
        <p:nvSpPr>
          <p:cNvPr id="11" name="Rectangle 10">
            <a:extLst xmlns:a="http://schemas.openxmlformats.org/drawingml/2006/main">
              <a:ext uri="{FF2B5EF4-FFF2-40B4-BE49-F238E27FC236}">
                <a16:creationId xmlns:a16="http://schemas.microsoft.com/office/drawing/2014/main" id="{C0B947A4-8CEB-455B-8F6E-957ADF74E90C}"/>
              </a:ext>
            </a:extLst>
          </p:cNvPr>
          <p:cNvSpPr>
            <a:spLocks xmlns:a="http://schemas.openxmlformats.org/drawingml/2006/main" noGrp="1"/>
          </p:cNvSpPr>
          <p:nvPr/>
        </p:nvSpPr>
        <p:spPr>
          <a:xfrm xmlns:a="http://schemas.openxmlformats.org/drawingml/2006/main">
            <a:off x="857250" y="43815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FA8785F5-2287-4DFE-BEEB-272305FF8875}"/>
              </a:ext>
            </a:extLst>
          </p:cNvPr>
          <p:cNvSpPr>
            <a:spLocks xmlns:a="http://schemas.openxmlformats.org/drawingml/2006/main" noGrp="1"/>
          </p:cNvSpPr>
          <p:nvPr/>
        </p:nvSpPr>
        <p:spPr>
          <a:xfrm xmlns:a="http://schemas.openxmlformats.org/drawingml/2006/main">
            <a:off x="1714500" y="4381500"/>
            <a:ext cx="904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175">
                <a:solidFill>
                  <a:srgbClr val="000000"/>
                </a:solidFill>
                <a:latin typeface="Arial"/>
                <a:ea typeface="Arial"/>
                <a:cs typeface="Arial"/>
              </a:rPr>
              <a:t>An open economy has MPS = 0.15, MPM = 0.20 and MRT = 0.15. Calculate k.</a:t>
            </a:r>
          </a:p>
        </p:txBody>
      </p:sp>
    </p:spTree>
    <p:extLst>
      <p:ext uri="{BB962C8B-B14F-4D97-AF65-F5344CB8AC3E}">
        <p14:creationId xmlns:p14="http://schemas.microsoft.com/office/powerpoint/2010/main" val="1660482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BE5BD9DC-E7FC-4F11-A8B2-0354D70E032C}"/>
              </a:ext>
            </a:extLst>
          </p:cNvPr>
          <p:cNvSpPr>
            <a:spLocks xmlns:a="http://schemas.openxmlformats.org/drawingml/2006/main" noGrp="1"/>
          </p:cNvSpPr>
          <p:nvPr/>
        </p:nvSpPr>
        <p:spPr>
          <a:xfrm xmlns:a="http://schemas.openxmlformats.org/drawingml/2006/main">
            <a:off x="571500" y="590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2</a:t>
            </a:r>
          </a:p>
        </p:txBody>
      </p:sp>
      <p:sp>
        <p:nvSpPr>
          <p:cNvPr id="2" name="Rectangle 1">
            <a:extLst xmlns:a="http://schemas.openxmlformats.org/drawingml/2006/main">
              <a:ext uri="{FF2B5EF4-FFF2-40B4-BE49-F238E27FC236}">
                <a16:creationId xmlns:a16="http://schemas.microsoft.com/office/drawing/2014/main" id="{7D75FFEE-7122-4BC8-9B10-9D583698F0D2}"/>
              </a:ext>
            </a:extLst>
          </p:cNvPr>
          <p:cNvSpPr>
            <a:spLocks xmlns:a="http://schemas.openxmlformats.org/drawingml/2006/main" noGrp="1"/>
          </p:cNvSpPr>
          <p:nvPr/>
        </p:nvSpPr>
        <p:spPr>
          <a:xfrm xmlns:a="http://schemas.openxmlformats.org/drawingml/2006/main">
            <a:off x="571500" y="1476374"/>
            <a:ext cx="4953000" cy="30388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Calculations</a:t>
            </a:r>
          </a:p>
          <a:p xmlns:a="http://schemas.openxmlformats.org/drawingml/2006/main">
            <a:pPr algn="l">
              <a:buNone/>
              <a:defRPr sz="5400" b="1" i="0">
                <a:solidFill>
                  <a:srgbClr val="000000"/>
                </a:solidFill>
                <a:latin typeface="Arial"/>
                <a:ea typeface="Arial"/>
                <a:cs typeface="Arial"/>
              </a:defRPr>
            </a:pPr>
            <a:r>
              <a:rPr sz="5400" b="1" i="0">
                <a:solidFill>
                  <a:srgbClr val="000000"/>
                </a:solidFill>
                <a:latin typeface="Arial"/>
                <a:ea typeface="Arial"/>
                <a:cs typeface="Arial"/>
              </a:rPr>
              <a:t>and national income</a:t>
            </a:r>
          </a:p>
        </p:txBody>
      </p:sp>
      <p:sp>
        <p:nvSpPr>
          <p:cNvPr id="6" name="Rectangle 5">
            <a:extLst xmlns:a="http://schemas.openxmlformats.org/drawingml/2006/main">
              <a:ext uri="{FF2B5EF4-FFF2-40B4-BE49-F238E27FC236}">
                <a16:creationId xmlns:a16="http://schemas.microsoft.com/office/drawing/2014/main" id="{4224AAF0-AA13-4945-A57E-D7145A152C22}"/>
              </a:ext>
            </a:extLst>
          </p:cNvPr>
          <p:cNvSpPr>
            <a:spLocks xmlns:a="http://schemas.openxmlformats.org/drawingml/2006/main" noGrp="1"/>
          </p:cNvSpPr>
          <p:nvPr/>
        </p:nvSpPr>
        <p:spPr>
          <a:xfrm xmlns:a="http://schemas.openxmlformats.org/drawingml/2006/main">
            <a:off x="6267450" y="400050"/>
            <a:ext cx="5353050" cy="561975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pic>
        <p:nvPicPr>
          <p:cNvPr id="15" name="Picture 45"/>
          <p:cNvPicPr>
            <a:picLocks xmlns:a="http://schemas.openxmlformats.org/drawingml/2006/main" noChangeAspect="1"/>
          </p:cNvPicPr>
          <p:nvPr/>
        </p:nvPicPr>
        <p:blipFill>
          <a:blip xmlns:r="http://schemas.openxmlformats.org/officeDocument/2006/relationships" xmlns:a="http://schemas.openxmlformats.org/drawingml/2006/main" r:embed="R7cb69b6efdd64dfc"/>
          <a:srcRect xmlns:a="http://schemas.openxmlformats.org/drawingml/2006/main" l="22069" t="0" r="22069" b="0"/>
          <a:stretch xmlns:a="http://schemas.openxmlformats.org/drawingml/2006/main">
            <a:fillRect l="0" t="0" r="0" b="0"/>
          </a:stretch>
        </p:blipFill>
        <p:spPr>
          <a:xfrm xmlns:a="http://schemas.openxmlformats.org/drawingml/2006/main">
            <a:off x="6267450" y="400050"/>
            <a:ext cx="5353050" cy="5619750"/>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4832DD0D-6580-409E-A3FF-839BEE15B883}"/>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9" name="Rectangle 8">
            <a:extLst xmlns:a="http://schemas.openxmlformats.org/drawingml/2006/main">
              <a:ext uri="{FF2B5EF4-FFF2-40B4-BE49-F238E27FC236}">
                <a16:creationId xmlns:a16="http://schemas.microsoft.com/office/drawing/2014/main" id="{F1A8CAEA-8BE8-41F5-AE7B-B15DE03FCA2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17</a:t>
            </a:r>
          </a:p>
        </p:txBody>
      </p:sp>
    </p:spTree>
    <p:extLst>
      <p:ext uri="{BB962C8B-B14F-4D97-AF65-F5344CB8AC3E}">
        <p14:creationId xmlns:p14="http://schemas.microsoft.com/office/powerpoint/2010/main" val="191242816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7-title">
            <a:extLst xmlns:a="http://schemas.openxmlformats.org/drawingml/2006/main">
              <a:ext uri="{FF2B5EF4-FFF2-40B4-BE49-F238E27FC236}">
                <a16:creationId xmlns:a16="http://schemas.microsoft.com/office/drawing/2014/main" id="{1F5E8E51-9152-4D25-AE91-80C54A243B7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buNone/>
              <a:defRPr sz="3600" b="1" i="0">
                <a:solidFill>
                  <a:srgbClr val="000000"/>
                </a:solidFill>
                <a:latin typeface="Arial"/>
                <a:ea typeface="Arial"/>
                <a:cs typeface="Arial"/>
              </a:defRPr>
            </a:pPr>
            <a:r>
              <a:rPr sz="3600" b="1" i="0">
                <a:solidFill>
                  <a:srgbClr val="000000"/>
                </a:solidFill>
                <a:latin typeface="Arial"/>
                <a:ea typeface="Arial"/>
                <a:cs typeface="Arial"/>
              </a:rPr>
              <a:t>Recall from </a:t>
            </a:r>
            <a:r>
              <a:rPr sz="3600" b="1">
                <a:solidFill>
                  <a:srgbClr val="000000"/>
                </a:solidFill>
                <a:latin typeface="Arial"/>
                <a:ea typeface="Arial"/>
                <a:cs typeface="Arial"/>
              </a:rPr>
              <a:t>l</a:t>
            </a:r>
            <a:r>
              <a:rPr sz="3600" b="1" i="0">
                <a:solidFill>
                  <a:srgbClr val="000000"/>
                </a:solidFill>
                <a:latin typeface="Arial"/>
                <a:ea typeface="Arial"/>
                <a:cs typeface="Arial"/>
              </a:rPr>
              <a:t>ast lesson</a:t>
            </a:r>
          </a:p>
        </p:txBody>
      </p:sp>
      <p:sp>
        <p:nvSpPr>
          <p:cNvPr id="3" name="Rectangle 2">
            <a:extLst xmlns:a="http://schemas.openxmlformats.org/drawingml/2006/main">
              <a:ext uri="{FF2B5EF4-FFF2-40B4-BE49-F238E27FC236}">
                <a16:creationId xmlns:a16="http://schemas.microsoft.com/office/drawing/2014/main" id="{6ECB88C5-5C0A-4DCB-B406-D9E595B3AE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1911F5CE-1108-427A-A036-71CB087F303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18</a:t>
            </a:r>
          </a:p>
        </p:txBody>
      </p:sp>
      <p:sp>
        <p:nvSpPr>
          <p:cNvPr id="5" name="Rectangle 4">
            <a:extLst xmlns:a="http://schemas.openxmlformats.org/drawingml/2006/main">
              <a:ext uri="{FF2B5EF4-FFF2-40B4-BE49-F238E27FC236}">
                <a16:creationId xmlns:a16="http://schemas.microsoft.com/office/drawing/2014/main" id="{1F5D9A02-B402-4038-B4D0-A3450121F994}"/>
              </a:ext>
            </a:extLst>
          </p:cNvPr>
          <p:cNvSpPr>
            <a:spLocks xmlns:a="http://schemas.openxmlformats.org/drawingml/2006/main" noGrp="1"/>
          </p:cNvSpPr>
          <p:nvPr/>
        </p:nvSpPr>
        <p:spPr>
          <a:xfrm xmlns:a="http://schemas.openxmlformats.org/drawingml/2006/main">
            <a:off x="666750" y="1666875"/>
            <a:ext cx="5143500" cy="371475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A4C4D33E-3B06-4CC3-9505-EC155B259C47}"/>
              </a:ext>
            </a:extLst>
          </p:cNvPr>
          <p:cNvSpPr>
            <a:spLocks xmlns:a="http://schemas.openxmlformats.org/drawingml/2006/main" noGrp="1"/>
          </p:cNvSpPr>
          <p:nvPr/>
        </p:nvSpPr>
        <p:spPr>
          <a:xfrm xmlns:a="http://schemas.openxmlformats.org/drawingml/2006/main">
            <a:off x="1047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RECALL</a:t>
            </a:r>
          </a:p>
        </p:txBody>
      </p:sp>
      <p:sp>
        <p:nvSpPr>
          <p:cNvPr id="7" name="Rectangle 6">
            <a:extLst xmlns:a="http://schemas.openxmlformats.org/drawingml/2006/main">
              <a:ext uri="{FF2B5EF4-FFF2-40B4-BE49-F238E27FC236}">
                <a16:creationId xmlns:a16="http://schemas.microsoft.com/office/drawing/2014/main" id="{33620425-9C0E-45ED-8C26-DC650D3A0C0A}"/>
              </a:ext>
            </a:extLst>
          </p:cNvPr>
          <p:cNvSpPr>
            <a:spLocks xmlns:a="http://schemas.openxmlformats.org/drawingml/2006/main" noGrp="1"/>
          </p:cNvSpPr>
          <p:nvPr/>
        </p:nvSpPr>
        <p:spPr>
          <a:xfrm xmlns:a="http://schemas.openxmlformats.org/drawingml/2006/main">
            <a:off x="1047750" y="2571750"/>
            <a:ext cx="4286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Define k.</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Write the general MPW formula.</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Name the three leakages in an open economy with government.</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State the relationship between leakages and k.</a:t>
            </a:r>
          </a:p>
        </p:txBody>
      </p:sp>
      <p:sp>
        <p:nvSpPr>
          <p:cNvPr id="8" name="Rectangle 7">
            <a:extLst xmlns:a="http://schemas.openxmlformats.org/drawingml/2006/main">
              <a:ext uri="{FF2B5EF4-FFF2-40B4-BE49-F238E27FC236}">
                <a16:creationId xmlns:a16="http://schemas.microsoft.com/office/drawing/2014/main" id="{02C52675-89C0-48A7-B8E3-6A52BA483907}"/>
              </a:ext>
            </a:extLst>
          </p:cNvPr>
          <p:cNvSpPr>
            <a:spLocks xmlns:a="http://schemas.openxmlformats.org/drawingml/2006/main" noGrp="1"/>
          </p:cNvSpPr>
          <p:nvPr/>
        </p:nvSpPr>
        <p:spPr>
          <a:xfrm xmlns:a="http://schemas.openxmlformats.org/drawingml/2006/main">
            <a:off x="6381750" y="1666875"/>
            <a:ext cx="5143500" cy="3714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62D4504D-0702-46C3-82B4-7118C0DDF17B}"/>
              </a:ext>
            </a:extLst>
          </p:cNvPr>
          <p:cNvSpPr>
            <a:spLocks xmlns:a="http://schemas.openxmlformats.org/drawingml/2006/main" noGrp="1"/>
          </p:cNvSpPr>
          <p:nvPr/>
        </p:nvSpPr>
        <p:spPr>
          <a:xfrm xmlns:a="http://schemas.openxmlformats.org/drawingml/2006/main">
            <a:off x="6762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10" name="Rectangle 9">
            <a:extLst xmlns:a="http://schemas.openxmlformats.org/drawingml/2006/main">
              <a:ext uri="{FF2B5EF4-FFF2-40B4-BE49-F238E27FC236}">
                <a16:creationId xmlns:a16="http://schemas.microsoft.com/office/drawing/2014/main" id="{A8D39BC7-19F0-4432-BF49-E11168B68A24}"/>
              </a:ext>
            </a:extLst>
          </p:cNvPr>
          <p:cNvSpPr>
            <a:spLocks xmlns:a="http://schemas.openxmlformats.org/drawingml/2006/main" noGrp="1"/>
          </p:cNvSpPr>
          <p:nvPr/>
        </p:nvSpPr>
        <p:spPr>
          <a:xfrm xmlns:a="http://schemas.openxmlformats.org/drawingml/2006/main">
            <a:off x="6762750" y="2667000"/>
            <a:ext cx="4381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MPS = 0.10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MPM = 0.20</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MRT = 0.20</a:t>
            </a:r>
          </a:p>
          <a:p xmlns:a="http://schemas.openxmlformats.org/drawingml/2006/main">
            <a:pPr>
              <a:spcAft>
                <a:spcPts val="600"/>
              </a:spcAft>
              <a:buNone/>
            </a:pPr>
            <a:endParaRPr sz="2000" b="1" i="0">
              <a:solidFill>
                <a:srgbClr val="000000"/>
              </a:solidFill>
              <a:latin typeface="Arial"/>
              <a:ea typeface="Arial"/>
              <a:cs typeface="Arial"/>
            </a:endParaRP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Find MPW and k.</a:t>
            </a:r>
          </a:p>
        </p:txBody>
      </p:sp>
    </p:spTree>
    <p:extLst>
      <p:ext uri="{BB962C8B-B14F-4D97-AF65-F5344CB8AC3E}">
        <p14:creationId xmlns:p14="http://schemas.microsoft.com/office/powerpoint/2010/main" val="7282326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8-title">
            <a:extLst xmlns:a="http://schemas.openxmlformats.org/drawingml/2006/main">
              <a:ext uri="{FF2B5EF4-FFF2-40B4-BE49-F238E27FC236}">
                <a16:creationId xmlns:a16="http://schemas.microsoft.com/office/drawing/2014/main" id="{B33BB813-A44A-46BF-888B-984FDC187F5D}"/>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a:solidFill>
                  <a:srgbClr val="000000"/>
                </a:solidFill>
                <a:latin typeface="Arial"/>
                <a:ea typeface="Arial"/>
                <a:cs typeface="Arial"/>
              </a:rPr>
              <a:t>F</a:t>
            </a:r>
            <a:r>
              <a:rPr sz="3600" b="1" i="0">
                <a:solidFill>
                  <a:srgbClr val="000000"/>
                </a:solidFill>
                <a:latin typeface="Arial"/>
                <a:ea typeface="Arial"/>
                <a:cs typeface="Arial"/>
              </a:rPr>
              <a:t>ind marginal propensities</a:t>
            </a:r>
          </a:p>
        </p:txBody>
      </p:sp>
      <p:sp>
        <p:nvSpPr>
          <p:cNvPr id="3" name="Rectangle 2">
            <a:extLst xmlns:a="http://schemas.openxmlformats.org/drawingml/2006/main">
              <a:ext uri="{FF2B5EF4-FFF2-40B4-BE49-F238E27FC236}">
                <a16:creationId xmlns:a16="http://schemas.microsoft.com/office/drawing/2014/main" id="{F7EAE205-C23C-4129-AC41-CAB1FC01CF8E}"/>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B32C2DC5-6631-4FED-BA1D-509EF14D747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19</a:t>
            </a:r>
          </a:p>
        </p:txBody>
      </p:sp>
      <p:graphicFrame>
        <p:nvGraphicFramePr>
          <p:cNvPr id="14" name="Table 30"/>
          <p:cNvGraphicFramePr/>
          <p:nvPr/>
        </p:nvGraphicFramePr>
        <p:xfrm>
          <a:off xmlns:a="http://schemas.openxmlformats.org/drawingml/2006/main" x="666750" y="2047875"/>
          <a:ext xmlns:a="http://schemas.openxmlformats.org/drawingml/2006/main" cx="6191250" cy="2190750"/>
        </p:xfrm>
        <a:graphic xmlns:a="http://schemas.openxmlformats.org/drawingml/2006/main">
          <a:graphicData uri="http://schemas.openxmlformats.org/drawingml/2006/table">
            <a:tbl>
              <a:tblPr/>
              <a:tblGrid>
                <a:gridCol w="1238250"/>
                <a:gridCol w="1238250"/>
                <a:gridCol w="1238250"/>
                <a:gridCol w="1238250"/>
                <a:gridCol w="1238250"/>
              </a:tblGrid>
              <a:tr h="730250">
                <a:tc>
                  <a:txBody>
                    <a:bodyPr/>
                    <a:lstStyle/>
                    <a:p>
                      <a:pPr algn="ctr">
                        <a:buNone/>
                      </a:pPr>
                      <a:r>
                        <a:rPr sz="1650" b="1">
                          <a:solidFill>
                            <a:srgbClr val="FFFFFF"/>
                          </a:solidFill>
                          <a:latin typeface="Arial"/>
                          <a:ea typeface="Arial"/>
                          <a:cs typeface="Arial"/>
                        </a:rPr>
                        <a:t>Y</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C (domestic)</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S</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M</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T</a:t>
                      </a:r>
                    </a:p>
                  </a:txBody>
                  <a:tcPr marL="76200" marR="76200" marT="57150" marB="57150" anchor="ctr">
                    <a:solidFill>
                      <a:srgbClr val="000000"/>
                    </a:solidFill>
                  </a:tcPr>
                </a:tc>
              </a:tr>
              <a:tr h="730250">
                <a:tc>
                  <a:txBody>
                    <a:bodyPr/>
                    <a:lstStyle/>
                    <a:p>
                      <a:pPr algn="ctr">
                        <a:buNone/>
                      </a:pPr>
                      <a:r>
                        <a:rPr sz="2100">
                          <a:solidFill>
                            <a:srgbClr val="000000"/>
                          </a:solidFill>
                          <a:latin typeface="Arial"/>
                          <a:ea typeface="Arial"/>
                          <a:cs typeface="Arial"/>
                        </a:rPr>
                        <a:t>1,000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800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r>
              <a:tr h="730250">
                <a:tc>
                  <a:txBody>
                    <a:bodyPr/>
                    <a:lstStyle/>
                    <a:p>
                      <a:pPr algn="ctr">
                        <a:buNone/>
                      </a:pPr>
                      <a:r>
                        <a:rPr sz="2100">
                          <a:solidFill>
                            <a:srgbClr val="000000"/>
                          </a:solidFill>
                          <a:latin typeface="Arial"/>
                          <a:ea typeface="Arial"/>
                          <a:cs typeface="Arial"/>
                        </a:rPr>
                        <a:t>1,200</a:t>
                      </a:r>
                    </a:p>
                  </a:txBody>
                  <a:tcPr marL="76200" marR="76200" marT="47625" marB="47625" anchor="ctr"/>
                </a:tc>
                <a:tc>
                  <a:txBody>
                    <a:bodyPr/>
                    <a:lstStyle/>
                    <a:p>
                      <a:pPr algn="ctr">
                        <a:buNone/>
                      </a:pPr>
                      <a:r>
                        <a:rPr sz="2100">
                          <a:solidFill>
                            <a:srgbClr val="000000"/>
                          </a:solidFill>
                          <a:latin typeface="Arial"/>
                          <a:ea typeface="Arial"/>
                          <a:cs typeface="Arial"/>
                        </a:rPr>
                        <a:t>940</a:t>
                      </a:r>
                    </a:p>
                  </a:txBody>
                  <a:tcPr marL="76200" marR="76200" marT="47625" marB="47625" anchor="ctr"/>
                </a:tc>
                <a:tc>
                  <a:txBody>
                    <a:bodyPr/>
                    <a:lstStyle/>
                    <a:p>
                      <a:pPr algn="ctr">
                        <a:buNone/>
                      </a:pPr>
                      <a:r>
                        <a:rPr sz="2100">
                          <a:solidFill>
                            <a:srgbClr val="000000"/>
                          </a:solidFill>
                          <a:latin typeface="Arial"/>
                          <a:ea typeface="Arial"/>
                          <a:cs typeface="Arial"/>
                        </a:rPr>
                        <a:t>120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r>
            </a:tbl>
          </a:graphicData>
        </a:graphic>
      </p:graphicFrame>
      <p:sp>
        <p:nvSpPr>
          <p:cNvPr id="6" name="Rectangle 5">
            <a:extLst xmlns:a="http://schemas.openxmlformats.org/drawingml/2006/main">
              <a:ext uri="{FF2B5EF4-FFF2-40B4-BE49-F238E27FC236}">
                <a16:creationId xmlns:a16="http://schemas.microsoft.com/office/drawing/2014/main" id="{B0445370-7CF6-491B-A773-1AC9823DF61E}"/>
              </a:ext>
            </a:extLst>
          </p:cNvPr>
          <p:cNvSpPr>
            <a:spLocks xmlns:a="http://schemas.openxmlformats.org/drawingml/2006/main" noGrp="1"/>
          </p:cNvSpPr>
          <p:nvPr/>
        </p:nvSpPr>
        <p:spPr>
          <a:xfrm xmlns:a="http://schemas.openxmlformats.org/drawingml/2006/main">
            <a:off x="7524750" y="19526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7" name="Rectangle 6">
            <a:extLst xmlns:a="http://schemas.openxmlformats.org/drawingml/2006/main">
              <a:ext uri="{FF2B5EF4-FFF2-40B4-BE49-F238E27FC236}">
                <a16:creationId xmlns:a16="http://schemas.microsoft.com/office/drawing/2014/main" id="{04A18C53-13A6-47D2-B8F3-A4FEAA68BAAF}"/>
              </a:ext>
            </a:extLst>
          </p:cNvPr>
          <p:cNvSpPr>
            <a:spLocks xmlns:a="http://schemas.openxmlformats.org/drawingml/2006/main" noGrp="1"/>
          </p:cNvSpPr>
          <p:nvPr/>
        </p:nvSpPr>
        <p:spPr>
          <a:xfrm xmlns:a="http://schemas.openxmlformats.org/drawingml/2006/main">
            <a:off x="7524750" y="2381250"/>
            <a:ext cx="3714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1  MPC</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2  MPS</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3  MPM</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4  MRT</a:t>
            </a:r>
          </a:p>
          <a:p xmlns:a="http://schemas.openxmlformats.org/drawingml/2006/main">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5  MPW and k</a:t>
            </a:r>
          </a:p>
        </p:txBody>
      </p:sp>
    </p:spTree>
    <p:extLst>
      <p:ext uri="{BB962C8B-B14F-4D97-AF65-F5344CB8AC3E}">
        <p14:creationId xmlns:p14="http://schemas.microsoft.com/office/powerpoint/2010/main" val="15243560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9-title">
            <a:extLst xmlns:a="http://schemas.openxmlformats.org/drawingml/2006/main">
              <a:ext uri="{FF2B5EF4-FFF2-40B4-BE49-F238E27FC236}">
                <a16:creationId xmlns:a16="http://schemas.microsoft.com/office/drawing/2014/main" id="{B12ED84C-922D-458A-AC1D-7B3E536BD892}"/>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Solution</a:t>
            </a:r>
          </a:p>
        </p:txBody>
      </p:sp>
      <p:sp>
        <p:nvSpPr>
          <p:cNvPr id="3" name="Rectangle 2">
            <a:extLst xmlns:a="http://schemas.openxmlformats.org/drawingml/2006/main">
              <a:ext uri="{FF2B5EF4-FFF2-40B4-BE49-F238E27FC236}">
                <a16:creationId xmlns:a16="http://schemas.microsoft.com/office/drawing/2014/main" id="{D532D152-8BA7-47BD-86F9-19B2107BD9B7}"/>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EA22E506-703B-4936-9A98-A557BD49901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20</a:t>
            </a:r>
          </a:p>
        </p:txBody>
      </p:sp>
      <p:sp>
        <p:nvSpPr>
          <p:cNvPr id="5" name="Rectangle 4">
            <a:extLst xmlns:a="http://schemas.openxmlformats.org/drawingml/2006/main">
              <a:ext uri="{FF2B5EF4-FFF2-40B4-BE49-F238E27FC236}">
                <a16:creationId xmlns:a16="http://schemas.microsoft.com/office/drawing/2014/main" id="{905F4EAD-0903-497E-B288-D136963039CE}"/>
              </a:ext>
            </a:extLst>
          </p:cNvPr>
          <p:cNvSpPr>
            <a:spLocks xmlns:a="http://schemas.openxmlformats.org/drawingml/2006/main" noGrp="1"/>
          </p:cNvSpPr>
          <p:nvPr/>
        </p:nvSpPr>
        <p:spPr>
          <a:xfrm xmlns:a="http://schemas.openxmlformats.org/drawingml/2006/main">
            <a:off x="666750" y="1619250"/>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550" b="1" i="0">
                <a:solidFill>
                  <a:srgbClr val="3D8DFF"/>
                </a:solidFill>
                <a:latin typeface="Arial"/>
                <a:ea typeface="Arial"/>
                <a:cs typeface="Arial"/>
              </a:defRPr>
            </a:pPr>
            <a:r>
              <a:rPr sz="2550" b="1" i="0">
                <a:solidFill>
                  <a:srgbClr val="3D8DFF"/>
                </a:solidFill>
                <a:latin typeface="Arial"/>
                <a:ea typeface="Arial"/>
                <a:cs typeface="Arial"/>
              </a:rPr>
              <a:t>ΔY = 1,200 - 1,000 = 200</a:t>
            </a:r>
          </a:p>
        </p:txBody>
      </p:sp>
      <p:graphicFrame>
        <p:nvGraphicFramePr>
          <p:cNvPr id="14" name="Table 30"/>
          <p:cNvGraphicFramePr/>
          <p:nvPr/>
        </p:nvGraphicFramePr>
        <p:xfrm>
          <a:off xmlns:a="http://schemas.openxmlformats.org/drawingml/2006/main" x="666750" y="2381250"/>
          <a:ext xmlns:a="http://schemas.openxmlformats.org/drawingml/2006/main" cx="10858500" cy="2857500"/>
        </p:xfrm>
        <a:graphic xmlns:a="http://schemas.openxmlformats.org/drawingml/2006/main">
          <a:graphicData uri="http://schemas.openxmlformats.org/drawingml/2006/table">
            <a:tbl>
              <a:tblPr/>
              <a:tblGrid>
                <a:gridCol w="1905000"/>
                <a:gridCol w="3333750"/>
                <a:gridCol w="2857500"/>
                <a:gridCol w="2762250"/>
              </a:tblGrid>
              <a:tr h="571500">
                <a:tc>
                  <a:txBody>
                    <a:bodyPr/>
                    <a:lstStyle/>
                    <a:p>
                      <a:pPr algn="ctr">
                        <a:buNone/>
                      </a:pPr>
                      <a:r>
                        <a:rPr sz="1500" b="1">
                          <a:solidFill>
                            <a:srgbClr val="FFFFFF"/>
                          </a:solidFill>
                          <a:latin typeface="Arial"/>
                          <a:ea typeface="Arial"/>
                          <a:cs typeface="Arial"/>
                        </a:rPr>
                        <a:t>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Change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Calculation</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Value</a:t>
                      </a:r>
                    </a:p>
                  </a:txBody>
                  <a:tcPr marL="76200" marR="76200" marT="57150" marB="57150" anchor="ctr">
                    <a:solidFill>
                      <a:srgbClr val="000000"/>
                    </a:solidFill>
                  </a:tcPr>
                </a:tc>
              </a:tr>
              <a:tr h="571500">
                <a:tc>
                  <a:txBody>
                    <a:bodyPr/>
                    <a:lstStyle/>
                    <a:p>
                      <a:pPr algn="ctr">
                        <a:buNone/>
                      </a:pPr>
                      <a:r>
                        <a:rPr sz="1650">
                          <a:solidFill>
                            <a:srgbClr val="000000"/>
                          </a:solidFill>
                          <a:latin typeface="Arial"/>
                          <a:ea typeface="Arial"/>
                          <a:cs typeface="Arial"/>
                        </a:rPr>
                        <a:t>MPC</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940 - 800 = 140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0.70</a:t>
                      </a:r>
                    </a:p>
                  </a:txBody>
                  <a:tcPr marL="76200" marR="76200" marT="47625" marB="47625" anchor="ctr">
                    <a:solidFill>
                      <a:srgbClr val="F7F7F5"/>
                    </a:solidFill>
                  </a:tcPr>
                </a:tc>
              </a:tr>
              <a:tr h="571500">
                <a:tc>
                  <a:txBody>
                    <a:bodyPr/>
                    <a:lstStyle/>
                    <a:p>
                      <a:pPr algn="ctr">
                        <a:buNone/>
                      </a:pPr>
                      <a:r>
                        <a:rPr sz="1650">
                          <a:solidFill>
                            <a:srgbClr val="000000"/>
                          </a:solidFill>
                          <a:latin typeface="Arial"/>
                          <a:ea typeface="Arial"/>
                          <a:cs typeface="Arial"/>
                        </a:rPr>
                        <a:t>MPS</a:t>
                      </a:r>
                    </a:p>
                  </a:txBody>
                  <a:tcPr marL="76200" marR="76200" marT="47625" marB="47625" anchor="ctr"/>
                </a:tc>
                <a:tc>
                  <a:txBody>
                    <a:bodyPr/>
                    <a:lstStyle/>
                    <a:p>
                      <a:pPr algn="ctr">
                        <a:buNone/>
                      </a:pPr>
                      <a:r>
                        <a:rPr sz="1650">
                          <a:solidFill>
                            <a:srgbClr val="000000"/>
                          </a:solidFill>
                          <a:latin typeface="Arial"/>
                          <a:ea typeface="Arial"/>
                          <a:cs typeface="Arial"/>
                        </a:rPr>
                        <a:t>120 - 100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tr>
              <a:tr h="571500">
                <a:tc>
                  <a:txBody>
                    <a:bodyPr/>
                    <a:lstStyle/>
                    <a:p>
                      <a:pPr algn="ctr">
                        <a:buNone/>
                      </a:pPr>
                      <a:r>
                        <a:rPr sz="1650">
                          <a:solidFill>
                            <a:srgbClr val="000000"/>
                          </a:solidFill>
                          <a:latin typeface="Arial"/>
                          <a:ea typeface="Arial"/>
                          <a:cs typeface="Arial"/>
                        </a:rPr>
                        <a:t>MPM</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70 - 50 = 20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0.10</a:t>
                      </a:r>
                    </a:p>
                  </a:txBody>
                  <a:tcPr marL="76200" marR="76200" marT="47625" marB="47625" anchor="ctr">
                    <a:solidFill>
                      <a:srgbClr val="F7F7F5"/>
                    </a:solidFill>
                  </a:tcPr>
                </a:tc>
              </a:tr>
              <a:tr h="571500">
                <a:tc>
                  <a:txBody>
                    <a:bodyPr/>
                    <a:lstStyle/>
                    <a:p>
                      <a:pPr algn="ctr">
                        <a:buNone/>
                      </a:pPr>
                      <a:r>
                        <a:rPr sz="1650">
                          <a:solidFill>
                            <a:srgbClr val="000000"/>
                          </a:solidFill>
                          <a:latin typeface="Arial"/>
                          <a:ea typeface="Arial"/>
                          <a:cs typeface="Arial"/>
                        </a:rPr>
                        <a:t>MRT</a:t>
                      </a:r>
                    </a:p>
                  </a:txBody>
                  <a:tcPr marL="76200" marR="76200" marT="47625" marB="47625" anchor="ctr"/>
                </a:tc>
                <a:tc>
                  <a:txBody>
                    <a:bodyPr/>
                    <a:lstStyle/>
                    <a:p>
                      <a:pPr algn="ctr">
                        <a:buNone/>
                      </a:pPr>
                      <a:r>
                        <a:rPr sz="1650">
                          <a:solidFill>
                            <a:srgbClr val="000000"/>
                          </a:solidFill>
                          <a:latin typeface="Arial"/>
                          <a:ea typeface="Arial"/>
                          <a:cs typeface="Arial"/>
                        </a:rPr>
                        <a:t>70 - 50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tr>
            </a:tbl>
          </a:graphicData>
        </a:graphic>
      </p:graphicFrame>
      <p:sp>
        <p:nvSpPr>
          <p:cNvPr id="7" name="Rectangle 6">
            <a:extLst xmlns:a="http://schemas.openxmlformats.org/drawingml/2006/main">
              <a:ext uri="{FF2B5EF4-FFF2-40B4-BE49-F238E27FC236}">
                <a16:creationId xmlns:a16="http://schemas.microsoft.com/office/drawing/2014/main" id="{C0ABF0D9-3278-42C3-98F9-EC801FE52FF8}"/>
              </a:ext>
            </a:extLst>
          </p:cNvPr>
          <p:cNvSpPr>
            <a:spLocks xmlns:a="http://schemas.openxmlformats.org/drawingml/2006/main" noGrp="1"/>
          </p:cNvSpPr>
          <p:nvPr/>
        </p:nvSpPr>
        <p:spPr>
          <a:xfrm xmlns:a="http://schemas.openxmlformats.org/drawingml/2006/main">
            <a:off x="2571750" y="557212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3D8DFF"/>
                </a:solidFill>
                <a:latin typeface="Arial"/>
                <a:ea typeface="Arial"/>
                <a:cs typeface="Arial"/>
              </a:defRPr>
            </a:pPr>
            <a:r>
              <a:rPr sz="2250" b="1" i="0">
                <a:solidFill>
                  <a:srgbClr val="3D8DFF"/>
                </a:solidFill>
                <a:latin typeface="Arial"/>
                <a:ea typeface="Arial"/>
                <a:cs typeface="Arial"/>
              </a:rPr>
              <a:t>MPW = 0.30, so k = 1 / 0.30 = 3.33</a:t>
            </a:r>
          </a:p>
        </p:txBody>
      </p:sp>
    </p:spTree>
    <p:extLst>
      <p:ext uri="{BB962C8B-B14F-4D97-AF65-F5344CB8AC3E}">
        <p14:creationId xmlns:p14="http://schemas.microsoft.com/office/powerpoint/2010/main" val="18828147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20-title">
            <a:extLst xmlns:a="http://schemas.openxmlformats.org/drawingml/2006/main">
              <a:ext uri="{FF2B5EF4-FFF2-40B4-BE49-F238E27FC236}">
                <a16:creationId xmlns:a16="http://schemas.microsoft.com/office/drawing/2014/main" id="{B56F6E62-1A5A-4296-80AE-CD3F8867E6A0}"/>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How to </a:t>
            </a:r>
            <a:r>
              <a:rPr sz="3600" b="1" i="0">
                <a:solidFill>
                  <a:srgbClr val="000000"/>
                </a:solidFill>
                <a:latin typeface="Arial"/>
                <a:ea typeface="Arial"/>
                <a:cs typeface="Arial"/>
              </a:rPr>
              <a:t>calculate</a:t>
            </a:r>
            <a:endParaRPr sz="3600" b="1" i="0">
              <a:solidFill>
                <a:srgbClr val="000000"/>
              </a:solidFill>
              <a:latin typeface="Arial"/>
              <a:ea typeface="Arial"/>
              <a:cs typeface="Arial"/>
            </a:endParaRPr>
          </a:p>
        </p:txBody>
      </p:sp>
      <p:cxnSp>
        <p:nvCxnSpPr>
          <p:cNvPr id="70" name="Straight Arrow Connector 4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E27D33CD-E24D-4426-B1DC-95A3D2A5A3FD}"/>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83A96B4B-C3C5-4880-9BA2-1D4DDA59E83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21</a:t>
            </a:r>
          </a:p>
        </p:txBody>
      </p:sp>
      <p:cxnSp>
        <p:nvCxnSpPr>
          <p:cNvPr id="73" name="Straight Arrow Connector 52"/>
          <p:cNvCxnSpPr/>
          <p:nvPr/>
        </p:nvCxnSpPr>
        <p:spPr>
          <a:xfrm xmlns:a="http://schemas.openxmlformats.org/drawingml/2006/main">
            <a:off x="1333500" y="3143250"/>
            <a:ext cx="9525000" cy="95"/>
          </a:xfrm>
          <a:prstGeom xmlns:a="http://schemas.openxmlformats.org/drawingml/2006/main" prst="straightConnector1">
            <a:avLst/>
          </a:prstGeom>
          <a:ln xmlns:a="http://schemas.openxmlformats.org/drawingml/2006/main" w="28575">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EF79ACD5-74F8-4477-853F-72C5152965D3}"/>
              </a:ext>
            </a:extLst>
          </p:cNvPr>
          <p:cNvSpPr>
            <a:spLocks xmlns:a="http://schemas.openxmlformats.org/drawingml/2006/main" noGrp="1"/>
          </p:cNvSpPr>
          <p:nvPr/>
        </p:nvSpPr>
        <p:spPr>
          <a:xfrm xmlns:a="http://schemas.openxmlformats.org/drawingml/2006/main">
            <a:off x="1047750" y="2714625"/>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C385459E-18D1-45FE-A9CC-A4BB7DC005FB}"/>
              </a:ext>
            </a:extLst>
          </p:cNvPr>
          <p:cNvSpPr>
            <a:spLocks xmlns:a="http://schemas.openxmlformats.org/drawingml/2006/main" noGrp="1"/>
          </p:cNvSpPr>
          <p:nvPr/>
        </p:nvSpPr>
        <p:spPr>
          <a:xfrm xmlns:a="http://schemas.openxmlformats.org/drawingml/2006/main">
            <a:off x="66675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MODEL</a:t>
            </a:r>
          </a:p>
        </p:txBody>
      </p:sp>
      <p:sp>
        <p:nvSpPr>
          <p:cNvPr id="8" name="Rectangle 7">
            <a:extLst xmlns:a="http://schemas.openxmlformats.org/drawingml/2006/main">
              <a:ext uri="{FF2B5EF4-FFF2-40B4-BE49-F238E27FC236}">
                <a16:creationId xmlns:a16="http://schemas.microsoft.com/office/drawing/2014/main" id="{25B134D6-8541-45C8-936D-B38374C4EF9B}"/>
              </a:ext>
            </a:extLst>
          </p:cNvPr>
          <p:cNvSpPr>
            <a:spLocks xmlns:a="http://schemas.openxmlformats.org/drawingml/2006/main" noGrp="1"/>
          </p:cNvSpPr>
          <p:nvPr/>
        </p:nvSpPr>
        <p:spPr>
          <a:xfrm xmlns:a="http://schemas.openxmlformats.org/drawingml/2006/main">
            <a:off x="42862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Closed/open?</a:t>
            </a:r>
          </a:p>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Government?</a:t>
            </a:r>
          </a:p>
        </p:txBody>
      </p:sp>
      <p:sp>
        <p:nvSpPr>
          <p:cNvPr id="9" name="Oval 8">
            <a:extLst xmlns:a="http://schemas.openxmlformats.org/drawingml/2006/main">
              <a:ext uri="{FF2B5EF4-FFF2-40B4-BE49-F238E27FC236}">
                <a16:creationId xmlns:a16="http://schemas.microsoft.com/office/drawing/2014/main" id="{19A73F17-05C8-4293-822A-2D43F6B391E2}"/>
              </a:ext>
            </a:extLst>
          </p:cNvPr>
          <p:cNvSpPr>
            <a:spLocks xmlns:a="http://schemas.openxmlformats.org/drawingml/2006/main" noGrp="1"/>
          </p:cNvSpPr>
          <p:nvPr/>
        </p:nvSpPr>
        <p:spPr>
          <a:xfrm xmlns:a="http://schemas.openxmlformats.org/drawingml/2006/main">
            <a:off x="3810000" y="2714625"/>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26DBD59C-A2CB-46D8-8E79-5028687A913D}"/>
              </a:ext>
            </a:extLst>
          </p:cNvPr>
          <p:cNvSpPr>
            <a:spLocks xmlns:a="http://schemas.openxmlformats.org/drawingml/2006/main" noGrp="1"/>
          </p:cNvSpPr>
          <p:nvPr/>
        </p:nvSpPr>
        <p:spPr>
          <a:xfrm xmlns:a="http://schemas.openxmlformats.org/drawingml/2006/main">
            <a:off x="342900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LEAKAGES</a:t>
            </a:r>
          </a:p>
        </p:txBody>
      </p:sp>
      <p:sp>
        <p:nvSpPr>
          <p:cNvPr id="11" name="Rectangle 10">
            <a:extLst xmlns:a="http://schemas.openxmlformats.org/drawingml/2006/main">
              <a:ext uri="{FF2B5EF4-FFF2-40B4-BE49-F238E27FC236}">
                <a16:creationId xmlns:a16="http://schemas.microsoft.com/office/drawing/2014/main" id="{129823E0-18CA-4627-BE6C-075011D1C2BC}"/>
              </a:ext>
            </a:extLst>
          </p:cNvPr>
          <p:cNvSpPr>
            <a:spLocks xmlns:a="http://schemas.openxmlformats.org/drawingml/2006/main" noGrp="1"/>
          </p:cNvSpPr>
          <p:nvPr/>
        </p:nvSpPr>
        <p:spPr>
          <a:xfrm xmlns:a="http://schemas.openxmlformats.org/drawingml/2006/main">
            <a:off x="319087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Write MPW</a:t>
            </a:r>
          </a:p>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from S, T, M</a:t>
            </a:r>
          </a:p>
        </p:txBody>
      </p:sp>
      <p:sp>
        <p:nvSpPr>
          <p:cNvPr id="12" name="Oval 11">
            <a:extLst xmlns:a="http://schemas.openxmlformats.org/drawingml/2006/main">
              <a:ext uri="{FF2B5EF4-FFF2-40B4-BE49-F238E27FC236}">
                <a16:creationId xmlns:a16="http://schemas.microsoft.com/office/drawing/2014/main" id="{F785F149-E567-4156-B2A1-A21CB57D90EA}"/>
              </a:ext>
            </a:extLst>
          </p:cNvPr>
          <p:cNvSpPr>
            <a:spLocks xmlns:a="http://schemas.openxmlformats.org/drawingml/2006/main" noGrp="1"/>
          </p:cNvSpPr>
          <p:nvPr/>
        </p:nvSpPr>
        <p:spPr>
          <a:xfrm xmlns:a="http://schemas.openxmlformats.org/drawingml/2006/main">
            <a:off x="6572250" y="2714625"/>
            <a:ext cx="857250" cy="8572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3" name="Rectangle 12">
            <a:extLst xmlns:a="http://schemas.openxmlformats.org/drawingml/2006/main">
              <a:ext uri="{FF2B5EF4-FFF2-40B4-BE49-F238E27FC236}">
                <a16:creationId xmlns:a16="http://schemas.microsoft.com/office/drawing/2014/main" id="{922CED59-E0E3-4B09-A6D5-C585BA6884BC}"/>
              </a:ext>
            </a:extLst>
          </p:cNvPr>
          <p:cNvSpPr>
            <a:spLocks xmlns:a="http://schemas.openxmlformats.org/drawingml/2006/main" noGrp="1"/>
          </p:cNvSpPr>
          <p:nvPr/>
        </p:nvSpPr>
        <p:spPr>
          <a:xfrm xmlns:a="http://schemas.openxmlformats.org/drawingml/2006/main">
            <a:off x="619125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MULTIPLIER</a:t>
            </a:r>
          </a:p>
        </p:txBody>
      </p:sp>
      <p:sp>
        <p:nvSpPr>
          <p:cNvPr id="14" name="Rectangle 13">
            <a:extLst xmlns:a="http://schemas.openxmlformats.org/drawingml/2006/main">
              <a:ext uri="{FF2B5EF4-FFF2-40B4-BE49-F238E27FC236}">
                <a16:creationId xmlns:a16="http://schemas.microsoft.com/office/drawing/2014/main" id="{A2DF8FD6-11A0-46C3-9E3E-C0F955545BD6}"/>
              </a:ext>
            </a:extLst>
          </p:cNvPr>
          <p:cNvSpPr>
            <a:spLocks xmlns:a="http://schemas.openxmlformats.org/drawingml/2006/main" noGrp="1"/>
          </p:cNvSpPr>
          <p:nvPr/>
        </p:nvSpPr>
        <p:spPr>
          <a:xfrm xmlns:a="http://schemas.openxmlformats.org/drawingml/2006/main">
            <a:off x="595312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k = 1 / MPW</a:t>
            </a:r>
          </a:p>
        </p:txBody>
      </p:sp>
      <p:sp>
        <p:nvSpPr>
          <p:cNvPr id="15" name="Oval 14">
            <a:extLst xmlns:a="http://schemas.openxmlformats.org/drawingml/2006/main">
              <a:ext uri="{FF2B5EF4-FFF2-40B4-BE49-F238E27FC236}">
                <a16:creationId xmlns:a16="http://schemas.microsoft.com/office/drawing/2014/main" id="{552C0A72-3139-49BD-B5FC-7FC9D940C258}"/>
              </a:ext>
            </a:extLst>
          </p:cNvPr>
          <p:cNvSpPr>
            <a:spLocks xmlns:a="http://schemas.openxmlformats.org/drawingml/2006/main" noGrp="1"/>
          </p:cNvSpPr>
          <p:nvPr/>
        </p:nvSpPr>
        <p:spPr>
          <a:xfrm xmlns:a="http://schemas.openxmlformats.org/drawingml/2006/main">
            <a:off x="9334500" y="2714625"/>
            <a:ext cx="857250" cy="85725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6" name="Rectangle 15">
            <a:extLst xmlns:a="http://schemas.openxmlformats.org/drawingml/2006/main">
              <a:ext uri="{FF2B5EF4-FFF2-40B4-BE49-F238E27FC236}">
                <a16:creationId xmlns:a16="http://schemas.microsoft.com/office/drawing/2014/main" id="{6809F52C-59E5-47F8-9499-D9067EF2545D}"/>
              </a:ext>
            </a:extLst>
          </p:cNvPr>
          <p:cNvSpPr>
            <a:spLocks xmlns:a="http://schemas.openxmlformats.org/drawingml/2006/main" noGrp="1"/>
          </p:cNvSpPr>
          <p:nvPr/>
        </p:nvSpPr>
        <p:spPr>
          <a:xfrm xmlns:a="http://schemas.openxmlformats.org/drawingml/2006/main">
            <a:off x="8953500" y="39052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INCOME</a:t>
            </a:r>
          </a:p>
        </p:txBody>
      </p:sp>
      <p:sp>
        <p:nvSpPr>
          <p:cNvPr id="17" name="Rectangle 16">
            <a:extLst xmlns:a="http://schemas.openxmlformats.org/drawingml/2006/main">
              <a:ext uri="{FF2B5EF4-FFF2-40B4-BE49-F238E27FC236}">
                <a16:creationId xmlns:a16="http://schemas.microsoft.com/office/drawing/2014/main" id="{B9228A1E-191F-4BC8-8CCB-609EC0D76190}"/>
              </a:ext>
            </a:extLst>
          </p:cNvPr>
          <p:cNvSpPr>
            <a:spLocks xmlns:a="http://schemas.openxmlformats.org/drawingml/2006/main" noGrp="1"/>
          </p:cNvSpPr>
          <p:nvPr/>
        </p:nvSpPr>
        <p:spPr>
          <a:xfrm xmlns:a="http://schemas.openxmlformats.org/drawingml/2006/main">
            <a:off x="8715375" y="4333875"/>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ΔY = k × ΔJ</a:t>
            </a:r>
          </a:p>
        </p:txBody>
      </p:sp>
      <p:sp>
        <p:nvSpPr>
          <p:cNvPr id="18" name="Rectangle 17">
            <a:extLst xmlns:a="http://schemas.openxmlformats.org/drawingml/2006/main">
              <a:ext uri="{FF2B5EF4-FFF2-40B4-BE49-F238E27FC236}">
                <a16:creationId xmlns:a16="http://schemas.microsoft.com/office/drawing/2014/main" id="{046FF3D8-6685-4B43-80BD-E9FF5B41B96C}"/>
              </a:ext>
            </a:extLst>
          </p:cNvPr>
          <p:cNvSpPr>
            <a:spLocks xmlns:a="http://schemas.openxmlformats.org/drawingml/2006/main" noGrp="1"/>
          </p:cNvSpPr>
          <p:nvPr/>
        </p:nvSpPr>
        <p:spPr>
          <a:xfrm xmlns:a="http://schemas.openxmlformats.org/drawingml/2006/main">
            <a:off x="2381250" y="566737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Final check: a larger MPW must produce a smaller k.</a:t>
            </a:r>
          </a:p>
        </p:txBody>
      </p:sp>
    </p:spTree>
    <p:extLst>
      <p:ext uri="{BB962C8B-B14F-4D97-AF65-F5344CB8AC3E}">
        <p14:creationId xmlns:p14="http://schemas.microsoft.com/office/powerpoint/2010/main" val="13679060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6A979400-93DC-4E17-8CA5-7727CF968A8F}"/>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A: closed economy, no government</a:t>
            </a:r>
          </a:p>
        </p:txBody>
      </p:sp>
      <p:sp>
        <p:nvSpPr>
          <p:cNvPr id="3" name="Rectangle 2">
            <a:extLst xmlns:a="http://schemas.openxmlformats.org/drawingml/2006/main">
              <a:ext uri="{FF2B5EF4-FFF2-40B4-BE49-F238E27FC236}">
                <a16:creationId xmlns:a16="http://schemas.microsoft.com/office/drawing/2014/main" id="{55C6E880-0FF0-4360-BDF2-EAF5A8C478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3263A9AB-8527-4010-966F-E5A7D1F7185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22</a:t>
            </a:r>
          </a:p>
        </p:txBody>
      </p:sp>
      <p:sp>
        <p:nvSpPr>
          <p:cNvPr id="5" name="Rectangle 4">
            <a:extLst xmlns:a="http://schemas.openxmlformats.org/drawingml/2006/main">
              <a:ext uri="{FF2B5EF4-FFF2-40B4-BE49-F238E27FC236}">
                <a16:creationId xmlns:a16="http://schemas.microsoft.com/office/drawing/2014/main" id="{58D7145C-409A-4DAE-A925-3CEC7AD70351}"/>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57840AFE-A9D2-44EB-8EBD-7BFA49B39B95}"/>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xmlns:a="http://schemas.openxmlformats.org/drawingml/2006/main">
              <a:ext uri="{FF2B5EF4-FFF2-40B4-BE49-F238E27FC236}">
                <a16:creationId xmlns:a16="http://schemas.microsoft.com/office/drawing/2014/main" id="{7F59BF6C-D005-4BDB-9F4C-4F04597E8B07}"/>
              </a:ext>
            </a:extLst>
          </p:cNvPr>
          <p:cNvSpPr>
            <a:spLocks xmlns:a="http://schemas.openxmlformats.org/drawingml/2006/main" noGrp="1"/>
          </p:cNvSpPr>
          <p:nvPr/>
        </p:nvSpPr>
        <p:spPr>
          <a:xfrm xmlns:a="http://schemas.openxmlformats.org/drawingml/2006/main">
            <a:off x="1047750" y="2619375"/>
            <a:ext cx="4000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MPS = 0.25</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Investment rises by £60m.</a:t>
            </a:r>
          </a:p>
          <a:p xmlns:a="http://schemas.openxmlformats.org/drawingml/2006/main">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Find k and ΔY.</a:t>
            </a:r>
          </a:p>
        </p:txBody>
      </p:sp>
      <p:sp>
        <p:nvSpPr>
          <p:cNvPr id="8" name="Rectangle 7">
            <a:extLst xmlns:a="http://schemas.openxmlformats.org/drawingml/2006/main">
              <a:ext uri="{FF2B5EF4-FFF2-40B4-BE49-F238E27FC236}">
                <a16:creationId xmlns:a16="http://schemas.microsoft.com/office/drawing/2014/main" id="{367EF02D-CC0C-4000-A08E-8865DFAA13ED}"/>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D8E53E10-3434-47FE-BA03-131F8877DFA4}"/>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xmlns:a="http://schemas.openxmlformats.org/drawingml/2006/main">
              <a:ext uri="{FF2B5EF4-FFF2-40B4-BE49-F238E27FC236}">
                <a16:creationId xmlns:a16="http://schemas.microsoft.com/office/drawing/2014/main" id="{D2CF0726-D85B-439E-8456-4FB47043A6E5}"/>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k = 1 / MPS</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1 / 0.25</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4</a:t>
            </a:r>
          </a:p>
          <a:p xmlns:a="http://schemas.openxmlformats.org/drawingml/2006/main">
            <a:endParaRPr sz="2400" b="1" i="0">
              <a:solidFill>
                <a:srgbClr val="000000"/>
              </a:solidFill>
              <a:latin typeface="Arial"/>
              <a:ea typeface="Arial"/>
              <a:cs typeface="Arial"/>
            </a:endParaRP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ΔY = 4 × £60m = £240m</a:t>
            </a:r>
          </a:p>
        </p:txBody>
      </p:sp>
    </p:spTree>
    <p:extLst>
      <p:ext uri="{BB962C8B-B14F-4D97-AF65-F5344CB8AC3E}">
        <p14:creationId xmlns:p14="http://schemas.microsoft.com/office/powerpoint/2010/main" val="4784236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2-title">
            <a:extLst xmlns:a="http://schemas.openxmlformats.org/drawingml/2006/main">
              <a:ext uri="{FF2B5EF4-FFF2-40B4-BE49-F238E27FC236}">
                <a16:creationId xmlns:a16="http://schemas.microsoft.com/office/drawing/2014/main" id="{E07225DA-120E-455E-BA82-EA065B2E1833}"/>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B: open economy with government</a:t>
            </a:r>
          </a:p>
        </p:txBody>
      </p:sp>
      <p:sp>
        <p:nvSpPr>
          <p:cNvPr id="3" name="Rectangle 2">
            <a:extLst xmlns:a="http://schemas.openxmlformats.org/drawingml/2006/main">
              <a:ext uri="{FF2B5EF4-FFF2-40B4-BE49-F238E27FC236}">
                <a16:creationId xmlns:a16="http://schemas.microsoft.com/office/drawing/2014/main" id="{42442838-0020-4872-A4B0-BE9653170A2E}"/>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A7498B18-508A-4A09-9A74-71FA8ACE1776}"/>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23</a:t>
            </a:r>
          </a:p>
        </p:txBody>
      </p:sp>
      <p:sp>
        <p:nvSpPr>
          <p:cNvPr id="5" name="Rectangle 4">
            <a:extLst xmlns:a="http://schemas.openxmlformats.org/drawingml/2006/main">
              <a:ext uri="{FF2B5EF4-FFF2-40B4-BE49-F238E27FC236}">
                <a16:creationId xmlns:a16="http://schemas.microsoft.com/office/drawing/2014/main" id="{251E8996-3CFA-467E-A04D-740E4A272695}"/>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DE8F546D-2BF8-4567-B583-D6771F5800AF}"/>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xmlns:a="http://schemas.openxmlformats.org/drawingml/2006/main">
              <a:ext uri="{FF2B5EF4-FFF2-40B4-BE49-F238E27FC236}">
                <a16:creationId xmlns:a16="http://schemas.microsoft.com/office/drawing/2014/main" id="{477F9AF9-B64F-4CA0-8C0C-2883A583FE11}"/>
              </a:ext>
            </a:extLst>
          </p:cNvPr>
          <p:cNvSpPr>
            <a:spLocks xmlns:a="http://schemas.openxmlformats.org/drawingml/2006/main" noGrp="1"/>
          </p:cNvSpPr>
          <p:nvPr/>
        </p:nvSpPr>
        <p:spPr>
          <a:xfrm xmlns:a="http://schemas.openxmlformats.org/drawingml/2006/main">
            <a:off x="1047750" y="2524125"/>
            <a:ext cx="4000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MPS = 0.20</a:t>
            </a: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MPM = 0.15</a:t>
            </a: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MRT = 0.15</a:t>
            </a:r>
          </a:p>
          <a:p xmlns:a="http://schemas.openxmlformats.org/drawingml/2006/main">
            <a:endParaRPr sz="2175" b="1" i="0">
              <a:solidFill>
                <a:srgbClr val="000000"/>
              </a:solidFill>
              <a:latin typeface="Arial"/>
              <a:ea typeface="Arial"/>
              <a:cs typeface="Arial"/>
            </a:endParaRPr>
          </a:p>
          <a:p xmlns:a="http://schemas.openxmlformats.org/drawingml/2006/main">
            <a:pPr algn="l">
              <a:buNone/>
              <a:defRPr sz="2175" b="1" i="0">
                <a:solidFill>
                  <a:srgbClr val="000000"/>
                </a:solidFill>
                <a:latin typeface="Arial"/>
                <a:ea typeface="Arial"/>
                <a:cs typeface="Arial"/>
              </a:defRPr>
            </a:pPr>
            <a:r>
              <a:rPr sz="2175" b="1" i="0">
                <a:solidFill>
                  <a:srgbClr val="000000"/>
                </a:solidFill>
                <a:latin typeface="Arial"/>
                <a:ea typeface="Arial"/>
                <a:cs typeface="Arial"/>
              </a:rPr>
              <a:t>Government spending rises by £90m.</a:t>
            </a:r>
          </a:p>
        </p:txBody>
      </p:sp>
      <p:sp>
        <p:nvSpPr>
          <p:cNvPr id="8" name="Rectangle 7">
            <a:extLst xmlns:a="http://schemas.openxmlformats.org/drawingml/2006/main">
              <a:ext uri="{FF2B5EF4-FFF2-40B4-BE49-F238E27FC236}">
                <a16:creationId xmlns:a16="http://schemas.microsoft.com/office/drawing/2014/main" id="{E7C8F353-71F7-4E7B-8E33-4E2DB2E959CC}"/>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Rectangle 8">
            <a:extLst xmlns:a="http://schemas.openxmlformats.org/drawingml/2006/main">
              <a:ext uri="{FF2B5EF4-FFF2-40B4-BE49-F238E27FC236}">
                <a16:creationId xmlns:a16="http://schemas.microsoft.com/office/drawing/2014/main" id="{7DFB1A63-CFAB-4C92-9BE8-F351E7609945}"/>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xmlns:a="http://schemas.openxmlformats.org/drawingml/2006/main">
              <a:ext uri="{FF2B5EF4-FFF2-40B4-BE49-F238E27FC236}">
                <a16:creationId xmlns:a16="http://schemas.microsoft.com/office/drawing/2014/main" id="{B60ED464-4748-48C1-885B-B769655C1957}"/>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MPW = 0.20 + 0.15 + 0.15 = 0.50</a:t>
            </a:r>
          </a:p>
          <a:p xmlns:a="http://schemas.openxmlformats.org/drawingml/2006/main">
            <a:endParaRPr sz="2250" b="1" i="0">
              <a:solidFill>
                <a:srgbClr val="000000"/>
              </a:solidFill>
              <a:latin typeface="Arial"/>
              <a:ea typeface="Arial"/>
              <a:cs typeface="Arial"/>
            </a:endParaRP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k = 1 / 0.50 = 2</a:t>
            </a:r>
          </a:p>
          <a:p xmlns:a="http://schemas.openxmlformats.org/drawingml/2006/main">
            <a:endParaRPr sz="2250" b="1" i="0">
              <a:solidFill>
                <a:srgbClr val="000000"/>
              </a:solidFill>
              <a:latin typeface="Arial"/>
              <a:ea typeface="Arial"/>
              <a:cs typeface="Arial"/>
            </a:endParaRP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ΔY = 2 × £90m = £180m</a:t>
            </a:r>
          </a:p>
        </p:txBody>
      </p:sp>
    </p:spTree>
    <p:extLst>
      <p:ext uri="{BB962C8B-B14F-4D97-AF65-F5344CB8AC3E}">
        <p14:creationId xmlns:p14="http://schemas.microsoft.com/office/powerpoint/2010/main" val="100137572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23-title">
            <a:extLst xmlns:a="http://schemas.openxmlformats.org/drawingml/2006/main">
              <a:ext uri="{FF2B5EF4-FFF2-40B4-BE49-F238E27FC236}">
                <a16:creationId xmlns:a16="http://schemas.microsoft.com/office/drawing/2014/main" id="{FC9BFC23-9B3D-4EFF-ADA2-958E2945408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 backwards: reconstruct the total change</a:t>
            </a:r>
          </a:p>
        </p:txBody>
      </p:sp>
      <p:sp>
        <p:nvSpPr>
          <p:cNvPr id="3" name="Rectangle 2">
            <a:extLst xmlns:a="http://schemas.openxmlformats.org/drawingml/2006/main">
              <a:ext uri="{FF2B5EF4-FFF2-40B4-BE49-F238E27FC236}">
                <a16:creationId xmlns:a16="http://schemas.microsoft.com/office/drawing/2014/main" id="{849FAF19-7ADD-4D4E-B6B1-0F977DD18310}"/>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CE459E5-38C8-4D0C-802D-923832E71990}"/>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sp>
        <p:nvSpPr>
          <p:cNvPr id="5" name="Rectangle 4">
            <a:extLst xmlns:a="http://schemas.openxmlformats.org/drawingml/2006/main">
              <a:ext uri="{FF2B5EF4-FFF2-40B4-BE49-F238E27FC236}">
                <a16:creationId xmlns:a16="http://schemas.microsoft.com/office/drawing/2014/main" id="{5FBD971A-EAA2-4BB3-9FE9-F4D175415441}"/>
              </a:ext>
            </a:extLst>
          </p:cNvPr>
          <p:cNvSpPr>
            <a:spLocks xmlns:a="http://schemas.openxmlformats.org/drawingml/2006/main" noGrp="1"/>
          </p:cNvSpPr>
          <p:nvPr/>
        </p:nvSpPr>
        <p:spPr>
          <a:xfrm xmlns:a="http://schemas.openxmlformats.org/drawingml/2006/main">
            <a:off x="857250" y="157162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 a closed economy with no government, investment rises by £400m and consumption rises by £1,200m.</a:t>
            </a:r>
          </a:p>
        </p:txBody>
      </p:sp>
      <p:cxnSp>
        <p:nvCxnSpPr>
          <p:cNvPr id="83" name="Straight Arrow Connector 60"/>
          <p:cNvCxnSpPr/>
          <p:nvPr/>
        </p:nvCxnSpPr>
        <p:spPr>
          <a:xfrm xmlns:a="http://schemas.openxmlformats.org/drawingml/2006/main">
            <a:off x="1619250" y="3381375"/>
            <a:ext cx="8953500" cy="95"/>
          </a:xfrm>
          <a:prstGeom xmlns:a="http://schemas.openxmlformats.org/drawingml/2006/main" prst="straightConnector1">
            <a:avLst/>
          </a:prstGeom>
          <a:ln xmlns:a="http://schemas.openxmlformats.org/drawingml/2006/main" w="28575">
            <a:solidFill>
              <a:srgbClr val="B8BCC4"/>
            </a:solidFill>
            <a:prstDash val="solid"/>
          </a:ln>
        </p:spPr>
      </p:cxnSp>
      <p:sp>
        <p:nvSpPr>
          <p:cNvPr id="7" name="Oval 6">
            <a:extLst xmlns:a="http://schemas.openxmlformats.org/drawingml/2006/main">
              <a:ext uri="{FF2B5EF4-FFF2-40B4-BE49-F238E27FC236}">
                <a16:creationId xmlns:a16="http://schemas.microsoft.com/office/drawing/2014/main" id="{2A148A05-D9BC-44F3-9C78-3790A66777CF}"/>
              </a:ext>
            </a:extLst>
          </p:cNvPr>
          <p:cNvSpPr>
            <a:spLocks xmlns:a="http://schemas.openxmlformats.org/drawingml/2006/main" noGrp="1"/>
          </p:cNvSpPr>
          <p:nvPr/>
        </p:nvSpPr>
        <p:spPr>
          <a:xfrm xmlns:a="http://schemas.openxmlformats.org/drawingml/2006/main">
            <a:off x="123825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8" name="Rectangle 7">
            <a:extLst xmlns:a="http://schemas.openxmlformats.org/drawingml/2006/main">
              <a:ext uri="{FF2B5EF4-FFF2-40B4-BE49-F238E27FC236}">
                <a16:creationId xmlns:a16="http://schemas.microsoft.com/office/drawing/2014/main" id="{28D33796-3082-4BD4-9129-AC7B4E6A43BB}"/>
              </a:ext>
            </a:extLst>
          </p:cNvPr>
          <p:cNvSpPr>
            <a:spLocks xmlns:a="http://schemas.openxmlformats.org/drawingml/2006/main" noGrp="1"/>
          </p:cNvSpPr>
          <p:nvPr/>
        </p:nvSpPr>
        <p:spPr>
          <a:xfrm xmlns:a="http://schemas.openxmlformats.org/drawingml/2006/main">
            <a:off x="71437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INJECTION</a:t>
            </a:r>
          </a:p>
        </p:txBody>
      </p:sp>
      <p:sp>
        <p:nvSpPr>
          <p:cNvPr id="9" name="Rectangle 8">
            <a:extLst xmlns:a="http://schemas.openxmlformats.org/drawingml/2006/main">
              <a:ext uri="{FF2B5EF4-FFF2-40B4-BE49-F238E27FC236}">
                <a16:creationId xmlns:a16="http://schemas.microsoft.com/office/drawing/2014/main" id="{348999A4-5422-45A5-B56A-97A3E25A3664}"/>
              </a:ext>
            </a:extLst>
          </p:cNvPr>
          <p:cNvSpPr>
            <a:spLocks xmlns:a="http://schemas.openxmlformats.org/drawingml/2006/main" noGrp="1"/>
          </p:cNvSpPr>
          <p:nvPr/>
        </p:nvSpPr>
        <p:spPr>
          <a:xfrm xmlns:a="http://schemas.openxmlformats.org/drawingml/2006/main">
            <a:off x="57150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£400m</a:t>
            </a:r>
          </a:p>
        </p:txBody>
      </p:sp>
      <p:sp>
        <p:nvSpPr>
          <p:cNvPr id="10" name="Oval 9">
            <a:extLst xmlns:a="http://schemas.openxmlformats.org/drawingml/2006/main">
              <a:ext uri="{FF2B5EF4-FFF2-40B4-BE49-F238E27FC236}">
                <a16:creationId xmlns:a16="http://schemas.microsoft.com/office/drawing/2014/main" id="{10AA7DD8-8CEA-4BCF-B16F-01C98E16FE3B}"/>
              </a:ext>
            </a:extLst>
          </p:cNvPr>
          <p:cNvSpPr>
            <a:spLocks xmlns:a="http://schemas.openxmlformats.org/drawingml/2006/main" noGrp="1"/>
          </p:cNvSpPr>
          <p:nvPr/>
        </p:nvSpPr>
        <p:spPr>
          <a:xfrm xmlns:a="http://schemas.openxmlformats.org/drawingml/2006/main">
            <a:off x="419100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1" name="Rectangle 10">
            <a:extLst xmlns:a="http://schemas.openxmlformats.org/drawingml/2006/main">
              <a:ext uri="{FF2B5EF4-FFF2-40B4-BE49-F238E27FC236}">
                <a16:creationId xmlns:a16="http://schemas.microsoft.com/office/drawing/2014/main" id="{03949470-50FE-4254-86D1-AE6BAACEF825}"/>
              </a:ext>
            </a:extLst>
          </p:cNvPr>
          <p:cNvSpPr>
            <a:spLocks xmlns:a="http://schemas.openxmlformats.org/drawingml/2006/main" noGrp="1"/>
          </p:cNvSpPr>
          <p:nvPr/>
        </p:nvSpPr>
        <p:spPr>
          <a:xfrm xmlns:a="http://schemas.openxmlformats.org/drawingml/2006/main">
            <a:off x="366712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INDUCED C</a:t>
            </a:r>
          </a:p>
        </p:txBody>
      </p:sp>
      <p:sp>
        <p:nvSpPr>
          <p:cNvPr id="12" name="Rectangle 11">
            <a:extLst xmlns:a="http://schemas.openxmlformats.org/drawingml/2006/main">
              <a:ext uri="{FF2B5EF4-FFF2-40B4-BE49-F238E27FC236}">
                <a16:creationId xmlns:a16="http://schemas.microsoft.com/office/drawing/2014/main" id="{58322866-639C-4F07-96F8-58482DACFD36}"/>
              </a:ext>
            </a:extLst>
          </p:cNvPr>
          <p:cNvSpPr>
            <a:spLocks xmlns:a="http://schemas.openxmlformats.org/drawingml/2006/main" noGrp="1"/>
          </p:cNvSpPr>
          <p:nvPr/>
        </p:nvSpPr>
        <p:spPr>
          <a:xfrm xmlns:a="http://schemas.openxmlformats.org/drawingml/2006/main">
            <a:off x="352425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£1,200m</a:t>
            </a:r>
          </a:p>
        </p:txBody>
      </p:sp>
      <p:sp>
        <p:nvSpPr>
          <p:cNvPr id="13" name="Oval 12">
            <a:extLst xmlns:a="http://schemas.openxmlformats.org/drawingml/2006/main">
              <a:ext uri="{FF2B5EF4-FFF2-40B4-BE49-F238E27FC236}">
                <a16:creationId xmlns:a16="http://schemas.microsoft.com/office/drawing/2014/main" id="{43AD14F2-A36A-4DD8-8B41-DCCE53138814}"/>
              </a:ext>
            </a:extLst>
          </p:cNvPr>
          <p:cNvSpPr>
            <a:spLocks xmlns:a="http://schemas.openxmlformats.org/drawingml/2006/main" noGrp="1"/>
          </p:cNvSpPr>
          <p:nvPr/>
        </p:nvSpPr>
        <p:spPr>
          <a:xfrm xmlns:a="http://schemas.openxmlformats.org/drawingml/2006/main">
            <a:off x="7143750" y="2905125"/>
            <a:ext cx="952500" cy="95250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4" name="Rectangle 13">
            <a:extLst xmlns:a="http://schemas.openxmlformats.org/drawingml/2006/main">
              <a:ext uri="{FF2B5EF4-FFF2-40B4-BE49-F238E27FC236}">
                <a16:creationId xmlns:a16="http://schemas.microsoft.com/office/drawing/2014/main" id="{E413A01A-CA7F-414F-81D6-61B398F1408C}"/>
              </a:ext>
            </a:extLst>
          </p:cNvPr>
          <p:cNvSpPr>
            <a:spLocks xmlns:a="http://schemas.openxmlformats.org/drawingml/2006/main" noGrp="1"/>
          </p:cNvSpPr>
          <p:nvPr/>
        </p:nvSpPr>
        <p:spPr>
          <a:xfrm xmlns:a="http://schemas.openxmlformats.org/drawingml/2006/main">
            <a:off x="661987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TOTAL ΔY</a:t>
            </a:r>
          </a:p>
        </p:txBody>
      </p:sp>
      <p:sp>
        <p:nvSpPr>
          <p:cNvPr id="15" name="Rectangle 14">
            <a:extLst xmlns:a="http://schemas.openxmlformats.org/drawingml/2006/main">
              <a:ext uri="{FF2B5EF4-FFF2-40B4-BE49-F238E27FC236}">
                <a16:creationId xmlns:a16="http://schemas.microsoft.com/office/drawing/2014/main" id="{9D577C2F-77D4-4DDA-8962-E7A9C59F4F9A}"/>
              </a:ext>
            </a:extLst>
          </p:cNvPr>
          <p:cNvSpPr>
            <a:spLocks xmlns:a="http://schemas.openxmlformats.org/drawingml/2006/main" noGrp="1"/>
          </p:cNvSpPr>
          <p:nvPr/>
        </p:nvSpPr>
        <p:spPr>
          <a:xfrm xmlns:a="http://schemas.openxmlformats.org/drawingml/2006/main">
            <a:off x="647700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£1,600m</a:t>
            </a:r>
          </a:p>
        </p:txBody>
      </p:sp>
      <p:sp>
        <p:nvSpPr>
          <p:cNvPr id="16" name="Oval 15">
            <a:extLst xmlns:a="http://schemas.openxmlformats.org/drawingml/2006/main">
              <a:ext uri="{FF2B5EF4-FFF2-40B4-BE49-F238E27FC236}">
                <a16:creationId xmlns:a16="http://schemas.microsoft.com/office/drawing/2014/main" id="{06D1F5FB-1115-4981-AFEF-EEC0608EB87F}"/>
              </a:ext>
            </a:extLst>
          </p:cNvPr>
          <p:cNvSpPr>
            <a:spLocks xmlns:a="http://schemas.openxmlformats.org/drawingml/2006/main" noGrp="1"/>
          </p:cNvSpPr>
          <p:nvPr/>
        </p:nvSpPr>
        <p:spPr>
          <a:xfrm xmlns:a="http://schemas.openxmlformats.org/drawingml/2006/main">
            <a:off x="9715500" y="2905125"/>
            <a:ext cx="952500" cy="95250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7" name="Rectangle 16">
            <a:extLst xmlns:a="http://schemas.openxmlformats.org/drawingml/2006/main">
              <a:ext uri="{FF2B5EF4-FFF2-40B4-BE49-F238E27FC236}">
                <a16:creationId xmlns:a16="http://schemas.microsoft.com/office/drawing/2014/main" id="{32A4B055-A80F-4852-90CE-45A8A6199DC7}"/>
              </a:ext>
            </a:extLst>
          </p:cNvPr>
          <p:cNvSpPr>
            <a:spLocks xmlns:a="http://schemas.openxmlformats.org/drawingml/2006/main" noGrp="1"/>
          </p:cNvSpPr>
          <p:nvPr/>
        </p:nvSpPr>
        <p:spPr>
          <a:xfrm xmlns:a="http://schemas.openxmlformats.org/drawingml/2006/main">
            <a:off x="9191625" y="4191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MULTIPLIER</a:t>
            </a:r>
          </a:p>
        </p:txBody>
      </p:sp>
      <p:sp>
        <p:nvSpPr>
          <p:cNvPr id="18" name="Rectangle 17">
            <a:extLst xmlns:a="http://schemas.openxmlformats.org/drawingml/2006/main">
              <a:ext uri="{FF2B5EF4-FFF2-40B4-BE49-F238E27FC236}">
                <a16:creationId xmlns:a16="http://schemas.microsoft.com/office/drawing/2014/main" id="{C0AA5310-6480-4364-8F1B-90ADE80040E7}"/>
              </a:ext>
            </a:extLst>
          </p:cNvPr>
          <p:cNvSpPr>
            <a:spLocks xmlns:a="http://schemas.openxmlformats.org/drawingml/2006/main" noGrp="1"/>
          </p:cNvSpPr>
          <p:nvPr/>
        </p:nvSpPr>
        <p:spPr>
          <a:xfrm xmlns:a="http://schemas.openxmlformats.org/drawingml/2006/main">
            <a:off x="9048750" y="46672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1,600 / 400 = 4</a:t>
            </a:r>
          </a:p>
        </p:txBody>
      </p:sp>
      <p:sp>
        <p:nvSpPr>
          <p:cNvPr id="19" name="Rectangle 18">
            <a:extLst xmlns:a="http://schemas.openxmlformats.org/drawingml/2006/main">
              <a:ext uri="{FF2B5EF4-FFF2-40B4-BE49-F238E27FC236}">
                <a16:creationId xmlns:a16="http://schemas.microsoft.com/office/drawing/2014/main" id="{8E326908-BED1-428A-9240-6DD75913A540}"/>
              </a:ext>
            </a:extLst>
          </p:cNvPr>
          <p:cNvSpPr>
            <a:spLocks xmlns:a="http://schemas.openxmlformats.org/drawingml/2006/main" noGrp="1"/>
          </p:cNvSpPr>
          <p:nvPr/>
        </p:nvSpPr>
        <p:spPr>
          <a:xfrm xmlns:a="http://schemas.openxmlformats.org/drawingml/2006/main">
            <a:off x="2857500" y="5762625"/>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Then MPS = 1/k = 0.25 and MPC = 0.75.</a:t>
            </a:r>
          </a:p>
        </p:txBody>
      </p:sp>
    </p:spTree>
    <p:extLst>
      <p:ext uri="{BB962C8B-B14F-4D97-AF65-F5344CB8AC3E}">
        <p14:creationId xmlns:p14="http://schemas.microsoft.com/office/powerpoint/2010/main" val="1510802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s-bridge.inherited-11">
            <a:extLst xmlns:a="http://schemas.openxmlformats.org/drawingml/2006/main">
              <a:ext uri="{FF2B5EF4-FFF2-40B4-BE49-F238E27FC236}">
                <a16:creationId xmlns:a16="http://schemas.microsoft.com/office/drawing/2014/main" id="{1F5E8E51-9152-4D25-AE91-80C54A243B7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Use AS ideas to build a new diagram</a:t>
            </a:r>
          </a:p>
        </p:txBody>
      </p:sp>
      <p:sp>
        <p:nvSpPr>
          <p:cNvPr id="3" name="as-bridge.inherited-3">
            <a:extLst xmlns:a="http://schemas.openxmlformats.org/drawingml/2006/main">
              <a:ext uri="{FF2B5EF4-FFF2-40B4-BE49-F238E27FC236}">
                <a16:creationId xmlns:a16="http://schemas.microsoft.com/office/drawing/2014/main" id="{6ECB88C5-5C0A-4DCB-B406-D9E595B3AE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s-bridge.inherited-4">
            <a:extLst xmlns:a="http://schemas.openxmlformats.org/drawingml/2006/main">
              <a:ext uri="{FF2B5EF4-FFF2-40B4-BE49-F238E27FC236}">
                <a16:creationId xmlns:a16="http://schemas.microsoft.com/office/drawing/2014/main" id="{1911F5CE-1108-427A-A036-71CB087F303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25</a:t>
            </a:r>
          </a:p>
        </p:txBody>
      </p:sp>
      <p:sp>
        <p:nvSpPr>
          <p:cNvPr id="5" name="as-bridge.inherited-5">
            <a:extLst xmlns:a="http://schemas.openxmlformats.org/drawingml/2006/main">
              <a:ext uri="{FF2B5EF4-FFF2-40B4-BE49-F238E27FC236}">
                <a16:creationId xmlns:a16="http://schemas.microsoft.com/office/drawing/2014/main" id="{1F5D9A02-B402-4038-B4D0-A3450121F994}"/>
              </a:ext>
            </a:extLst>
          </p:cNvPr>
          <p:cNvSpPr>
            <a:spLocks xmlns:a="http://schemas.openxmlformats.org/drawingml/2006/main" noGrp="1"/>
          </p:cNvSpPr>
          <p:nvPr/>
        </p:nvSpPr>
        <p:spPr>
          <a:xfrm xmlns:a="http://schemas.openxmlformats.org/drawingml/2006/main">
            <a:off x="666750" y="1666875"/>
            <a:ext cx="5143500" cy="371475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as-bridge.inherited-6">
            <a:extLst xmlns:a="http://schemas.openxmlformats.org/drawingml/2006/main">
              <a:ext uri="{FF2B5EF4-FFF2-40B4-BE49-F238E27FC236}">
                <a16:creationId xmlns:a16="http://schemas.microsoft.com/office/drawing/2014/main" id="{A4C4D33E-3B06-4CC3-9505-EC155B259C47}"/>
              </a:ext>
            </a:extLst>
          </p:cNvPr>
          <p:cNvSpPr>
            <a:spLocks xmlns:a="http://schemas.openxmlformats.org/drawingml/2006/main" noGrp="1"/>
          </p:cNvSpPr>
          <p:nvPr/>
        </p:nvSpPr>
        <p:spPr>
          <a:xfrm xmlns:a="http://schemas.openxmlformats.org/drawingml/2006/main">
            <a:off x="1047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spcAft>
                <a:spcPts val="600"/>
              </a:spcAft>
              <a:buNone/>
              <a:defRPr sz="2000" b="1" i="0">
                <a:solidFill>
                  <a:srgbClr val="3D8DFF"/>
                </a:solidFill>
                <a:latin typeface="Arial"/>
                <a:ea typeface="Arial"/>
                <a:cs typeface="Arial"/>
              </a:defRPr>
            </a:pPr>
            <a:r>
              <a:rPr sz="2000" b="1" i="0">
                <a:solidFill>
                  <a:srgbClr val="3D8DFF"/>
                </a:solidFill>
                <a:latin typeface="Arial"/>
                <a:ea typeface="Arial"/>
                <a:cs typeface="Arial"/>
              </a:rPr>
              <a:t>ALREADY LEARNED AT AS</a:t>
            </a:r>
          </a:p>
        </p:txBody>
      </p:sp>
      <p:sp>
        <p:nvSpPr>
          <p:cNvPr id="7" name="as-bridge.inherited-7">
            <a:extLst xmlns:a="http://schemas.openxmlformats.org/drawingml/2006/main">
              <a:ext uri="{FF2B5EF4-FFF2-40B4-BE49-F238E27FC236}">
                <a16:creationId xmlns:a16="http://schemas.microsoft.com/office/drawing/2014/main" id="{33620425-9C0E-45ED-8C26-DC650D3A0C0A}"/>
              </a:ext>
            </a:extLst>
          </p:cNvPr>
          <p:cNvSpPr>
            <a:spLocks xmlns:a="http://schemas.openxmlformats.org/drawingml/2006/main" noGrp="1"/>
          </p:cNvSpPr>
          <p:nvPr/>
        </p:nvSpPr>
        <p:spPr>
          <a:xfrm xmlns:a="http://schemas.openxmlformats.org/drawingml/2006/main">
            <a:off x="1047750" y="2571750"/>
            <a:ext cx="4286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spcAft>
                <a:spcPts val="600"/>
              </a:spcAft>
              <a:buNone/>
              <a:defRPr sz="2000" b="0" i="0">
                <a:solidFill>
                  <a:srgbClr val="000000"/>
                </a:solidFill>
                <a:latin typeface="Arial"/>
                <a:ea typeface="Arial"/>
                <a:cs typeface="Arial"/>
              </a:defRPr>
            </a:pPr>
            <a:r>
              <a:rPr sz="2000" b="0" i="0">
                <a:solidFill>
                  <a:srgbClr val="000000"/>
                </a:solidFill>
                <a:latin typeface="Arial"/>
                <a:ea typeface="Arial"/>
                <a:cs typeface="Arial"/>
              </a:rPr>
              <a:t>• Spending creates income for others.</a:t>
            </a:r>
          </a:p>
          <a:p xmlns:a="http://schemas.openxmlformats.org/drawingml/2006/main">
            <a:pPr algn="l">
              <a:spcAft>
                <a:spcPts val="600"/>
              </a:spcAft>
              <a:buNone/>
              <a:defRPr sz="2000" b="0" i="0">
                <a:solidFill>
                  <a:srgbClr val="000000"/>
                </a:solidFill>
                <a:latin typeface="Arial"/>
                <a:ea typeface="Arial"/>
                <a:cs typeface="Arial"/>
              </a:defRPr>
            </a:pPr>
            <a:r>
              <a:rPr sz="2000" b="0" i="0">
                <a:solidFill>
                  <a:srgbClr val="000000"/>
                </a:solidFill>
                <a:latin typeface="Arial"/>
                <a:ea typeface="Arial"/>
                <a:cs typeface="Arial"/>
              </a:rPr>
              <a:t>• I, G and X are injections; S, T and M are leakages.</a:t>
            </a:r>
          </a:p>
          <a:p xmlns:a="http://schemas.openxmlformats.org/drawingml/2006/main">
            <a:pPr algn="l">
              <a:spcAft>
                <a:spcPts val="600"/>
              </a:spcAft>
              <a:buNone/>
              <a:defRPr sz="2000" b="0" i="0">
                <a:solidFill>
                  <a:srgbClr val="000000"/>
                </a:solidFill>
                <a:latin typeface="Arial"/>
                <a:ea typeface="Arial"/>
                <a:cs typeface="Arial"/>
              </a:defRPr>
            </a:pPr>
            <a:r>
              <a:rPr sz="2000" b="0" i="0">
                <a:solidFill>
                  <a:srgbClr val="000000"/>
                </a:solidFill>
                <a:latin typeface="Arial"/>
                <a:ea typeface="Arial"/>
                <a:cs typeface="Arial"/>
              </a:rPr>
              <a:t>• AD/AS links real output to the price level.</a:t>
            </a:r>
          </a:p>
        </p:txBody>
      </p:sp>
      <p:sp>
        <p:nvSpPr>
          <p:cNvPr id="8" name="as-bridge.inherited-8">
            <a:extLst xmlns:a="http://schemas.openxmlformats.org/drawingml/2006/main">
              <a:ext uri="{FF2B5EF4-FFF2-40B4-BE49-F238E27FC236}">
                <a16:creationId xmlns:a16="http://schemas.microsoft.com/office/drawing/2014/main" id="{02C52675-89C0-48A7-B8E3-6A52BA483907}"/>
              </a:ext>
            </a:extLst>
          </p:cNvPr>
          <p:cNvSpPr>
            <a:spLocks xmlns:a="http://schemas.openxmlformats.org/drawingml/2006/main" noGrp="1"/>
          </p:cNvSpPr>
          <p:nvPr/>
        </p:nvSpPr>
        <p:spPr>
          <a:xfrm xmlns:a="http://schemas.openxmlformats.org/drawingml/2006/main">
            <a:off x="6381750" y="1666875"/>
            <a:ext cx="5143500" cy="3714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9" name="as-bridge.inherited-9">
            <a:extLst xmlns:a="http://schemas.openxmlformats.org/drawingml/2006/main">
              <a:ext uri="{FF2B5EF4-FFF2-40B4-BE49-F238E27FC236}">
                <a16:creationId xmlns:a16="http://schemas.microsoft.com/office/drawing/2014/main" id="{62D4504D-0702-46C3-82B4-7118C0DDF17B}"/>
              </a:ext>
            </a:extLst>
          </p:cNvPr>
          <p:cNvSpPr>
            <a:spLocks xmlns:a="http://schemas.openxmlformats.org/drawingml/2006/main" noGrp="1"/>
          </p:cNvSpPr>
          <p:nvPr/>
        </p:nvSpPr>
        <p:spPr>
          <a:xfrm xmlns:a="http://schemas.openxmlformats.org/drawingml/2006/main">
            <a:off x="6762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spcAft>
                <a:spcPts val="600"/>
              </a:spcAft>
              <a:buNone/>
              <a:defRPr sz="2000" b="1" i="0">
                <a:solidFill>
                  <a:srgbClr val="3D8DFF"/>
                </a:solidFill>
                <a:latin typeface="Arial"/>
                <a:ea typeface="Arial"/>
                <a:cs typeface="Arial"/>
              </a:defRPr>
            </a:pPr>
            <a:r>
              <a:rPr sz="2000" b="1" i="0">
                <a:solidFill>
                  <a:srgbClr val="3D8DFF"/>
                </a:solidFill>
                <a:latin typeface="Arial"/>
                <a:ea typeface="Arial"/>
                <a:cs typeface="Arial"/>
              </a:rPr>
              <a:t>NEW IN THE INCOME APPROACH</a:t>
            </a:r>
          </a:p>
        </p:txBody>
      </p:sp>
      <p:sp>
        <p:nvSpPr>
          <p:cNvPr id="10" name="as-bridge.inherited-10">
            <a:extLst xmlns:a="http://schemas.openxmlformats.org/drawingml/2006/main">
              <a:ext uri="{FF2B5EF4-FFF2-40B4-BE49-F238E27FC236}">
                <a16:creationId xmlns:a16="http://schemas.microsoft.com/office/drawing/2014/main" id="{A8D39BC7-19F0-4432-BF49-E11168B68A24}"/>
              </a:ext>
            </a:extLst>
          </p:cNvPr>
          <p:cNvSpPr>
            <a:spLocks xmlns:a="http://schemas.openxmlformats.org/drawingml/2006/main" noGrp="1"/>
          </p:cNvSpPr>
          <p:nvPr/>
        </p:nvSpPr>
        <p:spPr>
          <a:xfrm xmlns:a="http://schemas.openxmlformats.org/drawingml/2006/main">
            <a:off x="6762750" y="2667000"/>
            <a:ext cx="4381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spcAft>
                <a:spcPts val="600"/>
              </a:spcAft>
              <a:buNone/>
              <a:defRPr sz="2000" b="1" i="0">
                <a:solidFill>
                  <a:srgbClr val="000000"/>
                </a:solidFill>
                <a:latin typeface="Arial"/>
                <a:ea typeface="Arial"/>
                <a:cs typeface="Arial"/>
              </a:defRPr>
            </a:pPr>
            <a:r>
              <a:rPr sz="2000" b="1" i="0">
                <a:solidFill>
                  <a:srgbClr val="000000"/>
                </a:solidFill>
                <a:latin typeface="Arial"/>
                <a:ea typeface="Arial"/>
                <a:cs typeface="Arial"/>
              </a:rPr>
              <a:t>AE = total planned spending at each income level.</a:t>
            </a:r>
          </a:p>
          <a:p xmlns:a="http://schemas.openxmlformats.org/drawingml/2006/main">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
            </a:r>
          </a:p>
          <a:p xmlns:a="http://schemas.openxmlformats.org/drawingml/2006/main">
            <a:pPr algn="ctr">
              <a:spcAft>
                <a:spcPts val="600"/>
              </a:spcAft>
              <a:buNone/>
              <a:defRPr sz="2000" b="1" i="0">
                <a:solidFill>
                  <a:srgbClr val="000000"/>
                </a:solidFill>
                <a:latin typeface="Arial"/>
                <a:ea typeface="Arial"/>
                <a:cs typeface="Arial"/>
              </a:defRPr>
            </a:pPr>
            <a:r>
              <a:rPr sz="2000" b="1" i="0">
                <a:solidFill>
                  <a:srgbClr val="000000"/>
                </a:solidFill>
                <a:latin typeface="Arial"/>
                <a:ea typeface="Arial"/>
                <a:cs typeface="Arial"/>
              </a:rPr>
              <a:t>Hold prices fixed; assume firms can produce more.</a:t>
            </a:r>
          </a:p>
        </p:txBody>
      </p:sp>
    </p:spTree>
    <p:extLst>
      <p:ext uri="{BB962C8B-B14F-4D97-AF65-F5344CB8AC3E}">
        <p14:creationId xmlns:p14="http://schemas.microsoft.com/office/powerpoint/2010/main" val="72823260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axes.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First read the two axes</a:t>
            </a:r>
          </a:p>
        </p:txBody>
      </p:sp>
      <p:sp>
        <p:nvSpPr>
          <p:cNvPr id="3" name="ae-axes.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axes.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26</a:t>
            </a:r>
          </a:p>
        </p:txBody>
      </p:sp>
      <p:cxnSp>
        <p:nvCxnSpPr>
          <p:cNvPr id="157" name="ae-axes.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58" name="ae-axes.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59" name="ae-axes.inherited-116"/>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0">
            <a:noFill/>
          </a:ln>
        </p:spPr>
      </p:cxnSp>
      <p:cxnSp>
        <p:nvCxnSpPr>
          <p:cNvPr id="160" name="ae-axes.inherited-117"/>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0">
            <a:noFill/>
          </a:ln>
        </p:spPr>
      </p:cxnSp>
      <p:cxnSp>
        <p:nvCxnSpPr>
          <p:cNvPr id="161" name="ae-axes.inherited-118"/>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0">
            <a:noFill/>
          </a:ln>
        </p:spPr>
      </p:cxnSp>
      <p:cxnSp>
        <p:nvCxnSpPr>
          <p:cNvPr id="162" name="ae-axes.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63" name="ae-axes.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axes.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axes.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axes.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 </a:t>
            </a:r>
          </a:p>
        </p:txBody>
      </p:sp>
      <p:sp>
        <p:nvSpPr>
          <p:cNvPr id="15" name="ae-axes.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6" name="ae-axes.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7" name="ae-axes.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axes.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axes.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WHAT DOES ONE POINT MEAN?</a:t>
            </a:r>
          </a:p>
        </p:txBody>
      </p:sp>
      <p:sp>
        <p:nvSpPr>
          <p:cNvPr id="20" name="ae-axes.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Y = £400m: the value of current output and the income it generates.</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AE = £350m: planned purchases of that output.</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Both are flows measured per year.</a:t>
            </a:r>
          </a:p>
        </p:txBody>
      </p:sp>
      <p:sp>
        <p:nvSpPr>
          <p:cNvPr id="21" name="ae-axes.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This point does not yet show equilibrium.</a:t>
            </a:r>
          </a:p>
        </p:txBody>
      </p:sp>
      <p:sp>
        <p:nvSpPr>
          <p:cNvPr id="131" name="ae-axes.guide-1">
            <a:extLst xmlns:a="http://schemas.openxmlformats.org/drawingml/2006/main">
              <a:ext uri="{FF2B5EF4-FFF2-40B4-BE49-F238E27FC236}">
                <a16:creationId xmlns:a16="http://schemas.microsoft.com/office/drawing/2014/main" id="{88816B00-08DA-47C0-8507-C6EDDCAB2A4A}"/>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axes.label-2">
            <a:extLst xmlns:a="http://schemas.openxmlformats.org/drawingml/2006/main">
              <a:ext uri="{FF2B5EF4-FFF2-40B4-BE49-F238E27FC236}">
                <a16:creationId xmlns:a16="http://schemas.microsoft.com/office/drawing/2014/main" id="{E04015C0-51B5-4718-AFC5-AC8E1171DAD1}"/>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axes.guide-3">
            <a:extLst xmlns:a="http://schemas.openxmlformats.org/drawingml/2006/main">
              <a:ext uri="{FF2B5EF4-FFF2-40B4-BE49-F238E27FC236}">
                <a16:creationId xmlns:a16="http://schemas.microsoft.com/office/drawing/2014/main" id="{E461E158-EE30-416A-9BF6-A8B59FFD6568}"/>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axes.label-4">
            <a:extLst xmlns:a="http://schemas.openxmlformats.org/drawingml/2006/main">
              <a:ext uri="{FF2B5EF4-FFF2-40B4-BE49-F238E27FC236}">
                <a16:creationId xmlns:a16="http://schemas.microsoft.com/office/drawing/2014/main" id="{16802718-AFA7-4413-916E-E3ED183D8D03}"/>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axes.guide-5">
            <a:extLst xmlns:a="http://schemas.openxmlformats.org/drawingml/2006/main">
              <a:ext uri="{FF2B5EF4-FFF2-40B4-BE49-F238E27FC236}">
                <a16:creationId xmlns:a16="http://schemas.microsoft.com/office/drawing/2014/main" id="{CE985537-FAF2-43CC-AF1E-DAC1A7E7DE73}"/>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axes.label-6">
            <a:extLst xmlns:a="http://schemas.openxmlformats.org/drawingml/2006/main">
              <a:ext uri="{FF2B5EF4-FFF2-40B4-BE49-F238E27FC236}">
                <a16:creationId xmlns:a16="http://schemas.microsoft.com/office/drawing/2014/main" id="{ADAC6D88-5CDA-441D-A8EA-1E9F61B4362F}"/>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axes.guide-7">
            <a:extLst xmlns:a="http://schemas.openxmlformats.org/drawingml/2006/main">
              <a:ext uri="{FF2B5EF4-FFF2-40B4-BE49-F238E27FC236}">
                <a16:creationId xmlns:a16="http://schemas.microsoft.com/office/drawing/2014/main" id="{DE53743E-3231-46B9-B2DE-FFAEDE8FE634}"/>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axes.label-8">
            <a:extLst xmlns:a="http://schemas.openxmlformats.org/drawingml/2006/main">
              <a:ext uri="{FF2B5EF4-FFF2-40B4-BE49-F238E27FC236}">
                <a16:creationId xmlns:a16="http://schemas.microsoft.com/office/drawing/2014/main" id="{99429CEF-0E94-4555-9E65-ABB1D0EA9C16}"/>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axes.guide-9">
            <a:extLst xmlns:a="http://schemas.openxmlformats.org/drawingml/2006/main">
              <a:ext uri="{FF2B5EF4-FFF2-40B4-BE49-F238E27FC236}">
                <a16:creationId xmlns:a16="http://schemas.microsoft.com/office/drawing/2014/main" id="{F9D513EE-F5F4-4284-8CAD-DD1379DA7577}"/>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axes.label-10">
            <a:extLst xmlns:a="http://schemas.openxmlformats.org/drawingml/2006/main">
              <a:ext uri="{FF2B5EF4-FFF2-40B4-BE49-F238E27FC236}">
                <a16:creationId xmlns:a16="http://schemas.microsoft.com/office/drawing/2014/main" id="{FEBD0C62-090D-4C06-899B-5A7E51FC6E50}"/>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axes.guide-11">
            <a:extLst xmlns:a="http://schemas.openxmlformats.org/drawingml/2006/main">
              <a:ext uri="{FF2B5EF4-FFF2-40B4-BE49-F238E27FC236}">
                <a16:creationId xmlns:a16="http://schemas.microsoft.com/office/drawing/2014/main" id="{A0121241-05B6-40B8-8470-88170BCC621B}"/>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axes.label-12">
            <a:extLst xmlns:a="http://schemas.openxmlformats.org/drawingml/2006/main">
              <a:ext uri="{FF2B5EF4-FFF2-40B4-BE49-F238E27FC236}">
                <a16:creationId xmlns:a16="http://schemas.microsoft.com/office/drawing/2014/main" id="{5044AB88-F483-40EB-8245-D5E474B2919C}"/>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axes.guide-13">
            <a:extLst xmlns:a="http://schemas.openxmlformats.org/drawingml/2006/main">
              <a:ext uri="{FF2B5EF4-FFF2-40B4-BE49-F238E27FC236}">
                <a16:creationId xmlns:a16="http://schemas.microsoft.com/office/drawing/2014/main" id="{7F56588F-4482-4A58-9D60-50387F957347}"/>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axes.label-14">
            <a:extLst xmlns:a="http://schemas.openxmlformats.org/drawingml/2006/main">
              <a:ext uri="{FF2B5EF4-FFF2-40B4-BE49-F238E27FC236}">
                <a16:creationId xmlns:a16="http://schemas.microsoft.com/office/drawing/2014/main" id="{A8A8C835-1059-4D88-976A-97E74AFE9135}"/>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axes.guide-15">
            <a:extLst xmlns:a="http://schemas.openxmlformats.org/drawingml/2006/main">
              <a:ext uri="{FF2B5EF4-FFF2-40B4-BE49-F238E27FC236}">
                <a16:creationId xmlns:a16="http://schemas.microsoft.com/office/drawing/2014/main" id="{EF153727-105C-4218-A759-424AEB343BBD}"/>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axes.label-16">
            <a:extLst xmlns:a="http://schemas.openxmlformats.org/drawingml/2006/main">
              <a:ext uri="{FF2B5EF4-FFF2-40B4-BE49-F238E27FC236}">
                <a16:creationId xmlns:a16="http://schemas.microsoft.com/office/drawing/2014/main" id="{14B81504-9F18-46CF-8126-328B113B12A4}"/>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axes.guide-17">
            <a:extLst xmlns:a="http://schemas.openxmlformats.org/drawingml/2006/main">
              <a:ext uri="{FF2B5EF4-FFF2-40B4-BE49-F238E27FC236}">
                <a16:creationId xmlns:a16="http://schemas.microsoft.com/office/drawing/2014/main" id="{27BA476C-6C8A-4066-A77E-0127DCFAEF3D}"/>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axes.label-18">
            <a:extLst xmlns:a="http://schemas.openxmlformats.org/drawingml/2006/main">
              <a:ext uri="{FF2B5EF4-FFF2-40B4-BE49-F238E27FC236}">
                <a16:creationId xmlns:a16="http://schemas.microsoft.com/office/drawing/2014/main" id="{C4DA4A50-D1E5-4C70-AEB8-16F15CE36296}"/>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axes.guide-19">
            <a:extLst xmlns:a="http://schemas.openxmlformats.org/drawingml/2006/main">
              <a:ext uri="{FF2B5EF4-FFF2-40B4-BE49-F238E27FC236}">
                <a16:creationId xmlns:a16="http://schemas.microsoft.com/office/drawing/2014/main" id="{19A88A5F-B44E-458A-9742-C3F6C1D474D2}"/>
              </a:ext>
            </a:extLst>
          </p:cNvPr>
          <p:cNvSpPr>
            <a:spLocks xmlns:a="http://schemas.openxmlformats.org/drawingml/2006/main" noGrp="1"/>
          </p:cNvSpPr>
          <p:nvPr/>
        </p:nvSpPr>
        <p:spPr>
          <a:xfrm xmlns:a="http://schemas.openxmlformats.org/drawingml/2006/main" flipH="0" flipV="1">
            <a:off x="3238500" y="3786188"/>
            <a:ext cx="95" cy="1500188"/>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0" name="ae-axes.guide-20">
            <a:extLst xmlns:a="http://schemas.openxmlformats.org/drawingml/2006/main">
              <a:ext uri="{FF2B5EF4-FFF2-40B4-BE49-F238E27FC236}">
                <a16:creationId xmlns:a16="http://schemas.microsoft.com/office/drawing/2014/main" id="{AD48F582-2894-49AC-ADA1-1E01B672B64B}"/>
              </a:ext>
            </a:extLst>
          </p:cNvPr>
          <p:cNvSpPr>
            <a:spLocks xmlns:a="http://schemas.openxmlformats.org/drawingml/2006/main" noGrp="1"/>
          </p:cNvSpPr>
          <p:nvPr/>
        </p:nvSpPr>
        <p:spPr>
          <a:xfrm xmlns:a="http://schemas.openxmlformats.org/drawingml/2006/main" flipH="0" flipV="0">
            <a:off x="1524000" y="3786188"/>
            <a:ext cx="1714500" cy="95"/>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1" name="ae-axes.point-21">
            <a:extLst xmlns:a="http://schemas.openxmlformats.org/drawingml/2006/main">
              <a:ext uri="{FF2B5EF4-FFF2-40B4-BE49-F238E27FC236}">
                <a16:creationId xmlns:a16="http://schemas.microsoft.com/office/drawing/2014/main" id="{89021834-B7FC-40F4-B13C-F058C2900A0A}"/>
              </a:ext>
            </a:extLst>
          </p:cNvPr>
          <p:cNvSpPr>
            <a:spLocks xmlns:a="http://schemas.openxmlformats.org/drawingml/2006/main" noGrp="1"/>
          </p:cNvSpPr>
          <p:nvPr/>
        </p:nvSpPr>
        <p:spPr>
          <a:xfrm xmlns:a="http://schemas.openxmlformats.org/drawingml/2006/main">
            <a:off x="3190875" y="3738563"/>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2" name="ae-axes.label-22">
            <a:extLst xmlns:a="http://schemas.openxmlformats.org/drawingml/2006/main">
              <a:ext uri="{FF2B5EF4-FFF2-40B4-BE49-F238E27FC236}">
                <a16:creationId xmlns:a16="http://schemas.microsoft.com/office/drawing/2014/main" id="{8A2AE0C6-12D2-4211-AD5C-6E4802B4DB57}"/>
              </a:ext>
            </a:extLst>
          </p:cNvPr>
          <p:cNvSpPr>
            <a:spLocks xmlns:a="http://schemas.openxmlformats.org/drawingml/2006/main" noGrp="1"/>
          </p:cNvSpPr>
          <p:nvPr/>
        </p:nvSpPr>
        <p:spPr>
          <a:xfrm xmlns:a="http://schemas.openxmlformats.org/drawingml/2006/main">
            <a:off x="2733675" y="3452813"/>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1">
                <a:solidFill>
                  <a:srgbClr val="3D85FF"/>
                </a:solidFill>
                <a:latin typeface="Arial"/>
                <a:ea typeface="Arial"/>
                <a:cs typeface="Arial"/>
              </a:defRPr>
            </a:pPr>
            <a:r>
              <a:rPr sz="1500" b="1">
                <a:solidFill>
                  <a:srgbClr val="3D85FF"/>
                </a:solidFill>
                <a:latin typeface="Arial"/>
                <a:ea typeface="Arial"/>
                <a:cs typeface="Arial"/>
              </a:rPr>
              <a:t>A</a:t>
            </a:r>
          </a:p>
        </p:txBody>
      </p:sp>
      <p:sp>
        <p:nvSpPr>
          <p:cNvPr id="153" name="ae-axes.label-23">
            <a:extLst xmlns:a="http://schemas.openxmlformats.org/drawingml/2006/main">
              <a:ext uri="{FF2B5EF4-FFF2-40B4-BE49-F238E27FC236}">
                <a16:creationId xmlns:a16="http://schemas.microsoft.com/office/drawing/2014/main" id="{62341997-0087-44DD-95D9-CA825912BB59}"/>
              </a:ext>
            </a:extLst>
          </p:cNvPr>
          <p:cNvSpPr>
            <a:spLocks xmlns:a="http://schemas.openxmlformats.org/drawingml/2006/main" noGrp="1"/>
          </p:cNvSpPr>
          <p:nvPr/>
        </p:nvSpPr>
        <p:spPr>
          <a:xfrm xmlns:a="http://schemas.openxmlformats.org/drawingml/2006/main">
            <a:off x="1028700" y="3652838"/>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3D85FF"/>
                </a:solidFill>
                <a:latin typeface="Arial"/>
                <a:ea typeface="Arial"/>
                <a:cs typeface="Arial"/>
              </a:defRPr>
            </a:pPr>
            <a:r>
              <a:rPr sz="1350" b="0">
                <a:solidFill>
                  <a:srgbClr val="3D85FF"/>
                </a:solidFill>
                <a:latin typeface="Arial"/>
                <a:ea typeface="Arial"/>
                <a:cs typeface="Arial"/>
              </a:rPr>
              <a:t>350</a:t>
            </a:r>
          </a:p>
        </p:txBody>
      </p:sp>
    </p:spTree>
    <p:extLst>
      <p:ext uri="{BB962C8B-B14F-4D97-AF65-F5344CB8AC3E}">
        <p14:creationId xmlns:p14="http://schemas.microsoft.com/office/powerpoint/2010/main" val="131422975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equality-line.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45° line is a line of equal values</a:t>
            </a:r>
          </a:p>
        </p:txBody>
      </p:sp>
      <p:sp>
        <p:nvSpPr>
          <p:cNvPr id="3" name="ae-equality-line.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equality-line.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27</a:t>
            </a:r>
          </a:p>
        </p:txBody>
      </p:sp>
      <p:cxnSp>
        <p:nvCxnSpPr>
          <p:cNvPr id="157" name="ae-equality-line.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58" name="ae-equality-line.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59" name="ae-equality-line.inherited-116"/>
          <p:cNvCxnSpPr/>
          <p:nvPr/>
        </p:nvCxnSpPr>
        <p:spPr>
          <a:xfrm xmlns:a="http://schemas.openxmlformats.org/drawingml/2006/main" flipH="0" flipV="1">
            <a:off x="1524000" y="1857375"/>
            <a:ext cx="3429000"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60" name="ae-equality-line.inherited-117"/>
          <p:cNvCxnSpPr/>
          <p:nvPr/>
        </p:nvCxnSpPr>
        <p:spPr>
          <a:xfrm xmlns:a="http://schemas.openxmlformats.org/drawingml/2006/main" flipV="1">
            <a:off x="1143000" y="2905125"/>
            <a:ext cx="3952875" cy="1650026"/>
          </a:xfrm>
          <a:prstGeom xmlns:a="http://schemas.openxmlformats.org/drawingml/2006/main" prst="straightConnector1">
            <a:avLst/>
          </a:prstGeom>
          <a:ln xmlns:a="http://schemas.openxmlformats.org/drawingml/2006/main" w="0">
            <a:noFill/>
          </a:ln>
        </p:spPr>
      </p:cxnSp>
      <p:cxnSp>
        <p:nvCxnSpPr>
          <p:cNvPr id="161" name="ae-equality-line.inherited-118"/>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0">
            <a:noFill/>
          </a:ln>
        </p:spPr>
      </p:cxnSp>
      <p:cxnSp>
        <p:nvCxnSpPr>
          <p:cNvPr id="162" name="ae-equality-line.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63" name="ae-equality-line.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equality-line.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equality-line.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equality-line.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AE = Y</a:t>
            </a:r>
          </a:p>
        </p:txBody>
      </p:sp>
      <p:sp>
        <p:nvSpPr>
          <p:cNvPr id="15" name="ae-equality-line.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6" name="ae-equality-line.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7" name="ae-equality-line.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equality-line.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equality-line.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AN EQUALITY GUIDE — NOT AS</a:t>
            </a:r>
          </a:p>
        </p:txBody>
      </p:sp>
      <p:sp>
        <p:nvSpPr>
          <p:cNvPr id="20" name="ae-equality-line.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Every point on this line has AE = Y.</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At B: spending of £400m equals output of £400m.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It is 45° because the two axes use the same scale.</a:t>
            </a:r>
          </a:p>
        </p:txBody>
      </p:sp>
      <p:sp>
        <p:nvSpPr>
          <p:cNvPr id="21" name="ae-equality-line.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Check: where would AE = Y = £600m lie?</a:t>
            </a:r>
          </a:p>
        </p:txBody>
      </p:sp>
      <p:sp>
        <p:nvSpPr>
          <p:cNvPr id="131" name="ae-equality-line.guide-24">
            <a:extLst xmlns:a="http://schemas.openxmlformats.org/drawingml/2006/main">
              <a:ext uri="{FF2B5EF4-FFF2-40B4-BE49-F238E27FC236}">
                <a16:creationId xmlns:a16="http://schemas.microsoft.com/office/drawing/2014/main" id="{2808C2E8-08D4-4BE0-B048-B6FF71CEE936}"/>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equality-line.label-25">
            <a:extLst xmlns:a="http://schemas.openxmlformats.org/drawingml/2006/main">
              <a:ext uri="{FF2B5EF4-FFF2-40B4-BE49-F238E27FC236}">
                <a16:creationId xmlns:a16="http://schemas.microsoft.com/office/drawing/2014/main" id="{E3EB9132-DFDE-4CFF-A86B-94F7DA0CEC05}"/>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equality-line.guide-26">
            <a:extLst xmlns:a="http://schemas.openxmlformats.org/drawingml/2006/main">
              <a:ext uri="{FF2B5EF4-FFF2-40B4-BE49-F238E27FC236}">
                <a16:creationId xmlns:a16="http://schemas.microsoft.com/office/drawing/2014/main" id="{19C70B77-F839-4DED-94A0-E86740A416F5}"/>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equality-line.label-27">
            <a:extLst xmlns:a="http://schemas.openxmlformats.org/drawingml/2006/main">
              <a:ext uri="{FF2B5EF4-FFF2-40B4-BE49-F238E27FC236}">
                <a16:creationId xmlns:a16="http://schemas.microsoft.com/office/drawing/2014/main" id="{F5664555-9068-43C6-BE6C-ACD600FA6F71}"/>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equality-line.guide-28">
            <a:extLst xmlns:a="http://schemas.openxmlformats.org/drawingml/2006/main">
              <a:ext uri="{FF2B5EF4-FFF2-40B4-BE49-F238E27FC236}">
                <a16:creationId xmlns:a16="http://schemas.microsoft.com/office/drawing/2014/main" id="{4510E2AA-EF3A-402D-B32B-3BBBD3D7C155}"/>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equality-line.label-29">
            <a:extLst xmlns:a="http://schemas.openxmlformats.org/drawingml/2006/main">
              <a:ext uri="{FF2B5EF4-FFF2-40B4-BE49-F238E27FC236}">
                <a16:creationId xmlns:a16="http://schemas.microsoft.com/office/drawing/2014/main" id="{3A85C33F-74D9-4B0A-95BE-081F079E1FA7}"/>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equality-line.guide-30">
            <a:extLst xmlns:a="http://schemas.openxmlformats.org/drawingml/2006/main">
              <a:ext uri="{FF2B5EF4-FFF2-40B4-BE49-F238E27FC236}">
                <a16:creationId xmlns:a16="http://schemas.microsoft.com/office/drawing/2014/main" id="{BC16E555-EF76-4792-B976-9E8F5870CAEF}"/>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equality-line.label-31">
            <a:extLst xmlns:a="http://schemas.openxmlformats.org/drawingml/2006/main">
              <a:ext uri="{FF2B5EF4-FFF2-40B4-BE49-F238E27FC236}">
                <a16:creationId xmlns:a16="http://schemas.microsoft.com/office/drawing/2014/main" id="{131D49C9-ACE8-41D9-87EC-C24FC2C64243}"/>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equality-line.guide-32">
            <a:extLst xmlns:a="http://schemas.openxmlformats.org/drawingml/2006/main">
              <a:ext uri="{FF2B5EF4-FFF2-40B4-BE49-F238E27FC236}">
                <a16:creationId xmlns:a16="http://schemas.microsoft.com/office/drawing/2014/main" id="{BECDD387-18FB-4C27-8D82-F0892E9BD415}"/>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equality-line.label-33">
            <a:extLst xmlns:a="http://schemas.openxmlformats.org/drawingml/2006/main">
              <a:ext uri="{FF2B5EF4-FFF2-40B4-BE49-F238E27FC236}">
                <a16:creationId xmlns:a16="http://schemas.microsoft.com/office/drawing/2014/main" id="{EF698708-3D45-4BFA-A717-EA53A1A5A3C4}"/>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equality-line.guide-34">
            <a:extLst xmlns:a="http://schemas.openxmlformats.org/drawingml/2006/main">
              <a:ext uri="{FF2B5EF4-FFF2-40B4-BE49-F238E27FC236}">
                <a16:creationId xmlns:a16="http://schemas.microsoft.com/office/drawing/2014/main" id="{14BF9504-3486-4185-9E4E-31F3FA9C40AD}"/>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equality-line.label-35">
            <a:extLst xmlns:a="http://schemas.openxmlformats.org/drawingml/2006/main">
              <a:ext uri="{FF2B5EF4-FFF2-40B4-BE49-F238E27FC236}">
                <a16:creationId xmlns:a16="http://schemas.microsoft.com/office/drawing/2014/main" id="{93BFEC6D-153D-4DCD-AF24-4772F99551FF}"/>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equality-line.guide-36">
            <a:extLst xmlns:a="http://schemas.openxmlformats.org/drawingml/2006/main">
              <a:ext uri="{FF2B5EF4-FFF2-40B4-BE49-F238E27FC236}">
                <a16:creationId xmlns:a16="http://schemas.microsoft.com/office/drawing/2014/main" id="{B9BEB129-D0AD-4CB5-9FAD-64AF63EB7380}"/>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equality-line.label-37">
            <a:extLst xmlns:a="http://schemas.openxmlformats.org/drawingml/2006/main">
              <a:ext uri="{FF2B5EF4-FFF2-40B4-BE49-F238E27FC236}">
                <a16:creationId xmlns:a16="http://schemas.microsoft.com/office/drawing/2014/main" id="{4D9898E7-0E39-4DE6-A9DC-749D6F5B7FD9}"/>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equality-line.guide-38">
            <a:extLst xmlns:a="http://schemas.openxmlformats.org/drawingml/2006/main">
              <a:ext uri="{FF2B5EF4-FFF2-40B4-BE49-F238E27FC236}">
                <a16:creationId xmlns:a16="http://schemas.microsoft.com/office/drawing/2014/main" id="{47508138-01BC-4510-80DC-53A11FD6EF1D}"/>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equality-line.label-39">
            <a:extLst xmlns:a="http://schemas.openxmlformats.org/drawingml/2006/main">
              <a:ext uri="{FF2B5EF4-FFF2-40B4-BE49-F238E27FC236}">
                <a16:creationId xmlns:a16="http://schemas.microsoft.com/office/drawing/2014/main" id="{4C020B83-4B86-481B-B046-8BB931CD21AA}"/>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equality-line.guide-40">
            <a:extLst xmlns:a="http://schemas.openxmlformats.org/drawingml/2006/main">
              <a:ext uri="{FF2B5EF4-FFF2-40B4-BE49-F238E27FC236}">
                <a16:creationId xmlns:a16="http://schemas.microsoft.com/office/drawing/2014/main" id="{0FCFDD21-A234-4568-8B98-739D31F5641D}"/>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equality-line.label-41">
            <a:extLst xmlns:a="http://schemas.openxmlformats.org/drawingml/2006/main">
              <a:ext uri="{FF2B5EF4-FFF2-40B4-BE49-F238E27FC236}">
                <a16:creationId xmlns:a16="http://schemas.microsoft.com/office/drawing/2014/main" id="{FEE6FB68-6CC3-4360-8429-8C52705CB288}"/>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equality-line.guide-42">
            <a:extLst xmlns:a="http://schemas.openxmlformats.org/drawingml/2006/main">
              <a:ext uri="{FF2B5EF4-FFF2-40B4-BE49-F238E27FC236}">
                <a16:creationId xmlns:a16="http://schemas.microsoft.com/office/drawing/2014/main" id="{BFB6D13B-3873-4978-ACA4-379B0198786E}"/>
              </a:ext>
            </a:extLst>
          </p:cNvPr>
          <p:cNvSpPr>
            <a:spLocks xmlns:a="http://schemas.openxmlformats.org/drawingml/2006/main" noGrp="1"/>
          </p:cNvSpPr>
          <p:nvPr/>
        </p:nvSpPr>
        <p:spPr>
          <a:xfrm xmlns:a="http://schemas.openxmlformats.org/drawingml/2006/main" flipH="0" flipV="1">
            <a:off x="3238500" y="3571875"/>
            <a:ext cx="95" cy="1714500"/>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0" name="ae-equality-line.guide-43">
            <a:extLst xmlns:a="http://schemas.openxmlformats.org/drawingml/2006/main">
              <a:ext uri="{FF2B5EF4-FFF2-40B4-BE49-F238E27FC236}">
                <a16:creationId xmlns:a16="http://schemas.microsoft.com/office/drawing/2014/main" id="{32DBE68E-A556-404D-9B9E-8327FCAF2B1D}"/>
              </a:ext>
            </a:extLst>
          </p:cNvPr>
          <p:cNvSpPr>
            <a:spLocks xmlns:a="http://schemas.openxmlformats.org/drawingml/2006/main" noGrp="1"/>
          </p:cNvSpPr>
          <p:nvPr/>
        </p:nvSpPr>
        <p:spPr>
          <a:xfrm xmlns:a="http://schemas.openxmlformats.org/drawingml/2006/main" flipH="0" flipV="0">
            <a:off x="1524000" y="3571875"/>
            <a:ext cx="1714500" cy="95"/>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1" name="ae-equality-line.point-44">
            <a:extLst xmlns:a="http://schemas.openxmlformats.org/drawingml/2006/main">
              <a:ext uri="{FF2B5EF4-FFF2-40B4-BE49-F238E27FC236}">
                <a16:creationId xmlns:a16="http://schemas.microsoft.com/office/drawing/2014/main" id="{A409C136-D949-4D73-A97D-32DE05DBBC28}"/>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2" name="ae-equality-line.label-45">
            <a:extLst xmlns:a="http://schemas.openxmlformats.org/drawingml/2006/main">
              <a:ext uri="{FF2B5EF4-FFF2-40B4-BE49-F238E27FC236}">
                <a16:creationId xmlns:a16="http://schemas.microsoft.com/office/drawing/2014/main" id="{808A7365-0214-4F99-8B0D-CF30299319E2}"/>
              </a:ext>
            </a:extLst>
          </p:cNvPr>
          <p:cNvSpPr>
            <a:spLocks xmlns:a="http://schemas.openxmlformats.org/drawingml/2006/main" noGrp="1"/>
          </p:cNvSpPr>
          <p:nvPr/>
        </p:nvSpPr>
        <p:spPr>
          <a:xfrm xmlns:a="http://schemas.openxmlformats.org/drawingml/2006/main">
            <a:off x="2733675" y="32385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1">
                <a:solidFill>
                  <a:srgbClr val="3D85FF"/>
                </a:solidFill>
                <a:latin typeface="Arial"/>
                <a:ea typeface="Arial"/>
                <a:cs typeface="Arial"/>
              </a:defRPr>
            </a:pPr>
            <a:r>
              <a:rPr sz="1500" b="1">
                <a:solidFill>
                  <a:srgbClr val="3D85FF"/>
                </a:solidFill>
                <a:latin typeface="Arial"/>
                <a:ea typeface="Arial"/>
                <a:cs typeface="Arial"/>
              </a:rPr>
              <a:t>B</a:t>
            </a:r>
          </a:p>
        </p:txBody>
      </p:sp>
      <p:sp>
        <p:nvSpPr>
          <p:cNvPr id="153" name="ae-equality-line.label-46">
            <a:extLst xmlns:a="http://schemas.openxmlformats.org/drawingml/2006/main">
              <a:ext uri="{FF2B5EF4-FFF2-40B4-BE49-F238E27FC236}">
                <a16:creationId xmlns:a16="http://schemas.microsoft.com/office/drawing/2014/main" id="{DE0ED1C5-7806-4665-A4E8-4C2129A2B28C}"/>
              </a:ext>
            </a:extLst>
          </p:cNvPr>
          <p:cNvSpPr>
            <a:spLocks xmlns:a="http://schemas.openxmlformats.org/drawingml/2006/main" noGrp="1"/>
          </p:cNvSpPr>
          <p:nvPr/>
        </p:nvSpPr>
        <p:spPr>
          <a:xfrm xmlns:a="http://schemas.openxmlformats.org/drawingml/2006/main">
            <a:off x="1762125" y="49530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45°</a:t>
            </a:r>
          </a:p>
        </p:txBody>
      </p:sp>
    </p:spTree>
    <p:extLst>
      <p:ext uri="{BB962C8B-B14F-4D97-AF65-F5344CB8AC3E}">
        <p14:creationId xmlns:p14="http://schemas.microsoft.com/office/powerpoint/2010/main" val="131422975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e-spending-table.inherited-8">
            <a:extLst xmlns:a="http://schemas.openxmlformats.org/drawingml/2006/main">
              <a:ext uri="{FF2B5EF4-FFF2-40B4-BE49-F238E27FC236}">
                <a16:creationId xmlns:a16="http://schemas.microsoft.com/office/drawing/2014/main" id="{1A4A7859-199C-40A7-9F20-0C6C718175C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Build planned spending from simple numbers</a:t>
            </a:r>
          </a:p>
        </p:txBody>
      </p:sp>
      <p:cxnSp>
        <p:nvCxnSpPr>
          <p:cNvPr id="39" name="ae-spending-table.inherited-33"/>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ae-spending-table.inherited-3">
            <a:extLst xmlns:a="http://schemas.openxmlformats.org/drawingml/2006/main">
              <a:ext uri="{FF2B5EF4-FFF2-40B4-BE49-F238E27FC236}">
                <a16:creationId xmlns:a16="http://schemas.microsoft.com/office/drawing/2014/main" id="{235129D4-B078-4A4F-A213-E9597FCFF51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spending-table.inherited-4">
            <a:extLst xmlns:a="http://schemas.openxmlformats.org/drawingml/2006/main">
              <a:ext uri="{FF2B5EF4-FFF2-40B4-BE49-F238E27FC236}">
                <a16:creationId xmlns:a16="http://schemas.microsoft.com/office/drawing/2014/main" id="{913195A7-56D6-4717-AD74-7E618C37935A}"/>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28</a:t>
            </a:r>
          </a:p>
        </p:txBody>
      </p:sp>
      <p:sp>
        <p:nvSpPr>
          <p:cNvPr id="5" name="ae-spending-table.inherited-5">
            <a:extLst xmlns:a="http://schemas.openxmlformats.org/drawingml/2006/main">
              <a:ext uri="{FF2B5EF4-FFF2-40B4-BE49-F238E27FC236}">
                <a16:creationId xmlns:a16="http://schemas.microsoft.com/office/drawing/2014/main" id="{428E79C4-76EB-4081-8E92-521DC27BB3DB}"/>
              </a:ext>
            </a:extLst>
          </p:cNvPr>
          <p:cNvSpPr>
            <a:spLocks xmlns:a="http://schemas.openxmlformats.org/drawingml/2006/main" noGrp="1"/>
          </p:cNvSpPr>
          <p:nvPr/>
        </p:nvSpPr>
        <p:spPr>
          <a:xfrm xmlns:a="http://schemas.openxmlformats.org/drawingml/2006/main">
            <a:off x="571500" y="13811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Closed economy, no government: C = 0.75Y and I = £100m.</a:t>
            </a:r>
          </a:p>
        </p:txBody>
      </p:sp>
      <p:graphicFrame>
        <p:nvGraphicFramePr>
          <p:cNvPr id="43" name="ae-spending-table.inherited-34"/>
          <p:cNvGraphicFramePr/>
          <p:nvPr/>
        </p:nvGraphicFramePr>
        <p:xfrm>
          <a:off xmlns:a="http://schemas.openxmlformats.org/drawingml/2006/main" x="762000" y="2047875"/>
          <a:ext xmlns:a="http://schemas.openxmlformats.org/drawingml/2006/main" cx="10668000" cy="3143250"/>
        </p:xfrm>
        <a:graphic xmlns:a="http://schemas.openxmlformats.org/drawingml/2006/main">
          <a:graphicData uri="http://schemas.openxmlformats.org/drawingml/2006/table">
            <a:tbl>
              <a:tblPr/>
              <a:tblGrid>
                <a:gridCol w="1428750"/>
                <a:gridCol w="2857500"/>
                <a:gridCol w="3333750"/>
                <a:gridCol w="3048000"/>
              </a:tblGrid>
              <a:tr h="523875">
                <a:tc>
                  <a:txBody>
                    <a:bodyPr/>
                    <a:lstStyle/>
                    <a:p>
                      <a:pPr algn="ctr">
                        <a:buNone/>
                      </a:pPr>
                      <a:r>
                        <a:rPr sz="1500" b="1">
                          <a:solidFill>
                            <a:srgbClr val="FFFFFF"/>
                          </a:solidFill>
                          <a:latin typeface="Arial"/>
                          <a:ea typeface="Arial"/>
                          <a:cs typeface="Arial"/>
                        </a:rPr>
                        <a:t>Y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 = 0.75Y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AE = C + I (£m)</a:t>
                      </a:r>
                    </a:p>
                  </a:txBody>
                  <a:tcPr marL="76200" marR="76200" marT="57150" marB="57150" anchor="ctr">
                    <a:solidFill>
                      <a:srgbClr val="000000"/>
                    </a:solidFill>
                  </a:tcPr>
                </a:tc>
              </a:tr>
              <a:tr h="523875">
                <a:tc>
                  <a:txBody>
                    <a:bodyPr/>
                    <a:lstStyle/>
                    <a:p>
                      <a:pPr algn="ctr">
                        <a:buNone/>
                      </a:pPr>
                      <a:r>
                        <a:rPr sz="1650">
                          <a:solidFill>
                            <a:srgbClr val="000000"/>
                          </a:solidFill>
                          <a:latin typeface="Arial"/>
                          <a:ea typeface="Arial"/>
                          <a:cs typeface="Arial"/>
                        </a:rPr>
                        <a:t>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200</a:t>
                      </a:r>
                    </a:p>
                  </a:txBody>
                  <a:tcPr marL="76200" marR="76200" marT="47625" marB="47625" anchor="ctr"/>
                </a:tc>
                <a:tc>
                  <a:txBody>
                    <a:bodyPr/>
                    <a:lstStyle/>
                    <a:p>
                      <a:pPr algn="ctr">
                        <a:buNone/>
                      </a:pPr>
                      <a:r>
                        <a:rPr sz="1650">
                          <a:solidFill>
                            <a:srgbClr val="000000"/>
                          </a:solidFill>
                          <a:latin typeface="Arial"/>
                          <a:ea typeface="Arial"/>
                          <a:cs typeface="Arial"/>
                        </a:rPr>
                        <a:t>150</a:t>
                      </a:r>
                    </a:p>
                  </a:txBody>
                  <a:tcPr marL="76200" marR="76200" marT="47625" marB="47625" anchor="ctr"/>
                </a:tc>
                <a:tc>
                  <a:txBody>
                    <a:bodyPr/>
                    <a:lstStyle/>
                    <a:p>
                      <a:pPr algn="ctr">
                        <a:buNone/>
                      </a:pPr>
                      <a:r>
                        <a:rPr sz="1650">
                          <a:solidFill>
                            <a:srgbClr val="000000"/>
                          </a:solidFill>
                          <a:latin typeface="Arial"/>
                          <a:ea typeface="Arial"/>
                          <a:cs typeface="Arial"/>
                        </a:rPr>
                        <a:t>100</a:t>
                      </a:r>
                    </a:p>
                  </a:txBody>
                  <a:tcPr marL="76200" marR="76200" marT="47625" marB="47625" anchor="ctr"/>
                </a:tc>
                <a:tc>
                  <a:txBody>
                    <a:bodyPr/>
                    <a:lstStyle/>
                    <a:p>
                      <a:pPr algn="ctr">
                        <a:buNone/>
                      </a:pPr>
                      <a:r>
                        <a:rPr sz="1650">
                          <a:solidFill>
                            <a:srgbClr val="000000"/>
                          </a:solidFill>
                          <a:latin typeface="Arial"/>
                          <a:ea typeface="Arial"/>
                          <a:cs typeface="Arial"/>
                        </a:rPr>
                        <a:t>250</a:t>
                      </a:r>
                    </a:p>
                  </a:txBody>
                  <a:tcPr marL="76200" marR="76200" marT="47625" marB="47625" anchor="ctr"/>
                </a:tc>
              </a:tr>
              <a:tr h="523875">
                <a:tc>
                  <a:txBody>
                    <a:bodyPr/>
                    <a:lstStyle/>
                    <a:p>
                      <a:pPr algn="ctr">
                        <a:buNone/>
                      </a:pPr>
                      <a:r>
                        <a:rPr sz="1650">
                          <a:solidFill>
                            <a:srgbClr val="000000"/>
                          </a:solidFill>
                          <a:latin typeface="Arial"/>
                          <a:ea typeface="Arial"/>
                          <a:cs typeface="Arial"/>
                        </a:rPr>
                        <a:t>400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300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400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600</a:t>
                      </a:r>
                    </a:p>
                  </a:txBody>
                  <a:tcPr marL="76200" marR="76200" marT="47625" marB="47625" anchor="ctr"/>
                </a:tc>
                <a:tc>
                  <a:txBody>
                    <a:bodyPr/>
                    <a:lstStyle/>
                    <a:p>
                      <a:pPr algn="ctr">
                        <a:buNone/>
                      </a:pPr>
                      <a:r>
                        <a:rPr sz="1650">
                          <a:solidFill>
                            <a:srgbClr val="000000"/>
                          </a:solidFill>
                          <a:latin typeface="Arial"/>
                          <a:ea typeface="Arial"/>
                          <a:cs typeface="Arial"/>
                        </a:rPr>
                        <a:t>450</a:t>
                      </a:r>
                    </a:p>
                  </a:txBody>
                  <a:tcPr marL="76200" marR="76200" marT="47625" marB="47625" anchor="ctr"/>
                </a:tc>
                <a:tc>
                  <a:txBody>
                    <a:bodyPr/>
                    <a:lstStyle/>
                    <a:p>
                      <a:pPr algn="ctr">
                        <a:buNone/>
                      </a:pPr>
                      <a:r>
                        <a:rPr sz="1650">
                          <a:solidFill>
                            <a:srgbClr val="000000"/>
                          </a:solidFill>
                          <a:latin typeface="Arial"/>
                          <a:ea typeface="Arial"/>
                          <a:cs typeface="Arial"/>
                        </a:rPr>
                        <a:t>100</a:t>
                      </a:r>
                    </a:p>
                  </a:txBody>
                  <a:tcPr marL="76200" marR="76200" marT="47625" marB="47625" anchor="ctr"/>
                </a:tc>
                <a:tc>
                  <a:txBody>
                    <a:bodyPr/>
                    <a:lstStyle/>
                    <a:p>
                      <a:pPr algn="ctr">
                        <a:buNone/>
                      </a:pPr>
                      <a:r>
                        <a:rPr sz="1650">
                          <a:solidFill>
                            <a:srgbClr val="000000"/>
                          </a:solidFill>
                          <a:latin typeface="Arial"/>
                          <a:ea typeface="Arial"/>
                          <a:cs typeface="Arial"/>
                        </a:rPr>
                        <a:t>550</a:t>
                      </a:r>
                    </a:p>
                  </a:txBody>
                  <a:tcPr marL="76200" marR="76200" marT="47625" marB="47625" anchor="ctr"/>
                </a:tc>
              </a:tr>
              <a:tr h="523875">
                <a:tc>
                  <a:txBody>
                    <a:bodyPr/>
                    <a:lstStyle/>
                    <a:p>
                      <a:pPr algn="ctr">
                        <a:buNone/>
                      </a:pPr>
                      <a:r>
                        <a:rPr sz="1650">
                          <a:solidFill>
                            <a:srgbClr val="000000"/>
                          </a:solidFill>
                          <a:latin typeface="Arial"/>
                          <a:ea typeface="Arial"/>
                          <a:cs typeface="Arial"/>
                        </a:rPr>
                        <a:t>800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600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700</a:t>
                      </a:r>
                    </a:p>
                  </a:txBody>
                  <a:tcPr marL="76200" marR="76200" marT="47625" marB="47625" anchor="ctr">
                    <a:solidFill>
                      <a:srgbClr val="F7F7F5"/>
                    </a:solidFill>
                  </a:tcPr>
                </a:tc>
              </a:tr>
            </a:tbl>
          </a:graphicData>
        </a:graphic>
      </p:graphicFrame>
      <p:sp>
        <p:nvSpPr>
          <p:cNvPr id="7" name="ae-spending-table.inherited-7">
            <a:extLst xmlns:a="http://schemas.openxmlformats.org/drawingml/2006/main">
              <a:ext uri="{FF2B5EF4-FFF2-40B4-BE49-F238E27FC236}">
                <a16:creationId xmlns:a16="http://schemas.microsoft.com/office/drawing/2014/main" id="{D86C3CE2-0D32-4876-931D-9F6DDE7D5C7F}"/>
              </a:ext>
            </a:extLst>
          </p:cNvPr>
          <p:cNvSpPr>
            <a:spLocks xmlns:a="http://schemas.openxmlformats.org/drawingml/2006/main" noGrp="1"/>
          </p:cNvSpPr>
          <p:nvPr/>
        </p:nvSpPr>
        <p:spPr>
          <a:xfrm xmlns:a="http://schemas.openxmlformats.org/drawingml/2006/main">
            <a:off x="1143000" y="552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For each extra £200m of income, planned spending rises by £150m.</a:t>
            </a:r>
          </a:p>
        </p:txBody>
      </p:sp>
    </p:spTree>
    <p:extLst>
      <p:ext uri="{BB962C8B-B14F-4D97-AF65-F5344CB8AC3E}">
        <p14:creationId xmlns:p14="http://schemas.microsoft.com/office/powerpoint/2010/main" val="43775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spending-line.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AE line rises with income</a:t>
            </a:r>
          </a:p>
        </p:txBody>
      </p:sp>
      <p:sp>
        <p:nvSpPr>
          <p:cNvPr id="3" name="ae-spending-line.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spending-line.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29</a:t>
            </a:r>
          </a:p>
        </p:txBody>
      </p:sp>
      <p:cxnSp>
        <p:nvCxnSpPr>
          <p:cNvPr id="161" name="ae-spending-line.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62" name="ae-spending-line.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63" name="ae-spending-line.inherited-116"/>
          <p:cNvCxnSpPr/>
          <p:nvPr/>
        </p:nvCxnSpPr>
        <p:spPr>
          <a:xfrm xmlns:a="http://schemas.openxmlformats.org/drawingml/2006/main" flipV="1">
            <a:off x="1143000" y="1905000"/>
            <a:ext cx="3952875" cy="3367448"/>
          </a:xfrm>
          <a:prstGeom xmlns:a="http://schemas.openxmlformats.org/drawingml/2006/main" prst="straightConnector1">
            <a:avLst/>
          </a:prstGeom>
          <a:ln xmlns:a="http://schemas.openxmlformats.org/drawingml/2006/main" w="0">
            <a:noFill/>
          </a:ln>
        </p:spPr>
      </p:cxnSp>
      <p:cxnSp>
        <p:nvCxnSpPr>
          <p:cNvPr id="164" name="ae-spending-line.inherited-117"/>
          <p:cNvCxnSpPr/>
          <p:nvPr/>
        </p:nvCxnSpPr>
        <p:spPr>
          <a:xfrm xmlns:a="http://schemas.openxmlformats.org/drawingml/2006/main" flipH="0" flipV="1">
            <a:off x="1524000" y="2286000"/>
            <a:ext cx="3429000" cy="2571750"/>
          </a:xfrm>
          <a:prstGeom xmlns:a="http://schemas.openxmlformats.org/drawingml/2006/main" prst="straightConnector1">
            <a:avLst/>
          </a:prstGeom>
          <a:ln xmlns:a="http://schemas.openxmlformats.org/drawingml/2006/main" w="33338">
            <a:solidFill>
              <a:srgbClr val="B6BBC2"/>
            </a:solidFill>
            <a:prstDash val="solid"/>
          </a:ln>
        </p:spPr>
      </p:cxnSp>
      <p:cxnSp>
        <p:nvCxnSpPr>
          <p:cNvPr id="165" name="ae-spending-line.inherited-118"/>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0">
            <a:noFill/>
          </a:ln>
        </p:spPr>
      </p:cxnSp>
      <p:cxnSp>
        <p:nvCxnSpPr>
          <p:cNvPr id="166" name="ae-spending-line.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67" name="ae-spending-line.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spending-line.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spending-line.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spending-line.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 </a:t>
            </a:r>
          </a:p>
        </p:txBody>
      </p:sp>
      <p:sp>
        <p:nvSpPr>
          <p:cNvPr id="15" name="ae-spending-line.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a:t>
            </a:r>
          </a:p>
        </p:txBody>
      </p:sp>
      <p:sp>
        <p:nvSpPr>
          <p:cNvPr id="16" name="ae-spending-line.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7" name="ae-spending-line.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spending-line.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spending-line.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READ THE INTERCEPT AND SLOPE</a:t>
            </a:r>
          </a:p>
        </p:txBody>
      </p:sp>
      <p:sp>
        <p:nvSpPr>
          <p:cNvPr id="20" name="ae-spending-line.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At Y = 0, planned AE is £100m: investment is still £100m.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More income leads to more consumption.</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ΔAE / ΔY = 150 / 200 = 0.75.</a:t>
            </a:r>
          </a:p>
        </p:txBody>
      </p:sp>
      <p:sp>
        <p:nvSpPr>
          <p:cNvPr id="21" name="ae-spending-line.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Here AE = £100m + 0.75Y.</a:t>
            </a:r>
          </a:p>
        </p:txBody>
      </p:sp>
      <p:sp>
        <p:nvSpPr>
          <p:cNvPr id="131" name="ae-spending-line.guide-47">
            <a:extLst xmlns:a="http://schemas.openxmlformats.org/drawingml/2006/main">
              <a:ext uri="{FF2B5EF4-FFF2-40B4-BE49-F238E27FC236}">
                <a16:creationId xmlns:a16="http://schemas.microsoft.com/office/drawing/2014/main" id="{5F22B045-252A-4654-8B2F-1D4854B69082}"/>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spending-line.label-48">
            <a:extLst xmlns:a="http://schemas.openxmlformats.org/drawingml/2006/main">
              <a:ext uri="{FF2B5EF4-FFF2-40B4-BE49-F238E27FC236}">
                <a16:creationId xmlns:a16="http://schemas.microsoft.com/office/drawing/2014/main" id="{D071C949-D29A-4A8F-8FD0-1494A15F9A0F}"/>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spending-line.guide-49">
            <a:extLst xmlns:a="http://schemas.openxmlformats.org/drawingml/2006/main">
              <a:ext uri="{FF2B5EF4-FFF2-40B4-BE49-F238E27FC236}">
                <a16:creationId xmlns:a16="http://schemas.microsoft.com/office/drawing/2014/main" id="{793DF95D-9202-4FED-8BBE-0D284AF8C1E1}"/>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spending-line.label-50">
            <a:extLst xmlns:a="http://schemas.openxmlformats.org/drawingml/2006/main">
              <a:ext uri="{FF2B5EF4-FFF2-40B4-BE49-F238E27FC236}">
                <a16:creationId xmlns:a16="http://schemas.microsoft.com/office/drawing/2014/main" id="{48C01B18-CFCF-4932-A60F-6C76FB216CCC}"/>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spending-line.guide-51">
            <a:extLst xmlns:a="http://schemas.openxmlformats.org/drawingml/2006/main">
              <a:ext uri="{FF2B5EF4-FFF2-40B4-BE49-F238E27FC236}">
                <a16:creationId xmlns:a16="http://schemas.microsoft.com/office/drawing/2014/main" id="{E89B86E2-0B0D-49E0-B3D3-EEE7E3755677}"/>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spending-line.label-52">
            <a:extLst xmlns:a="http://schemas.openxmlformats.org/drawingml/2006/main">
              <a:ext uri="{FF2B5EF4-FFF2-40B4-BE49-F238E27FC236}">
                <a16:creationId xmlns:a16="http://schemas.microsoft.com/office/drawing/2014/main" id="{1D972EEB-C200-4C66-A681-F462B4AC046D}"/>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spending-line.guide-53">
            <a:extLst xmlns:a="http://schemas.openxmlformats.org/drawingml/2006/main">
              <a:ext uri="{FF2B5EF4-FFF2-40B4-BE49-F238E27FC236}">
                <a16:creationId xmlns:a16="http://schemas.microsoft.com/office/drawing/2014/main" id="{12B01F73-1DC6-45C4-A3E4-EF148B770A33}"/>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spending-line.label-54">
            <a:extLst xmlns:a="http://schemas.openxmlformats.org/drawingml/2006/main">
              <a:ext uri="{FF2B5EF4-FFF2-40B4-BE49-F238E27FC236}">
                <a16:creationId xmlns:a16="http://schemas.microsoft.com/office/drawing/2014/main" id="{FD0EEC28-6158-4774-890A-34E7F2E410B4}"/>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spending-line.guide-55">
            <a:extLst xmlns:a="http://schemas.openxmlformats.org/drawingml/2006/main">
              <a:ext uri="{FF2B5EF4-FFF2-40B4-BE49-F238E27FC236}">
                <a16:creationId xmlns:a16="http://schemas.microsoft.com/office/drawing/2014/main" id="{78436BF9-6793-4B7A-836C-777182203798}"/>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spending-line.label-56">
            <a:extLst xmlns:a="http://schemas.openxmlformats.org/drawingml/2006/main">
              <a:ext uri="{FF2B5EF4-FFF2-40B4-BE49-F238E27FC236}">
                <a16:creationId xmlns:a16="http://schemas.microsoft.com/office/drawing/2014/main" id="{9054538C-B2BD-420E-9654-3DBEA48933BF}"/>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spending-line.guide-57">
            <a:extLst xmlns:a="http://schemas.openxmlformats.org/drawingml/2006/main">
              <a:ext uri="{FF2B5EF4-FFF2-40B4-BE49-F238E27FC236}">
                <a16:creationId xmlns:a16="http://schemas.microsoft.com/office/drawing/2014/main" id="{BDB82965-F14A-4EA0-8390-3A426B67606E}"/>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spending-line.label-58">
            <a:extLst xmlns:a="http://schemas.openxmlformats.org/drawingml/2006/main">
              <a:ext uri="{FF2B5EF4-FFF2-40B4-BE49-F238E27FC236}">
                <a16:creationId xmlns:a16="http://schemas.microsoft.com/office/drawing/2014/main" id="{965915D0-7242-4FBC-ADD9-513E63DFC1EA}"/>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spending-line.guide-59">
            <a:extLst xmlns:a="http://schemas.openxmlformats.org/drawingml/2006/main">
              <a:ext uri="{FF2B5EF4-FFF2-40B4-BE49-F238E27FC236}">
                <a16:creationId xmlns:a16="http://schemas.microsoft.com/office/drawing/2014/main" id="{EFF33475-DA5B-415B-B93C-0404BDB76B2B}"/>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spending-line.label-60">
            <a:extLst xmlns:a="http://schemas.openxmlformats.org/drawingml/2006/main">
              <a:ext uri="{FF2B5EF4-FFF2-40B4-BE49-F238E27FC236}">
                <a16:creationId xmlns:a16="http://schemas.microsoft.com/office/drawing/2014/main" id="{52BD5E8E-6CE4-4CCB-8D8B-E74147D22865}"/>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spending-line.guide-61">
            <a:extLst xmlns:a="http://schemas.openxmlformats.org/drawingml/2006/main">
              <a:ext uri="{FF2B5EF4-FFF2-40B4-BE49-F238E27FC236}">
                <a16:creationId xmlns:a16="http://schemas.microsoft.com/office/drawing/2014/main" id="{C0FB4E1B-38B0-4F3D-9168-64459894E172}"/>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spending-line.label-62">
            <a:extLst xmlns:a="http://schemas.openxmlformats.org/drawingml/2006/main">
              <a:ext uri="{FF2B5EF4-FFF2-40B4-BE49-F238E27FC236}">
                <a16:creationId xmlns:a16="http://schemas.microsoft.com/office/drawing/2014/main" id="{A9D04613-72AE-4DC7-8874-0C6A2EA16B19}"/>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spending-line.guide-63">
            <a:extLst xmlns:a="http://schemas.openxmlformats.org/drawingml/2006/main">
              <a:ext uri="{FF2B5EF4-FFF2-40B4-BE49-F238E27FC236}">
                <a16:creationId xmlns:a16="http://schemas.microsoft.com/office/drawing/2014/main" id="{33EFD794-A150-48DA-BBB4-758E9C803EE1}"/>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spending-line.label-64">
            <a:extLst xmlns:a="http://schemas.openxmlformats.org/drawingml/2006/main">
              <a:ext uri="{FF2B5EF4-FFF2-40B4-BE49-F238E27FC236}">
                <a16:creationId xmlns:a16="http://schemas.microsoft.com/office/drawing/2014/main" id="{E05D4241-1DD1-48C6-96BC-A9B39A263615}"/>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spending-line.guide-65">
            <a:extLst xmlns:a="http://schemas.openxmlformats.org/drawingml/2006/main">
              <a:ext uri="{FF2B5EF4-FFF2-40B4-BE49-F238E27FC236}">
                <a16:creationId xmlns:a16="http://schemas.microsoft.com/office/drawing/2014/main" id="{15F43F9B-FF91-46B9-BF66-82B4731F7F85}"/>
              </a:ext>
            </a:extLst>
          </p:cNvPr>
          <p:cNvSpPr>
            <a:spLocks xmlns:a="http://schemas.openxmlformats.org/drawingml/2006/main" noGrp="1"/>
          </p:cNvSpPr>
          <p:nvPr/>
        </p:nvSpPr>
        <p:spPr>
          <a:xfrm xmlns:a="http://schemas.openxmlformats.org/drawingml/2006/main" flipH="0" flipV="1">
            <a:off x="2381250" y="4214813"/>
            <a:ext cx="95" cy="1071563"/>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0" name="ae-spending-line.point-66">
            <a:extLst xmlns:a="http://schemas.openxmlformats.org/drawingml/2006/main">
              <a:ext uri="{FF2B5EF4-FFF2-40B4-BE49-F238E27FC236}">
                <a16:creationId xmlns:a16="http://schemas.microsoft.com/office/drawing/2014/main" id="{9A41608D-5922-4508-962C-2C70A97EE24C}"/>
              </a:ext>
            </a:extLst>
          </p:cNvPr>
          <p:cNvSpPr>
            <a:spLocks xmlns:a="http://schemas.openxmlformats.org/drawingml/2006/main" noGrp="1"/>
          </p:cNvSpPr>
          <p:nvPr/>
        </p:nvSpPr>
        <p:spPr>
          <a:xfrm xmlns:a="http://schemas.openxmlformats.org/drawingml/2006/main">
            <a:off x="2333625" y="4167188"/>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1" name="ae-spending-line.guide-67">
            <a:extLst xmlns:a="http://schemas.openxmlformats.org/drawingml/2006/main">
              <a:ext uri="{FF2B5EF4-FFF2-40B4-BE49-F238E27FC236}">
                <a16:creationId xmlns:a16="http://schemas.microsoft.com/office/drawing/2014/main" id="{3275BB10-8006-429F-AB47-6396619A5321}"/>
              </a:ext>
            </a:extLst>
          </p:cNvPr>
          <p:cNvSpPr>
            <a:spLocks xmlns:a="http://schemas.openxmlformats.org/drawingml/2006/main" noGrp="1"/>
          </p:cNvSpPr>
          <p:nvPr/>
        </p:nvSpPr>
        <p:spPr>
          <a:xfrm xmlns:a="http://schemas.openxmlformats.org/drawingml/2006/main" flipH="0" flipV="1">
            <a:off x="3238500" y="3571875"/>
            <a:ext cx="95" cy="1714500"/>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2" name="ae-spending-line.point-68">
            <a:extLst xmlns:a="http://schemas.openxmlformats.org/drawingml/2006/main">
              <a:ext uri="{FF2B5EF4-FFF2-40B4-BE49-F238E27FC236}">
                <a16:creationId xmlns:a16="http://schemas.microsoft.com/office/drawing/2014/main" id="{B1FFBDC6-BE9D-4C10-B0D9-B50F5A3A266B}"/>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3" name="ae-spending-line.guide-69">
            <a:extLst xmlns:a="http://schemas.openxmlformats.org/drawingml/2006/main">
              <a:ext uri="{FF2B5EF4-FFF2-40B4-BE49-F238E27FC236}">
                <a16:creationId xmlns:a16="http://schemas.microsoft.com/office/drawing/2014/main" id="{BD44A8A1-7198-450D-8F81-7917C91EC8E3}"/>
              </a:ext>
            </a:extLst>
          </p:cNvPr>
          <p:cNvSpPr>
            <a:spLocks xmlns:a="http://schemas.openxmlformats.org/drawingml/2006/main" noGrp="1"/>
          </p:cNvSpPr>
          <p:nvPr/>
        </p:nvSpPr>
        <p:spPr>
          <a:xfrm xmlns:a="http://schemas.openxmlformats.org/drawingml/2006/main" flipH="0" flipV="0">
            <a:off x="2381250" y="4214813"/>
            <a:ext cx="857250" cy="95"/>
          </a:xfrm>
          <a:prstGeom xmlns:a="http://schemas.openxmlformats.org/drawingml/2006/main" prst="line">
            <a:avLst/>
          </a:prstGeom>
          <a:noFill xmlns:a="http://schemas.openxmlformats.org/drawingml/2006/main"/>
          <a:ln xmlns:a="http://schemas.openxmlformats.org/drawingml/2006/main" w="19050">
            <a:solidFill>
              <a:srgbClr val="3D85FF"/>
            </a:solidFill>
            <a:prstDash val="dash"/>
          </a:ln>
        </p:spPr>
      </p:sp>
      <p:sp>
        <p:nvSpPr>
          <p:cNvPr id="154" name="ae-spending-line.guide-70">
            <a:extLst xmlns:a="http://schemas.openxmlformats.org/drawingml/2006/main">
              <a:ext uri="{FF2B5EF4-FFF2-40B4-BE49-F238E27FC236}">
                <a16:creationId xmlns:a16="http://schemas.microsoft.com/office/drawing/2014/main" id="{2D238DDE-CD76-4F10-B0E0-07BECF2FB0AC}"/>
              </a:ext>
            </a:extLst>
          </p:cNvPr>
          <p:cNvSpPr>
            <a:spLocks xmlns:a="http://schemas.openxmlformats.org/drawingml/2006/main" noGrp="1"/>
          </p:cNvSpPr>
          <p:nvPr/>
        </p:nvSpPr>
        <p:spPr>
          <a:xfrm xmlns:a="http://schemas.openxmlformats.org/drawingml/2006/main" flipH="0" flipV="1">
            <a:off x="3238500" y="3571875"/>
            <a:ext cx="95" cy="642938"/>
          </a:xfrm>
          <a:prstGeom xmlns:a="http://schemas.openxmlformats.org/drawingml/2006/main" prst="line">
            <a:avLst/>
          </a:prstGeom>
          <a:noFill xmlns:a="http://schemas.openxmlformats.org/drawingml/2006/main"/>
          <a:ln xmlns:a="http://schemas.openxmlformats.org/drawingml/2006/main" w="19050">
            <a:solidFill>
              <a:srgbClr val="3D85FF"/>
            </a:solidFill>
            <a:prstDash val="dash"/>
          </a:ln>
        </p:spPr>
      </p:sp>
      <p:sp>
        <p:nvSpPr>
          <p:cNvPr id="155" name="ae-spending-line.label-71">
            <a:extLst xmlns:a="http://schemas.openxmlformats.org/drawingml/2006/main">
              <a:ext uri="{FF2B5EF4-FFF2-40B4-BE49-F238E27FC236}">
                <a16:creationId xmlns:a16="http://schemas.microsoft.com/office/drawing/2014/main" id="{7D8DBC0D-7E26-48CE-9A11-60AE5E66CF44}"/>
              </a:ext>
            </a:extLst>
          </p:cNvPr>
          <p:cNvSpPr>
            <a:spLocks xmlns:a="http://schemas.openxmlformats.org/drawingml/2006/main" noGrp="1"/>
          </p:cNvSpPr>
          <p:nvPr/>
        </p:nvSpPr>
        <p:spPr>
          <a:xfrm xmlns:a="http://schemas.openxmlformats.org/drawingml/2006/main">
            <a:off x="2524125" y="4291013"/>
            <a:ext cx="74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D85FF"/>
                </a:solidFill>
                <a:latin typeface="Arial"/>
                <a:ea typeface="Arial"/>
                <a:cs typeface="Arial"/>
              </a:defRPr>
            </a:pPr>
            <a:r>
              <a:rPr sz="1350" b="0">
                <a:solidFill>
                  <a:srgbClr val="3D85FF"/>
                </a:solidFill>
                <a:latin typeface="Arial"/>
                <a:ea typeface="Arial"/>
                <a:cs typeface="Arial"/>
              </a:rPr>
              <a:t>+200</a:t>
            </a:r>
          </a:p>
        </p:txBody>
      </p:sp>
      <p:sp>
        <p:nvSpPr>
          <p:cNvPr id="156" name="ae-spending-line.label-72">
            <a:extLst xmlns:a="http://schemas.openxmlformats.org/drawingml/2006/main">
              <a:ext uri="{FF2B5EF4-FFF2-40B4-BE49-F238E27FC236}">
                <a16:creationId xmlns:a16="http://schemas.microsoft.com/office/drawing/2014/main" id="{7CB4F517-E72C-4899-B78C-923390A183CB}"/>
              </a:ext>
            </a:extLst>
          </p:cNvPr>
          <p:cNvSpPr>
            <a:spLocks xmlns:a="http://schemas.openxmlformats.org/drawingml/2006/main" noGrp="1"/>
          </p:cNvSpPr>
          <p:nvPr/>
        </p:nvSpPr>
        <p:spPr>
          <a:xfrm xmlns:a="http://schemas.openxmlformats.org/drawingml/2006/main">
            <a:off x="3352800" y="3757613"/>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D85FF"/>
                </a:solidFill>
                <a:latin typeface="Arial"/>
                <a:ea typeface="Arial"/>
                <a:cs typeface="Arial"/>
              </a:defRPr>
            </a:pPr>
            <a:r>
              <a:rPr sz="1350" b="0">
                <a:solidFill>
                  <a:srgbClr val="3D85FF"/>
                </a:solidFill>
                <a:latin typeface="Arial"/>
                <a:ea typeface="Arial"/>
                <a:cs typeface="Arial"/>
              </a:rPr>
              <a:t>+150</a:t>
            </a:r>
          </a:p>
        </p:txBody>
      </p:sp>
      <p:sp>
        <p:nvSpPr>
          <p:cNvPr id="157" name="ae-spending-line.label-73">
            <a:extLst xmlns:a="http://schemas.openxmlformats.org/drawingml/2006/main">
              <a:ext uri="{FF2B5EF4-FFF2-40B4-BE49-F238E27FC236}">
                <a16:creationId xmlns:a16="http://schemas.microsoft.com/office/drawing/2014/main" id="{B73C1F38-92FC-45F8-8824-0C15DA6DFC9F}"/>
              </a:ext>
            </a:extLst>
          </p:cNvPr>
          <p:cNvSpPr>
            <a:spLocks xmlns:a="http://schemas.openxmlformats.org/drawingml/2006/main" noGrp="1"/>
          </p:cNvSpPr>
          <p:nvPr/>
        </p:nvSpPr>
        <p:spPr>
          <a:xfrm xmlns:a="http://schemas.openxmlformats.org/drawingml/2006/main">
            <a:off x="100965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B6BBC2"/>
                </a:solidFill>
                <a:latin typeface="Arial"/>
                <a:ea typeface="Arial"/>
                <a:cs typeface="Arial"/>
              </a:defRPr>
            </a:pPr>
            <a:r>
              <a:rPr sz="1350" b="0">
                <a:solidFill>
                  <a:srgbClr val="B6BBC2"/>
                </a:solidFill>
                <a:latin typeface="Arial"/>
                <a:ea typeface="Arial"/>
                <a:cs typeface="Arial"/>
              </a:rPr>
              <a:t>100</a:t>
            </a:r>
          </a:p>
        </p:txBody>
      </p:sp>
    </p:spTree>
    <p:extLst>
      <p:ext uri="{BB962C8B-B14F-4D97-AF65-F5344CB8AC3E}">
        <p14:creationId xmlns:p14="http://schemas.microsoft.com/office/powerpoint/2010/main" val="131422975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equilibrium.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intersection gives equilibrium income</a:t>
            </a:r>
          </a:p>
        </p:txBody>
      </p:sp>
      <p:sp>
        <p:nvSpPr>
          <p:cNvPr id="3" name="ae-equilibrium.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equilibrium.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30</a:t>
            </a:r>
          </a:p>
        </p:txBody>
      </p:sp>
      <p:cxnSp>
        <p:nvCxnSpPr>
          <p:cNvPr id="156" name="ae-equilibrium.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57" name="ae-equilibrium.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58" name="ae-equilibrium.inherited-116"/>
          <p:cNvCxnSpPr/>
          <p:nvPr/>
        </p:nvCxnSpPr>
        <p:spPr>
          <a:xfrm xmlns:a="http://schemas.openxmlformats.org/drawingml/2006/main" flipH="0" flipV="1">
            <a:off x="1524000" y="1857375"/>
            <a:ext cx="3429000"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59" name="ae-equilibrium.inherited-117"/>
          <p:cNvCxnSpPr/>
          <p:nvPr/>
        </p:nvCxnSpPr>
        <p:spPr>
          <a:xfrm xmlns:a="http://schemas.openxmlformats.org/drawingml/2006/main" flipH="0" flipV="1">
            <a:off x="1524000" y="2286000"/>
            <a:ext cx="3429000" cy="2571750"/>
          </a:xfrm>
          <a:prstGeom xmlns:a="http://schemas.openxmlformats.org/drawingml/2006/main" prst="straightConnector1">
            <a:avLst/>
          </a:prstGeom>
          <a:ln xmlns:a="http://schemas.openxmlformats.org/drawingml/2006/main" w="33338">
            <a:solidFill>
              <a:srgbClr val="B6BBC2"/>
            </a:solidFill>
            <a:prstDash val="solid"/>
          </a:ln>
        </p:spPr>
      </p:cxnSp>
      <p:cxnSp>
        <p:nvCxnSpPr>
          <p:cNvPr id="160" name="ae-equilibrium.inherited-118"/>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0">
            <a:noFill/>
          </a:ln>
        </p:spPr>
      </p:cxnSp>
      <p:cxnSp>
        <p:nvCxnSpPr>
          <p:cNvPr id="161" name="ae-equilibrium.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62" name="ae-equilibrium.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equilibrium.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equilibrium.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equilibrium.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AE = Y</a:t>
            </a:r>
          </a:p>
        </p:txBody>
      </p:sp>
      <p:sp>
        <p:nvSpPr>
          <p:cNvPr id="15" name="ae-equilibrium.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ae-equilibrium.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7" name="ae-equilibrium.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equilibrium.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equilibrium.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PLANNED SPENDING = OUTPUT</a:t>
            </a:r>
          </a:p>
        </p:txBody>
      </p:sp>
      <p:sp>
        <p:nvSpPr>
          <p:cNvPr id="20" name="ae-equilibrium.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At E₀, the AE line meets the 45° line.</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Y₀ = £400m and AE = £400m.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Firms sell what they planned to produce; there is no unplanned stock change.</a:t>
            </a:r>
          </a:p>
        </p:txBody>
      </p:sp>
      <p:sp>
        <p:nvSpPr>
          <p:cNvPr id="21" name="ae-equilibrium.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Read down to the income axis: Y₀ = £400m.</a:t>
            </a:r>
          </a:p>
        </p:txBody>
      </p:sp>
      <p:sp>
        <p:nvSpPr>
          <p:cNvPr id="131" name="ae-equilibrium.guide-74">
            <a:extLst xmlns:a="http://schemas.openxmlformats.org/drawingml/2006/main">
              <a:ext uri="{FF2B5EF4-FFF2-40B4-BE49-F238E27FC236}">
                <a16:creationId xmlns:a16="http://schemas.microsoft.com/office/drawing/2014/main" id="{EDB1DE56-4166-4C11-976E-B0A4A6CAD164}"/>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equilibrium.label-75">
            <a:extLst xmlns:a="http://schemas.openxmlformats.org/drawingml/2006/main">
              <a:ext uri="{FF2B5EF4-FFF2-40B4-BE49-F238E27FC236}">
                <a16:creationId xmlns:a16="http://schemas.microsoft.com/office/drawing/2014/main" id="{C65F0E4D-AB47-4662-82B6-1333FA3C9F3F}"/>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equilibrium.guide-76">
            <a:extLst xmlns:a="http://schemas.openxmlformats.org/drawingml/2006/main">
              <a:ext uri="{FF2B5EF4-FFF2-40B4-BE49-F238E27FC236}">
                <a16:creationId xmlns:a16="http://schemas.microsoft.com/office/drawing/2014/main" id="{D5399C2A-8E64-4C40-BC57-B7624D5C927C}"/>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equilibrium.label-77">
            <a:extLst xmlns:a="http://schemas.openxmlformats.org/drawingml/2006/main">
              <a:ext uri="{FF2B5EF4-FFF2-40B4-BE49-F238E27FC236}">
                <a16:creationId xmlns:a16="http://schemas.microsoft.com/office/drawing/2014/main" id="{7A35828C-7EA9-45EE-BE04-DEF92F13CE8F}"/>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equilibrium.guide-78">
            <a:extLst xmlns:a="http://schemas.openxmlformats.org/drawingml/2006/main">
              <a:ext uri="{FF2B5EF4-FFF2-40B4-BE49-F238E27FC236}">
                <a16:creationId xmlns:a16="http://schemas.microsoft.com/office/drawing/2014/main" id="{AC590854-3B27-4573-A847-D52DEBF8E2B8}"/>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equilibrium.label-79">
            <a:extLst xmlns:a="http://schemas.openxmlformats.org/drawingml/2006/main">
              <a:ext uri="{FF2B5EF4-FFF2-40B4-BE49-F238E27FC236}">
                <a16:creationId xmlns:a16="http://schemas.microsoft.com/office/drawing/2014/main" id="{FEB268EF-8BD0-443F-B2C0-F75C7E76806E}"/>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equilibrium.guide-80">
            <a:extLst xmlns:a="http://schemas.openxmlformats.org/drawingml/2006/main">
              <a:ext uri="{FF2B5EF4-FFF2-40B4-BE49-F238E27FC236}">
                <a16:creationId xmlns:a16="http://schemas.microsoft.com/office/drawing/2014/main" id="{5714ECB1-3ADB-453A-8963-AE2CBDB00151}"/>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equilibrium.label-81">
            <a:extLst xmlns:a="http://schemas.openxmlformats.org/drawingml/2006/main">
              <a:ext uri="{FF2B5EF4-FFF2-40B4-BE49-F238E27FC236}">
                <a16:creationId xmlns:a16="http://schemas.microsoft.com/office/drawing/2014/main" id="{5D92B022-DA70-4CE8-A89D-C002CDEA310C}"/>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equilibrium.guide-82">
            <a:extLst xmlns:a="http://schemas.openxmlformats.org/drawingml/2006/main">
              <a:ext uri="{FF2B5EF4-FFF2-40B4-BE49-F238E27FC236}">
                <a16:creationId xmlns:a16="http://schemas.microsoft.com/office/drawing/2014/main" id="{50ACBACB-1FAA-4377-9A58-A4D477D90188}"/>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equilibrium.label-83">
            <a:extLst xmlns:a="http://schemas.openxmlformats.org/drawingml/2006/main">
              <a:ext uri="{FF2B5EF4-FFF2-40B4-BE49-F238E27FC236}">
                <a16:creationId xmlns:a16="http://schemas.microsoft.com/office/drawing/2014/main" id="{53C42C4A-8A04-4389-9934-0F0600409865}"/>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equilibrium.guide-84">
            <a:extLst xmlns:a="http://schemas.openxmlformats.org/drawingml/2006/main">
              <a:ext uri="{FF2B5EF4-FFF2-40B4-BE49-F238E27FC236}">
                <a16:creationId xmlns:a16="http://schemas.microsoft.com/office/drawing/2014/main" id="{7A33B452-07C0-4154-928C-7F23A88F7E55}"/>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equilibrium.label-85">
            <a:extLst xmlns:a="http://schemas.openxmlformats.org/drawingml/2006/main">
              <a:ext uri="{FF2B5EF4-FFF2-40B4-BE49-F238E27FC236}">
                <a16:creationId xmlns:a16="http://schemas.microsoft.com/office/drawing/2014/main" id="{9BAFF0C2-2E2F-42D0-BB78-98435F059428}"/>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equilibrium.guide-86">
            <a:extLst xmlns:a="http://schemas.openxmlformats.org/drawingml/2006/main">
              <a:ext uri="{FF2B5EF4-FFF2-40B4-BE49-F238E27FC236}">
                <a16:creationId xmlns:a16="http://schemas.microsoft.com/office/drawing/2014/main" id="{86561965-8E53-4005-AC81-8C374870287B}"/>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equilibrium.label-87">
            <a:extLst xmlns:a="http://schemas.openxmlformats.org/drawingml/2006/main">
              <a:ext uri="{FF2B5EF4-FFF2-40B4-BE49-F238E27FC236}">
                <a16:creationId xmlns:a16="http://schemas.microsoft.com/office/drawing/2014/main" id="{395C8C85-BA4C-4158-B671-D60064C1EB4D}"/>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equilibrium.guide-88">
            <a:extLst xmlns:a="http://schemas.openxmlformats.org/drawingml/2006/main">
              <a:ext uri="{FF2B5EF4-FFF2-40B4-BE49-F238E27FC236}">
                <a16:creationId xmlns:a16="http://schemas.microsoft.com/office/drawing/2014/main" id="{1F47FB88-08BD-4021-8CBB-B35A3E2221E2}"/>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equilibrium.label-89">
            <a:extLst xmlns:a="http://schemas.openxmlformats.org/drawingml/2006/main">
              <a:ext uri="{FF2B5EF4-FFF2-40B4-BE49-F238E27FC236}">
                <a16:creationId xmlns:a16="http://schemas.microsoft.com/office/drawing/2014/main" id="{E941535C-1589-4B2E-AC2F-771D2B0DD2D0}"/>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equilibrium.guide-90">
            <a:extLst xmlns:a="http://schemas.openxmlformats.org/drawingml/2006/main">
              <a:ext uri="{FF2B5EF4-FFF2-40B4-BE49-F238E27FC236}">
                <a16:creationId xmlns:a16="http://schemas.microsoft.com/office/drawing/2014/main" id="{EA19F5D8-A5D2-452C-8304-B851303478F6}"/>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equilibrium.label-91">
            <a:extLst xmlns:a="http://schemas.openxmlformats.org/drawingml/2006/main">
              <a:ext uri="{FF2B5EF4-FFF2-40B4-BE49-F238E27FC236}">
                <a16:creationId xmlns:a16="http://schemas.microsoft.com/office/drawing/2014/main" id="{21DEF176-8A35-4FA6-A05E-C60FD2CA8D95}"/>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equilibrium.guide-92">
            <a:extLst xmlns:a="http://schemas.openxmlformats.org/drawingml/2006/main">
              <a:ext uri="{FF2B5EF4-FFF2-40B4-BE49-F238E27FC236}">
                <a16:creationId xmlns:a16="http://schemas.microsoft.com/office/drawing/2014/main" id="{C268885E-7106-4A91-9A85-11BC32C5082F}"/>
              </a:ext>
            </a:extLst>
          </p:cNvPr>
          <p:cNvSpPr>
            <a:spLocks xmlns:a="http://schemas.openxmlformats.org/drawingml/2006/main" noGrp="1"/>
          </p:cNvSpPr>
          <p:nvPr/>
        </p:nvSpPr>
        <p:spPr>
          <a:xfrm xmlns:a="http://schemas.openxmlformats.org/drawingml/2006/main" flipH="0" flipV="1">
            <a:off x="3238500" y="3571875"/>
            <a:ext cx="95" cy="1714500"/>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0" name="ae-equilibrium.guide-93">
            <a:extLst xmlns:a="http://schemas.openxmlformats.org/drawingml/2006/main">
              <a:ext uri="{FF2B5EF4-FFF2-40B4-BE49-F238E27FC236}">
                <a16:creationId xmlns:a16="http://schemas.microsoft.com/office/drawing/2014/main" id="{A2F12142-7BD7-4FBA-832D-A2F6F2512932}"/>
              </a:ext>
            </a:extLst>
          </p:cNvPr>
          <p:cNvSpPr>
            <a:spLocks xmlns:a="http://schemas.openxmlformats.org/drawingml/2006/main" noGrp="1"/>
          </p:cNvSpPr>
          <p:nvPr/>
        </p:nvSpPr>
        <p:spPr>
          <a:xfrm xmlns:a="http://schemas.openxmlformats.org/drawingml/2006/main" flipH="0" flipV="0">
            <a:off x="1524000" y="3571875"/>
            <a:ext cx="1714500" cy="95"/>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1" name="ae-equilibrium.point-94">
            <a:extLst xmlns:a="http://schemas.openxmlformats.org/drawingml/2006/main">
              <a:ext uri="{FF2B5EF4-FFF2-40B4-BE49-F238E27FC236}">
                <a16:creationId xmlns:a16="http://schemas.microsoft.com/office/drawing/2014/main" id="{4B36920D-A2D2-4A65-AFB2-AC83B9A16613}"/>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2" name="ae-equilibrium.label-95">
            <a:extLst xmlns:a="http://schemas.openxmlformats.org/drawingml/2006/main">
              <a:ext uri="{FF2B5EF4-FFF2-40B4-BE49-F238E27FC236}">
                <a16:creationId xmlns:a16="http://schemas.microsoft.com/office/drawing/2014/main" id="{9ACACE35-7194-444E-821C-500A117F0C3C}"/>
              </a:ext>
            </a:extLst>
          </p:cNvPr>
          <p:cNvSpPr>
            <a:spLocks xmlns:a="http://schemas.openxmlformats.org/drawingml/2006/main" noGrp="1"/>
          </p:cNvSpPr>
          <p:nvPr/>
        </p:nvSpPr>
        <p:spPr>
          <a:xfrm xmlns:a="http://schemas.openxmlformats.org/drawingml/2006/main">
            <a:off x="2733675" y="32385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1">
                <a:solidFill>
                  <a:srgbClr val="3D85FF"/>
                </a:solidFill>
                <a:latin typeface="Arial"/>
                <a:ea typeface="Arial"/>
                <a:cs typeface="Arial"/>
              </a:defRPr>
            </a:pPr>
            <a:r>
              <a:rPr sz="1500" b="1">
                <a:solidFill>
                  <a:srgbClr val="3D85FF"/>
                </a:solidFill>
                <a:latin typeface="Arial"/>
                <a:ea typeface="Arial"/>
                <a:cs typeface="Arial"/>
              </a:rPr>
              <a:t>E₀</a:t>
            </a:r>
          </a:p>
        </p:txBody>
      </p:sp>
    </p:spTree>
    <p:extLst>
      <p:ext uri="{BB962C8B-B14F-4D97-AF65-F5344CB8AC3E}">
        <p14:creationId xmlns:p14="http://schemas.microsoft.com/office/powerpoint/2010/main" val="131422975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below-equilibrium.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Below equilibrium, firms increase output</a:t>
            </a:r>
          </a:p>
        </p:txBody>
      </p:sp>
      <p:sp>
        <p:nvSpPr>
          <p:cNvPr id="3" name="ae-below-equilibrium.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below-equilibrium.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31</a:t>
            </a:r>
          </a:p>
        </p:txBody>
      </p:sp>
      <p:cxnSp>
        <p:nvCxnSpPr>
          <p:cNvPr id="160" name="ae-below-equilibrium.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61" name="ae-below-equilibrium.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62" name="ae-below-equilibrium.inherited-116"/>
          <p:cNvCxnSpPr/>
          <p:nvPr/>
        </p:nvCxnSpPr>
        <p:spPr>
          <a:xfrm xmlns:a="http://schemas.openxmlformats.org/drawingml/2006/main" flipH="0" flipV="1">
            <a:off x="1524000" y="1857375"/>
            <a:ext cx="3429000"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63" name="ae-below-equilibrium.inherited-117"/>
          <p:cNvCxnSpPr/>
          <p:nvPr/>
        </p:nvCxnSpPr>
        <p:spPr>
          <a:xfrm xmlns:a="http://schemas.openxmlformats.org/drawingml/2006/main" flipH="0" flipV="1">
            <a:off x="1524000" y="2286000"/>
            <a:ext cx="3429000" cy="2571750"/>
          </a:xfrm>
          <a:prstGeom xmlns:a="http://schemas.openxmlformats.org/drawingml/2006/main" prst="straightConnector1">
            <a:avLst/>
          </a:prstGeom>
          <a:ln xmlns:a="http://schemas.openxmlformats.org/drawingml/2006/main" w="33338">
            <a:solidFill>
              <a:srgbClr val="B6BBC2"/>
            </a:solidFill>
            <a:prstDash val="solid"/>
          </a:ln>
        </p:spPr>
      </p:cxnSp>
      <p:cxnSp>
        <p:nvCxnSpPr>
          <p:cNvPr id="164" name="ae-below-equilibrium.inherited-118"/>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0">
            <a:noFill/>
          </a:ln>
        </p:spPr>
      </p:cxnSp>
      <p:cxnSp>
        <p:nvCxnSpPr>
          <p:cNvPr id="165" name="ae-below-equilibrium.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66" name="ae-below-equilibrium.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below-equilibrium.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below-equilibrium.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below-equilibrium.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AE = Y</a:t>
            </a:r>
          </a:p>
        </p:txBody>
      </p:sp>
      <p:sp>
        <p:nvSpPr>
          <p:cNvPr id="15" name="ae-below-equilibrium.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ae-below-equilibrium.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7" name="ae-below-equilibrium.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below-equilibrium.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below-equilibrium.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AT Y = £200m, AE = £250m</a:t>
            </a:r>
          </a:p>
        </p:txBody>
      </p:sp>
      <p:sp>
        <p:nvSpPr>
          <p:cNvPr id="20" name="ae-below-equilibrium.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Buyers plan to spend £50m more than current output.</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Stocks run down unexpectedly; orders may be unfilled.</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Firms raise production, creating more income.</a:t>
            </a:r>
          </a:p>
        </p:txBody>
      </p:sp>
      <p:sp>
        <p:nvSpPr>
          <p:cNvPr id="21" name="ae-below-equilibrium.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Predict: which way will Y move? Why?</a:t>
            </a:r>
          </a:p>
        </p:txBody>
      </p:sp>
      <p:sp>
        <p:nvSpPr>
          <p:cNvPr id="131" name="ae-below-equilibrium.guide-96">
            <a:extLst xmlns:a="http://schemas.openxmlformats.org/drawingml/2006/main">
              <a:ext uri="{FF2B5EF4-FFF2-40B4-BE49-F238E27FC236}">
                <a16:creationId xmlns:a16="http://schemas.microsoft.com/office/drawing/2014/main" id="{52F7D9EA-94F8-4020-A4AB-2C1BD41A736F}"/>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below-equilibrium.label-97">
            <a:extLst xmlns:a="http://schemas.openxmlformats.org/drawingml/2006/main">
              <a:ext uri="{FF2B5EF4-FFF2-40B4-BE49-F238E27FC236}">
                <a16:creationId xmlns:a16="http://schemas.microsoft.com/office/drawing/2014/main" id="{A8D57001-8735-4E37-8C9E-DA506C1FFA50}"/>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below-equilibrium.guide-98">
            <a:extLst xmlns:a="http://schemas.openxmlformats.org/drawingml/2006/main">
              <a:ext uri="{FF2B5EF4-FFF2-40B4-BE49-F238E27FC236}">
                <a16:creationId xmlns:a16="http://schemas.microsoft.com/office/drawing/2014/main" id="{145AFC23-BFB6-408B-803A-C40C792D95F5}"/>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below-equilibrium.label-99">
            <a:extLst xmlns:a="http://schemas.openxmlformats.org/drawingml/2006/main">
              <a:ext uri="{FF2B5EF4-FFF2-40B4-BE49-F238E27FC236}">
                <a16:creationId xmlns:a16="http://schemas.microsoft.com/office/drawing/2014/main" id="{93342A81-E629-4430-8BCC-EF183D767839}"/>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below-equilibrium.guide-100">
            <a:extLst xmlns:a="http://schemas.openxmlformats.org/drawingml/2006/main">
              <a:ext uri="{FF2B5EF4-FFF2-40B4-BE49-F238E27FC236}">
                <a16:creationId xmlns:a16="http://schemas.microsoft.com/office/drawing/2014/main" id="{7FBE7445-8B05-4BB2-9ACB-58CF071A6CDD}"/>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below-equilibrium.label-101">
            <a:extLst xmlns:a="http://schemas.openxmlformats.org/drawingml/2006/main">
              <a:ext uri="{FF2B5EF4-FFF2-40B4-BE49-F238E27FC236}">
                <a16:creationId xmlns:a16="http://schemas.microsoft.com/office/drawing/2014/main" id="{259C8538-BB3B-469F-837A-4AAB43E4E17C}"/>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below-equilibrium.guide-102">
            <a:extLst xmlns:a="http://schemas.openxmlformats.org/drawingml/2006/main">
              <a:ext uri="{FF2B5EF4-FFF2-40B4-BE49-F238E27FC236}">
                <a16:creationId xmlns:a16="http://schemas.microsoft.com/office/drawing/2014/main" id="{6E9681E8-E4AB-4A7A-8167-4BD7CE7E0ACA}"/>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below-equilibrium.label-103">
            <a:extLst xmlns:a="http://schemas.openxmlformats.org/drawingml/2006/main">
              <a:ext uri="{FF2B5EF4-FFF2-40B4-BE49-F238E27FC236}">
                <a16:creationId xmlns:a16="http://schemas.microsoft.com/office/drawing/2014/main" id="{1DF02BBB-9CAA-4E11-B65B-3259F513B41D}"/>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below-equilibrium.guide-104">
            <a:extLst xmlns:a="http://schemas.openxmlformats.org/drawingml/2006/main">
              <a:ext uri="{FF2B5EF4-FFF2-40B4-BE49-F238E27FC236}">
                <a16:creationId xmlns:a16="http://schemas.microsoft.com/office/drawing/2014/main" id="{63EE1A3E-3518-467F-9550-D00512FB3DBA}"/>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below-equilibrium.label-105">
            <a:extLst xmlns:a="http://schemas.openxmlformats.org/drawingml/2006/main">
              <a:ext uri="{FF2B5EF4-FFF2-40B4-BE49-F238E27FC236}">
                <a16:creationId xmlns:a16="http://schemas.microsoft.com/office/drawing/2014/main" id="{3B424A7C-1A05-42A4-8D01-3EF845AF2226}"/>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below-equilibrium.guide-106">
            <a:extLst xmlns:a="http://schemas.openxmlformats.org/drawingml/2006/main">
              <a:ext uri="{FF2B5EF4-FFF2-40B4-BE49-F238E27FC236}">
                <a16:creationId xmlns:a16="http://schemas.microsoft.com/office/drawing/2014/main" id="{AE956715-3DBE-4E8F-8F2B-C91C83CD8221}"/>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below-equilibrium.label-107">
            <a:extLst xmlns:a="http://schemas.openxmlformats.org/drawingml/2006/main">
              <a:ext uri="{FF2B5EF4-FFF2-40B4-BE49-F238E27FC236}">
                <a16:creationId xmlns:a16="http://schemas.microsoft.com/office/drawing/2014/main" id="{C3BEB1E8-5A36-4A64-9C9D-FBC85A2A7C06}"/>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below-equilibrium.guide-108">
            <a:extLst xmlns:a="http://schemas.openxmlformats.org/drawingml/2006/main">
              <a:ext uri="{FF2B5EF4-FFF2-40B4-BE49-F238E27FC236}">
                <a16:creationId xmlns:a16="http://schemas.microsoft.com/office/drawing/2014/main" id="{AD27DC6F-C7C6-419A-8439-B2A85F5C6F11}"/>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below-equilibrium.label-109">
            <a:extLst xmlns:a="http://schemas.openxmlformats.org/drawingml/2006/main">
              <a:ext uri="{FF2B5EF4-FFF2-40B4-BE49-F238E27FC236}">
                <a16:creationId xmlns:a16="http://schemas.microsoft.com/office/drawing/2014/main" id="{4D68402D-3CD0-42EA-A962-EAE7A1B00B3A}"/>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below-equilibrium.guide-110">
            <a:extLst xmlns:a="http://schemas.openxmlformats.org/drawingml/2006/main">
              <a:ext uri="{FF2B5EF4-FFF2-40B4-BE49-F238E27FC236}">
                <a16:creationId xmlns:a16="http://schemas.microsoft.com/office/drawing/2014/main" id="{68719E9A-439E-4E2B-ADEA-5AD9C68B9573}"/>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below-equilibrium.label-111">
            <a:extLst xmlns:a="http://schemas.openxmlformats.org/drawingml/2006/main">
              <a:ext uri="{FF2B5EF4-FFF2-40B4-BE49-F238E27FC236}">
                <a16:creationId xmlns:a16="http://schemas.microsoft.com/office/drawing/2014/main" id="{98EC625A-88C1-4936-8183-95251EF195C7}"/>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below-equilibrium.guide-112">
            <a:extLst xmlns:a="http://schemas.openxmlformats.org/drawingml/2006/main">
              <a:ext uri="{FF2B5EF4-FFF2-40B4-BE49-F238E27FC236}">
                <a16:creationId xmlns:a16="http://schemas.microsoft.com/office/drawing/2014/main" id="{5BD30EA9-5D8D-46B5-BDB2-075A3B1249C0}"/>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below-equilibrium.label-113">
            <a:extLst xmlns:a="http://schemas.openxmlformats.org/drawingml/2006/main">
              <a:ext uri="{FF2B5EF4-FFF2-40B4-BE49-F238E27FC236}">
                <a16:creationId xmlns:a16="http://schemas.microsoft.com/office/drawing/2014/main" id="{172E13DB-0DAB-40BF-9369-3B23C2F6BBB0}"/>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below-equilibrium.guide-114">
            <a:extLst xmlns:a="http://schemas.openxmlformats.org/drawingml/2006/main">
              <a:ext uri="{FF2B5EF4-FFF2-40B4-BE49-F238E27FC236}">
                <a16:creationId xmlns:a16="http://schemas.microsoft.com/office/drawing/2014/main" id="{B262B3E1-7413-4B8D-8504-9CAAAE22BDE6}"/>
              </a:ext>
            </a:extLst>
          </p:cNvPr>
          <p:cNvSpPr>
            <a:spLocks xmlns:a="http://schemas.openxmlformats.org/drawingml/2006/main" noGrp="1"/>
          </p:cNvSpPr>
          <p:nvPr/>
        </p:nvSpPr>
        <p:spPr>
          <a:xfrm xmlns:a="http://schemas.openxmlformats.org/drawingml/2006/main" flipH="0" flipV="1">
            <a:off x="2381250" y="4214813"/>
            <a:ext cx="95" cy="1071563"/>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0" name="ae-below-equilibrium.point-115">
            <a:extLst xmlns:a="http://schemas.openxmlformats.org/drawingml/2006/main">
              <a:ext uri="{FF2B5EF4-FFF2-40B4-BE49-F238E27FC236}">
                <a16:creationId xmlns:a16="http://schemas.microsoft.com/office/drawing/2014/main" id="{DD41F1A7-F71B-4BC2-8F28-47B5916A8578}"/>
              </a:ext>
            </a:extLst>
          </p:cNvPr>
          <p:cNvSpPr>
            <a:spLocks xmlns:a="http://schemas.openxmlformats.org/drawingml/2006/main" noGrp="1"/>
          </p:cNvSpPr>
          <p:nvPr/>
        </p:nvSpPr>
        <p:spPr>
          <a:xfrm xmlns:a="http://schemas.openxmlformats.org/drawingml/2006/main">
            <a:off x="2333625" y="4167188"/>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1" name="ae-below-equilibrium.guide-116">
            <a:extLst xmlns:a="http://schemas.openxmlformats.org/drawingml/2006/main">
              <a:ext uri="{FF2B5EF4-FFF2-40B4-BE49-F238E27FC236}">
                <a16:creationId xmlns:a16="http://schemas.microsoft.com/office/drawing/2014/main" id="{E56C90CB-1EA2-4EA0-9771-FF6FED31A9E5}"/>
              </a:ext>
            </a:extLst>
          </p:cNvPr>
          <p:cNvSpPr>
            <a:spLocks xmlns:a="http://schemas.openxmlformats.org/drawingml/2006/main" noGrp="1"/>
          </p:cNvSpPr>
          <p:nvPr/>
        </p:nvSpPr>
        <p:spPr>
          <a:xfrm xmlns:a="http://schemas.openxmlformats.org/drawingml/2006/main" flipH="0" flipV="0">
            <a:off x="2381250" y="4214813"/>
            <a:ext cx="95" cy="214313"/>
          </a:xfrm>
          <a:prstGeom xmlns:a="http://schemas.openxmlformats.org/drawingml/2006/main" prst="line">
            <a:avLst/>
          </a:prstGeom>
          <a:noFill xmlns:a="http://schemas.openxmlformats.org/drawingml/2006/main"/>
          <a:ln xmlns:a="http://schemas.openxmlformats.org/drawingml/2006/main" w="28575">
            <a:solidFill>
              <a:srgbClr val="F56859"/>
            </a:solidFill>
            <a:prstDash val="solid"/>
          </a:ln>
        </p:spPr>
      </p:sp>
      <p:sp>
        <p:nvSpPr>
          <p:cNvPr id="152" name="ae-below-equilibrium.guide-117">
            <a:extLst xmlns:a="http://schemas.openxmlformats.org/drawingml/2006/main">
              <a:ext uri="{FF2B5EF4-FFF2-40B4-BE49-F238E27FC236}">
                <a16:creationId xmlns:a16="http://schemas.microsoft.com/office/drawing/2014/main" id="{1331E56C-53B8-489A-8889-547304F39892}"/>
              </a:ext>
            </a:extLst>
          </p:cNvPr>
          <p:cNvSpPr>
            <a:spLocks xmlns:a="http://schemas.openxmlformats.org/drawingml/2006/main" noGrp="1"/>
          </p:cNvSpPr>
          <p:nvPr/>
        </p:nvSpPr>
        <p:spPr>
          <a:xfrm xmlns:a="http://schemas.openxmlformats.org/drawingml/2006/main" flipH="0" flipV="0">
            <a:off x="2333625" y="4214813"/>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3" name="ae-below-equilibrium.guide-118">
            <a:extLst xmlns:a="http://schemas.openxmlformats.org/drawingml/2006/main">
              <a:ext uri="{FF2B5EF4-FFF2-40B4-BE49-F238E27FC236}">
                <a16:creationId xmlns:a16="http://schemas.microsoft.com/office/drawing/2014/main" id="{EFC0A4C0-041B-4C91-9899-E69F6993B024}"/>
              </a:ext>
            </a:extLst>
          </p:cNvPr>
          <p:cNvSpPr>
            <a:spLocks xmlns:a="http://schemas.openxmlformats.org/drawingml/2006/main" noGrp="1"/>
          </p:cNvSpPr>
          <p:nvPr/>
        </p:nvSpPr>
        <p:spPr>
          <a:xfrm xmlns:a="http://schemas.openxmlformats.org/drawingml/2006/main" flipH="0" flipV="0">
            <a:off x="2333625" y="4429125"/>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4" name="ae-below-equilibrium.label-119">
            <a:extLst xmlns:a="http://schemas.openxmlformats.org/drawingml/2006/main">
              <a:ext uri="{FF2B5EF4-FFF2-40B4-BE49-F238E27FC236}">
                <a16:creationId xmlns:a16="http://schemas.microsoft.com/office/drawing/2014/main" id="{2466D4B9-4A72-44A8-AC85-05B7C733CC11}"/>
              </a:ext>
            </a:extLst>
          </p:cNvPr>
          <p:cNvSpPr>
            <a:spLocks xmlns:a="http://schemas.openxmlformats.org/drawingml/2006/main" noGrp="1"/>
          </p:cNvSpPr>
          <p:nvPr/>
        </p:nvSpPr>
        <p:spPr>
          <a:xfrm xmlns:a="http://schemas.openxmlformats.org/drawingml/2006/main">
            <a:off x="2495550" y="447675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F56859"/>
                </a:solidFill>
                <a:latin typeface="Arial"/>
                <a:ea typeface="Arial"/>
                <a:cs typeface="Arial"/>
              </a:defRPr>
            </a:pPr>
            <a:r>
              <a:rPr sz="1500" b="1">
                <a:solidFill>
                  <a:srgbClr val="F56859"/>
                </a:solidFill>
                <a:latin typeface="Arial"/>
                <a:ea typeface="Arial"/>
                <a:cs typeface="Arial"/>
              </a:rPr>
              <a:t>£50m</a:t>
            </a:r>
          </a:p>
        </p:txBody>
      </p:sp>
      <p:sp>
        <p:nvSpPr>
          <p:cNvPr id="155" name="ae-below-equilibrium.point-120">
            <a:extLst xmlns:a="http://schemas.openxmlformats.org/drawingml/2006/main">
              <a:ext uri="{FF2B5EF4-FFF2-40B4-BE49-F238E27FC236}">
                <a16:creationId xmlns:a16="http://schemas.microsoft.com/office/drawing/2014/main" id="{0E1C8C4F-FAE3-4CFB-91E6-8E8F31FB1278}"/>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ln>
        </p:spPr>
      </p:sp>
      <p:sp>
        <p:nvSpPr>
          <p:cNvPr id="156" name="ae-below-equilibrium.label-121">
            <a:extLst xmlns:a="http://schemas.openxmlformats.org/drawingml/2006/main">
              <a:ext uri="{FF2B5EF4-FFF2-40B4-BE49-F238E27FC236}">
                <a16:creationId xmlns:a16="http://schemas.microsoft.com/office/drawing/2014/main" id="{9989477F-2C19-4E96-8807-77EB3E99CFC8}"/>
              </a:ext>
            </a:extLst>
          </p:cNvPr>
          <p:cNvSpPr>
            <a:spLocks xmlns:a="http://schemas.openxmlformats.org/drawingml/2006/main" noGrp="1"/>
          </p:cNvSpPr>
          <p:nvPr/>
        </p:nvSpPr>
        <p:spPr>
          <a:xfrm xmlns:a="http://schemas.openxmlformats.org/drawingml/2006/main">
            <a:off x="2733675" y="32385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1">
                <a:solidFill>
                  <a:srgbClr val="000000"/>
                </a:solidFill>
                <a:latin typeface="Arial"/>
                <a:ea typeface="Arial"/>
                <a:cs typeface="Arial"/>
              </a:defRPr>
            </a:pPr>
            <a:r>
              <a:rPr sz="1500" b="1">
                <a:solidFill>
                  <a:srgbClr val="000000"/>
                </a:solidFill>
                <a:latin typeface="Arial"/>
                <a:ea typeface="Arial"/>
                <a:cs typeface="Arial"/>
              </a:rPr>
              <a:t>E₀</a:t>
            </a:r>
          </a:p>
        </p:txBody>
      </p:sp>
    </p:spTree>
    <p:extLst>
      <p:ext uri="{BB962C8B-B14F-4D97-AF65-F5344CB8AC3E}">
        <p14:creationId xmlns:p14="http://schemas.microsoft.com/office/powerpoint/2010/main" val="131422975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above-equilibrium.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Above equilibrium, firms reduce output</a:t>
            </a:r>
          </a:p>
        </p:txBody>
      </p:sp>
      <p:sp>
        <p:nvSpPr>
          <p:cNvPr id="3" name="ae-above-equilibrium.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above-equilibrium.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32</a:t>
            </a:r>
          </a:p>
        </p:txBody>
      </p:sp>
      <p:cxnSp>
        <p:nvCxnSpPr>
          <p:cNvPr id="160" name="ae-above-equilibrium.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61" name="ae-above-equilibrium.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62" name="ae-above-equilibrium.inherited-116"/>
          <p:cNvCxnSpPr/>
          <p:nvPr/>
        </p:nvCxnSpPr>
        <p:spPr>
          <a:xfrm xmlns:a="http://schemas.openxmlformats.org/drawingml/2006/main" flipH="0" flipV="1">
            <a:off x="1524000" y="1857375"/>
            <a:ext cx="3429000"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63" name="ae-above-equilibrium.inherited-117"/>
          <p:cNvCxnSpPr/>
          <p:nvPr/>
        </p:nvCxnSpPr>
        <p:spPr>
          <a:xfrm xmlns:a="http://schemas.openxmlformats.org/drawingml/2006/main" flipH="0" flipV="1">
            <a:off x="1524000" y="2286000"/>
            <a:ext cx="3429000" cy="2571750"/>
          </a:xfrm>
          <a:prstGeom xmlns:a="http://schemas.openxmlformats.org/drawingml/2006/main" prst="straightConnector1">
            <a:avLst/>
          </a:prstGeom>
          <a:ln xmlns:a="http://schemas.openxmlformats.org/drawingml/2006/main" w="33338">
            <a:solidFill>
              <a:srgbClr val="B6BBC2"/>
            </a:solidFill>
            <a:prstDash val="solid"/>
          </a:ln>
        </p:spPr>
      </p:cxnSp>
      <p:cxnSp>
        <p:nvCxnSpPr>
          <p:cNvPr id="164" name="ae-above-equilibrium.inherited-118"/>
          <p:cNvCxnSpPr/>
          <p:nvPr/>
        </p:nvCxnSpPr>
        <p:spPr>
          <a:xfrm xmlns:a="http://schemas.openxmlformats.org/drawingml/2006/main" flipV="1">
            <a:off x="1143000" y="2143125"/>
            <a:ext cx="3952875" cy="1538743"/>
          </a:xfrm>
          <a:prstGeom xmlns:a="http://schemas.openxmlformats.org/drawingml/2006/main" prst="straightConnector1">
            <a:avLst/>
          </a:prstGeom>
          <a:ln xmlns:a="http://schemas.openxmlformats.org/drawingml/2006/main" w="0">
            <a:noFill/>
          </a:ln>
        </p:spPr>
      </p:cxnSp>
      <p:cxnSp>
        <p:nvCxnSpPr>
          <p:cNvPr id="165" name="ae-above-equilibrium.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66" name="ae-above-equilibrium.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above-equilibrium.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above-equilibrium.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above-equilibrium.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AE = Y</a:t>
            </a:r>
          </a:p>
        </p:txBody>
      </p:sp>
      <p:sp>
        <p:nvSpPr>
          <p:cNvPr id="15" name="ae-above-equilibrium.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ae-above-equilibrium.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7" name="ae-above-equilibrium.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above-equilibrium.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above-equilibrium.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AT Y = £600m, AE = £550m</a:t>
            </a:r>
          </a:p>
        </p:txBody>
      </p:sp>
      <p:sp>
        <p:nvSpPr>
          <p:cNvPr id="20" name="ae-above-equilibrium.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Buyers plan to spend £50m less than current output.</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Unsold goods add to stocks unexpectedly.</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Firms cut production, reducing income.</a:t>
            </a:r>
          </a:p>
        </p:txBody>
      </p:sp>
      <p:sp>
        <p:nvSpPr>
          <p:cNvPr id="21" name="ae-above-equilibrium.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Check: why is £600m not equilibrium?</a:t>
            </a:r>
          </a:p>
        </p:txBody>
      </p:sp>
      <p:sp>
        <p:nvSpPr>
          <p:cNvPr id="131" name="ae-above-equilibrium.guide-122">
            <a:extLst xmlns:a="http://schemas.openxmlformats.org/drawingml/2006/main">
              <a:ext uri="{FF2B5EF4-FFF2-40B4-BE49-F238E27FC236}">
                <a16:creationId xmlns:a16="http://schemas.microsoft.com/office/drawing/2014/main" id="{B60F2ED2-A081-4084-AD2B-B42A350832AF}"/>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above-equilibrium.label-123">
            <a:extLst xmlns:a="http://schemas.openxmlformats.org/drawingml/2006/main">
              <a:ext uri="{FF2B5EF4-FFF2-40B4-BE49-F238E27FC236}">
                <a16:creationId xmlns:a16="http://schemas.microsoft.com/office/drawing/2014/main" id="{99B86B7B-24D8-4A89-85AA-A348785773F8}"/>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above-equilibrium.guide-124">
            <a:extLst xmlns:a="http://schemas.openxmlformats.org/drawingml/2006/main">
              <a:ext uri="{FF2B5EF4-FFF2-40B4-BE49-F238E27FC236}">
                <a16:creationId xmlns:a16="http://schemas.microsoft.com/office/drawing/2014/main" id="{0AF48257-F013-461A-831D-13C642A383A3}"/>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above-equilibrium.label-125">
            <a:extLst xmlns:a="http://schemas.openxmlformats.org/drawingml/2006/main">
              <a:ext uri="{FF2B5EF4-FFF2-40B4-BE49-F238E27FC236}">
                <a16:creationId xmlns:a16="http://schemas.microsoft.com/office/drawing/2014/main" id="{E616D205-9CD5-4275-8063-DC4FC1CA2BA5}"/>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above-equilibrium.guide-126">
            <a:extLst xmlns:a="http://schemas.openxmlformats.org/drawingml/2006/main">
              <a:ext uri="{FF2B5EF4-FFF2-40B4-BE49-F238E27FC236}">
                <a16:creationId xmlns:a16="http://schemas.microsoft.com/office/drawing/2014/main" id="{8439907D-0B9A-435C-AFEF-015CB23F4351}"/>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above-equilibrium.label-127">
            <a:extLst xmlns:a="http://schemas.openxmlformats.org/drawingml/2006/main">
              <a:ext uri="{FF2B5EF4-FFF2-40B4-BE49-F238E27FC236}">
                <a16:creationId xmlns:a16="http://schemas.microsoft.com/office/drawing/2014/main" id="{79F19C5F-BF58-415B-B5D4-7BEE5D976DF3}"/>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above-equilibrium.guide-128">
            <a:extLst xmlns:a="http://schemas.openxmlformats.org/drawingml/2006/main">
              <a:ext uri="{FF2B5EF4-FFF2-40B4-BE49-F238E27FC236}">
                <a16:creationId xmlns:a16="http://schemas.microsoft.com/office/drawing/2014/main" id="{F7E78706-5CA5-4CA6-9824-F1F499605E46}"/>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above-equilibrium.label-129">
            <a:extLst xmlns:a="http://schemas.openxmlformats.org/drawingml/2006/main">
              <a:ext uri="{FF2B5EF4-FFF2-40B4-BE49-F238E27FC236}">
                <a16:creationId xmlns:a16="http://schemas.microsoft.com/office/drawing/2014/main" id="{19C42ED5-8627-4803-B6EA-FCDEB5DB479A}"/>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above-equilibrium.guide-130">
            <a:extLst xmlns:a="http://schemas.openxmlformats.org/drawingml/2006/main">
              <a:ext uri="{FF2B5EF4-FFF2-40B4-BE49-F238E27FC236}">
                <a16:creationId xmlns:a16="http://schemas.microsoft.com/office/drawing/2014/main" id="{9836C989-A772-4E57-A142-BE17BA89606D}"/>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above-equilibrium.label-131">
            <a:extLst xmlns:a="http://schemas.openxmlformats.org/drawingml/2006/main">
              <a:ext uri="{FF2B5EF4-FFF2-40B4-BE49-F238E27FC236}">
                <a16:creationId xmlns:a16="http://schemas.microsoft.com/office/drawing/2014/main" id="{B9771B08-6E29-4A53-8982-3554CFB4C05C}"/>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above-equilibrium.guide-132">
            <a:extLst xmlns:a="http://schemas.openxmlformats.org/drawingml/2006/main">
              <a:ext uri="{FF2B5EF4-FFF2-40B4-BE49-F238E27FC236}">
                <a16:creationId xmlns:a16="http://schemas.microsoft.com/office/drawing/2014/main" id="{4DBEDEB3-167E-4338-8F70-28C793DC9FE7}"/>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above-equilibrium.label-133">
            <a:extLst xmlns:a="http://schemas.openxmlformats.org/drawingml/2006/main">
              <a:ext uri="{FF2B5EF4-FFF2-40B4-BE49-F238E27FC236}">
                <a16:creationId xmlns:a16="http://schemas.microsoft.com/office/drawing/2014/main" id="{C34B4651-D2A2-487F-BF66-798CB31B0993}"/>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above-equilibrium.guide-134">
            <a:extLst xmlns:a="http://schemas.openxmlformats.org/drawingml/2006/main">
              <a:ext uri="{FF2B5EF4-FFF2-40B4-BE49-F238E27FC236}">
                <a16:creationId xmlns:a16="http://schemas.microsoft.com/office/drawing/2014/main" id="{31686116-3DAA-4645-A8BD-F3FCCA8FF7CE}"/>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above-equilibrium.label-135">
            <a:extLst xmlns:a="http://schemas.openxmlformats.org/drawingml/2006/main">
              <a:ext uri="{FF2B5EF4-FFF2-40B4-BE49-F238E27FC236}">
                <a16:creationId xmlns:a16="http://schemas.microsoft.com/office/drawing/2014/main" id="{A64DD69E-BFB8-4D36-8FD4-434FC833F6BD}"/>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above-equilibrium.guide-136">
            <a:extLst xmlns:a="http://schemas.openxmlformats.org/drawingml/2006/main">
              <a:ext uri="{FF2B5EF4-FFF2-40B4-BE49-F238E27FC236}">
                <a16:creationId xmlns:a16="http://schemas.microsoft.com/office/drawing/2014/main" id="{61A2454E-C022-4AEE-8028-9828813B0BEE}"/>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above-equilibrium.label-137">
            <a:extLst xmlns:a="http://schemas.openxmlformats.org/drawingml/2006/main">
              <a:ext uri="{FF2B5EF4-FFF2-40B4-BE49-F238E27FC236}">
                <a16:creationId xmlns:a16="http://schemas.microsoft.com/office/drawing/2014/main" id="{9FDEFC01-AA46-48E0-8107-4EDEE3616D67}"/>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above-equilibrium.guide-138">
            <a:extLst xmlns:a="http://schemas.openxmlformats.org/drawingml/2006/main">
              <a:ext uri="{FF2B5EF4-FFF2-40B4-BE49-F238E27FC236}">
                <a16:creationId xmlns:a16="http://schemas.microsoft.com/office/drawing/2014/main" id="{9A4E55F6-B45C-49C9-8D44-1EC515C7537E}"/>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above-equilibrium.label-139">
            <a:extLst xmlns:a="http://schemas.openxmlformats.org/drawingml/2006/main">
              <a:ext uri="{FF2B5EF4-FFF2-40B4-BE49-F238E27FC236}">
                <a16:creationId xmlns:a16="http://schemas.microsoft.com/office/drawing/2014/main" id="{68C1F2CB-0A18-4A9A-9770-E40C960904C7}"/>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above-equilibrium.guide-140">
            <a:extLst xmlns:a="http://schemas.openxmlformats.org/drawingml/2006/main">
              <a:ext uri="{FF2B5EF4-FFF2-40B4-BE49-F238E27FC236}">
                <a16:creationId xmlns:a16="http://schemas.microsoft.com/office/drawing/2014/main" id="{61FF79A6-2897-40BD-82D7-2CEB39D41139}"/>
              </a:ext>
            </a:extLst>
          </p:cNvPr>
          <p:cNvSpPr>
            <a:spLocks xmlns:a="http://schemas.openxmlformats.org/drawingml/2006/main" noGrp="1"/>
          </p:cNvSpPr>
          <p:nvPr/>
        </p:nvSpPr>
        <p:spPr>
          <a:xfrm xmlns:a="http://schemas.openxmlformats.org/drawingml/2006/main" flipH="0" flipV="1">
            <a:off x="4095750" y="2928938"/>
            <a:ext cx="95" cy="2357438"/>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0" name="ae-above-equilibrium.point-141">
            <a:extLst xmlns:a="http://schemas.openxmlformats.org/drawingml/2006/main">
              <a:ext uri="{FF2B5EF4-FFF2-40B4-BE49-F238E27FC236}">
                <a16:creationId xmlns:a16="http://schemas.microsoft.com/office/drawing/2014/main" id="{98530B32-6E1A-4413-9774-DE0CBDEDA524}"/>
              </a:ext>
            </a:extLst>
          </p:cNvPr>
          <p:cNvSpPr>
            <a:spLocks xmlns:a="http://schemas.openxmlformats.org/drawingml/2006/main" noGrp="1"/>
          </p:cNvSpPr>
          <p:nvPr/>
        </p:nvSpPr>
        <p:spPr>
          <a:xfrm xmlns:a="http://schemas.openxmlformats.org/drawingml/2006/main">
            <a:off x="4048125" y="2881313"/>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1" name="ae-above-equilibrium.guide-142">
            <a:extLst xmlns:a="http://schemas.openxmlformats.org/drawingml/2006/main">
              <a:ext uri="{FF2B5EF4-FFF2-40B4-BE49-F238E27FC236}">
                <a16:creationId xmlns:a16="http://schemas.microsoft.com/office/drawing/2014/main" id="{23ECDD5C-4674-402C-AD52-287389425FDF}"/>
              </a:ext>
            </a:extLst>
          </p:cNvPr>
          <p:cNvSpPr>
            <a:spLocks xmlns:a="http://schemas.openxmlformats.org/drawingml/2006/main" noGrp="1"/>
          </p:cNvSpPr>
          <p:nvPr/>
        </p:nvSpPr>
        <p:spPr>
          <a:xfrm xmlns:a="http://schemas.openxmlformats.org/drawingml/2006/main" flipH="0" flipV="0">
            <a:off x="4095750" y="2714625"/>
            <a:ext cx="95" cy="214313"/>
          </a:xfrm>
          <a:prstGeom xmlns:a="http://schemas.openxmlformats.org/drawingml/2006/main" prst="line">
            <a:avLst/>
          </a:prstGeom>
          <a:noFill xmlns:a="http://schemas.openxmlformats.org/drawingml/2006/main"/>
          <a:ln xmlns:a="http://schemas.openxmlformats.org/drawingml/2006/main" w="28575">
            <a:solidFill>
              <a:srgbClr val="F56859"/>
            </a:solidFill>
            <a:prstDash val="solid"/>
          </a:ln>
        </p:spPr>
      </p:sp>
      <p:sp>
        <p:nvSpPr>
          <p:cNvPr id="152" name="ae-above-equilibrium.guide-143">
            <a:extLst xmlns:a="http://schemas.openxmlformats.org/drawingml/2006/main">
              <a:ext uri="{FF2B5EF4-FFF2-40B4-BE49-F238E27FC236}">
                <a16:creationId xmlns:a16="http://schemas.microsoft.com/office/drawing/2014/main" id="{04C24C72-C6EA-478C-BCF0-1B3F808F2A30}"/>
              </a:ext>
            </a:extLst>
          </p:cNvPr>
          <p:cNvSpPr>
            <a:spLocks xmlns:a="http://schemas.openxmlformats.org/drawingml/2006/main" noGrp="1"/>
          </p:cNvSpPr>
          <p:nvPr/>
        </p:nvSpPr>
        <p:spPr>
          <a:xfrm xmlns:a="http://schemas.openxmlformats.org/drawingml/2006/main" flipH="0" flipV="0">
            <a:off x="4048125" y="2714625"/>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3" name="ae-above-equilibrium.guide-144">
            <a:extLst xmlns:a="http://schemas.openxmlformats.org/drawingml/2006/main">
              <a:ext uri="{FF2B5EF4-FFF2-40B4-BE49-F238E27FC236}">
                <a16:creationId xmlns:a16="http://schemas.microsoft.com/office/drawing/2014/main" id="{7B48EDC2-14E4-4895-98F2-1337BA53B3F6}"/>
              </a:ext>
            </a:extLst>
          </p:cNvPr>
          <p:cNvSpPr>
            <a:spLocks xmlns:a="http://schemas.openxmlformats.org/drawingml/2006/main" noGrp="1"/>
          </p:cNvSpPr>
          <p:nvPr/>
        </p:nvSpPr>
        <p:spPr>
          <a:xfrm xmlns:a="http://schemas.openxmlformats.org/drawingml/2006/main" flipH="0" flipV="0">
            <a:off x="4048125" y="2928938"/>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4" name="ae-above-equilibrium.label-145">
            <a:extLst xmlns:a="http://schemas.openxmlformats.org/drawingml/2006/main">
              <a:ext uri="{FF2B5EF4-FFF2-40B4-BE49-F238E27FC236}">
                <a16:creationId xmlns:a16="http://schemas.microsoft.com/office/drawing/2014/main" id="{E24E897F-4A62-4052-974D-F62CD05ECBAC}"/>
              </a:ext>
            </a:extLst>
          </p:cNvPr>
          <p:cNvSpPr>
            <a:spLocks xmlns:a="http://schemas.openxmlformats.org/drawingml/2006/main" noGrp="1"/>
          </p:cNvSpPr>
          <p:nvPr/>
        </p:nvSpPr>
        <p:spPr>
          <a:xfrm xmlns:a="http://schemas.openxmlformats.org/drawingml/2006/main">
            <a:off x="4210050" y="2976563"/>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F56859"/>
                </a:solidFill>
                <a:latin typeface="Arial"/>
                <a:ea typeface="Arial"/>
                <a:cs typeface="Arial"/>
              </a:defRPr>
            </a:pPr>
            <a:r>
              <a:rPr sz="1500" b="1">
                <a:solidFill>
                  <a:srgbClr val="F56859"/>
                </a:solidFill>
                <a:latin typeface="Arial"/>
                <a:ea typeface="Arial"/>
                <a:cs typeface="Arial"/>
              </a:rPr>
              <a:t>£50m</a:t>
            </a:r>
          </a:p>
        </p:txBody>
      </p:sp>
      <p:sp>
        <p:nvSpPr>
          <p:cNvPr id="155" name="ae-above-equilibrium.point-146">
            <a:extLst xmlns:a="http://schemas.openxmlformats.org/drawingml/2006/main">
              <a:ext uri="{FF2B5EF4-FFF2-40B4-BE49-F238E27FC236}">
                <a16:creationId xmlns:a16="http://schemas.microsoft.com/office/drawing/2014/main" id="{D3B23A9F-A384-47A3-9909-625C1F14602D}"/>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ln>
        </p:spPr>
      </p:sp>
      <p:sp>
        <p:nvSpPr>
          <p:cNvPr id="156" name="ae-above-equilibrium.label-147">
            <a:extLst xmlns:a="http://schemas.openxmlformats.org/drawingml/2006/main">
              <a:ext uri="{FF2B5EF4-FFF2-40B4-BE49-F238E27FC236}">
                <a16:creationId xmlns:a16="http://schemas.microsoft.com/office/drawing/2014/main" id="{4DFF9182-7DF6-4143-84DF-9FFF8DDEB679}"/>
              </a:ext>
            </a:extLst>
          </p:cNvPr>
          <p:cNvSpPr>
            <a:spLocks xmlns:a="http://schemas.openxmlformats.org/drawingml/2006/main" noGrp="1"/>
          </p:cNvSpPr>
          <p:nvPr/>
        </p:nvSpPr>
        <p:spPr>
          <a:xfrm xmlns:a="http://schemas.openxmlformats.org/drawingml/2006/main">
            <a:off x="2733675" y="32385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1">
                <a:solidFill>
                  <a:srgbClr val="000000"/>
                </a:solidFill>
                <a:latin typeface="Arial"/>
                <a:ea typeface="Arial"/>
                <a:cs typeface="Arial"/>
              </a:defRPr>
            </a:pPr>
            <a:r>
              <a:rPr sz="1500" b="1">
                <a:solidFill>
                  <a:srgbClr val="000000"/>
                </a:solidFill>
                <a:latin typeface="Arial"/>
                <a:ea typeface="Arial"/>
                <a:cs typeface="Arial"/>
              </a:rPr>
              <a:t>E₀</a:t>
            </a:r>
          </a:p>
        </p:txBody>
      </p:sp>
    </p:spTree>
    <p:extLst>
      <p:ext uri="{BB962C8B-B14F-4D97-AF65-F5344CB8AC3E}">
        <p14:creationId xmlns:p14="http://schemas.microsoft.com/office/powerpoint/2010/main" val="131422975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injection-shift.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An injection shifts AE up at every income</a:t>
            </a:r>
          </a:p>
        </p:txBody>
      </p:sp>
      <p:sp>
        <p:nvSpPr>
          <p:cNvPr id="3" name="ae-injection-shift.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injection-shift.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33</a:t>
            </a:r>
          </a:p>
        </p:txBody>
      </p:sp>
      <p:cxnSp>
        <p:nvCxnSpPr>
          <p:cNvPr id="159" name="ae-injection-shift.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60" name="ae-injection-shift.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61" name="ae-injection-shift.inherited-116"/>
          <p:cNvCxnSpPr/>
          <p:nvPr/>
        </p:nvCxnSpPr>
        <p:spPr>
          <a:xfrm xmlns:a="http://schemas.openxmlformats.org/drawingml/2006/main" flipH="0" flipV="1">
            <a:off x="1524000" y="1857375"/>
            <a:ext cx="3429000"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62" name="ae-injection-shift.inherited-117"/>
          <p:cNvCxnSpPr/>
          <p:nvPr/>
        </p:nvCxnSpPr>
        <p:spPr>
          <a:xfrm xmlns:a="http://schemas.openxmlformats.org/drawingml/2006/main" flipH="0" flipV="1">
            <a:off x="1524000" y="2286000"/>
            <a:ext cx="3429000" cy="2571750"/>
          </a:xfrm>
          <a:prstGeom xmlns:a="http://schemas.openxmlformats.org/drawingml/2006/main" prst="straightConnector1">
            <a:avLst/>
          </a:prstGeom>
          <a:ln xmlns:a="http://schemas.openxmlformats.org/drawingml/2006/main" w="33338">
            <a:solidFill>
              <a:srgbClr val="B6BBC2"/>
            </a:solidFill>
            <a:prstDash val="solid"/>
          </a:ln>
        </p:spPr>
      </p:cxnSp>
      <p:cxnSp>
        <p:nvCxnSpPr>
          <p:cNvPr id="163" name="ae-injection-shift.inherited-118"/>
          <p:cNvCxnSpPr/>
          <p:nvPr/>
        </p:nvCxnSpPr>
        <p:spPr>
          <a:xfrm xmlns:a="http://schemas.openxmlformats.org/drawingml/2006/main" flipH="0" flipV="1">
            <a:off x="1524000" y="2071688"/>
            <a:ext cx="3429000" cy="2571750"/>
          </a:xfrm>
          <a:prstGeom xmlns:a="http://schemas.openxmlformats.org/drawingml/2006/main" prst="straightConnector1">
            <a:avLst/>
          </a:prstGeom>
          <a:ln xmlns:a="http://schemas.openxmlformats.org/drawingml/2006/main" w="33338">
            <a:solidFill>
              <a:srgbClr val="3D85FF"/>
            </a:solidFill>
            <a:prstDash val="solid"/>
          </a:ln>
        </p:spPr>
      </p:cxnSp>
      <p:cxnSp>
        <p:nvCxnSpPr>
          <p:cNvPr id="164" name="ae-injection-shift.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65" name="ae-injection-shift.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injection-shift.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injection-shift.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injection-shift.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AE = Y</a:t>
            </a:r>
          </a:p>
        </p:txBody>
      </p:sp>
      <p:sp>
        <p:nvSpPr>
          <p:cNvPr id="15" name="ae-injection-shift.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ae-injection-shift.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ae-injection-shift.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injection-shift.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injection-shift.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INVESTMENT: £100m → £150m</a:t>
            </a:r>
          </a:p>
        </p:txBody>
      </p:sp>
      <p:sp>
        <p:nvSpPr>
          <p:cNvPr id="20" name="ae-injection-shift.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new £50m of I is autonomous: it does not depend on Y.</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At every income, AE is now £50m higher.</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At the old Y₀ = £400m, new AE is £450m.</a:t>
            </a:r>
          </a:p>
        </p:txBody>
      </p:sp>
      <p:sp>
        <p:nvSpPr>
          <p:cNvPr id="21" name="ae-injection-shift.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The vertical £50m gap is ΔI — not ΔY.</a:t>
            </a:r>
          </a:p>
        </p:txBody>
      </p:sp>
      <p:sp>
        <p:nvSpPr>
          <p:cNvPr id="131" name="ae-injection-shift.guide-148">
            <a:extLst xmlns:a="http://schemas.openxmlformats.org/drawingml/2006/main">
              <a:ext uri="{FF2B5EF4-FFF2-40B4-BE49-F238E27FC236}">
                <a16:creationId xmlns:a16="http://schemas.microsoft.com/office/drawing/2014/main" id="{5E29D820-2F5B-4E31-8A0B-12F9B97F0688}"/>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injection-shift.label-149">
            <a:extLst xmlns:a="http://schemas.openxmlformats.org/drawingml/2006/main">
              <a:ext uri="{FF2B5EF4-FFF2-40B4-BE49-F238E27FC236}">
                <a16:creationId xmlns:a16="http://schemas.microsoft.com/office/drawing/2014/main" id="{BEF87F91-5769-47DA-8A26-7D7FF81AF51D}"/>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injection-shift.guide-150">
            <a:extLst xmlns:a="http://schemas.openxmlformats.org/drawingml/2006/main">
              <a:ext uri="{FF2B5EF4-FFF2-40B4-BE49-F238E27FC236}">
                <a16:creationId xmlns:a16="http://schemas.microsoft.com/office/drawing/2014/main" id="{0668D6A9-02F6-41B0-8E80-901F5F0F91DD}"/>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injection-shift.label-151">
            <a:extLst xmlns:a="http://schemas.openxmlformats.org/drawingml/2006/main">
              <a:ext uri="{FF2B5EF4-FFF2-40B4-BE49-F238E27FC236}">
                <a16:creationId xmlns:a16="http://schemas.microsoft.com/office/drawing/2014/main" id="{C8C77217-154D-4185-AA79-5A2D982EA67B}"/>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injection-shift.guide-152">
            <a:extLst xmlns:a="http://schemas.openxmlformats.org/drawingml/2006/main">
              <a:ext uri="{FF2B5EF4-FFF2-40B4-BE49-F238E27FC236}">
                <a16:creationId xmlns:a16="http://schemas.microsoft.com/office/drawing/2014/main" id="{D5701BD9-131E-49BD-8374-2B093CE5254F}"/>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injection-shift.label-153">
            <a:extLst xmlns:a="http://schemas.openxmlformats.org/drawingml/2006/main">
              <a:ext uri="{FF2B5EF4-FFF2-40B4-BE49-F238E27FC236}">
                <a16:creationId xmlns:a16="http://schemas.microsoft.com/office/drawing/2014/main" id="{52B7983E-3D91-4DD8-863B-4603D7F14A78}"/>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injection-shift.guide-154">
            <a:extLst xmlns:a="http://schemas.openxmlformats.org/drawingml/2006/main">
              <a:ext uri="{FF2B5EF4-FFF2-40B4-BE49-F238E27FC236}">
                <a16:creationId xmlns:a16="http://schemas.microsoft.com/office/drawing/2014/main" id="{72040A4B-34BC-4E50-8443-CC17B0FFBEE5}"/>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injection-shift.label-155">
            <a:extLst xmlns:a="http://schemas.openxmlformats.org/drawingml/2006/main">
              <a:ext uri="{FF2B5EF4-FFF2-40B4-BE49-F238E27FC236}">
                <a16:creationId xmlns:a16="http://schemas.microsoft.com/office/drawing/2014/main" id="{C1857131-474B-4285-9889-C1498ED7DCEC}"/>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injection-shift.guide-156">
            <a:extLst xmlns:a="http://schemas.openxmlformats.org/drawingml/2006/main">
              <a:ext uri="{FF2B5EF4-FFF2-40B4-BE49-F238E27FC236}">
                <a16:creationId xmlns:a16="http://schemas.microsoft.com/office/drawing/2014/main" id="{38146B7C-5518-41F2-875D-5BC4A5362553}"/>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injection-shift.label-157">
            <a:extLst xmlns:a="http://schemas.openxmlformats.org/drawingml/2006/main">
              <a:ext uri="{FF2B5EF4-FFF2-40B4-BE49-F238E27FC236}">
                <a16:creationId xmlns:a16="http://schemas.microsoft.com/office/drawing/2014/main" id="{7A389880-4E5D-4029-A9C6-45747E7EBE01}"/>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injection-shift.guide-158">
            <a:extLst xmlns:a="http://schemas.openxmlformats.org/drawingml/2006/main">
              <a:ext uri="{FF2B5EF4-FFF2-40B4-BE49-F238E27FC236}">
                <a16:creationId xmlns:a16="http://schemas.microsoft.com/office/drawing/2014/main" id="{67B238F5-3582-42C9-B5DE-62486E7EBDD0}"/>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injection-shift.label-159">
            <a:extLst xmlns:a="http://schemas.openxmlformats.org/drawingml/2006/main">
              <a:ext uri="{FF2B5EF4-FFF2-40B4-BE49-F238E27FC236}">
                <a16:creationId xmlns:a16="http://schemas.microsoft.com/office/drawing/2014/main" id="{63A7C90F-0076-46A3-B4F0-6F1D81306C1B}"/>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injection-shift.guide-160">
            <a:extLst xmlns:a="http://schemas.openxmlformats.org/drawingml/2006/main">
              <a:ext uri="{FF2B5EF4-FFF2-40B4-BE49-F238E27FC236}">
                <a16:creationId xmlns:a16="http://schemas.microsoft.com/office/drawing/2014/main" id="{C438B781-8089-4E42-AB46-107195316433}"/>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injection-shift.label-161">
            <a:extLst xmlns:a="http://schemas.openxmlformats.org/drawingml/2006/main">
              <a:ext uri="{FF2B5EF4-FFF2-40B4-BE49-F238E27FC236}">
                <a16:creationId xmlns:a16="http://schemas.microsoft.com/office/drawing/2014/main" id="{CFF29256-6DC3-4BCC-9B5D-39ABD852DB82}"/>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injection-shift.guide-162">
            <a:extLst xmlns:a="http://schemas.openxmlformats.org/drawingml/2006/main">
              <a:ext uri="{FF2B5EF4-FFF2-40B4-BE49-F238E27FC236}">
                <a16:creationId xmlns:a16="http://schemas.microsoft.com/office/drawing/2014/main" id="{87F08A59-2BED-41E1-BB94-9FF5B7FB3A5E}"/>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injection-shift.label-163">
            <a:extLst xmlns:a="http://schemas.openxmlformats.org/drawingml/2006/main">
              <a:ext uri="{FF2B5EF4-FFF2-40B4-BE49-F238E27FC236}">
                <a16:creationId xmlns:a16="http://schemas.microsoft.com/office/drawing/2014/main" id="{F905B1A5-70B1-4D51-844E-809EA828F1AB}"/>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injection-shift.guide-164">
            <a:extLst xmlns:a="http://schemas.openxmlformats.org/drawingml/2006/main">
              <a:ext uri="{FF2B5EF4-FFF2-40B4-BE49-F238E27FC236}">
                <a16:creationId xmlns:a16="http://schemas.microsoft.com/office/drawing/2014/main" id="{1AE7981E-8B01-4663-8E8F-7B9F15D9EA9B}"/>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injection-shift.label-165">
            <a:extLst xmlns:a="http://schemas.openxmlformats.org/drawingml/2006/main">
              <a:ext uri="{FF2B5EF4-FFF2-40B4-BE49-F238E27FC236}">
                <a16:creationId xmlns:a16="http://schemas.microsoft.com/office/drawing/2014/main" id="{48E2B3B4-6AD8-4BEF-869B-AD4B6DEAB7D2}"/>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injection-shift.guide-166">
            <a:extLst xmlns:a="http://schemas.openxmlformats.org/drawingml/2006/main">
              <a:ext uri="{FF2B5EF4-FFF2-40B4-BE49-F238E27FC236}">
                <a16:creationId xmlns:a16="http://schemas.microsoft.com/office/drawing/2014/main" id="{5A5FB626-60D0-4A57-961B-A62123D98BCE}"/>
              </a:ext>
            </a:extLst>
          </p:cNvPr>
          <p:cNvSpPr>
            <a:spLocks xmlns:a="http://schemas.openxmlformats.org/drawingml/2006/main" noGrp="1"/>
          </p:cNvSpPr>
          <p:nvPr/>
        </p:nvSpPr>
        <p:spPr>
          <a:xfrm xmlns:a="http://schemas.openxmlformats.org/drawingml/2006/main" flipH="0" flipV="1">
            <a:off x="3238500" y="3571875"/>
            <a:ext cx="95" cy="1714500"/>
          </a:xfrm>
          <a:prstGeom xmlns:a="http://schemas.openxmlformats.org/drawingml/2006/main" prst="line">
            <a:avLst/>
          </a:prstGeom>
          <a:noFill xmlns:a="http://schemas.openxmlformats.org/drawingml/2006/main"/>
          <a:ln xmlns:a="http://schemas.openxmlformats.org/drawingml/2006/main" w="11430">
            <a:solidFill>
              <a:srgbClr val="B6BBC2"/>
            </a:solidFill>
            <a:prstDash val="dash"/>
          </a:ln>
        </p:spPr>
      </p:sp>
      <p:sp>
        <p:nvSpPr>
          <p:cNvPr id="150" name="ae-injection-shift.point-167">
            <a:extLst xmlns:a="http://schemas.openxmlformats.org/drawingml/2006/main">
              <a:ext uri="{FF2B5EF4-FFF2-40B4-BE49-F238E27FC236}">
                <a16:creationId xmlns:a16="http://schemas.microsoft.com/office/drawing/2014/main" id="{ED8CB763-2E9E-4B89-A03E-DA46AAE19F1F}"/>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B6BBC2"/>
          </a:solidFill>
          <a:ln xmlns:a="http://schemas.openxmlformats.org/drawingml/2006/main" w="9525">
            <a:solidFill>
              <a:srgbClr val="B6BBC2"/>
            </a:solidFill>
          </a:ln>
        </p:spPr>
      </p:sp>
      <p:sp>
        <p:nvSpPr>
          <p:cNvPr id="151" name="ae-injection-shift.point-168">
            <a:extLst xmlns:a="http://schemas.openxmlformats.org/drawingml/2006/main">
              <a:ext uri="{FF2B5EF4-FFF2-40B4-BE49-F238E27FC236}">
                <a16:creationId xmlns:a16="http://schemas.microsoft.com/office/drawing/2014/main" id="{76576EA4-A68B-4FAC-98F2-405BFADC74B9}"/>
              </a:ext>
            </a:extLst>
          </p:cNvPr>
          <p:cNvSpPr>
            <a:spLocks xmlns:a="http://schemas.openxmlformats.org/drawingml/2006/main" noGrp="1"/>
          </p:cNvSpPr>
          <p:nvPr/>
        </p:nvSpPr>
        <p:spPr>
          <a:xfrm xmlns:a="http://schemas.openxmlformats.org/drawingml/2006/main">
            <a:off x="3190875" y="3309938"/>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2" name="ae-injection-shift.guide-169">
            <a:extLst xmlns:a="http://schemas.openxmlformats.org/drawingml/2006/main">
              <a:ext uri="{FF2B5EF4-FFF2-40B4-BE49-F238E27FC236}">
                <a16:creationId xmlns:a16="http://schemas.microsoft.com/office/drawing/2014/main" id="{68620637-F7CC-4452-A669-51A9B3561658}"/>
              </a:ext>
            </a:extLst>
          </p:cNvPr>
          <p:cNvSpPr>
            <a:spLocks xmlns:a="http://schemas.openxmlformats.org/drawingml/2006/main" noGrp="1"/>
          </p:cNvSpPr>
          <p:nvPr/>
        </p:nvSpPr>
        <p:spPr>
          <a:xfrm xmlns:a="http://schemas.openxmlformats.org/drawingml/2006/main" flipH="0" flipV="0">
            <a:off x="3238500" y="3357563"/>
            <a:ext cx="95" cy="214313"/>
          </a:xfrm>
          <a:prstGeom xmlns:a="http://schemas.openxmlformats.org/drawingml/2006/main" prst="line">
            <a:avLst/>
          </a:prstGeom>
          <a:noFill xmlns:a="http://schemas.openxmlformats.org/drawingml/2006/main"/>
          <a:ln xmlns:a="http://schemas.openxmlformats.org/drawingml/2006/main" w="28575">
            <a:solidFill>
              <a:srgbClr val="F56859"/>
            </a:solidFill>
            <a:prstDash val="solid"/>
          </a:ln>
        </p:spPr>
      </p:sp>
      <p:sp>
        <p:nvSpPr>
          <p:cNvPr id="153" name="ae-injection-shift.guide-170">
            <a:extLst xmlns:a="http://schemas.openxmlformats.org/drawingml/2006/main">
              <a:ext uri="{FF2B5EF4-FFF2-40B4-BE49-F238E27FC236}">
                <a16:creationId xmlns:a16="http://schemas.microsoft.com/office/drawing/2014/main" id="{0A8FA31A-B165-46E4-BAA3-6587788C3766}"/>
              </a:ext>
            </a:extLst>
          </p:cNvPr>
          <p:cNvSpPr>
            <a:spLocks xmlns:a="http://schemas.openxmlformats.org/drawingml/2006/main" noGrp="1"/>
          </p:cNvSpPr>
          <p:nvPr/>
        </p:nvSpPr>
        <p:spPr>
          <a:xfrm xmlns:a="http://schemas.openxmlformats.org/drawingml/2006/main" flipH="0" flipV="0">
            <a:off x="3190875" y="3357563"/>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4" name="ae-injection-shift.guide-171">
            <a:extLst xmlns:a="http://schemas.openxmlformats.org/drawingml/2006/main">
              <a:ext uri="{FF2B5EF4-FFF2-40B4-BE49-F238E27FC236}">
                <a16:creationId xmlns:a16="http://schemas.microsoft.com/office/drawing/2014/main" id="{0137B178-5015-41FF-A535-F9C9C42DD0C3}"/>
              </a:ext>
            </a:extLst>
          </p:cNvPr>
          <p:cNvSpPr>
            <a:spLocks xmlns:a="http://schemas.openxmlformats.org/drawingml/2006/main" noGrp="1"/>
          </p:cNvSpPr>
          <p:nvPr/>
        </p:nvSpPr>
        <p:spPr>
          <a:xfrm xmlns:a="http://schemas.openxmlformats.org/drawingml/2006/main" flipH="0" flipV="0">
            <a:off x="3190875" y="3571875"/>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5" name="ae-injection-shift.label-172">
            <a:extLst xmlns:a="http://schemas.openxmlformats.org/drawingml/2006/main">
              <a:ext uri="{FF2B5EF4-FFF2-40B4-BE49-F238E27FC236}">
                <a16:creationId xmlns:a16="http://schemas.microsoft.com/office/drawing/2014/main" id="{2BF9E876-C1A4-4D18-BC43-A68EF6DB3895}"/>
              </a:ext>
            </a:extLst>
          </p:cNvPr>
          <p:cNvSpPr>
            <a:spLocks xmlns:a="http://schemas.openxmlformats.org/drawingml/2006/main" noGrp="1"/>
          </p:cNvSpPr>
          <p:nvPr/>
        </p:nvSpPr>
        <p:spPr>
          <a:xfrm xmlns:a="http://schemas.openxmlformats.org/drawingml/2006/main">
            <a:off x="3352800" y="361950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F56859"/>
                </a:solidFill>
                <a:latin typeface="Arial"/>
                <a:ea typeface="Arial"/>
                <a:cs typeface="Arial"/>
              </a:defRPr>
            </a:pPr>
            <a:r>
              <a:rPr sz="1500" b="1">
                <a:solidFill>
                  <a:srgbClr val="F56859"/>
                </a:solidFill>
                <a:latin typeface="Arial"/>
                <a:ea typeface="Arial"/>
                <a:cs typeface="Arial"/>
              </a:rPr>
              <a:t>ΔI = 50</a:t>
            </a:r>
          </a:p>
        </p:txBody>
      </p:sp>
    </p:spTree>
    <p:extLst>
      <p:ext uri="{BB962C8B-B14F-4D97-AF65-F5344CB8AC3E}">
        <p14:creationId xmlns:p14="http://schemas.microsoft.com/office/powerpoint/2010/main" val="131422975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e-spending-rounds.inherited-8">
            <a:extLst xmlns:a="http://schemas.openxmlformats.org/drawingml/2006/main">
              <a:ext uri="{FF2B5EF4-FFF2-40B4-BE49-F238E27FC236}">
                <a16:creationId xmlns:a16="http://schemas.microsoft.com/office/drawing/2014/main" id="{1A4A7859-199C-40A7-9F20-0C6C718175C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Extra income creates further spending</a:t>
            </a:r>
          </a:p>
        </p:txBody>
      </p:sp>
      <p:cxnSp>
        <p:nvCxnSpPr>
          <p:cNvPr id="39" name="ae-spending-rounds.inherited-33"/>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ae-spending-rounds.inherited-3">
            <a:extLst xmlns:a="http://schemas.openxmlformats.org/drawingml/2006/main">
              <a:ext uri="{FF2B5EF4-FFF2-40B4-BE49-F238E27FC236}">
                <a16:creationId xmlns:a16="http://schemas.microsoft.com/office/drawing/2014/main" id="{235129D4-B078-4A4F-A213-E9597FCFF51A}"/>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spending-rounds.inherited-4">
            <a:extLst xmlns:a="http://schemas.openxmlformats.org/drawingml/2006/main">
              <a:ext uri="{FF2B5EF4-FFF2-40B4-BE49-F238E27FC236}">
                <a16:creationId xmlns:a16="http://schemas.microsoft.com/office/drawing/2014/main" id="{913195A7-56D6-4717-AD74-7E618C37935A}"/>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34</a:t>
            </a:r>
          </a:p>
        </p:txBody>
      </p:sp>
      <p:sp>
        <p:nvSpPr>
          <p:cNvPr id="5" name="ae-spending-rounds.inherited-5">
            <a:extLst xmlns:a="http://schemas.openxmlformats.org/drawingml/2006/main">
              <a:ext uri="{FF2B5EF4-FFF2-40B4-BE49-F238E27FC236}">
                <a16:creationId xmlns:a16="http://schemas.microsoft.com/office/drawing/2014/main" id="{428E79C4-76EB-4081-8E92-521DC27BB3DB}"/>
              </a:ext>
            </a:extLst>
          </p:cNvPr>
          <p:cNvSpPr>
            <a:spLocks xmlns:a="http://schemas.openxmlformats.org/drawingml/2006/main" noGrp="1"/>
          </p:cNvSpPr>
          <p:nvPr/>
        </p:nvSpPr>
        <p:spPr>
          <a:xfrm xmlns:a="http://schemas.openxmlformats.org/drawingml/2006/main">
            <a:off x="571500" y="13811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00" b="0" i="0">
                <a:solidFill>
                  <a:srgbClr val="59616B"/>
                </a:solidFill>
                <a:latin typeface="Arial"/>
                <a:ea typeface="Arial"/>
                <a:cs typeface="Arial"/>
              </a:defRPr>
            </a:pPr>
            <a:r>
              <a:rPr sz="1800" b="0" i="0">
                <a:solidFill>
                  <a:srgbClr val="59616B"/>
                </a:solidFill>
                <a:latin typeface="Arial"/>
                <a:ea typeface="Arial"/>
                <a:cs typeface="Arial"/>
              </a:rPr>
              <a:t>The £50m investment increase starts the process. MPC stays at 0.75.</a:t>
            </a:r>
          </a:p>
        </p:txBody>
      </p:sp>
      <p:graphicFrame>
        <p:nvGraphicFramePr>
          <p:cNvPr id="43" name="ae-spending-rounds.inherited-34"/>
          <p:cNvGraphicFramePr/>
          <p:nvPr/>
        </p:nvGraphicFramePr>
        <p:xfrm>
          <a:off xmlns:a="http://schemas.openxmlformats.org/drawingml/2006/main" x="762000" y="2047875"/>
          <a:ext xmlns:a="http://schemas.openxmlformats.org/drawingml/2006/main" cx="10668000" cy="3143250"/>
        </p:xfrm>
        <a:graphic xmlns:a="http://schemas.openxmlformats.org/drawingml/2006/main">
          <a:graphicData uri="http://schemas.openxmlformats.org/drawingml/2006/table">
            <a:tbl>
              <a:tblPr/>
              <a:tblGrid>
                <a:gridCol w="1428750"/>
                <a:gridCol w="2857500"/>
                <a:gridCol w="3333750"/>
                <a:gridCol w="3048000"/>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Extra income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Re-spent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Extra saving (£m)</a:t>
                      </a:r>
                    </a:p>
                  </a:txBody>
                  <a:tcPr marL="76200" marR="76200" marT="57150" marB="57150" anchor="ctr">
                    <a:solidFill>
                      <a:srgbClr val="000000"/>
                    </a:solidFill>
                  </a:tcPr>
                </a:tc>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37.50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12.50</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37.50</a:t>
                      </a:r>
                    </a:p>
                  </a:txBody>
                  <a:tcPr marL="76200" marR="76200" marT="47625" marB="47625" anchor="ctr"/>
                </a:tc>
                <a:tc>
                  <a:txBody>
                    <a:bodyPr/>
                    <a:lstStyle/>
                    <a:p>
                      <a:pPr algn="ctr">
                        <a:buNone/>
                      </a:pPr>
                      <a:r>
                        <a:rPr sz="1650">
                          <a:solidFill>
                            <a:srgbClr val="000000"/>
                          </a:solidFill>
                          <a:latin typeface="Arial"/>
                          <a:ea typeface="Arial"/>
                          <a:cs typeface="Arial"/>
                        </a:rPr>
                        <a:t>28.13</a:t>
                      </a:r>
                    </a:p>
                  </a:txBody>
                  <a:tcPr marL="76200" marR="76200" marT="47625" marB="47625" anchor="ctr"/>
                </a:tc>
                <a:tc>
                  <a:txBody>
                    <a:bodyPr/>
                    <a:lstStyle/>
                    <a:p>
                      <a:pPr algn="ctr">
                        <a:buNone/>
                      </a:pPr>
                      <a:r>
                        <a:rPr sz="1650">
                          <a:solidFill>
                            <a:srgbClr val="000000"/>
                          </a:solidFill>
                          <a:latin typeface="Arial"/>
                          <a:ea typeface="Arial"/>
                          <a:cs typeface="Arial"/>
                        </a:rPr>
                        <a:t>9.38</a:t>
                      </a:r>
                    </a:p>
                  </a:txBody>
                  <a:tcPr marL="76200" marR="76200" marT="47625" marB="47625" anchor="ctr"/>
                </a:tc>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28.13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21.09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7.03</a:t>
                      </a:r>
                    </a:p>
                  </a:txBody>
                  <a:tcPr marL="76200" marR="76200" marT="47625" marB="47625" anchor="ctr">
                    <a:solidFill>
                      <a:srgbClr val="F7F7F5"/>
                    </a:solidFill>
                  </a:tcPr>
                </a:tc>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21.09</a:t>
                      </a:r>
                    </a:p>
                  </a:txBody>
                  <a:tcPr marL="76200" marR="76200" marT="47625" marB="47625" anchor="ctr"/>
                </a:tc>
                <a:tc>
                  <a:txBody>
                    <a:bodyPr/>
                    <a:lstStyle/>
                    <a:p>
                      <a:pPr algn="ctr">
                        <a:buNone/>
                      </a:pPr>
                      <a:r>
                        <a:rPr sz="1650">
                          <a:solidFill>
                            <a:srgbClr val="000000"/>
                          </a:solidFill>
                          <a:latin typeface="Arial"/>
                          <a:ea typeface="Arial"/>
                          <a:cs typeface="Arial"/>
                        </a:rPr>
                        <a:t>15.82</a:t>
                      </a:r>
                    </a:p>
                  </a:txBody>
                  <a:tcPr marL="76200" marR="76200" marT="47625" marB="47625" anchor="ctr"/>
                </a:tc>
                <a:tc>
                  <a:txBody>
                    <a:bodyPr/>
                    <a:lstStyle/>
                    <a:p>
                      <a:pPr algn="ctr">
                        <a:buNone/>
                      </a:pPr>
                      <a:r>
                        <a:rPr sz="1650">
                          <a:solidFill>
                            <a:srgbClr val="000000"/>
                          </a:solidFill>
                          <a:latin typeface="Arial"/>
                          <a:ea typeface="Arial"/>
                          <a:cs typeface="Arial"/>
                        </a:rPr>
                        <a:t>5.27</a:t>
                      </a:r>
                    </a:p>
                  </a:txBody>
                  <a:tcPr marL="76200" marR="76200" marT="47625" marB="47625" anchor="ctr"/>
                </a:tc>
              </a:tr>
              <a:tr h="523875">
                <a:tc>
                  <a:txBody>
                    <a:bodyPr/>
                    <a:lstStyle/>
                    <a:p>
                      <a:pPr algn="ctr">
                        <a:buNone/>
                      </a:pPr>
                      <a:r>
                        <a:rPr sz="1650">
                          <a:solidFill>
                            <a:srgbClr val="000000"/>
                          </a:solidFill>
                          <a:latin typeface="Arial"/>
                          <a:ea typeface="Arial"/>
                          <a:cs typeface="Arial"/>
                        </a:rPr>
                        <a:t>All rounds</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200.00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150.00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50.00</a:t>
                      </a:r>
                    </a:p>
                  </a:txBody>
                  <a:tcPr marL="76200" marR="76200" marT="47625" marB="47625" anchor="ctr">
                    <a:solidFill>
                      <a:srgbClr val="F7F7F5"/>
                    </a:solidFill>
                  </a:tcPr>
                </a:tc>
              </a:tr>
            </a:tbl>
          </a:graphicData>
        </a:graphic>
      </p:graphicFrame>
      <p:sp>
        <p:nvSpPr>
          <p:cNvPr id="7" name="ae-spending-rounds.inherited-7">
            <a:extLst xmlns:a="http://schemas.openxmlformats.org/drawingml/2006/main">
              <a:ext uri="{FF2B5EF4-FFF2-40B4-BE49-F238E27FC236}">
                <a16:creationId xmlns:a16="http://schemas.microsoft.com/office/drawing/2014/main" id="{D86C3CE2-0D32-4876-931D-9F6DDE7D5C7F}"/>
              </a:ext>
            </a:extLst>
          </p:cNvPr>
          <p:cNvSpPr>
            <a:spLocks xmlns:a="http://schemas.openxmlformats.org/drawingml/2006/main" noGrp="1"/>
          </p:cNvSpPr>
          <p:nvPr/>
        </p:nvSpPr>
        <p:spPr>
          <a:xfrm xmlns:a="http://schemas.openxmlformats.org/drawingml/2006/main">
            <a:off x="1143000" y="552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ΔY = 50 + 37.50 + 28.125 + … = £200m</a:t>
            </a:r>
          </a:p>
        </p:txBody>
      </p:sp>
    </p:spTree>
    <p:extLst>
      <p:ext uri="{BB962C8B-B14F-4D97-AF65-F5344CB8AC3E}">
        <p14:creationId xmlns:p14="http://schemas.microsoft.com/office/powerpoint/2010/main" val="437758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new-equilibrium.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final income rise is larger than the injection</a:t>
            </a:r>
          </a:p>
        </p:txBody>
      </p:sp>
      <p:sp>
        <p:nvSpPr>
          <p:cNvPr id="3" name="ae-new-equilibrium.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new-equilibrium.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35</a:t>
            </a:r>
          </a:p>
        </p:txBody>
      </p:sp>
      <p:cxnSp>
        <p:nvCxnSpPr>
          <p:cNvPr id="165" name="ae-new-equilibrium.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66" name="ae-new-equilibrium.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67" name="ae-new-equilibrium.inherited-116"/>
          <p:cNvCxnSpPr/>
          <p:nvPr/>
        </p:nvCxnSpPr>
        <p:spPr>
          <a:xfrm xmlns:a="http://schemas.openxmlformats.org/drawingml/2006/main" flipH="0" flipV="1">
            <a:off x="1524000" y="1857375"/>
            <a:ext cx="3429000"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68" name="ae-new-equilibrium.inherited-117"/>
          <p:cNvCxnSpPr/>
          <p:nvPr/>
        </p:nvCxnSpPr>
        <p:spPr>
          <a:xfrm xmlns:a="http://schemas.openxmlformats.org/drawingml/2006/main" flipH="0" flipV="1">
            <a:off x="1524000" y="2286000"/>
            <a:ext cx="3429000" cy="2571750"/>
          </a:xfrm>
          <a:prstGeom xmlns:a="http://schemas.openxmlformats.org/drawingml/2006/main" prst="straightConnector1">
            <a:avLst/>
          </a:prstGeom>
          <a:ln xmlns:a="http://schemas.openxmlformats.org/drawingml/2006/main" w="33338">
            <a:solidFill>
              <a:srgbClr val="B6BBC2"/>
            </a:solidFill>
            <a:prstDash val="solid"/>
          </a:ln>
        </p:spPr>
      </p:cxnSp>
      <p:cxnSp>
        <p:nvCxnSpPr>
          <p:cNvPr id="169" name="ae-new-equilibrium.inherited-118"/>
          <p:cNvCxnSpPr/>
          <p:nvPr/>
        </p:nvCxnSpPr>
        <p:spPr>
          <a:xfrm xmlns:a="http://schemas.openxmlformats.org/drawingml/2006/main" flipH="0" flipV="1">
            <a:off x="1524000" y="2071688"/>
            <a:ext cx="3429000" cy="2571750"/>
          </a:xfrm>
          <a:prstGeom xmlns:a="http://schemas.openxmlformats.org/drawingml/2006/main" prst="straightConnector1">
            <a:avLst/>
          </a:prstGeom>
          <a:ln xmlns:a="http://schemas.openxmlformats.org/drawingml/2006/main" w="33338">
            <a:solidFill>
              <a:srgbClr val="3D85FF"/>
            </a:solidFill>
            <a:prstDash val="solid"/>
          </a:ln>
        </p:spPr>
      </p:cxnSp>
      <p:cxnSp>
        <p:nvCxnSpPr>
          <p:cNvPr id="170" name="ae-new-equilibrium.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71" name="ae-new-equilibrium.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new-equilibrium.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new-equilibrium.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new-equilibrium.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AE = Y</a:t>
            </a:r>
          </a:p>
        </p:txBody>
      </p:sp>
      <p:sp>
        <p:nvSpPr>
          <p:cNvPr id="15" name="ae-new-equilibrium.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ae-new-equilibrium.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1957388"/>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AE₁</a:t>
            </a:r>
          </a:p>
        </p:txBody>
      </p:sp>
      <p:sp>
        <p:nvSpPr>
          <p:cNvPr id="17" name="ae-new-equilibrium.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new-equilibrium.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new-equilibrium.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NEW EQUILIBRIUM AT E₁</a:t>
            </a:r>
          </a:p>
        </p:txBody>
      </p:sp>
      <p:sp>
        <p:nvSpPr>
          <p:cNvPr id="20" name="ae-new-equilibrium.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E₁ lies where AE₁ = Y = £600m.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ΔY = 600 − 400 = £200m.</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k = 1 / (1 − 0.75) = 4.</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ΔY = 4 × £50m = £200m.</a:t>
            </a:r>
          </a:p>
        </p:txBody>
      </p:sp>
      <p:sp>
        <p:nvSpPr>
          <p:cNvPr id="21" name="ae-new-equilibrium.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£50m of extra I + £150m of extra C = £200m.</a:t>
            </a:r>
          </a:p>
        </p:txBody>
      </p:sp>
      <p:sp>
        <p:nvSpPr>
          <p:cNvPr id="131" name="ae-new-equilibrium.guide-173">
            <a:extLst xmlns:a="http://schemas.openxmlformats.org/drawingml/2006/main">
              <a:ext uri="{FF2B5EF4-FFF2-40B4-BE49-F238E27FC236}">
                <a16:creationId xmlns:a16="http://schemas.microsoft.com/office/drawing/2014/main" id="{7FFF68BC-A4C8-4D55-9098-7E6D5866CE5A}"/>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new-equilibrium.label-174">
            <a:extLst xmlns:a="http://schemas.openxmlformats.org/drawingml/2006/main">
              <a:ext uri="{FF2B5EF4-FFF2-40B4-BE49-F238E27FC236}">
                <a16:creationId xmlns:a16="http://schemas.microsoft.com/office/drawing/2014/main" id="{92F13EC6-4FE5-4BCE-9067-4C4DABDE32CD}"/>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new-equilibrium.guide-175">
            <a:extLst xmlns:a="http://schemas.openxmlformats.org/drawingml/2006/main">
              <a:ext uri="{FF2B5EF4-FFF2-40B4-BE49-F238E27FC236}">
                <a16:creationId xmlns:a16="http://schemas.microsoft.com/office/drawing/2014/main" id="{0DEA32F7-71C1-4076-B704-DDDFD77F6A80}"/>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new-equilibrium.label-176">
            <a:extLst xmlns:a="http://schemas.openxmlformats.org/drawingml/2006/main">
              <a:ext uri="{FF2B5EF4-FFF2-40B4-BE49-F238E27FC236}">
                <a16:creationId xmlns:a16="http://schemas.microsoft.com/office/drawing/2014/main" id="{01BEB7CA-3B34-49F7-A4AF-B07CD127E67C}"/>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new-equilibrium.guide-177">
            <a:extLst xmlns:a="http://schemas.openxmlformats.org/drawingml/2006/main">
              <a:ext uri="{FF2B5EF4-FFF2-40B4-BE49-F238E27FC236}">
                <a16:creationId xmlns:a16="http://schemas.microsoft.com/office/drawing/2014/main" id="{20BC071D-BE67-41CC-8130-71B0F2448933}"/>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new-equilibrium.label-178">
            <a:extLst xmlns:a="http://schemas.openxmlformats.org/drawingml/2006/main">
              <a:ext uri="{FF2B5EF4-FFF2-40B4-BE49-F238E27FC236}">
                <a16:creationId xmlns:a16="http://schemas.microsoft.com/office/drawing/2014/main" id="{7906EB47-7650-4C25-A3F1-59C325DAC335}"/>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new-equilibrium.guide-179">
            <a:extLst xmlns:a="http://schemas.openxmlformats.org/drawingml/2006/main">
              <a:ext uri="{FF2B5EF4-FFF2-40B4-BE49-F238E27FC236}">
                <a16:creationId xmlns:a16="http://schemas.microsoft.com/office/drawing/2014/main" id="{EB096642-6F04-4C38-80EC-F89DB302F6CA}"/>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new-equilibrium.label-180">
            <a:extLst xmlns:a="http://schemas.openxmlformats.org/drawingml/2006/main">
              <a:ext uri="{FF2B5EF4-FFF2-40B4-BE49-F238E27FC236}">
                <a16:creationId xmlns:a16="http://schemas.microsoft.com/office/drawing/2014/main" id="{49119EFE-8ADF-470B-BFB4-D2E40D6F1691}"/>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new-equilibrium.guide-181">
            <a:extLst xmlns:a="http://schemas.openxmlformats.org/drawingml/2006/main">
              <a:ext uri="{FF2B5EF4-FFF2-40B4-BE49-F238E27FC236}">
                <a16:creationId xmlns:a16="http://schemas.microsoft.com/office/drawing/2014/main" id="{B30F60A2-9DCE-47CE-A3CE-08321C574CD9}"/>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new-equilibrium.label-182">
            <a:extLst xmlns:a="http://schemas.openxmlformats.org/drawingml/2006/main">
              <a:ext uri="{FF2B5EF4-FFF2-40B4-BE49-F238E27FC236}">
                <a16:creationId xmlns:a16="http://schemas.microsoft.com/office/drawing/2014/main" id="{8221E893-50EC-49C2-AA85-BBA975638763}"/>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new-equilibrium.guide-183">
            <a:extLst xmlns:a="http://schemas.openxmlformats.org/drawingml/2006/main">
              <a:ext uri="{FF2B5EF4-FFF2-40B4-BE49-F238E27FC236}">
                <a16:creationId xmlns:a16="http://schemas.microsoft.com/office/drawing/2014/main" id="{39F7CE07-36A9-424B-A6C2-3C84BB565B6A}"/>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new-equilibrium.label-184">
            <a:extLst xmlns:a="http://schemas.openxmlformats.org/drawingml/2006/main">
              <a:ext uri="{FF2B5EF4-FFF2-40B4-BE49-F238E27FC236}">
                <a16:creationId xmlns:a16="http://schemas.microsoft.com/office/drawing/2014/main" id="{66EE5DE9-3362-450F-B55B-437DA914AD6A}"/>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new-equilibrium.guide-185">
            <a:extLst xmlns:a="http://schemas.openxmlformats.org/drawingml/2006/main">
              <a:ext uri="{FF2B5EF4-FFF2-40B4-BE49-F238E27FC236}">
                <a16:creationId xmlns:a16="http://schemas.microsoft.com/office/drawing/2014/main" id="{D8B17441-535A-4520-9C93-61B5BF1D90C0}"/>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new-equilibrium.label-186">
            <a:extLst xmlns:a="http://schemas.openxmlformats.org/drawingml/2006/main">
              <a:ext uri="{FF2B5EF4-FFF2-40B4-BE49-F238E27FC236}">
                <a16:creationId xmlns:a16="http://schemas.microsoft.com/office/drawing/2014/main" id="{4039A3B2-AB69-43AA-857C-C40AEC14B485}"/>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new-equilibrium.guide-187">
            <a:extLst xmlns:a="http://schemas.openxmlformats.org/drawingml/2006/main">
              <a:ext uri="{FF2B5EF4-FFF2-40B4-BE49-F238E27FC236}">
                <a16:creationId xmlns:a16="http://schemas.microsoft.com/office/drawing/2014/main" id="{E55FD731-E0B3-46B0-83B4-2B61CEF52FEC}"/>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new-equilibrium.label-188">
            <a:extLst xmlns:a="http://schemas.openxmlformats.org/drawingml/2006/main">
              <a:ext uri="{FF2B5EF4-FFF2-40B4-BE49-F238E27FC236}">
                <a16:creationId xmlns:a16="http://schemas.microsoft.com/office/drawing/2014/main" id="{3928062D-C9FC-4D34-B16C-CBE859D79D34}"/>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new-equilibrium.guide-189">
            <a:extLst xmlns:a="http://schemas.openxmlformats.org/drawingml/2006/main">
              <a:ext uri="{FF2B5EF4-FFF2-40B4-BE49-F238E27FC236}">
                <a16:creationId xmlns:a16="http://schemas.microsoft.com/office/drawing/2014/main" id="{DD2A9CA4-D6ED-48C5-A9C6-8B75E6E58E4B}"/>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new-equilibrium.label-190">
            <a:extLst xmlns:a="http://schemas.openxmlformats.org/drawingml/2006/main">
              <a:ext uri="{FF2B5EF4-FFF2-40B4-BE49-F238E27FC236}">
                <a16:creationId xmlns:a16="http://schemas.microsoft.com/office/drawing/2014/main" id="{6556D3F3-96D9-48CA-AB26-F4DA50165997}"/>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new-equilibrium.guide-191">
            <a:extLst xmlns:a="http://schemas.openxmlformats.org/drawingml/2006/main">
              <a:ext uri="{FF2B5EF4-FFF2-40B4-BE49-F238E27FC236}">
                <a16:creationId xmlns:a16="http://schemas.microsoft.com/office/drawing/2014/main" id="{587CEB95-9FAA-401B-92C0-2987032BE12A}"/>
              </a:ext>
            </a:extLst>
          </p:cNvPr>
          <p:cNvSpPr>
            <a:spLocks xmlns:a="http://schemas.openxmlformats.org/drawingml/2006/main" noGrp="1"/>
          </p:cNvSpPr>
          <p:nvPr/>
        </p:nvSpPr>
        <p:spPr>
          <a:xfrm xmlns:a="http://schemas.openxmlformats.org/drawingml/2006/main" flipH="0" flipV="1">
            <a:off x="3238500" y="3571875"/>
            <a:ext cx="95" cy="1714500"/>
          </a:xfrm>
          <a:prstGeom xmlns:a="http://schemas.openxmlformats.org/drawingml/2006/main" prst="line">
            <a:avLst/>
          </a:prstGeom>
          <a:noFill xmlns:a="http://schemas.openxmlformats.org/drawingml/2006/main"/>
          <a:ln xmlns:a="http://schemas.openxmlformats.org/drawingml/2006/main" w="11430">
            <a:solidFill>
              <a:srgbClr val="B6BBC2"/>
            </a:solidFill>
            <a:prstDash val="dash"/>
          </a:ln>
        </p:spPr>
      </p:sp>
      <p:sp>
        <p:nvSpPr>
          <p:cNvPr id="150" name="ae-new-equilibrium.point-192">
            <a:extLst xmlns:a="http://schemas.openxmlformats.org/drawingml/2006/main">
              <a:ext uri="{FF2B5EF4-FFF2-40B4-BE49-F238E27FC236}">
                <a16:creationId xmlns:a16="http://schemas.microsoft.com/office/drawing/2014/main" id="{01B6D136-0C88-4869-93A7-2EFE08951B81}"/>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B6BBC2"/>
          </a:solidFill>
          <a:ln xmlns:a="http://schemas.openxmlformats.org/drawingml/2006/main" w="9525">
            <a:solidFill>
              <a:srgbClr val="B6BBC2"/>
            </a:solidFill>
          </a:ln>
        </p:spPr>
      </p:sp>
      <p:sp>
        <p:nvSpPr>
          <p:cNvPr id="151" name="ae-new-equilibrium.guide-193">
            <a:extLst xmlns:a="http://schemas.openxmlformats.org/drawingml/2006/main">
              <a:ext uri="{FF2B5EF4-FFF2-40B4-BE49-F238E27FC236}">
                <a16:creationId xmlns:a16="http://schemas.microsoft.com/office/drawing/2014/main" id="{CA651984-606A-4F09-9ABB-7026D6CE9BF9}"/>
              </a:ext>
            </a:extLst>
          </p:cNvPr>
          <p:cNvSpPr>
            <a:spLocks xmlns:a="http://schemas.openxmlformats.org/drawingml/2006/main" noGrp="1"/>
          </p:cNvSpPr>
          <p:nvPr/>
        </p:nvSpPr>
        <p:spPr>
          <a:xfrm xmlns:a="http://schemas.openxmlformats.org/drawingml/2006/main" flipH="0" flipV="1">
            <a:off x="4095750" y="2714625"/>
            <a:ext cx="95" cy="2571750"/>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2" name="ae-new-equilibrium.point-194">
            <a:extLst xmlns:a="http://schemas.openxmlformats.org/drawingml/2006/main">
              <a:ext uri="{FF2B5EF4-FFF2-40B4-BE49-F238E27FC236}">
                <a16:creationId xmlns:a16="http://schemas.microsoft.com/office/drawing/2014/main" id="{0A40B197-D705-4BBD-86DC-02AFBEB694DB}"/>
              </a:ext>
            </a:extLst>
          </p:cNvPr>
          <p:cNvSpPr>
            <a:spLocks xmlns:a="http://schemas.openxmlformats.org/drawingml/2006/main" noGrp="1"/>
          </p:cNvSpPr>
          <p:nvPr/>
        </p:nvSpPr>
        <p:spPr>
          <a:xfrm xmlns:a="http://schemas.openxmlformats.org/drawingml/2006/main">
            <a:off x="4048125" y="2667000"/>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3" name="ae-new-equilibrium.label-195">
            <a:extLst xmlns:a="http://schemas.openxmlformats.org/drawingml/2006/main">
              <a:ext uri="{FF2B5EF4-FFF2-40B4-BE49-F238E27FC236}">
                <a16:creationId xmlns:a16="http://schemas.microsoft.com/office/drawing/2014/main" id="{4455F4E8-7B36-470E-AB98-B752403FD4F2}"/>
              </a:ext>
            </a:extLst>
          </p:cNvPr>
          <p:cNvSpPr>
            <a:spLocks xmlns:a="http://schemas.openxmlformats.org/drawingml/2006/main" noGrp="1"/>
          </p:cNvSpPr>
          <p:nvPr/>
        </p:nvSpPr>
        <p:spPr>
          <a:xfrm xmlns:a="http://schemas.openxmlformats.org/drawingml/2006/main">
            <a:off x="3590925" y="23812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1">
                <a:solidFill>
                  <a:srgbClr val="3D85FF"/>
                </a:solidFill>
                <a:latin typeface="Arial"/>
                <a:ea typeface="Arial"/>
                <a:cs typeface="Arial"/>
              </a:defRPr>
            </a:pPr>
            <a:r>
              <a:rPr sz="1500" b="1">
                <a:solidFill>
                  <a:srgbClr val="3D85FF"/>
                </a:solidFill>
                <a:latin typeface="Arial"/>
                <a:ea typeface="Arial"/>
                <a:cs typeface="Arial"/>
              </a:rPr>
              <a:t>E₁</a:t>
            </a:r>
          </a:p>
        </p:txBody>
      </p:sp>
      <p:sp>
        <p:nvSpPr>
          <p:cNvPr id="154" name="ae-new-equilibrium.guide-196">
            <a:extLst xmlns:a="http://schemas.openxmlformats.org/drawingml/2006/main">
              <a:ext uri="{FF2B5EF4-FFF2-40B4-BE49-F238E27FC236}">
                <a16:creationId xmlns:a16="http://schemas.microsoft.com/office/drawing/2014/main" id="{2FCC40E2-4E66-4E1D-AB0D-8EB4964939A9}"/>
              </a:ext>
            </a:extLst>
          </p:cNvPr>
          <p:cNvSpPr>
            <a:spLocks xmlns:a="http://schemas.openxmlformats.org/drawingml/2006/main" noGrp="1"/>
          </p:cNvSpPr>
          <p:nvPr/>
        </p:nvSpPr>
        <p:spPr>
          <a:xfrm xmlns:a="http://schemas.openxmlformats.org/drawingml/2006/main" flipH="0" flipV="0">
            <a:off x="3238500" y="3357563"/>
            <a:ext cx="95" cy="214313"/>
          </a:xfrm>
          <a:prstGeom xmlns:a="http://schemas.openxmlformats.org/drawingml/2006/main" prst="line">
            <a:avLst/>
          </a:prstGeom>
          <a:noFill xmlns:a="http://schemas.openxmlformats.org/drawingml/2006/main"/>
          <a:ln xmlns:a="http://schemas.openxmlformats.org/drawingml/2006/main" w="28575">
            <a:solidFill>
              <a:srgbClr val="F56859"/>
            </a:solidFill>
            <a:prstDash val="solid"/>
          </a:ln>
        </p:spPr>
      </p:sp>
      <p:sp>
        <p:nvSpPr>
          <p:cNvPr id="155" name="ae-new-equilibrium.guide-197">
            <a:extLst xmlns:a="http://schemas.openxmlformats.org/drawingml/2006/main">
              <a:ext uri="{FF2B5EF4-FFF2-40B4-BE49-F238E27FC236}">
                <a16:creationId xmlns:a16="http://schemas.microsoft.com/office/drawing/2014/main" id="{E0741D49-8020-4A2E-8C21-E24D883D20A6}"/>
              </a:ext>
            </a:extLst>
          </p:cNvPr>
          <p:cNvSpPr>
            <a:spLocks xmlns:a="http://schemas.openxmlformats.org/drawingml/2006/main" noGrp="1"/>
          </p:cNvSpPr>
          <p:nvPr/>
        </p:nvSpPr>
        <p:spPr>
          <a:xfrm xmlns:a="http://schemas.openxmlformats.org/drawingml/2006/main" flipH="0" flipV="0">
            <a:off x="3190875" y="3357563"/>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6" name="ae-new-equilibrium.guide-198">
            <a:extLst xmlns:a="http://schemas.openxmlformats.org/drawingml/2006/main">
              <a:ext uri="{FF2B5EF4-FFF2-40B4-BE49-F238E27FC236}">
                <a16:creationId xmlns:a16="http://schemas.microsoft.com/office/drawing/2014/main" id="{49F9F177-CE54-4088-BAA5-15CCADE73E08}"/>
              </a:ext>
            </a:extLst>
          </p:cNvPr>
          <p:cNvSpPr>
            <a:spLocks xmlns:a="http://schemas.openxmlformats.org/drawingml/2006/main" noGrp="1"/>
          </p:cNvSpPr>
          <p:nvPr/>
        </p:nvSpPr>
        <p:spPr>
          <a:xfrm xmlns:a="http://schemas.openxmlformats.org/drawingml/2006/main" flipH="0" flipV="0">
            <a:off x="3190875" y="3571875"/>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7" name="ae-new-equilibrium.label-199">
            <a:extLst xmlns:a="http://schemas.openxmlformats.org/drawingml/2006/main">
              <a:ext uri="{FF2B5EF4-FFF2-40B4-BE49-F238E27FC236}">
                <a16:creationId xmlns:a16="http://schemas.microsoft.com/office/drawing/2014/main" id="{32A855DA-1038-42A1-8AE0-EEDD2F0BFF8D}"/>
              </a:ext>
            </a:extLst>
          </p:cNvPr>
          <p:cNvSpPr>
            <a:spLocks xmlns:a="http://schemas.openxmlformats.org/drawingml/2006/main" noGrp="1"/>
          </p:cNvSpPr>
          <p:nvPr/>
        </p:nvSpPr>
        <p:spPr>
          <a:xfrm xmlns:a="http://schemas.openxmlformats.org/drawingml/2006/main">
            <a:off x="3352800" y="361950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F56859"/>
                </a:solidFill>
                <a:latin typeface="Arial"/>
                <a:ea typeface="Arial"/>
                <a:cs typeface="Arial"/>
              </a:defRPr>
            </a:pPr>
            <a:r>
              <a:rPr sz="1500" b="1">
                <a:solidFill>
                  <a:srgbClr val="F56859"/>
                </a:solidFill>
                <a:latin typeface="Arial"/>
                <a:ea typeface="Arial"/>
                <a:cs typeface="Arial"/>
              </a:rPr>
              <a:t>ΔI = 50</a:t>
            </a:r>
          </a:p>
        </p:txBody>
      </p:sp>
      <p:sp>
        <p:nvSpPr>
          <p:cNvPr id="158" name="ae-new-equilibrium.guide-200">
            <a:extLst xmlns:a="http://schemas.openxmlformats.org/drawingml/2006/main">
              <a:ext uri="{FF2B5EF4-FFF2-40B4-BE49-F238E27FC236}">
                <a16:creationId xmlns:a16="http://schemas.microsoft.com/office/drawing/2014/main" id="{88B58DE7-92BE-413F-9C43-576DFBA35540}"/>
              </a:ext>
            </a:extLst>
          </p:cNvPr>
          <p:cNvSpPr>
            <a:spLocks xmlns:a="http://schemas.openxmlformats.org/drawingml/2006/main" noGrp="1"/>
          </p:cNvSpPr>
          <p:nvPr/>
        </p:nvSpPr>
        <p:spPr>
          <a:xfrm xmlns:a="http://schemas.openxmlformats.org/drawingml/2006/main" flipH="0" flipV="0">
            <a:off x="3238500" y="6057900"/>
            <a:ext cx="857250" cy="95"/>
          </a:xfrm>
          <a:prstGeom xmlns:a="http://schemas.openxmlformats.org/drawingml/2006/main" prst="line">
            <a:avLst/>
          </a:prstGeom>
          <a:noFill xmlns:a="http://schemas.openxmlformats.org/drawingml/2006/main"/>
          <a:ln xmlns:a="http://schemas.openxmlformats.org/drawingml/2006/main" w="19050">
            <a:solidFill>
              <a:srgbClr val="3D85FF"/>
            </a:solidFill>
            <a:prstDash val="solid"/>
          </a:ln>
        </p:spPr>
      </p:sp>
      <p:sp>
        <p:nvSpPr>
          <p:cNvPr id="159" name="ae-new-equilibrium.guide-201">
            <a:extLst xmlns:a="http://schemas.openxmlformats.org/drawingml/2006/main">
              <a:ext uri="{FF2B5EF4-FFF2-40B4-BE49-F238E27FC236}">
                <a16:creationId xmlns:a16="http://schemas.microsoft.com/office/drawing/2014/main" id="{7F328D33-28B8-4FED-A6E3-AF7D8698988D}"/>
              </a:ext>
            </a:extLst>
          </p:cNvPr>
          <p:cNvSpPr>
            <a:spLocks xmlns:a="http://schemas.openxmlformats.org/drawingml/2006/main" noGrp="1"/>
          </p:cNvSpPr>
          <p:nvPr/>
        </p:nvSpPr>
        <p:spPr>
          <a:xfrm xmlns:a="http://schemas.openxmlformats.org/drawingml/2006/main" flipH="0" flipV="0">
            <a:off x="3238500" y="6010275"/>
            <a:ext cx="95" cy="95250"/>
          </a:xfrm>
          <a:prstGeom xmlns:a="http://schemas.openxmlformats.org/drawingml/2006/main" prst="line">
            <a:avLst/>
          </a:prstGeom>
          <a:noFill xmlns:a="http://schemas.openxmlformats.org/drawingml/2006/main"/>
          <a:ln xmlns:a="http://schemas.openxmlformats.org/drawingml/2006/main" w="19050">
            <a:solidFill>
              <a:srgbClr val="3D85FF"/>
            </a:solidFill>
            <a:prstDash val="solid"/>
          </a:ln>
        </p:spPr>
      </p:sp>
      <p:sp>
        <p:nvSpPr>
          <p:cNvPr id="160" name="ae-new-equilibrium.guide-202">
            <a:extLst xmlns:a="http://schemas.openxmlformats.org/drawingml/2006/main">
              <a:ext uri="{FF2B5EF4-FFF2-40B4-BE49-F238E27FC236}">
                <a16:creationId xmlns:a16="http://schemas.microsoft.com/office/drawing/2014/main" id="{525C34DA-C6A6-4E55-9459-6784C3C1A27B}"/>
              </a:ext>
            </a:extLst>
          </p:cNvPr>
          <p:cNvSpPr>
            <a:spLocks xmlns:a="http://schemas.openxmlformats.org/drawingml/2006/main" noGrp="1"/>
          </p:cNvSpPr>
          <p:nvPr/>
        </p:nvSpPr>
        <p:spPr>
          <a:xfrm xmlns:a="http://schemas.openxmlformats.org/drawingml/2006/main" flipH="0" flipV="0">
            <a:off x="4095750" y="6010275"/>
            <a:ext cx="95" cy="95250"/>
          </a:xfrm>
          <a:prstGeom xmlns:a="http://schemas.openxmlformats.org/drawingml/2006/main" prst="line">
            <a:avLst/>
          </a:prstGeom>
          <a:noFill xmlns:a="http://schemas.openxmlformats.org/drawingml/2006/main"/>
          <a:ln xmlns:a="http://schemas.openxmlformats.org/drawingml/2006/main" w="19050">
            <a:solidFill>
              <a:srgbClr val="3D85FF"/>
            </a:solidFill>
            <a:prstDash val="solid"/>
          </a:ln>
        </p:spPr>
      </p:sp>
      <p:sp>
        <p:nvSpPr>
          <p:cNvPr id="161" name="ae-new-equilibrium.label-203">
            <a:extLst xmlns:a="http://schemas.openxmlformats.org/drawingml/2006/main">
              <a:ext uri="{FF2B5EF4-FFF2-40B4-BE49-F238E27FC236}">
                <a16:creationId xmlns:a16="http://schemas.microsoft.com/office/drawing/2014/main" id="{25B06084-A516-465E-9546-578F0B9E3C9A}"/>
              </a:ext>
            </a:extLst>
          </p:cNvPr>
          <p:cNvSpPr>
            <a:spLocks xmlns:a="http://schemas.openxmlformats.org/drawingml/2006/main" noGrp="1"/>
          </p:cNvSpPr>
          <p:nvPr/>
        </p:nvSpPr>
        <p:spPr>
          <a:xfrm xmlns:a="http://schemas.openxmlformats.org/drawingml/2006/main">
            <a:off x="1524000" y="61531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3D85FF"/>
                </a:solidFill>
                <a:latin typeface="Arial"/>
                <a:ea typeface="Arial"/>
                <a:cs typeface="Arial"/>
              </a:defRPr>
            </a:pPr>
            <a:r>
              <a:rPr sz="1500" b="1">
                <a:solidFill>
                  <a:srgbClr val="3D85FF"/>
                </a:solidFill>
                <a:latin typeface="Arial"/>
                <a:ea typeface="Arial"/>
                <a:cs typeface="Arial"/>
              </a:rPr>
              <a:t>Horizontal change: ΔY = £200m</a:t>
            </a:r>
          </a:p>
        </p:txBody>
      </p:sp>
    </p:spTree>
    <p:extLst>
      <p:ext uri="{BB962C8B-B14F-4D97-AF65-F5344CB8AC3E}">
        <p14:creationId xmlns:p14="http://schemas.microsoft.com/office/powerpoint/2010/main" val="13142297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e-injections-leakages.inherited-11">
            <a:extLst xmlns:a="http://schemas.openxmlformats.org/drawingml/2006/main">
              <a:ext uri="{FF2B5EF4-FFF2-40B4-BE49-F238E27FC236}">
                <a16:creationId xmlns:a16="http://schemas.microsoft.com/office/drawing/2014/main" id="{6A979400-93DC-4E17-8CA5-7727CF968A8F}"/>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AE = Y is also injections = leakages</a:t>
            </a:r>
          </a:p>
        </p:txBody>
      </p:sp>
      <p:sp>
        <p:nvSpPr>
          <p:cNvPr id="3" name="ae-injections-leakages.inherited-3">
            <a:extLst xmlns:a="http://schemas.openxmlformats.org/drawingml/2006/main">
              <a:ext uri="{FF2B5EF4-FFF2-40B4-BE49-F238E27FC236}">
                <a16:creationId xmlns:a16="http://schemas.microsoft.com/office/drawing/2014/main" id="{55C6E880-0FF0-4360-BDF2-EAF5A8C47878}"/>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injections-leakages.inherited-4">
            <a:extLst xmlns:a="http://schemas.openxmlformats.org/drawingml/2006/main">
              <a:ext uri="{FF2B5EF4-FFF2-40B4-BE49-F238E27FC236}">
                <a16:creationId xmlns:a16="http://schemas.microsoft.com/office/drawing/2014/main" id="{3263A9AB-8527-4010-966F-E5A7D1F7185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36</a:t>
            </a:r>
          </a:p>
        </p:txBody>
      </p:sp>
      <p:sp>
        <p:nvSpPr>
          <p:cNvPr id="5" name="ae-injections-leakages.inherited-5">
            <a:extLst xmlns:a="http://schemas.openxmlformats.org/drawingml/2006/main">
              <a:ext uri="{FF2B5EF4-FFF2-40B4-BE49-F238E27FC236}">
                <a16:creationId xmlns:a16="http://schemas.microsoft.com/office/drawing/2014/main" id="{58D7145C-409A-4DAE-A925-3CEC7AD70351}"/>
              </a:ext>
            </a:extLst>
          </p:cNvPr>
          <p:cNvSpPr>
            <a:spLocks xmlns:a="http://schemas.openxmlformats.org/drawingml/2006/main" noGrp="1"/>
          </p:cNvSpPr>
          <p:nvPr/>
        </p:nvSpPr>
        <p:spPr>
          <a:xfrm xmlns:a="http://schemas.openxmlformats.org/drawingml/2006/main">
            <a:off x="666750" y="1666875"/>
            <a:ext cx="4762500" cy="361950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ae-injections-leakages.inherited-6">
            <a:extLst xmlns:a="http://schemas.openxmlformats.org/drawingml/2006/main">
              <a:ext uri="{FF2B5EF4-FFF2-40B4-BE49-F238E27FC236}">
                <a16:creationId xmlns:a16="http://schemas.microsoft.com/office/drawing/2014/main" id="{57840AFE-A9D2-44EB-8EBD-7BFA49B39B95}"/>
              </a:ext>
            </a:extLst>
          </p:cNvPr>
          <p:cNvSpPr>
            <a:spLocks xmlns:a="http://schemas.openxmlformats.org/drawingml/2006/main" noGrp="1"/>
          </p:cNvSpPr>
          <p:nvPr/>
        </p:nvSpPr>
        <p:spPr>
          <a:xfrm xmlns:a="http://schemas.openxmlformats.org/drawingml/2006/main">
            <a:off x="1047750" y="204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000000"/>
                </a:solidFill>
                <a:latin typeface="Arial"/>
                <a:ea typeface="Arial"/>
                <a:cs typeface="Arial"/>
              </a:defRPr>
            </a:pPr>
            <a:r>
              <a:rPr sz="1200" b="1" i="0">
                <a:solidFill>
                  <a:srgbClr val="000000"/>
                </a:solidFill>
                <a:latin typeface="Arial"/>
                <a:ea typeface="Arial"/>
                <a:cs typeface="Arial"/>
              </a:rPr>
              <a:t>BEFORE THE INJECTION</a:t>
            </a:r>
          </a:p>
        </p:txBody>
      </p:sp>
      <p:sp>
        <p:nvSpPr>
          <p:cNvPr id="7" name="ae-injections-leakages.inherited-7">
            <a:extLst xmlns:a="http://schemas.openxmlformats.org/drawingml/2006/main">
              <a:ext uri="{FF2B5EF4-FFF2-40B4-BE49-F238E27FC236}">
                <a16:creationId xmlns:a16="http://schemas.microsoft.com/office/drawing/2014/main" id="{7F59BF6C-D005-4BDB-9F4C-4F04597E8B07}"/>
              </a:ext>
            </a:extLst>
          </p:cNvPr>
          <p:cNvSpPr>
            <a:spLocks xmlns:a="http://schemas.openxmlformats.org/drawingml/2006/main" noGrp="1"/>
          </p:cNvSpPr>
          <p:nvPr/>
        </p:nvSpPr>
        <p:spPr>
          <a:xfrm xmlns:a="http://schemas.openxmlformats.org/drawingml/2006/main">
            <a:off x="1047750" y="2619375"/>
            <a:ext cx="4000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Y = £400m</a:t>
            </a:r>
          </a:p>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C = £300m</a:t>
            </a:r>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S = Y − C = £100m</a:t>
            </a:r>
          </a:p>
          <a:p xmlns:a="http://schemas.openxmlformats.org/drawingml/2006/main">
            <a:r>
              <a:t/>
            </a:r>
            <a:endParaRPr sz="2325" b="1" i="0">
              <a:solidFill>
                <a:srgbClr val="000000"/>
              </a:solidFill>
              <a:latin typeface="Arial"/>
              <a:ea typeface="Arial"/>
              <a:cs typeface="Arial"/>
            </a:endParaRPr>
          </a:p>
          <a:p xmlns:a="http://schemas.openxmlformats.org/drawingml/2006/main">
            <a:pPr algn="l">
              <a:buNone/>
              <a:defRPr sz="2325" b="1" i="0">
                <a:solidFill>
                  <a:srgbClr val="000000"/>
                </a:solidFill>
                <a:latin typeface="Arial"/>
                <a:ea typeface="Arial"/>
                <a:cs typeface="Arial"/>
              </a:defRPr>
            </a:pPr>
            <a:r>
              <a:rPr sz="2325" b="1" i="0">
                <a:solidFill>
                  <a:srgbClr val="000000"/>
                </a:solidFill>
                <a:latin typeface="Arial"/>
                <a:ea typeface="Arial"/>
                <a:cs typeface="Arial"/>
              </a:rPr>
              <a:t>I = S = £100m</a:t>
            </a:r>
          </a:p>
        </p:txBody>
      </p:sp>
      <p:sp>
        <p:nvSpPr>
          <p:cNvPr id="8" name="ae-injections-leakages.inherited-8">
            <a:extLst xmlns:a="http://schemas.openxmlformats.org/drawingml/2006/main">
              <a:ext uri="{FF2B5EF4-FFF2-40B4-BE49-F238E27FC236}">
                <a16:creationId xmlns:a16="http://schemas.microsoft.com/office/drawing/2014/main" id="{367EF02D-CC0C-4000-A08E-8865DFAA13ED}"/>
              </a:ext>
            </a:extLst>
          </p:cNvPr>
          <p:cNvSpPr>
            <a:spLocks xmlns:a="http://schemas.openxmlformats.org/drawingml/2006/main" noGrp="1"/>
          </p:cNvSpPr>
          <p:nvPr/>
        </p:nvSpPr>
        <p:spPr>
          <a:xfrm xmlns:a="http://schemas.openxmlformats.org/drawingml/2006/main">
            <a:off x="6191250" y="1666875"/>
            <a:ext cx="5334000" cy="361950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9" name="ae-injections-leakages.inherited-9">
            <a:extLst xmlns:a="http://schemas.openxmlformats.org/drawingml/2006/main">
              <a:ext uri="{FF2B5EF4-FFF2-40B4-BE49-F238E27FC236}">
                <a16:creationId xmlns:a16="http://schemas.microsoft.com/office/drawing/2014/main" id="{D8E53E10-3434-47FE-BA03-131F8877DFA4}"/>
              </a:ext>
            </a:extLst>
          </p:cNvPr>
          <p:cNvSpPr>
            <a:spLocks xmlns:a="http://schemas.openxmlformats.org/drawingml/2006/main" noGrp="1"/>
          </p:cNvSpPr>
          <p:nvPr/>
        </p:nvSpPr>
        <p:spPr>
          <a:xfrm xmlns:a="http://schemas.openxmlformats.org/drawingml/2006/main">
            <a:off x="666750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AT THE NEW EQUILIBRIUM</a:t>
            </a:r>
          </a:p>
        </p:txBody>
      </p:sp>
      <p:sp>
        <p:nvSpPr>
          <p:cNvPr id="10" name="ae-injections-leakages.inherited-10">
            <a:extLst xmlns:a="http://schemas.openxmlformats.org/drawingml/2006/main">
              <a:ext uri="{FF2B5EF4-FFF2-40B4-BE49-F238E27FC236}">
                <a16:creationId xmlns:a16="http://schemas.microsoft.com/office/drawing/2014/main" id="{D2CF0726-D85B-439E-8456-4FB47043A6E5}"/>
              </a:ext>
            </a:extLst>
          </p:cNvPr>
          <p:cNvSpPr>
            <a:spLocks xmlns:a="http://schemas.openxmlformats.org/drawingml/2006/main" noGrp="1"/>
          </p:cNvSpPr>
          <p:nvPr/>
        </p:nvSpPr>
        <p:spPr>
          <a:xfrm xmlns:a="http://schemas.openxmlformats.org/drawingml/2006/main">
            <a:off x="6667500" y="2571750"/>
            <a:ext cx="4381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Y = £600m; C = £450m</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S = £150m; I = £150m</a:t>
            </a: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a:r>
          </a:p>
          <a:p xmlns:a="http://schemas.openxmlformats.org/drawingml/2006/main">
            <a:pPr algn="ctr">
              <a:defRPr sz="2400" b="1">
                <a:solidFill>
                  <a:srgbClr val="000000"/>
                </a:solidFill>
                <a:latin typeface="Arial"/>
                <a:ea typeface="Arial"/>
                <a:cs typeface="Arial"/>
              </a:defRPr>
            </a:pPr>
            <a:r>
              <a:rPr sz="2400" b="1">
                <a:solidFill>
                  <a:srgbClr val="000000"/>
                </a:solidFill>
                <a:latin typeface="Arial"/>
                <a:ea typeface="Arial"/>
                <a:cs typeface="Arial"/>
              </a:rPr>
              <a:t>Extra S = £50m</a:t>
            </a:r>
            <a:endParaRPr sz="2400" b="1" i="0">
              <a:solidFill>
                <a:srgbClr val="000000"/>
              </a:solidFill>
              <a:latin typeface="Arial"/>
              <a:ea typeface="Arial"/>
              <a:cs typeface="Arial"/>
            </a:endParaRPr>
          </a:p>
          <a:p xmlns:a="http://schemas.openxmlformats.org/drawingml/2006/main">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Extra I = £50m</a:t>
            </a:r>
          </a:p>
        </p:txBody>
      </p:sp>
    </p:spTree>
    <p:extLst>
      <p:ext uri="{BB962C8B-B14F-4D97-AF65-F5344CB8AC3E}">
        <p14:creationId xmlns:p14="http://schemas.microsoft.com/office/powerpoint/2010/main" val="47842367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e-draw-and-explain.inherited-11">
            <a:extLst xmlns:a="http://schemas.openxmlformats.org/drawingml/2006/main">
              <a:ext uri="{FF2B5EF4-FFF2-40B4-BE49-F238E27FC236}">
                <a16:creationId xmlns:a16="http://schemas.microsoft.com/office/drawing/2014/main" id="{1F5E8E51-9152-4D25-AE91-80C54A243B76}"/>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Your turn: draw a fall in investment</a:t>
            </a:r>
          </a:p>
        </p:txBody>
      </p:sp>
      <p:sp>
        <p:nvSpPr>
          <p:cNvPr id="3" name="ae-draw-and-explain.inherited-3">
            <a:extLst xmlns:a="http://schemas.openxmlformats.org/drawingml/2006/main">
              <a:ext uri="{FF2B5EF4-FFF2-40B4-BE49-F238E27FC236}">
                <a16:creationId xmlns:a16="http://schemas.microsoft.com/office/drawing/2014/main" id="{6ECB88C5-5C0A-4DCB-B406-D9E595B3AE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draw-and-explain.inherited-4">
            <a:extLst xmlns:a="http://schemas.openxmlformats.org/drawingml/2006/main">
              <a:ext uri="{FF2B5EF4-FFF2-40B4-BE49-F238E27FC236}">
                <a16:creationId xmlns:a16="http://schemas.microsoft.com/office/drawing/2014/main" id="{1911F5CE-1108-427A-A036-71CB087F3031}"/>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37</a:t>
            </a:r>
          </a:p>
        </p:txBody>
      </p:sp>
      <p:sp>
        <p:nvSpPr>
          <p:cNvPr id="5" name="ae-draw-and-explain.inherited-5">
            <a:extLst xmlns:a="http://schemas.openxmlformats.org/drawingml/2006/main">
              <a:ext uri="{FF2B5EF4-FFF2-40B4-BE49-F238E27FC236}">
                <a16:creationId xmlns:a16="http://schemas.microsoft.com/office/drawing/2014/main" id="{1F5D9A02-B402-4038-B4D0-A3450121F994}"/>
              </a:ext>
            </a:extLst>
          </p:cNvPr>
          <p:cNvSpPr>
            <a:spLocks xmlns:a="http://schemas.openxmlformats.org/drawingml/2006/main" noGrp="1"/>
          </p:cNvSpPr>
          <p:nvPr/>
        </p:nvSpPr>
        <p:spPr>
          <a:xfrm xmlns:a="http://schemas.openxmlformats.org/drawingml/2006/main">
            <a:off x="666750" y="1666875"/>
            <a:ext cx="5143500" cy="3714750"/>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ae-draw-and-explain.inherited-6">
            <a:extLst xmlns:a="http://schemas.openxmlformats.org/drawingml/2006/main">
              <a:ext uri="{FF2B5EF4-FFF2-40B4-BE49-F238E27FC236}">
                <a16:creationId xmlns:a16="http://schemas.microsoft.com/office/drawing/2014/main" id="{A4C4D33E-3B06-4CC3-9505-EC155B259C47}"/>
              </a:ext>
            </a:extLst>
          </p:cNvPr>
          <p:cNvSpPr>
            <a:spLocks xmlns:a="http://schemas.openxmlformats.org/drawingml/2006/main" noGrp="1"/>
          </p:cNvSpPr>
          <p:nvPr/>
        </p:nvSpPr>
        <p:spPr>
          <a:xfrm xmlns:a="http://schemas.openxmlformats.org/drawingml/2006/main">
            <a:off x="1047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spcAft>
                <a:spcPts val="600"/>
              </a:spcAft>
              <a:buNone/>
              <a:defRPr sz="2000" b="1" i="0">
                <a:solidFill>
                  <a:srgbClr val="3D8DFF"/>
                </a:solidFill>
                <a:latin typeface="Arial"/>
                <a:ea typeface="Arial"/>
                <a:cs typeface="Arial"/>
              </a:defRPr>
            </a:pPr>
            <a:r>
              <a:rPr sz="2000" b="1" i="0">
                <a:solidFill>
                  <a:srgbClr val="3D8DFF"/>
                </a:solidFill>
                <a:latin typeface="Arial"/>
                <a:ea typeface="Arial"/>
                <a:cs typeface="Arial"/>
              </a:rPr>
              <a:t>TEACHER-CREATED PRACTICE</a:t>
            </a:r>
          </a:p>
        </p:txBody>
      </p:sp>
      <p:sp>
        <p:nvSpPr>
          <p:cNvPr id="7" name="ae-draw-and-explain.inherited-7">
            <a:extLst xmlns:a="http://schemas.openxmlformats.org/drawingml/2006/main">
              <a:ext uri="{FF2B5EF4-FFF2-40B4-BE49-F238E27FC236}">
                <a16:creationId xmlns:a16="http://schemas.microsoft.com/office/drawing/2014/main" id="{33620425-9C0E-45ED-8C26-DC650D3A0C0A}"/>
              </a:ext>
            </a:extLst>
          </p:cNvPr>
          <p:cNvSpPr>
            <a:spLocks xmlns:a="http://schemas.openxmlformats.org/drawingml/2006/main" noGrp="1"/>
          </p:cNvSpPr>
          <p:nvPr/>
        </p:nvSpPr>
        <p:spPr>
          <a:xfrm xmlns:a="http://schemas.openxmlformats.org/drawingml/2006/main">
            <a:off x="1047750" y="2571750"/>
            <a:ext cx="4286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spcAft>
                <a:spcPts val="600"/>
              </a:spcAft>
              <a:buNone/>
              <a:defRPr sz="2000" b="0" i="0">
                <a:solidFill>
                  <a:srgbClr val="000000"/>
                </a:solidFill>
                <a:latin typeface="Arial"/>
                <a:ea typeface="Arial"/>
                <a:cs typeface="Arial"/>
              </a:defRPr>
            </a:pPr>
            <a:r>
              <a:rPr sz="2000" b="0" i="0">
                <a:solidFill>
                  <a:srgbClr val="000000"/>
                </a:solidFill>
                <a:latin typeface="Arial"/>
                <a:ea typeface="Arial"/>
                <a:cs typeface="Arial"/>
              </a:rPr>
              <a:t>Start again at Y₀ = £400m.</a:t>
            </a:r>
          </a:p>
          <a:p xmlns:a="http://schemas.openxmlformats.org/drawingml/2006/main">
            <a:pPr algn="l">
              <a:spcAft>
                <a:spcPts val="600"/>
              </a:spcAft>
              <a:buNone/>
              <a:defRPr sz="2000" b="0" i="0">
                <a:solidFill>
                  <a:srgbClr val="000000"/>
                </a:solidFill>
                <a:latin typeface="Arial"/>
                <a:ea typeface="Arial"/>
                <a:cs typeface="Arial"/>
              </a:defRPr>
            </a:pPr>
            <a:r>
              <a:rPr sz="2000" b="0" i="0">
                <a:solidFill>
                  <a:srgbClr val="000000"/>
                </a:solidFill>
                <a:latin typeface="Arial"/>
                <a:ea typeface="Arial"/>
                <a:cs typeface="Arial"/>
              </a:rPr>
              <a:t>MPC = 0.75 and I = £100m.</a:t>
            </a:r>
          </a:p>
          <a:p xmlns:a="http://schemas.openxmlformats.org/drawingml/2006/main">
            <a:pPr algn="l">
              <a:spcAft>
                <a:spcPts val="600"/>
              </a:spcAft>
              <a:buNone/>
              <a:defRPr sz="1950" b="0" i="0">
                <a:solidFill>
                  <a:srgbClr val="000000"/>
                </a:solidFill>
                <a:latin typeface="Arial"/>
                <a:ea typeface="Arial"/>
                <a:cs typeface="Arial"/>
              </a:defRPr>
            </a:pPr>
            <a:r>
              <a:rPr sz="2000" b="0" i="0">
                <a:solidFill>
                  <a:srgbClr val="000000"/>
                </a:solidFill>
                <a:latin typeface="Arial"/>
                <a:ea typeface="Arial"/>
                <a:cs typeface="Arial"/>
              </a:rPr>
              <a:t/>
            </a:r>
          </a:p>
          <a:p xmlns:a="http://schemas.openxmlformats.org/drawingml/2006/main">
            <a:pPr algn="l">
              <a:spcAft>
                <a:spcPts val="600"/>
              </a:spcAft>
              <a:buNone/>
              <a:defRPr sz="2000" b="0" i="0">
                <a:solidFill>
                  <a:srgbClr val="000000"/>
                </a:solidFill>
                <a:latin typeface="Arial"/>
                <a:ea typeface="Arial"/>
                <a:cs typeface="Arial"/>
              </a:defRPr>
            </a:pPr>
            <a:r>
              <a:rPr sz="2000" b="0" i="0">
                <a:solidFill>
                  <a:srgbClr val="000000"/>
                </a:solidFill>
                <a:latin typeface="Arial"/>
                <a:ea typeface="Arial"/>
                <a:cs typeface="Arial"/>
              </a:rPr>
              <a:t>Investment falls to £50m.</a:t>
            </a:r>
          </a:p>
          <a:p xmlns:a="http://schemas.openxmlformats.org/drawingml/2006/main">
            <a:pPr algn="l">
              <a:spcAft>
                <a:spcPts val="600"/>
              </a:spcAft>
              <a:buNone/>
              <a:defRPr sz="2000" b="0" i="0">
                <a:solidFill>
                  <a:srgbClr val="000000"/>
                </a:solidFill>
                <a:latin typeface="Arial"/>
                <a:ea typeface="Arial"/>
                <a:cs typeface="Arial"/>
              </a:defRPr>
            </a:pPr>
            <a:r>
              <a:rPr sz="2000" b="0" i="0">
                <a:solidFill>
                  <a:srgbClr val="000000"/>
                </a:solidFill>
                <a:latin typeface="Arial"/>
                <a:ea typeface="Arial"/>
                <a:cs typeface="Arial"/>
              </a:rPr>
              <a:t>Prices remain fixed.</a:t>
            </a:r>
          </a:p>
        </p:txBody>
      </p:sp>
      <p:sp>
        <p:nvSpPr>
          <p:cNvPr id="8" name="ae-draw-and-explain.inherited-8">
            <a:extLst xmlns:a="http://schemas.openxmlformats.org/drawingml/2006/main">
              <a:ext uri="{FF2B5EF4-FFF2-40B4-BE49-F238E27FC236}">
                <a16:creationId xmlns:a16="http://schemas.microsoft.com/office/drawing/2014/main" id="{02C52675-89C0-48A7-B8E3-6A52BA483907}"/>
              </a:ext>
            </a:extLst>
          </p:cNvPr>
          <p:cNvSpPr>
            <a:spLocks xmlns:a="http://schemas.openxmlformats.org/drawingml/2006/main" noGrp="1"/>
          </p:cNvSpPr>
          <p:nvPr/>
        </p:nvSpPr>
        <p:spPr>
          <a:xfrm xmlns:a="http://schemas.openxmlformats.org/drawingml/2006/main">
            <a:off x="6381750" y="1666875"/>
            <a:ext cx="5143500" cy="3714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9" name="ae-draw-and-explain.inherited-9">
            <a:extLst xmlns:a="http://schemas.openxmlformats.org/drawingml/2006/main">
              <a:ext uri="{FF2B5EF4-FFF2-40B4-BE49-F238E27FC236}">
                <a16:creationId xmlns:a16="http://schemas.microsoft.com/office/drawing/2014/main" id="{62D4504D-0702-46C3-82B4-7118C0DDF17B}"/>
              </a:ext>
            </a:extLst>
          </p:cNvPr>
          <p:cNvSpPr>
            <a:spLocks xmlns:a="http://schemas.openxmlformats.org/drawingml/2006/main" noGrp="1"/>
          </p:cNvSpPr>
          <p:nvPr/>
        </p:nvSpPr>
        <p:spPr>
          <a:xfrm xmlns:a="http://schemas.openxmlformats.org/drawingml/2006/main">
            <a:off x="6762750" y="20478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spcAft>
                <a:spcPts val="600"/>
              </a:spcAft>
              <a:buNone/>
              <a:defRPr sz="2000" b="1" i="0">
                <a:solidFill>
                  <a:srgbClr val="3D8DFF"/>
                </a:solidFill>
                <a:latin typeface="Arial"/>
                <a:ea typeface="Arial"/>
                <a:cs typeface="Arial"/>
              </a:defRPr>
            </a:pPr>
            <a:r>
              <a:rPr sz="2000" b="1" i="0">
                <a:solidFill>
                  <a:srgbClr val="3D8DFF"/>
                </a:solidFill>
                <a:latin typeface="Arial"/>
                <a:ea typeface="Arial"/>
                <a:cs typeface="Arial"/>
              </a:rPr>
              <a:t>DRAW, CALCULATE, EXPLAIN</a:t>
            </a:r>
          </a:p>
        </p:txBody>
      </p:sp>
      <p:sp>
        <p:nvSpPr>
          <p:cNvPr id="10" name="ae-draw-and-explain.inherited-10">
            <a:extLst xmlns:a="http://schemas.openxmlformats.org/drawingml/2006/main">
              <a:ext uri="{FF2B5EF4-FFF2-40B4-BE49-F238E27FC236}">
                <a16:creationId xmlns:a16="http://schemas.microsoft.com/office/drawing/2014/main" id="{A8D39BC7-19F0-4432-BF49-E11168B68A24}"/>
              </a:ext>
            </a:extLst>
          </p:cNvPr>
          <p:cNvSpPr>
            <a:spLocks xmlns:a="http://schemas.openxmlformats.org/drawingml/2006/main" noGrp="1"/>
          </p:cNvSpPr>
          <p:nvPr/>
        </p:nvSpPr>
        <p:spPr>
          <a:xfrm xmlns:a="http://schemas.openxmlformats.org/drawingml/2006/main">
            <a:off x="6762750" y="2667000"/>
            <a:ext cx="4381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spcAft>
                <a:spcPts val="600"/>
              </a:spcAft>
              <a:buNone/>
              <a:defRPr sz="2000" b="1" i="0">
                <a:solidFill>
                  <a:srgbClr val="000000"/>
                </a:solidFill>
                <a:latin typeface="Arial"/>
                <a:ea typeface="Arial"/>
                <a:cs typeface="Arial"/>
              </a:defRPr>
            </a:pPr>
            <a:r>
              <a:rPr sz="2000" b="1" i="0">
                <a:solidFill>
                  <a:srgbClr val="000000"/>
                </a:solidFill>
                <a:latin typeface="Arial"/>
                <a:ea typeface="Arial"/>
                <a:cs typeface="Arial"/>
              </a:rPr>
              <a:t>1  Draw and label both AE lines.</a:t>
            </a:r>
          </a:p>
          <a:p xmlns:a="http://schemas.openxmlformats.org/drawingml/2006/main">
            <a:pPr algn="ctr">
              <a:spcAft>
                <a:spcPts val="600"/>
              </a:spcAft>
              <a:buNone/>
              <a:defRPr sz="2000" b="1" i="0">
                <a:solidFill>
                  <a:srgbClr val="000000"/>
                </a:solidFill>
                <a:latin typeface="Arial"/>
                <a:ea typeface="Arial"/>
                <a:cs typeface="Arial"/>
              </a:defRPr>
            </a:pPr>
            <a:r>
              <a:rPr sz="2000" b="1" i="0">
                <a:solidFill>
                  <a:srgbClr val="000000"/>
                </a:solidFill>
                <a:latin typeface="Arial"/>
                <a:ea typeface="Arial"/>
                <a:cs typeface="Arial"/>
              </a:rPr>
              <a:t>2  Find k, ΔY and the new Y.</a:t>
            </a:r>
          </a:p>
          <a:p xmlns:a="http://schemas.openxmlformats.org/drawingml/2006/main">
            <a:pPr algn="ctr">
              <a:spcAft>
                <a:spcPts val="600"/>
              </a:spcAft>
              <a:buNone/>
              <a:defRPr sz="2000" b="1" i="0">
                <a:solidFill>
                  <a:srgbClr val="000000"/>
                </a:solidFill>
                <a:latin typeface="Arial"/>
                <a:ea typeface="Arial"/>
                <a:cs typeface="Arial"/>
              </a:defRPr>
            </a:pPr>
            <a:r>
              <a:rPr sz="2000" b="1" i="0">
                <a:solidFill>
                  <a:srgbClr val="000000"/>
                </a:solidFill>
                <a:latin typeface="Arial"/>
                <a:ea typeface="Arial"/>
                <a:cs typeface="Arial"/>
              </a:rPr>
              <a:t>3  Explain firms’ response at the old income.</a:t>
            </a:r>
          </a:p>
        </p:txBody>
      </p:sp>
    </p:spTree>
    <p:extLst>
      <p:ext uri="{BB962C8B-B14F-4D97-AF65-F5344CB8AC3E}">
        <p14:creationId xmlns:p14="http://schemas.microsoft.com/office/powerpoint/2010/main" val="72823260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ae-negative-multiplier.inherited-22">
            <a:extLst xmlns:a="http://schemas.openxmlformats.org/drawingml/2006/main">
              <a:ext uri="{FF2B5EF4-FFF2-40B4-BE49-F238E27FC236}">
                <a16:creationId xmlns:a16="http://schemas.microsoft.com/office/drawing/2014/main" id="{492580B0-80B0-4162-85F9-CBB53153B2B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Answer: income falls from £400m to £200m</a:t>
            </a:r>
          </a:p>
        </p:txBody>
      </p:sp>
      <p:sp>
        <p:nvSpPr>
          <p:cNvPr id="3" name="ae-negative-multiplier.inherited-3">
            <a:extLst xmlns:a="http://schemas.openxmlformats.org/drawingml/2006/main">
              <a:ext uri="{FF2B5EF4-FFF2-40B4-BE49-F238E27FC236}">
                <a16:creationId xmlns:a16="http://schemas.microsoft.com/office/drawing/2014/main" id="{8D41DAAE-46D2-4DA6-8A73-A08FFF82ED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e-negative-multiplier.inherited-4">
            <a:extLst xmlns:a="http://schemas.openxmlformats.org/drawingml/2006/main">
              <a:ext uri="{FF2B5EF4-FFF2-40B4-BE49-F238E27FC236}">
                <a16:creationId xmlns:a16="http://schemas.microsoft.com/office/drawing/2014/main" id="{2F7B337E-4140-4AC0-B487-13792D739C47}"/>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38</a:t>
            </a:r>
          </a:p>
        </p:txBody>
      </p:sp>
      <p:cxnSp>
        <p:nvCxnSpPr>
          <p:cNvPr id="165" name="ae-negative-multiplier.inherited-114"/>
          <p:cNvCxnSpPr/>
          <p:nvPr/>
        </p:nvCxnSpPr>
        <p:spPr>
          <a:xfrm xmlns:a="http://schemas.openxmlformats.org/drawingml/2006/main" flipH="0" flipV="0">
            <a:off x="1524000" y="5286375"/>
            <a:ext cx="3810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66" name="ae-negative-multiplier.inherited-115"/>
          <p:cNvCxnSpPr/>
          <p:nvPr/>
        </p:nvCxnSpPr>
        <p:spPr>
          <a:xfrm xmlns:a="http://schemas.openxmlformats.org/drawingml/2006/main" flipH="0" flipV="1">
            <a:off x="1524000" y="1809750"/>
            <a:ext cx="95" cy="3476625"/>
          </a:xfrm>
          <a:prstGeom xmlns:a="http://schemas.openxmlformats.org/drawingml/2006/main" prst="straightConnector1">
            <a:avLst/>
          </a:prstGeom>
          <a:ln xmlns:a="http://schemas.openxmlformats.org/drawingml/2006/main" w="19050">
            <a:solidFill>
              <a:srgbClr val="000000"/>
            </a:solidFill>
            <a:prstDash val="solid"/>
          </a:ln>
        </p:spPr>
      </p:cxnSp>
      <p:cxnSp>
        <p:nvCxnSpPr>
          <p:cNvPr id="167" name="ae-negative-multiplier.inherited-116"/>
          <p:cNvCxnSpPr/>
          <p:nvPr/>
        </p:nvCxnSpPr>
        <p:spPr>
          <a:xfrm xmlns:a="http://schemas.openxmlformats.org/drawingml/2006/main" flipH="0" flipV="1">
            <a:off x="1524000" y="1857375"/>
            <a:ext cx="3429000"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68" name="ae-negative-multiplier.inherited-117"/>
          <p:cNvCxnSpPr/>
          <p:nvPr/>
        </p:nvCxnSpPr>
        <p:spPr>
          <a:xfrm xmlns:a="http://schemas.openxmlformats.org/drawingml/2006/main" flipH="0" flipV="1">
            <a:off x="1524000" y="2286000"/>
            <a:ext cx="3429000" cy="2571750"/>
          </a:xfrm>
          <a:prstGeom xmlns:a="http://schemas.openxmlformats.org/drawingml/2006/main" prst="straightConnector1">
            <a:avLst/>
          </a:prstGeom>
          <a:ln xmlns:a="http://schemas.openxmlformats.org/drawingml/2006/main" w="33338">
            <a:solidFill>
              <a:srgbClr val="B6BBC2"/>
            </a:solidFill>
            <a:prstDash val="solid"/>
          </a:ln>
        </p:spPr>
      </p:cxnSp>
      <p:cxnSp>
        <p:nvCxnSpPr>
          <p:cNvPr id="169" name="ae-negative-multiplier.inherited-118"/>
          <p:cNvCxnSpPr/>
          <p:nvPr/>
        </p:nvCxnSpPr>
        <p:spPr>
          <a:xfrm xmlns:a="http://schemas.openxmlformats.org/drawingml/2006/main" flipH="0" flipV="1">
            <a:off x="1524000" y="2500313"/>
            <a:ext cx="3429000" cy="2571750"/>
          </a:xfrm>
          <a:prstGeom xmlns:a="http://schemas.openxmlformats.org/drawingml/2006/main" prst="straightConnector1">
            <a:avLst/>
          </a:prstGeom>
          <a:ln xmlns:a="http://schemas.openxmlformats.org/drawingml/2006/main" w="33338">
            <a:solidFill>
              <a:srgbClr val="3D85FF"/>
            </a:solidFill>
            <a:prstDash val="solid"/>
          </a:ln>
        </p:spPr>
      </p:cxnSp>
      <p:cxnSp>
        <p:nvCxnSpPr>
          <p:cNvPr id="170" name="ae-negative-multiplier.inherited-119"/>
          <p:cNvCxnSpPr/>
          <p:nvPr/>
        </p:nvCxnSpPr>
        <p:spPr>
          <a:xfrm xmlns:a="http://schemas.openxmlformats.org/drawingml/2006/main">
            <a:off x="2690908" y="3952875"/>
            <a:ext cx="0" cy="1357312"/>
          </a:xfrm>
          <a:prstGeom xmlns:a="http://schemas.openxmlformats.org/drawingml/2006/main" prst="straightConnector1">
            <a:avLst/>
          </a:prstGeom>
          <a:ln xmlns:a="http://schemas.openxmlformats.org/drawingml/2006/main" w="0">
            <a:noFill/>
          </a:ln>
        </p:spPr>
      </p:cxnSp>
      <p:cxnSp>
        <p:nvCxnSpPr>
          <p:cNvPr id="171" name="ae-negative-multiplier.inherited-120"/>
          <p:cNvCxnSpPr/>
          <p:nvPr/>
        </p:nvCxnSpPr>
        <p:spPr>
          <a:xfrm xmlns:a="http://schemas.openxmlformats.org/drawingml/2006/main">
            <a:off x="4524375" y="2381250"/>
            <a:ext cx="95" cy="2905125"/>
          </a:xfrm>
          <a:prstGeom xmlns:a="http://schemas.openxmlformats.org/drawingml/2006/main" prst="straightConnector1">
            <a:avLst/>
          </a:prstGeom>
          <a:ln xmlns:a="http://schemas.openxmlformats.org/drawingml/2006/main" w="0">
            <a:noFill/>
          </a:ln>
        </p:spPr>
      </p:cxnSp>
      <p:sp>
        <p:nvSpPr>
          <p:cNvPr id="12" name="ae-negative-multiplier.inherited-12">
            <a:extLst xmlns:a="http://schemas.openxmlformats.org/drawingml/2006/main">
              <a:ext uri="{FF2B5EF4-FFF2-40B4-BE49-F238E27FC236}">
                <a16:creationId xmlns:a16="http://schemas.microsoft.com/office/drawing/2014/main" id="{7113CBC4-F034-4795-B91F-87AC19A757B1}"/>
              </a:ext>
            </a:extLst>
          </p:cNvPr>
          <p:cNvSpPr>
            <a:spLocks xmlns:a="http://schemas.openxmlformats.org/drawingml/2006/main" noGrp="1"/>
          </p:cNvSpPr>
          <p:nvPr/>
        </p:nvSpPr>
        <p:spPr>
          <a:xfrm xmlns:a="http://schemas.openxmlformats.org/drawingml/2006/main">
            <a:off x="762000" y="1333500"/>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000000"/>
                </a:solidFill>
                <a:latin typeface="Arial"/>
                <a:ea typeface="Arial"/>
                <a:cs typeface="Arial"/>
              </a:defRPr>
            </a:pPr>
            <a:r>
              <a:rPr sz="1500" b="1" i="0">
                <a:solidFill>
                  <a:srgbClr val="000000"/>
                </a:solidFill>
                <a:latin typeface="Arial"/>
                <a:ea typeface="Arial"/>
                <a:cs typeface="Arial"/>
              </a:rPr>
              <a:t>Planned aggregate expenditure, AE (£m)</a:t>
            </a:r>
          </a:p>
        </p:txBody>
      </p:sp>
      <p:sp>
        <p:nvSpPr>
          <p:cNvPr id="13" name="ae-negative-multiplier.inherited-13">
            <a:extLst xmlns:a="http://schemas.openxmlformats.org/drawingml/2006/main">
              <a:ext uri="{FF2B5EF4-FFF2-40B4-BE49-F238E27FC236}">
                <a16:creationId xmlns:a16="http://schemas.microsoft.com/office/drawing/2014/main" id="{8E05C3CA-EE94-4358-B690-9C8747446A85}"/>
              </a:ext>
            </a:extLst>
          </p:cNvPr>
          <p:cNvSpPr>
            <a:spLocks xmlns:a="http://schemas.openxmlformats.org/drawingml/2006/main" noGrp="1"/>
          </p:cNvSpPr>
          <p:nvPr/>
        </p:nvSpPr>
        <p:spPr>
          <a:xfrm xmlns:a="http://schemas.openxmlformats.org/drawingml/2006/main">
            <a:off x="2047875" y="565785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r">
              <a:buNone/>
              <a:defRPr sz="1500" b="1" i="0">
                <a:solidFill>
                  <a:srgbClr val="000000"/>
                </a:solidFill>
                <a:latin typeface="Arial"/>
                <a:ea typeface="Arial"/>
                <a:cs typeface="Arial"/>
              </a:defRPr>
            </a:pPr>
            <a:r>
              <a:rPr sz="1500" b="1" i="0">
                <a:solidFill>
                  <a:srgbClr val="000000"/>
                </a:solidFill>
                <a:latin typeface="Arial"/>
                <a:ea typeface="Arial"/>
                <a:cs typeface="Arial"/>
              </a:rPr>
              <a:t>National income / output, Y (£m)</a:t>
            </a:r>
          </a:p>
        </p:txBody>
      </p:sp>
      <p:sp>
        <p:nvSpPr>
          <p:cNvPr id="14" name="ae-negative-multiplier.inherited-14">
            <a:extLst xmlns:a="http://schemas.openxmlformats.org/drawingml/2006/main">
              <a:ext uri="{FF2B5EF4-FFF2-40B4-BE49-F238E27FC236}">
                <a16:creationId xmlns:a16="http://schemas.microsoft.com/office/drawing/2014/main" id="{99A586B7-8439-4579-BFBD-1D0EE69BB33C}"/>
              </a:ext>
            </a:extLst>
          </p:cNvPr>
          <p:cNvSpPr>
            <a:spLocks xmlns:a="http://schemas.openxmlformats.org/drawingml/2006/main" noGrp="1"/>
          </p:cNvSpPr>
          <p:nvPr/>
        </p:nvSpPr>
        <p:spPr>
          <a:xfrm xmlns:a="http://schemas.openxmlformats.org/drawingml/2006/main">
            <a:off x="4619625" y="1619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000000"/>
                </a:solidFill>
                <a:latin typeface="Arial"/>
                <a:ea typeface="Arial"/>
                <a:cs typeface="Arial"/>
              </a:defRPr>
            </a:pPr>
            <a:r>
              <a:rPr sz="1350" b="0" i="0">
                <a:solidFill>
                  <a:srgbClr val="000000"/>
                </a:solidFill>
                <a:latin typeface="Arial"/>
                <a:ea typeface="Arial"/>
                <a:cs typeface="Arial"/>
              </a:rPr>
              <a:t>AE = Y</a:t>
            </a:r>
          </a:p>
        </p:txBody>
      </p:sp>
      <p:sp>
        <p:nvSpPr>
          <p:cNvPr id="15" name="ae-negative-multiplier.inherited-15">
            <a:extLst xmlns:a="http://schemas.openxmlformats.org/drawingml/2006/main">
              <a:ext uri="{FF2B5EF4-FFF2-40B4-BE49-F238E27FC236}">
                <a16:creationId xmlns:a16="http://schemas.microsoft.com/office/drawing/2014/main" id="{1732BC21-87A8-47A2-A6D4-1BF750637882}"/>
              </a:ext>
            </a:extLst>
          </p:cNvPr>
          <p:cNvSpPr>
            <a:spLocks xmlns:a="http://schemas.openxmlformats.org/drawingml/2006/main" noGrp="1"/>
          </p:cNvSpPr>
          <p:nvPr/>
        </p:nvSpPr>
        <p:spPr>
          <a:xfrm xmlns:a="http://schemas.openxmlformats.org/drawingml/2006/main">
            <a:off x="5048250" y="22002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ae-negative-multiplier.inherited-16">
            <a:extLst xmlns:a="http://schemas.openxmlformats.org/drawingml/2006/main">
              <a:ext uri="{FF2B5EF4-FFF2-40B4-BE49-F238E27FC236}">
                <a16:creationId xmlns:a16="http://schemas.microsoft.com/office/drawing/2014/main" id="{1F179D0F-73B8-4391-B8DA-0196250104EB}"/>
              </a:ext>
            </a:extLst>
          </p:cNvPr>
          <p:cNvSpPr>
            <a:spLocks xmlns:a="http://schemas.openxmlformats.org/drawingml/2006/main" noGrp="1"/>
          </p:cNvSpPr>
          <p:nvPr/>
        </p:nvSpPr>
        <p:spPr>
          <a:xfrm xmlns:a="http://schemas.openxmlformats.org/drawingml/2006/main">
            <a:off x="5048250" y="2386013"/>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3D8DFF"/>
                </a:solidFill>
                <a:latin typeface="Arial"/>
                <a:ea typeface="Arial"/>
                <a:cs typeface="Arial"/>
              </a:defRPr>
            </a:pPr>
            <a:r>
              <a:rPr sz="1500" b="1" i="0">
                <a:solidFill>
                  <a:srgbClr val="3D8DFF"/>
                </a:solidFill>
                <a:latin typeface="Arial"/>
                <a:ea typeface="Arial"/>
                <a:cs typeface="Arial"/>
              </a:rPr>
              <a:t>AE₂</a:t>
            </a:r>
          </a:p>
        </p:txBody>
      </p:sp>
      <p:sp>
        <p:nvSpPr>
          <p:cNvPr id="17" name="ae-negative-multiplier.inherited-17">
            <a:extLst xmlns:a="http://schemas.openxmlformats.org/drawingml/2006/main">
              <a:ext uri="{FF2B5EF4-FFF2-40B4-BE49-F238E27FC236}">
                <a16:creationId xmlns:a16="http://schemas.microsoft.com/office/drawing/2014/main" id="{3D818E01-BF42-443A-8986-7E86B85E0E1E}"/>
              </a:ext>
            </a:extLst>
          </p:cNvPr>
          <p:cNvSpPr>
            <a:spLocks xmlns:a="http://schemas.openxmlformats.org/drawingml/2006/main" noGrp="1"/>
          </p:cNvSpPr>
          <p:nvPr/>
        </p:nvSpPr>
        <p:spPr>
          <a:xfrm xmlns:a="http://schemas.openxmlformats.org/drawingml/2006/main">
            <a:off x="2500313" y="5357812"/>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
            </a:r>
          </a:p>
        </p:txBody>
      </p:sp>
      <p:sp>
        <p:nvSpPr>
          <p:cNvPr id="18" name="ae-negative-multiplier.inherited-18">
            <a:extLst xmlns:a="http://schemas.openxmlformats.org/drawingml/2006/main">
              <a:ext uri="{FF2B5EF4-FFF2-40B4-BE49-F238E27FC236}">
                <a16:creationId xmlns:a16="http://schemas.microsoft.com/office/drawing/2014/main" id="{8BF6C5EC-F96B-4BDB-91F7-751945B5CFFA}"/>
              </a:ext>
            </a:extLst>
          </p:cNvPr>
          <p:cNvSpPr>
            <a:spLocks xmlns:a="http://schemas.openxmlformats.org/drawingml/2006/main" noGrp="1"/>
          </p:cNvSpPr>
          <p:nvPr/>
        </p:nvSpPr>
        <p:spPr>
          <a:xfrm xmlns:a="http://schemas.openxmlformats.org/drawingml/2006/main">
            <a:off x="4333875" y="53340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
            </a:r>
          </a:p>
        </p:txBody>
      </p:sp>
      <p:sp>
        <p:nvSpPr>
          <p:cNvPr id="19" name="ae-negative-multiplier.inherited-19">
            <a:extLst xmlns:a="http://schemas.openxmlformats.org/drawingml/2006/main">
              <a:ext uri="{FF2B5EF4-FFF2-40B4-BE49-F238E27FC236}">
                <a16:creationId xmlns:a16="http://schemas.microsoft.com/office/drawing/2014/main" id="{AE825F03-74D5-416B-8F05-D506ED028EAA}"/>
              </a:ext>
            </a:extLst>
          </p:cNvPr>
          <p:cNvSpPr>
            <a:spLocks xmlns:a="http://schemas.openxmlformats.org/drawingml/2006/main" noGrp="1"/>
          </p:cNvSpPr>
          <p:nvPr/>
        </p:nvSpPr>
        <p:spPr>
          <a:xfrm xmlns:a="http://schemas.openxmlformats.org/drawingml/2006/main">
            <a:off x="657225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THE MULTIPLIER WORKS BOTH WAYS</a:t>
            </a:r>
          </a:p>
        </p:txBody>
      </p:sp>
      <p:sp>
        <p:nvSpPr>
          <p:cNvPr id="20" name="ae-negative-multiplier.inherited-20">
            <a:extLst xmlns:a="http://schemas.openxmlformats.org/drawingml/2006/main">
              <a:ext uri="{FF2B5EF4-FFF2-40B4-BE49-F238E27FC236}">
                <a16:creationId xmlns:a16="http://schemas.microsoft.com/office/drawing/2014/main" id="{42C65D3B-5C68-4025-8764-05B69F6175CC}"/>
              </a:ext>
            </a:extLst>
          </p:cNvPr>
          <p:cNvSpPr>
            <a:spLocks xmlns:a="http://schemas.openxmlformats.org/drawingml/2006/main" noGrp="1"/>
          </p:cNvSpPr>
          <p:nvPr/>
        </p:nvSpPr>
        <p:spPr>
          <a:xfrm xmlns:a="http://schemas.openxmlformats.org/drawingml/2006/main">
            <a:off x="657225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New AE₂ = £50m + 0.75Y.</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At the old Y₀, AE = £350m: stocks build up and output falls.</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k = 4; ΔY = 4 × (−£50m) = −£200m.</a:t>
            </a:r>
          </a:p>
        </p:txBody>
      </p:sp>
      <p:sp>
        <p:nvSpPr>
          <p:cNvPr id="21" name="ae-negative-multiplier.inherited-21">
            <a:extLst xmlns:a="http://schemas.openxmlformats.org/drawingml/2006/main">
              <a:ext uri="{FF2B5EF4-FFF2-40B4-BE49-F238E27FC236}">
                <a16:creationId xmlns:a16="http://schemas.microsoft.com/office/drawing/2014/main" id="{58F3669D-2030-4FD6-8E06-503A3BC23C2F}"/>
              </a:ext>
            </a:extLst>
          </p:cNvPr>
          <p:cNvSpPr>
            <a:spLocks xmlns:a="http://schemas.openxmlformats.org/drawingml/2006/main" noGrp="1"/>
          </p:cNvSpPr>
          <p:nvPr/>
        </p:nvSpPr>
        <p:spPr>
          <a:xfrm xmlns:a="http://schemas.openxmlformats.org/drawingml/2006/main">
            <a:off x="6191250" y="5286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New Y = £400m − £200m = £200m.</a:t>
            </a:r>
          </a:p>
        </p:txBody>
      </p:sp>
      <p:sp>
        <p:nvSpPr>
          <p:cNvPr id="131" name="ae-negative-multiplier.guide-204">
            <a:extLst xmlns:a="http://schemas.openxmlformats.org/drawingml/2006/main">
              <a:ext uri="{FF2B5EF4-FFF2-40B4-BE49-F238E27FC236}">
                <a16:creationId xmlns:a16="http://schemas.microsoft.com/office/drawing/2014/main" id="{46C14C0B-AA2D-4D20-927F-61A5036E8E9D}"/>
              </a:ext>
            </a:extLst>
          </p:cNvPr>
          <p:cNvSpPr>
            <a:spLocks xmlns:a="http://schemas.openxmlformats.org/drawingml/2006/main" noGrp="1"/>
          </p:cNvSpPr>
          <p:nvPr/>
        </p:nvSpPr>
        <p:spPr>
          <a:xfrm xmlns:a="http://schemas.openxmlformats.org/drawingml/2006/main" flipH="0" flipV="0">
            <a:off x="1524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2" name="ae-negative-multiplier.label-205">
            <a:extLst xmlns:a="http://schemas.openxmlformats.org/drawingml/2006/main">
              <a:ext uri="{FF2B5EF4-FFF2-40B4-BE49-F238E27FC236}">
                <a16:creationId xmlns:a16="http://schemas.microsoft.com/office/drawing/2014/main" id="{A42C1589-0A85-454E-9213-9EC4F720EDFA}"/>
              </a:ext>
            </a:extLst>
          </p:cNvPr>
          <p:cNvSpPr>
            <a:spLocks xmlns:a="http://schemas.openxmlformats.org/drawingml/2006/main" noGrp="1"/>
          </p:cNvSpPr>
          <p:nvPr/>
        </p:nvSpPr>
        <p:spPr>
          <a:xfrm xmlns:a="http://schemas.openxmlformats.org/drawingml/2006/main">
            <a:off x="1285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0</a:t>
            </a:r>
          </a:p>
        </p:txBody>
      </p:sp>
      <p:sp>
        <p:nvSpPr>
          <p:cNvPr id="133" name="ae-negative-multiplier.guide-206">
            <a:extLst xmlns:a="http://schemas.openxmlformats.org/drawingml/2006/main">
              <a:ext uri="{FF2B5EF4-FFF2-40B4-BE49-F238E27FC236}">
                <a16:creationId xmlns:a16="http://schemas.microsoft.com/office/drawing/2014/main" id="{18AAC012-C0CE-494B-9ED5-4964359C3FF6}"/>
              </a:ext>
            </a:extLst>
          </p:cNvPr>
          <p:cNvSpPr>
            <a:spLocks xmlns:a="http://schemas.openxmlformats.org/drawingml/2006/main" noGrp="1"/>
          </p:cNvSpPr>
          <p:nvPr/>
        </p:nvSpPr>
        <p:spPr>
          <a:xfrm xmlns:a="http://schemas.openxmlformats.org/drawingml/2006/main" flipH="0" flipV="0">
            <a:off x="23812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4" name="ae-negative-multiplier.label-207">
            <a:extLst xmlns:a="http://schemas.openxmlformats.org/drawingml/2006/main">
              <a:ext uri="{FF2B5EF4-FFF2-40B4-BE49-F238E27FC236}">
                <a16:creationId xmlns:a16="http://schemas.microsoft.com/office/drawing/2014/main" id="{DC441216-B1C8-4149-98D4-18423BE3ACC6}"/>
              </a:ext>
            </a:extLst>
          </p:cNvPr>
          <p:cNvSpPr>
            <a:spLocks xmlns:a="http://schemas.openxmlformats.org/drawingml/2006/main" noGrp="1"/>
          </p:cNvSpPr>
          <p:nvPr/>
        </p:nvSpPr>
        <p:spPr>
          <a:xfrm xmlns:a="http://schemas.openxmlformats.org/drawingml/2006/main">
            <a:off x="21431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5" name="ae-negative-multiplier.guide-208">
            <a:extLst xmlns:a="http://schemas.openxmlformats.org/drawingml/2006/main">
              <a:ext uri="{FF2B5EF4-FFF2-40B4-BE49-F238E27FC236}">
                <a16:creationId xmlns:a16="http://schemas.microsoft.com/office/drawing/2014/main" id="{304B68D4-26A5-4DF8-A21B-D1D5504422D0}"/>
              </a:ext>
            </a:extLst>
          </p:cNvPr>
          <p:cNvSpPr>
            <a:spLocks xmlns:a="http://schemas.openxmlformats.org/drawingml/2006/main" noGrp="1"/>
          </p:cNvSpPr>
          <p:nvPr/>
        </p:nvSpPr>
        <p:spPr>
          <a:xfrm xmlns:a="http://schemas.openxmlformats.org/drawingml/2006/main" flipH="0" flipV="0">
            <a:off x="1466850" y="44291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6" name="ae-negative-multiplier.label-209">
            <a:extLst xmlns:a="http://schemas.openxmlformats.org/drawingml/2006/main">
              <a:ext uri="{FF2B5EF4-FFF2-40B4-BE49-F238E27FC236}">
                <a16:creationId xmlns:a16="http://schemas.microsoft.com/office/drawing/2014/main" id="{91DBC3C1-BD10-4233-9D61-F1AF4530D4D2}"/>
              </a:ext>
            </a:extLst>
          </p:cNvPr>
          <p:cNvSpPr>
            <a:spLocks xmlns:a="http://schemas.openxmlformats.org/drawingml/2006/main" noGrp="1"/>
          </p:cNvSpPr>
          <p:nvPr/>
        </p:nvSpPr>
        <p:spPr>
          <a:xfrm xmlns:a="http://schemas.openxmlformats.org/drawingml/2006/main">
            <a:off x="990600" y="42957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200</a:t>
            </a:r>
          </a:p>
        </p:txBody>
      </p:sp>
      <p:sp>
        <p:nvSpPr>
          <p:cNvPr id="137" name="ae-negative-multiplier.guide-210">
            <a:extLst xmlns:a="http://schemas.openxmlformats.org/drawingml/2006/main">
              <a:ext uri="{FF2B5EF4-FFF2-40B4-BE49-F238E27FC236}">
                <a16:creationId xmlns:a16="http://schemas.microsoft.com/office/drawing/2014/main" id="{8059C7F4-57AB-49F3-A9F2-FAFB063EE2E0}"/>
              </a:ext>
            </a:extLst>
          </p:cNvPr>
          <p:cNvSpPr>
            <a:spLocks xmlns:a="http://schemas.openxmlformats.org/drawingml/2006/main" noGrp="1"/>
          </p:cNvSpPr>
          <p:nvPr/>
        </p:nvSpPr>
        <p:spPr>
          <a:xfrm xmlns:a="http://schemas.openxmlformats.org/drawingml/2006/main" flipH="0" flipV="0">
            <a:off x="32385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38" name="ae-negative-multiplier.label-211">
            <a:extLst xmlns:a="http://schemas.openxmlformats.org/drawingml/2006/main">
              <a:ext uri="{FF2B5EF4-FFF2-40B4-BE49-F238E27FC236}">
                <a16:creationId xmlns:a16="http://schemas.microsoft.com/office/drawing/2014/main" id="{DF5B733A-E6C8-4594-BEFD-BFC9828EC994}"/>
              </a:ext>
            </a:extLst>
          </p:cNvPr>
          <p:cNvSpPr>
            <a:spLocks xmlns:a="http://schemas.openxmlformats.org/drawingml/2006/main" noGrp="1"/>
          </p:cNvSpPr>
          <p:nvPr/>
        </p:nvSpPr>
        <p:spPr>
          <a:xfrm xmlns:a="http://schemas.openxmlformats.org/drawingml/2006/main">
            <a:off x="30003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39" name="ae-negative-multiplier.guide-212">
            <a:extLst xmlns:a="http://schemas.openxmlformats.org/drawingml/2006/main">
              <a:ext uri="{FF2B5EF4-FFF2-40B4-BE49-F238E27FC236}">
                <a16:creationId xmlns:a16="http://schemas.microsoft.com/office/drawing/2014/main" id="{D4AC25D2-F50B-4689-8F79-D10A6892F3BF}"/>
              </a:ext>
            </a:extLst>
          </p:cNvPr>
          <p:cNvSpPr>
            <a:spLocks xmlns:a="http://schemas.openxmlformats.org/drawingml/2006/main" noGrp="1"/>
          </p:cNvSpPr>
          <p:nvPr/>
        </p:nvSpPr>
        <p:spPr>
          <a:xfrm xmlns:a="http://schemas.openxmlformats.org/drawingml/2006/main" flipH="0" flipV="0">
            <a:off x="1466850" y="35718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0" name="ae-negative-multiplier.label-213">
            <a:extLst xmlns:a="http://schemas.openxmlformats.org/drawingml/2006/main">
              <a:ext uri="{FF2B5EF4-FFF2-40B4-BE49-F238E27FC236}">
                <a16:creationId xmlns:a16="http://schemas.microsoft.com/office/drawing/2014/main" id="{DF53F00D-B7B6-40E1-94DF-2C81BDE1548B}"/>
              </a:ext>
            </a:extLst>
          </p:cNvPr>
          <p:cNvSpPr>
            <a:spLocks xmlns:a="http://schemas.openxmlformats.org/drawingml/2006/main" noGrp="1"/>
          </p:cNvSpPr>
          <p:nvPr/>
        </p:nvSpPr>
        <p:spPr>
          <a:xfrm xmlns:a="http://schemas.openxmlformats.org/drawingml/2006/main">
            <a:off x="990600" y="34385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400</a:t>
            </a:r>
          </a:p>
        </p:txBody>
      </p:sp>
      <p:sp>
        <p:nvSpPr>
          <p:cNvPr id="141" name="ae-negative-multiplier.guide-214">
            <a:extLst xmlns:a="http://schemas.openxmlformats.org/drawingml/2006/main">
              <a:ext uri="{FF2B5EF4-FFF2-40B4-BE49-F238E27FC236}">
                <a16:creationId xmlns:a16="http://schemas.microsoft.com/office/drawing/2014/main" id="{849D9A5E-A0E7-4C47-8E07-6BCD364E0238}"/>
              </a:ext>
            </a:extLst>
          </p:cNvPr>
          <p:cNvSpPr>
            <a:spLocks xmlns:a="http://schemas.openxmlformats.org/drawingml/2006/main" noGrp="1"/>
          </p:cNvSpPr>
          <p:nvPr/>
        </p:nvSpPr>
        <p:spPr>
          <a:xfrm xmlns:a="http://schemas.openxmlformats.org/drawingml/2006/main" flipH="0" flipV="0">
            <a:off x="409575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2" name="ae-negative-multiplier.label-215">
            <a:extLst xmlns:a="http://schemas.openxmlformats.org/drawingml/2006/main">
              <a:ext uri="{FF2B5EF4-FFF2-40B4-BE49-F238E27FC236}">
                <a16:creationId xmlns:a16="http://schemas.microsoft.com/office/drawing/2014/main" id="{B6AE557F-88D2-4F8A-A257-2F8579FF3DD9}"/>
              </a:ext>
            </a:extLst>
          </p:cNvPr>
          <p:cNvSpPr>
            <a:spLocks xmlns:a="http://schemas.openxmlformats.org/drawingml/2006/main" noGrp="1"/>
          </p:cNvSpPr>
          <p:nvPr/>
        </p:nvSpPr>
        <p:spPr>
          <a:xfrm xmlns:a="http://schemas.openxmlformats.org/drawingml/2006/main">
            <a:off x="385762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3" name="ae-negative-multiplier.guide-216">
            <a:extLst xmlns:a="http://schemas.openxmlformats.org/drawingml/2006/main">
              <a:ext uri="{FF2B5EF4-FFF2-40B4-BE49-F238E27FC236}">
                <a16:creationId xmlns:a16="http://schemas.microsoft.com/office/drawing/2014/main" id="{9F9D0B14-C2B1-415C-BC4B-462EEFF8BCD8}"/>
              </a:ext>
            </a:extLst>
          </p:cNvPr>
          <p:cNvSpPr>
            <a:spLocks xmlns:a="http://schemas.openxmlformats.org/drawingml/2006/main" noGrp="1"/>
          </p:cNvSpPr>
          <p:nvPr/>
        </p:nvSpPr>
        <p:spPr>
          <a:xfrm xmlns:a="http://schemas.openxmlformats.org/drawingml/2006/main" flipH="0" flipV="0">
            <a:off x="1466850" y="271462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4" name="ae-negative-multiplier.label-217">
            <a:extLst xmlns:a="http://schemas.openxmlformats.org/drawingml/2006/main">
              <a:ext uri="{FF2B5EF4-FFF2-40B4-BE49-F238E27FC236}">
                <a16:creationId xmlns:a16="http://schemas.microsoft.com/office/drawing/2014/main" id="{8A74EF1D-1EAA-40AB-8E99-F0CF30866E53}"/>
              </a:ext>
            </a:extLst>
          </p:cNvPr>
          <p:cNvSpPr>
            <a:spLocks xmlns:a="http://schemas.openxmlformats.org/drawingml/2006/main" noGrp="1"/>
          </p:cNvSpPr>
          <p:nvPr/>
        </p:nvSpPr>
        <p:spPr>
          <a:xfrm xmlns:a="http://schemas.openxmlformats.org/drawingml/2006/main">
            <a:off x="990600" y="25812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600</a:t>
            </a:r>
          </a:p>
        </p:txBody>
      </p:sp>
      <p:sp>
        <p:nvSpPr>
          <p:cNvPr id="145" name="ae-negative-multiplier.guide-218">
            <a:extLst xmlns:a="http://schemas.openxmlformats.org/drawingml/2006/main">
              <a:ext uri="{FF2B5EF4-FFF2-40B4-BE49-F238E27FC236}">
                <a16:creationId xmlns:a16="http://schemas.microsoft.com/office/drawing/2014/main" id="{0F619477-9FD4-4F2C-AB77-B973F9B2A7CA}"/>
              </a:ext>
            </a:extLst>
          </p:cNvPr>
          <p:cNvSpPr>
            <a:spLocks xmlns:a="http://schemas.openxmlformats.org/drawingml/2006/main" noGrp="1"/>
          </p:cNvSpPr>
          <p:nvPr/>
        </p:nvSpPr>
        <p:spPr>
          <a:xfrm xmlns:a="http://schemas.openxmlformats.org/drawingml/2006/main" flipH="0" flipV="0">
            <a:off x="4953000" y="5286375"/>
            <a:ext cx="95" cy="57150"/>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6" name="ae-negative-multiplier.label-219">
            <a:extLst xmlns:a="http://schemas.openxmlformats.org/drawingml/2006/main">
              <a:ext uri="{FF2B5EF4-FFF2-40B4-BE49-F238E27FC236}">
                <a16:creationId xmlns:a16="http://schemas.microsoft.com/office/drawing/2014/main" id="{C2AFA517-5A2B-45C1-AF5A-B1361A864978}"/>
              </a:ext>
            </a:extLst>
          </p:cNvPr>
          <p:cNvSpPr>
            <a:spLocks xmlns:a="http://schemas.openxmlformats.org/drawingml/2006/main" noGrp="1"/>
          </p:cNvSpPr>
          <p:nvPr/>
        </p:nvSpPr>
        <p:spPr>
          <a:xfrm xmlns:a="http://schemas.openxmlformats.org/drawingml/2006/main">
            <a:off x="4714875" y="53816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7" name="ae-negative-multiplier.guide-220">
            <a:extLst xmlns:a="http://schemas.openxmlformats.org/drawingml/2006/main">
              <a:ext uri="{FF2B5EF4-FFF2-40B4-BE49-F238E27FC236}">
                <a16:creationId xmlns:a16="http://schemas.microsoft.com/office/drawing/2014/main" id="{80B5A124-BE24-4DC2-8942-33D173739E18}"/>
              </a:ext>
            </a:extLst>
          </p:cNvPr>
          <p:cNvSpPr>
            <a:spLocks xmlns:a="http://schemas.openxmlformats.org/drawingml/2006/main" noGrp="1"/>
          </p:cNvSpPr>
          <p:nvPr/>
        </p:nvSpPr>
        <p:spPr>
          <a:xfrm xmlns:a="http://schemas.openxmlformats.org/drawingml/2006/main" flipH="0" flipV="0">
            <a:off x="1466850" y="1857375"/>
            <a:ext cx="57150" cy="95"/>
          </a:xfrm>
          <a:prstGeom xmlns:a="http://schemas.openxmlformats.org/drawingml/2006/main" prst="line">
            <a:avLst/>
          </a:prstGeom>
          <a:noFill xmlns:a="http://schemas.openxmlformats.org/drawingml/2006/main"/>
          <a:ln xmlns:a="http://schemas.openxmlformats.org/drawingml/2006/main" w="9525">
            <a:solidFill>
              <a:srgbClr val="59616B"/>
            </a:solidFill>
            <a:prstDash val="solid"/>
          </a:ln>
        </p:spPr>
      </p:sp>
      <p:sp>
        <p:nvSpPr>
          <p:cNvPr id="148" name="ae-negative-multiplier.label-221">
            <a:extLst xmlns:a="http://schemas.openxmlformats.org/drawingml/2006/main">
              <a:ext uri="{FF2B5EF4-FFF2-40B4-BE49-F238E27FC236}">
                <a16:creationId xmlns:a16="http://schemas.microsoft.com/office/drawing/2014/main" id="{38F4391A-493C-4DF7-AF51-0BBC995DA97B}"/>
              </a:ext>
            </a:extLst>
          </p:cNvPr>
          <p:cNvSpPr>
            <a:spLocks xmlns:a="http://schemas.openxmlformats.org/drawingml/2006/main" noGrp="1"/>
          </p:cNvSpPr>
          <p:nvPr/>
        </p:nvSpPr>
        <p:spPr>
          <a:xfrm xmlns:a="http://schemas.openxmlformats.org/drawingml/2006/main">
            <a:off x="990600" y="172402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59616B"/>
                </a:solidFill>
                <a:latin typeface="Arial"/>
                <a:ea typeface="Arial"/>
                <a:cs typeface="Arial"/>
              </a:defRPr>
            </a:pPr>
            <a:r>
              <a:rPr sz="1350" b="0">
                <a:solidFill>
                  <a:srgbClr val="59616B"/>
                </a:solidFill>
                <a:latin typeface="Arial"/>
                <a:ea typeface="Arial"/>
                <a:cs typeface="Arial"/>
              </a:rPr>
              <a:t>800</a:t>
            </a:r>
          </a:p>
        </p:txBody>
      </p:sp>
      <p:sp>
        <p:nvSpPr>
          <p:cNvPr id="149" name="ae-negative-multiplier.guide-222">
            <a:extLst xmlns:a="http://schemas.openxmlformats.org/drawingml/2006/main">
              <a:ext uri="{FF2B5EF4-FFF2-40B4-BE49-F238E27FC236}">
                <a16:creationId xmlns:a16="http://schemas.microsoft.com/office/drawing/2014/main" id="{53D47708-027C-49C3-982B-167082864461}"/>
              </a:ext>
            </a:extLst>
          </p:cNvPr>
          <p:cNvSpPr>
            <a:spLocks xmlns:a="http://schemas.openxmlformats.org/drawingml/2006/main" noGrp="1"/>
          </p:cNvSpPr>
          <p:nvPr/>
        </p:nvSpPr>
        <p:spPr>
          <a:xfrm xmlns:a="http://schemas.openxmlformats.org/drawingml/2006/main" flipH="0" flipV="1">
            <a:off x="3238500" y="3571875"/>
            <a:ext cx="95" cy="1714500"/>
          </a:xfrm>
          <a:prstGeom xmlns:a="http://schemas.openxmlformats.org/drawingml/2006/main" prst="line">
            <a:avLst/>
          </a:prstGeom>
          <a:noFill xmlns:a="http://schemas.openxmlformats.org/drawingml/2006/main"/>
          <a:ln xmlns:a="http://schemas.openxmlformats.org/drawingml/2006/main" w="11430">
            <a:solidFill>
              <a:srgbClr val="B6BBC2"/>
            </a:solidFill>
            <a:prstDash val="dash"/>
          </a:ln>
        </p:spPr>
      </p:sp>
      <p:sp>
        <p:nvSpPr>
          <p:cNvPr id="150" name="ae-negative-multiplier.point-223">
            <a:extLst xmlns:a="http://schemas.openxmlformats.org/drawingml/2006/main">
              <a:ext uri="{FF2B5EF4-FFF2-40B4-BE49-F238E27FC236}">
                <a16:creationId xmlns:a16="http://schemas.microsoft.com/office/drawing/2014/main" id="{ACD4AD6C-213C-469A-AE73-1CC89B107DC5}"/>
              </a:ext>
            </a:extLst>
          </p:cNvPr>
          <p:cNvSpPr>
            <a:spLocks xmlns:a="http://schemas.openxmlformats.org/drawingml/2006/main" noGrp="1"/>
          </p:cNvSpPr>
          <p:nvPr/>
        </p:nvSpPr>
        <p:spPr>
          <a:xfrm xmlns:a="http://schemas.openxmlformats.org/drawingml/2006/main">
            <a:off x="3190875" y="3524250"/>
            <a:ext cx="95250" cy="95250"/>
          </a:xfrm>
          <a:prstGeom xmlns:a="http://schemas.openxmlformats.org/drawingml/2006/main" prst="ellipse">
            <a:avLst/>
          </a:prstGeom>
          <a:solidFill xmlns:a="http://schemas.openxmlformats.org/drawingml/2006/main">
            <a:srgbClr val="B6BBC2"/>
          </a:solidFill>
          <a:ln xmlns:a="http://schemas.openxmlformats.org/drawingml/2006/main" w="9525">
            <a:solidFill>
              <a:srgbClr val="B6BBC2"/>
            </a:solidFill>
          </a:ln>
        </p:spPr>
      </p:sp>
      <p:sp>
        <p:nvSpPr>
          <p:cNvPr id="151" name="ae-negative-multiplier.guide-224">
            <a:extLst xmlns:a="http://schemas.openxmlformats.org/drawingml/2006/main">
              <a:ext uri="{FF2B5EF4-FFF2-40B4-BE49-F238E27FC236}">
                <a16:creationId xmlns:a16="http://schemas.microsoft.com/office/drawing/2014/main" id="{D0039F7B-AE62-4095-840E-A7B157DA5AA5}"/>
              </a:ext>
            </a:extLst>
          </p:cNvPr>
          <p:cNvSpPr>
            <a:spLocks xmlns:a="http://schemas.openxmlformats.org/drawingml/2006/main" noGrp="1"/>
          </p:cNvSpPr>
          <p:nvPr/>
        </p:nvSpPr>
        <p:spPr>
          <a:xfrm xmlns:a="http://schemas.openxmlformats.org/drawingml/2006/main" flipH="0" flipV="1">
            <a:off x="2381250" y="4429125"/>
            <a:ext cx="95" cy="857250"/>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52" name="ae-negative-multiplier.point-225">
            <a:extLst xmlns:a="http://schemas.openxmlformats.org/drawingml/2006/main">
              <a:ext uri="{FF2B5EF4-FFF2-40B4-BE49-F238E27FC236}">
                <a16:creationId xmlns:a16="http://schemas.microsoft.com/office/drawing/2014/main" id="{E36AAE8C-D7CD-4083-A48A-62FEA41A2FD4}"/>
              </a:ext>
            </a:extLst>
          </p:cNvPr>
          <p:cNvSpPr>
            <a:spLocks xmlns:a="http://schemas.openxmlformats.org/drawingml/2006/main" noGrp="1"/>
          </p:cNvSpPr>
          <p:nvPr/>
        </p:nvSpPr>
        <p:spPr>
          <a:xfrm xmlns:a="http://schemas.openxmlformats.org/drawingml/2006/main">
            <a:off x="2333625" y="4381500"/>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53" name="ae-negative-multiplier.label-226">
            <a:extLst xmlns:a="http://schemas.openxmlformats.org/drawingml/2006/main">
              <a:ext uri="{FF2B5EF4-FFF2-40B4-BE49-F238E27FC236}">
                <a16:creationId xmlns:a16="http://schemas.microsoft.com/office/drawing/2014/main" id="{0694CE39-58A7-43A3-A632-9B619EC36E2C}"/>
              </a:ext>
            </a:extLst>
          </p:cNvPr>
          <p:cNvSpPr>
            <a:spLocks xmlns:a="http://schemas.openxmlformats.org/drawingml/2006/main" noGrp="1"/>
          </p:cNvSpPr>
          <p:nvPr/>
        </p:nvSpPr>
        <p:spPr>
          <a:xfrm xmlns:a="http://schemas.openxmlformats.org/drawingml/2006/main">
            <a:off x="1876425" y="40957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1">
                <a:solidFill>
                  <a:srgbClr val="3D85FF"/>
                </a:solidFill>
                <a:latin typeface="Arial"/>
                <a:ea typeface="Arial"/>
                <a:cs typeface="Arial"/>
              </a:defRPr>
            </a:pPr>
            <a:r>
              <a:rPr sz="1500" b="1">
                <a:solidFill>
                  <a:srgbClr val="3D85FF"/>
                </a:solidFill>
                <a:latin typeface="Arial"/>
                <a:ea typeface="Arial"/>
                <a:cs typeface="Arial"/>
              </a:rPr>
              <a:t>E₂</a:t>
            </a:r>
          </a:p>
        </p:txBody>
      </p:sp>
      <p:sp>
        <p:nvSpPr>
          <p:cNvPr id="154" name="ae-negative-multiplier.guide-227">
            <a:extLst xmlns:a="http://schemas.openxmlformats.org/drawingml/2006/main">
              <a:ext uri="{FF2B5EF4-FFF2-40B4-BE49-F238E27FC236}">
                <a16:creationId xmlns:a16="http://schemas.microsoft.com/office/drawing/2014/main" id="{37B75650-99C5-4CBD-8E30-0F97E6A57F8F}"/>
              </a:ext>
            </a:extLst>
          </p:cNvPr>
          <p:cNvSpPr>
            <a:spLocks xmlns:a="http://schemas.openxmlformats.org/drawingml/2006/main" noGrp="1"/>
          </p:cNvSpPr>
          <p:nvPr/>
        </p:nvSpPr>
        <p:spPr>
          <a:xfrm xmlns:a="http://schemas.openxmlformats.org/drawingml/2006/main" flipH="0" flipV="0">
            <a:off x="3238500" y="3571875"/>
            <a:ext cx="95" cy="214313"/>
          </a:xfrm>
          <a:prstGeom xmlns:a="http://schemas.openxmlformats.org/drawingml/2006/main" prst="line">
            <a:avLst/>
          </a:prstGeom>
          <a:noFill xmlns:a="http://schemas.openxmlformats.org/drawingml/2006/main"/>
          <a:ln xmlns:a="http://schemas.openxmlformats.org/drawingml/2006/main" w="28575">
            <a:solidFill>
              <a:srgbClr val="F56859"/>
            </a:solidFill>
            <a:prstDash val="solid"/>
          </a:ln>
        </p:spPr>
      </p:sp>
      <p:sp>
        <p:nvSpPr>
          <p:cNvPr id="155" name="ae-negative-multiplier.guide-228">
            <a:extLst xmlns:a="http://schemas.openxmlformats.org/drawingml/2006/main">
              <a:ext uri="{FF2B5EF4-FFF2-40B4-BE49-F238E27FC236}">
                <a16:creationId xmlns:a16="http://schemas.microsoft.com/office/drawing/2014/main" id="{13D4739A-B89A-410F-8E59-AD0BB0486EF5}"/>
              </a:ext>
            </a:extLst>
          </p:cNvPr>
          <p:cNvSpPr>
            <a:spLocks xmlns:a="http://schemas.openxmlformats.org/drawingml/2006/main" noGrp="1"/>
          </p:cNvSpPr>
          <p:nvPr/>
        </p:nvSpPr>
        <p:spPr>
          <a:xfrm xmlns:a="http://schemas.openxmlformats.org/drawingml/2006/main" flipH="0" flipV="0">
            <a:off x="3190875" y="3571875"/>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6" name="ae-negative-multiplier.guide-229">
            <a:extLst xmlns:a="http://schemas.openxmlformats.org/drawingml/2006/main">
              <a:ext uri="{FF2B5EF4-FFF2-40B4-BE49-F238E27FC236}">
                <a16:creationId xmlns:a16="http://schemas.microsoft.com/office/drawing/2014/main" id="{6F9672C1-D1A6-4616-A8DE-2B99B00FD111}"/>
              </a:ext>
            </a:extLst>
          </p:cNvPr>
          <p:cNvSpPr>
            <a:spLocks xmlns:a="http://schemas.openxmlformats.org/drawingml/2006/main" noGrp="1"/>
          </p:cNvSpPr>
          <p:nvPr/>
        </p:nvSpPr>
        <p:spPr>
          <a:xfrm xmlns:a="http://schemas.openxmlformats.org/drawingml/2006/main" flipH="0" flipV="0">
            <a:off x="3190875" y="3786188"/>
            <a:ext cx="95250" cy="95"/>
          </a:xfrm>
          <a:prstGeom xmlns:a="http://schemas.openxmlformats.org/drawingml/2006/main" prst="line">
            <a:avLst/>
          </a:prstGeom>
          <a:noFill xmlns:a="http://schemas.openxmlformats.org/drawingml/2006/main"/>
          <a:ln xmlns:a="http://schemas.openxmlformats.org/drawingml/2006/main" w="19050">
            <a:solidFill>
              <a:srgbClr val="F56859"/>
            </a:solidFill>
            <a:prstDash val="solid"/>
          </a:ln>
        </p:spPr>
      </p:sp>
      <p:sp>
        <p:nvSpPr>
          <p:cNvPr id="157" name="ae-negative-multiplier.label-230">
            <a:extLst xmlns:a="http://schemas.openxmlformats.org/drawingml/2006/main">
              <a:ext uri="{FF2B5EF4-FFF2-40B4-BE49-F238E27FC236}">
                <a16:creationId xmlns:a16="http://schemas.microsoft.com/office/drawing/2014/main" id="{0858D9B9-3B32-4419-A384-5EECCDEB5115}"/>
              </a:ext>
            </a:extLst>
          </p:cNvPr>
          <p:cNvSpPr>
            <a:spLocks xmlns:a="http://schemas.openxmlformats.org/drawingml/2006/main" noGrp="1"/>
          </p:cNvSpPr>
          <p:nvPr/>
        </p:nvSpPr>
        <p:spPr>
          <a:xfrm xmlns:a="http://schemas.openxmlformats.org/drawingml/2006/main">
            <a:off x="3352800" y="3833813"/>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F56859"/>
                </a:solidFill>
                <a:latin typeface="Arial"/>
                <a:ea typeface="Arial"/>
                <a:cs typeface="Arial"/>
              </a:defRPr>
            </a:pPr>
            <a:r>
              <a:rPr sz="1500" b="1">
                <a:solidFill>
                  <a:srgbClr val="F56859"/>
                </a:solidFill>
                <a:latin typeface="Arial"/>
                <a:ea typeface="Arial"/>
                <a:cs typeface="Arial"/>
              </a:rPr>
              <a:t>ΔI = −50</a:t>
            </a:r>
          </a:p>
        </p:txBody>
      </p:sp>
      <p:sp>
        <p:nvSpPr>
          <p:cNvPr id="158" name="ae-negative-multiplier.guide-231">
            <a:extLst xmlns:a="http://schemas.openxmlformats.org/drawingml/2006/main">
              <a:ext uri="{FF2B5EF4-FFF2-40B4-BE49-F238E27FC236}">
                <a16:creationId xmlns:a16="http://schemas.microsoft.com/office/drawing/2014/main" id="{3F38BA91-6C00-4E40-8787-B8C656D0F1D9}"/>
              </a:ext>
            </a:extLst>
          </p:cNvPr>
          <p:cNvSpPr>
            <a:spLocks xmlns:a="http://schemas.openxmlformats.org/drawingml/2006/main" noGrp="1"/>
          </p:cNvSpPr>
          <p:nvPr/>
        </p:nvSpPr>
        <p:spPr>
          <a:xfrm xmlns:a="http://schemas.openxmlformats.org/drawingml/2006/main" flipH="0" flipV="0">
            <a:off x="2381250" y="6057900"/>
            <a:ext cx="857250" cy="95"/>
          </a:xfrm>
          <a:prstGeom xmlns:a="http://schemas.openxmlformats.org/drawingml/2006/main" prst="line">
            <a:avLst/>
          </a:prstGeom>
          <a:noFill xmlns:a="http://schemas.openxmlformats.org/drawingml/2006/main"/>
          <a:ln xmlns:a="http://schemas.openxmlformats.org/drawingml/2006/main" w="19050">
            <a:solidFill>
              <a:srgbClr val="3D85FF"/>
            </a:solidFill>
            <a:prstDash val="solid"/>
          </a:ln>
        </p:spPr>
      </p:sp>
      <p:sp>
        <p:nvSpPr>
          <p:cNvPr id="159" name="ae-negative-multiplier.guide-232">
            <a:extLst xmlns:a="http://schemas.openxmlformats.org/drawingml/2006/main">
              <a:ext uri="{FF2B5EF4-FFF2-40B4-BE49-F238E27FC236}">
                <a16:creationId xmlns:a16="http://schemas.microsoft.com/office/drawing/2014/main" id="{408CE772-7C86-45CD-8477-216B5D326221}"/>
              </a:ext>
            </a:extLst>
          </p:cNvPr>
          <p:cNvSpPr>
            <a:spLocks xmlns:a="http://schemas.openxmlformats.org/drawingml/2006/main" noGrp="1"/>
          </p:cNvSpPr>
          <p:nvPr/>
        </p:nvSpPr>
        <p:spPr>
          <a:xfrm xmlns:a="http://schemas.openxmlformats.org/drawingml/2006/main" flipH="0" flipV="0">
            <a:off x="2381250" y="6010275"/>
            <a:ext cx="95" cy="95250"/>
          </a:xfrm>
          <a:prstGeom xmlns:a="http://schemas.openxmlformats.org/drawingml/2006/main" prst="line">
            <a:avLst/>
          </a:prstGeom>
          <a:noFill xmlns:a="http://schemas.openxmlformats.org/drawingml/2006/main"/>
          <a:ln xmlns:a="http://schemas.openxmlformats.org/drawingml/2006/main" w="19050">
            <a:solidFill>
              <a:srgbClr val="3D85FF"/>
            </a:solidFill>
            <a:prstDash val="solid"/>
          </a:ln>
        </p:spPr>
      </p:sp>
      <p:sp>
        <p:nvSpPr>
          <p:cNvPr id="160" name="ae-negative-multiplier.guide-233">
            <a:extLst xmlns:a="http://schemas.openxmlformats.org/drawingml/2006/main">
              <a:ext uri="{FF2B5EF4-FFF2-40B4-BE49-F238E27FC236}">
                <a16:creationId xmlns:a16="http://schemas.microsoft.com/office/drawing/2014/main" id="{98D1DB73-EFF7-455A-947B-58A6E406BF50}"/>
              </a:ext>
            </a:extLst>
          </p:cNvPr>
          <p:cNvSpPr>
            <a:spLocks xmlns:a="http://schemas.openxmlformats.org/drawingml/2006/main" noGrp="1"/>
          </p:cNvSpPr>
          <p:nvPr/>
        </p:nvSpPr>
        <p:spPr>
          <a:xfrm xmlns:a="http://schemas.openxmlformats.org/drawingml/2006/main" flipH="0" flipV="0">
            <a:off x="3238500" y="6010275"/>
            <a:ext cx="95" cy="95250"/>
          </a:xfrm>
          <a:prstGeom xmlns:a="http://schemas.openxmlformats.org/drawingml/2006/main" prst="line">
            <a:avLst/>
          </a:prstGeom>
          <a:noFill xmlns:a="http://schemas.openxmlformats.org/drawingml/2006/main"/>
          <a:ln xmlns:a="http://schemas.openxmlformats.org/drawingml/2006/main" w="19050">
            <a:solidFill>
              <a:srgbClr val="3D85FF"/>
            </a:solidFill>
            <a:prstDash val="solid"/>
          </a:ln>
        </p:spPr>
      </p:sp>
      <p:sp>
        <p:nvSpPr>
          <p:cNvPr id="161" name="ae-negative-multiplier.label-234">
            <a:extLst xmlns:a="http://schemas.openxmlformats.org/drawingml/2006/main">
              <a:ext uri="{FF2B5EF4-FFF2-40B4-BE49-F238E27FC236}">
                <a16:creationId xmlns:a16="http://schemas.microsoft.com/office/drawing/2014/main" id="{9552EF40-3EE5-4B65-924B-C611E516F78C}"/>
              </a:ext>
            </a:extLst>
          </p:cNvPr>
          <p:cNvSpPr>
            <a:spLocks xmlns:a="http://schemas.openxmlformats.org/drawingml/2006/main" noGrp="1"/>
          </p:cNvSpPr>
          <p:nvPr/>
        </p:nvSpPr>
        <p:spPr>
          <a:xfrm xmlns:a="http://schemas.openxmlformats.org/drawingml/2006/main">
            <a:off x="1524000" y="61531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3D85FF"/>
                </a:solidFill>
                <a:latin typeface="Arial"/>
                <a:ea typeface="Arial"/>
                <a:cs typeface="Arial"/>
              </a:defRPr>
            </a:pPr>
            <a:r>
              <a:rPr sz="1500" b="1">
                <a:solidFill>
                  <a:srgbClr val="3D85FF"/>
                </a:solidFill>
                <a:latin typeface="Arial"/>
                <a:ea typeface="Arial"/>
                <a:cs typeface="Arial"/>
              </a:rPr>
              <a:t>Income falls by £200m: 400 → 200</a:t>
            </a:r>
          </a:p>
        </p:txBody>
      </p:sp>
    </p:spTree>
    <p:extLst>
      <p:ext uri="{BB962C8B-B14F-4D97-AF65-F5344CB8AC3E}">
        <p14:creationId xmlns:p14="http://schemas.microsoft.com/office/powerpoint/2010/main" val="131422975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adas-recall.inherited-21">
            <a:extLst xmlns:a="http://schemas.openxmlformats.org/drawingml/2006/main">
              <a:ext uri="{FF2B5EF4-FFF2-40B4-BE49-F238E27FC236}">
                <a16:creationId xmlns:a16="http://schemas.microsoft.com/office/drawing/2014/main" id="{D2045BB7-12D4-4A8D-AF3B-0CD5956637C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Return to the familiar AS-level AD/AS model</a:t>
            </a:r>
          </a:p>
        </p:txBody>
      </p:sp>
      <p:sp>
        <p:nvSpPr>
          <p:cNvPr id="3" name="adas-recall.inherited-3">
            <a:extLst xmlns:a="http://schemas.openxmlformats.org/drawingml/2006/main">
              <a:ext uri="{FF2B5EF4-FFF2-40B4-BE49-F238E27FC236}">
                <a16:creationId xmlns:a16="http://schemas.microsoft.com/office/drawing/2014/main" id="{26FBDA1F-AB12-415C-A17F-BDCF2F6784E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das-recall.inherited-4">
            <a:extLst xmlns:a="http://schemas.openxmlformats.org/drawingml/2006/main">
              <a:ext uri="{FF2B5EF4-FFF2-40B4-BE49-F238E27FC236}">
                <a16:creationId xmlns:a16="http://schemas.microsoft.com/office/drawing/2014/main" id="{F8B82AE8-57FB-4E22-9A4F-E4DBF6C0B7D9}"/>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39</a:t>
            </a:r>
          </a:p>
        </p:txBody>
      </p:sp>
      <p:cxnSp>
        <p:nvCxnSpPr>
          <p:cNvPr id="138" name="adas-recall.inherited-113"/>
          <p:cNvCxnSpPr/>
          <p:nvPr/>
        </p:nvCxnSpPr>
        <p:spPr>
          <a:xfrm xmlns:a="http://schemas.openxmlformats.org/drawingml/2006/main" flipH="0" flipV="0">
            <a:off x="952500" y="5238750"/>
            <a:ext cx="4953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39" name="adas-recall.inherited-114"/>
          <p:cNvCxnSpPr/>
          <p:nvPr/>
        </p:nvCxnSpPr>
        <p:spPr>
          <a:xfrm xmlns:a="http://schemas.openxmlformats.org/drawingml/2006/main" flipH="0" flipV="1">
            <a:off x="952500" y="1809750"/>
            <a:ext cx="95"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40" name="adas-recall.inherited-115"/>
          <p:cNvCxnSpPr/>
          <p:nvPr/>
        </p:nvCxnSpPr>
        <p:spPr>
          <a:xfrm xmlns:a="http://schemas.openxmlformats.org/drawingml/2006/main" flipH="0" flipV="1">
            <a:off x="1333500" y="2209800"/>
            <a:ext cx="4000500" cy="2800350"/>
          </a:xfrm>
          <a:prstGeom xmlns:a="http://schemas.openxmlformats.org/drawingml/2006/main" prst="straightConnector1">
            <a:avLst/>
          </a:prstGeom>
          <a:ln xmlns:a="http://schemas.openxmlformats.org/drawingml/2006/main" w="38100">
            <a:solidFill>
              <a:srgbClr val="F56859"/>
            </a:solidFill>
            <a:prstDash val="solid"/>
          </a:ln>
        </p:spPr>
      </p:cxnSp>
      <p:cxnSp>
        <p:nvCxnSpPr>
          <p:cNvPr id="141" name="adas-recall.inherited-116"/>
          <p:cNvCxnSpPr/>
          <p:nvPr/>
        </p:nvCxnSpPr>
        <p:spPr>
          <a:xfrm xmlns:a="http://schemas.openxmlformats.org/drawingml/2006/main" flipH="0" flipV="0">
            <a:off x="1333500" y="3238500"/>
            <a:ext cx="3619500" cy="1809750"/>
          </a:xfrm>
          <a:prstGeom xmlns:a="http://schemas.openxmlformats.org/drawingml/2006/main" prst="straightConnector1">
            <a:avLst/>
          </a:prstGeom>
          <a:ln xmlns:a="http://schemas.openxmlformats.org/drawingml/2006/main" w="28575">
            <a:solidFill>
              <a:srgbClr val="B6BBC2"/>
            </a:solidFill>
            <a:prstDash val="solid"/>
          </a:ln>
        </p:spPr>
      </p:cxnSp>
      <p:cxnSp>
        <p:nvCxnSpPr>
          <p:cNvPr id="142" name="adas-recall.inherited-117"/>
          <p:cNvCxnSpPr/>
          <p:nvPr/>
        </p:nvCxnSpPr>
        <p:spPr>
          <a:xfrm xmlns:a="http://schemas.openxmlformats.org/drawingml/2006/main">
            <a:off x="1762125" y="2905125"/>
            <a:ext cx="3524250" cy="1714500"/>
          </a:xfrm>
          <a:prstGeom xmlns:a="http://schemas.openxmlformats.org/drawingml/2006/main" prst="straightConnector1">
            <a:avLst/>
          </a:prstGeom>
          <a:ln xmlns:a="http://schemas.openxmlformats.org/drawingml/2006/main" w="0">
            <a:noFill/>
          </a:ln>
        </p:spPr>
      </p:cxnSp>
      <p:cxnSp>
        <p:nvCxnSpPr>
          <p:cNvPr id="143" name="adas-recall.inherited-118"/>
          <p:cNvCxnSpPr/>
          <p:nvPr/>
        </p:nvCxnSpPr>
        <p:spPr>
          <a:xfrm xmlns:a="http://schemas.openxmlformats.org/drawingml/2006/main">
            <a:off x="2095500" y="2571750"/>
            <a:ext cx="3524250" cy="1714500"/>
          </a:xfrm>
          <a:prstGeom xmlns:a="http://schemas.openxmlformats.org/drawingml/2006/main" prst="straightConnector1">
            <a:avLst/>
          </a:prstGeom>
          <a:ln xmlns:a="http://schemas.openxmlformats.org/drawingml/2006/main" w="0">
            <a:noFill/>
          </a:ln>
        </p:spPr>
      </p:cxnSp>
      <p:cxnSp>
        <p:nvCxnSpPr>
          <p:cNvPr id="144" name="adas-recall.inherited-119"/>
          <p:cNvCxnSpPr/>
          <p:nvPr/>
        </p:nvCxnSpPr>
        <p:spPr>
          <a:xfrm xmlns:a="http://schemas.openxmlformats.org/drawingml/2006/main">
            <a:off x="2428875" y="2238375"/>
            <a:ext cx="3524250" cy="1714500"/>
          </a:xfrm>
          <a:prstGeom xmlns:a="http://schemas.openxmlformats.org/drawingml/2006/main" prst="straightConnector1">
            <a:avLst/>
          </a:prstGeom>
          <a:ln xmlns:a="http://schemas.openxmlformats.org/drawingml/2006/main" w="0">
            <a:noFill/>
          </a:ln>
        </p:spPr>
      </p:cxnSp>
      <p:sp>
        <p:nvSpPr>
          <p:cNvPr id="12" name="adas-recall.inherited-12">
            <a:extLst xmlns:a="http://schemas.openxmlformats.org/drawingml/2006/main">
              <a:ext uri="{FF2B5EF4-FFF2-40B4-BE49-F238E27FC236}">
                <a16:creationId xmlns:a16="http://schemas.microsoft.com/office/drawing/2014/main" id="{8B9F1143-030A-464B-80B7-7C09B7A34299}"/>
              </a:ext>
            </a:extLst>
          </p:cNvPr>
          <p:cNvSpPr>
            <a:spLocks xmlns:a="http://schemas.openxmlformats.org/drawingml/2006/main" noGrp="1"/>
          </p:cNvSpPr>
          <p:nvPr/>
        </p:nvSpPr>
        <p:spPr>
          <a:xfrm xmlns:a="http://schemas.openxmlformats.org/drawingml/2006/main">
            <a:off x="619125" y="13525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Price level</a:t>
            </a:r>
          </a:p>
        </p:txBody>
      </p:sp>
      <p:sp>
        <p:nvSpPr>
          <p:cNvPr id="13" name="adas-recall.inherited-13">
            <a:extLst xmlns:a="http://schemas.openxmlformats.org/drawingml/2006/main">
              <a:ext uri="{FF2B5EF4-FFF2-40B4-BE49-F238E27FC236}">
                <a16:creationId xmlns:a16="http://schemas.microsoft.com/office/drawing/2014/main" id="{59A0D291-DB4A-40A7-9E80-E37033D9A2AF}"/>
              </a:ext>
            </a:extLst>
          </p:cNvPr>
          <p:cNvSpPr>
            <a:spLocks xmlns:a="http://schemas.openxmlformats.org/drawingml/2006/main" noGrp="1"/>
          </p:cNvSpPr>
          <p:nvPr/>
        </p:nvSpPr>
        <p:spPr>
          <a:xfrm xmlns:a="http://schemas.openxmlformats.org/drawingml/2006/main">
            <a:off x="4238625" y="5657850"/>
            <a:ext cx="1666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adas-recall.inherited-14">
            <a:extLst xmlns:a="http://schemas.openxmlformats.org/drawingml/2006/main">
              <a:ext uri="{FF2B5EF4-FFF2-40B4-BE49-F238E27FC236}">
                <a16:creationId xmlns:a16="http://schemas.microsoft.com/office/drawing/2014/main" id="{7ACC0ADE-82F3-4BB9-95AE-8CCC9234F00B}"/>
              </a:ext>
            </a:extLst>
          </p:cNvPr>
          <p:cNvSpPr>
            <a:spLocks xmlns:a="http://schemas.openxmlformats.org/drawingml/2006/main" noGrp="1"/>
          </p:cNvSpPr>
          <p:nvPr/>
        </p:nvSpPr>
        <p:spPr>
          <a:xfrm xmlns:a="http://schemas.openxmlformats.org/drawingml/2006/main">
            <a:off x="5381625" y="20097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F26B5B"/>
                </a:solidFill>
                <a:latin typeface="Arial"/>
                <a:ea typeface="Arial"/>
                <a:cs typeface="Arial"/>
              </a:defRPr>
            </a:pPr>
            <a:r>
              <a:rPr sz="1500" b="1" i="0">
                <a:solidFill>
                  <a:srgbClr val="F26B5B"/>
                </a:solidFill>
                <a:latin typeface="Arial"/>
                <a:ea typeface="Arial"/>
                <a:cs typeface="Arial"/>
              </a:rPr>
              <a:t>SRAS</a:t>
            </a:r>
          </a:p>
        </p:txBody>
      </p:sp>
      <p:sp>
        <p:nvSpPr>
          <p:cNvPr id="15" name="adas-recall.inherited-15">
            <a:extLst xmlns:a="http://schemas.openxmlformats.org/drawingml/2006/main">
              <a:ext uri="{FF2B5EF4-FFF2-40B4-BE49-F238E27FC236}">
                <a16:creationId xmlns:a16="http://schemas.microsoft.com/office/drawing/2014/main" id="{3ED3C4C7-FD30-4672-8CAA-DFB2561EDE3B}"/>
              </a:ext>
            </a:extLst>
          </p:cNvPr>
          <p:cNvSpPr>
            <a:spLocks xmlns:a="http://schemas.openxmlformats.org/drawingml/2006/main" noGrp="1"/>
          </p:cNvSpPr>
          <p:nvPr/>
        </p:nvSpPr>
        <p:spPr>
          <a:xfrm xmlns:a="http://schemas.openxmlformats.org/drawingml/2006/main">
            <a:off x="5095875" y="48672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AD₀</a:t>
            </a:r>
          </a:p>
        </p:txBody>
      </p:sp>
      <p:sp>
        <p:nvSpPr>
          <p:cNvPr id="16" name="adas-recall.inherited-16">
            <a:extLst xmlns:a="http://schemas.openxmlformats.org/drawingml/2006/main">
              <a:ext uri="{FF2B5EF4-FFF2-40B4-BE49-F238E27FC236}">
                <a16:creationId xmlns:a16="http://schemas.microsoft.com/office/drawing/2014/main" id="{8C5A9764-29A7-4DAF-9276-67FCADB8AE37}"/>
              </a:ext>
            </a:extLst>
          </p:cNvPr>
          <p:cNvSpPr>
            <a:spLocks xmlns:a="http://schemas.openxmlformats.org/drawingml/2006/main" noGrp="1"/>
          </p:cNvSpPr>
          <p:nvPr/>
        </p:nvSpPr>
        <p:spPr>
          <a:xfrm xmlns:a="http://schemas.openxmlformats.org/drawingml/2006/main">
            <a:off x="5095875" y="44386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3D8DFF"/>
                </a:solidFill>
                <a:latin typeface="Arial"/>
                <a:ea typeface="Arial"/>
                <a:cs typeface="Arial"/>
              </a:defRPr>
            </a:pPr>
            <a:r>
              <a:rPr sz="1350" b="0" i="0">
                <a:solidFill>
                  <a:srgbClr val="3D8DFF"/>
                </a:solidFill>
                <a:latin typeface="Arial"/>
                <a:ea typeface="Arial"/>
                <a:cs typeface="Arial"/>
              </a:rPr>
              <a:t/>
            </a:r>
          </a:p>
        </p:txBody>
      </p:sp>
      <p:sp>
        <p:nvSpPr>
          <p:cNvPr id="17" name="adas-recall.inherited-17">
            <a:extLst xmlns:a="http://schemas.openxmlformats.org/drawingml/2006/main">
              <a:ext uri="{FF2B5EF4-FFF2-40B4-BE49-F238E27FC236}">
                <a16:creationId xmlns:a16="http://schemas.microsoft.com/office/drawing/2014/main" id="{9883FD48-CA3E-497D-917C-EB84D05195A9}"/>
              </a:ext>
            </a:extLst>
          </p:cNvPr>
          <p:cNvSpPr>
            <a:spLocks xmlns:a="http://schemas.openxmlformats.org/drawingml/2006/main" noGrp="1"/>
          </p:cNvSpPr>
          <p:nvPr/>
        </p:nvSpPr>
        <p:spPr>
          <a:xfrm xmlns:a="http://schemas.openxmlformats.org/drawingml/2006/main">
            <a:off x="5095875" y="401002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2B9A66"/>
                </a:solidFill>
                <a:latin typeface="Arial"/>
                <a:ea typeface="Arial"/>
                <a:cs typeface="Arial"/>
              </a:defRPr>
            </a:pPr>
            <a:r>
              <a:rPr sz="1350" b="0" i="0">
                <a:solidFill>
                  <a:srgbClr val="2B9A66"/>
                </a:solidFill>
                <a:latin typeface="Arial"/>
                <a:ea typeface="Arial"/>
                <a:cs typeface="Arial"/>
              </a:rPr>
              <a:t/>
            </a:r>
          </a:p>
        </p:txBody>
      </p:sp>
      <p:sp>
        <p:nvSpPr>
          <p:cNvPr id="18" name="adas-recall.inherited-18">
            <a:extLst xmlns:a="http://schemas.openxmlformats.org/drawingml/2006/main">
              <a:ext uri="{FF2B5EF4-FFF2-40B4-BE49-F238E27FC236}">
                <a16:creationId xmlns:a16="http://schemas.microsoft.com/office/drawing/2014/main" id="{6024C9A4-1093-4A00-B28C-DE2BFC16A4DB}"/>
              </a:ext>
            </a:extLst>
          </p:cNvPr>
          <p:cNvSpPr>
            <a:spLocks xmlns:a="http://schemas.openxmlformats.org/drawingml/2006/main" noGrp="1"/>
          </p:cNvSpPr>
          <p:nvPr/>
        </p:nvSpPr>
        <p:spPr>
          <a:xfrm xmlns:a="http://schemas.openxmlformats.org/drawingml/2006/main">
            <a:off x="666750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CHECK THE AXES AGAIN</a:t>
            </a:r>
          </a:p>
        </p:txBody>
      </p:sp>
      <p:sp>
        <p:nvSpPr>
          <p:cNvPr id="19" name="adas-recall.inherited-19">
            <a:extLst xmlns:a="http://schemas.openxmlformats.org/drawingml/2006/main">
              <a:ext uri="{FF2B5EF4-FFF2-40B4-BE49-F238E27FC236}">
                <a16:creationId xmlns:a16="http://schemas.microsoft.com/office/drawing/2014/main" id="{28F362A0-8F74-4007-A603-7BECAB47FA3B}"/>
              </a:ext>
            </a:extLst>
          </p:cNvPr>
          <p:cNvSpPr>
            <a:spLocks xmlns:a="http://schemas.openxmlformats.org/drawingml/2006/main" noGrp="1"/>
          </p:cNvSpPr>
          <p:nvPr/>
        </p:nvSpPr>
        <p:spPr>
          <a:xfrm xmlns:a="http://schemas.openxmlformats.org/drawingml/2006/main">
            <a:off x="666750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vertical axis is now the price level, not AE.</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AD₀ slopes down; SRAS slopes up.</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At the intersection, read P₀ to the left and Y₀ below.</a:t>
            </a:r>
          </a:p>
        </p:txBody>
      </p:sp>
      <p:sp>
        <p:nvSpPr>
          <p:cNvPr id="20" name="adas-recall.inherited-20">
            <a:extLst xmlns:a="http://schemas.openxmlformats.org/drawingml/2006/main">
              <a:ext uri="{FF2B5EF4-FFF2-40B4-BE49-F238E27FC236}">
                <a16:creationId xmlns:a16="http://schemas.microsoft.com/office/drawing/2014/main" id="{DD7F7F05-9B40-411B-82A3-A6686DA8D6C6}"/>
              </a:ext>
            </a:extLst>
          </p:cNvPr>
          <p:cNvSpPr>
            <a:spLocks xmlns:a="http://schemas.openxmlformats.org/drawingml/2006/main" noGrp="1"/>
          </p:cNvSpPr>
          <p:nvPr/>
        </p:nvSpPr>
        <p:spPr>
          <a:xfrm xmlns:a="http://schemas.openxmlformats.org/drawingml/2006/main">
            <a:off x="6286500" y="533400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The 45° line is not part of this model.</a:t>
            </a:r>
          </a:p>
        </p:txBody>
      </p:sp>
      <p:sp>
        <p:nvSpPr>
          <p:cNvPr id="130" name="adas-recall.guide-235">
            <a:extLst xmlns:a="http://schemas.openxmlformats.org/drawingml/2006/main">
              <a:ext uri="{FF2B5EF4-FFF2-40B4-BE49-F238E27FC236}">
                <a16:creationId xmlns:a16="http://schemas.microsoft.com/office/drawing/2014/main" id="{8764F225-B1B4-4236-9F20-D996FA342623}"/>
              </a:ext>
            </a:extLst>
          </p:cNvPr>
          <p:cNvSpPr>
            <a:spLocks xmlns:a="http://schemas.openxmlformats.org/drawingml/2006/main" noGrp="1"/>
          </p:cNvSpPr>
          <p:nvPr/>
        </p:nvSpPr>
        <p:spPr>
          <a:xfrm xmlns:a="http://schemas.openxmlformats.org/drawingml/2006/main" flipH="0" flipV="1">
            <a:off x="2809875" y="3976688"/>
            <a:ext cx="95" cy="1262063"/>
          </a:xfrm>
          <a:prstGeom xmlns:a="http://schemas.openxmlformats.org/drawingml/2006/main" prst="line">
            <a:avLst/>
          </a:prstGeom>
          <a:noFill xmlns:a="http://schemas.openxmlformats.org/drawingml/2006/main"/>
          <a:ln xmlns:a="http://schemas.openxmlformats.org/drawingml/2006/main" w="11430">
            <a:solidFill>
              <a:srgbClr val="59616B"/>
            </a:solidFill>
            <a:prstDash val="dash"/>
          </a:ln>
        </p:spPr>
      </p:sp>
      <p:sp>
        <p:nvSpPr>
          <p:cNvPr id="131" name="adas-recall.guide-236">
            <a:extLst xmlns:a="http://schemas.openxmlformats.org/drawingml/2006/main">
              <a:ext uri="{FF2B5EF4-FFF2-40B4-BE49-F238E27FC236}">
                <a16:creationId xmlns:a16="http://schemas.microsoft.com/office/drawing/2014/main" id="{D04109A8-2305-400C-8A71-FDC0B2E00B46}"/>
              </a:ext>
            </a:extLst>
          </p:cNvPr>
          <p:cNvSpPr>
            <a:spLocks xmlns:a="http://schemas.openxmlformats.org/drawingml/2006/main" noGrp="1"/>
          </p:cNvSpPr>
          <p:nvPr/>
        </p:nvSpPr>
        <p:spPr>
          <a:xfrm xmlns:a="http://schemas.openxmlformats.org/drawingml/2006/main" flipH="0" flipV="0">
            <a:off x="952500" y="3976688"/>
            <a:ext cx="1857375" cy="95"/>
          </a:xfrm>
          <a:prstGeom xmlns:a="http://schemas.openxmlformats.org/drawingml/2006/main" prst="line">
            <a:avLst/>
          </a:prstGeom>
          <a:noFill xmlns:a="http://schemas.openxmlformats.org/drawingml/2006/main"/>
          <a:ln xmlns:a="http://schemas.openxmlformats.org/drawingml/2006/main" w="11430">
            <a:solidFill>
              <a:srgbClr val="59616B"/>
            </a:solidFill>
            <a:prstDash val="dash"/>
          </a:ln>
        </p:spPr>
      </p:sp>
      <p:sp>
        <p:nvSpPr>
          <p:cNvPr id="132" name="adas-recall.point-237">
            <a:extLst xmlns:a="http://schemas.openxmlformats.org/drawingml/2006/main">
              <a:ext uri="{FF2B5EF4-FFF2-40B4-BE49-F238E27FC236}">
                <a16:creationId xmlns:a16="http://schemas.microsoft.com/office/drawing/2014/main" id="{4EF1AC39-DFB1-4519-961B-3395AAECF6D9}"/>
              </a:ext>
            </a:extLst>
          </p:cNvPr>
          <p:cNvSpPr>
            <a:spLocks xmlns:a="http://schemas.openxmlformats.org/drawingml/2006/main" noGrp="1"/>
          </p:cNvSpPr>
          <p:nvPr/>
        </p:nvSpPr>
        <p:spPr>
          <a:xfrm xmlns:a="http://schemas.openxmlformats.org/drawingml/2006/main">
            <a:off x="2762250" y="3929063"/>
            <a:ext cx="95250" cy="95250"/>
          </a:xfrm>
          <a:prstGeom xmlns:a="http://schemas.openxmlformats.org/drawingml/2006/main" prst="ellipse">
            <a:avLst/>
          </a:prstGeom>
          <a:solidFill xmlns:a="http://schemas.openxmlformats.org/drawingml/2006/main">
            <a:srgbClr val="59616B"/>
          </a:solidFill>
          <a:ln xmlns:a="http://schemas.openxmlformats.org/drawingml/2006/main" w="9525">
            <a:solidFill>
              <a:srgbClr val="59616B"/>
            </a:solidFill>
          </a:ln>
        </p:spPr>
      </p:sp>
      <p:sp>
        <p:nvSpPr>
          <p:cNvPr id="133" name="adas-recall.label-238">
            <a:extLst xmlns:a="http://schemas.openxmlformats.org/drawingml/2006/main">
              <a:ext uri="{FF2B5EF4-FFF2-40B4-BE49-F238E27FC236}">
                <a16:creationId xmlns:a16="http://schemas.microsoft.com/office/drawing/2014/main" id="{663FC426-8056-415E-85E8-388D0C23CE12}"/>
              </a:ext>
            </a:extLst>
          </p:cNvPr>
          <p:cNvSpPr>
            <a:spLocks xmlns:a="http://schemas.openxmlformats.org/drawingml/2006/main" noGrp="1"/>
          </p:cNvSpPr>
          <p:nvPr/>
        </p:nvSpPr>
        <p:spPr>
          <a:xfrm xmlns:a="http://schemas.openxmlformats.org/drawingml/2006/main">
            <a:off x="2600325" y="53340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59616B"/>
                </a:solidFill>
                <a:latin typeface="Arial"/>
                <a:ea typeface="Arial"/>
                <a:cs typeface="Arial"/>
              </a:defRPr>
            </a:pPr>
            <a:r>
              <a:rPr sz="1500" b="0">
                <a:solidFill>
                  <a:srgbClr val="59616B"/>
                </a:solidFill>
                <a:latin typeface="Arial"/>
                <a:ea typeface="Arial"/>
                <a:cs typeface="Arial"/>
              </a:rPr>
              <a:t>Y₀</a:t>
            </a:r>
          </a:p>
        </p:txBody>
      </p:sp>
      <p:sp>
        <p:nvSpPr>
          <p:cNvPr id="134" name="adas-recall.label-239">
            <a:extLst xmlns:a="http://schemas.openxmlformats.org/drawingml/2006/main">
              <a:ext uri="{FF2B5EF4-FFF2-40B4-BE49-F238E27FC236}">
                <a16:creationId xmlns:a16="http://schemas.microsoft.com/office/drawing/2014/main" id="{9850585C-E6DA-457A-9135-673E26D262E0}"/>
              </a:ext>
            </a:extLst>
          </p:cNvPr>
          <p:cNvSpPr>
            <a:spLocks xmlns:a="http://schemas.openxmlformats.org/drawingml/2006/main" noGrp="1"/>
          </p:cNvSpPr>
          <p:nvPr/>
        </p:nvSpPr>
        <p:spPr>
          <a:xfrm xmlns:a="http://schemas.openxmlformats.org/drawingml/2006/main">
            <a:off x="619125" y="3843338"/>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9616B"/>
                </a:solidFill>
                <a:latin typeface="Arial"/>
                <a:ea typeface="Arial"/>
                <a:cs typeface="Arial"/>
              </a:defRPr>
            </a:pPr>
            <a:r>
              <a:rPr sz="1500" b="0">
                <a:solidFill>
                  <a:srgbClr val="59616B"/>
                </a:solidFill>
                <a:latin typeface="Arial"/>
                <a:ea typeface="Arial"/>
                <a:cs typeface="Arial"/>
              </a:rPr>
              <a:t>P₀</a:t>
            </a:r>
          </a:p>
        </p:txBody>
      </p:sp>
    </p:spTree>
    <p:extLst>
      <p:ext uri="{BB962C8B-B14F-4D97-AF65-F5344CB8AC3E}">
        <p14:creationId xmlns:p14="http://schemas.microsoft.com/office/powerpoint/2010/main" val="95412863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adas-initial-injection.inherited-21">
            <a:extLst xmlns:a="http://schemas.openxmlformats.org/drawingml/2006/main">
              <a:ext uri="{FF2B5EF4-FFF2-40B4-BE49-F238E27FC236}">
                <a16:creationId xmlns:a16="http://schemas.microsoft.com/office/drawing/2014/main" id="{D2045BB7-12D4-4A8D-AF3B-0CD5956637C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First, the autonomous injection raises AD</a:t>
            </a:r>
          </a:p>
        </p:txBody>
      </p:sp>
      <p:sp>
        <p:nvSpPr>
          <p:cNvPr id="3" name="adas-initial-injection.inherited-3">
            <a:extLst xmlns:a="http://schemas.openxmlformats.org/drawingml/2006/main">
              <a:ext uri="{FF2B5EF4-FFF2-40B4-BE49-F238E27FC236}">
                <a16:creationId xmlns:a16="http://schemas.microsoft.com/office/drawing/2014/main" id="{26FBDA1F-AB12-415C-A17F-BDCF2F6784E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das-initial-injection.inherited-4">
            <a:extLst xmlns:a="http://schemas.openxmlformats.org/drawingml/2006/main">
              <a:ext uri="{FF2B5EF4-FFF2-40B4-BE49-F238E27FC236}">
                <a16:creationId xmlns:a16="http://schemas.microsoft.com/office/drawing/2014/main" id="{F8B82AE8-57FB-4E22-9A4F-E4DBF6C0B7D9}"/>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40</a:t>
            </a:r>
          </a:p>
        </p:txBody>
      </p:sp>
      <p:cxnSp>
        <p:nvCxnSpPr>
          <p:cNvPr id="143" name="adas-initial-injection.inherited-113"/>
          <p:cNvCxnSpPr/>
          <p:nvPr/>
        </p:nvCxnSpPr>
        <p:spPr>
          <a:xfrm xmlns:a="http://schemas.openxmlformats.org/drawingml/2006/main" flipH="0" flipV="0">
            <a:off x="952500" y="5238750"/>
            <a:ext cx="4953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44" name="adas-initial-injection.inherited-114"/>
          <p:cNvCxnSpPr/>
          <p:nvPr/>
        </p:nvCxnSpPr>
        <p:spPr>
          <a:xfrm xmlns:a="http://schemas.openxmlformats.org/drawingml/2006/main" flipH="0" flipV="1">
            <a:off x="952500" y="1809750"/>
            <a:ext cx="95"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45" name="adas-initial-injection.inherited-115"/>
          <p:cNvCxnSpPr/>
          <p:nvPr/>
        </p:nvCxnSpPr>
        <p:spPr>
          <a:xfrm xmlns:a="http://schemas.openxmlformats.org/drawingml/2006/main" flipH="0" flipV="1">
            <a:off x="1333500" y="2209800"/>
            <a:ext cx="4000500" cy="2800350"/>
          </a:xfrm>
          <a:prstGeom xmlns:a="http://schemas.openxmlformats.org/drawingml/2006/main" prst="straightConnector1">
            <a:avLst/>
          </a:prstGeom>
          <a:ln xmlns:a="http://schemas.openxmlformats.org/drawingml/2006/main" w="38100">
            <a:solidFill>
              <a:srgbClr val="F56859"/>
            </a:solidFill>
            <a:prstDash val="solid"/>
          </a:ln>
        </p:spPr>
      </p:cxnSp>
      <p:cxnSp>
        <p:nvCxnSpPr>
          <p:cNvPr id="146" name="adas-initial-injection.inherited-116"/>
          <p:cNvCxnSpPr/>
          <p:nvPr/>
        </p:nvCxnSpPr>
        <p:spPr>
          <a:xfrm xmlns:a="http://schemas.openxmlformats.org/drawingml/2006/main" flipH="0" flipV="0">
            <a:off x="1333500" y="3238500"/>
            <a:ext cx="3619500" cy="1809750"/>
          </a:xfrm>
          <a:prstGeom xmlns:a="http://schemas.openxmlformats.org/drawingml/2006/main" prst="straightConnector1">
            <a:avLst/>
          </a:prstGeom>
          <a:ln xmlns:a="http://schemas.openxmlformats.org/drawingml/2006/main" w="28575">
            <a:solidFill>
              <a:srgbClr val="B6BBC2"/>
            </a:solidFill>
            <a:prstDash val="solid"/>
          </a:ln>
        </p:spPr>
      </p:cxnSp>
      <p:cxnSp>
        <p:nvCxnSpPr>
          <p:cNvPr id="147" name="adas-initial-injection.inherited-117"/>
          <p:cNvCxnSpPr/>
          <p:nvPr/>
        </p:nvCxnSpPr>
        <p:spPr>
          <a:xfrm xmlns:a="http://schemas.openxmlformats.org/drawingml/2006/main" flipH="0" flipV="0">
            <a:off x="1333500" y="2809875"/>
            <a:ext cx="3619500" cy="1809750"/>
          </a:xfrm>
          <a:prstGeom xmlns:a="http://schemas.openxmlformats.org/drawingml/2006/main" prst="straightConnector1">
            <a:avLst/>
          </a:prstGeom>
          <a:ln xmlns:a="http://schemas.openxmlformats.org/drawingml/2006/main" w="28575">
            <a:solidFill>
              <a:srgbClr val="3D85FF"/>
            </a:solidFill>
            <a:prstDash val="solid"/>
          </a:ln>
        </p:spPr>
      </p:cxnSp>
      <p:cxnSp>
        <p:nvCxnSpPr>
          <p:cNvPr id="148" name="adas-initial-injection.inherited-118"/>
          <p:cNvCxnSpPr/>
          <p:nvPr/>
        </p:nvCxnSpPr>
        <p:spPr>
          <a:xfrm xmlns:a="http://schemas.openxmlformats.org/drawingml/2006/main">
            <a:off x="2095500" y="2571750"/>
            <a:ext cx="3524250" cy="1714500"/>
          </a:xfrm>
          <a:prstGeom xmlns:a="http://schemas.openxmlformats.org/drawingml/2006/main" prst="straightConnector1">
            <a:avLst/>
          </a:prstGeom>
          <a:ln xmlns:a="http://schemas.openxmlformats.org/drawingml/2006/main" w="0">
            <a:noFill/>
          </a:ln>
        </p:spPr>
      </p:cxnSp>
      <p:cxnSp>
        <p:nvCxnSpPr>
          <p:cNvPr id="149" name="adas-initial-injection.inherited-119"/>
          <p:cNvCxnSpPr/>
          <p:nvPr/>
        </p:nvCxnSpPr>
        <p:spPr>
          <a:xfrm xmlns:a="http://schemas.openxmlformats.org/drawingml/2006/main">
            <a:off x="2428875" y="2238375"/>
            <a:ext cx="3524250" cy="1714500"/>
          </a:xfrm>
          <a:prstGeom xmlns:a="http://schemas.openxmlformats.org/drawingml/2006/main" prst="straightConnector1">
            <a:avLst/>
          </a:prstGeom>
          <a:ln xmlns:a="http://schemas.openxmlformats.org/drawingml/2006/main" w="0">
            <a:noFill/>
          </a:ln>
        </p:spPr>
      </p:cxnSp>
      <p:sp>
        <p:nvSpPr>
          <p:cNvPr id="12" name="adas-initial-injection.inherited-12">
            <a:extLst xmlns:a="http://schemas.openxmlformats.org/drawingml/2006/main">
              <a:ext uri="{FF2B5EF4-FFF2-40B4-BE49-F238E27FC236}">
                <a16:creationId xmlns:a16="http://schemas.microsoft.com/office/drawing/2014/main" id="{8B9F1143-030A-464B-80B7-7C09B7A34299}"/>
              </a:ext>
            </a:extLst>
          </p:cNvPr>
          <p:cNvSpPr>
            <a:spLocks xmlns:a="http://schemas.openxmlformats.org/drawingml/2006/main" noGrp="1"/>
          </p:cNvSpPr>
          <p:nvPr/>
        </p:nvSpPr>
        <p:spPr>
          <a:xfrm xmlns:a="http://schemas.openxmlformats.org/drawingml/2006/main">
            <a:off x="619125" y="13525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Price level</a:t>
            </a:r>
          </a:p>
        </p:txBody>
      </p:sp>
      <p:sp>
        <p:nvSpPr>
          <p:cNvPr id="13" name="adas-initial-injection.inherited-13">
            <a:extLst xmlns:a="http://schemas.openxmlformats.org/drawingml/2006/main">
              <a:ext uri="{FF2B5EF4-FFF2-40B4-BE49-F238E27FC236}">
                <a16:creationId xmlns:a16="http://schemas.microsoft.com/office/drawing/2014/main" id="{59A0D291-DB4A-40A7-9E80-E37033D9A2AF}"/>
              </a:ext>
            </a:extLst>
          </p:cNvPr>
          <p:cNvSpPr>
            <a:spLocks xmlns:a="http://schemas.openxmlformats.org/drawingml/2006/main" noGrp="1"/>
          </p:cNvSpPr>
          <p:nvPr/>
        </p:nvSpPr>
        <p:spPr>
          <a:xfrm xmlns:a="http://schemas.openxmlformats.org/drawingml/2006/main">
            <a:off x="4238625" y="5657850"/>
            <a:ext cx="1666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adas-initial-injection.inherited-14">
            <a:extLst xmlns:a="http://schemas.openxmlformats.org/drawingml/2006/main">
              <a:ext uri="{FF2B5EF4-FFF2-40B4-BE49-F238E27FC236}">
                <a16:creationId xmlns:a16="http://schemas.microsoft.com/office/drawing/2014/main" id="{7ACC0ADE-82F3-4BB9-95AE-8CCC9234F00B}"/>
              </a:ext>
            </a:extLst>
          </p:cNvPr>
          <p:cNvSpPr>
            <a:spLocks xmlns:a="http://schemas.openxmlformats.org/drawingml/2006/main" noGrp="1"/>
          </p:cNvSpPr>
          <p:nvPr/>
        </p:nvSpPr>
        <p:spPr>
          <a:xfrm xmlns:a="http://schemas.openxmlformats.org/drawingml/2006/main">
            <a:off x="5381625" y="20097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F26B5B"/>
                </a:solidFill>
                <a:latin typeface="Arial"/>
                <a:ea typeface="Arial"/>
                <a:cs typeface="Arial"/>
              </a:defRPr>
            </a:pPr>
            <a:r>
              <a:rPr sz="1500" b="1" i="0">
                <a:solidFill>
                  <a:srgbClr val="F26B5B"/>
                </a:solidFill>
                <a:latin typeface="Arial"/>
                <a:ea typeface="Arial"/>
                <a:cs typeface="Arial"/>
              </a:rPr>
              <a:t>SRAS</a:t>
            </a:r>
          </a:p>
        </p:txBody>
      </p:sp>
      <p:sp>
        <p:nvSpPr>
          <p:cNvPr id="15" name="adas-initial-injection.inherited-15">
            <a:extLst xmlns:a="http://schemas.openxmlformats.org/drawingml/2006/main">
              <a:ext uri="{FF2B5EF4-FFF2-40B4-BE49-F238E27FC236}">
                <a16:creationId xmlns:a16="http://schemas.microsoft.com/office/drawing/2014/main" id="{3ED3C4C7-FD30-4672-8CAA-DFB2561EDE3B}"/>
              </a:ext>
            </a:extLst>
          </p:cNvPr>
          <p:cNvSpPr>
            <a:spLocks xmlns:a="http://schemas.openxmlformats.org/drawingml/2006/main" noGrp="1"/>
          </p:cNvSpPr>
          <p:nvPr/>
        </p:nvSpPr>
        <p:spPr>
          <a:xfrm xmlns:a="http://schemas.openxmlformats.org/drawingml/2006/main">
            <a:off x="5095875" y="48672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AD₀</a:t>
            </a:r>
          </a:p>
        </p:txBody>
      </p:sp>
      <p:sp>
        <p:nvSpPr>
          <p:cNvPr id="16" name="adas-initial-injection.inherited-16">
            <a:extLst xmlns:a="http://schemas.openxmlformats.org/drawingml/2006/main">
              <a:ext uri="{FF2B5EF4-FFF2-40B4-BE49-F238E27FC236}">
                <a16:creationId xmlns:a16="http://schemas.microsoft.com/office/drawing/2014/main" id="{8C5A9764-29A7-4DAF-9276-67FCADB8AE37}"/>
              </a:ext>
            </a:extLst>
          </p:cNvPr>
          <p:cNvSpPr>
            <a:spLocks xmlns:a="http://schemas.openxmlformats.org/drawingml/2006/main" noGrp="1"/>
          </p:cNvSpPr>
          <p:nvPr/>
        </p:nvSpPr>
        <p:spPr>
          <a:xfrm xmlns:a="http://schemas.openxmlformats.org/drawingml/2006/main">
            <a:off x="5095875" y="44386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3D8DFF"/>
                </a:solidFill>
                <a:latin typeface="Arial"/>
                <a:ea typeface="Arial"/>
                <a:cs typeface="Arial"/>
              </a:defRPr>
            </a:pPr>
            <a:r>
              <a:rPr sz="1350" b="0" i="0">
                <a:solidFill>
                  <a:srgbClr val="3D8DFF"/>
                </a:solidFill>
                <a:latin typeface="Arial"/>
                <a:ea typeface="Arial"/>
                <a:cs typeface="Arial"/>
              </a:rPr>
              <a:t>AD₁</a:t>
            </a:r>
          </a:p>
        </p:txBody>
      </p:sp>
      <p:sp>
        <p:nvSpPr>
          <p:cNvPr id="17" name="adas-initial-injection.inherited-17">
            <a:extLst xmlns:a="http://schemas.openxmlformats.org/drawingml/2006/main">
              <a:ext uri="{FF2B5EF4-FFF2-40B4-BE49-F238E27FC236}">
                <a16:creationId xmlns:a16="http://schemas.microsoft.com/office/drawing/2014/main" id="{9883FD48-CA3E-497D-917C-EB84D05195A9}"/>
              </a:ext>
            </a:extLst>
          </p:cNvPr>
          <p:cNvSpPr>
            <a:spLocks xmlns:a="http://schemas.openxmlformats.org/drawingml/2006/main" noGrp="1"/>
          </p:cNvSpPr>
          <p:nvPr/>
        </p:nvSpPr>
        <p:spPr>
          <a:xfrm xmlns:a="http://schemas.openxmlformats.org/drawingml/2006/main">
            <a:off x="5095875" y="401002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2B9A66"/>
                </a:solidFill>
                <a:latin typeface="Arial"/>
                <a:ea typeface="Arial"/>
                <a:cs typeface="Arial"/>
              </a:defRPr>
            </a:pPr>
            <a:r>
              <a:rPr sz="1350" b="0" i="0">
                <a:solidFill>
                  <a:srgbClr val="2B9A66"/>
                </a:solidFill>
                <a:latin typeface="Arial"/>
                <a:ea typeface="Arial"/>
                <a:cs typeface="Arial"/>
              </a:rPr>
              <a:t/>
            </a:r>
          </a:p>
        </p:txBody>
      </p:sp>
      <p:sp>
        <p:nvSpPr>
          <p:cNvPr id="18" name="adas-initial-injection.inherited-18">
            <a:extLst xmlns:a="http://schemas.openxmlformats.org/drawingml/2006/main">
              <a:ext uri="{FF2B5EF4-FFF2-40B4-BE49-F238E27FC236}">
                <a16:creationId xmlns:a16="http://schemas.microsoft.com/office/drawing/2014/main" id="{6024C9A4-1093-4A00-B28C-DE2BFC16A4DB}"/>
              </a:ext>
            </a:extLst>
          </p:cNvPr>
          <p:cNvSpPr>
            <a:spLocks xmlns:a="http://schemas.openxmlformats.org/drawingml/2006/main" noGrp="1"/>
          </p:cNvSpPr>
          <p:nvPr/>
        </p:nvSpPr>
        <p:spPr>
          <a:xfrm xmlns:a="http://schemas.openxmlformats.org/drawingml/2006/main">
            <a:off x="666750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ISOLATE THE FIRST CHANGE</a:t>
            </a:r>
          </a:p>
        </p:txBody>
      </p:sp>
      <p:sp>
        <p:nvSpPr>
          <p:cNvPr id="19" name="adas-initial-injection.inherited-19">
            <a:extLst xmlns:a="http://schemas.openxmlformats.org/drawingml/2006/main">
              <a:ext uri="{FF2B5EF4-FFF2-40B4-BE49-F238E27FC236}">
                <a16:creationId xmlns:a16="http://schemas.microsoft.com/office/drawing/2014/main" id="{28F362A0-8F74-4007-A603-7BECAB47FA3B}"/>
              </a:ext>
            </a:extLst>
          </p:cNvPr>
          <p:cNvSpPr>
            <a:spLocks xmlns:a="http://schemas.openxmlformats.org/drawingml/2006/main" noGrp="1"/>
          </p:cNvSpPr>
          <p:nvPr/>
        </p:nvSpPr>
        <p:spPr>
          <a:xfrm xmlns:a="http://schemas.openxmlformats.org/drawingml/2006/main">
            <a:off x="666750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Higher I increases demand at each price level: AD₀ → AD₁.</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With upward-sloping SRAS, output and the price level rise.</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extra output creates income.</a:t>
            </a:r>
          </a:p>
        </p:txBody>
      </p:sp>
      <p:sp>
        <p:nvSpPr>
          <p:cNvPr id="20" name="adas-initial-injection.inherited-20">
            <a:extLst xmlns:a="http://schemas.openxmlformats.org/drawingml/2006/main">
              <a:ext uri="{FF2B5EF4-FFF2-40B4-BE49-F238E27FC236}">
                <a16:creationId xmlns:a16="http://schemas.microsoft.com/office/drawing/2014/main" id="{DD7F7F05-9B40-411B-82A3-A6686DA8D6C6}"/>
              </a:ext>
            </a:extLst>
          </p:cNvPr>
          <p:cNvSpPr>
            <a:spLocks xmlns:a="http://schemas.openxmlformats.org/drawingml/2006/main" noGrp="1"/>
          </p:cNvSpPr>
          <p:nvPr/>
        </p:nvSpPr>
        <p:spPr>
          <a:xfrm xmlns:a="http://schemas.openxmlformats.org/drawingml/2006/main">
            <a:off x="6286500" y="533400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Next: what do households do with extra income?</a:t>
            </a:r>
          </a:p>
        </p:txBody>
      </p:sp>
      <p:sp>
        <p:nvSpPr>
          <p:cNvPr id="130" name="adas-initial-injection.guide-240">
            <a:extLst xmlns:a="http://schemas.openxmlformats.org/drawingml/2006/main">
              <a:ext uri="{FF2B5EF4-FFF2-40B4-BE49-F238E27FC236}">
                <a16:creationId xmlns:a16="http://schemas.microsoft.com/office/drawing/2014/main" id="{7EA37E48-1759-42E7-939D-716B9AE4C592}"/>
              </a:ext>
            </a:extLst>
          </p:cNvPr>
          <p:cNvSpPr>
            <a:spLocks xmlns:a="http://schemas.openxmlformats.org/drawingml/2006/main" noGrp="1"/>
          </p:cNvSpPr>
          <p:nvPr/>
        </p:nvSpPr>
        <p:spPr>
          <a:xfrm xmlns:a="http://schemas.openxmlformats.org/drawingml/2006/main" flipH="0" flipV="1">
            <a:off x="2809875" y="3976688"/>
            <a:ext cx="95" cy="1262063"/>
          </a:xfrm>
          <a:prstGeom xmlns:a="http://schemas.openxmlformats.org/drawingml/2006/main" prst="line">
            <a:avLst/>
          </a:prstGeom>
          <a:noFill xmlns:a="http://schemas.openxmlformats.org/drawingml/2006/main"/>
          <a:ln xmlns:a="http://schemas.openxmlformats.org/drawingml/2006/main" w="11430">
            <a:solidFill>
              <a:srgbClr val="59616B"/>
            </a:solidFill>
            <a:prstDash val="dash"/>
          </a:ln>
        </p:spPr>
      </p:sp>
      <p:sp>
        <p:nvSpPr>
          <p:cNvPr id="131" name="adas-initial-injection.guide-241">
            <a:extLst xmlns:a="http://schemas.openxmlformats.org/drawingml/2006/main">
              <a:ext uri="{FF2B5EF4-FFF2-40B4-BE49-F238E27FC236}">
                <a16:creationId xmlns:a16="http://schemas.microsoft.com/office/drawing/2014/main" id="{7065B1A3-28D6-4453-A8EE-5E4FA3922DD4}"/>
              </a:ext>
            </a:extLst>
          </p:cNvPr>
          <p:cNvSpPr>
            <a:spLocks xmlns:a="http://schemas.openxmlformats.org/drawingml/2006/main" noGrp="1"/>
          </p:cNvSpPr>
          <p:nvPr/>
        </p:nvSpPr>
        <p:spPr>
          <a:xfrm xmlns:a="http://schemas.openxmlformats.org/drawingml/2006/main" flipH="0" flipV="0">
            <a:off x="952500" y="3976688"/>
            <a:ext cx="1857375" cy="95"/>
          </a:xfrm>
          <a:prstGeom xmlns:a="http://schemas.openxmlformats.org/drawingml/2006/main" prst="line">
            <a:avLst/>
          </a:prstGeom>
          <a:noFill xmlns:a="http://schemas.openxmlformats.org/drawingml/2006/main"/>
          <a:ln xmlns:a="http://schemas.openxmlformats.org/drawingml/2006/main" w="11430">
            <a:solidFill>
              <a:srgbClr val="59616B"/>
            </a:solidFill>
            <a:prstDash val="dash"/>
          </a:ln>
        </p:spPr>
      </p:sp>
      <p:sp>
        <p:nvSpPr>
          <p:cNvPr id="132" name="adas-initial-injection.guide-242">
            <a:extLst xmlns:a="http://schemas.openxmlformats.org/drawingml/2006/main">
              <a:ext uri="{FF2B5EF4-FFF2-40B4-BE49-F238E27FC236}">
                <a16:creationId xmlns:a16="http://schemas.microsoft.com/office/drawing/2014/main" id="{39BCC52E-E466-42DF-96DD-792187C73271}"/>
              </a:ext>
            </a:extLst>
          </p:cNvPr>
          <p:cNvSpPr>
            <a:spLocks xmlns:a="http://schemas.openxmlformats.org/drawingml/2006/main" noGrp="1"/>
          </p:cNvSpPr>
          <p:nvPr/>
        </p:nvSpPr>
        <p:spPr>
          <a:xfrm xmlns:a="http://schemas.openxmlformats.org/drawingml/2006/main" flipH="0" flipV="1">
            <a:off x="3167063" y="3726656"/>
            <a:ext cx="95" cy="1512094"/>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33" name="adas-initial-injection.guide-243">
            <a:extLst xmlns:a="http://schemas.openxmlformats.org/drawingml/2006/main">
              <a:ext uri="{FF2B5EF4-FFF2-40B4-BE49-F238E27FC236}">
                <a16:creationId xmlns:a16="http://schemas.microsoft.com/office/drawing/2014/main" id="{F52D8BFA-97C9-49D9-B91F-6897AAB23875}"/>
              </a:ext>
            </a:extLst>
          </p:cNvPr>
          <p:cNvSpPr>
            <a:spLocks xmlns:a="http://schemas.openxmlformats.org/drawingml/2006/main" noGrp="1"/>
          </p:cNvSpPr>
          <p:nvPr/>
        </p:nvSpPr>
        <p:spPr>
          <a:xfrm xmlns:a="http://schemas.openxmlformats.org/drawingml/2006/main" flipH="0" flipV="0">
            <a:off x="952500" y="3726656"/>
            <a:ext cx="2214563" cy="95"/>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34" name="adas-initial-injection.point-244">
            <a:extLst xmlns:a="http://schemas.openxmlformats.org/drawingml/2006/main">
              <a:ext uri="{FF2B5EF4-FFF2-40B4-BE49-F238E27FC236}">
                <a16:creationId xmlns:a16="http://schemas.microsoft.com/office/drawing/2014/main" id="{756CAF30-A209-4B13-9771-E2793DC0961D}"/>
              </a:ext>
            </a:extLst>
          </p:cNvPr>
          <p:cNvSpPr>
            <a:spLocks xmlns:a="http://schemas.openxmlformats.org/drawingml/2006/main" noGrp="1"/>
          </p:cNvSpPr>
          <p:nvPr/>
        </p:nvSpPr>
        <p:spPr>
          <a:xfrm xmlns:a="http://schemas.openxmlformats.org/drawingml/2006/main">
            <a:off x="2762250" y="3929063"/>
            <a:ext cx="95250" cy="95250"/>
          </a:xfrm>
          <a:prstGeom xmlns:a="http://schemas.openxmlformats.org/drawingml/2006/main" prst="ellipse">
            <a:avLst/>
          </a:prstGeom>
          <a:solidFill xmlns:a="http://schemas.openxmlformats.org/drawingml/2006/main">
            <a:srgbClr val="59616B"/>
          </a:solidFill>
          <a:ln xmlns:a="http://schemas.openxmlformats.org/drawingml/2006/main" w="9525">
            <a:solidFill>
              <a:srgbClr val="59616B"/>
            </a:solidFill>
          </a:ln>
        </p:spPr>
      </p:sp>
      <p:sp>
        <p:nvSpPr>
          <p:cNvPr id="135" name="adas-initial-injection.label-245">
            <a:extLst xmlns:a="http://schemas.openxmlformats.org/drawingml/2006/main">
              <a:ext uri="{FF2B5EF4-FFF2-40B4-BE49-F238E27FC236}">
                <a16:creationId xmlns:a16="http://schemas.microsoft.com/office/drawing/2014/main" id="{2F0C0F02-CA58-413F-81FC-F3CDACFC6C55}"/>
              </a:ext>
            </a:extLst>
          </p:cNvPr>
          <p:cNvSpPr>
            <a:spLocks xmlns:a="http://schemas.openxmlformats.org/drawingml/2006/main" noGrp="1"/>
          </p:cNvSpPr>
          <p:nvPr/>
        </p:nvSpPr>
        <p:spPr>
          <a:xfrm xmlns:a="http://schemas.openxmlformats.org/drawingml/2006/main">
            <a:off x="2600325" y="53340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59616B"/>
                </a:solidFill>
                <a:latin typeface="Arial"/>
                <a:ea typeface="Arial"/>
                <a:cs typeface="Arial"/>
              </a:defRPr>
            </a:pPr>
            <a:r>
              <a:rPr sz="1500" b="0">
                <a:solidFill>
                  <a:srgbClr val="59616B"/>
                </a:solidFill>
                <a:latin typeface="Arial"/>
                <a:ea typeface="Arial"/>
                <a:cs typeface="Arial"/>
              </a:rPr>
              <a:t>Y₀</a:t>
            </a:r>
          </a:p>
        </p:txBody>
      </p:sp>
      <p:sp>
        <p:nvSpPr>
          <p:cNvPr id="136" name="adas-initial-injection.label-246">
            <a:extLst xmlns:a="http://schemas.openxmlformats.org/drawingml/2006/main">
              <a:ext uri="{FF2B5EF4-FFF2-40B4-BE49-F238E27FC236}">
                <a16:creationId xmlns:a16="http://schemas.microsoft.com/office/drawing/2014/main" id="{50FDC18A-06A1-4BA9-BD2E-65A9648E94F8}"/>
              </a:ext>
            </a:extLst>
          </p:cNvPr>
          <p:cNvSpPr>
            <a:spLocks xmlns:a="http://schemas.openxmlformats.org/drawingml/2006/main" noGrp="1"/>
          </p:cNvSpPr>
          <p:nvPr/>
        </p:nvSpPr>
        <p:spPr>
          <a:xfrm xmlns:a="http://schemas.openxmlformats.org/drawingml/2006/main">
            <a:off x="619125" y="3843338"/>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9616B"/>
                </a:solidFill>
                <a:latin typeface="Arial"/>
                <a:ea typeface="Arial"/>
                <a:cs typeface="Arial"/>
              </a:defRPr>
            </a:pPr>
            <a:r>
              <a:rPr sz="1500" b="0">
                <a:solidFill>
                  <a:srgbClr val="59616B"/>
                </a:solidFill>
                <a:latin typeface="Arial"/>
                <a:ea typeface="Arial"/>
                <a:cs typeface="Arial"/>
              </a:rPr>
              <a:t>P₀</a:t>
            </a:r>
          </a:p>
        </p:txBody>
      </p:sp>
      <p:sp>
        <p:nvSpPr>
          <p:cNvPr id="137" name="adas-initial-injection.point-247">
            <a:extLst xmlns:a="http://schemas.openxmlformats.org/drawingml/2006/main">
              <a:ext uri="{FF2B5EF4-FFF2-40B4-BE49-F238E27FC236}">
                <a16:creationId xmlns:a16="http://schemas.microsoft.com/office/drawing/2014/main" id="{BDAADE6B-09AF-4522-AE5C-EE3A25B4B0C9}"/>
              </a:ext>
            </a:extLst>
          </p:cNvPr>
          <p:cNvSpPr>
            <a:spLocks xmlns:a="http://schemas.openxmlformats.org/drawingml/2006/main" noGrp="1"/>
          </p:cNvSpPr>
          <p:nvPr/>
        </p:nvSpPr>
        <p:spPr>
          <a:xfrm xmlns:a="http://schemas.openxmlformats.org/drawingml/2006/main">
            <a:off x="3119438" y="3679031"/>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38" name="adas-initial-injection.label-248">
            <a:extLst xmlns:a="http://schemas.openxmlformats.org/drawingml/2006/main">
              <a:ext uri="{FF2B5EF4-FFF2-40B4-BE49-F238E27FC236}">
                <a16:creationId xmlns:a16="http://schemas.microsoft.com/office/drawing/2014/main" id="{0ED2CEF2-DC5F-4CE4-8014-77F7E25F55EE}"/>
              </a:ext>
            </a:extLst>
          </p:cNvPr>
          <p:cNvSpPr>
            <a:spLocks xmlns:a="http://schemas.openxmlformats.org/drawingml/2006/main" noGrp="1"/>
          </p:cNvSpPr>
          <p:nvPr/>
        </p:nvSpPr>
        <p:spPr>
          <a:xfrm xmlns:a="http://schemas.openxmlformats.org/drawingml/2006/main">
            <a:off x="2957513" y="53340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3D85FF"/>
                </a:solidFill>
                <a:latin typeface="Arial"/>
                <a:ea typeface="Arial"/>
                <a:cs typeface="Arial"/>
              </a:defRPr>
            </a:pPr>
            <a:r>
              <a:rPr sz="1500" b="0">
                <a:solidFill>
                  <a:srgbClr val="3D85FF"/>
                </a:solidFill>
                <a:latin typeface="Arial"/>
                <a:ea typeface="Arial"/>
                <a:cs typeface="Arial"/>
              </a:rPr>
              <a:t>Y₁</a:t>
            </a:r>
          </a:p>
        </p:txBody>
      </p:sp>
      <p:sp>
        <p:nvSpPr>
          <p:cNvPr id="139" name="adas-initial-injection.label-249">
            <a:extLst xmlns:a="http://schemas.openxmlformats.org/drawingml/2006/main">
              <a:ext uri="{FF2B5EF4-FFF2-40B4-BE49-F238E27FC236}">
                <a16:creationId xmlns:a16="http://schemas.microsoft.com/office/drawing/2014/main" id="{9B7EB7F7-DF3C-41EC-93DD-184FFBEB1FFA}"/>
              </a:ext>
            </a:extLst>
          </p:cNvPr>
          <p:cNvSpPr>
            <a:spLocks xmlns:a="http://schemas.openxmlformats.org/drawingml/2006/main" noGrp="1"/>
          </p:cNvSpPr>
          <p:nvPr/>
        </p:nvSpPr>
        <p:spPr>
          <a:xfrm xmlns:a="http://schemas.openxmlformats.org/drawingml/2006/main">
            <a:off x="619125" y="3593306"/>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D85FF"/>
                </a:solidFill>
                <a:latin typeface="Arial"/>
                <a:ea typeface="Arial"/>
                <a:cs typeface="Arial"/>
              </a:defRPr>
            </a:pPr>
            <a:r>
              <a:rPr sz="1500" b="0">
                <a:solidFill>
                  <a:srgbClr val="3D85FF"/>
                </a:solidFill>
                <a:latin typeface="Arial"/>
                <a:ea typeface="Arial"/>
                <a:cs typeface="Arial"/>
              </a:rPr>
              <a:t>P₁</a:t>
            </a:r>
          </a:p>
        </p:txBody>
      </p:sp>
    </p:spTree>
    <p:extLst>
      <p:ext uri="{BB962C8B-B14F-4D97-AF65-F5344CB8AC3E}">
        <p14:creationId xmlns:p14="http://schemas.microsoft.com/office/powerpoint/2010/main" val="95412863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adas-multiplier-outcome.inherited-21">
            <a:extLst xmlns:a="http://schemas.openxmlformats.org/drawingml/2006/main">
              <a:ext uri="{FF2B5EF4-FFF2-40B4-BE49-F238E27FC236}">
                <a16:creationId xmlns:a16="http://schemas.microsoft.com/office/drawing/2014/main" id="{D2045BB7-12D4-4A8D-AF3B-0CD5956637C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Further spending raises AD again</a:t>
            </a:r>
          </a:p>
        </p:txBody>
      </p:sp>
      <p:sp>
        <p:nvSpPr>
          <p:cNvPr id="3" name="adas-multiplier-outcome.inherited-3">
            <a:extLst xmlns:a="http://schemas.openxmlformats.org/drawingml/2006/main">
              <a:ext uri="{FF2B5EF4-FFF2-40B4-BE49-F238E27FC236}">
                <a16:creationId xmlns:a16="http://schemas.microsoft.com/office/drawing/2014/main" id="{26FBDA1F-AB12-415C-A17F-BDCF2F6784E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adas-multiplier-outcome.inherited-4">
            <a:extLst xmlns:a="http://schemas.openxmlformats.org/drawingml/2006/main">
              <a:ext uri="{FF2B5EF4-FFF2-40B4-BE49-F238E27FC236}">
                <a16:creationId xmlns:a16="http://schemas.microsoft.com/office/drawing/2014/main" id="{F8B82AE8-57FB-4E22-9A4F-E4DBF6C0B7D9}"/>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41</a:t>
            </a:r>
          </a:p>
        </p:txBody>
      </p:sp>
      <p:cxnSp>
        <p:nvCxnSpPr>
          <p:cNvPr id="148" name="adas-multiplier-outcome.inherited-113"/>
          <p:cNvCxnSpPr/>
          <p:nvPr/>
        </p:nvCxnSpPr>
        <p:spPr>
          <a:xfrm xmlns:a="http://schemas.openxmlformats.org/drawingml/2006/main" flipH="0" flipV="0">
            <a:off x="952500" y="5238750"/>
            <a:ext cx="4953000" cy="95"/>
          </a:xfrm>
          <a:prstGeom xmlns:a="http://schemas.openxmlformats.org/drawingml/2006/main" prst="straightConnector1">
            <a:avLst/>
          </a:prstGeom>
          <a:ln xmlns:a="http://schemas.openxmlformats.org/drawingml/2006/main" w="19050">
            <a:solidFill>
              <a:srgbClr val="000000"/>
            </a:solidFill>
            <a:prstDash val="solid"/>
          </a:ln>
        </p:spPr>
      </p:cxnSp>
      <p:cxnSp>
        <p:nvCxnSpPr>
          <p:cNvPr id="149" name="adas-multiplier-outcome.inherited-114"/>
          <p:cNvCxnSpPr/>
          <p:nvPr/>
        </p:nvCxnSpPr>
        <p:spPr>
          <a:xfrm xmlns:a="http://schemas.openxmlformats.org/drawingml/2006/main" flipH="0" flipV="1">
            <a:off x="952500" y="1809750"/>
            <a:ext cx="95" cy="3429000"/>
          </a:xfrm>
          <a:prstGeom xmlns:a="http://schemas.openxmlformats.org/drawingml/2006/main" prst="straightConnector1">
            <a:avLst/>
          </a:prstGeom>
          <a:ln xmlns:a="http://schemas.openxmlformats.org/drawingml/2006/main" w="19050">
            <a:solidFill>
              <a:srgbClr val="000000"/>
            </a:solidFill>
            <a:prstDash val="solid"/>
          </a:ln>
        </p:spPr>
      </p:cxnSp>
      <p:cxnSp>
        <p:nvCxnSpPr>
          <p:cNvPr id="150" name="adas-multiplier-outcome.inherited-115"/>
          <p:cNvCxnSpPr/>
          <p:nvPr/>
        </p:nvCxnSpPr>
        <p:spPr>
          <a:xfrm xmlns:a="http://schemas.openxmlformats.org/drawingml/2006/main" flipH="0" flipV="1">
            <a:off x="1333500" y="2209800"/>
            <a:ext cx="4000500" cy="2800350"/>
          </a:xfrm>
          <a:prstGeom xmlns:a="http://schemas.openxmlformats.org/drawingml/2006/main" prst="straightConnector1">
            <a:avLst/>
          </a:prstGeom>
          <a:ln xmlns:a="http://schemas.openxmlformats.org/drawingml/2006/main" w="38100">
            <a:solidFill>
              <a:srgbClr val="F56859"/>
            </a:solidFill>
            <a:prstDash val="solid"/>
          </a:ln>
        </p:spPr>
      </p:cxnSp>
      <p:cxnSp>
        <p:nvCxnSpPr>
          <p:cNvPr id="151" name="adas-multiplier-outcome.inherited-116"/>
          <p:cNvCxnSpPr/>
          <p:nvPr/>
        </p:nvCxnSpPr>
        <p:spPr>
          <a:xfrm xmlns:a="http://schemas.openxmlformats.org/drawingml/2006/main" flipH="0" flipV="0">
            <a:off x="1333500" y="3238500"/>
            <a:ext cx="3619500" cy="1809750"/>
          </a:xfrm>
          <a:prstGeom xmlns:a="http://schemas.openxmlformats.org/drawingml/2006/main" prst="straightConnector1">
            <a:avLst/>
          </a:prstGeom>
          <a:ln xmlns:a="http://schemas.openxmlformats.org/drawingml/2006/main" w="28575">
            <a:solidFill>
              <a:srgbClr val="B6BBC2"/>
            </a:solidFill>
            <a:prstDash val="solid"/>
          </a:ln>
        </p:spPr>
      </p:cxnSp>
      <p:cxnSp>
        <p:nvCxnSpPr>
          <p:cNvPr id="152" name="adas-multiplier-outcome.inherited-117"/>
          <p:cNvCxnSpPr/>
          <p:nvPr/>
        </p:nvCxnSpPr>
        <p:spPr>
          <a:xfrm xmlns:a="http://schemas.openxmlformats.org/drawingml/2006/main" flipH="0" flipV="0">
            <a:off x="1333500" y="2809875"/>
            <a:ext cx="3619500" cy="1809750"/>
          </a:xfrm>
          <a:prstGeom xmlns:a="http://schemas.openxmlformats.org/drawingml/2006/main" prst="straightConnector1">
            <a:avLst/>
          </a:prstGeom>
          <a:ln xmlns:a="http://schemas.openxmlformats.org/drawingml/2006/main" w="28575">
            <a:solidFill>
              <a:srgbClr val="3D85FF"/>
            </a:solidFill>
            <a:prstDash val="solid"/>
          </a:ln>
        </p:spPr>
      </p:cxnSp>
      <p:cxnSp>
        <p:nvCxnSpPr>
          <p:cNvPr id="153" name="adas-multiplier-outcome.inherited-118"/>
          <p:cNvCxnSpPr/>
          <p:nvPr/>
        </p:nvCxnSpPr>
        <p:spPr>
          <a:xfrm xmlns:a="http://schemas.openxmlformats.org/drawingml/2006/main" flipH="0" flipV="0">
            <a:off x="1333500" y="2381250"/>
            <a:ext cx="3619500" cy="1809750"/>
          </a:xfrm>
          <a:prstGeom xmlns:a="http://schemas.openxmlformats.org/drawingml/2006/main" prst="straightConnector1">
            <a:avLst/>
          </a:prstGeom>
          <a:ln xmlns:a="http://schemas.openxmlformats.org/drawingml/2006/main" w="28575">
            <a:solidFill>
              <a:srgbClr val="249F6B"/>
            </a:solidFill>
            <a:prstDash val="solid"/>
          </a:ln>
        </p:spPr>
      </p:cxnSp>
      <p:cxnSp>
        <p:nvCxnSpPr>
          <p:cNvPr id="154" name="adas-multiplier-outcome.inherited-119"/>
          <p:cNvCxnSpPr/>
          <p:nvPr/>
        </p:nvCxnSpPr>
        <p:spPr>
          <a:xfrm xmlns:a="http://schemas.openxmlformats.org/drawingml/2006/main">
            <a:off x="2428875" y="2238375"/>
            <a:ext cx="3524250" cy="1714500"/>
          </a:xfrm>
          <a:prstGeom xmlns:a="http://schemas.openxmlformats.org/drawingml/2006/main" prst="straightConnector1">
            <a:avLst/>
          </a:prstGeom>
          <a:ln xmlns:a="http://schemas.openxmlformats.org/drawingml/2006/main" w="0">
            <a:noFill/>
          </a:ln>
        </p:spPr>
      </p:cxnSp>
      <p:sp>
        <p:nvSpPr>
          <p:cNvPr id="12" name="adas-multiplier-outcome.inherited-12">
            <a:extLst xmlns:a="http://schemas.openxmlformats.org/drawingml/2006/main">
              <a:ext uri="{FF2B5EF4-FFF2-40B4-BE49-F238E27FC236}">
                <a16:creationId xmlns:a16="http://schemas.microsoft.com/office/drawing/2014/main" id="{8B9F1143-030A-464B-80B7-7C09B7A34299}"/>
              </a:ext>
            </a:extLst>
          </p:cNvPr>
          <p:cNvSpPr>
            <a:spLocks xmlns:a="http://schemas.openxmlformats.org/drawingml/2006/main" noGrp="1"/>
          </p:cNvSpPr>
          <p:nvPr/>
        </p:nvSpPr>
        <p:spPr>
          <a:xfrm xmlns:a="http://schemas.openxmlformats.org/drawingml/2006/main">
            <a:off x="619125" y="13525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Price level</a:t>
            </a:r>
          </a:p>
        </p:txBody>
      </p:sp>
      <p:sp>
        <p:nvSpPr>
          <p:cNvPr id="13" name="adas-multiplier-outcome.inherited-13">
            <a:extLst xmlns:a="http://schemas.openxmlformats.org/drawingml/2006/main">
              <a:ext uri="{FF2B5EF4-FFF2-40B4-BE49-F238E27FC236}">
                <a16:creationId xmlns:a16="http://schemas.microsoft.com/office/drawing/2014/main" id="{59A0D291-DB4A-40A7-9E80-E37033D9A2AF}"/>
              </a:ext>
            </a:extLst>
          </p:cNvPr>
          <p:cNvSpPr>
            <a:spLocks xmlns:a="http://schemas.openxmlformats.org/drawingml/2006/main" noGrp="1"/>
          </p:cNvSpPr>
          <p:nvPr/>
        </p:nvSpPr>
        <p:spPr>
          <a:xfrm xmlns:a="http://schemas.openxmlformats.org/drawingml/2006/main">
            <a:off x="4238625" y="5657850"/>
            <a:ext cx="1666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adas-multiplier-outcome.inherited-14">
            <a:extLst xmlns:a="http://schemas.openxmlformats.org/drawingml/2006/main">
              <a:ext uri="{FF2B5EF4-FFF2-40B4-BE49-F238E27FC236}">
                <a16:creationId xmlns:a16="http://schemas.microsoft.com/office/drawing/2014/main" id="{7ACC0ADE-82F3-4BB9-95AE-8CCC9234F00B}"/>
              </a:ext>
            </a:extLst>
          </p:cNvPr>
          <p:cNvSpPr>
            <a:spLocks xmlns:a="http://schemas.openxmlformats.org/drawingml/2006/main" noGrp="1"/>
          </p:cNvSpPr>
          <p:nvPr/>
        </p:nvSpPr>
        <p:spPr>
          <a:xfrm xmlns:a="http://schemas.openxmlformats.org/drawingml/2006/main">
            <a:off x="5381625" y="20097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500" b="1" i="0">
                <a:solidFill>
                  <a:srgbClr val="F26B5B"/>
                </a:solidFill>
                <a:latin typeface="Arial"/>
                <a:ea typeface="Arial"/>
                <a:cs typeface="Arial"/>
              </a:defRPr>
            </a:pPr>
            <a:r>
              <a:rPr sz="1500" b="1" i="0">
                <a:solidFill>
                  <a:srgbClr val="F26B5B"/>
                </a:solidFill>
                <a:latin typeface="Arial"/>
                <a:ea typeface="Arial"/>
                <a:cs typeface="Arial"/>
              </a:rPr>
              <a:t>SRAS</a:t>
            </a:r>
          </a:p>
        </p:txBody>
      </p:sp>
      <p:sp>
        <p:nvSpPr>
          <p:cNvPr id="15" name="adas-multiplier-outcome.inherited-15">
            <a:extLst xmlns:a="http://schemas.openxmlformats.org/drawingml/2006/main">
              <a:ext uri="{FF2B5EF4-FFF2-40B4-BE49-F238E27FC236}">
                <a16:creationId xmlns:a16="http://schemas.microsoft.com/office/drawing/2014/main" id="{3ED3C4C7-FD30-4672-8CAA-DFB2561EDE3B}"/>
              </a:ext>
            </a:extLst>
          </p:cNvPr>
          <p:cNvSpPr>
            <a:spLocks xmlns:a="http://schemas.openxmlformats.org/drawingml/2006/main" noGrp="1"/>
          </p:cNvSpPr>
          <p:nvPr/>
        </p:nvSpPr>
        <p:spPr>
          <a:xfrm xmlns:a="http://schemas.openxmlformats.org/drawingml/2006/main">
            <a:off x="5095875" y="48672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59616B"/>
                </a:solidFill>
                <a:latin typeface="Arial"/>
                <a:ea typeface="Arial"/>
                <a:cs typeface="Arial"/>
              </a:defRPr>
            </a:pPr>
            <a:r>
              <a:rPr sz="1350" b="0" i="0">
                <a:solidFill>
                  <a:srgbClr val="59616B"/>
                </a:solidFill>
                <a:latin typeface="Arial"/>
                <a:ea typeface="Arial"/>
                <a:cs typeface="Arial"/>
              </a:rPr>
              <a:t>AD₀</a:t>
            </a:r>
          </a:p>
        </p:txBody>
      </p:sp>
      <p:sp>
        <p:nvSpPr>
          <p:cNvPr id="16" name="adas-multiplier-outcome.inherited-16">
            <a:extLst xmlns:a="http://schemas.openxmlformats.org/drawingml/2006/main">
              <a:ext uri="{FF2B5EF4-FFF2-40B4-BE49-F238E27FC236}">
                <a16:creationId xmlns:a16="http://schemas.microsoft.com/office/drawing/2014/main" id="{8C5A9764-29A7-4DAF-9276-67FCADB8AE37}"/>
              </a:ext>
            </a:extLst>
          </p:cNvPr>
          <p:cNvSpPr>
            <a:spLocks xmlns:a="http://schemas.openxmlformats.org/drawingml/2006/main" noGrp="1"/>
          </p:cNvSpPr>
          <p:nvPr/>
        </p:nvSpPr>
        <p:spPr>
          <a:xfrm xmlns:a="http://schemas.openxmlformats.org/drawingml/2006/main">
            <a:off x="5095875" y="44386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3D8DFF"/>
                </a:solidFill>
                <a:latin typeface="Arial"/>
                <a:ea typeface="Arial"/>
                <a:cs typeface="Arial"/>
              </a:defRPr>
            </a:pPr>
            <a:r>
              <a:rPr sz="1350" b="0" i="0">
                <a:solidFill>
                  <a:srgbClr val="3D8DFF"/>
                </a:solidFill>
                <a:latin typeface="Arial"/>
                <a:ea typeface="Arial"/>
                <a:cs typeface="Arial"/>
              </a:rPr>
              <a:t>AD₁</a:t>
            </a:r>
          </a:p>
        </p:txBody>
      </p:sp>
      <p:sp>
        <p:nvSpPr>
          <p:cNvPr id="17" name="adas-multiplier-outcome.inherited-17">
            <a:extLst xmlns:a="http://schemas.openxmlformats.org/drawingml/2006/main">
              <a:ext uri="{FF2B5EF4-FFF2-40B4-BE49-F238E27FC236}">
                <a16:creationId xmlns:a16="http://schemas.microsoft.com/office/drawing/2014/main" id="{9883FD48-CA3E-497D-917C-EB84D05195A9}"/>
              </a:ext>
            </a:extLst>
          </p:cNvPr>
          <p:cNvSpPr>
            <a:spLocks xmlns:a="http://schemas.openxmlformats.org/drawingml/2006/main" noGrp="1"/>
          </p:cNvSpPr>
          <p:nvPr/>
        </p:nvSpPr>
        <p:spPr>
          <a:xfrm xmlns:a="http://schemas.openxmlformats.org/drawingml/2006/main">
            <a:off x="5095875" y="401002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350" b="0" i="0">
                <a:solidFill>
                  <a:srgbClr val="2B9A66"/>
                </a:solidFill>
                <a:latin typeface="Arial"/>
                <a:ea typeface="Arial"/>
                <a:cs typeface="Arial"/>
              </a:defRPr>
            </a:pPr>
            <a:r>
              <a:rPr sz="1350" b="0" i="0">
                <a:solidFill>
                  <a:srgbClr val="2B9A66"/>
                </a:solidFill>
                <a:latin typeface="Arial"/>
                <a:ea typeface="Arial"/>
                <a:cs typeface="Arial"/>
              </a:rPr>
              <a:t>AD₂</a:t>
            </a:r>
          </a:p>
        </p:txBody>
      </p:sp>
      <p:sp>
        <p:nvSpPr>
          <p:cNvPr id="18" name="adas-multiplier-outcome.inherited-18">
            <a:extLst xmlns:a="http://schemas.openxmlformats.org/drawingml/2006/main">
              <a:ext uri="{FF2B5EF4-FFF2-40B4-BE49-F238E27FC236}">
                <a16:creationId xmlns:a16="http://schemas.microsoft.com/office/drawing/2014/main" id="{6024C9A4-1093-4A00-B28C-DE2BFC16A4DB}"/>
              </a:ext>
            </a:extLst>
          </p:cNvPr>
          <p:cNvSpPr>
            <a:spLocks xmlns:a="http://schemas.openxmlformats.org/drawingml/2006/main" noGrp="1"/>
          </p:cNvSpPr>
          <p:nvPr/>
        </p:nvSpPr>
        <p:spPr>
          <a:xfrm xmlns:a="http://schemas.openxmlformats.org/drawingml/2006/main">
            <a:off x="6667500" y="1666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NOW ADD THE MULTIPLIER</a:t>
            </a:r>
          </a:p>
        </p:txBody>
      </p:sp>
      <p:sp>
        <p:nvSpPr>
          <p:cNvPr id="19" name="adas-multiplier-outcome.inherited-19">
            <a:extLst xmlns:a="http://schemas.openxmlformats.org/drawingml/2006/main">
              <a:ext uri="{FF2B5EF4-FFF2-40B4-BE49-F238E27FC236}">
                <a16:creationId xmlns:a16="http://schemas.microsoft.com/office/drawing/2014/main" id="{28F362A0-8F74-4007-A603-7BECAB47FA3B}"/>
              </a:ext>
            </a:extLst>
          </p:cNvPr>
          <p:cNvSpPr>
            <a:spLocks xmlns:a="http://schemas.openxmlformats.org/drawingml/2006/main" noGrp="1"/>
          </p:cNvSpPr>
          <p:nvPr/>
        </p:nvSpPr>
        <p:spPr>
          <a:xfrm xmlns:a="http://schemas.openxmlformats.org/drawingml/2006/main">
            <a:off x="6667500" y="2190750"/>
            <a:ext cx="4572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Extra income induces consumption, shifting AD further to AD₂.</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AD₂ summarises the later spending rounds.</a:t>
            </a:r>
          </a:p>
          <a:p xmlns:a="http://schemas.openxmlformats.org/drawingml/2006/main">
            <a:pPr algn="l">
              <a:buNone/>
              <a:defRPr sz="1875" b="0" i="0">
                <a:solidFill>
                  <a:srgbClr val="000000"/>
                </a:solidFill>
                <a:latin typeface="Arial"/>
                <a:ea typeface="Arial"/>
                <a:cs typeface="Arial"/>
              </a:defRPr>
            </a:pPr>
            <a:r>
              <a:rPr sz="1875" b="0" i="0">
                <a:solidFill>
                  <a:srgbClr val="000000"/>
                </a:solidFill>
                <a:latin typeface="Arial"/>
                <a:ea typeface="Arial"/>
                <a:cs typeface="Arial"/>
              </a:rPr>
              <a:t>• Rising prices can limit the increase in real output.</a:t>
            </a:r>
          </a:p>
        </p:txBody>
      </p:sp>
      <p:sp>
        <p:nvSpPr>
          <p:cNvPr id="20" name="adas-multiplier-outcome.inherited-20">
            <a:extLst xmlns:a="http://schemas.openxmlformats.org/drawingml/2006/main">
              <a:ext uri="{FF2B5EF4-FFF2-40B4-BE49-F238E27FC236}">
                <a16:creationId xmlns:a16="http://schemas.microsoft.com/office/drawing/2014/main" id="{DD7F7F05-9B40-411B-82A3-A6686DA8D6C6}"/>
              </a:ext>
            </a:extLst>
          </p:cNvPr>
          <p:cNvSpPr>
            <a:spLocks xmlns:a="http://schemas.openxmlformats.org/drawingml/2006/main" noGrp="1"/>
          </p:cNvSpPr>
          <p:nvPr/>
        </p:nvSpPr>
        <p:spPr>
          <a:xfrm xmlns:a="http://schemas.openxmlformats.org/drawingml/2006/main">
            <a:off x="6286500" y="533400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The fixed-price multiplier is not a guaranteed rise in real GDP.</a:t>
            </a:r>
          </a:p>
        </p:txBody>
      </p:sp>
      <p:sp>
        <p:nvSpPr>
          <p:cNvPr id="130" name="adas-multiplier-outcome.guide-250">
            <a:extLst xmlns:a="http://schemas.openxmlformats.org/drawingml/2006/main">
              <a:ext uri="{FF2B5EF4-FFF2-40B4-BE49-F238E27FC236}">
                <a16:creationId xmlns:a16="http://schemas.microsoft.com/office/drawing/2014/main" id="{4C53764E-6CB1-4465-B87A-2412A25EFC2B}"/>
              </a:ext>
            </a:extLst>
          </p:cNvPr>
          <p:cNvSpPr>
            <a:spLocks xmlns:a="http://schemas.openxmlformats.org/drawingml/2006/main" noGrp="1"/>
          </p:cNvSpPr>
          <p:nvPr/>
        </p:nvSpPr>
        <p:spPr>
          <a:xfrm xmlns:a="http://schemas.openxmlformats.org/drawingml/2006/main" flipH="0" flipV="1">
            <a:off x="2809875" y="3976688"/>
            <a:ext cx="95" cy="1262063"/>
          </a:xfrm>
          <a:prstGeom xmlns:a="http://schemas.openxmlformats.org/drawingml/2006/main" prst="line">
            <a:avLst/>
          </a:prstGeom>
          <a:noFill xmlns:a="http://schemas.openxmlformats.org/drawingml/2006/main"/>
          <a:ln xmlns:a="http://schemas.openxmlformats.org/drawingml/2006/main" w="11430">
            <a:solidFill>
              <a:srgbClr val="59616B"/>
            </a:solidFill>
            <a:prstDash val="dash"/>
          </a:ln>
        </p:spPr>
      </p:sp>
      <p:sp>
        <p:nvSpPr>
          <p:cNvPr id="131" name="adas-multiplier-outcome.guide-251">
            <a:extLst xmlns:a="http://schemas.openxmlformats.org/drawingml/2006/main">
              <a:ext uri="{FF2B5EF4-FFF2-40B4-BE49-F238E27FC236}">
                <a16:creationId xmlns:a16="http://schemas.microsoft.com/office/drawing/2014/main" id="{DEFE5F8C-598B-44CD-BCE7-B076503BBC53}"/>
              </a:ext>
            </a:extLst>
          </p:cNvPr>
          <p:cNvSpPr>
            <a:spLocks xmlns:a="http://schemas.openxmlformats.org/drawingml/2006/main" noGrp="1"/>
          </p:cNvSpPr>
          <p:nvPr/>
        </p:nvSpPr>
        <p:spPr>
          <a:xfrm xmlns:a="http://schemas.openxmlformats.org/drawingml/2006/main" flipH="0" flipV="0">
            <a:off x="952500" y="3976688"/>
            <a:ext cx="1857375" cy="95"/>
          </a:xfrm>
          <a:prstGeom xmlns:a="http://schemas.openxmlformats.org/drawingml/2006/main" prst="line">
            <a:avLst/>
          </a:prstGeom>
          <a:noFill xmlns:a="http://schemas.openxmlformats.org/drawingml/2006/main"/>
          <a:ln xmlns:a="http://schemas.openxmlformats.org/drawingml/2006/main" w="11430">
            <a:solidFill>
              <a:srgbClr val="59616B"/>
            </a:solidFill>
            <a:prstDash val="dash"/>
          </a:ln>
        </p:spPr>
      </p:sp>
      <p:sp>
        <p:nvSpPr>
          <p:cNvPr id="132" name="adas-multiplier-outcome.guide-252">
            <a:extLst xmlns:a="http://schemas.openxmlformats.org/drawingml/2006/main">
              <a:ext uri="{FF2B5EF4-FFF2-40B4-BE49-F238E27FC236}">
                <a16:creationId xmlns:a16="http://schemas.microsoft.com/office/drawing/2014/main" id="{7C3DBA2B-32EF-486E-BB8B-103596FE5B67}"/>
              </a:ext>
            </a:extLst>
          </p:cNvPr>
          <p:cNvSpPr>
            <a:spLocks xmlns:a="http://schemas.openxmlformats.org/drawingml/2006/main" noGrp="1"/>
          </p:cNvSpPr>
          <p:nvPr/>
        </p:nvSpPr>
        <p:spPr>
          <a:xfrm xmlns:a="http://schemas.openxmlformats.org/drawingml/2006/main" flipH="0" flipV="1">
            <a:off x="3167063" y="3726656"/>
            <a:ext cx="95" cy="1512094"/>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33" name="adas-multiplier-outcome.guide-253">
            <a:extLst xmlns:a="http://schemas.openxmlformats.org/drawingml/2006/main">
              <a:ext uri="{FF2B5EF4-FFF2-40B4-BE49-F238E27FC236}">
                <a16:creationId xmlns:a16="http://schemas.microsoft.com/office/drawing/2014/main" id="{54CAD4F5-18D8-413D-8C7D-0D2B815F6C06}"/>
              </a:ext>
            </a:extLst>
          </p:cNvPr>
          <p:cNvSpPr>
            <a:spLocks xmlns:a="http://schemas.openxmlformats.org/drawingml/2006/main" noGrp="1"/>
          </p:cNvSpPr>
          <p:nvPr/>
        </p:nvSpPr>
        <p:spPr>
          <a:xfrm xmlns:a="http://schemas.openxmlformats.org/drawingml/2006/main" flipH="0" flipV="0">
            <a:off x="952500" y="3726656"/>
            <a:ext cx="2214563" cy="95"/>
          </a:xfrm>
          <a:prstGeom xmlns:a="http://schemas.openxmlformats.org/drawingml/2006/main" prst="line">
            <a:avLst/>
          </a:prstGeom>
          <a:noFill xmlns:a="http://schemas.openxmlformats.org/drawingml/2006/main"/>
          <a:ln xmlns:a="http://schemas.openxmlformats.org/drawingml/2006/main" w="11430">
            <a:solidFill>
              <a:srgbClr val="3D85FF"/>
            </a:solidFill>
            <a:prstDash val="dash"/>
          </a:ln>
        </p:spPr>
      </p:sp>
      <p:sp>
        <p:nvSpPr>
          <p:cNvPr id="134" name="adas-multiplier-outcome.guide-254">
            <a:extLst xmlns:a="http://schemas.openxmlformats.org/drawingml/2006/main">
              <a:ext uri="{FF2B5EF4-FFF2-40B4-BE49-F238E27FC236}">
                <a16:creationId xmlns:a16="http://schemas.microsoft.com/office/drawing/2014/main" id="{ADDE614A-461D-4F03-AE89-B0D16B8094ED}"/>
              </a:ext>
            </a:extLst>
          </p:cNvPr>
          <p:cNvSpPr>
            <a:spLocks xmlns:a="http://schemas.openxmlformats.org/drawingml/2006/main" noGrp="1"/>
          </p:cNvSpPr>
          <p:nvPr/>
        </p:nvSpPr>
        <p:spPr>
          <a:xfrm xmlns:a="http://schemas.openxmlformats.org/drawingml/2006/main" flipH="0" flipV="1">
            <a:off x="3524250" y="3476625"/>
            <a:ext cx="95" cy="1762125"/>
          </a:xfrm>
          <a:prstGeom xmlns:a="http://schemas.openxmlformats.org/drawingml/2006/main" prst="line">
            <a:avLst/>
          </a:prstGeom>
          <a:noFill xmlns:a="http://schemas.openxmlformats.org/drawingml/2006/main"/>
          <a:ln xmlns:a="http://schemas.openxmlformats.org/drawingml/2006/main" w="11430">
            <a:solidFill>
              <a:srgbClr val="249F6B"/>
            </a:solidFill>
            <a:prstDash val="dash"/>
          </a:ln>
        </p:spPr>
      </p:sp>
      <p:sp>
        <p:nvSpPr>
          <p:cNvPr id="135" name="adas-multiplier-outcome.guide-255">
            <a:extLst xmlns:a="http://schemas.openxmlformats.org/drawingml/2006/main">
              <a:ext uri="{FF2B5EF4-FFF2-40B4-BE49-F238E27FC236}">
                <a16:creationId xmlns:a16="http://schemas.microsoft.com/office/drawing/2014/main" id="{A7143B8F-87AA-496E-A7EF-5F0BADF85519}"/>
              </a:ext>
            </a:extLst>
          </p:cNvPr>
          <p:cNvSpPr>
            <a:spLocks xmlns:a="http://schemas.openxmlformats.org/drawingml/2006/main" noGrp="1"/>
          </p:cNvSpPr>
          <p:nvPr/>
        </p:nvSpPr>
        <p:spPr>
          <a:xfrm xmlns:a="http://schemas.openxmlformats.org/drawingml/2006/main" flipH="0" flipV="0">
            <a:off x="952500" y="3476625"/>
            <a:ext cx="2571750" cy="95"/>
          </a:xfrm>
          <a:prstGeom xmlns:a="http://schemas.openxmlformats.org/drawingml/2006/main" prst="line">
            <a:avLst/>
          </a:prstGeom>
          <a:noFill xmlns:a="http://schemas.openxmlformats.org/drawingml/2006/main"/>
          <a:ln xmlns:a="http://schemas.openxmlformats.org/drawingml/2006/main" w="11430">
            <a:solidFill>
              <a:srgbClr val="249F6B"/>
            </a:solidFill>
            <a:prstDash val="dash"/>
          </a:ln>
        </p:spPr>
      </p:sp>
      <p:sp>
        <p:nvSpPr>
          <p:cNvPr id="136" name="adas-multiplier-outcome.point-256">
            <a:extLst xmlns:a="http://schemas.openxmlformats.org/drawingml/2006/main">
              <a:ext uri="{FF2B5EF4-FFF2-40B4-BE49-F238E27FC236}">
                <a16:creationId xmlns:a16="http://schemas.microsoft.com/office/drawing/2014/main" id="{8FBED5C2-317D-4541-9BDF-56F4C8E361CF}"/>
              </a:ext>
            </a:extLst>
          </p:cNvPr>
          <p:cNvSpPr>
            <a:spLocks xmlns:a="http://schemas.openxmlformats.org/drawingml/2006/main" noGrp="1"/>
          </p:cNvSpPr>
          <p:nvPr/>
        </p:nvSpPr>
        <p:spPr>
          <a:xfrm xmlns:a="http://schemas.openxmlformats.org/drawingml/2006/main">
            <a:off x="2762250" y="3929063"/>
            <a:ext cx="95250" cy="95250"/>
          </a:xfrm>
          <a:prstGeom xmlns:a="http://schemas.openxmlformats.org/drawingml/2006/main" prst="ellipse">
            <a:avLst/>
          </a:prstGeom>
          <a:solidFill xmlns:a="http://schemas.openxmlformats.org/drawingml/2006/main">
            <a:srgbClr val="59616B"/>
          </a:solidFill>
          <a:ln xmlns:a="http://schemas.openxmlformats.org/drawingml/2006/main" w="9525">
            <a:solidFill>
              <a:srgbClr val="59616B"/>
            </a:solidFill>
          </a:ln>
        </p:spPr>
      </p:sp>
      <p:sp>
        <p:nvSpPr>
          <p:cNvPr id="137" name="adas-multiplier-outcome.label-257">
            <a:extLst xmlns:a="http://schemas.openxmlformats.org/drawingml/2006/main">
              <a:ext uri="{FF2B5EF4-FFF2-40B4-BE49-F238E27FC236}">
                <a16:creationId xmlns:a16="http://schemas.microsoft.com/office/drawing/2014/main" id="{BBB75D2A-0251-4746-926F-68CE5DDDF132}"/>
              </a:ext>
            </a:extLst>
          </p:cNvPr>
          <p:cNvSpPr>
            <a:spLocks xmlns:a="http://schemas.openxmlformats.org/drawingml/2006/main" noGrp="1"/>
          </p:cNvSpPr>
          <p:nvPr/>
        </p:nvSpPr>
        <p:spPr>
          <a:xfrm xmlns:a="http://schemas.openxmlformats.org/drawingml/2006/main">
            <a:off x="2600325" y="53340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59616B"/>
                </a:solidFill>
                <a:latin typeface="Arial"/>
                <a:ea typeface="Arial"/>
                <a:cs typeface="Arial"/>
              </a:defRPr>
            </a:pPr>
            <a:r>
              <a:rPr sz="1500" b="0">
                <a:solidFill>
                  <a:srgbClr val="59616B"/>
                </a:solidFill>
                <a:latin typeface="Arial"/>
                <a:ea typeface="Arial"/>
                <a:cs typeface="Arial"/>
              </a:rPr>
              <a:t>Y₀</a:t>
            </a:r>
          </a:p>
        </p:txBody>
      </p:sp>
      <p:sp>
        <p:nvSpPr>
          <p:cNvPr id="138" name="adas-multiplier-outcome.label-258">
            <a:extLst xmlns:a="http://schemas.openxmlformats.org/drawingml/2006/main">
              <a:ext uri="{FF2B5EF4-FFF2-40B4-BE49-F238E27FC236}">
                <a16:creationId xmlns:a16="http://schemas.microsoft.com/office/drawing/2014/main" id="{35BBE3FB-47FC-4DA1-A0DE-95F907594882}"/>
              </a:ext>
            </a:extLst>
          </p:cNvPr>
          <p:cNvSpPr>
            <a:spLocks xmlns:a="http://schemas.openxmlformats.org/drawingml/2006/main" noGrp="1"/>
          </p:cNvSpPr>
          <p:nvPr/>
        </p:nvSpPr>
        <p:spPr>
          <a:xfrm xmlns:a="http://schemas.openxmlformats.org/drawingml/2006/main">
            <a:off x="619125" y="3843338"/>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9616B"/>
                </a:solidFill>
                <a:latin typeface="Arial"/>
                <a:ea typeface="Arial"/>
                <a:cs typeface="Arial"/>
              </a:defRPr>
            </a:pPr>
            <a:r>
              <a:rPr sz="1500" b="0">
                <a:solidFill>
                  <a:srgbClr val="59616B"/>
                </a:solidFill>
                <a:latin typeface="Arial"/>
                <a:ea typeface="Arial"/>
                <a:cs typeface="Arial"/>
              </a:rPr>
              <a:t>P₀</a:t>
            </a:r>
          </a:p>
        </p:txBody>
      </p:sp>
      <p:sp>
        <p:nvSpPr>
          <p:cNvPr id="139" name="adas-multiplier-outcome.point-259">
            <a:extLst xmlns:a="http://schemas.openxmlformats.org/drawingml/2006/main">
              <a:ext uri="{FF2B5EF4-FFF2-40B4-BE49-F238E27FC236}">
                <a16:creationId xmlns:a16="http://schemas.microsoft.com/office/drawing/2014/main" id="{99FDDFE6-2BE3-4586-83F6-C51313C6A86B}"/>
              </a:ext>
            </a:extLst>
          </p:cNvPr>
          <p:cNvSpPr>
            <a:spLocks xmlns:a="http://schemas.openxmlformats.org/drawingml/2006/main" noGrp="1"/>
          </p:cNvSpPr>
          <p:nvPr/>
        </p:nvSpPr>
        <p:spPr>
          <a:xfrm xmlns:a="http://schemas.openxmlformats.org/drawingml/2006/main">
            <a:off x="3119438" y="3679031"/>
            <a:ext cx="95250" cy="95250"/>
          </a:xfrm>
          <a:prstGeom xmlns:a="http://schemas.openxmlformats.org/drawingml/2006/main" prst="ellipse">
            <a:avLst/>
          </a:prstGeom>
          <a:solidFill xmlns:a="http://schemas.openxmlformats.org/drawingml/2006/main">
            <a:srgbClr val="3D85FF"/>
          </a:solidFill>
          <a:ln xmlns:a="http://schemas.openxmlformats.org/drawingml/2006/main" w="9525">
            <a:solidFill>
              <a:srgbClr val="3D85FF"/>
            </a:solidFill>
          </a:ln>
        </p:spPr>
      </p:sp>
      <p:sp>
        <p:nvSpPr>
          <p:cNvPr id="140" name="adas-multiplier-outcome.label-260">
            <a:extLst xmlns:a="http://schemas.openxmlformats.org/drawingml/2006/main">
              <a:ext uri="{FF2B5EF4-FFF2-40B4-BE49-F238E27FC236}">
                <a16:creationId xmlns:a16="http://schemas.microsoft.com/office/drawing/2014/main" id="{4AA940E7-59A8-4D14-B774-CAEBA0EDC6FB}"/>
              </a:ext>
            </a:extLst>
          </p:cNvPr>
          <p:cNvSpPr>
            <a:spLocks xmlns:a="http://schemas.openxmlformats.org/drawingml/2006/main" noGrp="1"/>
          </p:cNvSpPr>
          <p:nvPr/>
        </p:nvSpPr>
        <p:spPr>
          <a:xfrm xmlns:a="http://schemas.openxmlformats.org/drawingml/2006/main">
            <a:off x="2957513" y="53340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3D85FF"/>
                </a:solidFill>
                <a:latin typeface="Arial"/>
                <a:ea typeface="Arial"/>
                <a:cs typeface="Arial"/>
              </a:defRPr>
            </a:pPr>
            <a:r>
              <a:rPr sz="1500" b="0">
                <a:solidFill>
                  <a:srgbClr val="3D85FF"/>
                </a:solidFill>
                <a:latin typeface="Arial"/>
                <a:ea typeface="Arial"/>
                <a:cs typeface="Arial"/>
              </a:rPr>
              <a:t>Y₁</a:t>
            </a:r>
          </a:p>
        </p:txBody>
      </p:sp>
      <p:sp>
        <p:nvSpPr>
          <p:cNvPr id="141" name="adas-multiplier-outcome.label-261">
            <a:extLst xmlns:a="http://schemas.openxmlformats.org/drawingml/2006/main">
              <a:ext uri="{FF2B5EF4-FFF2-40B4-BE49-F238E27FC236}">
                <a16:creationId xmlns:a16="http://schemas.microsoft.com/office/drawing/2014/main" id="{3299FAA1-8465-4688-9EFB-62F312B579D2}"/>
              </a:ext>
            </a:extLst>
          </p:cNvPr>
          <p:cNvSpPr>
            <a:spLocks xmlns:a="http://schemas.openxmlformats.org/drawingml/2006/main" noGrp="1"/>
          </p:cNvSpPr>
          <p:nvPr/>
        </p:nvSpPr>
        <p:spPr>
          <a:xfrm xmlns:a="http://schemas.openxmlformats.org/drawingml/2006/main">
            <a:off x="619125" y="3593306"/>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D85FF"/>
                </a:solidFill>
                <a:latin typeface="Arial"/>
                <a:ea typeface="Arial"/>
                <a:cs typeface="Arial"/>
              </a:defRPr>
            </a:pPr>
            <a:r>
              <a:rPr sz="1500" b="0">
                <a:solidFill>
                  <a:srgbClr val="3D85FF"/>
                </a:solidFill>
                <a:latin typeface="Arial"/>
                <a:ea typeface="Arial"/>
                <a:cs typeface="Arial"/>
              </a:rPr>
              <a:t>P₁</a:t>
            </a:r>
          </a:p>
        </p:txBody>
      </p:sp>
      <p:sp>
        <p:nvSpPr>
          <p:cNvPr id="142" name="adas-multiplier-outcome.point-262">
            <a:extLst xmlns:a="http://schemas.openxmlformats.org/drawingml/2006/main">
              <a:ext uri="{FF2B5EF4-FFF2-40B4-BE49-F238E27FC236}">
                <a16:creationId xmlns:a16="http://schemas.microsoft.com/office/drawing/2014/main" id="{4106EA8E-ADEB-4F3A-A904-9F09DE1B860F}"/>
              </a:ext>
            </a:extLst>
          </p:cNvPr>
          <p:cNvSpPr>
            <a:spLocks xmlns:a="http://schemas.openxmlformats.org/drawingml/2006/main" noGrp="1"/>
          </p:cNvSpPr>
          <p:nvPr/>
        </p:nvSpPr>
        <p:spPr>
          <a:xfrm xmlns:a="http://schemas.openxmlformats.org/drawingml/2006/main">
            <a:off x="3476625" y="3429000"/>
            <a:ext cx="95250" cy="95250"/>
          </a:xfrm>
          <a:prstGeom xmlns:a="http://schemas.openxmlformats.org/drawingml/2006/main" prst="ellipse">
            <a:avLst/>
          </a:prstGeom>
          <a:solidFill xmlns:a="http://schemas.openxmlformats.org/drawingml/2006/main">
            <a:srgbClr val="249F6B"/>
          </a:solidFill>
          <a:ln xmlns:a="http://schemas.openxmlformats.org/drawingml/2006/main" w="9525">
            <a:solidFill>
              <a:srgbClr val="249F6B"/>
            </a:solidFill>
          </a:ln>
        </p:spPr>
      </p:sp>
      <p:sp>
        <p:nvSpPr>
          <p:cNvPr id="143" name="adas-multiplier-outcome.label-263">
            <a:extLst xmlns:a="http://schemas.openxmlformats.org/drawingml/2006/main">
              <a:ext uri="{FF2B5EF4-FFF2-40B4-BE49-F238E27FC236}">
                <a16:creationId xmlns:a16="http://schemas.microsoft.com/office/drawing/2014/main" id="{A4B5DD73-3847-495F-911B-22D68B6C2A95}"/>
              </a:ext>
            </a:extLst>
          </p:cNvPr>
          <p:cNvSpPr>
            <a:spLocks xmlns:a="http://schemas.openxmlformats.org/drawingml/2006/main" noGrp="1"/>
          </p:cNvSpPr>
          <p:nvPr/>
        </p:nvSpPr>
        <p:spPr>
          <a:xfrm xmlns:a="http://schemas.openxmlformats.org/drawingml/2006/main">
            <a:off x="3314700" y="53340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249F6B"/>
                </a:solidFill>
                <a:latin typeface="Arial"/>
                <a:ea typeface="Arial"/>
                <a:cs typeface="Arial"/>
              </a:defRPr>
            </a:pPr>
            <a:r>
              <a:rPr sz="1500" b="0">
                <a:solidFill>
                  <a:srgbClr val="249F6B"/>
                </a:solidFill>
                <a:latin typeface="Arial"/>
                <a:ea typeface="Arial"/>
                <a:cs typeface="Arial"/>
              </a:rPr>
              <a:t>Y₂</a:t>
            </a:r>
          </a:p>
        </p:txBody>
      </p:sp>
      <p:sp>
        <p:nvSpPr>
          <p:cNvPr id="144" name="adas-multiplier-outcome.label-264">
            <a:extLst xmlns:a="http://schemas.openxmlformats.org/drawingml/2006/main">
              <a:ext uri="{FF2B5EF4-FFF2-40B4-BE49-F238E27FC236}">
                <a16:creationId xmlns:a16="http://schemas.microsoft.com/office/drawing/2014/main" id="{942C6A9B-DAB6-4B3F-AE5C-5D572FFA2320}"/>
              </a:ext>
            </a:extLst>
          </p:cNvPr>
          <p:cNvSpPr>
            <a:spLocks xmlns:a="http://schemas.openxmlformats.org/drawingml/2006/main" noGrp="1"/>
          </p:cNvSpPr>
          <p:nvPr/>
        </p:nvSpPr>
        <p:spPr>
          <a:xfrm xmlns:a="http://schemas.openxmlformats.org/drawingml/2006/main">
            <a:off x="619125" y="334327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49F6B"/>
                </a:solidFill>
                <a:latin typeface="Arial"/>
                <a:ea typeface="Arial"/>
                <a:cs typeface="Arial"/>
              </a:defRPr>
            </a:pPr>
            <a:r>
              <a:rPr sz="1500" b="0">
                <a:solidFill>
                  <a:srgbClr val="249F6B"/>
                </a:solidFill>
                <a:latin typeface="Arial"/>
                <a:ea typeface="Arial"/>
                <a:cs typeface="Arial"/>
              </a:rPr>
              <a:t>P₂</a:t>
            </a:r>
          </a:p>
        </p:txBody>
      </p:sp>
    </p:spTree>
    <p:extLst>
      <p:ext uri="{BB962C8B-B14F-4D97-AF65-F5344CB8AC3E}">
        <p14:creationId xmlns:p14="http://schemas.microsoft.com/office/powerpoint/2010/main" val="95412863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26-title">
            <a:extLst xmlns:a="http://schemas.openxmlformats.org/drawingml/2006/main">
              <a:ext uri="{FF2B5EF4-FFF2-40B4-BE49-F238E27FC236}">
                <a16:creationId xmlns:a16="http://schemas.microsoft.com/office/drawing/2014/main" id="{05CA1C81-BBEB-493E-86D0-EAC70A9171F0}"/>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multiplier falls when more income leaks out</a:t>
            </a:r>
          </a:p>
        </p:txBody>
      </p:sp>
      <p:sp>
        <p:nvSpPr>
          <p:cNvPr id="3" name="Rectangle 2">
            <a:extLst xmlns:a="http://schemas.openxmlformats.org/drawingml/2006/main">
              <a:ext uri="{FF2B5EF4-FFF2-40B4-BE49-F238E27FC236}">
                <a16:creationId xmlns:a16="http://schemas.microsoft.com/office/drawing/2014/main" id="{F87E27E2-701A-4D10-86CD-6AD056F8FE80}"/>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78B290E7-C82D-40D5-BA4E-1B595996ECE3}"/>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42</a:t>
            </a:r>
          </a:p>
        </p:txBody>
      </p:sp>
      <p:sp>
        <p:nvSpPr>
          <p:cNvPr id="5" name="Rectangle 4">
            <a:extLst xmlns:a="http://schemas.openxmlformats.org/drawingml/2006/main">
              <a:ext uri="{FF2B5EF4-FFF2-40B4-BE49-F238E27FC236}">
                <a16:creationId xmlns:a16="http://schemas.microsoft.com/office/drawing/2014/main" id="{CEA9590D-3D67-4F21-8133-CBF776EBC094}"/>
              </a:ext>
            </a:extLst>
          </p:cNvPr>
          <p:cNvSpPr>
            <a:spLocks xmlns:a="http://schemas.openxmlformats.org/drawingml/2006/main" noGrp="1"/>
          </p:cNvSpPr>
          <p:nvPr/>
        </p:nvSpPr>
        <p:spPr>
          <a:xfrm xmlns:a="http://schemas.openxmlformats.org/drawingml/2006/main">
            <a:off x="666750" y="1714500"/>
            <a:ext cx="4953000" cy="3333750"/>
          </a:xfrm>
          <a:prstGeom xmlns:a="http://schemas.openxmlformats.org/drawingml/2006/main" prst="rect">
            <a:avLst/>
          </a:prstGeom>
          <a:solidFill xmlns:a="http://schemas.openxmlformats.org/drawingml/2006/main">
            <a:srgbClr val="FDEBE8"/>
          </a:solidFill>
          <a:ln xmlns:a="http://schemas.openxmlformats.org/drawingml/2006/main" w="9525">
            <a:solidFill>
              <a:srgbClr val="F26B5B"/>
            </a:solidFill>
            <a:prstDash val="solid"/>
          </a:ln>
        </p:spPr>
      </p:sp>
      <p:sp>
        <p:nvSpPr>
          <p:cNvPr id="6" name="Rectangle 5">
            <a:extLst xmlns:a="http://schemas.openxmlformats.org/drawingml/2006/main">
              <a:ext uri="{FF2B5EF4-FFF2-40B4-BE49-F238E27FC236}">
                <a16:creationId xmlns:a16="http://schemas.microsoft.com/office/drawing/2014/main" id="{38D3EAA6-8C7F-4278-B08B-97461BF967B0}"/>
              </a:ext>
            </a:extLst>
          </p:cNvPr>
          <p:cNvSpPr>
            <a:spLocks xmlns:a="http://schemas.openxmlformats.org/drawingml/2006/main" noGrp="1"/>
          </p:cNvSpPr>
          <p:nvPr/>
        </p:nvSpPr>
        <p:spPr>
          <a:xfrm xmlns:a="http://schemas.openxmlformats.org/drawingml/2006/main">
            <a:off x="10477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RISE</a:t>
            </a:r>
          </a:p>
        </p:txBody>
      </p:sp>
      <p:sp>
        <p:nvSpPr>
          <p:cNvPr id="7" name="Rectangle 6">
            <a:extLst xmlns:a="http://schemas.openxmlformats.org/drawingml/2006/main">
              <a:ext uri="{FF2B5EF4-FFF2-40B4-BE49-F238E27FC236}">
                <a16:creationId xmlns:a16="http://schemas.microsoft.com/office/drawing/2014/main" id="{5E1DAD29-B279-4707-95A7-3BDE68CBF55C}"/>
              </a:ext>
            </a:extLst>
          </p:cNvPr>
          <p:cNvSpPr>
            <a:spLocks xmlns:a="http://schemas.openxmlformats.org/drawingml/2006/main" noGrp="1"/>
          </p:cNvSpPr>
          <p:nvPr/>
        </p:nvSpPr>
        <p:spPr>
          <a:xfrm xmlns:a="http://schemas.openxmlformats.org/drawingml/2006/main">
            <a:off x="1047750" y="2667000"/>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700" b="1" i="0">
                <a:solidFill>
                  <a:srgbClr val="F26B5B"/>
                </a:solidFill>
                <a:latin typeface="Arial"/>
                <a:ea typeface="Arial"/>
                <a:cs typeface="Arial"/>
              </a:defRPr>
            </a:pPr>
            <a:r>
              <a:rPr sz="2700" b="1" i="0">
                <a:solidFill>
                  <a:srgbClr val="F26B5B"/>
                </a:solidFill>
                <a:latin typeface="Arial"/>
                <a:ea typeface="Arial"/>
                <a:cs typeface="Arial"/>
              </a:rPr>
              <a:t>↑ MPS   ↑ MPM   ↑ MRT</a:t>
            </a:r>
          </a:p>
        </p:txBody>
      </p:sp>
      <p:sp>
        <p:nvSpPr>
          <p:cNvPr id="8" name="Rectangle 7">
            <a:extLst xmlns:a="http://schemas.openxmlformats.org/drawingml/2006/main">
              <a:ext uri="{FF2B5EF4-FFF2-40B4-BE49-F238E27FC236}">
                <a16:creationId xmlns:a16="http://schemas.microsoft.com/office/drawing/2014/main" id="{B8731F23-303B-4179-AF6D-2CF2BEBE25BA}"/>
              </a:ext>
            </a:extLst>
          </p:cNvPr>
          <p:cNvSpPr>
            <a:spLocks xmlns:a="http://schemas.openxmlformats.org/drawingml/2006/main" noGrp="1"/>
          </p:cNvSpPr>
          <p:nvPr/>
        </p:nvSpPr>
        <p:spPr>
          <a:xfrm xmlns:a="http://schemas.openxmlformats.org/drawingml/2006/main">
            <a:off x="1047750" y="3524250"/>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Each round of domestic spending is smaller.</a:t>
            </a:r>
          </a:p>
        </p:txBody>
      </p:sp>
      <p:sp>
        <p:nvSpPr>
          <p:cNvPr id="9" name="Rectangle 8">
            <a:extLst xmlns:a="http://schemas.openxmlformats.org/drawingml/2006/main">
              <a:ext uri="{FF2B5EF4-FFF2-40B4-BE49-F238E27FC236}">
                <a16:creationId xmlns:a16="http://schemas.microsoft.com/office/drawing/2014/main" id="{AA3D3FF0-0A1C-424A-8BF0-395612D46323}"/>
              </a:ext>
            </a:extLst>
          </p:cNvPr>
          <p:cNvSpPr>
            <a:spLocks xmlns:a="http://schemas.openxmlformats.org/drawingml/2006/main" noGrp="1"/>
          </p:cNvSpPr>
          <p:nvPr/>
        </p:nvSpPr>
        <p:spPr>
          <a:xfrm xmlns:a="http://schemas.openxmlformats.org/drawingml/2006/main">
            <a:off x="6572250" y="1714500"/>
            <a:ext cx="4953000" cy="33337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10" name="Rectangle 9">
            <a:extLst xmlns:a="http://schemas.openxmlformats.org/drawingml/2006/main">
              <a:ext uri="{FF2B5EF4-FFF2-40B4-BE49-F238E27FC236}">
                <a16:creationId xmlns:a16="http://schemas.microsoft.com/office/drawing/2014/main" id="{4549D589-34C4-45D8-AD5A-2C4F95E1826B}"/>
              </a:ext>
            </a:extLst>
          </p:cNvPr>
          <p:cNvSpPr>
            <a:spLocks xmlns:a="http://schemas.openxmlformats.org/drawingml/2006/main" noGrp="1"/>
          </p:cNvSpPr>
          <p:nvPr/>
        </p:nvSpPr>
        <p:spPr>
          <a:xfrm xmlns:a="http://schemas.openxmlformats.org/drawingml/2006/main">
            <a:off x="6953250" y="20955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POLICY IMPLICATION</a:t>
            </a:r>
          </a:p>
        </p:txBody>
      </p:sp>
      <p:sp>
        <p:nvSpPr>
          <p:cNvPr id="11" name="Rectangle 10">
            <a:extLst xmlns:a="http://schemas.openxmlformats.org/drawingml/2006/main">
              <a:ext uri="{FF2B5EF4-FFF2-40B4-BE49-F238E27FC236}">
                <a16:creationId xmlns:a16="http://schemas.microsoft.com/office/drawing/2014/main" id="{668C319A-7871-4445-B2D7-8C674A6A7446}"/>
              </a:ext>
            </a:extLst>
          </p:cNvPr>
          <p:cNvSpPr>
            <a:spLocks xmlns:a="http://schemas.openxmlformats.org/drawingml/2006/main" noGrp="1"/>
          </p:cNvSpPr>
          <p:nvPr/>
        </p:nvSpPr>
        <p:spPr>
          <a:xfrm xmlns:a="http://schemas.openxmlformats.org/drawingml/2006/main">
            <a:off x="6953250" y="2762250"/>
            <a:ext cx="4191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A tax cut is not all spent.</a:t>
            </a:r>
          </a:p>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Some becomes saving or imports.</a:t>
            </a:r>
          </a:p>
        </p:txBody>
      </p:sp>
      <p:sp>
        <p:nvSpPr>
          <p:cNvPr id="12" name="Rectangle 11">
            <a:extLst xmlns:a="http://schemas.openxmlformats.org/drawingml/2006/main">
              <a:ext uri="{FF2B5EF4-FFF2-40B4-BE49-F238E27FC236}">
                <a16:creationId xmlns:a16="http://schemas.microsoft.com/office/drawing/2014/main" id="{3F1E7F3B-FCD8-426A-99D7-5E1952659472}"/>
              </a:ext>
            </a:extLst>
          </p:cNvPr>
          <p:cNvSpPr>
            <a:spLocks xmlns:a="http://schemas.openxmlformats.org/drawingml/2006/main" noGrp="1"/>
          </p:cNvSpPr>
          <p:nvPr/>
        </p:nvSpPr>
        <p:spPr>
          <a:xfrm xmlns:a="http://schemas.openxmlformats.org/drawingml/2006/main">
            <a:off x="6953250" y="4143375"/>
            <a:ext cx="419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0" i="0">
                <a:solidFill>
                  <a:srgbClr val="59616B"/>
                </a:solidFill>
                <a:latin typeface="Arial"/>
                <a:ea typeface="Arial"/>
                <a:cs typeface="Arial"/>
              </a:defRPr>
            </a:pPr>
            <a:r>
              <a:rPr sz="1875" b="0" i="0">
                <a:solidFill>
                  <a:srgbClr val="59616B"/>
                </a:solidFill>
                <a:latin typeface="Arial"/>
                <a:ea typeface="Arial"/>
                <a:cs typeface="Arial"/>
              </a:rPr>
              <a:t>Government spending enters AD directly.</a:t>
            </a:r>
          </a:p>
        </p:txBody>
      </p:sp>
      <p:sp>
        <p:nvSpPr>
          <p:cNvPr id="13" name="Rectangle 12">
            <a:extLst xmlns:a="http://schemas.openxmlformats.org/drawingml/2006/main">
              <a:ext uri="{FF2B5EF4-FFF2-40B4-BE49-F238E27FC236}">
                <a16:creationId xmlns:a16="http://schemas.microsoft.com/office/drawing/2014/main" id="{55F10B2F-F3AA-48E4-A820-88DF4F4BE9FE}"/>
              </a:ext>
            </a:extLst>
          </p:cNvPr>
          <p:cNvSpPr>
            <a:spLocks xmlns:a="http://schemas.openxmlformats.org/drawingml/2006/main" noGrp="1"/>
          </p:cNvSpPr>
          <p:nvPr/>
        </p:nvSpPr>
        <p:spPr>
          <a:xfrm xmlns:a="http://schemas.openxmlformats.org/drawingml/2006/main">
            <a:off x="2571750" y="5572125"/>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Formula check: MPW ↑  →  1/MPW ↓</a:t>
            </a:r>
          </a:p>
        </p:txBody>
      </p:sp>
    </p:spTree>
    <p:extLst>
      <p:ext uri="{BB962C8B-B14F-4D97-AF65-F5344CB8AC3E}">
        <p14:creationId xmlns:p14="http://schemas.microsoft.com/office/powerpoint/2010/main" val="21495090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9708/32/M/J/25 Q15</a:t>
            </a:r>
          </a:p>
        </p:txBody>
      </p:sp>
      <p:cxnSp>
        <p:nvCxnSpPr>
          <p:cNvPr id="33"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43</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862232"/>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initial injection into the circular flow of income causes a much larger increase in GDP.</a:t>
            </a:r>
            <a:r>
              <a:rPr sz="2025" b="1">
                <a:solidFill>
                  <a:srgbClr val="000000"/>
                </a:solidFill>
                <a:latin typeface="Arial"/>
                <a:ea typeface="Arial"/>
                <a:cs typeface="Arial"/>
              </a:rPr>
              <a:t> </a:t>
            </a:r>
            <a:r>
              <a:rPr sz="2025" b="1" i="0">
                <a:solidFill>
                  <a:srgbClr val="000000"/>
                </a:solidFill>
                <a:latin typeface="Arial"/>
                <a:ea typeface="Arial"/>
                <a:cs typeface="Arial"/>
              </a:rPr>
              <a:t>What does this define?</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autonomous investment</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demand-pull inflation</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the accelerator principle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the national income multiplier</a:t>
            </a:r>
          </a:p>
        </p:txBody>
      </p:sp>
    </p:spTree>
    <p:extLst>
      <p:ext uri="{BB962C8B-B14F-4D97-AF65-F5344CB8AC3E}">
        <p14:creationId xmlns:p14="http://schemas.microsoft.com/office/powerpoint/2010/main" val="160088276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9708/31/M/J/26 Q16</a:t>
            </a:r>
          </a:p>
        </p:txBody>
      </p:sp>
      <p:cxnSp>
        <p:nvCxnSpPr>
          <p:cNvPr id="33"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44</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would increase the value of the multiplier?</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a:t>
            </a:r>
            <a:r>
              <a:rPr sz="2025">
                <a:solidFill>
                  <a:srgbClr val="000000"/>
                </a:solidFill>
                <a:latin typeface="Arial"/>
                <a:ea typeface="Arial"/>
                <a:cs typeface="Arial"/>
              </a:rPr>
              <a:t>a</a:t>
            </a:r>
            <a:r>
              <a:rPr sz="2025">
                <a:solidFill>
                  <a:srgbClr val="000000"/>
                </a:solidFill>
                <a:latin typeface="Arial"/>
                <a:ea typeface="Arial"/>
                <a:cs typeface="Arial"/>
              </a:rPr>
              <a:t> decrease in the marginal propensity to consume</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a decrease in the marginal rate of tax</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an increase in the marginal propensity to import</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an increase in the marginal propensity to save</a:t>
            </a:r>
          </a:p>
        </p:txBody>
      </p:sp>
    </p:spTree>
    <p:extLst>
      <p:ext uri="{BB962C8B-B14F-4D97-AF65-F5344CB8AC3E}">
        <p14:creationId xmlns:p14="http://schemas.microsoft.com/office/powerpoint/2010/main" val="160088276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re-feedback.inherited-16">
            <a:extLst xmlns:a="http://schemas.openxmlformats.org/drawingml/2006/main">
              <a:ext uri="{FF2B5EF4-FFF2-40B4-BE49-F238E27FC236}">
                <a16:creationId xmlns:a16="http://schemas.microsoft.com/office/drawing/2014/main" id="{6803C822-5FCC-46B1-9DC5-6A919507D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definition and leakages</a:t>
            </a:r>
          </a:p>
        </p:txBody>
      </p:sp>
      <p:cxnSp>
        <p:nvCxnSpPr>
          <p:cNvPr id="137" name="core-feedback.inherited-113"/>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core-feedback.inherited-3">
            <a:extLst xmlns:a="http://schemas.openxmlformats.org/drawingml/2006/main">
              <a:ext uri="{FF2B5EF4-FFF2-40B4-BE49-F238E27FC236}">
                <a16:creationId xmlns:a16="http://schemas.microsoft.com/office/drawing/2014/main" id="{3BD99998-3687-47AF-9CE9-D174A5660C4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core-feedback.inherited-4">
            <a:extLst xmlns:a="http://schemas.openxmlformats.org/drawingml/2006/main">
              <a:ext uri="{FF2B5EF4-FFF2-40B4-BE49-F238E27FC236}">
                <a16:creationId xmlns:a16="http://schemas.microsoft.com/office/drawing/2014/main" id="{05C97E3E-7E79-4767-A7F2-FC8021EB938D}"/>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45</a:t>
            </a:r>
          </a:p>
        </p:txBody>
      </p:sp>
      <p:sp>
        <p:nvSpPr>
          <p:cNvPr id="5" name="core-feedback.inherited-5">
            <a:extLst xmlns:a="http://schemas.openxmlformats.org/drawingml/2006/main">
              <a:ext uri="{FF2B5EF4-FFF2-40B4-BE49-F238E27FC236}">
                <a16:creationId xmlns:a16="http://schemas.microsoft.com/office/drawing/2014/main" id="{63C20010-C4D6-441B-B36B-28E06521E701}"/>
              </a:ext>
            </a:extLst>
          </p:cNvPr>
          <p:cNvSpPr>
            <a:spLocks xmlns:a="http://schemas.openxmlformats.org/drawingml/2006/main" noGrp="1"/>
          </p:cNvSpPr>
          <p:nvPr/>
        </p:nvSpPr>
        <p:spPr>
          <a:xfrm xmlns:a="http://schemas.openxmlformats.org/drawingml/2006/main">
            <a:off x="809625" y="166687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D</a:t>
            </a:r>
          </a:p>
        </p:txBody>
      </p:sp>
      <p:sp>
        <p:nvSpPr>
          <p:cNvPr id="6" name="core-feedback.inherited-6">
            <a:extLst xmlns:a="http://schemas.openxmlformats.org/drawingml/2006/main">
              <a:ext uri="{FF2B5EF4-FFF2-40B4-BE49-F238E27FC236}">
                <a16:creationId xmlns:a16="http://schemas.microsoft.com/office/drawing/2014/main" id="{6AE0371F-C661-420B-A6AF-A2FBBDE856E2}"/>
              </a:ext>
            </a:extLst>
          </p:cNvPr>
          <p:cNvSpPr>
            <a:spLocks xmlns:a="http://schemas.openxmlformats.org/drawingml/2006/main" noGrp="1"/>
          </p:cNvSpPr>
          <p:nvPr/>
        </p:nvSpPr>
        <p:spPr>
          <a:xfrm xmlns:a="http://schemas.openxmlformats.org/drawingml/2006/main">
            <a:off x="2667000" y="16668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Definition</a:t>
            </a:r>
          </a:p>
        </p:txBody>
      </p:sp>
      <p:sp>
        <p:nvSpPr>
          <p:cNvPr id="7" name="core-feedback.inherited-7">
            <a:extLst xmlns:a="http://schemas.openxmlformats.org/drawingml/2006/main">
              <a:ext uri="{FF2B5EF4-FFF2-40B4-BE49-F238E27FC236}">
                <a16:creationId xmlns:a16="http://schemas.microsoft.com/office/drawing/2014/main" id="{1547264C-3480-4850-9BE3-3746B50AB9BB}"/>
              </a:ext>
            </a:extLst>
          </p:cNvPr>
          <p:cNvSpPr>
            <a:spLocks xmlns:a="http://schemas.openxmlformats.org/drawingml/2006/main" noGrp="1"/>
          </p:cNvSpPr>
          <p:nvPr/>
        </p:nvSpPr>
        <p:spPr>
          <a:xfrm xmlns:a="http://schemas.openxmlformats.org/drawingml/2006/main">
            <a:off x="6667500" y="166687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The initial injection leads to a larger final increase in GDP.</a:t>
            </a:r>
          </a:p>
        </p:txBody>
      </p:sp>
      <p:cxnSp>
        <p:nvCxnSpPr>
          <p:cNvPr id="143" name="core-feedback.inherited-119"/>
          <p:cNvCxnSpPr/>
          <p:nvPr/>
        </p:nvCxnSpPr>
        <p:spPr>
          <a:xfrm xmlns:a="http://schemas.openxmlformats.org/drawingml/2006/main">
            <a:off x="809625" y="2667000"/>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core-feedback.inherited-9">
            <a:extLst xmlns:a="http://schemas.openxmlformats.org/drawingml/2006/main">
              <a:ext uri="{FF2B5EF4-FFF2-40B4-BE49-F238E27FC236}">
                <a16:creationId xmlns:a16="http://schemas.microsoft.com/office/drawing/2014/main" id="{07F9070C-813F-478A-81BD-7DB6489B9A98}"/>
              </a:ext>
            </a:extLst>
          </p:cNvPr>
          <p:cNvSpPr>
            <a:spLocks xmlns:a="http://schemas.openxmlformats.org/drawingml/2006/main" noGrp="1"/>
          </p:cNvSpPr>
          <p:nvPr/>
        </p:nvSpPr>
        <p:spPr>
          <a:xfrm xmlns:a="http://schemas.openxmlformats.org/drawingml/2006/main">
            <a:off x="809625" y="30480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B</a:t>
            </a:r>
          </a:p>
        </p:txBody>
      </p:sp>
      <p:sp>
        <p:nvSpPr>
          <p:cNvPr id="10" name="core-feedback.inherited-10">
            <a:extLst xmlns:a="http://schemas.openxmlformats.org/drawingml/2006/main">
              <a:ext uri="{FF2B5EF4-FFF2-40B4-BE49-F238E27FC236}">
                <a16:creationId xmlns:a16="http://schemas.microsoft.com/office/drawing/2014/main" id="{0679F31D-A495-4D12-AACB-2460F8221326}"/>
              </a:ext>
            </a:extLst>
          </p:cNvPr>
          <p:cNvSpPr>
            <a:spLocks xmlns:a="http://schemas.openxmlformats.org/drawingml/2006/main" noGrp="1"/>
          </p:cNvSpPr>
          <p:nvPr/>
        </p:nvSpPr>
        <p:spPr>
          <a:xfrm xmlns:a="http://schemas.openxmlformats.org/drawingml/2006/main">
            <a:off x="2667000" y="3048000"/>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MRT falls</a:t>
            </a:r>
          </a:p>
        </p:txBody>
      </p:sp>
      <p:sp>
        <p:nvSpPr>
          <p:cNvPr id="11" name="core-feedback.inherited-11">
            <a:extLst xmlns:a="http://schemas.openxmlformats.org/drawingml/2006/main">
              <a:ext uri="{FF2B5EF4-FFF2-40B4-BE49-F238E27FC236}">
                <a16:creationId xmlns:a16="http://schemas.microsoft.com/office/drawing/2014/main" id="{AD71A006-F2E8-45AD-9AC9-EBDFCE5EFB45}"/>
              </a:ext>
            </a:extLst>
          </p:cNvPr>
          <p:cNvSpPr>
            <a:spLocks xmlns:a="http://schemas.openxmlformats.org/drawingml/2006/main" noGrp="1"/>
          </p:cNvSpPr>
          <p:nvPr/>
        </p:nvSpPr>
        <p:spPr>
          <a:xfrm xmlns:a="http://schemas.openxmlformats.org/drawingml/2006/main">
            <a:off x="6667500" y="30480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MPW falls, so k = 1/MPW rises.</a:t>
            </a:r>
          </a:p>
        </p:txBody>
      </p:sp>
      <p:cxnSp>
        <p:nvCxnSpPr>
          <p:cNvPr id="147" name="core-feedback.inherited-123"/>
          <p:cNvCxnSpPr/>
          <p:nvPr/>
        </p:nvCxnSpPr>
        <p:spPr>
          <a:xfrm xmlns:a="http://schemas.openxmlformats.org/drawingml/2006/main">
            <a:off x="809625" y="4048125"/>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core-feedback.inherited-13">
            <a:extLst xmlns:a="http://schemas.openxmlformats.org/drawingml/2006/main">
              <a:ext uri="{FF2B5EF4-FFF2-40B4-BE49-F238E27FC236}">
                <a16:creationId xmlns:a16="http://schemas.microsoft.com/office/drawing/2014/main" id="{E2EADD9C-34B7-423A-8481-007ACD14F25D}"/>
              </a:ext>
            </a:extLst>
          </p:cNvPr>
          <p:cNvSpPr>
            <a:spLocks xmlns:a="http://schemas.openxmlformats.org/drawingml/2006/main" noGrp="1"/>
          </p:cNvSpPr>
          <p:nvPr/>
        </p:nvSpPr>
        <p:spPr>
          <a:xfrm xmlns:a="http://schemas.openxmlformats.org/drawingml/2006/main">
            <a:off x="809625" y="442912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LINK</a:t>
            </a:r>
          </a:p>
        </p:txBody>
      </p:sp>
      <p:sp>
        <p:nvSpPr>
          <p:cNvPr id="14" name="core-feedback.inherited-14">
            <a:extLst xmlns:a="http://schemas.openxmlformats.org/drawingml/2006/main">
              <a:ext uri="{FF2B5EF4-FFF2-40B4-BE49-F238E27FC236}">
                <a16:creationId xmlns:a16="http://schemas.microsoft.com/office/drawing/2014/main" id="{78865455-ED7B-460B-AB6E-5953BFF844FB}"/>
              </a:ext>
            </a:extLst>
          </p:cNvPr>
          <p:cNvSpPr>
            <a:spLocks xmlns:a="http://schemas.openxmlformats.org/drawingml/2006/main" noGrp="1"/>
          </p:cNvSpPr>
          <p:nvPr/>
        </p:nvSpPr>
        <p:spPr>
          <a:xfrm xmlns:a="http://schemas.openxmlformats.org/drawingml/2006/main">
            <a:off x="2667000" y="44291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Spending rounds</a:t>
            </a:r>
          </a:p>
        </p:txBody>
      </p:sp>
      <p:sp>
        <p:nvSpPr>
          <p:cNvPr id="15" name="core-feedback.inherited-15">
            <a:extLst xmlns:a="http://schemas.openxmlformats.org/drawingml/2006/main">
              <a:ext uri="{FF2B5EF4-FFF2-40B4-BE49-F238E27FC236}">
                <a16:creationId xmlns:a16="http://schemas.microsoft.com/office/drawing/2014/main" id="{ED8AAA65-6C01-42A5-AB42-3EBD2841E328}"/>
              </a:ext>
            </a:extLst>
          </p:cNvPr>
          <p:cNvSpPr>
            <a:spLocks xmlns:a="http://schemas.openxmlformats.org/drawingml/2006/main" noGrp="1"/>
          </p:cNvSpPr>
          <p:nvPr/>
        </p:nvSpPr>
        <p:spPr>
          <a:xfrm xmlns:a="http://schemas.openxmlformats.org/drawingml/2006/main">
            <a:off x="6667500" y="442912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Smaller leakages leave more income to be spent in the next round.</a:t>
            </a:r>
          </a:p>
        </p:txBody>
      </p:sp>
    </p:spTree>
    <p:extLst>
      <p:ext uri="{BB962C8B-B14F-4D97-AF65-F5344CB8AC3E}">
        <p14:creationId xmlns:p14="http://schemas.microsoft.com/office/powerpoint/2010/main" val="175383642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9708/32/F/M/21 Q24</a:t>
            </a:r>
          </a:p>
        </p:txBody>
      </p:sp>
      <p:cxnSp>
        <p:nvCxnSpPr>
          <p:cNvPr id="33"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46</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61925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In a closed economy, the marginal propensity to save is 0.1 and the marginal propensity to pay taxes is also 0.1. These values are constant and do not vary with the level of income.</a:t>
            </a:r>
          </a:p>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What will be the increase in national income if there is an injection of $100 million into the circular flow?</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095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$1000 million</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762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$500 million</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429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$100 million</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095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$80 million</a:t>
            </a:r>
          </a:p>
        </p:txBody>
      </p:sp>
    </p:spTree>
    <p:extLst>
      <p:ext uri="{BB962C8B-B14F-4D97-AF65-F5344CB8AC3E}">
        <p14:creationId xmlns:p14="http://schemas.microsoft.com/office/powerpoint/2010/main" val="160088276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9708/31/O/N/22 Q26</a:t>
            </a:r>
          </a:p>
        </p:txBody>
      </p:sp>
      <p:cxnSp>
        <p:nvCxnSpPr>
          <p:cNvPr id="33"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47</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61925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In an economy, the marginal propensity to consume is 0.2, the marginal propensity to save is 0.3, the marginal propensity to tax is 0.3 and the marginal propensity to import is 0.2 at all levels of income.</a:t>
            </a:r>
          </a:p>
          <a:p xmlns:a="http://schemas.openxmlformats.org/drawingml/2006/main">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What would be the most likely consequence of an increase in government expenditure of $1000m?</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095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Import expenditure would increase by $200m.</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762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Import expenditure would increase by $1000m.</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429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Tax revenues would increase by $75m.</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095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Tax revenues would increase by $375m.</a:t>
            </a:r>
          </a:p>
        </p:txBody>
      </p:sp>
    </p:spTree>
    <p:extLst>
      <p:ext uri="{BB962C8B-B14F-4D97-AF65-F5344CB8AC3E}">
        <p14:creationId xmlns:p14="http://schemas.microsoft.com/office/powerpoint/2010/main" val="160088276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9708/31/O/N/23 Q17</a:t>
            </a:r>
          </a:p>
        </p:txBody>
      </p:sp>
      <p:cxnSp>
        <p:nvCxnSpPr>
          <p:cNvPr id="33"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48</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might decrease if a closed economy with a government sector decides to allow international trade?</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components of aggregate expenditure</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number of injections into the circular flow of income</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number of leakages from the circular flow of income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value of the economy’s multiplier</a:t>
            </a:r>
          </a:p>
        </p:txBody>
      </p:sp>
    </p:spTree>
    <p:extLst>
      <p:ext uri="{BB962C8B-B14F-4D97-AF65-F5344CB8AC3E}">
        <p14:creationId xmlns:p14="http://schemas.microsoft.com/office/powerpoint/2010/main" val="160088276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8-title">
            <a:extLst xmlns:a="http://schemas.openxmlformats.org/drawingml/2006/main">
              <a:ext uri="{FF2B5EF4-FFF2-40B4-BE49-F238E27FC236}">
                <a16:creationId xmlns:a16="http://schemas.microsoft.com/office/drawing/2014/main" id="{6803C822-5FCC-46B1-9DC5-6A919507D68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calculations and trade</a:t>
            </a:r>
          </a:p>
        </p:txBody>
      </p:sp>
      <p:cxnSp>
        <p:nvCxnSpPr>
          <p:cNvPr id="137" name="Straight Arrow Connector 88"/>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3BD99998-3687-47AF-9CE9-D174A5660C4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05C97E3E-7E79-4767-A7F2-FC8021EB938D}"/>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49</a:t>
            </a:r>
          </a:p>
        </p:txBody>
      </p:sp>
      <p:sp>
        <p:nvSpPr>
          <p:cNvPr id="5" name="Rectangle 4">
            <a:extLst xmlns:a="http://schemas.openxmlformats.org/drawingml/2006/main">
              <a:ext uri="{FF2B5EF4-FFF2-40B4-BE49-F238E27FC236}">
                <a16:creationId xmlns:a16="http://schemas.microsoft.com/office/drawing/2014/main" id="{63C20010-C4D6-441B-B36B-28E06521E701}"/>
              </a:ext>
            </a:extLst>
          </p:cNvPr>
          <p:cNvSpPr>
            <a:spLocks xmlns:a="http://schemas.openxmlformats.org/drawingml/2006/main" noGrp="1"/>
          </p:cNvSpPr>
          <p:nvPr/>
        </p:nvSpPr>
        <p:spPr>
          <a:xfrm xmlns:a="http://schemas.openxmlformats.org/drawingml/2006/main">
            <a:off x="809625" y="166687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B</a:t>
            </a:r>
          </a:p>
        </p:txBody>
      </p:sp>
      <p:sp>
        <p:nvSpPr>
          <p:cNvPr id="6" name="Rectangle 5">
            <a:extLst xmlns:a="http://schemas.openxmlformats.org/drawingml/2006/main">
              <a:ext uri="{FF2B5EF4-FFF2-40B4-BE49-F238E27FC236}">
                <a16:creationId xmlns:a16="http://schemas.microsoft.com/office/drawing/2014/main" id="{6AE0371F-C661-420B-A6AF-A2FBBDE856E2}"/>
              </a:ext>
            </a:extLst>
          </p:cNvPr>
          <p:cNvSpPr>
            <a:spLocks xmlns:a="http://schemas.openxmlformats.org/drawingml/2006/main" noGrp="1"/>
          </p:cNvSpPr>
          <p:nvPr/>
        </p:nvSpPr>
        <p:spPr>
          <a:xfrm xmlns:a="http://schemas.openxmlformats.org/drawingml/2006/main">
            <a:off x="2667000" y="166687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MPW = 0.20</a:t>
            </a:r>
          </a:p>
        </p:txBody>
      </p:sp>
      <p:sp>
        <p:nvSpPr>
          <p:cNvPr id="7" name="Rectangle 6">
            <a:extLst xmlns:a="http://schemas.openxmlformats.org/drawingml/2006/main">
              <a:ext uri="{FF2B5EF4-FFF2-40B4-BE49-F238E27FC236}">
                <a16:creationId xmlns:a16="http://schemas.microsoft.com/office/drawing/2014/main" id="{1547264C-3480-4850-9BE3-3746B50AB9BB}"/>
              </a:ext>
            </a:extLst>
          </p:cNvPr>
          <p:cNvSpPr>
            <a:spLocks xmlns:a="http://schemas.openxmlformats.org/drawingml/2006/main" noGrp="1"/>
          </p:cNvSpPr>
          <p:nvPr/>
        </p:nvSpPr>
        <p:spPr>
          <a:xfrm xmlns:a="http://schemas.openxmlformats.org/drawingml/2006/main">
            <a:off x="6667500" y="166687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59616B"/>
                </a:solidFill>
                <a:latin typeface="Arial"/>
                <a:ea typeface="Arial"/>
                <a:cs typeface="Arial"/>
              </a:defRPr>
            </a:pPr>
            <a:r>
              <a:rPr sz="1875" b="0" i="0">
                <a:solidFill>
                  <a:srgbClr val="59616B"/>
                </a:solidFill>
                <a:latin typeface="Arial"/>
                <a:ea typeface="Arial"/>
                <a:cs typeface="Arial"/>
              </a:rPr>
              <a:t>k = 5, so ΔY = $500m.</a:t>
            </a:r>
          </a:p>
        </p:txBody>
      </p:sp>
      <p:cxnSp>
        <p:nvCxnSpPr>
          <p:cNvPr id="143" name="Straight Arrow Connector 94"/>
          <p:cNvCxnSpPr/>
          <p:nvPr/>
        </p:nvCxnSpPr>
        <p:spPr>
          <a:xfrm xmlns:a="http://schemas.openxmlformats.org/drawingml/2006/main">
            <a:off x="809625" y="2667000"/>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Rectangle 8">
            <a:extLst xmlns:a="http://schemas.openxmlformats.org/drawingml/2006/main">
              <a:ext uri="{FF2B5EF4-FFF2-40B4-BE49-F238E27FC236}">
                <a16:creationId xmlns:a16="http://schemas.microsoft.com/office/drawing/2014/main" id="{07F9070C-813F-478A-81BD-7DB6489B9A98}"/>
              </a:ext>
            </a:extLst>
          </p:cNvPr>
          <p:cNvSpPr>
            <a:spLocks xmlns:a="http://schemas.openxmlformats.org/drawingml/2006/main" noGrp="1"/>
          </p:cNvSpPr>
          <p:nvPr/>
        </p:nvSpPr>
        <p:spPr>
          <a:xfrm xmlns:a="http://schemas.openxmlformats.org/drawingml/2006/main">
            <a:off x="809625" y="30480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xmlns:a="http://schemas.openxmlformats.org/drawingml/2006/main">
              <a:ext uri="{FF2B5EF4-FFF2-40B4-BE49-F238E27FC236}">
                <a16:creationId xmlns:a16="http://schemas.microsoft.com/office/drawing/2014/main" id="{0679F31D-A495-4D12-AACB-2460F8221326}"/>
              </a:ext>
            </a:extLst>
          </p:cNvPr>
          <p:cNvSpPr>
            <a:spLocks xmlns:a="http://schemas.openxmlformats.org/drawingml/2006/main" noGrp="1"/>
          </p:cNvSpPr>
          <p:nvPr/>
        </p:nvSpPr>
        <p:spPr>
          <a:xfrm xmlns:a="http://schemas.openxmlformats.org/drawingml/2006/main">
            <a:off x="2667000" y="3048000"/>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ΔY = $1,250m</a:t>
            </a:r>
          </a:p>
        </p:txBody>
      </p:sp>
      <p:sp>
        <p:nvSpPr>
          <p:cNvPr id="11" name="Rectangle 10">
            <a:extLst xmlns:a="http://schemas.openxmlformats.org/drawingml/2006/main">
              <a:ext uri="{FF2B5EF4-FFF2-40B4-BE49-F238E27FC236}">
                <a16:creationId xmlns:a16="http://schemas.microsoft.com/office/drawing/2014/main" id="{AD71A006-F2E8-45AD-9AC9-EBDFCE5EFB45}"/>
              </a:ext>
            </a:extLst>
          </p:cNvPr>
          <p:cNvSpPr>
            <a:spLocks xmlns:a="http://schemas.openxmlformats.org/drawingml/2006/main" noGrp="1"/>
          </p:cNvSpPr>
          <p:nvPr/>
        </p:nvSpPr>
        <p:spPr>
          <a:xfrm xmlns:a="http://schemas.openxmlformats.org/drawingml/2006/main">
            <a:off x="6667500" y="304800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75" b="0" i="0">
                <a:solidFill>
                  <a:srgbClr val="59616B"/>
                </a:solidFill>
                <a:latin typeface="Arial"/>
                <a:ea typeface="Arial"/>
                <a:cs typeface="Arial"/>
              </a:defRPr>
            </a:pPr>
            <a:r>
              <a:rPr sz="1875" b="0" i="0">
                <a:solidFill>
                  <a:srgbClr val="59616B"/>
                </a:solidFill>
                <a:latin typeface="Arial"/>
                <a:ea typeface="Arial"/>
                <a:cs typeface="Arial"/>
              </a:rPr>
              <a:t>ΔT = 0.30 × 1,250 = $375m.</a:t>
            </a:r>
          </a:p>
        </p:txBody>
      </p:sp>
      <p:cxnSp>
        <p:nvCxnSpPr>
          <p:cNvPr id="147" name="Straight Arrow Connector 98"/>
          <p:cNvCxnSpPr/>
          <p:nvPr/>
        </p:nvCxnSpPr>
        <p:spPr>
          <a:xfrm xmlns:a="http://schemas.openxmlformats.org/drawingml/2006/main">
            <a:off x="809625" y="4048125"/>
            <a:ext cx="10334625"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Rectangle 12">
            <a:extLst xmlns:a="http://schemas.openxmlformats.org/drawingml/2006/main">
              <a:ext uri="{FF2B5EF4-FFF2-40B4-BE49-F238E27FC236}">
                <a16:creationId xmlns:a16="http://schemas.microsoft.com/office/drawing/2014/main" id="{E2EADD9C-34B7-423A-8481-007ACD14F25D}"/>
              </a:ext>
            </a:extLst>
          </p:cNvPr>
          <p:cNvSpPr>
            <a:spLocks xmlns:a="http://schemas.openxmlformats.org/drawingml/2006/main" noGrp="1"/>
          </p:cNvSpPr>
          <p:nvPr/>
        </p:nvSpPr>
        <p:spPr>
          <a:xfrm xmlns:a="http://schemas.openxmlformats.org/drawingml/2006/main">
            <a:off x="809625" y="4429125"/>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D</a:t>
            </a:r>
          </a:p>
        </p:txBody>
      </p:sp>
      <p:sp>
        <p:nvSpPr>
          <p:cNvPr id="14" name="Rectangle 13">
            <a:extLst xmlns:a="http://schemas.openxmlformats.org/drawingml/2006/main">
              <a:ext uri="{FF2B5EF4-FFF2-40B4-BE49-F238E27FC236}">
                <a16:creationId xmlns:a16="http://schemas.microsoft.com/office/drawing/2014/main" id="{78865455-ED7B-460B-AB6E-5953BFF844FB}"/>
              </a:ext>
            </a:extLst>
          </p:cNvPr>
          <p:cNvSpPr>
            <a:spLocks xmlns:a="http://schemas.openxmlformats.org/drawingml/2006/main" noGrp="1"/>
          </p:cNvSpPr>
          <p:nvPr/>
        </p:nvSpPr>
        <p:spPr>
          <a:xfrm xmlns:a="http://schemas.openxmlformats.org/drawingml/2006/main">
            <a:off x="2667000" y="44291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00" b="1" i="0">
                <a:solidFill>
                  <a:srgbClr val="000000"/>
                </a:solidFill>
                <a:latin typeface="Arial"/>
                <a:ea typeface="Arial"/>
                <a:cs typeface="Arial"/>
              </a:defRPr>
            </a:pPr>
            <a:r>
              <a:rPr sz="2100" b="1" i="0">
                <a:solidFill>
                  <a:srgbClr val="000000"/>
                </a:solidFill>
                <a:latin typeface="Arial"/>
                <a:ea typeface="Arial"/>
                <a:cs typeface="Arial"/>
              </a:rPr>
              <a:t>Opening to trade</a:t>
            </a:r>
          </a:p>
        </p:txBody>
      </p:sp>
      <p:sp>
        <p:nvSpPr>
          <p:cNvPr id="15" name="Rectangle 14">
            <a:extLst xmlns:a="http://schemas.openxmlformats.org/drawingml/2006/main">
              <a:ext uri="{FF2B5EF4-FFF2-40B4-BE49-F238E27FC236}">
                <a16:creationId xmlns:a16="http://schemas.microsoft.com/office/drawing/2014/main" id="{ED8AAA65-6C01-42A5-AB42-3EBD2841E328}"/>
              </a:ext>
            </a:extLst>
          </p:cNvPr>
          <p:cNvSpPr>
            <a:spLocks xmlns:a="http://schemas.openxmlformats.org/drawingml/2006/main" noGrp="1"/>
          </p:cNvSpPr>
          <p:nvPr/>
        </p:nvSpPr>
        <p:spPr>
          <a:xfrm xmlns:a="http://schemas.openxmlformats.org/drawingml/2006/main">
            <a:off x="6667500" y="4429125"/>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add a leakage, so MPW rises and k falls.</a:t>
            </a:r>
          </a:p>
        </p:txBody>
      </p:sp>
    </p:spTree>
    <p:extLst>
      <p:ext uri="{BB962C8B-B14F-4D97-AF65-F5344CB8AC3E}">
        <p14:creationId xmlns:p14="http://schemas.microsoft.com/office/powerpoint/2010/main" val="175383642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9708/41/O/N/24 Q1(b) [4]</a:t>
            </a:r>
          </a:p>
        </p:txBody>
      </p:sp>
      <p:cxnSp>
        <p:nvCxnSpPr>
          <p:cNvPr id="30"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50</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Explain how the extraction of natural resources in Ghana will ‘create further employment in other sectors through the multiplier effect’. [4]</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MARK TARGET</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0" i="0">
                <a:solidFill>
                  <a:srgbClr val="000000"/>
                </a:solidFill>
                <a:latin typeface="Arial"/>
                <a:ea typeface="Arial"/>
                <a:cs typeface="Arial"/>
              </a:defRPr>
            </a:pPr>
            <a:r>
              <a:rPr sz="2025" b="0" i="0">
                <a:solidFill>
                  <a:srgbClr val="000000"/>
                </a:solidFill>
                <a:latin typeface="Arial"/>
                <a:ea typeface="Arial"/>
                <a:cs typeface="Arial"/>
              </a:rPr>
              <a:t>2 marks: multiplier knowledge | 2 marks: case application</a:t>
            </a:r>
          </a:p>
        </p:txBody>
      </p:sp>
    </p:spTree>
    <p:extLst>
      <p:ext uri="{BB962C8B-B14F-4D97-AF65-F5344CB8AC3E}">
        <p14:creationId xmlns:p14="http://schemas.microsoft.com/office/powerpoint/2010/main" val="109163777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Ghana multiplier chain</a:t>
            </a:r>
          </a:p>
        </p:txBody>
      </p:sp>
      <p:cxnSp>
        <p:nvCxnSpPr>
          <p:cNvPr id="88"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51</a:t>
            </a:r>
          </a:p>
        </p:txBody>
      </p:sp>
      <p:cxnSp>
        <p:nvCxnSpPr>
          <p:cNvPr id="91"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2"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3"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1" i="0">
                <a:solidFill>
                  <a:srgbClr val="000000"/>
                </a:solidFill>
                <a:latin typeface="Arial"/>
                <a:ea typeface="Arial"/>
                <a:cs typeface="Arial"/>
              </a:defRPr>
            </a:pPr>
            <a:r>
              <a:rPr sz="1575" b="1" i="0">
                <a:solidFill>
                  <a:srgbClr val="000000"/>
                </a:solidFill>
                <a:latin typeface="Arial"/>
                <a:ea typeface="Arial"/>
                <a:cs typeface="Arial"/>
              </a:rPr>
              <a:t>Multiplier = total rise in output from an initial injection; k = ΔY/ΔJ.</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APPLY 1</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Oil extraction creates new jobs and incomes in Ghana.</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2</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Workers spend income in other sectors, creating more jobs and income.</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CHECK</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Name Ghana, the injection, income, re-spending and employment.</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539437" y="602932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1" i="0">
                <a:solidFill>
                  <a:srgbClr val="000000"/>
                </a:solidFill>
                <a:latin typeface="Arial"/>
                <a:ea typeface="Arial"/>
                <a:cs typeface="Arial"/>
              </a:defRPr>
            </a:pPr>
            <a:r>
              <a:rPr sz="1875" b="1" i="0">
                <a:solidFill>
                  <a:srgbClr val="000000"/>
                </a:solidFill>
                <a:latin typeface="Arial"/>
                <a:ea typeface="Arial"/>
                <a:cs typeface="Arial"/>
              </a:rPr>
              <a:t>Do not evaluate in a four-mark 'explain' response; complete the chain.</a:t>
            </a:r>
          </a:p>
        </p:txBody>
      </p:sp>
    </p:spTree>
    <p:extLst>
      <p:ext uri="{BB962C8B-B14F-4D97-AF65-F5344CB8AC3E}">
        <p14:creationId xmlns:p14="http://schemas.microsoft.com/office/powerpoint/2010/main" val="94133379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Teacher-created assessment: multiplier</a:t>
            </a:r>
          </a:p>
        </p:txBody>
      </p:sp>
      <p:cxnSp>
        <p:nvCxnSpPr>
          <p:cNvPr id="33"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52</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9526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open economy with government has MPS = 0.10, MPM = 0.20 and MRT = 0.20. Exports rise by £120m.</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a  Calculate MPW.</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b  Calculate the multiplier.</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1" i="0">
                <a:solidFill>
                  <a:srgbClr val="000000"/>
                </a:solidFill>
                <a:latin typeface="Arial"/>
                <a:ea typeface="Arial"/>
                <a:cs typeface="Arial"/>
              </a:defRPr>
            </a:pPr>
            <a:r>
              <a:rPr sz="2025" i="0">
                <a:solidFill>
                  <a:srgbClr val="000000"/>
                </a:solidFill>
                <a:latin typeface="Arial"/>
                <a:ea typeface="Arial"/>
                <a:cs typeface="Arial"/>
              </a:rPr>
              <a:t>c  Calculate the final change in national income.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1911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Explain one reason why the rise in real GDP may be smaller than your answer to c.</a:t>
            </a:r>
          </a:p>
        </p:txBody>
      </p:sp>
    </p:spTree>
    <p:extLst>
      <p:ext uri="{BB962C8B-B14F-4D97-AF65-F5344CB8AC3E}">
        <p14:creationId xmlns:p14="http://schemas.microsoft.com/office/powerpoint/2010/main" val="160088276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32-title">
            <a:extLst xmlns:a="http://schemas.openxmlformats.org/drawingml/2006/main">
              <a:ext uri="{FF2B5EF4-FFF2-40B4-BE49-F238E27FC236}">
                <a16:creationId xmlns:a16="http://schemas.microsoft.com/office/drawing/2014/main" id="{9B894E70-433A-4BF7-990F-7D05587A6D5C}"/>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Core Lessons 1-2: process, size and outcome</a:t>
            </a:r>
          </a:p>
        </p:txBody>
      </p:sp>
      <p:cxnSp>
        <p:nvCxnSpPr>
          <p:cNvPr id="67" name="Straight Arrow Connector 46"/>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ABCE905A-A9B8-46C4-BCCF-C6B59E6CB22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979478D-5CE9-4E38-9195-1E97D33D590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53</a:t>
            </a:r>
          </a:p>
        </p:txBody>
      </p:sp>
      <p:cxnSp>
        <p:nvCxnSpPr>
          <p:cNvPr id="70" name="Straight Arrow Connector 49"/>
          <p:cNvCxnSpPr/>
          <p:nvPr/>
        </p:nvCxnSpPr>
        <p:spPr>
          <a:xfrm xmlns:a="http://schemas.openxmlformats.org/drawingml/2006/main">
            <a:off x="1638169" y="2514647"/>
            <a:ext cx="8953500" cy="95"/>
          </a:xfrm>
          <a:prstGeom xmlns:a="http://schemas.openxmlformats.org/drawingml/2006/main" prst="straightConnector1">
            <a:avLst/>
          </a:prstGeom>
          <a:ln xmlns:a="http://schemas.openxmlformats.org/drawingml/2006/main" w="28575">
            <a:solidFill>
              <a:srgbClr val="B8BCC4"/>
            </a:solidFill>
            <a:prstDash val="solid"/>
          </a:ln>
        </p:spPr>
      </p:cxnSp>
      <p:sp>
        <p:nvSpPr>
          <p:cNvPr id="6" name="Oval 5">
            <a:extLst xmlns:a="http://schemas.openxmlformats.org/drawingml/2006/main">
              <a:ext uri="{FF2B5EF4-FFF2-40B4-BE49-F238E27FC236}">
                <a16:creationId xmlns:a16="http://schemas.microsoft.com/office/drawing/2014/main" id="{6B5182AC-9591-4B6A-95DA-A6850D5AA88C}"/>
              </a:ext>
            </a:extLst>
          </p:cNvPr>
          <p:cNvSpPr>
            <a:spLocks xmlns:a="http://schemas.openxmlformats.org/drawingml/2006/main" noGrp="1"/>
          </p:cNvSpPr>
          <p:nvPr/>
        </p:nvSpPr>
        <p:spPr>
          <a:xfrm xmlns:a="http://schemas.openxmlformats.org/drawingml/2006/main">
            <a:off x="1257169" y="1990772"/>
            <a:ext cx="1047750" cy="10477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C0D61783-26B6-4A86-88AF-9E7ECD2CF4C8}"/>
              </a:ext>
            </a:extLst>
          </p:cNvPr>
          <p:cNvSpPr>
            <a:spLocks xmlns:a="http://schemas.openxmlformats.org/drawingml/2006/main" noGrp="1"/>
          </p:cNvSpPr>
          <p:nvPr/>
        </p:nvSpPr>
        <p:spPr>
          <a:xfrm xmlns:a="http://schemas.openxmlformats.org/drawingml/2006/main">
            <a:off x="87616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PROCESS</a:t>
            </a:r>
          </a:p>
        </p:txBody>
      </p:sp>
      <p:sp>
        <p:nvSpPr>
          <p:cNvPr id="8" name="Rectangle 7">
            <a:extLst xmlns:a="http://schemas.openxmlformats.org/drawingml/2006/main">
              <a:ext uri="{FF2B5EF4-FFF2-40B4-BE49-F238E27FC236}">
                <a16:creationId xmlns:a16="http://schemas.microsoft.com/office/drawing/2014/main" id="{2EB3DF0D-D324-40FC-8735-94DB2341616D}"/>
              </a:ext>
            </a:extLst>
          </p:cNvPr>
          <p:cNvSpPr>
            <a:spLocks xmlns:a="http://schemas.openxmlformats.org/drawingml/2006/main" noGrp="1"/>
          </p:cNvSpPr>
          <p:nvPr/>
        </p:nvSpPr>
        <p:spPr>
          <a:xfrm xmlns:a="http://schemas.openxmlformats.org/drawingml/2006/main">
            <a:off x="49516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An injection becomes income, then repeated rounds of spending.</a:t>
            </a:r>
          </a:p>
        </p:txBody>
      </p:sp>
      <p:sp>
        <p:nvSpPr>
          <p:cNvPr id="9" name="Oval 8">
            <a:extLst xmlns:a="http://schemas.openxmlformats.org/drawingml/2006/main">
              <a:ext uri="{FF2B5EF4-FFF2-40B4-BE49-F238E27FC236}">
                <a16:creationId xmlns:a16="http://schemas.microsoft.com/office/drawing/2014/main" id="{9EE759D6-35AF-45C3-B516-0D6A2792B0D1}"/>
              </a:ext>
            </a:extLst>
          </p:cNvPr>
          <p:cNvSpPr>
            <a:spLocks xmlns:a="http://schemas.openxmlformats.org/drawingml/2006/main" noGrp="1"/>
          </p:cNvSpPr>
          <p:nvPr/>
        </p:nvSpPr>
        <p:spPr>
          <a:xfrm xmlns:a="http://schemas.openxmlformats.org/drawingml/2006/main">
            <a:off x="4781419" y="1990772"/>
            <a:ext cx="1047750" cy="1047750"/>
          </a:xfrm>
          <a:prstGeom xmlns:a="http://schemas.openxmlformats.org/drawingml/2006/main" prst="ellipse">
            <a:avLst/>
          </a:prstGeom>
          <a:solidFill xmlns:a="http://schemas.openxmlformats.org/drawingml/2006/main">
            <a:srgbClr val="EAF5FB"/>
          </a:solidFill>
          <a:ln xmlns:a="http://schemas.openxmlformats.org/drawingml/2006/main" w="9525">
            <a:solidFill>
              <a:srgbClr val="3D8DFF"/>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10" name="Rectangle 9">
            <a:extLst xmlns:a="http://schemas.openxmlformats.org/drawingml/2006/main">
              <a:ext uri="{FF2B5EF4-FFF2-40B4-BE49-F238E27FC236}">
                <a16:creationId xmlns:a16="http://schemas.microsoft.com/office/drawing/2014/main" id="{6768D990-09E5-4BD3-B19C-F71818DCB80A}"/>
              </a:ext>
            </a:extLst>
          </p:cNvPr>
          <p:cNvSpPr>
            <a:spLocks xmlns:a="http://schemas.openxmlformats.org/drawingml/2006/main" noGrp="1"/>
          </p:cNvSpPr>
          <p:nvPr/>
        </p:nvSpPr>
        <p:spPr>
          <a:xfrm xmlns:a="http://schemas.openxmlformats.org/drawingml/2006/main">
            <a:off x="440041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SIZE</a:t>
            </a:r>
          </a:p>
        </p:txBody>
      </p:sp>
      <p:sp>
        <p:nvSpPr>
          <p:cNvPr id="11" name="Rectangle 10">
            <a:extLst xmlns:a="http://schemas.openxmlformats.org/drawingml/2006/main">
              <a:ext uri="{FF2B5EF4-FFF2-40B4-BE49-F238E27FC236}">
                <a16:creationId xmlns:a16="http://schemas.microsoft.com/office/drawing/2014/main" id="{0F1CACD2-4FA1-46FC-A4E0-84860FBAE73B}"/>
              </a:ext>
            </a:extLst>
          </p:cNvPr>
          <p:cNvSpPr>
            <a:spLocks xmlns:a="http://schemas.openxmlformats.org/drawingml/2006/main" noGrp="1"/>
          </p:cNvSpPr>
          <p:nvPr/>
        </p:nvSpPr>
        <p:spPr>
          <a:xfrm xmlns:a="http://schemas.openxmlformats.org/drawingml/2006/main">
            <a:off x="401941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k = 1/MPW. More saving, imports or tax means a smaller multiplier.</a:t>
            </a:r>
          </a:p>
        </p:txBody>
      </p:sp>
      <p:sp>
        <p:nvSpPr>
          <p:cNvPr id="12" name="Oval 11">
            <a:extLst xmlns:a="http://schemas.openxmlformats.org/drawingml/2006/main">
              <a:ext uri="{FF2B5EF4-FFF2-40B4-BE49-F238E27FC236}">
                <a16:creationId xmlns:a16="http://schemas.microsoft.com/office/drawing/2014/main" id="{560CD2CC-3ABD-48E1-8803-E64FD5AE5AB5}"/>
              </a:ext>
            </a:extLst>
          </p:cNvPr>
          <p:cNvSpPr>
            <a:spLocks xmlns:a="http://schemas.openxmlformats.org/drawingml/2006/main" noGrp="1"/>
          </p:cNvSpPr>
          <p:nvPr/>
        </p:nvSpPr>
        <p:spPr>
          <a:xfrm xmlns:a="http://schemas.openxmlformats.org/drawingml/2006/main">
            <a:off x="8305669" y="1990772"/>
            <a:ext cx="1047750" cy="1047750"/>
          </a:xfrm>
          <a:prstGeom xmlns:a="http://schemas.openxmlformats.org/drawingml/2006/main" prst="ellipse">
            <a:avLst/>
          </a:prstGeom>
          <a:solidFill xmlns:a="http://schemas.openxmlformats.org/drawingml/2006/main">
            <a:srgbClr val="EAF6EF"/>
          </a:solidFill>
          <a:ln xmlns:a="http://schemas.openxmlformats.org/drawingml/2006/main" w="9525">
            <a:solidFill>
              <a:srgbClr val="2B9A66"/>
            </a:solid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13" name="Rectangle 12">
            <a:extLst xmlns:a="http://schemas.openxmlformats.org/drawingml/2006/main">
              <a:ext uri="{FF2B5EF4-FFF2-40B4-BE49-F238E27FC236}">
                <a16:creationId xmlns:a16="http://schemas.microsoft.com/office/drawing/2014/main" id="{8CBA91D2-B24D-458B-953A-52712ACCDEEC}"/>
              </a:ext>
            </a:extLst>
          </p:cNvPr>
          <p:cNvSpPr>
            <a:spLocks xmlns:a="http://schemas.openxmlformats.org/drawingml/2006/main" noGrp="1"/>
          </p:cNvSpPr>
          <p:nvPr/>
        </p:nvSpPr>
        <p:spPr>
          <a:xfrm xmlns:a="http://schemas.openxmlformats.org/drawingml/2006/main">
            <a:off x="7924669" y="3419522"/>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425" b="1" i="0">
                <a:solidFill>
                  <a:srgbClr val="2B9A66"/>
                </a:solidFill>
                <a:latin typeface="Arial"/>
                <a:ea typeface="Arial"/>
                <a:cs typeface="Arial"/>
              </a:defRPr>
            </a:pPr>
            <a:r>
              <a:rPr sz="1425" b="1" i="0">
                <a:solidFill>
                  <a:srgbClr val="2B9A66"/>
                </a:solidFill>
                <a:latin typeface="Arial"/>
                <a:ea typeface="Arial"/>
                <a:cs typeface="Arial"/>
              </a:rPr>
              <a:t>OUTCOME</a:t>
            </a:r>
          </a:p>
        </p:txBody>
      </p:sp>
      <p:sp>
        <p:nvSpPr>
          <p:cNvPr id="14" name="Rectangle 13">
            <a:extLst xmlns:a="http://schemas.openxmlformats.org/drawingml/2006/main">
              <a:ext uri="{FF2B5EF4-FFF2-40B4-BE49-F238E27FC236}">
                <a16:creationId xmlns:a16="http://schemas.microsoft.com/office/drawing/2014/main" id="{C4856213-0F74-4BB2-839E-4AC23E393483}"/>
              </a:ext>
            </a:extLst>
          </p:cNvPr>
          <p:cNvSpPr>
            <a:spLocks xmlns:a="http://schemas.openxmlformats.org/drawingml/2006/main" noGrp="1"/>
          </p:cNvSpPr>
          <p:nvPr/>
        </p:nvSpPr>
        <p:spPr>
          <a:xfrm xmlns:a="http://schemas.openxmlformats.org/drawingml/2006/main">
            <a:off x="7543669" y="3895772"/>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75" b="0" i="0">
                <a:solidFill>
                  <a:srgbClr val="000000"/>
                </a:solidFill>
                <a:latin typeface="Arial"/>
                <a:ea typeface="Arial"/>
                <a:cs typeface="Arial"/>
              </a:defRPr>
            </a:pPr>
            <a:r>
              <a:rPr sz="1575" b="0" i="0">
                <a:solidFill>
                  <a:srgbClr val="000000"/>
                </a:solidFill>
                <a:latin typeface="Arial"/>
                <a:ea typeface="Arial"/>
                <a:cs typeface="Arial"/>
              </a:rPr>
              <a:t>ΔY = k × ΔJ, but real output versus inflation depends on spare capacity.</a:t>
            </a:r>
          </a:p>
        </p:txBody>
      </p:sp>
      <p:sp>
        <p:nvSpPr>
          <p:cNvPr id="15" name="Rectangle 14">
            <a:extLst xmlns:a="http://schemas.openxmlformats.org/drawingml/2006/main">
              <a:ext uri="{FF2B5EF4-FFF2-40B4-BE49-F238E27FC236}">
                <a16:creationId xmlns:a16="http://schemas.microsoft.com/office/drawing/2014/main" id="{5476BFBB-8864-408B-8349-BDDD8373681A}"/>
              </a:ext>
            </a:extLst>
          </p:cNvPr>
          <p:cNvSpPr>
            <a:spLocks xmlns:a="http://schemas.openxmlformats.org/drawingml/2006/main" noGrp="1"/>
          </p:cNvSpPr>
          <p:nvPr/>
        </p:nvSpPr>
        <p:spPr>
          <a:xfrm xmlns:a="http://schemas.openxmlformats.org/drawingml/2006/main">
            <a:off x="2381250" y="57626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1" i="0">
                <a:solidFill>
                  <a:srgbClr val="3D8DFF"/>
                </a:solidFill>
                <a:latin typeface="Arial"/>
                <a:ea typeface="Arial"/>
                <a:cs typeface="Arial"/>
              </a:defRPr>
            </a:pPr>
            <a:r>
              <a:rPr sz="1875" b="1" i="0">
                <a:solidFill>
                  <a:srgbClr val="3D8DFF"/>
                </a:solidFill>
                <a:latin typeface="Arial"/>
                <a:ea typeface="Arial"/>
                <a:cs typeface="Arial"/>
              </a:rPr>
              <a:t>Final challenge: MPW 0.50 | k 2 | ΔY £240m</a:t>
            </a:r>
          </a:p>
        </p:txBody>
      </p:sp>
    </p:spTree>
    <p:extLst>
      <p:ext uri="{BB962C8B-B14F-4D97-AF65-F5344CB8AC3E}">
        <p14:creationId xmlns:p14="http://schemas.microsoft.com/office/powerpoint/2010/main" val="124687471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31-title">
            <a:extLst xmlns:a="http://schemas.openxmlformats.org/drawingml/2006/main">
              <a:ext uri="{FF2B5EF4-FFF2-40B4-BE49-F238E27FC236}">
                <a16:creationId xmlns:a16="http://schemas.microsoft.com/office/drawing/2014/main" id="{69DC62F9-9533-4541-A963-481B64E892F5}"/>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9708/32/F/M/26 Q15</a:t>
            </a:r>
          </a:p>
        </p:txBody>
      </p:sp>
      <p:cxnSp>
        <p:nvCxnSpPr>
          <p:cNvPr id="33" name="Straight Arrow Connector 2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6B5BECA3-C04E-478E-82FB-3B3927E64C24}"/>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53A4AF3A-178E-4AB8-84A8-C07FD2C2DECB}"/>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54</a:t>
            </a:r>
          </a:p>
        </p:txBody>
      </p:sp>
      <p:sp>
        <p:nvSpPr>
          <p:cNvPr id="5" name="Rectangle 4">
            <a:extLst xmlns:a="http://schemas.openxmlformats.org/drawingml/2006/main">
              <a:ext uri="{FF2B5EF4-FFF2-40B4-BE49-F238E27FC236}">
                <a16:creationId xmlns:a16="http://schemas.microsoft.com/office/drawing/2014/main" id="{50B0A7F0-41FB-4B26-BABE-1F7EEB579F6B}"/>
              </a:ext>
            </a:extLst>
          </p:cNvPr>
          <p:cNvSpPr>
            <a:spLocks xmlns:a="http://schemas.openxmlformats.org/drawingml/2006/main" noGrp="1"/>
          </p:cNvSpPr>
          <p:nvPr/>
        </p:nvSpPr>
        <p:spPr>
          <a:xfrm xmlns:a="http://schemas.openxmlformats.org/drawingml/2006/main">
            <a:off x="666750" y="1571625"/>
            <a:ext cx="10858500" cy="1190625"/>
          </a:xfrm>
          <a:prstGeom xmlns:a="http://schemas.openxmlformats.org/drawingml/2006/main" prst="rect">
            <a:avLst/>
          </a:prstGeom>
          <a:solidFill xmlns:a="http://schemas.openxmlformats.org/drawingml/2006/main">
            <a:srgbClr val="F7F7F5"/>
          </a:solidFill>
          <a:ln xmlns:a="http://schemas.openxmlformats.org/drawingml/2006/main" w="9525">
            <a:solidFill>
              <a:srgbClr val="B8BCC4"/>
            </a:solidFill>
            <a:prstDash val="solid"/>
          </a:ln>
        </p:spPr>
      </p:sp>
      <p:sp>
        <p:nvSpPr>
          <p:cNvPr id="6" name="Rectangle 5">
            <a:extLst xmlns:a="http://schemas.openxmlformats.org/drawingml/2006/main">
              <a:ext uri="{FF2B5EF4-FFF2-40B4-BE49-F238E27FC236}">
                <a16:creationId xmlns:a16="http://schemas.microsoft.com/office/drawing/2014/main" id="{71311297-12B1-4CB6-9B5E-BC78BCF76CB6}"/>
              </a:ext>
            </a:extLst>
          </p:cNvPr>
          <p:cNvSpPr>
            <a:spLocks xmlns:a="http://schemas.openxmlformats.org/drawingml/2006/main" noGrp="1"/>
          </p:cNvSpPr>
          <p:nvPr/>
        </p:nvSpPr>
        <p:spPr>
          <a:xfrm xmlns:a="http://schemas.openxmlformats.org/drawingml/2006/main">
            <a:off x="1047750" y="1619298"/>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estimate of the consumption function of an economy is given by an equation C = 10 000 + 0.8Y where C = consumption and Y = income.</a:t>
            </a:r>
            <a:r>
              <a:rPr sz="2025" b="1" i="0">
                <a:solidFill>
                  <a:srgbClr val="000000"/>
                </a:solidFill>
                <a:latin typeface="Arial"/>
                <a:ea typeface="Arial"/>
                <a:cs typeface="Arial"/>
              </a:rPr>
              <a:t> </a:t>
            </a:r>
            <a:endParaRPr sz="2025" b="1" i="0">
              <a:solidFill>
                <a:srgbClr val="000000"/>
              </a:solidFill>
              <a:latin typeface="Arial"/>
              <a:ea typeface="Arial"/>
              <a:cs typeface="Arial"/>
            </a:endParaRPr>
          </a:p>
          <a:p xmlns:a="http://schemas.openxmlformats.org/drawingml/2006/main">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Which conclusion can be drawn from this information?</a:t>
            </a:r>
          </a:p>
        </p:txBody>
      </p:sp>
      <p:sp>
        <p:nvSpPr>
          <p:cNvPr id="7" name="Rectangle 6">
            <a:extLst xmlns:a="http://schemas.openxmlformats.org/drawingml/2006/main">
              <a:ext uri="{FF2B5EF4-FFF2-40B4-BE49-F238E27FC236}">
                <a16:creationId xmlns:a16="http://schemas.microsoft.com/office/drawing/2014/main" id="{1EB35655-0256-41EC-8381-660B6A718513}"/>
              </a:ext>
            </a:extLst>
          </p:cNvPr>
          <p:cNvSpPr>
            <a:spLocks xmlns:a="http://schemas.openxmlformats.org/drawingml/2006/main" noGrp="1"/>
          </p:cNvSpPr>
          <p:nvPr/>
        </p:nvSpPr>
        <p:spPr>
          <a:xfrm xmlns:a="http://schemas.openxmlformats.org/drawingml/2006/main">
            <a:off x="1333500" y="31908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A  The average propensity to consume is constant.</a:t>
            </a:r>
          </a:p>
        </p:txBody>
      </p:sp>
      <p:sp>
        <p:nvSpPr>
          <p:cNvPr id="8" name="Rectangle 7">
            <a:extLst xmlns:a="http://schemas.openxmlformats.org/drawingml/2006/main">
              <a:ext uri="{FF2B5EF4-FFF2-40B4-BE49-F238E27FC236}">
                <a16:creationId xmlns:a16="http://schemas.microsoft.com/office/drawing/2014/main" id="{3277A4A2-BB06-4A10-9C25-8826118B6970}"/>
              </a:ext>
            </a:extLst>
          </p:cNvPr>
          <p:cNvSpPr>
            <a:spLocks xmlns:a="http://schemas.openxmlformats.org/drawingml/2006/main" noGrp="1"/>
          </p:cNvSpPr>
          <p:nvPr/>
        </p:nvSpPr>
        <p:spPr>
          <a:xfrm xmlns:a="http://schemas.openxmlformats.org/drawingml/2006/main">
            <a:off x="1333500" y="38576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B  The average propensity to consume increases as income increases.</a:t>
            </a:r>
          </a:p>
        </p:txBody>
      </p:sp>
      <p:sp>
        <p:nvSpPr>
          <p:cNvPr id="9" name="Rectangle 8">
            <a:extLst xmlns:a="http://schemas.openxmlformats.org/drawingml/2006/main">
              <a:ext uri="{FF2B5EF4-FFF2-40B4-BE49-F238E27FC236}">
                <a16:creationId xmlns:a16="http://schemas.microsoft.com/office/drawing/2014/main" id="{46540196-AFB4-45A5-A3A4-07C7F6E44721}"/>
              </a:ext>
            </a:extLst>
          </p:cNvPr>
          <p:cNvSpPr>
            <a:spLocks xmlns:a="http://schemas.openxmlformats.org/drawingml/2006/main" noGrp="1"/>
          </p:cNvSpPr>
          <p:nvPr/>
        </p:nvSpPr>
        <p:spPr>
          <a:xfrm xmlns:a="http://schemas.openxmlformats.org/drawingml/2006/main">
            <a:off x="1333500" y="4524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rPr sz="2025">
                <a:solidFill>
                  <a:srgbClr val="000000"/>
                </a:solidFill>
                <a:latin typeface="Arial"/>
                <a:ea typeface="Arial"/>
                <a:cs typeface="Arial"/>
              </a:rPr>
              <a:t>C  The average propensity to consume is always equal to the marginal propensity to consume.</a:t>
            </a:r>
          </a:p>
        </p:txBody>
      </p:sp>
      <p:sp>
        <p:nvSpPr>
          <p:cNvPr id="10" name="Rectangle 9">
            <a:extLst xmlns:a="http://schemas.openxmlformats.org/drawingml/2006/main">
              <a:ext uri="{FF2B5EF4-FFF2-40B4-BE49-F238E27FC236}">
                <a16:creationId xmlns:a16="http://schemas.microsoft.com/office/drawing/2014/main" id="{635C7BE1-EBAB-45A6-A6F0-86CBD8ABBE7F}"/>
              </a:ext>
            </a:extLst>
          </p:cNvPr>
          <p:cNvSpPr>
            <a:spLocks xmlns:a="http://schemas.openxmlformats.org/drawingml/2006/main" noGrp="1"/>
          </p:cNvSpPr>
          <p:nvPr/>
        </p:nvSpPr>
        <p:spPr>
          <a:xfrm xmlns:a="http://schemas.openxmlformats.org/drawingml/2006/main">
            <a:off x="1333500" y="5381625"/>
            <a:ext cx="9525000" cy="76824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025" b="0" i="0">
                <a:solidFill>
                  <a:srgbClr val="000000"/>
                </a:solidFill>
                <a:latin typeface="Arial"/>
                <a:ea typeface="Arial"/>
                <a:cs typeface="Arial"/>
              </a:defRPr>
            </a:pPr>
            <a:r>
              <a:rPr sz="2025" i="0">
                <a:solidFill>
                  <a:srgbClr val="000000"/>
                </a:solidFill>
                <a:latin typeface="Arial"/>
                <a:ea typeface="Arial"/>
                <a:cs typeface="Arial"/>
              </a:rPr>
              <a:t>D  The average propensity to consume is always greater than the marginal propensity to consume.</a:t>
            </a:r>
          </a:p>
        </p:txBody>
      </p:sp>
    </p:spTree>
    <p:extLst>
      <p:ext uri="{BB962C8B-B14F-4D97-AF65-F5344CB8AC3E}">
        <p14:creationId xmlns:p14="http://schemas.microsoft.com/office/powerpoint/2010/main" val="160088276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9708/41/O/N/21 Q4(a) [12]</a:t>
            </a:r>
          </a:p>
        </p:txBody>
      </p:sp>
      <p:cxnSp>
        <p:nvCxnSpPr>
          <p:cNvPr id="30"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55</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Explain what economists mean by the marginal propensity to consume and consider the importance of this concept in relation to government macroeconomic policy. [12]</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75" b="0" i="0">
                <a:solidFill>
                  <a:srgbClr val="000000"/>
                </a:solidFill>
                <a:latin typeface="Arial"/>
                <a:ea typeface="Arial"/>
                <a:cs typeface="Arial"/>
              </a:defRPr>
            </a:pPr>
            <a:r>
              <a:rPr sz="1875" b="0" i="0">
                <a:solidFill>
                  <a:srgbClr val="000000"/>
                </a:solidFill>
                <a:latin typeface="Arial"/>
                <a:ea typeface="Arial"/>
                <a:cs typeface="Arial"/>
              </a:rPr>
              <a:t>Today: define MPC and explain its multiplier link. Complete the policy evaluation later.</a:t>
            </a:r>
          </a:p>
        </p:txBody>
      </p:sp>
    </p:spTree>
    <p:extLst>
      <p:ext uri="{BB962C8B-B14F-4D97-AF65-F5344CB8AC3E}">
        <p14:creationId xmlns:p14="http://schemas.microsoft.com/office/powerpoint/2010/main" val="10916377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9708/41/O/N/21 Q4(a)</a:t>
            </a:r>
          </a:p>
        </p:txBody>
      </p:sp>
      <p:cxnSp>
        <p:nvCxnSpPr>
          <p:cNvPr id="88"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56</a:t>
            </a:r>
          </a:p>
        </p:txBody>
      </p:sp>
      <p:cxnSp>
        <p:nvCxnSpPr>
          <p:cNvPr id="91"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2"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3"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MPC = ΔC/ΔY</a:t>
            </a:r>
          </a:p>
          <a:p xmlns:a="http://schemas.openxmlformats.org/drawingml/2006/main">
            <a:endParaRPr sz="1800" b="1" i="0">
              <a:solidFill>
                <a:srgbClr val="000000"/>
              </a:solidFill>
              <a:latin typeface="Arial"/>
              <a:ea typeface="Arial"/>
              <a:cs typeface="Arial"/>
            </a:endParaRPr>
          </a:p>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C = a + bY; b is MPC.</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EXPLAIN</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Higher MPC -&gt; lower MPW -&gt; larger k and a stronger change in AD.</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LATER</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Link to growth, employment, inflation, the BOP and redistribution.</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JUDGE LATER</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Importance varies by policy, MPM/MRT/MPS, spare capacity and confidence.</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75" b="1" i="0">
                <a:solidFill>
                  <a:srgbClr val="000000"/>
                </a:solidFill>
                <a:latin typeface="Arial"/>
                <a:ea typeface="Arial"/>
                <a:cs typeface="Arial"/>
              </a:defRPr>
            </a:pPr>
            <a:r>
              <a:rPr sz="1875" b="1" i="0">
                <a:solidFill>
                  <a:srgbClr val="000000"/>
                </a:solidFill>
                <a:latin typeface="Arial"/>
                <a:ea typeface="Arial"/>
                <a:cs typeface="Arial"/>
              </a:rPr>
              <a:t>Use familiar AS policy tools; return for the full A Level policy evaluation.</a:t>
            </a:r>
          </a:p>
        </p:txBody>
      </p:sp>
    </p:spTree>
    <p:extLst>
      <p:ext uri="{BB962C8B-B14F-4D97-AF65-F5344CB8AC3E}">
        <p14:creationId xmlns:p14="http://schemas.microsoft.com/office/powerpoint/2010/main" val="94133379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9708/41/M/J/26 Q4 [20]</a:t>
            </a:r>
          </a:p>
        </p:txBody>
      </p:sp>
      <p:cxnSp>
        <p:nvCxnSpPr>
          <p:cNvPr id="30"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57</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500" b="1" i="0">
                <a:solidFill>
                  <a:srgbClr val="000000"/>
                </a:solidFill>
                <a:latin typeface="Arial"/>
                <a:ea typeface="Arial"/>
                <a:cs typeface="Arial"/>
              </a:defRPr>
            </a:pPr>
            <a:r>
              <a:rPr sz="1500" b="1" i="0">
                <a:solidFill>
                  <a:srgbClr val="000000"/>
                </a:solidFill>
                <a:latin typeface="Arial"/>
                <a:ea typeface="Arial"/>
                <a:cs typeface="Arial"/>
              </a:rPr>
              <a:t>Due to the multiplier process, governments conducting an expansionary fiscal policy do not need to increase spending by the full amount of the negative output gap to bring the output of the economy to its full employment level. Evaluate this statement. [20]</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AS AD/AS is familiar. First add output gaps and extended fiscal-policy evaluation.</a:t>
            </a:r>
          </a:p>
        </p:txBody>
      </p:sp>
    </p:spTree>
    <p:extLst>
      <p:ext uri="{BB962C8B-B14F-4D97-AF65-F5344CB8AC3E}">
        <p14:creationId xmlns:p14="http://schemas.microsoft.com/office/powerpoint/2010/main" val="109163777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30-title">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9708/41/M/J/26 Q4</a:t>
            </a:r>
          </a:p>
        </p:txBody>
      </p:sp>
      <p:cxnSp>
        <p:nvCxnSpPr>
          <p:cNvPr id="88" name="Straight Arrow Connector 59"/>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58</a:t>
            </a:r>
          </a:p>
        </p:txBody>
      </p:sp>
      <p:cxnSp>
        <p:nvCxnSpPr>
          <p:cNvPr id="91" name="Straight Arrow Connector 62"/>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2" name="Straight Arrow Connector 63"/>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3" name="Straight Arrow Connector 64"/>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Rectangle 7">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OUTPUT GAP</a:t>
            </a:r>
          </a:p>
        </p:txBody>
      </p:sp>
      <p:sp>
        <p:nvSpPr>
          <p:cNvPr id="9" name="Rectangle 8">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Actual output &lt; potential output.</a:t>
            </a:r>
          </a:p>
          <a:p xmlns:a="http://schemas.openxmlformats.org/drawingml/2006/main">
            <a:endParaRPr sz="1800" b="1" i="0">
              <a:solidFill>
                <a:srgbClr val="000000"/>
              </a:solidFill>
              <a:latin typeface="Arial"/>
              <a:ea typeface="Arial"/>
              <a:cs typeface="Arial"/>
            </a:endParaRPr>
          </a:p>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Full employment removes cyclical unemployment.</a:t>
            </a:r>
          </a:p>
        </p:txBody>
      </p:sp>
      <p:sp>
        <p:nvSpPr>
          <p:cNvPr id="10" name="Rectangle 9">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MULTIPLIER</a:t>
            </a:r>
          </a:p>
        </p:txBody>
      </p:sp>
      <p:sp>
        <p:nvSpPr>
          <p:cNvPr id="11" name="Rectangle 10">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 is an injection; repeated rounds mean ΔY = k × ΔG.</a:t>
            </a:r>
          </a:p>
        </p:txBody>
      </p:sp>
      <p:sp>
        <p:nvSpPr>
          <p:cNvPr id="12" name="Rectangle 11">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AD/AS</a:t>
            </a:r>
          </a:p>
        </p:txBody>
      </p:sp>
      <p:sp>
        <p:nvSpPr>
          <p:cNvPr id="13" name="Rectangle 12">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Show AD moving toward full-employment output; explain the total shift exceeds ΔG.</a:t>
            </a:r>
          </a:p>
        </p:txBody>
      </p:sp>
      <p:sp>
        <p:nvSpPr>
          <p:cNvPr id="14" name="Rectangle 13">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EVALUATE</a:t>
            </a:r>
          </a:p>
        </p:txBody>
      </p:sp>
      <p:sp>
        <p:nvSpPr>
          <p:cNvPr id="15" name="Rectangle 14">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Unstable k, high MPM, crowding out, debt, time lags and overshooting inflation.</a:t>
            </a:r>
          </a:p>
        </p:txBody>
      </p:sp>
      <p:sp>
        <p:nvSpPr>
          <p:cNvPr id="16" name="Rectangle 15">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Return after output gaps and A Level policy evaluation, including crowding out and time lags.</a:t>
            </a:r>
          </a:p>
        </p:txBody>
      </p:sp>
    </p:spTree>
    <p:extLst>
      <p:ext uri="{BB962C8B-B14F-4D97-AF65-F5344CB8AC3E}">
        <p14:creationId xmlns:p14="http://schemas.microsoft.com/office/powerpoint/2010/main" val="94133379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9-title">
            <a:extLst xmlns:a="http://schemas.openxmlformats.org/drawingml/2006/main">
              <a:ext uri="{FF2B5EF4-FFF2-40B4-BE49-F238E27FC236}">
                <a16:creationId xmlns:a16="http://schemas.microsoft.com/office/drawing/2014/main" id="{64BB336E-D6D4-4954-86E1-50C2921E80AE}"/>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9708/44/M/J/26 Q4 [20]</a:t>
            </a:r>
          </a:p>
        </p:txBody>
      </p:sp>
      <p:cxnSp>
        <p:nvCxnSpPr>
          <p:cNvPr id="30" name="Straight Arrow Connector 21"/>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Rectangle 2">
            <a:extLst xmlns:a="http://schemas.openxmlformats.org/drawingml/2006/main">
              <a:ext uri="{FF2B5EF4-FFF2-40B4-BE49-F238E27FC236}">
                <a16:creationId xmlns:a16="http://schemas.microsoft.com/office/drawing/2014/main" id="{9F8EEA27-5156-4EE2-9C9A-FC8019FF006C}"/>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Rectangle 3">
            <a:extLst xmlns:a="http://schemas.openxmlformats.org/drawingml/2006/main">
              <a:ext uri="{FF2B5EF4-FFF2-40B4-BE49-F238E27FC236}">
                <a16:creationId xmlns:a16="http://schemas.microsoft.com/office/drawing/2014/main" id="{CB150D57-C97C-4348-AE13-E46B1C9689BF}"/>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59</a:t>
            </a:r>
          </a:p>
        </p:txBody>
      </p:sp>
      <p:sp>
        <p:nvSpPr>
          <p:cNvPr id="5" name="Rectangle 4">
            <a:extLst xmlns:a="http://schemas.openxmlformats.org/drawingml/2006/main">
              <a:ext uri="{FF2B5EF4-FFF2-40B4-BE49-F238E27FC236}">
                <a16:creationId xmlns:a16="http://schemas.microsoft.com/office/drawing/2014/main" id="{C019E555-1B74-4D2B-A021-8ECB42B594EE}"/>
              </a:ext>
            </a:extLst>
          </p:cNvPr>
          <p:cNvSpPr>
            <a:spLocks xmlns:a="http://schemas.openxmlformats.org/drawingml/2006/main" noGrp="1"/>
          </p:cNvSpPr>
          <p:nvPr/>
        </p:nvSpPr>
        <p:spPr>
          <a:xfrm xmlns:a="http://schemas.openxmlformats.org/drawingml/2006/main">
            <a:off x="857250" y="1666875"/>
            <a:ext cx="10477500" cy="2000250"/>
          </a:xfrm>
          <a:prstGeom xmlns:a="http://schemas.openxmlformats.org/drawingml/2006/main" prst="rect">
            <a:avLst/>
          </a:prstGeom>
          <a:solidFill xmlns:a="http://schemas.openxmlformats.org/drawingml/2006/main">
            <a:srgbClr val="EAF5FB"/>
          </a:solidFill>
          <a:ln xmlns:a="http://schemas.openxmlformats.org/drawingml/2006/main" w="19050">
            <a:solidFill>
              <a:srgbClr val="3D8DFF"/>
            </a:solidFill>
            <a:prstDash val="solid"/>
          </a:ln>
        </p:spPr>
      </p:sp>
      <p:sp>
        <p:nvSpPr>
          <p:cNvPr id="6" name="Rectangle 5">
            <a:extLst xmlns:a="http://schemas.openxmlformats.org/drawingml/2006/main">
              <a:ext uri="{FF2B5EF4-FFF2-40B4-BE49-F238E27FC236}">
                <a16:creationId xmlns:a16="http://schemas.microsoft.com/office/drawing/2014/main" id="{DFD8891B-9E8C-4789-BF50-00A7BB59BB7C}"/>
              </a:ext>
            </a:extLst>
          </p:cNvPr>
          <p:cNvSpPr>
            <a:spLocks xmlns:a="http://schemas.openxmlformats.org/drawingml/2006/main" noGrp="1"/>
          </p:cNvSpPr>
          <p:nvPr/>
        </p:nvSpPr>
        <p:spPr>
          <a:xfrm xmlns:a="http://schemas.openxmlformats.org/drawingml/2006/main">
            <a:off x="1285875" y="2095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Knowledge of both the multiplier and the accelerator enable a government to implement effective fiscal policies to close a deflationary gap. Evaluate this statement. [20]</a:t>
            </a:r>
          </a:p>
        </p:txBody>
      </p:sp>
      <p:sp>
        <p:nvSpPr>
          <p:cNvPr id="7" name="Rectangle 6">
            <a:extLst xmlns:a="http://schemas.openxmlformats.org/drawingml/2006/main">
              <a:ext uri="{FF2B5EF4-FFF2-40B4-BE49-F238E27FC236}">
                <a16:creationId xmlns:a16="http://schemas.microsoft.com/office/drawing/2014/main" id="{D875EA82-00A8-460E-B0C7-8A8F353F8143}"/>
              </a:ext>
            </a:extLst>
          </p:cNvPr>
          <p:cNvSpPr>
            <a:spLocks xmlns:a="http://schemas.openxmlformats.org/drawingml/2006/main" noGrp="1"/>
          </p:cNvSpPr>
          <p:nvPr/>
        </p:nvSpPr>
        <p:spPr>
          <a:xfrm xmlns:a="http://schemas.openxmlformats.org/drawingml/2006/main">
            <a:off x="1428750" y="419100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xmlns:a="http://schemas.openxmlformats.org/drawingml/2006/main">
              <a:ext uri="{FF2B5EF4-FFF2-40B4-BE49-F238E27FC236}">
                <a16:creationId xmlns:a16="http://schemas.microsoft.com/office/drawing/2014/main" id="{A9317FF2-B123-4F5D-9F35-CDCCE0B64A10}"/>
              </a:ext>
            </a:extLst>
          </p:cNvPr>
          <p:cNvSpPr>
            <a:spLocks xmlns:a="http://schemas.openxmlformats.org/drawingml/2006/main" noGrp="1"/>
          </p:cNvSpPr>
          <p:nvPr/>
        </p:nvSpPr>
        <p:spPr>
          <a:xfrm xmlns:a="http://schemas.openxmlformats.org/drawingml/2006/main">
            <a:off x="1428750" y="4667250"/>
            <a:ext cx="9334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First learn induced investment, the accelerator and deflationary gaps.</a:t>
            </a:r>
          </a:p>
        </p:txBody>
      </p:sp>
    </p:spTree>
    <p:extLst>
      <p:ext uri="{BB962C8B-B14F-4D97-AF65-F5344CB8AC3E}">
        <p14:creationId xmlns:p14="http://schemas.microsoft.com/office/powerpoint/2010/main" val="109163777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ater-study-guide.inherited-17">
            <a:extLst xmlns:a="http://schemas.openxmlformats.org/drawingml/2006/main">
              <a:ext uri="{FF2B5EF4-FFF2-40B4-BE49-F238E27FC236}">
                <a16:creationId xmlns:a16="http://schemas.microsoft.com/office/drawing/2014/main" id="{C8F62F67-5E23-414B-820A-0BF66CC3B608}"/>
              </a:ext>
            </a:extLst>
          </p:cNvPr>
          <p:cNvSpPr>
            <a:spLocks xmlns:a="http://schemas.openxmlformats.org/drawingml/2006/main" noGrp="1"/>
          </p:cNvSpPr>
          <p:nvPr/>
        </p:nvSpPr>
        <p:spPr>
          <a:xfrm xmlns:a="http://schemas.openxmlformats.org/drawingml/2006/main">
            <a:off x="571500" y="3619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3600" b="1" i="0">
                <a:solidFill>
                  <a:srgbClr val="000000"/>
                </a:solidFill>
                <a:latin typeface="Arial"/>
                <a:ea typeface="Arial"/>
                <a:cs typeface="Arial"/>
              </a:defRPr>
            </a:pPr>
            <a:r>
              <a:rPr sz="3600" b="1" i="0">
                <a:solidFill>
                  <a:srgbClr val="000000"/>
                </a:solidFill>
                <a:latin typeface="Arial"/>
                <a:ea typeface="Arial"/>
                <a:cs typeface="Arial"/>
              </a:rPr>
              <a:t>Return to these questions after the prerequisites</a:t>
            </a:r>
          </a:p>
        </p:txBody>
      </p:sp>
      <p:cxnSp>
        <p:nvCxnSpPr>
          <p:cNvPr id="88" name="later-study-guide.inherited-74"/>
          <p:cNvCxnSpPr/>
          <p:nvPr/>
        </p:nvCxnSpPr>
        <p:spPr>
          <a:xfrm xmlns:a="http://schemas.openxmlformats.org/drawingml/2006/main">
            <a:off x="571500" y="1171575"/>
            <a:ext cx="11049000" cy="95"/>
          </a:xfrm>
          <a:prstGeom xmlns:a="http://schemas.openxmlformats.org/drawingml/2006/main" prst="straightConnector1">
            <a:avLst/>
          </a:prstGeom>
          <a:ln xmlns:a="http://schemas.openxmlformats.org/drawingml/2006/main" w="9525">
            <a:solidFill>
              <a:srgbClr val="B8BCC4"/>
            </a:solidFill>
            <a:prstDash val="solid"/>
          </a:ln>
        </p:spPr>
      </p:cxnSp>
      <p:sp>
        <p:nvSpPr>
          <p:cNvPr id="3" name="later-study-guide.inherited-3">
            <a:extLst xmlns:a="http://schemas.openxmlformats.org/drawingml/2006/main">
              <a:ext uri="{FF2B5EF4-FFF2-40B4-BE49-F238E27FC236}">
                <a16:creationId xmlns:a16="http://schemas.microsoft.com/office/drawing/2014/main" id="{23867EC3-3B94-464A-A337-5248D0C6CDA1}"/>
              </a:ext>
            </a:extLst>
          </p:cNvPr>
          <p:cNvSpPr>
            <a:spLocks xmlns:a="http://schemas.openxmlformats.org/drawingml/2006/main" noGrp="1"/>
          </p:cNvSpPr>
          <p:nvPr/>
        </p:nvSpPr>
        <p:spPr>
          <a:xfrm xmlns:a="http://schemas.openxmlformats.org/drawingml/2006/main">
            <a:off x="571500" y="64579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Autofit/>
          </a:bodyPr>
          <a:lstStyle xmlns:a="http://schemas.openxmlformats.org/drawingml/2006/main"/>
          <a:p xmlns:a="http://schemas.openxmlformats.org/drawingml/2006/main">
            <a:pPr algn="l">
              <a:buNone/>
              <a:defRPr sz="1050" b="0" i="0">
                <a:solidFill>
                  <a:srgbClr val="59616B"/>
                </a:solidFill>
                <a:latin typeface="Arial"/>
                <a:ea typeface="Arial"/>
                <a:cs typeface="Arial"/>
              </a:defRPr>
            </a:pPr>
            <a:endParaRPr/>
          </a:p>
        </p:txBody>
      </p:sp>
      <p:sp>
        <p:nvSpPr>
          <p:cNvPr id="4" name="later-study-guide.inherited-4">
            <a:extLst xmlns:a="http://schemas.openxmlformats.org/drawingml/2006/main">
              <a:ext uri="{FF2B5EF4-FFF2-40B4-BE49-F238E27FC236}">
                <a16:creationId xmlns:a16="http://schemas.microsoft.com/office/drawing/2014/main" id="{D28FD230-6FFE-485F-BE7B-FFC9B856C76E}"/>
              </a:ext>
            </a:extLst>
          </p:cNvPr>
          <p:cNvSpPr>
            <a:spLocks xmlns:a="http://schemas.openxmlformats.org/drawingml/2006/main" noGrp="1"/>
          </p:cNvSpPr>
          <p:nvPr/>
        </p:nvSpPr>
        <p:spPr>
          <a:xfrm xmlns:a="http://schemas.openxmlformats.org/drawingml/2006/main">
            <a:off x="11049000" y="6457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b">
            <a:noAutofit/>
          </a:bodyPr>
          <a:lstStyle xmlns:a="http://schemas.openxmlformats.org/drawingml/2006/main"/>
          <a:p xmlns:a="http://schemas.openxmlformats.org/drawingml/2006/main">
            <a:pPr algn="r">
              <a:buNone/>
              <a:defRPr sz="1050" b="0" i="0">
                <a:solidFill>
                  <a:srgbClr val="59616B"/>
                </a:solidFill>
                <a:latin typeface="Arial"/>
                <a:ea typeface="Arial"/>
                <a:cs typeface="Arial"/>
              </a:defRPr>
            </a:pPr>
            <a:r>
              <a:rPr sz="1050" b="0" i="0">
                <a:solidFill>
                  <a:srgbClr val="59616B"/>
                </a:solidFill>
                <a:latin typeface="Arial"/>
                <a:ea typeface="Arial"/>
                <a:cs typeface="Arial"/>
              </a:rPr>
              <a:t>60</a:t>
            </a:r>
          </a:p>
        </p:txBody>
      </p:sp>
      <p:cxnSp>
        <p:nvCxnSpPr>
          <p:cNvPr id="91" name="later-study-guide.inherited-77"/>
          <p:cNvCxnSpPr/>
          <p:nvPr/>
        </p:nvCxnSpPr>
        <p:spPr>
          <a:xfrm xmlns:a="http://schemas.openxmlformats.org/drawingml/2006/main">
            <a:off x="3143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2" name="later-study-guide.inherited-78"/>
          <p:cNvCxnSpPr/>
          <p:nvPr/>
        </p:nvCxnSpPr>
        <p:spPr>
          <a:xfrm xmlns:a="http://schemas.openxmlformats.org/drawingml/2006/main">
            <a:off x="60007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cxnSp>
        <p:nvCxnSpPr>
          <p:cNvPr id="93" name="later-study-guide.inherited-79"/>
          <p:cNvCxnSpPr/>
          <p:nvPr/>
        </p:nvCxnSpPr>
        <p:spPr>
          <a:xfrm xmlns:a="http://schemas.openxmlformats.org/drawingml/2006/main">
            <a:off x="8858250" y="1714500"/>
            <a:ext cx="95" cy="4095750"/>
          </a:xfrm>
          <a:prstGeom xmlns:a="http://schemas.openxmlformats.org/drawingml/2006/main" prst="straightConnector1">
            <a:avLst/>
          </a:prstGeom>
          <a:ln xmlns:a="http://schemas.openxmlformats.org/drawingml/2006/main" w="9525">
            <a:solidFill>
              <a:srgbClr val="B8BCC4"/>
            </a:solidFill>
            <a:prstDash val="solid"/>
          </a:ln>
        </p:spPr>
      </p:cxnSp>
      <p:sp>
        <p:nvSpPr>
          <p:cNvPr id="8" name="later-study-guide.inherited-8">
            <a:extLst xmlns:a="http://schemas.openxmlformats.org/drawingml/2006/main">
              <a:ext uri="{FF2B5EF4-FFF2-40B4-BE49-F238E27FC236}">
                <a16:creationId xmlns:a16="http://schemas.microsoft.com/office/drawing/2014/main" id="{AE330697-18B0-4EE9-BD5D-E00820D97D9D}"/>
              </a:ext>
            </a:extLst>
          </p:cNvPr>
          <p:cNvSpPr>
            <a:spLocks xmlns:a="http://schemas.openxmlformats.org/drawingml/2006/main" noGrp="1"/>
          </p:cNvSpPr>
          <p:nvPr/>
        </p:nvSpPr>
        <p:spPr>
          <a:xfrm xmlns:a="http://schemas.openxmlformats.org/drawingml/2006/main">
            <a:off x="571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CONSUMPTION</a:t>
            </a:r>
          </a:p>
        </p:txBody>
      </p:sp>
      <p:sp>
        <p:nvSpPr>
          <p:cNvPr id="9" name="later-study-guide.inherited-9">
            <a:extLst xmlns:a="http://schemas.openxmlformats.org/drawingml/2006/main">
              <a:ext uri="{FF2B5EF4-FFF2-40B4-BE49-F238E27FC236}">
                <a16:creationId xmlns:a16="http://schemas.microsoft.com/office/drawing/2014/main" id="{B19562FE-DE2A-4052-964A-B412A0DE3A0F}"/>
              </a:ext>
            </a:extLst>
          </p:cNvPr>
          <p:cNvSpPr>
            <a:spLocks xmlns:a="http://schemas.openxmlformats.org/drawingml/2006/main" noGrp="1"/>
          </p:cNvSpPr>
          <p:nvPr/>
        </p:nvSpPr>
        <p:spPr>
          <a:xfrm xmlns:a="http://schemas.openxmlformats.org/drawingml/2006/main">
            <a:off x="571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650" b="1" i="0">
                <a:solidFill>
                  <a:srgbClr val="000000"/>
                </a:solidFill>
                <a:latin typeface="Arial"/>
                <a:ea typeface="Arial"/>
                <a:cs typeface="Arial"/>
              </a:defRPr>
            </a:pPr>
            <a:r>
              <a:rPr sz="1650" b="1" i="0">
                <a:solidFill>
                  <a:srgbClr val="000000"/>
                </a:solidFill>
                <a:latin typeface="Arial"/>
                <a:ea typeface="Arial"/>
                <a:cs typeface="Arial"/>
              </a:rPr>
              <a:t>After 9.1.2: C = a + bY, autonomous consumption and APC versus MPC.</a:t>
            </a:r>
          </a:p>
        </p:txBody>
      </p:sp>
      <p:sp>
        <p:nvSpPr>
          <p:cNvPr id="10" name="later-study-guide.inherited-10">
            <a:extLst xmlns:a="http://schemas.openxmlformats.org/drawingml/2006/main">
              <a:ext uri="{FF2B5EF4-FFF2-40B4-BE49-F238E27FC236}">
                <a16:creationId xmlns:a16="http://schemas.microsoft.com/office/drawing/2014/main" id="{9D6D74AC-211E-495B-ADD1-776C49D0BF03}"/>
              </a:ext>
            </a:extLst>
          </p:cNvPr>
          <p:cNvSpPr>
            <a:spLocks xmlns:a="http://schemas.openxmlformats.org/drawingml/2006/main" noGrp="1"/>
          </p:cNvSpPr>
          <p:nvPr/>
        </p:nvSpPr>
        <p:spPr>
          <a:xfrm xmlns:a="http://schemas.openxmlformats.org/drawingml/2006/main">
            <a:off x="3429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OUTPUT GAPS</a:t>
            </a:r>
          </a:p>
        </p:txBody>
      </p:sp>
      <p:sp>
        <p:nvSpPr>
          <p:cNvPr id="11" name="later-study-guide.inherited-11">
            <a:extLst xmlns:a="http://schemas.openxmlformats.org/drawingml/2006/main">
              <a:ext uri="{FF2B5EF4-FFF2-40B4-BE49-F238E27FC236}">
                <a16:creationId xmlns:a16="http://schemas.microsoft.com/office/drawing/2014/main" id="{7495D2F6-481A-492F-9B33-9CB49A5DA670}"/>
              </a:ext>
            </a:extLst>
          </p:cNvPr>
          <p:cNvSpPr>
            <a:spLocks xmlns:a="http://schemas.openxmlformats.org/drawingml/2006/main" noGrp="1"/>
          </p:cNvSpPr>
          <p:nvPr/>
        </p:nvSpPr>
        <p:spPr>
          <a:xfrm xmlns:a="http://schemas.openxmlformats.org/drawingml/2006/main">
            <a:off x="3429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After 9.1.3: apply familiar AS AD/AS to inflationary and deflationary gaps.</a:t>
            </a:r>
          </a:p>
        </p:txBody>
      </p:sp>
      <p:sp>
        <p:nvSpPr>
          <p:cNvPr id="12" name="later-study-guide.inherited-12">
            <a:extLst xmlns:a="http://schemas.openxmlformats.org/drawingml/2006/main">
              <a:ext uri="{FF2B5EF4-FFF2-40B4-BE49-F238E27FC236}">
                <a16:creationId xmlns:a16="http://schemas.microsoft.com/office/drawing/2014/main" id="{83944F80-9C2B-48C4-AF9D-5362AEDAE5C5}"/>
              </a:ext>
            </a:extLst>
          </p:cNvPr>
          <p:cNvSpPr>
            <a:spLocks xmlns:a="http://schemas.openxmlformats.org/drawingml/2006/main" noGrp="1"/>
          </p:cNvSpPr>
          <p:nvPr/>
        </p:nvSpPr>
        <p:spPr>
          <a:xfrm xmlns:a="http://schemas.openxmlformats.org/drawingml/2006/main">
            <a:off x="62865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ACCELERATOR</a:t>
            </a:r>
          </a:p>
        </p:txBody>
      </p:sp>
      <p:sp>
        <p:nvSpPr>
          <p:cNvPr id="13" name="later-study-guide.inherited-13">
            <a:extLst xmlns:a="http://schemas.openxmlformats.org/drawingml/2006/main">
              <a:ext uri="{FF2B5EF4-FFF2-40B4-BE49-F238E27FC236}">
                <a16:creationId xmlns:a16="http://schemas.microsoft.com/office/drawing/2014/main" id="{4131707E-7A04-4C59-A1F3-75683F26DE06}"/>
              </a:ext>
            </a:extLst>
          </p:cNvPr>
          <p:cNvSpPr>
            <a:spLocks xmlns:a="http://schemas.openxmlformats.org/drawingml/2006/main" noGrp="1"/>
          </p:cNvSpPr>
          <p:nvPr/>
        </p:nvSpPr>
        <p:spPr>
          <a:xfrm xmlns:a="http://schemas.openxmlformats.org/drawingml/2006/main">
            <a:off x="62865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After 9.1.2: induced investment and the accelerator principle.</a:t>
            </a:r>
          </a:p>
        </p:txBody>
      </p:sp>
      <p:sp>
        <p:nvSpPr>
          <p:cNvPr id="14" name="later-study-guide.inherited-14">
            <a:extLst xmlns:a="http://schemas.openxmlformats.org/drawingml/2006/main">
              <a:ext uri="{FF2B5EF4-FFF2-40B4-BE49-F238E27FC236}">
                <a16:creationId xmlns:a16="http://schemas.microsoft.com/office/drawing/2014/main" id="{23EB09EC-A599-44D4-8315-12A476731FBC}"/>
              </a:ext>
            </a:extLst>
          </p:cNvPr>
          <p:cNvSpPr>
            <a:spLocks xmlns:a="http://schemas.openxmlformats.org/drawingml/2006/main" noGrp="1"/>
          </p:cNvSpPr>
          <p:nvPr/>
        </p:nvSpPr>
        <p:spPr>
          <a:xfrm xmlns:a="http://schemas.openxmlformats.org/drawingml/2006/main">
            <a:off x="9144000" y="1952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EVALUATION</a:t>
            </a:r>
          </a:p>
        </p:txBody>
      </p:sp>
      <p:sp>
        <p:nvSpPr>
          <p:cNvPr id="15" name="later-study-guide.inherited-15">
            <a:extLst xmlns:a="http://schemas.openxmlformats.org/drawingml/2006/main">
              <a:ext uri="{FF2B5EF4-FFF2-40B4-BE49-F238E27FC236}">
                <a16:creationId xmlns:a16="http://schemas.microsoft.com/office/drawing/2014/main" id="{D9E72E05-144E-4D69-843C-FA0016BF8F08}"/>
              </a:ext>
            </a:extLst>
          </p:cNvPr>
          <p:cNvSpPr>
            <a:spLocks xmlns:a="http://schemas.openxmlformats.org/drawingml/2006/main" noGrp="1"/>
          </p:cNvSpPr>
          <p:nvPr/>
        </p:nvSpPr>
        <p:spPr>
          <a:xfrm xmlns:a="http://schemas.openxmlformats.org/drawingml/2006/main">
            <a:off x="9144000" y="2619375"/>
            <a:ext cx="2381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Then use A Level policy analysis to evaluate the longer essays.</a:t>
            </a:r>
          </a:p>
        </p:txBody>
      </p:sp>
      <p:sp>
        <p:nvSpPr>
          <p:cNvPr id="16" name="later-study-guide.inherited-16">
            <a:extLst xmlns:a="http://schemas.openxmlformats.org/drawingml/2006/main">
              <a:ext uri="{FF2B5EF4-FFF2-40B4-BE49-F238E27FC236}">
                <a16:creationId xmlns:a16="http://schemas.microsoft.com/office/drawing/2014/main" id="{0CDFD4F0-60E8-4FC5-A094-E92B2A40C7E7}"/>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chor="t">
            <a:noAutofit/>
          </a:bodyPr>
          <a:lstStyle xmlns:a="http://schemas.openxmlformats.org/drawingml/2006/main"/>
          <a:p xmlns:a="http://schemas.openxmlformats.org/drawingml/2006/main">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Core Lessons 1–2 end on slide 53. Slides 54–60 are for later study.</a:t>
            </a:r>
          </a:p>
        </p:txBody>
      </p:sp>
    </p:spTree>
    <p:extLst>
      <p:ext uri="{BB962C8B-B14F-4D97-AF65-F5344CB8AC3E}">
        <p14:creationId xmlns:p14="http://schemas.microsoft.com/office/powerpoint/2010/main" val="9413337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2026-09-04T04:22:46.0620000Z</dcterms:created>
  <dcterms:modified xsi:type="dcterms:W3CDTF">2026-09-04T04:22:46.0620000Z</dcterms:modified>
</coreProperties>
</file>