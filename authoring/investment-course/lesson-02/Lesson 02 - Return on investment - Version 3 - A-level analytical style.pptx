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f9f4c612ea4f87" /><Relationship Type="http://schemas.openxmlformats.org/officeDocument/2006/relationships/extended-properties" Target="/docProps/app.xml" Id="R506b1eccafbf4a33" /><Relationship Type="http://schemas.openxmlformats.org/officeDocument/2006/relationships/officeDocument" Target="/ppt/presentation.xml" Id="R06d44e2a1354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263833ed5f4cd0"/>
  </p:sldMasterIdLst>
  <p:notesMasterIdLst>
    <p:notesMasterId xmlns:r="http://schemas.openxmlformats.org/officeDocument/2006/relationships" r:id="R4f0d3e7f15444f55"/>
  </p:notesMasterIdLst>
  <p:sldIdLst>
    <p:sldId xmlns:r="http://schemas.openxmlformats.org/officeDocument/2006/relationships" id="256" r:id="R0a8538a0698f4083"/>
    <p:sldId xmlns:r="http://schemas.openxmlformats.org/officeDocument/2006/relationships" id="257" r:id="R8f4063bcc55b44da"/>
    <p:sldId xmlns:r="http://schemas.openxmlformats.org/officeDocument/2006/relationships" id="258" r:id="R5a572f57fc4d4d87"/>
    <p:sldId xmlns:r="http://schemas.openxmlformats.org/officeDocument/2006/relationships" id="259" r:id="R7e39832be9d94286"/>
    <p:sldId xmlns:r="http://schemas.openxmlformats.org/officeDocument/2006/relationships" id="260" r:id="Rdebe0ba5960d4573"/>
    <p:sldId xmlns:r="http://schemas.openxmlformats.org/officeDocument/2006/relationships" id="261" r:id="R4bcda1212ccf4692"/>
    <p:sldId xmlns:r="http://schemas.openxmlformats.org/officeDocument/2006/relationships" id="262" r:id="Re010d185f7414b2a"/>
    <p:sldId xmlns:r="http://schemas.openxmlformats.org/officeDocument/2006/relationships" id="263" r:id="R6d2fb0dd7b1e46cc"/>
    <p:sldId xmlns:r="http://schemas.openxmlformats.org/officeDocument/2006/relationships" id="264" r:id="Rf4cc7b5fc60e40d9"/>
    <p:sldId xmlns:r="http://schemas.openxmlformats.org/officeDocument/2006/relationships" id="265" r:id="Rd609968d393746b6"/>
    <p:sldId xmlns:r="http://schemas.openxmlformats.org/officeDocument/2006/relationships" id="266" r:id="R7e1c203a293b4553"/>
    <p:sldId xmlns:r="http://schemas.openxmlformats.org/officeDocument/2006/relationships" id="267" r:id="Rbd48cd90dce04e11"/>
    <p:sldId xmlns:r="http://schemas.openxmlformats.org/officeDocument/2006/relationships" id="268" r:id="Re0bf7010f9a34352"/>
    <p:sldId xmlns:r="http://schemas.openxmlformats.org/officeDocument/2006/relationships" id="269" r:id="R492fd0ea931c4602"/>
    <p:sldId xmlns:r="http://schemas.openxmlformats.org/officeDocument/2006/relationships" id="270" r:id="R027513d10ff84728"/>
    <p:sldId xmlns:r="http://schemas.openxmlformats.org/officeDocument/2006/relationships" id="271" r:id="R3853241215674b7a"/>
    <p:sldId xmlns:r="http://schemas.openxmlformats.org/officeDocument/2006/relationships" id="272" r:id="R1d9d874a47e04637"/>
    <p:sldId xmlns:r="http://schemas.openxmlformats.org/officeDocument/2006/relationships" id="273" r:id="R62f5afe55b5743aa"/>
    <p:sldId xmlns:r="http://schemas.openxmlformats.org/officeDocument/2006/relationships" id="274" r:id="R816237637c3b43da"/>
    <p:sldId xmlns:r="http://schemas.openxmlformats.org/officeDocument/2006/relationships" id="275" r:id="R94d7cb956f2543a6"/>
    <p:sldId xmlns:r="http://schemas.openxmlformats.org/officeDocument/2006/relationships" id="276" r:id="Re18214f4114a4071"/>
    <p:sldId xmlns:r="http://schemas.openxmlformats.org/officeDocument/2006/relationships" id="277" r:id="Rf8b992c28f534555"/>
    <p:sldId xmlns:r="http://schemas.openxmlformats.org/officeDocument/2006/relationships" id="278" r:id="Rd90ede1dc04047c9"/>
    <p:sldId xmlns:r="http://schemas.openxmlformats.org/officeDocument/2006/relationships" id="279" r:id="R3a1026f71c2542f0"/>
    <p:sldId xmlns:r="http://schemas.openxmlformats.org/officeDocument/2006/relationships" id="280" r:id="R136b9412d3764399"/>
    <p:sldId xmlns:r="http://schemas.openxmlformats.org/officeDocument/2006/relationships" id="281" r:id="R334d3c260cad46ac"/>
    <p:sldId xmlns:r="http://schemas.openxmlformats.org/officeDocument/2006/relationships" id="282" r:id="R1da34097296149a6"/>
    <p:sldId xmlns:r="http://schemas.openxmlformats.org/officeDocument/2006/relationships" id="283" r:id="R7edc83ceadea4ef1"/>
    <p:sldId xmlns:r="http://schemas.openxmlformats.org/officeDocument/2006/relationships" id="284" r:id="R5b3d0c6c2ea34b92"/>
    <p:sldId xmlns:r="http://schemas.openxmlformats.org/officeDocument/2006/relationships" id="285" r:id="Rf437833b045e4438"/>
    <p:sldId xmlns:r="http://schemas.openxmlformats.org/officeDocument/2006/relationships" id="286" r:id="Rcdec8bc18c764a5f"/>
    <p:sldId xmlns:r="http://schemas.openxmlformats.org/officeDocument/2006/relationships" id="287" r:id="R0209b0e192384a2c"/>
    <p:sldId xmlns:r="http://schemas.openxmlformats.org/officeDocument/2006/relationships" id="288" r:id="R7e00471696d74262"/>
    <p:sldId xmlns:r="http://schemas.openxmlformats.org/officeDocument/2006/relationships" id="289" r:id="Rdb7083f9cc784200"/>
    <p:sldId xmlns:r="http://schemas.openxmlformats.org/officeDocument/2006/relationships" id="290" r:id="R2bdcaf2722e54060"/>
    <p:sldId xmlns:r="http://schemas.openxmlformats.org/officeDocument/2006/relationships" id="291" r:id="R1fef491a2c8a4c2b"/>
    <p:sldId xmlns:r="http://schemas.openxmlformats.org/officeDocument/2006/relationships" id="292" r:id="R44b52e0bbc2443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42fd5d5d5402b" /><Relationship Type="http://schemas.openxmlformats.org/officeDocument/2006/relationships/slideMaster" Target="/ppt/slideMasters/slideMaster1.xml" Id="Re5263833ed5f4cd0" /><Relationship Type="http://schemas.openxmlformats.org/officeDocument/2006/relationships/notesMaster" Target="/ppt/notesMasters/notesMaster1.xml" Id="R4f0d3e7f15444f55" /><Relationship Type="http://schemas.openxmlformats.org/officeDocument/2006/relationships/presProps" Target="/ppt/presProps.xml" Id="R79de7a0519d34b31" /><Relationship Type="http://schemas.openxmlformats.org/officeDocument/2006/relationships/viewProps" Target="/ppt/viewProps.xml" Id="R918b75147f4f426e" /><Relationship Type="http://schemas.openxmlformats.org/officeDocument/2006/relationships/tableStyles" Target="/ppt/tableStyles.xml" Id="Rdbadfd62879b4f77" /><Relationship Type="http://schemas.openxmlformats.org/officeDocument/2006/relationships/slide" Target="/ppt/slides/slide1.xml" Id="R0a8538a0698f4083" /><Relationship Type="http://schemas.openxmlformats.org/officeDocument/2006/relationships/slide" Target="/ppt/slides/slide2.xml" Id="R8f4063bcc55b44da" /><Relationship Type="http://schemas.openxmlformats.org/officeDocument/2006/relationships/slide" Target="/ppt/slides/slide3.xml" Id="R5a572f57fc4d4d87" /><Relationship Type="http://schemas.openxmlformats.org/officeDocument/2006/relationships/slide" Target="/ppt/slides/slide4.xml" Id="R7e39832be9d94286" /><Relationship Type="http://schemas.openxmlformats.org/officeDocument/2006/relationships/slide" Target="/ppt/slides/slide5.xml" Id="Rdebe0ba5960d4573" /><Relationship Type="http://schemas.openxmlformats.org/officeDocument/2006/relationships/slide" Target="/ppt/slides/slide6.xml" Id="R4bcda1212ccf4692" /><Relationship Type="http://schemas.openxmlformats.org/officeDocument/2006/relationships/slide" Target="/ppt/slides/slide7.xml" Id="Re010d185f7414b2a" /><Relationship Type="http://schemas.openxmlformats.org/officeDocument/2006/relationships/slide" Target="/ppt/slides/slide8.xml" Id="R6d2fb0dd7b1e46cc" /><Relationship Type="http://schemas.openxmlformats.org/officeDocument/2006/relationships/slide" Target="/ppt/slides/slide9.xml" Id="Rf4cc7b5fc60e40d9" /><Relationship Type="http://schemas.openxmlformats.org/officeDocument/2006/relationships/slide" Target="/ppt/slides/slide10.xml" Id="Rd609968d393746b6" /><Relationship Type="http://schemas.openxmlformats.org/officeDocument/2006/relationships/slide" Target="/ppt/slides/slide11.xml" Id="R7e1c203a293b4553" /><Relationship Type="http://schemas.openxmlformats.org/officeDocument/2006/relationships/slide" Target="/ppt/slides/slide12.xml" Id="Rbd48cd90dce04e11" /><Relationship Type="http://schemas.openxmlformats.org/officeDocument/2006/relationships/slide" Target="/ppt/slides/slide13.xml" Id="Re0bf7010f9a34352" /><Relationship Type="http://schemas.openxmlformats.org/officeDocument/2006/relationships/slide" Target="/ppt/slides/slide14.xml" Id="R492fd0ea931c4602" /><Relationship Type="http://schemas.openxmlformats.org/officeDocument/2006/relationships/slide" Target="/ppt/slides/slide15.xml" Id="R027513d10ff84728" /><Relationship Type="http://schemas.openxmlformats.org/officeDocument/2006/relationships/slide" Target="/ppt/slides/slide16.xml" Id="R3853241215674b7a" /><Relationship Type="http://schemas.openxmlformats.org/officeDocument/2006/relationships/slide" Target="/ppt/slides/slide17.xml" Id="R1d9d874a47e04637" /><Relationship Type="http://schemas.openxmlformats.org/officeDocument/2006/relationships/slide" Target="/ppt/slides/slide18.xml" Id="R62f5afe55b5743aa" /><Relationship Type="http://schemas.openxmlformats.org/officeDocument/2006/relationships/slide" Target="/ppt/slides/slide19.xml" Id="R816237637c3b43da" /><Relationship Type="http://schemas.openxmlformats.org/officeDocument/2006/relationships/slide" Target="/ppt/slides/slide20.xml" Id="R94d7cb956f2543a6" /><Relationship Type="http://schemas.openxmlformats.org/officeDocument/2006/relationships/slide" Target="/ppt/slides/slide21.xml" Id="Re18214f4114a4071" /><Relationship Type="http://schemas.openxmlformats.org/officeDocument/2006/relationships/slide" Target="/ppt/slides/slide22.xml" Id="Rf8b992c28f534555" /><Relationship Type="http://schemas.openxmlformats.org/officeDocument/2006/relationships/slide" Target="/ppt/slides/slide23.xml" Id="Rd90ede1dc04047c9" /><Relationship Type="http://schemas.openxmlformats.org/officeDocument/2006/relationships/slide" Target="/ppt/slides/slide24.xml" Id="R3a1026f71c2542f0" /><Relationship Type="http://schemas.openxmlformats.org/officeDocument/2006/relationships/slide" Target="/ppt/slides/slide25.xml" Id="R136b9412d3764399" /><Relationship Type="http://schemas.openxmlformats.org/officeDocument/2006/relationships/slide" Target="/ppt/slides/slide26.xml" Id="R334d3c260cad46ac" /><Relationship Type="http://schemas.openxmlformats.org/officeDocument/2006/relationships/slide" Target="/ppt/slides/slide27.xml" Id="R1da34097296149a6" /><Relationship Type="http://schemas.openxmlformats.org/officeDocument/2006/relationships/slide" Target="/ppt/slides/slide28.xml" Id="R7edc83ceadea4ef1" /><Relationship Type="http://schemas.openxmlformats.org/officeDocument/2006/relationships/slide" Target="/ppt/slides/slide29.xml" Id="R5b3d0c6c2ea34b92" /><Relationship Type="http://schemas.openxmlformats.org/officeDocument/2006/relationships/slide" Target="/ppt/slides/slide30.xml" Id="Rf437833b045e4438" /><Relationship Type="http://schemas.openxmlformats.org/officeDocument/2006/relationships/slide" Target="/ppt/slides/slide31.xml" Id="Rcdec8bc18c764a5f" /><Relationship Type="http://schemas.openxmlformats.org/officeDocument/2006/relationships/slide" Target="/ppt/slides/slide32.xml" Id="R0209b0e192384a2c" /><Relationship Type="http://schemas.openxmlformats.org/officeDocument/2006/relationships/slide" Target="/ppt/slides/slide33.xml" Id="R7e00471696d74262" /><Relationship Type="http://schemas.openxmlformats.org/officeDocument/2006/relationships/slide" Target="/ppt/slides/slide34.xml" Id="Rdb7083f9cc784200" /><Relationship Type="http://schemas.openxmlformats.org/officeDocument/2006/relationships/slide" Target="/ppt/slides/slide35.xml" Id="R2bdcaf2722e54060" /><Relationship Type="http://schemas.openxmlformats.org/officeDocument/2006/relationships/slide" Target="/ppt/slides/slide36.xml" Id="R1fef491a2c8a4c2b" /><Relationship Type="http://schemas.openxmlformats.org/officeDocument/2006/relationships/slide" Target="/ppt/slides/slide37.xml" Id="R44b52e0bbc2443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ba3b29c54b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15debe3e24ea2" /><Relationship Type="http://schemas.openxmlformats.org/officeDocument/2006/relationships/notesMaster" Target="/ppt/notesMasters/notesMaster1.xml" Id="R74a19067362745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9684ed0c64af3" /><Relationship Type="http://schemas.openxmlformats.org/officeDocument/2006/relationships/notesMaster" Target="/ppt/notesMasters/notesMaster1.xml" Id="Ra13266cd1ef546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9296b127584950" /><Relationship Type="http://schemas.openxmlformats.org/officeDocument/2006/relationships/notesMaster" Target="/ppt/notesMasters/notesMaster1.xml" Id="R6a2ff7c059994a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6cadd1c2614a3b" /><Relationship Type="http://schemas.openxmlformats.org/officeDocument/2006/relationships/notesMaster" Target="/ppt/notesMasters/notesMaster1.xml" Id="R230eefc1665d43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ed82a411894e24" /><Relationship Type="http://schemas.openxmlformats.org/officeDocument/2006/relationships/notesMaster" Target="/ppt/notesMasters/notesMaster1.xml" Id="Re871a969b32849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a62915253a41e9" /><Relationship Type="http://schemas.openxmlformats.org/officeDocument/2006/relationships/notesMaster" Target="/ppt/notesMasters/notesMaster1.xml" Id="Rb6b57744eedc49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a7449a9dac4447" /><Relationship Type="http://schemas.openxmlformats.org/officeDocument/2006/relationships/notesMaster" Target="/ppt/notesMasters/notesMaster1.xml" Id="R9fefa7536e0542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c583a158034f52" /><Relationship Type="http://schemas.openxmlformats.org/officeDocument/2006/relationships/notesMaster" Target="/ppt/notesMasters/notesMaster1.xml" Id="R916c893105a445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1ad4b5ada7439b" /><Relationship Type="http://schemas.openxmlformats.org/officeDocument/2006/relationships/notesMaster" Target="/ppt/notesMasters/notesMaster1.xml" Id="R66bdae0233a240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746dfb8bf24ea1" /><Relationship Type="http://schemas.openxmlformats.org/officeDocument/2006/relationships/notesMaster" Target="/ppt/notesMasters/notesMaster1.xml" Id="R370215633ef14c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82fd619a494ada" /><Relationship Type="http://schemas.openxmlformats.org/officeDocument/2006/relationships/notesMaster" Target="/ppt/notesMasters/notesMaster1.xml" Id="R0b8f25aa576147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b5a23a4c354529" /><Relationship Type="http://schemas.openxmlformats.org/officeDocument/2006/relationships/notesMaster" Target="/ppt/notesMasters/notesMaster1.xml" Id="R407d0606cc214f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356d6e14c7433d" /><Relationship Type="http://schemas.openxmlformats.org/officeDocument/2006/relationships/notesMaster" Target="/ppt/notesMasters/notesMaster1.xml" Id="R6cbe34a42b104a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9a89d4f1d6459b" /><Relationship Type="http://schemas.openxmlformats.org/officeDocument/2006/relationships/notesMaster" Target="/ppt/notesMasters/notesMaster1.xml" Id="R2b8ae318d83646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38acb23afb4d25" /><Relationship Type="http://schemas.openxmlformats.org/officeDocument/2006/relationships/notesMaster" Target="/ppt/notesMasters/notesMaster1.xml" Id="Rd1d2a08fba3349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4f771c733b4acc" /><Relationship Type="http://schemas.openxmlformats.org/officeDocument/2006/relationships/notesMaster" Target="/ppt/notesMasters/notesMaster1.xml" Id="Re43b3d021f434b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72407896054574" /><Relationship Type="http://schemas.openxmlformats.org/officeDocument/2006/relationships/notesMaster" Target="/ppt/notesMasters/notesMaster1.xml" Id="R5ede15566b5e42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2a1e8c3ab6491e" /><Relationship Type="http://schemas.openxmlformats.org/officeDocument/2006/relationships/notesMaster" Target="/ppt/notesMasters/notesMaster1.xml" Id="R0a85725799e840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c9e0ea2ff94149" /><Relationship Type="http://schemas.openxmlformats.org/officeDocument/2006/relationships/notesMaster" Target="/ppt/notesMasters/notesMaster1.xml" Id="Rd032adbb94f948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087fd12eef4906" /><Relationship Type="http://schemas.openxmlformats.org/officeDocument/2006/relationships/notesMaster" Target="/ppt/notesMasters/notesMaster1.xml" Id="R3b2cf5e3c08a4a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a15187d2ad4f3d" /><Relationship Type="http://schemas.openxmlformats.org/officeDocument/2006/relationships/notesMaster" Target="/ppt/notesMasters/notesMaster1.xml" Id="Ra62b915aea294f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76f8f2812a4494" /><Relationship Type="http://schemas.openxmlformats.org/officeDocument/2006/relationships/notesMaster" Target="/ppt/notesMasters/notesMaster1.xml" Id="R002e78eaefad4d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d68980babb44c36" /><Relationship Type="http://schemas.openxmlformats.org/officeDocument/2006/relationships/notesMaster" Target="/ppt/notesMasters/notesMaster1.xml" Id="R40e2b7c79b394af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6cbbc069f74f5e" /><Relationship Type="http://schemas.openxmlformats.org/officeDocument/2006/relationships/notesMaster" Target="/ppt/notesMasters/notesMaster1.xml" Id="R0e42233a339044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a837e26a5142a3" /><Relationship Type="http://schemas.openxmlformats.org/officeDocument/2006/relationships/notesMaster" Target="/ppt/notesMasters/notesMaster1.xml" Id="R85f12d1210ce4f9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adb9403430455c" /><Relationship Type="http://schemas.openxmlformats.org/officeDocument/2006/relationships/notesMaster" Target="/ppt/notesMasters/notesMaster1.xml" Id="Reed78dfe7b14409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ebcb228cc54100" /><Relationship Type="http://schemas.openxmlformats.org/officeDocument/2006/relationships/notesMaster" Target="/ppt/notesMasters/notesMaster1.xml" Id="R0922fabdb7484f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f28c8b5ab64223" /><Relationship Type="http://schemas.openxmlformats.org/officeDocument/2006/relationships/notesMaster" Target="/ppt/notesMasters/notesMaster1.xml" Id="R22408870ddb142c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762075bb7df4015" /><Relationship Type="http://schemas.openxmlformats.org/officeDocument/2006/relationships/notesMaster" Target="/ppt/notesMasters/notesMaster1.xml" Id="R5ad016b83545426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57c407d82154d5a" /><Relationship Type="http://schemas.openxmlformats.org/officeDocument/2006/relationships/notesMaster" Target="/ppt/notesMasters/notesMaster1.xml" Id="Rbf03b1391f3a4d8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910a83a32724c08" /><Relationship Type="http://schemas.openxmlformats.org/officeDocument/2006/relationships/notesMaster" Target="/ppt/notesMasters/notesMaster1.xml" Id="Ree94a4c98325444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a5ee76e393349ce" /><Relationship Type="http://schemas.openxmlformats.org/officeDocument/2006/relationships/notesMaster" Target="/ppt/notesMasters/notesMaster1.xml" Id="Rce625abdfae14fd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59689ee1a6946a0" /><Relationship Type="http://schemas.openxmlformats.org/officeDocument/2006/relationships/notesMaster" Target="/ppt/notesMasters/notesMaster1.xml" Id="Rc4f2bdb5f36e416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a681c78610f414a" /><Relationship Type="http://schemas.openxmlformats.org/officeDocument/2006/relationships/notesMaster" Target="/ppt/notesMasters/notesMaster1.xml" Id="Re6da836a0e984cd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88e5c5009634b7b" /><Relationship Type="http://schemas.openxmlformats.org/officeDocument/2006/relationships/notesMaster" Target="/ppt/notesMasters/notesMaster1.xml" Id="R2a57b70960bd4f2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e181b8a90774297" /><Relationship Type="http://schemas.openxmlformats.org/officeDocument/2006/relationships/notesMaster" Target="/ppt/notesMasters/notesMaster1.xml" Id="Ra7d4be1249314fc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f19725665ce4b1d" /><Relationship Type="http://schemas.openxmlformats.org/officeDocument/2006/relationships/notesMaster" Target="/ppt/notesMasters/notesMaster1.xml" Id="Re2f4ff2f6bc14e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title</a:t>
            </a:r>
          </a:p>
          <a:p xmlns:a="http://schemas.openxmlformats.org/drawingml/2006/main">
            <a:r>
              <a:t>Teaching note: Frame return as a measurement problem.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Pexels photograph by Bia Limova: https://www.pexels.com/photo/business-calculation-with-financial-document-on-desk-33175649/ (Pexels License).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opening-question</a:t>
            </a:r>
          </a:p>
          <a:p xmlns:a="http://schemas.openxmlformats.org/drawingml/2006/main">
            <a:r>
              <a:t>Teaching note: Invite hypotheses; do not resolve until percentage return is introduced.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Pexels photograph by RDNE Stock project: https://www.pexels.com/photo/close-up-shot-of-a-pen-on-a-paper-with-stock-report-7948045/ (Pexels License).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objectives</a:t>
            </a:r>
          </a:p>
          <a:p xmlns:a="http://schemas.openxmlformats.org/drawingml/2006/main">
            <a:r>
              <a:t>Teaching note: The fourth objective introduces the analytical boundary.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part-one</a:t>
            </a:r>
          </a:p>
          <a:p xmlns:a="http://schemas.openxmlformats.org/drawingml/2006/main">
            <a:r>
              <a:t>Teaching note: Analytical section divider.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Pexels photograph by Artem Podrez: https://www.pexels.com/photo/colleagues-computing-using-a-calculator-6779341/ (Pexels License).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measurement-problem</a:t>
            </a:r>
          </a:p>
          <a:p xmlns:a="http://schemas.openxmlformats.org/drawingml/2006/main">
            <a:r>
              <a:t>Teaching note: Distinguish performance from cash flows before teaching the formula.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Pexels photograph by Jakub Zerdzicki: https://www.pexels.com/photo/business-and-finance-office-table-20801620/ (Pexels License).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definition</a:t>
            </a:r>
          </a:p>
          <a:p xmlns:a="http://schemas.openxmlformats.org/drawingml/2006/main">
            <a:r>
              <a:t>Teaching note: Keep this as a clean conceptual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decomposition</a:t>
            </a:r>
          </a:p>
          <a:p xmlns:a="http://schemas.openxmlformats.org/drawingml/2006/main">
            <a:r>
              <a:t>Teaching note: Students should explain why external cash flows are excluded.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component-table</a:t>
            </a:r>
          </a:p>
          <a:p xmlns:a="http://schemas.openxmlformats.org/drawingml/2006/main">
            <a:r>
              <a:t>Teaching note: Use the table to expose classification decisions.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return-flow</a:t>
            </a:r>
          </a:p>
          <a:p xmlns:a="http://schemas.openxmlformats.org/drawingml/2006/main">
            <a:r>
              <a:t>Teaching note: The formula is meaningful only after data have been cleaned.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return-formula</a:t>
            </a:r>
          </a:p>
          <a:p xmlns:a="http://schemas.openxmlformats.org/drawingml/2006/main">
            <a:r>
              <a:t>Teaching note: Use symbols only after verbal reasoning is secure.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part-two</a:t>
            </a:r>
          </a:p>
          <a:p xmlns:a="http://schemas.openxmlformats.org/drawingml/2006/main">
            <a:r>
              <a:t>Teaching note: Calculation section divider.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metrics</a:t>
            </a:r>
          </a:p>
          <a:p xmlns:a="http://schemas.openxmlformats.org/drawingml/2006/main">
            <a:r>
              <a:t>Teaching note: Students must name the metric in every conclusion.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data-requirements</a:t>
            </a:r>
          </a:p>
          <a:p xmlns:a="http://schemas.openxmlformats.org/drawingml/2006/main">
            <a:r>
              <a:t>Teaching note: Treat measurement period and cash-flow control as conditions for comparison.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percentage-formula</a:t>
            </a:r>
          </a:p>
          <a:p xmlns:a="http://schemas.openxmlformats.org/drawingml/2006/main">
            <a:r>
              <a:t>Teaching note: Link every percentage to its starting-value denominator.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fair-comparison</a:t>
            </a:r>
          </a:p>
          <a:p xmlns:a="http://schemas.openxmlformats.org/drawingml/2006/main">
            <a:r>
              <a:t>Teaching note: This resolves the opening question analytically.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part-three</a:t>
            </a:r>
          </a:p>
          <a:p xmlns:a="http://schemas.openxmlformats.org/drawingml/2006/main">
            <a:r>
              <a:t>Teaching note: Method section divider.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four-step-method</a:t>
            </a:r>
          </a:p>
          <a:p xmlns:a="http://schemas.openxmlformats.org/drawingml/2006/main">
            <a:r>
              <a:t>Teaching note: Require this four-stage chain in all full solutions.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worked-example</a:t>
            </a:r>
          </a:p>
          <a:p xmlns:a="http://schemas.openxmlformats.org/drawingml/2006/main">
            <a:r>
              <a:t>Teaching note: Model substitution and interpretation, not just the final number.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practice-one</a:t>
            </a:r>
          </a:p>
          <a:p xmlns:a="http://schemas.openxmlformats.org/drawingml/2006/main">
            <a:r>
              <a:t>Teaching note: Students work independently before the solution.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practice-one-solution</a:t>
            </a:r>
          </a:p>
          <a:p xmlns:a="http://schemas.openxmlformats.org/drawingml/2006/main">
            <a:r>
              <a:t>Teaching note: Check sign discipline and interpretation.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practice-set</a:t>
            </a:r>
          </a:p>
          <a:p xmlns:a="http://schemas.openxmlformats.org/drawingml/2006/main">
            <a:r>
              <a:t>Teaching note: Each case targets a different conceptual error.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practice-set-check</a:t>
            </a:r>
          </a:p>
          <a:p xmlns:a="http://schemas.openxmlformats.org/drawingml/2006/main">
            <a:r>
              <a:t>Teaching note: Students correct both calculation and reasoning.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loss-example</a:t>
            </a:r>
          </a:p>
          <a:p xmlns:a="http://schemas.openxmlformats.org/drawingml/2006/main">
            <a:r>
              <a:t>Teaching note: Make the sign visible throughout.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compare-example</a:t>
            </a:r>
          </a:p>
          <a:p xmlns:a="http://schemas.openxmlformats.org/drawingml/2006/main">
            <a:r>
              <a:t>Teaching note: Separate higher amount from higher percentage.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work-backwards</a:t>
            </a:r>
          </a:p>
          <a:p xmlns:a="http://schemas.openxmlformats.org/drawingml/2006/main">
            <a:r>
              <a:t>Teaching note: Use this as a stretch task.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analytical-principle</a:t>
            </a:r>
          </a:p>
          <a:p xmlns:a="http://schemas.openxmlformats.org/drawingml/2006/main">
            <a:r>
              <a:t>Teaching note: Pause on the analytical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sensitivity</a:t>
            </a:r>
          </a:p>
          <a:p xmlns:a="http://schemas.openxmlformats.org/drawingml/2006/main">
            <a:r>
              <a:t>Teaching note: Use the inherited analytical diagram to model ceteris-paribus reasoning.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limits</a:t>
            </a:r>
          </a:p>
          <a:p xmlns:a="http://schemas.openxmlformats.org/drawingml/2006/main">
            <a:r>
              <a:t>Teaching note: Prevent students from treating past return as a forecast.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part-four</a:t>
            </a:r>
          </a:p>
          <a:p xmlns:a="http://schemas.openxmlformats.org/drawingml/2006/main">
            <a:r>
              <a:t>Teaching note: Assessment divider.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mcq-one</a:t>
            </a:r>
          </a:p>
          <a:p xmlns:a="http://schemas.openxmlformats.org/drawingml/2006/main">
            <a:r>
              <a:t>Teaching note: Students calculate before voting.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mcq-two</a:t>
            </a:r>
          </a:p>
          <a:p xmlns:a="http://schemas.openxmlformats.org/drawingml/2006/main">
            <a:r>
              <a:t>Teaching note: Check cash-flow classification.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mcq-three</a:t>
            </a:r>
          </a:p>
          <a:p xmlns:a="http://schemas.openxmlformats.org/drawingml/2006/main">
            <a:r>
              <a:t>Teaching note: Check fair-comparison reasoning.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mcq-feedback</a:t>
            </a:r>
          </a:p>
          <a:p xmlns:a="http://schemas.openxmlformats.org/drawingml/2006/main">
            <a:r>
              <a:t>Teaching note: Students identify which error each distractor represents.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analysis-question</a:t>
            </a:r>
          </a:p>
          <a:p xmlns:a="http://schemas.openxmlformats.org/drawingml/2006/main">
            <a:r>
              <a:t>Teaching note: Students plan before writing.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analysis-model</a:t>
            </a:r>
          </a:p>
          <a:p xmlns:a="http://schemas.openxmlformats.org/drawingml/2006/main">
            <a:r>
              <a:t>Teaching note: Use the four-part chain as an analytical writing model.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self-assess</a:t>
            </a:r>
          </a:p>
          <a:p xmlns:a="http://schemas.openxmlformats.org/drawingml/2006/main">
            <a:r>
              <a:t>Teaching note: Teacher decides whether to treat ending value as including the deposit; students must state the adjustment explicitly.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synthesis</a:t>
            </a:r>
          </a:p>
          <a:p xmlns:a="http://schemas.openxmlformats.org/drawingml/2006/main">
            <a:r>
              <a:t>Teaching note: Finish with one complete calculation and one qualified judgement.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 and calculations: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Analytical design and pedagogy reference: C:\Users\oehle\Documents\a-level\9.1 The circular flow of income\9.1.1 The multiplier process.pptx</a:t>
            </a:r>
          </a:p>
          <a:p xmlns:a="http://schemas.openxmlformats.org/drawingml/2006/main">
            <a:r>
              <a:t>- Mock-data note: all asset labels and CNY figures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34458ed4b47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e127339ce34c6c" /><Relationship Type="http://schemas.openxmlformats.org/officeDocument/2006/relationships/slideLayout" Target="/ppt/slideLayouts/slideLayout1.xml" Id="R87ee9c13844043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ee9c13844043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ba894070249e8" /><Relationship Type="http://schemas.openxmlformats.org/officeDocument/2006/relationships/image" Target="/ppt/media/image.jpeg" Id="R074395c3a25e4947" /><Relationship Type="http://schemas.openxmlformats.org/officeDocument/2006/relationships/notesSlide" Target="/ppt/notesSlides/notesSlide1.xml" Id="R8f0c6b042a4644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7bf080ac5444c" /><Relationship Type="http://schemas.openxmlformats.org/officeDocument/2006/relationships/image" Target="/ppt/media/image.jpeg" Id="R8aa0fa474a144f05" /><Relationship Type="http://schemas.openxmlformats.org/officeDocument/2006/relationships/notesSlide" Target="/ppt/notesSlides/notesSlide2.xml" Id="R5c484506b4d8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66a57749c4c8b" /><Relationship Type="http://schemas.openxmlformats.org/officeDocument/2006/relationships/notesSlide" Target="/ppt/notesSlides/notesSlide3.xml" Id="R8fe5aa4c20f440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97084db5a417a" /><Relationship Type="http://schemas.openxmlformats.org/officeDocument/2006/relationships/image" Target="/ppt/media/image2.jpeg" Id="R8a6788d7977346e8" /><Relationship Type="http://schemas.openxmlformats.org/officeDocument/2006/relationships/notesSlide" Target="/ppt/notesSlides/notesSlide4.xml" Id="R6f594ba3750c42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b380aeb09449f" /><Relationship Type="http://schemas.openxmlformats.org/officeDocument/2006/relationships/image" Target="/ppt/media/image2.jpeg" Id="R07752d5a52fb42df" /><Relationship Type="http://schemas.openxmlformats.org/officeDocument/2006/relationships/notesSlide" Target="/ppt/notesSlides/notesSlide5.xml" Id="R279046ad4eb1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cbf3a7e4c48c6" /><Relationship Type="http://schemas.openxmlformats.org/officeDocument/2006/relationships/notesSlide" Target="/ppt/notesSlides/notesSlide6.xml" Id="Rac0f9da339eb43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c1bd8069c4ab1" /><Relationship Type="http://schemas.openxmlformats.org/officeDocument/2006/relationships/notesSlide" Target="/ppt/notesSlides/notesSlide7.xml" Id="R6872607905d347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f10e1a6f0483f" /><Relationship Type="http://schemas.openxmlformats.org/officeDocument/2006/relationships/notesSlide" Target="/ppt/notesSlides/notesSlide8.xml" Id="Rfb377a94f01649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1989244724ffe" /><Relationship Type="http://schemas.openxmlformats.org/officeDocument/2006/relationships/notesSlide" Target="/ppt/notesSlides/notesSlide9.xml" Id="R491f1ce496954b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a8a79962442d3" /><Relationship Type="http://schemas.openxmlformats.org/officeDocument/2006/relationships/notesSlide" Target="/ppt/notesSlides/notesSlide10.xml" Id="R8f70c65162424f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84f066c1e4974" /><Relationship Type="http://schemas.openxmlformats.org/officeDocument/2006/relationships/notesSlide" Target="/ppt/notesSlides/notesSlide11.xml" Id="Raa3593b7efe848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cc6d21ffc4343" /><Relationship Type="http://schemas.openxmlformats.org/officeDocument/2006/relationships/notesSlide" Target="/ppt/notesSlides/notesSlide12.xml" Id="R6fd26317ee4f44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47faee8a44c10" /><Relationship Type="http://schemas.openxmlformats.org/officeDocument/2006/relationships/notesSlide" Target="/ppt/notesSlides/notesSlide13.xml" Id="R92009e42d1a441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9416ebfcb4eb8" /><Relationship Type="http://schemas.openxmlformats.org/officeDocument/2006/relationships/notesSlide" Target="/ppt/notesSlides/notesSlide14.xml" Id="Rb85b4d2b51e249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d3f6cd53e4906" /><Relationship Type="http://schemas.openxmlformats.org/officeDocument/2006/relationships/notesSlide" Target="/ppt/notesSlides/notesSlide15.xml" Id="Rc68d0fcb5f3b4c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54c43a558499e" /><Relationship Type="http://schemas.openxmlformats.org/officeDocument/2006/relationships/notesSlide" Target="/ppt/notesSlides/notesSlide16.xml" Id="Rc7e0c88a404e4c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bdef422904ddb" /><Relationship Type="http://schemas.openxmlformats.org/officeDocument/2006/relationships/notesSlide" Target="/ppt/notesSlides/notesSlide17.xml" Id="R1a2e51f3e5af4c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ed36ab46a4a74" /><Relationship Type="http://schemas.openxmlformats.org/officeDocument/2006/relationships/notesSlide" Target="/ppt/notesSlides/notesSlide18.xml" Id="R44774956dd4748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cfb68fc8040e5" /><Relationship Type="http://schemas.openxmlformats.org/officeDocument/2006/relationships/notesSlide" Target="/ppt/notesSlides/notesSlide19.xml" Id="R64598254c78c4a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8adc307e741d7" /><Relationship Type="http://schemas.openxmlformats.org/officeDocument/2006/relationships/notesSlide" Target="/ppt/notesSlides/notesSlide20.xml" Id="R1620cbe0363a437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fef9d13024429" /><Relationship Type="http://schemas.openxmlformats.org/officeDocument/2006/relationships/notesSlide" Target="/ppt/notesSlides/notesSlide21.xml" Id="Rd761aaf0198845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f7667c2f54ba9" /><Relationship Type="http://schemas.openxmlformats.org/officeDocument/2006/relationships/notesSlide" Target="/ppt/notesSlides/notesSlide22.xml" Id="R12bb4f4fed694d0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cab4d2fca4be2" /><Relationship Type="http://schemas.openxmlformats.org/officeDocument/2006/relationships/notesSlide" Target="/ppt/notesSlides/notesSlide23.xml" Id="R413cb69a98ea4b2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27593db614d43" /><Relationship Type="http://schemas.openxmlformats.org/officeDocument/2006/relationships/notesSlide" Target="/ppt/notesSlides/notesSlide24.xml" Id="Rdb9817ba1f4a46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0f1f920404971" /><Relationship Type="http://schemas.openxmlformats.org/officeDocument/2006/relationships/notesSlide" Target="/ppt/notesSlides/notesSlide25.xml" Id="R5e4a509bdc0747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3b71000e7467d" /><Relationship Type="http://schemas.openxmlformats.org/officeDocument/2006/relationships/notesSlide" Target="/ppt/notesSlides/notesSlide26.xml" Id="Rf04babdc554447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7eb183a3b4d6b" /><Relationship Type="http://schemas.openxmlformats.org/officeDocument/2006/relationships/notesSlide" Target="/ppt/notesSlides/notesSlide27.xml" Id="Rd1cac845b7d0466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f9906a132430c" /><Relationship Type="http://schemas.openxmlformats.org/officeDocument/2006/relationships/notesSlide" Target="/ppt/notesSlides/notesSlide28.xml" Id="R8c7762daf9be424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5b1092ac04e37" /><Relationship Type="http://schemas.openxmlformats.org/officeDocument/2006/relationships/notesSlide" Target="/ppt/notesSlides/notesSlide29.xml" Id="R62cdb1d9f927467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c4febc7b44dbb" /><Relationship Type="http://schemas.openxmlformats.org/officeDocument/2006/relationships/notesSlide" Target="/ppt/notesSlides/notesSlide30.xml" Id="R5f42b908cc2c4a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e0fbfa183429b" /><Relationship Type="http://schemas.openxmlformats.org/officeDocument/2006/relationships/notesSlide" Target="/ppt/notesSlides/notesSlide31.xml" Id="Rf23b05210e3340f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b81c64ebe439b" /><Relationship Type="http://schemas.openxmlformats.org/officeDocument/2006/relationships/notesSlide" Target="/ppt/notesSlides/notesSlide32.xml" Id="Rad7c044deed94c3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703fbe5fd4d0e" /><Relationship Type="http://schemas.openxmlformats.org/officeDocument/2006/relationships/notesSlide" Target="/ppt/notesSlides/notesSlide33.xml" Id="R77a3336a091f495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4fb512634466a" /><Relationship Type="http://schemas.openxmlformats.org/officeDocument/2006/relationships/notesSlide" Target="/ppt/notesSlides/notesSlide34.xml" Id="Rd18c5d854aa54b9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6045e11b345e2" /><Relationship Type="http://schemas.openxmlformats.org/officeDocument/2006/relationships/notesSlide" Target="/ppt/notesSlides/notesSlide35.xml" Id="Refcc0861d60a41b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73a4dd47343fc" /><Relationship Type="http://schemas.openxmlformats.org/officeDocument/2006/relationships/notesSlide" Target="/ppt/notesSlides/notesSlide36.xml" Id="Reb5c1feaa1854fa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c5bfdc59d4188" /><Relationship Type="http://schemas.openxmlformats.org/officeDocument/2006/relationships/notesSlide" Target="/ppt/notesSlides/notesSlide37.xml" Id="R95a9942bb9984e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E72BD74-9A55-4C6E-9511-1FA5546C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INVESTMENT ANALYSIS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0313B9-8871-491F-A6F3-00B872E4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Measuring investment return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47DF6F3-EE29-4AA8-9A7F-E7A85D10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541309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9616B"/>
                </a:solidFill>
                <a:latin typeface="Arial"/>
                <a:ea typeface="Arial"/>
                <a:cs typeface="Arial"/>
              </a:rPr>
              <a:t>Concept, calculation and fair comparison</a:t>
            </a:r>
          </a:p>
        </p:txBody>
      </p:sp>
      <p:cxnSp>
        <p:nvCxnSpPr>
          <p:cNvPr id="63" name="Straight Arrow Connector 42"/>
          <p:cNvCxnSpPr/>
          <p:nvPr/>
        </p:nvCxnSpPr>
        <p:spPr>
          <a:xfrm xmlns:a="http://schemas.openxmlformats.org/drawingml/2006/main">
            <a:off x="571500" y="4619625"/>
            <a:ext cx="4953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289363-19E7-4438-ADD1-D8AB3BE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Lesson 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6440773-8E59-4957-BF51-3443B7F6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353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6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395c3a25e4947"/>
          <a:srcRect xmlns:a="http://schemas.openxmlformats.org/drawingml/2006/main" l="23210" t="0" r="232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7450" y="400050"/>
            <a:ext cx="5353050" cy="561975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EE0841-029B-48FC-BA1D-3F6FF8EE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77747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0fa474a144f05"/>
          <a:srcRect xmlns:a="http://schemas.openxmlformats.org/drawingml/2006/main" l="23210" t="0" r="232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7450" y="400050"/>
            <a:ext cx="5353050" cy="561975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5C2CE8B-052A-B18C-5FD7-EFCF2CF9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407" y="1843950"/>
            <a:ext cx="4570423" cy="31700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can CNY 600 be a weaker return than CNY 200?</a:t>
            </a:r>
          </a:p>
        </p:txBody>
      </p:sp>
    </p:spTree>
    <p:extLst>
      <p:ext uri="{BB962C8B-B14F-4D97-AF65-F5344CB8AC3E}">
        <p14:creationId xmlns:p14="http://schemas.microsoft.com/office/powerpoint/2010/main" val="421404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7C2B5A6-CBFD-40C2-BDE9-231F71FE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you will be able to do</a:t>
            </a:r>
          </a:p>
        </p:txBody>
      </p:sp>
      <p:cxnSp>
        <p:nvCxnSpPr>
          <p:cNvPr id="76" name="Straight Arrow Connector 59"/>
          <p:cNvCxnSpPr/>
          <p:nvPr/>
        </p:nvCxnSpPr>
        <p:spPr>
          <a:xfrm xmlns:a="http://schemas.openxmlformats.org/drawingml/2006/main">
            <a:off x="1047750" y="2682767"/>
            <a:ext cx="9906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E1CA9BA0-9B83-47C7-A839-4296F643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82717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54D32A2-D977-45B3-8842-C1910CD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7891"/>
            <a:ext cx="2047875" cy="2265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Separate value change from income.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8D4255C-6E2A-4926-8D3E-424BFF4D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2717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41C1124-7517-473B-96BE-C3B1C25A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7891"/>
            <a:ext cx="2047875" cy="2265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Calculate total return and percentage return.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18657CC7-0699-4D6F-81BB-34E360ED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2717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91B6A0D-26CE-4709-A4C0-5E8168C5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7891"/>
            <a:ext cx="2047875" cy="2265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Compare unequal investments using the correct metric.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267EEE1D-B829-4DBE-87B3-1EB7F6F0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82717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2C70F6F-C4B2-4E8C-A85B-6175630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7891"/>
            <a:ext cx="2047875" cy="2265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Interpret what the result does—and does not—prove.</a:t>
            </a:r>
          </a:p>
        </p:txBody>
      </p:sp>
    </p:spTree>
    <p:extLst>
      <p:ext uri="{BB962C8B-B14F-4D97-AF65-F5344CB8AC3E}">
        <p14:creationId xmlns:p14="http://schemas.microsoft.com/office/powerpoint/2010/main" val="1918288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836A410-7F06-4B38-AD49-B79993B1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LESSON 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6DAFEB-AB8E-46D1-A642-F7423286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0A39F3-F949-40B3-8FE7-C52907B6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What belongs in total return—and what must be excluded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719F81-B9F5-40DB-B5B6-F0D52EF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353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788d7977346e8"/>
          <a:srcRect xmlns:a="http://schemas.openxmlformats.org/drawingml/2006/main" l="23176" t="0" r="231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7450" y="400050"/>
            <a:ext cx="5353050" cy="561975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5BD3E8-333D-4F37-9FE8-F2524585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615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23B0987-94A6-4D49-AB75-FD6034DB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return figure needs a measurement rule</a:t>
            </a:r>
          </a:p>
        </p:txBody>
      </p:sp>
      <p:cxnSp>
        <p:nvCxnSpPr>
          <p:cNvPr id="35" name="Straight Arrow Connector 24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9599DC-5BE4-4792-8749-2AFF6E57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A539AB-88A4-4F03-A639-6552A77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F6F8D6-4D68-4C5B-A3A5-6D5A14B4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6"/>
            <a:ext cx="4762500" cy="298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portfolio ends higher than it started.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CCAE040-BBDD-4679-80A5-2E4A3F2D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Was the increase caused by market performance?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Did the investor add new money?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Was any income paid out?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What period is being measured?</a:t>
            </a:r>
          </a:p>
        </p:txBody>
      </p:sp>
      <p:pic>
        <p:nvPicPr>
          <p:cNvPr id="40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52d5a52fb42df"/>
          <a:srcRect xmlns:a="http://schemas.openxmlformats.org/drawingml/2006/main" l="23176" t="0" r="231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762752" y="1588442"/>
            <a:ext cx="4447790" cy="46693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596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24-title">
            <a:extLst xmlns:a="http://schemas.openxmlformats.org/drawingml/2006/main">
              <a:ext uri="{FF2B5EF4-FFF2-40B4-BE49-F238E27FC236}">
                <a16:creationId xmlns:a16="http://schemas.microsoft.com/office/drawing/2014/main" id="{28266E4A-24F8-8E6C-0188-9DA5CE9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7354"/>
            <a:ext cx="11049000" cy="1643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Total return combines value change and income.</a:t>
            </a:r>
          </a:p>
        </p:txBody>
      </p:sp>
    </p:spTree>
    <p:extLst>
      <p:ext uri="{BB962C8B-B14F-4D97-AF65-F5344CB8AC3E}">
        <p14:creationId xmlns:p14="http://schemas.microsoft.com/office/powerpoint/2010/main" val="173085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1A7F465-6676-499B-A7F5-4C72530C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Decompose the outcome before calculating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287D97-A153-4CD9-B3F1-2FC68F12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290EA7F-A106-44B5-A939-19A42FD6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68" name="Straight Arrow Connector 49"/>
          <p:cNvCxnSpPr/>
          <p:nvPr/>
        </p:nvCxnSpPr>
        <p:spPr>
          <a:xfrm xmlns:a="http://schemas.openxmlformats.org/drawingml/2006/main">
            <a:off x="1619250" y="2190750"/>
            <a:ext cx="8572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8BCC4"/>
            </a:solidFill>
            <a:prstDash val="solid"/>
          </a:ln>
        </p:spPr>
      </p:cxn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5331DC6-0CBE-46B6-BE50-81EAAFA0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EC0BFCD8-057A-4F46-8A90-81B87E5D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2469B18-BF1B-47CC-824C-43E710BF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2039153-23B4-4D78-96D4-206F11F5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VALUE CHANGE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C07ADAB-46F6-4386-889F-9D42036A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Ending value − starting value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5682073-B9DE-49E6-B207-5F1648A2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INCOME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48CFE36-3207-4E75-80DA-E216E7A0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Dividend, interest or distribution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E22A489-E73E-431C-8B6F-62C0EC8C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TOTAL RETURN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0246384-742C-44F4-84C9-58DCD292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change + income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2FB88EC-CCCA-4DEC-AFA2-CF9E7332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49"/>
            <a:ext cx="9429750" cy="904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deposits and withdrawals are cash flows, not investment return.</a:t>
            </a:r>
          </a:p>
        </p:txBody>
      </p:sp>
    </p:spTree>
    <p:extLst>
      <p:ext uri="{BB962C8B-B14F-4D97-AF65-F5344CB8AC3E}">
        <p14:creationId xmlns:p14="http://schemas.microsoft.com/office/powerpoint/2010/main" val="775868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A4A7859-199C-40A7-9F20-0C6C7181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Classify each item by its role</a:t>
            </a:r>
          </a:p>
        </p:txBody>
      </p:sp>
      <p:cxnSp>
        <p:nvCxnSpPr>
          <p:cNvPr id="39" name="Straight Arrow Connector 26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5129D4-B078-4A4F-A213-E9597FCF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3195A7-56D6-4717-AD74-7E618C37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8E79C4-76EB-4081-8E92-521DC27B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Correct classification protects the calculation from double counting.</a:t>
            </a:r>
          </a:p>
        </p:txBody>
      </p:sp>
      <p:graphicFrame>
        <p:nvGraphicFramePr>
          <p:cNvPr id="43" name="Table 30"/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857500"/>
                <a:gridCol w="3333750"/>
                <a:gridCol w="3048000"/>
              </a:tblGrid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Include?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Share price rises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Capital gain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change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Dividend received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Income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Paid by asset</a:t>
                      </a:r>
                    </a:p>
                  </a:txBody>
                  <a:tcPr marL="76200" marR="76200" marT="47625" marB="47625" anchor="ctr"/>
                </a:tc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Investor adds cash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External cash flow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performance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 value falls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Capital loss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change</a:t>
                      </a:r>
                    </a:p>
                  </a:txBody>
                  <a:tcPr marL="76200" marR="76200" marT="47625" marB="47625" anchor="ctr"/>
                </a:tc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Broker fee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Cost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If modelled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State convention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86C3CE2-0D32-4876-931D-9F6DDE7D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course examples use a simple gross-return convention unless a cost is stated.</a:t>
            </a:r>
          </a:p>
        </p:txBody>
      </p:sp>
    </p:spTree>
    <p:extLst>
      <p:ext uri="{BB962C8B-B14F-4D97-AF65-F5344CB8AC3E}">
        <p14:creationId xmlns:p14="http://schemas.microsoft.com/office/powerpoint/2010/main" val="4377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A09F7E0-8A74-4CE0-A3E3-E26444B9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account values to investment return</a:t>
            </a:r>
          </a:p>
        </p:txBody>
      </p:sp>
      <p:cxnSp>
        <p:nvCxnSpPr>
          <p:cNvPr id="35" name="Straight Arrow Connector 26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2BCB94-4BBF-42B6-AC55-60FE3F4F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86E4CAB-5529-491A-879D-B6502E90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Arrow: Right 4">
            <a:extLst xmlns:a="http://schemas.openxmlformats.org/drawingml/2006/main">
              <a:ext uri="{FF2B5EF4-FFF2-40B4-BE49-F238E27FC236}">
                <a16:creationId xmlns:a16="http://schemas.microsoft.com/office/drawing/2014/main" id="{C1C8103B-C713-4469-B63E-3D8C61D2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857500" cy="723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rrow: Right 5">
            <a:extLst xmlns:a="http://schemas.openxmlformats.org/drawingml/2006/main">
              <a:ext uri="{FF2B5EF4-FFF2-40B4-BE49-F238E27FC236}">
                <a16:creationId xmlns:a16="http://schemas.microsoft.com/office/drawing/2014/main" id="{B63D4CF7-4F4B-4C66-A5B3-A4F8703C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723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solidFill>
              <a:srgbClr val="F26B5B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8DBC63-0E4D-4029-8D87-71031B65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9CF1EDF-8798-4A6A-B14D-6189B2D3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</a:t>
            </a:r>
          </a:p>
          <a:p xmlns:a="http://schemas.openxmlformats.org/drawingml/2006/main">
            <a:pPr algn="ctr"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24F64E2-C2D6-464D-9FF9-C624E0D4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OBSERVED VALUES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85BAA11-F3F6-4C59-ABF3-2C819EFE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04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Starting value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Ending value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Income received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3CB49E0-6026-4C9C-93ED-627E2197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26B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6B5B"/>
                </a:solidFill>
                <a:latin typeface="Arial"/>
                <a:ea typeface="Arial"/>
                <a:cs typeface="Arial"/>
              </a:rPr>
              <a:t>ADJUSTMENTS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D520CA0-1603-459E-B2DC-FFEC0ECE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 new deposits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withdrawals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 the time period</a:t>
            </a:r>
          </a:p>
        </p:txBody>
      </p:sp>
    </p:spTree>
    <p:extLst>
      <p:ext uri="{BB962C8B-B14F-4D97-AF65-F5344CB8AC3E}">
        <p14:creationId xmlns:p14="http://schemas.microsoft.com/office/powerpoint/2010/main" val="1488857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4858402-AD32-4D8E-A612-25F60EB2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return = ending value − starting value + income</a:t>
            </a:r>
          </a:p>
        </p:txBody>
      </p:sp>
      <p:cxnSp>
        <p:nvCxnSpPr>
          <p:cNvPr id="32" name="Straight Arrow Connector 23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A4AA97-4481-42CF-A994-BA63381F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743E84-0B32-4931-9260-3092F89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867AC0E-EF01-48A9-A829-0D9731F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DDD80A2-DE00-40DE-BB46-7894BD94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808DC3E-34B7-4F28-ADA6-34799721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 = EV − SV + 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37DDD6-D0DD-4241-ACF5-AAFBEE08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INTERPRET THE NUMBER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1D748F4-2D32-49E5-9D0E-3C3368B0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38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Positive R: money gained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Negative R: money lost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 = 0: no net money gain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 alone does not compare unequal starting amounts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CB9D09-373F-4CE2-8BCE-A75D7677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5,000 → 5,400 plus 100 income gives R = CNY 500.</a:t>
            </a:r>
          </a:p>
        </p:txBody>
      </p:sp>
    </p:spTree>
    <p:extLst>
      <p:ext uri="{BB962C8B-B14F-4D97-AF65-F5344CB8AC3E}">
        <p14:creationId xmlns:p14="http://schemas.microsoft.com/office/powerpoint/2010/main" val="15302320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24-title">
            <a:extLst xmlns:a="http://schemas.openxmlformats.org/drawingml/2006/main">
              <a:ext uri="{FF2B5EF4-FFF2-40B4-BE49-F238E27FC236}">
                <a16:creationId xmlns:a16="http://schemas.microsoft.com/office/drawing/2014/main" id="{3FE62A21-4CF2-C7A5-5B50-5A0E3D56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7354"/>
            <a:ext cx="11049000" cy="1643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latin typeface="Arial"/>
                <a:ea typeface="Arial"/>
                <a:cs typeface="Arial"/>
              </a:rPr>
              <a:t>Calculation</a:t>
            </a:r>
            <a:endParaRPr sz="5400" b="1" i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16495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93FD5C06-A4A9-48A3-B39F-0C85F484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822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 amount and return percentage answer different questions</a:t>
            </a:r>
          </a:p>
        </p:txBody>
      </p:sp>
      <p:cxnSp>
        <p:nvCxnSpPr>
          <p:cNvPr id="35" name="Straight Arrow Connector 26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EB97D04-A665-4160-A839-73236DC3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75B85C9-AABC-49E8-B815-36F4156F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A7DFF3-34D5-4914-A1CA-57A7542A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048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79D9F35-9A19-40D3-98FE-FF973596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5048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6393A14-E45B-4BE5-B4DD-9D0705F5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 AMOUNT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E8971C-A4D3-44FF-9E64-3F99CE04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money gained or lost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5A0FC04-31AA-4554-84CB-6B8CE7A6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438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6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much money was gained or lost?</a:t>
            </a:r>
          </a:p>
          <a:p xmlns:a="http://schemas.openxmlformats.org/drawingml/2006/main">
            <a:pPr algn="ctr">
              <a:buNone/>
              <a:defRPr sz="2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buNone/>
              <a:defRPr sz="2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in CNY.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F30C4B3-ECD6-4D86-B140-C7D0DC26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RETURN PERCENTAGE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272A2D8-F79D-4B5C-AD44-73787624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193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 relative to size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033ABDC-04C3-461B-B478-ED8F49C2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438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3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0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How strong was performance relative to the starting value?</a:t>
            </a:r>
          </a:p>
          <a:p xmlns:a="http://schemas.openxmlformats.org/drawingml/2006/main">
            <a:pPr algn="ctr">
              <a:buNone/>
              <a:defRPr sz="2850" b="0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buNone/>
              <a:defRPr sz="2850" b="0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Measured in %.</a:t>
            </a:r>
          </a:p>
        </p:txBody>
      </p:sp>
    </p:spTree>
    <p:extLst>
      <p:ext uri="{BB962C8B-B14F-4D97-AF65-F5344CB8AC3E}">
        <p14:creationId xmlns:p14="http://schemas.microsoft.com/office/powerpoint/2010/main" val="7777996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A1621E29-0D4C-4D14-914B-EB37EEE0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the data before using the formula</a:t>
            </a:r>
          </a:p>
        </p:txBody>
      </p:sp>
      <p:cxnSp>
        <p:nvCxnSpPr>
          <p:cNvPr id="39" name="Straight Arrow Connector 26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EA4693-534E-4F25-8D36-54279DDB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E762A3B-8FEE-49CF-BFDA-A0B77EDD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2" name="Table 30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095500"/>
                <a:gridCol w="2095500"/>
                <a:gridCol w="2286000"/>
                <a:gridCol w="2095500"/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Valid?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Same period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Returns vary with time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 year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 year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Starting value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Needed for denominator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2,000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10,000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Income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Part of return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Cash flows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Can distort result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9516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AD18E60-ACB3-4D11-BF24-80B8BC1E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6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Percentage return scales the result to the starting value</a:t>
            </a:r>
          </a:p>
        </p:txBody>
      </p:sp>
      <p:cxnSp>
        <p:nvCxnSpPr>
          <p:cNvPr id="39" name="Straight Arrow Connector 26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FA20DD-522D-41E1-BDC3-4335A225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875EE34-3023-481F-8F79-6AFC09D3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D5E8979-737F-4A4E-A8D7-A3FE863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Return % = total return ÷ starting value × 100</a:t>
            </a:r>
          </a:p>
        </p:txBody>
      </p:sp>
      <p:graphicFrame>
        <p:nvGraphicFramePr>
          <p:cNvPr id="43" name="Table 30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000250"/>
                <a:gridCol w="3305503"/>
                <a:gridCol w="2980997"/>
              </a:tblGrid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Investment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return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Starting value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Return %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2,000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10,000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6%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−300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5,000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−6%</a:t>
                      </a: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sz="1725" b="1">
                        <a:solidFill>
                          <a:srgbClr val="3D8D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47625" marB="47625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0E71C89-2E0C-44AB-9757-253316E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626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2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denominator answers: return relative to how much was invested?</a:t>
            </a:r>
          </a:p>
        </p:txBody>
      </p:sp>
    </p:spTree>
    <p:extLst>
      <p:ext uri="{BB962C8B-B14F-4D97-AF65-F5344CB8AC3E}">
        <p14:creationId xmlns:p14="http://schemas.microsoft.com/office/powerpoint/2010/main" val="9938428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6-title">
            <a:extLst xmlns:a="http://schemas.openxmlformats.org/drawingml/2006/main">
              <a:ext uri="{FF2B5EF4-FFF2-40B4-BE49-F238E27FC236}">
                <a16:creationId xmlns:a16="http://schemas.microsoft.com/office/drawing/2014/main" id="{05CA1C81-BBEB-493E-86D0-EAC70A91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metric can reverse the ranking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87E27E2-701A-4D10-86CD-6AD056F8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B290E7-C82D-40D5-BA4E-1B595996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EA9590D-3D67-4F21-8133-CBF776EB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8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8D3EAA6-8C7F-4278-B08B-97461BF9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26B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6B5B"/>
                </a:solidFill>
                <a:latin typeface="Arial"/>
                <a:ea typeface="Arial"/>
                <a:cs typeface="Arial"/>
              </a:rPr>
              <a:t>AMOUNT RANKING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E1DAD29-B279-4707-95A7-3BDE68CB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F26B5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26B5B"/>
                </a:solidFill>
                <a:latin typeface="Arial"/>
                <a:ea typeface="Arial"/>
                <a:cs typeface="Arial"/>
              </a:rPr>
              <a:t>B &gt; A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731F23-303B-4179-AF6D-2CF2BEB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CNY 600 &gt; CNY 200</a:t>
            </a:r>
          </a:p>
          <a:p xmlns:a="http://schemas.openxmlformats.org/drawingml/2006/main">
            <a:pPr algn="ctr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 earned more money.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3D3FF0-0A1C-424A-8BF0-395612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49D589-34C4-45D8-AD5A-2C4F95E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PERCENTAGE RANKING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68C319A-7871-4445-B2D7-8C674A6A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4191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&gt; B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F1E7F3B-FCD8-426A-99D7-5E195265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433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10% &gt; 6%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A performed better relative to size.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5F10B2F-F3AA-48E4-A820-88DF4F4B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721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conclusion is incomplete until the metric is named.</a:t>
            </a:r>
          </a:p>
        </p:txBody>
      </p:sp>
    </p:spTree>
    <p:extLst>
      <p:ext uri="{BB962C8B-B14F-4D97-AF65-F5344CB8AC3E}">
        <p14:creationId xmlns:p14="http://schemas.microsoft.com/office/powerpoint/2010/main" val="273262603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24-title">
            <a:extLst xmlns:a="http://schemas.openxmlformats.org/drawingml/2006/main">
              <a:ext uri="{FF2B5EF4-FFF2-40B4-BE49-F238E27FC236}">
                <a16:creationId xmlns:a16="http://schemas.microsoft.com/office/drawing/2014/main" id="{11E5F4D7-0840-4FD4-39FC-46E7F24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7354"/>
            <a:ext cx="11049000" cy="1643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latin typeface="Arial"/>
                <a:ea typeface="Arial"/>
                <a:cs typeface="Arial"/>
              </a:rPr>
              <a:t>Method</a:t>
            </a:r>
            <a:endParaRPr sz="5400" b="1" i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37452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20-title">
            <a:extLst xmlns:a="http://schemas.openxmlformats.org/drawingml/2006/main">
              <a:ext uri="{FF2B5EF4-FFF2-40B4-BE49-F238E27FC236}">
                <a16:creationId xmlns:a16="http://schemas.microsoft.com/office/drawing/2014/main" id="{B56F6E62-1A5A-4296-80AE-CD3F8867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calculate and interpret</a:t>
            </a:r>
            <a:endParaRPr sz="3600" b="1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0" name="Straight Arrow Connector 49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27D33CD-E24D-4426-B1DC-95A3D2A5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A96B4B-C3C5-4880-9BA2-1D4DDA59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cxnSp>
        <p:nvCxnSpPr>
          <p:cNvPr id="73" name="Straight Arrow Connector 52"/>
          <p:cNvCxnSpPr/>
          <p:nvPr/>
        </p:nvCxnSpPr>
        <p:spPr>
          <a:xfrm xmlns:a="http://schemas.openxmlformats.org/drawingml/2006/main">
            <a:off x="1276350" y="2595563"/>
            <a:ext cx="95250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F79ACD5-74F8-4477-853F-72C51529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6938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385459E-18D1-45FE-A9CC-A4BB7DC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7563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VALUE CHANGE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B134D6-8541-45C8-936D-B38374C4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86188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 − SV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9A73F17-05C8-4293-822A-2D43F6B3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6938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6DBD59C-A2CB-46D8-8E79-5028687A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7563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TOTAL RETURN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29823E0-18CA-4627-BE6C-075011D1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86188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change + income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F785F149-E567-4156-B2A1-A21CB57D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66938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22CED59-E0E3-4B09-A6D5-C585BA68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7563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PERCENTAGE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2DF8FD6-11A0-46C3-9E3E-C0F9555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786188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 ÷ SV × 100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52C0A72-3139-49BD-B5FC-7FC9D940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66938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2B9A6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809F52C-59E5-47F8-9499-D9067EF2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57563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B9A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9A66"/>
                </a:solidFill>
                <a:latin typeface="Arial"/>
                <a:ea typeface="Arial"/>
                <a:cs typeface="Arial"/>
              </a:rPr>
              <a:t>JUDGEMENT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228A1E-191F-4BC8-8CCB-609EC0D7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786188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 + period + meaning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46FF3D8-6685-4B43-80BD-E9FF5B4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Sense check: return amount and percentage must have the same sign.</a:t>
            </a:r>
          </a:p>
        </p:txBody>
      </p:sp>
    </p:spTree>
    <p:extLst>
      <p:ext uri="{BB962C8B-B14F-4D97-AF65-F5344CB8AC3E}">
        <p14:creationId xmlns:p14="http://schemas.microsoft.com/office/powerpoint/2010/main" val="13679060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DCF9AC5E-1EBC-4FAB-B477-261D2B35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Worked example: gain plus income</a:t>
            </a:r>
          </a:p>
        </p:txBody>
      </p:sp>
      <p:cxnSp>
        <p:nvCxnSpPr>
          <p:cNvPr id="31" name="Straight Arrow Connector 22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4661E9A-949B-4796-AE2C-1EC02D67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0FAF3A8-78D2-4C78-9CA6-A408C1DF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8EA1E4C-2486-4210-935A-1A1A680A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GIVEN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D29F257-2F8F-4453-9786-21424A64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= CNY 5,000</a:t>
            </a:r>
          </a:p>
          <a:p xmlns:a="http://schemas.openxmlformats.org/drawingml/2006/main">
            <a:pPr algn="l"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 = CNY 5,400</a:t>
            </a:r>
          </a:p>
          <a:p xmlns:a="http://schemas.openxmlformats.org/drawingml/2006/main">
            <a:pPr algn="l"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Income = CNY 100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C126679-BF7C-4D3E-B728-D92BF636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90D38FE-7168-489B-826E-530FB65F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381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 Value change = 5,400 − 5,000 = 400</a:t>
            </a:r>
          </a:p>
          <a:p xmlns:a="http://schemas.openxmlformats.org/drawingml/2006/main">
            <a:r>
              <a:t>2  Total return = 400 + 100 = CNY 500</a:t>
            </a:r>
            <a:endParaRPr sz="2250" b="1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 Return % = 500 ÷ 5,000 × 100 = 10%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6617D2-7B0F-4F85-B140-1F509402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4"/>
            <a:ext cx="9144000" cy="917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Interpretation: the investment returned 10%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18443387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B33BB813-A44A-46BF-888B-984FDC18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Practice: calculate from account data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7EAE205-C23C-4129-AC41-CAB1FC01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32C2DC5-6631-4FED-BA1D-509EF14D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4" name="Table 30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61912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238250"/>
                <a:gridCol w="1238250"/>
                <a:gridCol w="1238250"/>
                <a:gridCol w="1238250"/>
              </a:tblGrid>
              <a:tr h="730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Income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Cash flow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3,000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3,240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5,000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4,550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445370-7CF6-491B-A773-1AC9823D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4A18C53-13A6-47D2-B8F3-A4FEAA68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 Capital gain or loss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 Total return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 Percentage return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 One-sentence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5243560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B12ED84C-922D-458A-AC1D-7B3E536B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32D152-8BA7-47BD-86F9-19B2107B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A22E506-703B-4936-9A98-A557BD49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05F4EAD-0903-497E-B288-D1369630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72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Both cases use the same structure.</a:t>
            </a:r>
          </a:p>
        </p:txBody>
      </p:sp>
      <p:graphicFrame>
        <p:nvGraphicFramePr>
          <p:cNvPr id="14" name="Table 30"/>
          <p:cNvGraphicFramePr/>
          <p:nvPr/>
        </p:nvGraphicFramePr>
        <p:xfrm>
          <a:off xmlns:a="http://schemas.openxmlformats.org/drawingml/2006/main" x="666750" y="238125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333750"/>
                <a:gridCol w="2857500"/>
                <a:gridCol w="2762250"/>
              </a:tblGrid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 change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return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Return %</a:t>
                      </a:r>
                    </a:p>
                  </a:txBody>
                  <a:tcPr marL="76200" marR="76200" marT="57150" marB="57150" anchor="ctr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+240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+300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+10%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−450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−300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−6%</a:t>
                      </a:r>
                    </a:p>
                  </a:txBody>
                  <a:tcPr marL="76200" marR="76200" marT="47625" marB="47625"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 gained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 lost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State period</a:t>
                      </a:r>
                    </a:p>
                  </a:txBody>
                  <a:tcPr marL="76200" marR="76200" marT="47625" marB="47625" anchor="ctr">
                    <a:solidFill>
                      <a:srgbClr val="F7F7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ABF0D9-3278-42C3-98F9-EC801FE5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721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Income reduces Q's loss; it does not make the total return positive.</a:t>
            </a:r>
          </a:p>
        </p:txBody>
      </p:sp>
    </p:spTree>
    <p:extLst>
      <p:ext uri="{BB962C8B-B14F-4D97-AF65-F5344CB8AC3E}">
        <p14:creationId xmlns:p14="http://schemas.microsoft.com/office/powerpoint/2010/main" val="18828147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23198C81-EB4C-44BA-BA43-F024D241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Calculate. Then diagnose the likely error.</a:t>
            </a:r>
            <a:endParaRPr sz="3600" b="1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404B457-AB84-4078-8C06-DCE72B24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CBA21F6-D080-4B5E-AFCA-0F489385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cxnSp>
        <p:nvCxnSpPr>
          <p:cNvPr id="79" name="Straight Arrow Connector 56"/>
          <p:cNvCxnSpPr/>
          <p:nvPr/>
        </p:nvCxnSpPr>
        <p:spPr>
          <a:xfrm xmlns:a="http://schemas.openxmlformats.org/drawingml/2006/main">
            <a:off x="4095750" y="1809750"/>
            <a:ext cx="95" cy="385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80" name="Straight Arrow Connector 57"/>
          <p:cNvCxnSpPr/>
          <p:nvPr/>
        </p:nvCxnSpPr>
        <p:spPr>
          <a:xfrm xmlns:a="http://schemas.openxmlformats.org/drawingml/2006/main">
            <a:off x="8096250" y="1809750"/>
            <a:ext cx="95" cy="385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4D5D0D1C-9588-4397-B951-686C94E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4EAD5D-AA17-45C7-A624-A9598EF3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Income omitted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E3C24B2-FD75-4FD2-8A07-7D21B1F5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1,000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 1,100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Income 20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A4F509BC-2F34-4E9F-9B2D-E7A017B4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5748D55-96C6-46EC-8DC3-84DDA3E1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cash added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5A76F3D-E95A-4FA3-9530-DE95ECD4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2,000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 2,100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Deposit 500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6DC1BF5E-DF46-4763-A3F3-444F6B95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76773F9-7A76-43A3-951B-557E47F4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98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Unequal bases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A5D6D39-3157-4847-B2EF-289AAB5A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200 on 2,000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B: 600 on 10,000</a:t>
            </a:r>
          </a:p>
        </p:txBody>
      </p:sp>
    </p:spTree>
    <p:extLst>
      <p:ext uri="{BB962C8B-B14F-4D97-AF65-F5344CB8AC3E}">
        <p14:creationId xmlns:p14="http://schemas.microsoft.com/office/powerpoint/2010/main" val="7642403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E4CCF6C8-5DD2-466A-A904-EFD3ACDD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the answer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5D3323-90DE-42D6-A56F-E6C56270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EA3BD6D-4128-499C-92CE-8F1505B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1EA2DA-C5EF-48DA-AE77-9E6E828D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093B20-43FB-42A1-9D8E-D2B9AA7B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 = 120; return % = 12%</a:t>
            </a:r>
          </a:p>
        </p:txBody>
      </p:sp>
      <p:cxnSp>
        <p:nvCxnSpPr>
          <p:cNvPr id="171" name="Straight Arrow Connector 112"/>
          <p:cNvCxnSpPr/>
          <p:nvPr/>
        </p:nvCxnSpPr>
        <p:spPr>
          <a:xfrm xmlns:a="http://schemas.openxmlformats.org/drawingml/2006/main">
            <a:off x="666750" y="400050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2B5163-CF53-4634-978D-F23AE89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Income belongs in total return.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6F4C155-9833-4C75-A63C-7D8C50E3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B8501D-E723-4476-A323-2D7A3209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 the 500 deposit before judging performance</a:t>
            </a:r>
          </a:p>
        </p:txBody>
      </p:sp>
      <p:cxnSp>
        <p:nvCxnSpPr>
          <p:cNvPr id="175" name="Straight Arrow Connector 116"/>
          <p:cNvCxnSpPr/>
          <p:nvPr/>
        </p:nvCxnSpPr>
        <p:spPr>
          <a:xfrm xmlns:a="http://schemas.openxmlformats.org/drawingml/2006/main">
            <a:off x="4476750" y="400050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149D24B-F194-4A9B-B9B5-16E87050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86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Investor cash is not asset return.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EA9E4BE-E4F0-445C-8798-6CCCB8D9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9ED7BCF-E06F-46D4-BC80-1D0AAD68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= 10%; B = 6%; ranking reverses</a:t>
            </a:r>
          </a:p>
        </p:txBody>
      </p:sp>
      <p:cxnSp>
        <p:nvCxnSpPr>
          <p:cNvPr id="179" name="Straight Arrow Connector 120"/>
          <p:cNvCxnSpPr/>
          <p:nvPr/>
        </p:nvCxnSpPr>
        <p:spPr>
          <a:xfrm xmlns:a="http://schemas.openxmlformats.org/drawingml/2006/main">
            <a:off x="8286750" y="400050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5B901F1-E066-4126-BD98-20114100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Percentage controls for starting size.</a:t>
            </a:r>
          </a:p>
        </p:txBody>
      </p:sp>
    </p:spTree>
    <p:extLst>
      <p:ext uri="{BB962C8B-B14F-4D97-AF65-F5344CB8AC3E}">
        <p14:creationId xmlns:p14="http://schemas.microsoft.com/office/powerpoint/2010/main" val="7658595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1-title">
            <a:extLst xmlns:a="http://schemas.openxmlformats.org/drawingml/2006/main">
              <a:ext uri="{FF2B5EF4-FFF2-40B4-BE49-F238E27FC236}">
                <a16:creationId xmlns:a16="http://schemas.microsoft.com/office/drawing/2014/main" id="{6A979400-93DC-4E17-8CA5-7727CF96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 A: income does not guarantee a gain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C6E880-0FF0-4360-BDF2-EAF5A8C4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263A9AB-8527-4010-966F-E5A7D1F7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8D7145C-409A-4DAE-A925-3CEC7AD7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7840AFE-A9D2-44EB-8EBD-7BFA49B3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59BF6C-D005-4BDB-9F4C-4F04597E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5,000</a:t>
            </a:r>
          </a:p>
          <a:p xmlns:a="http://schemas.openxmlformats.org/drawingml/2006/main">
            <a:r>
              <a:t>End 4,550</a:t>
            </a:r>
            <a:endParaRPr sz="2325" b="1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Income 150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67EF02D-CC0C-4000-A08E-8865DFAA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E53E10-3434-47FE-BA03-131F8877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2CF0726-D85B-439E-8456-4FB47043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38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change = −450</a:t>
            </a:r>
          </a:p>
          <a:p xmlns:a="http://schemas.openxmlformats.org/drawingml/2006/main">
            <a:pPr algn="ctr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return = −450 + 150 = −300</a:t>
            </a:r>
          </a:p>
          <a:p xmlns:a="http://schemas.openxmlformats.org/drawingml/2006/main">
            <a:pPr algn="ctr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 % = −6%</a:t>
            </a:r>
          </a:p>
        </p:txBody>
      </p:sp>
    </p:spTree>
    <p:extLst>
      <p:ext uri="{BB962C8B-B14F-4D97-AF65-F5344CB8AC3E}">
        <p14:creationId xmlns:p14="http://schemas.microsoft.com/office/powerpoint/2010/main" val="4784236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2-title">
            <a:extLst xmlns:a="http://schemas.openxmlformats.org/drawingml/2006/main">
              <a:ext uri="{FF2B5EF4-FFF2-40B4-BE49-F238E27FC236}">
                <a16:creationId xmlns:a16="http://schemas.microsoft.com/office/drawing/2014/main" id="{E07225DA-120E-455E-BA82-EA065B2E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 B: compare two unequal investments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442838-0020-4872-A4B0-BE965317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7498B18-508A-4A09-9A74-71FA8AC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1E8996-3CFA-467E-A04D-740E4A27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8F546D-2BF8-4567-B583-D6771F5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77F9AF9-B64F-4CA0-8C0C-2883A583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4000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C: start 4,000; return 400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D: start 8,000; return 560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7C8F353-71F7-4E7B-8E33-4E2DB2E9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FB1A63-CFAB-4C92-9BE8-F351E760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60ED464-4748-48C1-885B-B769655C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38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= 400 ÷ 4,000 = 10%</a:t>
            </a:r>
          </a:p>
          <a:p xmlns:a="http://schemas.openxmlformats.org/drawingml/2006/main">
            <a:r>
              <a:t>D = 560 ÷ 8,000 = 7%</a:t>
            </a:r>
            <a:endParaRPr sz="2250" b="1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has the higher percentage return.</a:t>
            </a:r>
          </a:p>
        </p:txBody>
      </p:sp>
    </p:spTree>
    <p:extLst>
      <p:ext uri="{BB962C8B-B14F-4D97-AF65-F5344CB8AC3E}">
        <p14:creationId xmlns:p14="http://schemas.microsoft.com/office/powerpoint/2010/main" val="10013757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23-title">
            <a:extLst xmlns:a="http://schemas.openxmlformats.org/drawingml/2006/main">
              <a:ext uri="{FF2B5EF4-FFF2-40B4-BE49-F238E27FC236}">
                <a16:creationId xmlns:a16="http://schemas.microsoft.com/office/drawing/2014/main" id="{FC9BFC23-9B3D-4EFF-ADA2-958E2945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 backwards: what starting value is implied?</a:t>
            </a:r>
            <a:endParaRPr sz="3600" b="1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9FAF19-7ADD-4D4E-B6B1-0F977DD1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CE459E5-38C8-4D0C-802D-923832E7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FBD971A-EAA2-4BB3-9FE9-F4D17541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1445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investment earns CNY 800 and reports a 10% return.</a:t>
            </a:r>
          </a:p>
        </p:txBody>
      </p:sp>
      <p:cxnSp>
        <p:nvCxnSpPr>
          <p:cNvPr id="83" name="Straight Arrow Connector 60"/>
          <p:cNvCxnSpPr/>
          <p:nvPr/>
        </p:nvCxnSpPr>
        <p:spPr>
          <a:xfrm xmlns:a="http://schemas.openxmlformats.org/drawingml/2006/main">
            <a:off x="1619250" y="3381375"/>
            <a:ext cx="89535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2A148A05-D9BC-44F3-9C78-3790A667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8D33796-3082-4BD4-9129-AC7B4E6A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8999A4-5422-45A5-B56A-97A3E25A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CNY 800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10AA7DD8-8CEA-4BCF-B16F-01C98E16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3949470-50FE-4254-86D1-AE6BAACE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91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RATE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322866-639C-4F07-96F8-58482DAC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10% = 0.10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43AD14F2-A36A-4DD8-8B41-DCCE5313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413A01A-CA7F-414F-81D6-61B398F1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91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STARTING VALUE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D577C2F-77D4-4DDA-8962-E7A9C59F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800 ÷ 0.10 = 8,000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06D1F5FB-1115-4981-AFEF-EEC0608E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2B9A6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2A4B055-A80F-4852-90CE-45A8A619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91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B9A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9A66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0AA5310-6480-4364-8F1B-90ADE800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1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800 ÷ 8,000 = 10%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E326908-BED1-428A-9240-6DD75913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626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8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Rearrangement tests whether students understand the denominator.</a:t>
            </a:r>
          </a:p>
        </p:txBody>
      </p:sp>
    </p:spTree>
    <p:extLst>
      <p:ext uri="{BB962C8B-B14F-4D97-AF65-F5344CB8AC3E}">
        <p14:creationId xmlns:p14="http://schemas.microsoft.com/office/powerpoint/2010/main" val="15108028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24-title">
            <a:extLst xmlns:a="http://schemas.openxmlformats.org/drawingml/2006/main">
              <a:ext uri="{FF2B5EF4-FFF2-40B4-BE49-F238E27FC236}">
                <a16:creationId xmlns:a16="http://schemas.microsoft.com/office/drawing/2014/main" id="{6BC3345E-03B3-1564-9C15-8AECCFCB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7354"/>
            <a:ext cx="11049000" cy="1643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 return percentage is a rate, not a complete verdict.</a:t>
            </a:r>
            <a:endParaRPr sz="3600" b="1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4155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24-title">
            <a:extLst xmlns:a="http://schemas.openxmlformats.org/drawingml/2006/main">
              <a:ext uri="{FF2B5EF4-FFF2-40B4-BE49-F238E27FC236}">
                <a16:creationId xmlns:a16="http://schemas.microsoft.com/office/drawing/2014/main" id="{492580B0-80B0-4162-85F9-CBB53153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Ending value changes measured return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D41DAAE-46D2-4DA6-8A73-A08FFF8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F7B337E-4140-4AC0-B487-13792D73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cxnSp>
        <p:nvCxnSpPr>
          <p:cNvPr id="134" name="Straight Arrow Connector 91"/>
          <p:cNvCxnSpPr/>
          <p:nvPr/>
        </p:nvCxnSpPr>
        <p:spPr>
          <a:xfrm xmlns:a="http://schemas.openxmlformats.org/drawingml/2006/main">
            <a:off x="1143000" y="5286375"/>
            <a:ext cx="42862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135" name="Straight Arrow Connector 92"/>
          <p:cNvCxnSpPr/>
          <p:nvPr/>
        </p:nvCxnSpPr>
        <p:spPr>
          <a:xfrm xmlns:a="http://schemas.openxmlformats.org/drawingml/2006/main">
            <a:off x="1143000" y="1762125"/>
            <a:ext cx="95" cy="3524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136" name="Straight Arrow Connector 93"/>
          <p:cNvCxnSpPr/>
          <p:nvPr/>
        </p:nvCxnSpPr>
        <p:spPr>
          <a:xfrm xmlns:a="http://schemas.openxmlformats.org/drawingml/2006/main" flipV="1">
            <a:off x="1143000" y="1905000"/>
            <a:ext cx="3952875" cy="336744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137" name="Straight Arrow Connector 94"/>
          <p:cNvCxnSpPr/>
          <p:nvPr/>
        </p:nvCxnSpPr>
        <p:spPr>
          <a:xfrm xmlns:a="http://schemas.openxmlformats.org/drawingml/2006/main" flipV="1">
            <a:off x="1143000" y="2905125"/>
            <a:ext cx="3952875" cy="165002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8BCC4"/>
            </a:solidFill>
            <a:prstDash val="solid"/>
          </a:ln>
        </p:spPr>
      </p:cxnSp>
      <p:cxnSp>
        <p:nvCxnSpPr>
          <p:cNvPr id="138" name="Straight Arrow Connector 95"/>
          <p:cNvCxnSpPr/>
          <p:nvPr/>
        </p:nvCxnSpPr>
        <p:spPr>
          <a:xfrm xmlns:a="http://schemas.openxmlformats.org/drawingml/2006/main" flipV="1">
            <a:off x="1143000" y="2143125"/>
            <a:ext cx="3952875" cy="153874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139" name="Straight Arrow Connector 96"/>
          <p:cNvCxnSpPr/>
          <p:nvPr/>
        </p:nvCxnSpPr>
        <p:spPr>
          <a:xfrm xmlns:a="http://schemas.openxmlformats.org/drawingml/2006/main">
            <a:off x="2762345" y="3947516"/>
            <a:ext cx="0" cy="135731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dash"/>
          </a:ln>
        </p:spPr>
      </p:cxnSp>
      <p:cxnSp>
        <p:nvCxnSpPr>
          <p:cNvPr id="140" name="Straight Arrow Connector 97"/>
          <p:cNvCxnSpPr/>
          <p:nvPr/>
        </p:nvCxnSpPr>
        <p:spPr>
          <a:xfrm xmlns:a="http://schemas.openxmlformats.org/drawingml/2006/main">
            <a:off x="4524375" y="2381250"/>
            <a:ext cx="95" cy="2905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D8DFF"/>
            </a:solidFill>
            <a:prstDash val="dash"/>
          </a:ln>
        </p:spPr>
      </p:cxn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113CBC4-F034-4795-B91F-87AC19A7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value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E05C3CA-EE94-4358-B690-9C874744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5823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9A586B7-8439-4579-BFBD-1D0EE69B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732BC21-87A8-47A2-A6D4-1BF75063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95683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F179D0F-73B8-4391-B8DA-01962501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33683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D818E01-BF42-443A-8986-7E86B85E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52453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1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BF6C5EC-F96B-4BDB-91F7-751945B5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34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END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E825F03-74D5-416B-8F05-D506ED02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COMPARATIVE STATICS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C65D3B-5C68-4025-8764-05B69F61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572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342900" indent="-342900" algn="l">
              <a:spcAft>
                <a:spcPts val="1200"/>
              </a:spcAft>
              <a:buFont typeface="Arial"/>
              <a:buChar char="•"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 starting value and income constant.</a:t>
            </a:r>
          </a:p>
          <a:p xmlns:a="http://schemas.openxmlformats.org/drawingml/2006/main">
            <a:pPr marL="342900" indent="-342900" algn="l">
              <a:spcAft>
                <a:spcPts val="1200"/>
              </a:spcAft>
              <a:buFont typeface="Arial"/>
              <a:buChar char="•"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higher ending value increases total return.</a:t>
            </a:r>
          </a:p>
          <a:p xmlns:a="http://schemas.openxmlformats.org/drawingml/2006/main">
            <a:pPr marL="342900" indent="-342900" algn="l">
              <a:spcAft>
                <a:spcPts val="1200"/>
              </a:spcAft>
              <a:buFont typeface="Arial"/>
              <a:buChar char="•"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lower ending value reduces total return.</a:t>
            </a:r>
          </a:p>
          <a:p xmlns:a="http://schemas.openxmlformats.org/drawingml/2006/main">
            <a:pPr marL="342900" indent="-342900" algn="l">
              <a:spcAft>
                <a:spcPts val="1200"/>
              </a:spcAft>
              <a:buFont typeface="Arial"/>
              <a:buChar char="•"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vertical difference at END is the difference in capital gain.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8F3669D-2030-4FD6-8E06-503A3BC2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5238750" cy="7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26B5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6B5B"/>
                </a:solidFill>
                <a:latin typeface="Arial"/>
                <a:ea typeface="Arial"/>
                <a:cs typeface="Arial"/>
              </a:rPr>
              <a:t>This relationship does not explain why the ending values differ.</a:t>
            </a:r>
          </a:p>
        </p:txBody>
      </p:sp>
    </p:spTree>
    <p:extLst>
      <p:ext uri="{BB962C8B-B14F-4D97-AF65-F5344CB8AC3E}">
        <p14:creationId xmlns:p14="http://schemas.microsoft.com/office/powerpoint/2010/main" val="131422975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6-title">
            <a:extLst xmlns:a="http://schemas.openxmlformats.org/drawingml/2006/main">
              <a:ext uri="{FF2B5EF4-FFF2-40B4-BE49-F238E27FC236}">
                <a16:creationId xmlns:a16="http://schemas.microsoft.com/office/drawing/2014/main" id="{05CA1C81-BBEB-493E-86D0-EAC70A91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the result proves—and what it does not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87E27E2-701A-4D10-86CD-6AD056F8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B290E7-C82D-40D5-BA4E-1B595996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EA9590D-3D67-4F21-8133-CBF776EB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8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8D3EAA6-8C7F-4278-B08B-97461BF9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26B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6B5B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E1DAD29-B279-4707-95A7-3BDE68CB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F26B5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26B5B"/>
                </a:solidFill>
                <a:latin typeface="Arial"/>
                <a:ea typeface="Arial"/>
                <a:cs typeface="Arial"/>
              </a:rPr>
              <a:t>MEASURED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731F23-303B-4179-AF6D-2CF2BEB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Amount and percentage over a stated historical period.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3D3FF0-0A1C-424A-8BF0-395612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49D589-34C4-45D8-AD5A-2C4F95E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NOT SUPPORTED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68C319A-7871-4445-B2D7-8C674A6A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4191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F1E7F3B-FCD8-426A-99D7-5E195265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433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Future return, risk, suitability or the cause of performance.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5F10B2F-F3AA-48E4-A820-88DF4F4B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721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3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Calculation strengthens a judgement only when its limits are stated.</a:t>
            </a:r>
          </a:p>
        </p:txBody>
      </p:sp>
    </p:spTree>
    <p:extLst>
      <p:ext uri="{BB962C8B-B14F-4D97-AF65-F5344CB8AC3E}">
        <p14:creationId xmlns:p14="http://schemas.microsoft.com/office/powerpoint/2010/main" val="273262603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24-title">
            <a:extLst xmlns:a="http://schemas.openxmlformats.org/drawingml/2006/main">
              <a:ext uri="{FF2B5EF4-FFF2-40B4-BE49-F238E27FC236}">
                <a16:creationId xmlns:a16="http://schemas.microsoft.com/office/drawing/2014/main" id="{9085C152-0C95-9805-7FBD-0D65AAE6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7354"/>
            <a:ext cx="11049000" cy="1643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latin typeface="Arial"/>
                <a:ea typeface="Arial"/>
                <a:cs typeface="Arial"/>
              </a:rPr>
              <a:t>Check understanding</a:t>
            </a:r>
            <a:endParaRPr sz="5400" b="1" i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79769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1-title">
            <a:extLst xmlns:a="http://schemas.openxmlformats.org/drawingml/2006/main">
              <a:ext uri="{FF2B5EF4-FFF2-40B4-BE49-F238E27FC236}">
                <a16:creationId xmlns:a16="http://schemas.microsoft.com/office/drawing/2014/main" id="{69DC62F9-9533-4541-A963-481B64E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1</a:t>
            </a:r>
          </a:p>
        </p:txBody>
      </p:sp>
      <p:cxnSp>
        <p:nvCxnSpPr>
          <p:cNvPr id="33" name="Straight Arrow Connector 24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5BECA3-C04E-478E-82FB-3B3927E6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A4AF3A-178E-4AB8-84A8-C07FD2C2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0B0A7F0-41FB-4B26-BABE-1F7EEB5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311297-12B1-4CB6-9B5E-BC78BCF7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2232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share starts at CNY 2,500, ends at CNY 2,650 and pays CNY 50 income. What is its percentage return?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B35655-0256-41EC-8381-660B6A71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A  4%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277A4A2-BB06-4A10-9C25-8826118B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B  6%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6540196-AFB4-45A5-A3A4-07C7F6E4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C  8%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35C7BE1-EBAB-45A6-A6F0-86CBD8A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 10%</a:t>
            </a:r>
          </a:p>
        </p:txBody>
      </p:sp>
    </p:spTree>
    <p:extLst>
      <p:ext uri="{BB962C8B-B14F-4D97-AF65-F5344CB8AC3E}">
        <p14:creationId xmlns:p14="http://schemas.microsoft.com/office/powerpoint/2010/main" val="16008827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1-title">
            <a:extLst xmlns:a="http://schemas.openxmlformats.org/drawingml/2006/main">
              <a:ext uri="{FF2B5EF4-FFF2-40B4-BE49-F238E27FC236}">
                <a16:creationId xmlns:a16="http://schemas.microsoft.com/office/drawing/2014/main" id="{69DC62F9-9533-4541-A963-481B64E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2</a:t>
            </a:r>
          </a:p>
        </p:txBody>
      </p:sp>
      <p:cxnSp>
        <p:nvCxnSpPr>
          <p:cNvPr id="33" name="Straight Arrow Connector 24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5BECA3-C04E-478E-82FB-3B3927E6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A4AF3A-178E-4AB8-84A8-C07FD2C2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0B0A7F0-41FB-4B26-BABE-1F7EEB5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311297-12B1-4CB6-9B5E-BC78BCF7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98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item should be excluded from simple investment return?</a:t>
            </a:r>
            <a:endParaRPr sz="2025" b="1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B35655-0256-41EC-8381-660B6A71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A  Dividend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277A4A2-BB06-4A10-9C25-8826118B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B  Interest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6540196-AFB4-45A5-A3A4-07C7F6E4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C  New deposit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35C7BE1-EBAB-45A6-A6F0-86CBD8A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768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 Capital loss</a:t>
            </a:r>
          </a:p>
        </p:txBody>
      </p:sp>
    </p:spTree>
    <p:extLst>
      <p:ext uri="{BB962C8B-B14F-4D97-AF65-F5344CB8AC3E}">
        <p14:creationId xmlns:p14="http://schemas.microsoft.com/office/powerpoint/2010/main" val="16008827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1-title">
            <a:extLst xmlns:a="http://schemas.openxmlformats.org/drawingml/2006/main">
              <a:ext uri="{FF2B5EF4-FFF2-40B4-BE49-F238E27FC236}">
                <a16:creationId xmlns:a16="http://schemas.microsoft.com/office/drawing/2014/main" id="{69DC62F9-9533-4541-A963-481B64E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3</a:t>
            </a:r>
          </a:p>
        </p:txBody>
      </p:sp>
      <p:cxnSp>
        <p:nvCxnSpPr>
          <p:cNvPr id="33" name="Straight Arrow Connector 24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5BECA3-C04E-478E-82FB-3B3927E6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A4AF3A-178E-4AB8-84A8-C07FD2C2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0B0A7F0-41FB-4B26-BABE-1F7EEB5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311297-12B1-4CB6-9B5E-BC78BCF7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earns CNY 300 on CNY 3,000. B earns CNY 500 on CNY 10,000. Which statement is correct?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B35655-0256-41EC-8381-660B6A71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A  B has the higher percentage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277A4A2-BB06-4A10-9C25-8826118B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B  A has the higher percentage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6540196-AFB4-45A5-A3A4-07C7F6E4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C  Both return 10%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35C7BE1-EBAB-45A6-A6F0-86CBD8A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 Comparison is impossible</a:t>
            </a:r>
          </a:p>
        </p:txBody>
      </p:sp>
    </p:spTree>
    <p:extLst>
      <p:ext uri="{BB962C8B-B14F-4D97-AF65-F5344CB8AC3E}">
        <p14:creationId xmlns:p14="http://schemas.microsoft.com/office/powerpoint/2010/main" val="160088276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8-title">
            <a:extLst xmlns:a="http://schemas.openxmlformats.org/drawingml/2006/main">
              <a:ext uri="{FF2B5EF4-FFF2-40B4-BE49-F238E27FC236}">
                <a16:creationId xmlns:a16="http://schemas.microsoft.com/office/drawing/2014/main" id="{6803C822-5FCC-46B1-9DC5-6A919507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Feedback: concepts and calculation</a:t>
            </a:r>
          </a:p>
        </p:txBody>
      </p:sp>
      <p:cxnSp>
        <p:nvCxnSpPr>
          <p:cNvPr id="137" name="Straight Arrow Connector 88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D99998-3687-47AF-9CE9-D174A566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C97E3E-7E79-4767-A7F2-FC8021EB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C20010-C4D6-441B-B36B-28E06521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 C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AE0371F-C661-420B-A6AF-A2FBBDE8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66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8%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47264C-3480-4850-9BE3-3746B50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(2,650 − 2,500 + 50) ÷ 2,500 × 100</a:t>
            </a:r>
          </a:p>
        </p:txBody>
      </p:sp>
      <p:cxnSp>
        <p:nvCxnSpPr>
          <p:cNvPr id="143" name="Straight Arrow Connector 94"/>
          <p:cNvCxnSpPr/>
          <p:nvPr/>
        </p:nvCxnSpPr>
        <p:spPr>
          <a:xfrm xmlns:a="http://schemas.openxmlformats.org/drawingml/2006/main">
            <a:off x="809625" y="2667000"/>
            <a:ext cx="103346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7F9070C-813F-478A-81BD-7DB6489B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8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 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79F31D-A495-4D12-AACB-2460F822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DEPOSIT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71A006-F2E8-45AD-9AC9-EBDFCE5E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External cash flow does not show asset performance.</a:t>
            </a:r>
          </a:p>
        </p:txBody>
      </p:sp>
      <p:cxnSp>
        <p:nvCxnSpPr>
          <p:cNvPr id="147" name="Straight Arrow Connector 98"/>
          <p:cNvCxnSpPr/>
          <p:nvPr/>
        </p:nvCxnSpPr>
        <p:spPr>
          <a:xfrm xmlns:a="http://schemas.openxmlformats.org/drawingml/2006/main">
            <a:off x="809625" y="4048125"/>
            <a:ext cx="103346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2EADD9C-34B7-423A-8481-007ACD14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  B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8865455-ED7B-460B-AB6E-5953BFF8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291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= 10%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8AAA65-6C01-42A5-AB42-3EBD2841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B = 5%; higher money amount does not mean higher rate.</a:t>
            </a:r>
          </a:p>
        </p:txBody>
      </p:sp>
    </p:spTree>
    <p:extLst>
      <p:ext uri="{BB962C8B-B14F-4D97-AF65-F5344CB8AC3E}">
        <p14:creationId xmlns:p14="http://schemas.microsoft.com/office/powerpoint/2010/main" val="175383642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29-title">
            <a:extLst xmlns:a="http://schemas.openxmlformats.org/drawingml/2006/main">
              <a:ext uri="{FF2B5EF4-FFF2-40B4-BE49-F238E27FC236}">
                <a16:creationId xmlns:a16="http://schemas.microsoft.com/office/drawing/2014/main" id="{64BB336E-D6D4-4954-86E1-50C2921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Analytical question [4]</a:t>
            </a:r>
          </a:p>
        </p:txBody>
      </p:sp>
      <p:cxnSp>
        <p:nvCxnSpPr>
          <p:cNvPr id="30" name="Straight Arrow Connector 21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F8EEA27-5156-4EE2-9C9A-FC8019FF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150D57-C97C-4348-AE13-E46B1C96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19E555-1B74-4D2B-A021-8ECB42B5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D8891B-9E8C-4789-BF50-00A7BB59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95500"/>
            <a:ext cx="962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 why percentage return is usually a fairer measure than return amount when two investments have different starting values. [4]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875EA82-00A8-460E-B0C7-8A8F353F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MARK TARGET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9317FF2-B123-4F5D-9F35-CDCCE0B6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33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marks: calculation logic | 2 marks: applied comparison</a:t>
            </a:r>
          </a:p>
        </p:txBody>
      </p:sp>
    </p:spTree>
    <p:extLst>
      <p:ext uri="{BB962C8B-B14F-4D97-AF65-F5344CB8AC3E}">
        <p14:creationId xmlns:p14="http://schemas.microsoft.com/office/powerpoint/2010/main" val="10916377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0-title">
            <a:extLst xmlns:a="http://schemas.openxmlformats.org/drawingml/2006/main">
              <a:ext uri="{FF2B5EF4-FFF2-40B4-BE49-F238E27FC236}">
                <a16:creationId xmlns:a16="http://schemas.microsoft.com/office/drawing/2014/main" id="{C8F62F67-5E23-414B-820A-0BF66CC3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chain: fair comparison</a:t>
            </a:r>
          </a:p>
        </p:txBody>
      </p:sp>
      <p:cxnSp>
        <p:nvCxnSpPr>
          <p:cNvPr id="88" name="Straight Arrow Connector 59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867EC3-3B94-464A-A337-5248D0C6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8FD230-6FFE-485F-BE7B-FFC9B856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cxnSp>
        <p:nvCxnSpPr>
          <p:cNvPr id="91" name="Straight Arrow Connector 62"/>
          <p:cNvCxnSpPr/>
          <p:nvPr/>
        </p:nvCxnSpPr>
        <p:spPr>
          <a:xfrm xmlns:a="http://schemas.openxmlformats.org/drawingml/2006/main">
            <a:off x="3143250" y="1714500"/>
            <a:ext cx="95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92" name="Straight Arrow Connector 63"/>
          <p:cNvCxnSpPr/>
          <p:nvPr/>
        </p:nvCxnSpPr>
        <p:spPr>
          <a:xfrm xmlns:a="http://schemas.openxmlformats.org/drawingml/2006/main">
            <a:off x="6000750" y="1714500"/>
            <a:ext cx="95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93" name="Straight Arrow Connector 64"/>
          <p:cNvCxnSpPr/>
          <p:nvPr/>
        </p:nvCxnSpPr>
        <p:spPr>
          <a:xfrm xmlns:a="http://schemas.openxmlformats.org/drawingml/2006/main">
            <a:off x="8858250" y="1714500"/>
            <a:ext cx="95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E330697-18B0-4EE9-BD5D-E00820D9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 DEFINE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19562FE-DE2A-4052-964A-B412A0DE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Percentage return measures return relative to starting value.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6D74AC-211E-495B-ADD1-776C49D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  CALCULATE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495D2F6-481A-492F-9B33-9CB49A5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Divide each total return by its own starting value and multiply by 100.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3944F80-9C2B-48C4-AF9D-5362AEDA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  COMPARE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131707E-7A04-4C59-A1F3-75683F26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controls for different investment sizes, so performance rates are comparable.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EB09EC-A599-44D4-8315-12A47673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26B5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6B5B"/>
                </a:solidFill>
                <a:latin typeface="Arial"/>
                <a:ea typeface="Arial"/>
                <a:cs typeface="Arial"/>
              </a:rPr>
              <a:t>4  QUALIFY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9E72E05-144E-4D69-843C-FA0016BF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the same time period and account for external cash flows.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CDFD4F0-60E8-4FC5-A094-E92B2A40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437" y="6029325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claim the higher historical return will continue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9413337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1-title">
            <a:extLst xmlns:a="http://schemas.openxmlformats.org/drawingml/2006/main">
              <a:ext uri="{FF2B5EF4-FFF2-40B4-BE49-F238E27FC236}">
                <a16:creationId xmlns:a16="http://schemas.microsoft.com/office/drawing/2014/main" id="{69DC62F9-9533-4541-A963-481B64E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Teacher-created assessment: investment return</a:t>
            </a:r>
          </a:p>
        </p:txBody>
      </p:sp>
      <p:cxnSp>
        <p:nvCxnSpPr>
          <p:cNvPr id="33" name="Straight Arrow Connector 24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5BECA3-C04E-478E-82FB-3B3927E6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A4AF3A-178E-4AB8-84A8-C07FD2C2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0B0A7F0-41FB-4B26-BABE-1F7EEB5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311297-12B1-4CB6-9B5E-BC78BCF7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portfolio starts at CNY 12,000, ends at CNY 12,720, pays CNY 240 income and receives a CNY 1,000 new deposit.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B35655-0256-41EC-8381-660B6A71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 Explain how the deposit should be treated.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277A4A2-BB06-4A10-9C25-8826118B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  Calculate total return after controlling for the deposit.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6540196-AFB4-45A5-A3A4-07C7F6E4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 Calculate percentage return.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35C7BE1-EBAB-45A6-A6F0-86CBD8A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9525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 Explain one limitation of using this result alone.</a:t>
            </a:r>
          </a:p>
        </p:txBody>
      </p:sp>
    </p:spTree>
    <p:extLst>
      <p:ext uri="{BB962C8B-B14F-4D97-AF65-F5344CB8AC3E}">
        <p14:creationId xmlns:p14="http://schemas.microsoft.com/office/powerpoint/2010/main" val="16008827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2-title">
            <a:extLst xmlns:a="http://schemas.openxmlformats.org/drawingml/2006/main">
              <a:ext uri="{FF2B5EF4-FFF2-40B4-BE49-F238E27FC236}">
                <a16:creationId xmlns:a16="http://schemas.microsoft.com/office/drawing/2014/main" id="{9B894E70-433A-4BF7-990F-7D05587A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Lesson 2: components, calculation and judgement</a:t>
            </a:r>
          </a:p>
        </p:txBody>
      </p:sp>
      <p:cxnSp>
        <p:nvCxnSpPr>
          <p:cNvPr id="67" name="Straight Arrow Connector 46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BCE905A-A9B8-46C4-BCCF-C6B59E6C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979478D-5CE9-4E38-9195-1E97D33D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cxnSp>
        <p:nvCxnSpPr>
          <p:cNvPr id="70" name="Straight Arrow Connector 49"/>
          <p:cNvCxnSpPr/>
          <p:nvPr/>
        </p:nvCxnSpPr>
        <p:spPr>
          <a:xfrm xmlns:a="http://schemas.openxmlformats.org/drawingml/2006/main">
            <a:off x="1638169" y="2514647"/>
            <a:ext cx="89535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B5182AC-9591-4B6A-95DA-A6850D5A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169" y="1990772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D61783-26B6-4A86-88AF-9E7ECD2C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69" y="3419522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COMPONENTS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EB3DF0D-D324-40FC-8735-94DB2341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69" y="3895772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change + income; exclude external cash flows.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EE759D6-35AF-45C3-B516-0D6A2792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419" y="1990772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68D990-09E5-4BD3-B19C-F71818DC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19" y="3419522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CALCULATION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F1CACD2-4FA1-46FC-A4E0-84860FB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419" y="3895772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 = EV − SV + I; return % = R ÷ SV × 100.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60CD2CC-3ABD-48E1-8803-E64FD5AE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669" y="1990772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2B9A6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CBA91D2-B24D-458B-953A-52712ACC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669" y="3419522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B9A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B9A66"/>
                </a:solidFill>
                <a:latin typeface="Arial"/>
                <a:ea typeface="Arial"/>
                <a:cs typeface="Arial"/>
              </a:rPr>
              <a:t>JUDGEMENT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4856213-0F74-4BB2-839E-4AC23E39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669" y="3895772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 the metric, match the period and state the limits.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476BFBB-8864-408B-8349-BDDD8373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626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 challenge: CNY 800 return on CNY 8,000 = 10%.</a:t>
            </a:r>
          </a:p>
        </p:txBody>
      </p:sp>
    </p:spTree>
    <p:extLst>
      <p:ext uri="{BB962C8B-B14F-4D97-AF65-F5344CB8AC3E}">
        <p14:creationId xmlns:p14="http://schemas.microsoft.com/office/powerpoint/2010/main" val="1246874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2026-09-03T04:39:06.3140000Z</dcterms:created>
  <dcterms:modified xsi:type="dcterms:W3CDTF">2026-09-03T04:39:06.3140000Z</dcterms:modified>
</coreProperties>
</file>