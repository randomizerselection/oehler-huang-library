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6f875ad26e64f0b" /><Relationship Type="http://schemas.openxmlformats.org/officeDocument/2006/relationships/extended-properties" Target="/docProps/app.xml" Id="R37034e6b42634480" /><Relationship Type="http://schemas.openxmlformats.org/officeDocument/2006/relationships/officeDocument" Target="/ppt/presentation.xml" Id="R87307a0c53004a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74d571a71240d6"/>
  </p:sldMasterIdLst>
  <p:notesMasterIdLst>
    <p:notesMasterId xmlns:r="http://schemas.openxmlformats.org/officeDocument/2006/relationships" r:id="R3d3119a2004b4560"/>
  </p:notesMasterIdLst>
  <p:sldIdLst>
    <p:sldId xmlns:r="http://schemas.openxmlformats.org/officeDocument/2006/relationships" id="256" r:id="Ra8bbf69d941b4b13"/>
    <p:sldId xmlns:r="http://schemas.openxmlformats.org/officeDocument/2006/relationships" id="257" r:id="R73e4c6ffa7d14cd3"/>
    <p:sldId xmlns:r="http://schemas.openxmlformats.org/officeDocument/2006/relationships" id="258" r:id="Rbd087cdf1e5447ec"/>
    <p:sldId xmlns:r="http://schemas.openxmlformats.org/officeDocument/2006/relationships" id="259" r:id="Rf32ec34b3ab94609"/>
    <p:sldId xmlns:r="http://schemas.openxmlformats.org/officeDocument/2006/relationships" id="260" r:id="Raf15dc2d59864e2c"/>
    <p:sldId xmlns:r="http://schemas.openxmlformats.org/officeDocument/2006/relationships" id="261" r:id="R7319db5f7c724a1f"/>
    <p:sldId xmlns:r="http://schemas.openxmlformats.org/officeDocument/2006/relationships" id="262" r:id="R3fe4870846424e6f"/>
    <p:sldId xmlns:r="http://schemas.openxmlformats.org/officeDocument/2006/relationships" id="263" r:id="R060ea114725943dd"/>
    <p:sldId xmlns:r="http://schemas.openxmlformats.org/officeDocument/2006/relationships" id="264" r:id="R8a42b2fd351b4656"/>
    <p:sldId xmlns:r="http://schemas.openxmlformats.org/officeDocument/2006/relationships" id="265" r:id="Re624791e96e34c8a"/>
    <p:sldId xmlns:r="http://schemas.openxmlformats.org/officeDocument/2006/relationships" id="266" r:id="Rdd68a502d07c4e97"/>
    <p:sldId xmlns:r="http://schemas.openxmlformats.org/officeDocument/2006/relationships" id="267" r:id="Rdfeb4ccd416d43c6"/>
    <p:sldId xmlns:r="http://schemas.openxmlformats.org/officeDocument/2006/relationships" id="268" r:id="R9e70c91a5338454e"/>
    <p:sldId xmlns:r="http://schemas.openxmlformats.org/officeDocument/2006/relationships" id="269" r:id="R5d4e4b1197214d80"/>
    <p:sldId xmlns:r="http://schemas.openxmlformats.org/officeDocument/2006/relationships" id="270" r:id="Rb8a2c837a4c549b5"/>
    <p:sldId xmlns:r="http://schemas.openxmlformats.org/officeDocument/2006/relationships" id="271" r:id="R52ade1ce777a4e0c"/>
    <p:sldId xmlns:r="http://schemas.openxmlformats.org/officeDocument/2006/relationships" id="272" r:id="Rbc002ac55e48494d"/>
    <p:sldId xmlns:r="http://schemas.openxmlformats.org/officeDocument/2006/relationships" id="273" r:id="Rd2bca823f6ab485b"/>
    <p:sldId xmlns:r="http://schemas.openxmlformats.org/officeDocument/2006/relationships" id="274" r:id="Ra66429a7a6e44788"/>
    <p:sldId xmlns:r="http://schemas.openxmlformats.org/officeDocument/2006/relationships" id="275" r:id="R3407c1fa22c941f3"/>
    <p:sldId xmlns:r="http://schemas.openxmlformats.org/officeDocument/2006/relationships" id="276" r:id="R4e3d50d3a4264452"/>
    <p:sldId xmlns:r="http://schemas.openxmlformats.org/officeDocument/2006/relationships" id="277" r:id="Rf3a8073c7e534e04"/>
    <p:sldId xmlns:r="http://schemas.openxmlformats.org/officeDocument/2006/relationships" id="278" r:id="Ra5d93e8dd7ba4c98"/>
    <p:sldId xmlns:r="http://schemas.openxmlformats.org/officeDocument/2006/relationships" id="279" r:id="R2699fd9ac9564274"/>
    <p:sldId xmlns:r="http://schemas.openxmlformats.org/officeDocument/2006/relationships" id="280" r:id="Rbbbf57e847ad425a"/>
    <p:sldId xmlns:r="http://schemas.openxmlformats.org/officeDocument/2006/relationships" id="281" r:id="Ra0010fc2052143fb"/>
    <p:sldId xmlns:r="http://schemas.openxmlformats.org/officeDocument/2006/relationships" id="282" r:id="Rc321f0dd755640de"/>
    <p:sldId xmlns:r="http://schemas.openxmlformats.org/officeDocument/2006/relationships" id="283" r:id="R91b4e04cbbbe4bba"/>
    <p:sldId xmlns:r="http://schemas.openxmlformats.org/officeDocument/2006/relationships" id="284" r:id="R117bd9f93db344fb"/>
    <p:sldId xmlns:r="http://schemas.openxmlformats.org/officeDocument/2006/relationships" id="285" r:id="R96487b232fa44378"/>
    <p:sldId xmlns:r="http://schemas.openxmlformats.org/officeDocument/2006/relationships" id="286" r:id="Rd8f47cb2b84d42e0"/>
    <p:sldId xmlns:r="http://schemas.openxmlformats.org/officeDocument/2006/relationships" id="287" r:id="Rc6543a12200a44ed"/>
    <p:sldId xmlns:r="http://schemas.openxmlformats.org/officeDocument/2006/relationships" id="288" r:id="R586ca684b8694e4e"/>
    <p:sldId xmlns:r="http://schemas.openxmlformats.org/officeDocument/2006/relationships" id="289" r:id="R973d93323bf94180"/>
    <p:sldId xmlns:r="http://schemas.openxmlformats.org/officeDocument/2006/relationships" id="290" r:id="R8a090a01a8744e33"/>
    <p:sldId xmlns:r="http://schemas.openxmlformats.org/officeDocument/2006/relationships" id="291" r:id="Rd588a4b1a50549ca"/>
    <p:sldId xmlns:r="http://schemas.openxmlformats.org/officeDocument/2006/relationships" id="292" r:id="R0b83c1be60424264"/>
    <p:sldId xmlns:r="http://schemas.openxmlformats.org/officeDocument/2006/relationships" id="293" r:id="Reb23282994cf4b9c"/>
    <p:sldId xmlns:r="http://schemas.openxmlformats.org/officeDocument/2006/relationships" id="294" r:id="R33ca26eb957a4b50"/>
    <p:sldId xmlns:r="http://schemas.openxmlformats.org/officeDocument/2006/relationships" id="295" r:id="Rd8dad3ae83b548d4"/>
    <p:sldId xmlns:r="http://schemas.openxmlformats.org/officeDocument/2006/relationships" id="296" r:id="R08f4baadbc89413f"/>
    <p:sldId xmlns:r="http://schemas.openxmlformats.org/officeDocument/2006/relationships" id="297" r:id="Rafb4f804e7a94b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e7dce664364f21" /><Relationship Type="http://schemas.openxmlformats.org/officeDocument/2006/relationships/slideMaster" Target="/ppt/slideMasters/slideMaster1.xml" Id="Rbc74d571a71240d6" /><Relationship Type="http://schemas.openxmlformats.org/officeDocument/2006/relationships/notesMaster" Target="/ppt/notesMasters/notesMaster1.xml" Id="R3d3119a2004b4560" /><Relationship Type="http://schemas.openxmlformats.org/officeDocument/2006/relationships/presProps" Target="/ppt/presProps.xml" Id="R0168ac7b9c494b7a" /><Relationship Type="http://schemas.openxmlformats.org/officeDocument/2006/relationships/tableStyles" Target="/ppt/tableStyles.xml" Id="R8c63fe9807f64f69" /><Relationship Type="http://schemas.openxmlformats.org/officeDocument/2006/relationships/slide" Target="/ppt/slides/slide1.xml" Id="Ra8bbf69d941b4b13" /><Relationship Type="http://schemas.openxmlformats.org/officeDocument/2006/relationships/slide" Target="/ppt/slides/slide2.xml" Id="R73e4c6ffa7d14cd3" /><Relationship Type="http://schemas.openxmlformats.org/officeDocument/2006/relationships/slide" Target="/ppt/slides/slide3.xml" Id="Rbd087cdf1e5447ec" /><Relationship Type="http://schemas.openxmlformats.org/officeDocument/2006/relationships/slide" Target="/ppt/slides/slide4.xml" Id="Rf32ec34b3ab94609" /><Relationship Type="http://schemas.openxmlformats.org/officeDocument/2006/relationships/slide" Target="/ppt/slides/slide5.xml" Id="Raf15dc2d59864e2c" /><Relationship Type="http://schemas.openxmlformats.org/officeDocument/2006/relationships/slide" Target="/ppt/slides/slide6.xml" Id="R7319db5f7c724a1f" /><Relationship Type="http://schemas.openxmlformats.org/officeDocument/2006/relationships/slide" Target="/ppt/slides/slide7.xml" Id="R3fe4870846424e6f" /><Relationship Type="http://schemas.openxmlformats.org/officeDocument/2006/relationships/slide" Target="/ppt/slides/slide8.xml" Id="R060ea114725943dd" /><Relationship Type="http://schemas.openxmlformats.org/officeDocument/2006/relationships/slide" Target="/ppt/slides/slide9.xml" Id="R8a42b2fd351b4656" /><Relationship Type="http://schemas.openxmlformats.org/officeDocument/2006/relationships/slide" Target="/ppt/slides/slide10.xml" Id="Re624791e96e34c8a" /><Relationship Type="http://schemas.openxmlformats.org/officeDocument/2006/relationships/slide" Target="/ppt/slides/slide11.xml" Id="Rdd68a502d07c4e97" /><Relationship Type="http://schemas.openxmlformats.org/officeDocument/2006/relationships/slide" Target="/ppt/slides/slide12.xml" Id="Rdfeb4ccd416d43c6" /><Relationship Type="http://schemas.openxmlformats.org/officeDocument/2006/relationships/slide" Target="/ppt/slides/slide13.xml" Id="R9e70c91a5338454e" /><Relationship Type="http://schemas.openxmlformats.org/officeDocument/2006/relationships/slide" Target="/ppt/slides/slide14.xml" Id="R5d4e4b1197214d80" /><Relationship Type="http://schemas.openxmlformats.org/officeDocument/2006/relationships/slide" Target="/ppt/slides/slide15.xml" Id="Rb8a2c837a4c549b5" /><Relationship Type="http://schemas.openxmlformats.org/officeDocument/2006/relationships/slide" Target="/ppt/slides/slide16.xml" Id="R52ade1ce777a4e0c" /><Relationship Type="http://schemas.openxmlformats.org/officeDocument/2006/relationships/slide" Target="/ppt/slides/slide17.xml" Id="Rbc002ac55e48494d" /><Relationship Type="http://schemas.openxmlformats.org/officeDocument/2006/relationships/slide" Target="/ppt/slides/slide18.xml" Id="Rd2bca823f6ab485b" /><Relationship Type="http://schemas.openxmlformats.org/officeDocument/2006/relationships/slide" Target="/ppt/slides/slide19.xml" Id="Ra66429a7a6e44788" /><Relationship Type="http://schemas.openxmlformats.org/officeDocument/2006/relationships/slide" Target="/ppt/slides/slide20.xml" Id="R3407c1fa22c941f3" /><Relationship Type="http://schemas.openxmlformats.org/officeDocument/2006/relationships/slide" Target="/ppt/slides/slide21.xml" Id="R4e3d50d3a4264452" /><Relationship Type="http://schemas.openxmlformats.org/officeDocument/2006/relationships/slide" Target="/ppt/slides/slide22.xml" Id="Rf3a8073c7e534e04" /><Relationship Type="http://schemas.openxmlformats.org/officeDocument/2006/relationships/slide" Target="/ppt/slides/slide23.xml" Id="Ra5d93e8dd7ba4c98" /><Relationship Type="http://schemas.openxmlformats.org/officeDocument/2006/relationships/slide" Target="/ppt/slides/slide24.xml" Id="R2699fd9ac9564274" /><Relationship Type="http://schemas.openxmlformats.org/officeDocument/2006/relationships/slide" Target="/ppt/slides/slide25.xml" Id="Rbbbf57e847ad425a" /><Relationship Type="http://schemas.openxmlformats.org/officeDocument/2006/relationships/slide" Target="/ppt/slides/slide26.xml" Id="Ra0010fc2052143fb" /><Relationship Type="http://schemas.openxmlformats.org/officeDocument/2006/relationships/slide" Target="/ppt/slides/slide27.xml" Id="Rc321f0dd755640de" /><Relationship Type="http://schemas.openxmlformats.org/officeDocument/2006/relationships/slide" Target="/ppt/slides/slide28.xml" Id="R91b4e04cbbbe4bba" /><Relationship Type="http://schemas.openxmlformats.org/officeDocument/2006/relationships/slide" Target="/ppt/slides/slide29.xml" Id="R117bd9f93db344fb" /><Relationship Type="http://schemas.openxmlformats.org/officeDocument/2006/relationships/slide" Target="/ppt/slides/slide30.xml" Id="R96487b232fa44378" /><Relationship Type="http://schemas.openxmlformats.org/officeDocument/2006/relationships/slide" Target="/ppt/slides/slide31.xml" Id="Rd8f47cb2b84d42e0" /><Relationship Type="http://schemas.openxmlformats.org/officeDocument/2006/relationships/slide" Target="/ppt/slides/slide32.xml" Id="Rc6543a12200a44ed" /><Relationship Type="http://schemas.openxmlformats.org/officeDocument/2006/relationships/slide" Target="/ppt/slides/slide33.xml" Id="R586ca684b8694e4e" /><Relationship Type="http://schemas.openxmlformats.org/officeDocument/2006/relationships/slide" Target="/ppt/slides/slide34.xml" Id="R973d93323bf94180" /><Relationship Type="http://schemas.openxmlformats.org/officeDocument/2006/relationships/slide" Target="/ppt/slides/slide35.xml" Id="R8a090a01a8744e33" /><Relationship Type="http://schemas.openxmlformats.org/officeDocument/2006/relationships/slide" Target="/ppt/slides/slide36.xml" Id="Rd588a4b1a50549ca" /><Relationship Type="http://schemas.openxmlformats.org/officeDocument/2006/relationships/slide" Target="/ppt/slides/slide37.xml" Id="R0b83c1be60424264" /><Relationship Type="http://schemas.openxmlformats.org/officeDocument/2006/relationships/slide" Target="/ppt/slides/slide38.xml" Id="Reb23282994cf4b9c" /><Relationship Type="http://schemas.openxmlformats.org/officeDocument/2006/relationships/slide" Target="/ppt/slides/slide39.xml" Id="R33ca26eb957a4b50" /><Relationship Type="http://schemas.openxmlformats.org/officeDocument/2006/relationships/slide" Target="/ppt/slides/slide40.xml" Id="Rd8dad3ae83b548d4" /><Relationship Type="http://schemas.openxmlformats.org/officeDocument/2006/relationships/slide" Target="/ppt/slides/slide41.xml" Id="R08f4baadbc89413f" /><Relationship Type="http://schemas.openxmlformats.org/officeDocument/2006/relationships/slide" Target="/ppt/slides/slide42.xml" Id="Rafb4f804e7a94b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10593a22674a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Investment Ledger">
      <a:dk1>
        <a:srgbClr val="000000"/>
      </a:dk1>
      <a:lt1>
        <a:srgbClr val="FFFFFF"/>
      </a:lt1>
      <a:dk2>
        <a:srgbClr val="15231F"/>
      </a:dk2>
      <a:lt2>
        <a:srgbClr val="E6DED0"/>
      </a:lt2>
      <a:accent1>
        <a:srgbClr val="1E5B52"/>
      </a:accent1>
      <a:accent2>
        <a:srgbClr val="C56B3F"/>
      </a:accent2>
      <a:accent3>
        <a:srgbClr val="D3A63C"/>
      </a:accent3>
      <a:accent4>
        <a:srgbClr val="B94C45"/>
      </a:accent4>
      <a:accent5>
        <a:srgbClr val="6C557D"/>
      </a:accent5>
      <a:accent6>
        <a:srgbClr val="2F8065"/>
      </a:accent6>
      <a:hlink>
        <a:srgbClr val="1E5B52"/>
      </a:hlink>
      <a:folHlink>
        <a:srgbClr val="6C55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nvestment Ledg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2c5c1ef9e74b3d" /><Relationship Type="http://schemas.openxmlformats.org/officeDocument/2006/relationships/notesMaster" Target="/ppt/notesMasters/notesMaster1.xml" Id="R28fd9c953dd544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ba74c72a494494" /><Relationship Type="http://schemas.openxmlformats.org/officeDocument/2006/relationships/notesMaster" Target="/ppt/notesMasters/notesMaster1.xml" Id="R7f1f305b5cd54cd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c6c1a16fc145a0" /><Relationship Type="http://schemas.openxmlformats.org/officeDocument/2006/relationships/notesMaster" Target="/ppt/notesMasters/notesMaster1.xml" Id="R0776e79b87e845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add9bd610f4f89" /><Relationship Type="http://schemas.openxmlformats.org/officeDocument/2006/relationships/notesMaster" Target="/ppt/notesMasters/notesMaster1.xml" Id="R3773682d173a4a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bbc3f357f84ed9" /><Relationship Type="http://schemas.openxmlformats.org/officeDocument/2006/relationships/notesMaster" Target="/ppt/notesMasters/notesMaster1.xml" Id="R21c311f507c04c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7b18fb125b4e5f" /><Relationship Type="http://schemas.openxmlformats.org/officeDocument/2006/relationships/notesMaster" Target="/ppt/notesMasters/notesMaster1.xml" Id="Rf80c1122bb2c41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130077849040e2" /><Relationship Type="http://schemas.openxmlformats.org/officeDocument/2006/relationships/notesMaster" Target="/ppt/notesMasters/notesMaster1.xml" Id="R5b6833f468cf4f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afbbf69caa4d2f" /><Relationship Type="http://schemas.openxmlformats.org/officeDocument/2006/relationships/notesMaster" Target="/ppt/notesMasters/notesMaster1.xml" Id="R0563c39de9f940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b23e5a8fa549b0" /><Relationship Type="http://schemas.openxmlformats.org/officeDocument/2006/relationships/notesMaster" Target="/ppt/notesMasters/notesMaster1.xml" Id="Recd5da030a194b5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d17b273a2c4e53" /><Relationship Type="http://schemas.openxmlformats.org/officeDocument/2006/relationships/notesMaster" Target="/ppt/notesMasters/notesMaster1.xml" Id="R96514e52801f498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688378866644bc" /><Relationship Type="http://schemas.openxmlformats.org/officeDocument/2006/relationships/notesMaster" Target="/ppt/notesMasters/notesMaster1.xml" Id="Rd54851573b174a8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872d646cee64707" /><Relationship Type="http://schemas.openxmlformats.org/officeDocument/2006/relationships/notesMaster" Target="/ppt/notesMasters/notesMaster1.xml" Id="Raf6eb7ca05f048b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7f460b230a4951" /><Relationship Type="http://schemas.openxmlformats.org/officeDocument/2006/relationships/notesMaster" Target="/ppt/notesMasters/notesMaster1.xml" Id="R7927cdea233743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0f0ac541f9243f1" /><Relationship Type="http://schemas.openxmlformats.org/officeDocument/2006/relationships/notesMaster" Target="/ppt/notesMasters/notesMaster1.xml" Id="R95b8b3369a0249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675687b5834669" /><Relationship Type="http://schemas.openxmlformats.org/officeDocument/2006/relationships/notesMaster" Target="/ppt/notesMasters/notesMaster1.xml" Id="Rf1ff85e807ed4c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cd0824607548ab" /><Relationship Type="http://schemas.openxmlformats.org/officeDocument/2006/relationships/notesMaster" Target="/ppt/notesMasters/notesMaster1.xml" Id="R8da44fd926344b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c016e9bb1c4d58" /><Relationship Type="http://schemas.openxmlformats.org/officeDocument/2006/relationships/notesMaster" Target="/ppt/notesMasters/notesMaster1.xml" Id="R5e7a1c1acf70432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356efa603fb4ab5" /><Relationship Type="http://schemas.openxmlformats.org/officeDocument/2006/relationships/notesMaster" Target="/ppt/notesMasters/notesMaster1.xml" Id="R4cbea2ab107f417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eb7faa88a44d9d" /><Relationship Type="http://schemas.openxmlformats.org/officeDocument/2006/relationships/notesMaster" Target="/ppt/notesMasters/notesMaster1.xml" Id="Rb2f89aa7652f4b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370b6faa51d4da6" /><Relationship Type="http://schemas.openxmlformats.org/officeDocument/2006/relationships/notesMaster" Target="/ppt/notesMasters/notesMaster1.xml" Id="R3bb699ab03be4f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d1a73ce324d4d06" /><Relationship Type="http://schemas.openxmlformats.org/officeDocument/2006/relationships/notesMaster" Target="/ppt/notesMasters/notesMaster1.xml" Id="Rb54fcb53b04f4ef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41775732067443e" /><Relationship Type="http://schemas.openxmlformats.org/officeDocument/2006/relationships/notesMaster" Target="/ppt/notesMasters/notesMaster1.xml" Id="Rce4e5da7862d48e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59f8f7d08fc4464" /><Relationship Type="http://schemas.openxmlformats.org/officeDocument/2006/relationships/notesMaster" Target="/ppt/notesMasters/notesMaster1.xml" Id="Ra23ce826855741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b541d2ba5e84efa" /><Relationship Type="http://schemas.openxmlformats.org/officeDocument/2006/relationships/notesMaster" Target="/ppt/notesMasters/notesMaster1.xml" Id="R9273be9b95cd4e0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2bf6a0033d84174" /><Relationship Type="http://schemas.openxmlformats.org/officeDocument/2006/relationships/notesMaster" Target="/ppt/notesMasters/notesMaster1.xml" Id="Recd8df4c50164c0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0a6b7305d354e9b" /><Relationship Type="http://schemas.openxmlformats.org/officeDocument/2006/relationships/notesMaster" Target="/ppt/notesMasters/notesMaster1.xml" Id="Rf3f7017d1ca2465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fcb7088af2e4c16" /><Relationship Type="http://schemas.openxmlformats.org/officeDocument/2006/relationships/notesMaster" Target="/ppt/notesMasters/notesMaster1.xml" Id="R2697240993bf48b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c69d89b9e26462b" /><Relationship Type="http://schemas.openxmlformats.org/officeDocument/2006/relationships/notesMaster" Target="/ppt/notesMasters/notesMaster1.xml" Id="R61f2fe0e248e40c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b4af84d137143b0" /><Relationship Type="http://schemas.openxmlformats.org/officeDocument/2006/relationships/notesMaster" Target="/ppt/notesMasters/notesMaster1.xml" Id="Rf409bdfd855045e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7326d36efc049ea" /><Relationship Type="http://schemas.openxmlformats.org/officeDocument/2006/relationships/notesMaster" Target="/ppt/notesMasters/notesMaster1.xml" Id="R5e0741275a4e4d3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7264eebdcdf4678" /><Relationship Type="http://schemas.openxmlformats.org/officeDocument/2006/relationships/notesMaster" Target="/ppt/notesMasters/notesMaster1.xml" Id="R1f33e6ffb12d42a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624ebebaba247fb" /><Relationship Type="http://schemas.openxmlformats.org/officeDocument/2006/relationships/notesMaster" Target="/ppt/notesMasters/notesMaster1.xml" Id="R2044b16c719f41c6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d4ce715c70243cc" /><Relationship Type="http://schemas.openxmlformats.org/officeDocument/2006/relationships/notesMaster" Target="/ppt/notesMasters/notesMaster1.xml" Id="R5f3561bb26d8436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770ebbfdcc534e35" /><Relationship Type="http://schemas.openxmlformats.org/officeDocument/2006/relationships/notesMaster" Target="/ppt/notesMasters/notesMaster1.xml" Id="R010cb37845b64c46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76b2c891b334313" /><Relationship Type="http://schemas.openxmlformats.org/officeDocument/2006/relationships/notesMaster" Target="/ppt/notesMasters/notesMaster1.xml" Id="R5060af1f1b074fe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df90b4e878f4b5a" /><Relationship Type="http://schemas.openxmlformats.org/officeDocument/2006/relationships/notesMaster" Target="/ppt/notesMasters/notesMaster1.xml" Id="Rda915c38d76e471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9b9778ea5d0844c5" /><Relationship Type="http://schemas.openxmlformats.org/officeDocument/2006/relationships/notesMaster" Target="/ppt/notesMasters/notesMaster1.xml" Id="Rb92c4e76701e447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fee6172c74844f38" /><Relationship Type="http://schemas.openxmlformats.org/officeDocument/2006/relationships/notesMaster" Target="/ppt/notesMasters/notesMaster1.xml" Id="R38bbfc030445426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ca547863fbd4438" /><Relationship Type="http://schemas.openxmlformats.org/officeDocument/2006/relationships/notesMaster" Target="/ppt/notesMasters/notesMaster1.xml" Id="Rd3cb3271281d487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71bcba1b73134e8e" /><Relationship Type="http://schemas.openxmlformats.org/officeDocument/2006/relationships/notesMaster" Target="/ppt/notesMasters/notesMaster1.xml" Id="R7ae89b5ef242414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22c88a5cbe424b60" /><Relationship Type="http://schemas.openxmlformats.org/officeDocument/2006/relationships/notesMaster" Target="/ppt/notesMasters/notesMaster1.xml" Id="Rcdc8edc51f844ce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0671bd7218cb4601" /><Relationship Type="http://schemas.openxmlformats.org/officeDocument/2006/relationships/notesMaster" Target="/ppt/notesMasters/notesMaster1.xml" Id="Rc6debcc0fdb544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hero</a:t>
            </a:r>
          </a:p>
          <a:p xmlns:a="http://schemas.openxmlformats.org/drawingml/2006/main">
            <a:r>
              <a:t>Teaching note: Frame the lesson as measurement, not prediction.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Pexels photograph by Jessica Lewis: https://www.pexels.com/photo/financial-diagram-notes-10024577/ (Pexels License).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opening-dilemma</a:t>
            </a:r>
          </a:p>
          <a:p xmlns:a="http://schemas.openxmlformats.org/drawingml/2006/main">
            <a:r>
              <a:t>Teaching note: Take a fast vote without resolving the dilemma.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objectives</a:t>
            </a:r>
          </a:p>
          <a:p xmlns:a="http://schemas.openxmlformats.org/drawingml/2006/main">
            <a:r>
              <a:t>Teaching note: Use the three bilingual objectives as the lesson roadmap.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recall-attempt</a:t>
            </a:r>
          </a:p>
          <a:p xmlns:a="http://schemas.openxmlformats.org/drawingml/2006/main">
            <a:r>
              <a:t>Teaching note: Silent recall first; do not reveal until every student has attempted.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recall-reveal</a:t>
            </a:r>
          </a:p>
          <a:p xmlns:a="http://schemas.openxmlformats.org/drawingml/2006/main">
            <a:r>
              <a:t>Teaching note: Briefly connect future return to today's measurement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section-total</a:t>
            </a:r>
          </a:p>
          <a:p xmlns:a="http://schemas.openxmlformats.org/drawingml/2006/main">
            <a:r>
              <a:t>Teaching note: Section divider.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pause-total</a:t>
            </a:r>
          </a:p>
          <a:p xmlns:a="http://schemas.openxmlformats.org/drawingml/2006/main">
            <a:r>
              <a:t>Teaching note: Visual pause: ask students what the calculator and written figures suggest about making an investment result reproducible.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Pexels photograph by Monstera Production: https://www.pexels.com/photo/paper-graphs-on-straw-surface-9433330/ (Pexels License).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definition-total-attempt</a:t>
            </a:r>
          </a:p>
          <a:p xmlns:a="http://schemas.openxmlformats.org/drawingml/2006/main">
            <a:r>
              <a:t>Teaching note: Students complete both meaningful blanks before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definition-total-reveal</a:t>
            </a:r>
          </a:p>
          <a:p xmlns:a="http://schemas.openxmlformats.org/drawingml/2006/main">
            <a:r>
              <a:t>Teaching note: Emphasise that both components belong in the calculation.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return-examples</a:t>
            </a:r>
          </a:p>
          <a:p xmlns:a="http://schemas.openxmlformats.org/drawingml/2006/main">
            <a:r>
              <a:t>Teaching note: Point to the value-change and income components in each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classify-attempt</a:t>
            </a:r>
          </a:p>
          <a:p xmlns:a="http://schemas.openxmlformats.org/drawingml/2006/main">
            <a:r>
              <a:t>Teaching note: Students classify independently; added money is not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classify-reveal</a:t>
            </a:r>
          </a:p>
          <a:p xmlns:a="http://schemas.openxmlformats.org/drawingml/2006/main">
            <a:r>
              <a:t>Teaching note: Ask which mistake would overstate the return.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formula-attempt</a:t>
            </a:r>
          </a:p>
          <a:p xmlns:a="http://schemas.openxmlformats.org/drawingml/2006/main">
            <a:r>
              <a:t>Teaching note: Keep the full chain visible; students fill the two structural blanks.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formula-reveal</a:t>
            </a:r>
          </a:p>
          <a:p xmlns:a="http://schemas.openxmlformats.org/drawingml/2006/main">
            <a:r>
              <a:t>Teaching note: Students copy the formula and underline the plus-income term.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hinge-attempt</a:t>
            </a:r>
          </a:p>
          <a:p xmlns:a="http://schemas.openxmlformats.org/drawingml/2006/main">
            <a:r>
              <a:t>Teaching note: Vote before revealing. Diagnose whether students omitted income or confused amount and percentage.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hinge-reveal</a:t>
            </a:r>
          </a:p>
          <a:p xmlns:a="http://schemas.openxmlformats.org/drawingml/2006/main">
            <a:r>
              <a:t>Teaching note: If many chose A, repeat the two-component definition.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section-calculate</a:t>
            </a:r>
          </a:p>
          <a:p xmlns:a="http://schemas.openxmlformats.org/drawingml/2006/main">
            <a:r>
              <a:t>Teaching note: Section divider.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pause-calculate</a:t>
            </a:r>
          </a:p>
          <a:p xmlns:a="http://schemas.openxmlformats.org/drawingml/2006/main">
            <a:r>
              <a:t>Teaching note: Visual pause: ask what the chart alone cannot tell us without the starting amount and time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Pexels photograph by Towfiqu barbhuiya: https://www.pexels.com/photo/notebook-and-envelope-with-money-11350082/ (Pexels License).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method-attempt</a:t>
            </a:r>
          </a:p>
          <a:p xmlns:a="http://schemas.openxmlformats.org/drawingml/2006/main">
            <a:r>
              <a:t>Teaching note: Students complete the method before applying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method-reveal</a:t>
            </a:r>
          </a:p>
          <a:p xmlns:a="http://schemas.openxmlformats.org/drawingml/2006/main">
            <a:r>
              <a:t>Teaching note: Require these headings in later worked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worked-example</a:t>
            </a:r>
          </a:p>
          <a:p xmlns:a="http://schemas.openxmlformats.org/drawingml/2006/main">
            <a:r>
              <a:t>Teaching note: Model formula, substitution, answer and interpretation in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gain-practice</a:t>
            </a:r>
          </a:p>
          <a:p xmlns:a="http://schemas.openxmlformats.org/drawingml/2006/main">
            <a:r>
              <a:t>Teaching note: Give 75 seconds of independent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gain-model</a:t>
            </a:r>
          </a:p>
          <a:p xmlns:a="http://schemas.openxmlformats.org/drawingml/2006/main">
            <a:r>
              <a:t>Teaching note: Trace each line back to the four-step method.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loss-practice</a:t>
            </a:r>
          </a:p>
          <a:p xmlns:a="http://schemas.openxmlformats.org/drawingml/2006/main">
            <a:r>
              <a:t>Teaching note: Students should subtract before adding income.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loss-model</a:t>
            </a:r>
          </a:p>
          <a:p xmlns:a="http://schemas.openxmlformats.org/drawingml/2006/main">
            <a:r>
              <a:t>Teaching note: Emphasise that income can reduce a loss without eliminating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yesno-attempt</a:t>
            </a:r>
          </a:p>
          <a:p xmlns:a="http://schemas.openxmlformats.org/drawingml/2006/main">
            <a:r>
              <a:t>Teaching note: Students show yes/no simultaneously.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yesno-reveal</a:t>
            </a:r>
          </a:p>
          <a:p xmlns:a="http://schemas.openxmlformats.org/drawingml/2006/main">
            <a:r>
              <a:t>Teaching note: Ask students to correct each false statement orally.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section-compare</a:t>
            </a:r>
          </a:p>
          <a:p xmlns:a="http://schemas.openxmlformats.org/drawingml/2006/main">
            <a:r>
              <a:t>Teaching note: Section divider.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pause-compare</a:t>
            </a:r>
          </a:p>
          <a:p xmlns:a="http://schemas.openxmlformats.org/drawingml/2006/main">
            <a:r>
              <a:t>Teaching note: Visual pause: ask which numbers an analyst would need before judging performance.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Pexels photograph by Jessica Lewis: https://www.pexels.com/photo/financial-diagram-notes-10024577/ (Pexels License).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compare-attempt</a:t>
            </a:r>
          </a:p>
          <a:p xmlns:a="http://schemas.openxmlformats.org/drawingml/2006/main">
            <a:r>
              <a:t>Teaching note: Students complete the comparison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compare-reveal</a:t>
            </a:r>
          </a:p>
          <a:p xmlns:a="http://schemas.openxmlformats.org/drawingml/2006/main">
            <a:r>
              <a:t>Teaching note: Name the metric whenever making a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opening-attempt</a:t>
            </a:r>
          </a:p>
          <a:p xmlns:a="http://schemas.openxmlformats.org/drawingml/2006/main">
            <a:r>
              <a:t>Teaching note: Students may revise their opening vote only after calculating.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opening-reveal</a:t>
            </a:r>
          </a:p>
          <a:p xmlns:a="http://schemas.openxmlformats.org/drawingml/2006/main">
            <a:r>
              <a:t>Teaching note: Accept both conclusions only when the metric is named.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partner-attempt</a:t>
            </a:r>
          </a:p>
          <a:p xmlns:a="http://schemas.openxmlformats.org/drawingml/2006/main">
            <a:r>
              <a:t>Teaching note: Partners must agree on calculation, metric and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partner-reveal</a:t>
            </a:r>
          </a:p>
          <a:p xmlns:a="http://schemas.openxmlformats.org/drawingml/2006/main">
            <a:r>
              <a:t>Teaching note: Underline the named metric and matched time period.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evidence-record</a:t>
            </a:r>
          </a:p>
          <a:p xmlns:a="http://schemas.openxmlformats.org/drawingml/2006/main">
            <a:r>
              <a:t>Teaching note: The evidence action supports consistent measurement; it is not an instruction to trade frequently.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Pexels photograph by Jakub Zerdzicki: https://www.pexels.com/photo/calculating-finances-at-night-in-office-setting-34862432/ (Pexels License).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mcq-attempt</a:t>
            </a:r>
          </a:p>
          <a:p xmlns:a="http://schemas.openxmlformats.org/drawingml/2006/main">
            <a:r>
              <a:t>Teaching note: Students calculate before choosing.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mcq-reveal</a:t>
            </a:r>
          </a:p>
          <a:p xmlns:a="http://schemas.openxmlformats.org/drawingml/2006/main">
            <a:r>
              <a:t>Teaching note: Ask which distractor represents omitting income.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short-answer</a:t>
            </a:r>
          </a:p>
          <a:p xmlns:a="http://schemas.openxmlformats.org/drawingml/2006/main">
            <a:r>
              <a:t>Teaching note: Give 90 seconds of individual 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short-model</a:t>
            </a:r>
          </a:p>
          <a:p xmlns:a="http://schemas.openxmlformats.org/drawingml/2006/main">
            <a:r>
              <a:t>Teaching note: Students self-check formula, substitution, units and interpretation.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exit-attempt</a:t>
            </a:r>
          </a:p>
          <a:p xmlns:a="http://schemas.openxmlformats.org/drawingml/2006/main">
            <a:r>
              <a:t>Teaching note: Collect every response before showing the reveal.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Slide ID: exit-reveal</a:t>
            </a:r>
          </a:p>
          <a:p xmlns:a="http://schemas.openxmlformats.org/drawingml/2006/main">
            <a:r>
              <a:t>Teaching note: Close by comparing this evidence-based judgement with the opening vote.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 scope, formulae and checkpoint: C:\Users\oehle\Documents\investment-course\planning\2026-27 Semester 1 - Course Plan v6 - Detailed Lesson Structure.docx</a:t>
            </a:r>
          </a:p>
          <a:p xmlns:a="http://schemas.openxmlformats.org/drawingml/2006/main">
            <a:r>
              <a:t>- Economics HTML teaching method: C:\Users\oehle\Documents\oehler-huang-platform\apps\library\assets\js\lesson-slides.js</a:t>
            </a:r>
          </a:p>
          <a:p xmlns:a="http://schemas.openxmlformats.org/drawingml/2006/main">
            <a:r>
              <a:t>- Economics HTML visual tokens: C:\Users\oehle\Documents\oehler-huang-platform\apps\library\assets\css\theme.css</a:t>
            </a:r>
          </a:p>
          <a:p xmlns:a="http://schemas.openxmlformats.org/drawingml/2006/main">
            <a:r>
              <a:t>- Layout identity: original investment-course ledger/editorial adaptation of the HTML method.</a:t>
            </a:r>
          </a:p>
          <a:p xmlns:a="http://schemas.openxmlformats.org/drawingml/2006/main">
            <a:r>
              <a:t>- Mock-data note: all asset labels and CNY amounts are fictional classroom scenarios.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7031a6b2d43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54bb8e5d6b404b" /><Relationship Type="http://schemas.openxmlformats.org/officeDocument/2006/relationships/slideLayout" Target="/ppt/slideLayouts/slideLayout1.xml" Id="R42125419e29940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125419e29940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Investment Ledger">
      <a:dk1>
        <a:srgbClr val="000000"/>
      </a:dk1>
      <a:lt1>
        <a:srgbClr val="FFFFFF"/>
      </a:lt1>
      <a:dk2>
        <a:srgbClr val="15231F"/>
      </a:dk2>
      <a:lt2>
        <a:srgbClr val="E6DED0"/>
      </a:lt2>
      <a:accent1>
        <a:srgbClr val="1E5B52"/>
      </a:accent1>
      <a:accent2>
        <a:srgbClr val="C56B3F"/>
      </a:accent2>
      <a:accent3>
        <a:srgbClr val="D3A63C"/>
      </a:accent3>
      <a:accent4>
        <a:srgbClr val="B94C45"/>
      </a:accent4>
      <a:accent5>
        <a:srgbClr val="6C557D"/>
      </a:accent5>
      <a:accent6>
        <a:srgbClr val="2F8065"/>
      </a:accent6>
      <a:hlink>
        <a:srgbClr val="1E5B52"/>
      </a:hlink>
      <a:folHlink>
        <a:srgbClr val="6C55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nvestment Ledg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e4a48e66d4c53" /><Relationship Type="http://schemas.openxmlformats.org/officeDocument/2006/relationships/image" Target="/ppt/media/image.jpeg" Id="Re1610bee85c64bf4" /><Relationship Type="http://schemas.openxmlformats.org/officeDocument/2006/relationships/notesSlide" Target="/ppt/notesSlides/notesSlide1.xml" Id="R72ec0e876e2041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c6575da964559" /><Relationship Type="http://schemas.openxmlformats.org/officeDocument/2006/relationships/notesSlide" Target="/ppt/notesSlides/notesSlide2.xml" Id="R870b72a95e3e4b9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bf536183d4dd8" /><Relationship Type="http://schemas.openxmlformats.org/officeDocument/2006/relationships/notesSlide" Target="/ppt/notesSlides/notesSlide3.xml" Id="R51eb47e44e9d44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767ef361943d3" /><Relationship Type="http://schemas.openxmlformats.org/officeDocument/2006/relationships/notesSlide" Target="/ppt/notesSlides/notesSlide4.xml" Id="R05a5e1a5b996469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341868d86410d" /><Relationship Type="http://schemas.openxmlformats.org/officeDocument/2006/relationships/notesSlide" Target="/ppt/notesSlides/notesSlide5.xml" Id="Rbc518690ef5748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70e7e740444a0" /><Relationship Type="http://schemas.openxmlformats.org/officeDocument/2006/relationships/notesSlide" Target="/ppt/notesSlides/notesSlide6.xml" Id="R2d963cc677994f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71ea5c68a4b30" /><Relationship Type="http://schemas.openxmlformats.org/officeDocument/2006/relationships/image" Target="/ppt/media/image2.jpeg" Id="R3b31563b251541e3" /><Relationship Type="http://schemas.openxmlformats.org/officeDocument/2006/relationships/notesSlide" Target="/ppt/notesSlides/notesSlide7.xml" Id="R58242357ff0e42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8e724a4f5431f" /><Relationship Type="http://schemas.openxmlformats.org/officeDocument/2006/relationships/notesSlide" Target="/ppt/notesSlides/notesSlide8.xml" Id="R5eecd67e03aa4ac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4f33fb30e94164" /><Relationship Type="http://schemas.openxmlformats.org/officeDocument/2006/relationships/notesSlide" Target="/ppt/notesSlides/notesSlide9.xml" Id="R294155d46bbc46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1543e879749ac" /><Relationship Type="http://schemas.openxmlformats.org/officeDocument/2006/relationships/notesSlide" Target="/ppt/notesSlides/notesSlide10.xml" Id="Ree91c796f724401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73ebce23444da" /><Relationship Type="http://schemas.openxmlformats.org/officeDocument/2006/relationships/notesSlide" Target="/ppt/notesSlides/notesSlide11.xml" Id="Rbe79185fcc0f48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582c615ae44bf" /><Relationship Type="http://schemas.openxmlformats.org/officeDocument/2006/relationships/notesSlide" Target="/ppt/notesSlides/notesSlide12.xml" Id="R82c60ea45b1546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a489697fe435f" /><Relationship Type="http://schemas.openxmlformats.org/officeDocument/2006/relationships/notesSlide" Target="/ppt/notesSlides/notesSlide13.xml" Id="R745ecc28035c4cc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8bd9dc3d34505" /><Relationship Type="http://schemas.openxmlformats.org/officeDocument/2006/relationships/notesSlide" Target="/ppt/notesSlides/notesSlide14.xml" Id="R6bc5d06a3cd84fd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b5858d1794a1c" /><Relationship Type="http://schemas.openxmlformats.org/officeDocument/2006/relationships/notesSlide" Target="/ppt/notesSlides/notesSlide15.xml" Id="R4903dbddec064d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9f3b3bf414983" /><Relationship Type="http://schemas.openxmlformats.org/officeDocument/2006/relationships/notesSlide" Target="/ppt/notesSlides/notesSlide16.xml" Id="Rceb50183775d4fd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0ac24371f4488" /><Relationship Type="http://schemas.openxmlformats.org/officeDocument/2006/relationships/notesSlide" Target="/ppt/notesSlides/notesSlide17.xml" Id="R1959cf381267488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10ecfd36e4141" /><Relationship Type="http://schemas.openxmlformats.org/officeDocument/2006/relationships/image" Target="/ppt/media/image3.jpeg" Id="R6f9511c01fa04d06" /><Relationship Type="http://schemas.openxmlformats.org/officeDocument/2006/relationships/notesSlide" Target="/ppt/notesSlides/notesSlide18.xml" Id="R564e8a401eaa49a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0b54689b84b75" /><Relationship Type="http://schemas.openxmlformats.org/officeDocument/2006/relationships/notesSlide" Target="/ppt/notesSlides/notesSlide19.xml" Id="Rdd66bc6ab95d44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53d390e7a4c1f" /><Relationship Type="http://schemas.openxmlformats.org/officeDocument/2006/relationships/notesSlide" Target="/ppt/notesSlides/notesSlide20.xml" Id="Rc3eb1faa97c84d4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45c6262654c1d" /><Relationship Type="http://schemas.openxmlformats.org/officeDocument/2006/relationships/notesSlide" Target="/ppt/notesSlides/notesSlide21.xml" Id="R8e6f70810da4428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f9ab3892cf4319" /><Relationship Type="http://schemas.openxmlformats.org/officeDocument/2006/relationships/notesSlide" Target="/ppt/notesSlides/notesSlide22.xml" Id="Rc20e89f64eca428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e0f6434d324b95" /><Relationship Type="http://schemas.openxmlformats.org/officeDocument/2006/relationships/notesSlide" Target="/ppt/notesSlides/notesSlide23.xml" Id="Rf7d1217098d24a8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9e5679dad46f4" /><Relationship Type="http://schemas.openxmlformats.org/officeDocument/2006/relationships/notesSlide" Target="/ppt/notesSlides/notesSlide24.xml" Id="R053f851444b94f9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724b1c8ae4a14" /><Relationship Type="http://schemas.openxmlformats.org/officeDocument/2006/relationships/notesSlide" Target="/ppt/notesSlides/notesSlide25.xml" Id="Rd1ad9ef16c3f4b8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d124a60b4467a" /><Relationship Type="http://schemas.openxmlformats.org/officeDocument/2006/relationships/notesSlide" Target="/ppt/notesSlides/notesSlide26.xml" Id="R0d502f5f1d6443f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93b27d09e4fa8" /><Relationship Type="http://schemas.openxmlformats.org/officeDocument/2006/relationships/notesSlide" Target="/ppt/notesSlides/notesSlide27.xml" Id="Ra857a14764f5432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7142191ff4722" /><Relationship Type="http://schemas.openxmlformats.org/officeDocument/2006/relationships/notesSlide" Target="/ppt/notesSlides/notesSlide28.xml" Id="Ra748f4609a27478d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3401d6c4f44e9" /><Relationship Type="http://schemas.openxmlformats.org/officeDocument/2006/relationships/image" Target="/ppt/media/image4.jpeg" Id="R8e8e9b06793b408e" /><Relationship Type="http://schemas.openxmlformats.org/officeDocument/2006/relationships/notesSlide" Target="/ppt/notesSlides/notesSlide29.xml" Id="R9f8445b167624c5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60bfbbcec4730" /><Relationship Type="http://schemas.openxmlformats.org/officeDocument/2006/relationships/notesSlide" Target="/ppt/notesSlides/notesSlide30.xml" Id="R422cb6acd5304f7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ccfcec4034b9e" /><Relationship Type="http://schemas.openxmlformats.org/officeDocument/2006/relationships/notesSlide" Target="/ppt/notesSlides/notesSlide31.xml" Id="R82ba915d604d48dd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a0e6ae7b24967" /><Relationship Type="http://schemas.openxmlformats.org/officeDocument/2006/relationships/notesSlide" Target="/ppt/notesSlides/notesSlide32.xml" Id="Ref5d454c51c14dd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b6ff05cb3d43af" /><Relationship Type="http://schemas.openxmlformats.org/officeDocument/2006/relationships/notesSlide" Target="/ppt/notesSlides/notesSlide33.xml" Id="R2804710d1aae40c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272643c29040c1" /><Relationship Type="http://schemas.openxmlformats.org/officeDocument/2006/relationships/notesSlide" Target="/ppt/notesSlides/notesSlide34.xml" Id="Rf43aa2bf3bf047fa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c8393672d474b" /><Relationship Type="http://schemas.openxmlformats.org/officeDocument/2006/relationships/notesSlide" Target="/ppt/notesSlides/notesSlide35.xml" Id="Rdca19eab1a4f484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cfd9bf7914178" /><Relationship Type="http://schemas.openxmlformats.org/officeDocument/2006/relationships/image" Target="/ppt/media/image5.jpeg" Id="Rd69c5c7be8b544a7" /><Relationship Type="http://schemas.openxmlformats.org/officeDocument/2006/relationships/notesSlide" Target="/ppt/notesSlides/notesSlide36.xml" Id="Rf25e476ae3eb4fa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d62d729af4382" /><Relationship Type="http://schemas.openxmlformats.org/officeDocument/2006/relationships/notesSlide" Target="/ppt/notesSlides/notesSlide37.xml" Id="R61cab20044314e4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ab98a4f0c43c7" /><Relationship Type="http://schemas.openxmlformats.org/officeDocument/2006/relationships/notesSlide" Target="/ppt/notesSlides/notesSlide38.xml" Id="R4ae1fe4a9f474c4e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f6ccf854434346" /><Relationship Type="http://schemas.openxmlformats.org/officeDocument/2006/relationships/notesSlide" Target="/ppt/notesSlides/notesSlide39.xml" Id="R1e11a0f6b11a4a74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f35e03b76445d" /><Relationship Type="http://schemas.openxmlformats.org/officeDocument/2006/relationships/notesSlide" Target="/ppt/notesSlides/notesSlide40.xml" Id="R9595ec25e7954bf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1d6a3f5c4482a" /><Relationship Type="http://schemas.openxmlformats.org/officeDocument/2006/relationships/notesSlide" Target="/ppt/notesSlides/notesSlide41.xml" Id="R1bd4e47d516041d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28991d0924b1a" /><Relationship Type="http://schemas.openxmlformats.org/officeDocument/2006/relationships/notesSlide" Target="/ppt/notesSlides/notesSlide42.xml" Id="R3712ec5fa13545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7D1024D2-B87F-496A-9E8D-A6DDB52B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10bee85c64bf4"/>
          <a:srcRect xmlns:a="http://schemas.openxmlformats.org/drawingml/2006/main" l="20278" t="0" r="202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76950" y="0"/>
            <a:ext cx="61150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hero-rule">
            <a:extLst xmlns:a="http://schemas.openxmlformats.org/drawingml/2006/main">
              <a:ext uri="{FF2B5EF4-FFF2-40B4-BE49-F238E27FC236}">
                <a16:creationId xmlns:a16="http://schemas.microsoft.com/office/drawing/2014/main" id="{662E5ED8-2169-48F1-B860-D0AF2F8F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8105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hero-kicker">
            <a:extLst xmlns:a="http://schemas.openxmlformats.org/drawingml/2006/main">
              <a:ext uri="{FF2B5EF4-FFF2-40B4-BE49-F238E27FC236}">
                <a16:creationId xmlns:a16="http://schemas.microsoft.com/office/drawing/2014/main" id="{C099B8B8-7F78-4DCA-A629-78B65383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66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INVESTMENT FIELD NOTES  /  02</a:t>
            </a:r>
          </a:p>
        </p:txBody>
      </p:sp>
      <p:sp>
        <p:nvSpPr>
          <p:cNvPr id="5" name="hero-title">
            <a:extLst xmlns:a="http://schemas.openxmlformats.org/drawingml/2006/main">
              <a:ext uri="{FF2B5EF4-FFF2-40B4-BE49-F238E27FC236}">
                <a16:creationId xmlns:a16="http://schemas.microsoft.com/office/drawing/2014/main" id="{F8384249-639B-4FE6-B3CE-8D07A47C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476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41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Measuring investment return</a:t>
            </a:r>
          </a:p>
        </p:txBody>
      </p:sp>
      <p:sp>
        <p:nvSpPr>
          <p:cNvPr id="6" name="hero-zh">
            <a:extLst xmlns:a="http://schemas.openxmlformats.org/drawingml/2006/main">
              <a:ext uri="{FF2B5EF4-FFF2-40B4-BE49-F238E27FC236}">
                <a16:creationId xmlns:a16="http://schemas.microsoft.com/office/drawing/2014/main" id="{F1F5D5FE-4FF8-468B-927B-C94CD5B3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E5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E5B52"/>
                </a:solidFill>
                <a:latin typeface="Microsoft YaHei"/>
                <a:ea typeface="Microsoft YaHei"/>
                <a:cs typeface="Microsoft YaHei"/>
              </a:rPr>
              <a:t>衡量投资回报</a:t>
            </a:r>
          </a:p>
        </p:txBody>
      </p:sp>
      <p:sp>
        <p:nvSpPr>
          <p:cNvPr id="7" name="hero-subtitle">
            <a:extLst xmlns:a="http://schemas.openxmlformats.org/drawingml/2006/main">
              <a:ext uri="{FF2B5EF4-FFF2-40B4-BE49-F238E27FC236}">
                <a16:creationId xmlns:a16="http://schemas.microsoft.com/office/drawing/2014/main" id="{E44A431E-A018-4359-8B74-0685041B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324A4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24A43"/>
                </a:solidFill>
                <a:latin typeface="Arial"/>
                <a:ea typeface="Arial"/>
                <a:cs typeface="Arial"/>
              </a:rPr>
              <a:t>Lesson 2 · From an outcome to evidence</a:t>
            </a:r>
          </a:p>
        </p:txBody>
      </p:sp>
      <p:sp>
        <p:nvSpPr>
          <p:cNvPr id="8" name="hero-folio">
            <a:extLst xmlns:a="http://schemas.openxmlformats.org/drawingml/2006/main">
              <a:ext uri="{FF2B5EF4-FFF2-40B4-BE49-F238E27FC236}">
                <a16:creationId xmlns:a16="http://schemas.microsoft.com/office/drawing/2014/main" id="{5A08BCA7-B890-4620-A2D4-F14368A3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01</a:t>
            </a:r>
          </a:p>
        </p:txBody>
      </p:sp>
    </p:spTree>
    <p:extLst>
      <p:ext uri="{BB962C8B-B14F-4D97-AF65-F5344CB8AC3E}">
        <p14:creationId xmlns:p14="http://schemas.microsoft.com/office/powerpoint/2010/main" val="9327455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20AFBBFC-C2BA-42D1-97A9-6FD32DE0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5C143CBE-4D94-488E-BF80-40A24322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C1B06B5-11C5-4893-86F8-193B4C0D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7294C702-3C78-481C-8053-2706866F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02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0774344-5BC9-4C6C-9B54-9D9F2852A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Which investment performed better?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C6941195-00FB-4779-940B-ECADD8B49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mpt">
            <a:extLst xmlns:a="http://schemas.openxmlformats.org/drawingml/2006/main">
              <a:ext uri="{FF2B5EF4-FFF2-40B4-BE49-F238E27FC236}">
                <a16:creationId xmlns:a16="http://schemas.microsoft.com/office/drawing/2014/main" id="{15233654-5754-4F7C-9D68-564D7F86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324A4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324A43"/>
                </a:solidFill>
                <a:latin typeface="Arial"/>
                <a:ea typeface="Arial"/>
                <a:cs typeface="Arial"/>
              </a:rPr>
              <a:t>Investment A earns CNY 200. Investment B earns CNY 600.</a:t>
            </a:r>
          </a:p>
        </p:txBody>
      </p:sp>
      <p:sp>
        <p:nvSpPr>
          <p:cNvPr id="8" name="choice-1">
            <a:extLst xmlns:a="http://schemas.openxmlformats.org/drawingml/2006/main">
              <a:ext uri="{FF2B5EF4-FFF2-40B4-BE49-F238E27FC236}">
                <a16:creationId xmlns:a16="http://schemas.microsoft.com/office/drawing/2014/main" id="{B32CE27F-CCA2-4732-AB4B-BEA37070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33675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choice-text-1">
            <a:extLst xmlns:a="http://schemas.openxmlformats.org/drawingml/2006/main">
              <a:ext uri="{FF2B5EF4-FFF2-40B4-BE49-F238E27FC236}">
                <a16:creationId xmlns:a16="http://schemas.microsoft.com/office/drawing/2014/main" id="{8A16EA01-430A-4AD0-BA59-E2FF2DE1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33675"/>
            <a:ext cx="4095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A</a:t>
            </a:r>
          </a:p>
          <a:p xmlns:a="http://schemas.openxmlformats.org/drawingml/2006/main">
            <a:pPr algn="ctr">
              <a:defRPr sz="2850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+CNY 200</a:t>
            </a:r>
          </a:p>
        </p:txBody>
      </p:sp>
      <p:sp>
        <p:nvSpPr>
          <p:cNvPr id="10" name="choice-2">
            <a:extLst xmlns:a="http://schemas.openxmlformats.org/drawingml/2006/main">
              <a:ext uri="{FF2B5EF4-FFF2-40B4-BE49-F238E27FC236}">
                <a16:creationId xmlns:a16="http://schemas.microsoft.com/office/drawing/2014/main" id="{E65AB5A7-7A35-48BE-A81C-9B40BCD3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33675"/>
            <a:ext cx="40957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1" name="choice-text-2">
            <a:extLst xmlns:a="http://schemas.openxmlformats.org/drawingml/2006/main">
              <a:ext uri="{FF2B5EF4-FFF2-40B4-BE49-F238E27FC236}">
                <a16:creationId xmlns:a16="http://schemas.microsoft.com/office/drawing/2014/main" id="{8E344E9C-32C3-4464-8846-21E46952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33675"/>
            <a:ext cx="40957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B</a:t>
            </a:r>
          </a:p>
          <a:p xmlns:a="http://schemas.openxmlformats.org/drawingml/2006/main">
            <a:pPr algn="ctr">
              <a:defRPr sz="285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+CNY 600</a:t>
            </a:r>
          </a:p>
        </p:txBody>
      </p:sp>
      <p:sp>
        <p:nvSpPr>
          <p:cNvPr id="12" name="discussion-footer">
            <a:extLst xmlns:a="http://schemas.openxmlformats.org/drawingml/2006/main">
              <a:ext uri="{FF2B5EF4-FFF2-40B4-BE49-F238E27FC236}">
                <a16:creationId xmlns:a16="http://schemas.microsoft.com/office/drawing/2014/main" id="{BB8B3FD9-ADAD-436A-8E65-D4340CB5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29250"/>
            <a:ext cx="828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Choose now. Be ready to explain what evidence is missing.</a:t>
            </a:r>
          </a:p>
        </p:txBody>
      </p:sp>
    </p:spTree>
    <p:extLst>
      <p:ext uri="{BB962C8B-B14F-4D97-AF65-F5344CB8AC3E}">
        <p14:creationId xmlns:p14="http://schemas.microsoft.com/office/powerpoint/2010/main" val="2297495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9E26E778-763A-40C6-85AF-661CBD28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EFD00985-F704-44E7-8E48-CB495110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C6B46D4-BFC2-4A6D-B67C-86A36CB6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F8B90104-411D-4F11-8F62-F0E74CAA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D9850C21-710E-4BA3-8A9D-95679DC0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859EFBF2-4C8F-4135-9163-C3D46B14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objective-number-bg-1">
            <a:extLst xmlns:a="http://schemas.openxmlformats.org/drawingml/2006/main">
              <a:ext uri="{FF2B5EF4-FFF2-40B4-BE49-F238E27FC236}">
                <a16:creationId xmlns:a16="http://schemas.microsoft.com/office/drawing/2014/main" id="{A21C37B9-E7EB-454B-B487-1D983F21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647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objective-number-1">
            <a:extLst xmlns:a="http://schemas.openxmlformats.org/drawingml/2006/main">
              <a:ext uri="{FF2B5EF4-FFF2-40B4-BE49-F238E27FC236}">
                <a16:creationId xmlns:a16="http://schemas.microsoft.com/office/drawing/2014/main" id="{436531E0-0F20-4B38-BEBD-5BD3712B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647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objective-card-1">
            <a:extLst xmlns:a="http://schemas.openxmlformats.org/drawingml/2006/main">
              <a:ext uri="{FF2B5EF4-FFF2-40B4-BE49-F238E27FC236}">
                <a16:creationId xmlns:a16="http://schemas.microsoft.com/office/drawing/2014/main" id="{084C2000-EDF3-4CD9-99DD-786DDF54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33550"/>
            <a:ext cx="9753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0" name="objective-en-1">
            <a:extLst xmlns:a="http://schemas.openxmlformats.org/drawingml/2006/main">
              <a:ext uri="{FF2B5EF4-FFF2-40B4-BE49-F238E27FC236}">
                <a16:creationId xmlns:a16="http://schemas.microsoft.com/office/drawing/2014/main" id="{1351111C-2D30-49BE-B373-FE6FF3EE4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8859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Explain the components of total return</a:t>
            </a:r>
          </a:p>
        </p:txBody>
      </p:sp>
      <p:sp>
        <p:nvSpPr>
          <p:cNvPr id="11" name="objective-zh-1">
            <a:extLst xmlns:a="http://schemas.openxmlformats.org/drawingml/2006/main">
              <a:ext uri="{FF2B5EF4-FFF2-40B4-BE49-F238E27FC236}">
                <a16:creationId xmlns:a16="http://schemas.microsoft.com/office/drawing/2014/main" id="{741080FF-143C-43C2-B1DC-F7A5491E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574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D756F"/>
                </a:solidFill>
                <a:latin typeface="Microsoft YaHei"/>
                <a:ea typeface="Microsoft YaHei"/>
                <a:cs typeface="Microsoft YaHei"/>
              </a:rPr>
              <a:t>解释总回报的构成</a:t>
            </a:r>
          </a:p>
        </p:txBody>
      </p:sp>
      <p:sp>
        <p:nvSpPr>
          <p:cNvPr id="12" name="objective-number-bg-2">
            <a:extLst xmlns:a="http://schemas.openxmlformats.org/drawingml/2006/main">
              <a:ext uri="{FF2B5EF4-FFF2-40B4-BE49-F238E27FC236}">
                <a16:creationId xmlns:a16="http://schemas.microsoft.com/office/drawing/2014/main" id="{C418EB2D-177C-4A6F-9AA7-B05C4D0C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647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bjective-number-2">
            <a:extLst xmlns:a="http://schemas.openxmlformats.org/drawingml/2006/main">
              <a:ext uri="{FF2B5EF4-FFF2-40B4-BE49-F238E27FC236}">
                <a16:creationId xmlns:a16="http://schemas.microsoft.com/office/drawing/2014/main" id="{02149303-66A3-4A62-93B1-E0CF02B9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647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objective-card-2">
            <a:extLst xmlns:a="http://schemas.openxmlformats.org/drawingml/2006/main">
              <a:ext uri="{FF2B5EF4-FFF2-40B4-BE49-F238E27FC236}">
                <a16:creationId xmlns:a16="http://schemas.microsoft.com/office/drawing/2014/main" id="{1CEAC904-B74D-4943-8416-E363C649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86100"/>
            <a:ext cx="9753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5" name="objective-en-2">
            <a:extLst xmlns:a="http://schemas.openxmlformats.org/drawingml/2006/main">
              <a:ext uri="{FF2B5EF4-FFF2-40B4-BE49-F238E27FC236}">
                <a16:creationId xmlns:a16="http://schemas.microsoft.com/office/drawing/2014/main" id="{939AF6B6-D7C7-4DE2-BE08-84730CF7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238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Calculate return amount and percentage return</a:t>
            </a:r>
          </a:p>
        </p:txBody>
      </p:sp>
      <p:sp>
        <p:nvSpPr>
          <p:cNvPr id="16" name="objective-zh-2">
            <a:extLst xmlns:a="http://schemas.openxmlformats.org/drawingml/2006/main">
              <a:ext uri="{FF2B5EF4-FFF2-40B4-BE49-F238E27FC236}">
                <a16:creationId xmlns:a16="http://schemas.microsoft.com/office/drawing/2014/main" id="{562B4666-EA09-4C2C-804A-680D4EE0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6099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D756F"/>
                </a:solidFill>
                <a:latin typeface="Microsoft YaHei"/>
                <a:ea typeface="Microsoft YaHei"/>
                <a:cs typeface="Microsoft YaHei"/>
              </a:rPr>
              <a:t>计算回报额与回报率</a:t>
            </a:r>
          </a:p>
        </p:txBody>
      </p:sp>
      <p:sp>
        <p:nvSpPr>
          <p:cNvPr id="17" name="objective-number-bg-3">
            <a:extLst xmlns:a="http://schemas.openxmlformats.org/drawingml/2006/main">
              <a:ext uri="{FF2B5EF4-FFF2-40B4-BE49-F238E27FC236}">
                <a16:creationId xmlns:a16="http://schemas.microsoft.com/office/drawing/2014/main" id="{AECF483D-7971-4D89-8754-6884B091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647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objective-number-3">
            <a:extLst xmlns:a="http://schemas.openxmlformats.org/drawingml/2006/main">
              <a:ext uri="{FF2B5EF4-FFF2-40B4-BE49-F238E27FC236}">
                <a16:creationId xmlns:a16="http://schemas.microsoft.com/office/drawing/2014/main" id="{E9DAB2FA-CD7E-46D7-9922-2BFD43E0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647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objective-card-3">
            <a:extLst xmlns:a="http://schemas.openxmlformats.org/drawingml/2006/main">
              <a:ext uri="{FF2B5EF4-FFF2-40B4-BE49-F238E27FC236}">
                <a16:creationId xmlns:a16="http://schemas.microsoft.com/office/drawing/2014/main" id="{C43EF218-E803-4F06-B704-A6A306F1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38650"/>
            <a:ext cx="9753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20" name="objective-en-3">
            <a:extLst xmlns:a="http://schemas.openxmlformats.org/drawingml/2006/main">
              <a:ext uri="{FF2B5EF4-FFF2-40B4-BE49-F238E27FC236}">
                <a16:creationId xmlns:a16="http://schemas.microsoft.com/office/drawing/2014/main" id="{243A3E24-4197-40A2-A3D6-913DC9198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591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Use percentage return to compare investments fairly</a:t>
            </a:r>
          </a:p>
        </p:txBody>
      </p:sp>
      <p:sp>
        <p:nvSpPr>
          <p:cNvPr id="21" name="objective-zh-3">
            <a:extLst xmlns:a="http://schemas.openxmlformats.org/drawingml/2006/main">
              <a:ext uri="{FF2B5EF4-FFF2-40B4-BE49-F238E27FC236}">
                <a16:creationId xmlns:a16="http://schemas.microsoft.com/office/drawing/2014/main" id="{486C1F26-5D10-474B-932E-F8DDC9A2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6252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D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D756F"/>
                </a:solidFill>
                <a:latin typeface="Microsoft YaHei"/>
                <a:ea typeface="Microsoft YaHei"/>
                <a:cs typeface="Microsoft YaHei"/>
              </a:rPr>
              <a:t>用回报率公平比较投资</a:t>
            </a:r>
          </a:p>
        </p:txBody>
      </p:sp>
    </p:spTree>
    <p:extLst>
      <p:ext uri="{BB962C8B-B14F-4D97-AF65-F5344CB8AC3E}">
        <p14:creationId xmlns:p14="http://schemas.microsoft.com/office/powerpoint/2010/main" val="1667926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DBE528F3-5F80-4C64-9D4D-D86BC6A2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57E96958-2110-4AE8-A2AE-4397F8D0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613C57C-06C1-4ABD-BBEE-C7095F1A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937B550D-6E76-4936-A9E7-3D110C5AF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C9A69C6-A021-4287-9569-DABE9560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Retrieve Lesson 1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E3708B65-4E31-4CA3-B3A3-FE358480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mpt">
            <a:extLst xmlns:a="http://schemas.openxmlformats.org/drawingml/2006/main">
              <a:ext uri="{FF2B5EF4-FFF2-40B4-BE49-F238E27FC236}">
                <a16:creationId xmlns:a16="http://schemas.microsoft.com/office/drawing/2014/main" id="{622C8B9D-99A2-4DBA-95D7-55A7B2DC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Complete the three ideas from memory.</a:t>
            </a:r>
          </a:p>
        </p:txBody>
      </p:sp>
      <p:sp>
        <p:nvSpPr>
          <p:cNvPr id="8" name="recall-card-1">
            <a:extLst xmlns:a="http://schemas.openxmlformats.org/drawingml/2006/main">
              <a:ext uri="{FF2B5EF4-FFF2-40B4-BE49-F238E27FC236}">
                <a16:creationId xmlns:a16="http://schemas.microsoft.com/office/drawing/2014/main" id="{D519B7F5-BFD2-48AF-8143-F77C75E1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57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recall-term-1">
            <a:extLst xmlns:a="http://schemas.openxmlformats.org/drawingml/2006/main">
              <a:ext uri="{FF2B5EF4-FFF2-40B4-BE49-F238E27FC236}">
                <a16:creationId xmlns:a16="http://schemas.microsoft.com/office/drawing/2014/main" id="{F6215AF8-BD26-4BD2-BA53-ABD5374E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Investment</a:t>
            </a:r>
          </a:p>
        </p:txBody>
      </p:sp>
      <p:sp>
        <p:nvSpPr>
          <p:cNvPr id="10" name="recall-def-1">
            <a:extLst xmlns:a="http://schemas.openxmlformats.org/drawingml/2006/main">
              <a:ext uri="{FF2B5EF4-FFF2-40B4-BE49-F238E27FC236}">
                <a16:creationId xmlns:a16="http://schemas.microsoft.com/office/drawing/2014/main" id="{F2E72576-21EC-4B98-B698-8FFCD4EF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09850"/>
            <a:ext cx="786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uses money now to seek future ______.</a:t>
            </a:r>
          </a:p>
        </p:txBody>
      </p:sp>
      <p:sp>
        <p:nvSpPr>
          <p:cNvPr id="11" name="recall-card-2">
            <a:extLst xmlns:a="http://schemas.openxmlformats.org/drawingml/2006/main">
              <a:ext uri="{FF2B5EF4-FFF2-40B4-BE49-F238E27FC236}">
                <a16:creationId xmlns:a16="http://schemas.microsoft.com/office/drawing/2014/main" id="{8938A997-4756-402E-A027-BA9CE2BA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57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recall-term-2">
            <a:extLst xmlns:a="http://schemas.openxmlformats.org/drawingml/2006/main">
              <a:ext uri="{FF2B5EF4-FFF2-40B4-BE49-F238E27FC236}">
                <a16:creationId xmlns:a16="http://schemas.microsoft.com/office/drawing/2014/main" id="{C24A8B93-233A-4B91-99D3-F08DF624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Saving</a:t>
            </a:r>
          </a:p>
        </p:txBody>
      </p:sp>
      <p:sp>
        <p:nvSpPr>
          <p:cNvPr id="13" name="recall-def-2">
            <a:extLst xmlns:a="http://schemas.openxmlformats.org/drawingml/2006/main">
              <a:ext uri="{FF2B5EF4-FFF2-40B4-BE49-F238E27FC236}">
                <a16:creationId xmlns:a16="http://schemas.microsoft.com/office/drawing/2014/main" id="{44D3EF74-C192-4D4A-8B69-9304A0E8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829050"/>
            <a:ext cx="786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prioritises safety and ______.</a:t>
            </a:r>
          </a:p>
        </p:txBody>
      </p:sp>
      <p:sp>
        <p:nvSpPr>
          <p:cNvPr id="14" name="recall-card-3">
            <a:extLst xmlns:a="http://schemas.openxmlformats.org/drawingml/2006/main">
              <a:ext uri="{FF2B5EF4-FFF2-40B4-BE49-F238E27FC236}">
                <a16:creationId xmlns:a16="http://schemas.microsoft.com/office/drawing/2014/main" id="{B2C9E4DC-632F-4655-9B02-F9DB649C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057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5" name="recall-term-3">
            <a:extLst xmlns:a="http://schemas.openxmlformats.org/drawingml/2006/main">
              <a:ext uri="{FF2B5EF4-FFF2-40B4-BE49-F238E27FC236}">
                <a16:creationId xmlns:a16="http://schemas.microsoft.com/office/drawing/2014/main" id="{FA0F5286-BC2D-4FC4-ABC0-66E67A90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Speculation</a:t>
            </a:r>
          </a:p>
        </p:txBody>
      </p:sp>
      <p:sp>
        <p:nvSpPr>
          <p:cNvPr id="16" name="recall-def-3">
            <a:extLst xmlns:a="http://schemas.openxmlformats.org/drawingml/2006/main">
              <a:ext uri="{FF2B5EF4-FFF2-40B4-BE49-F238E27FC236}">
                <a16:creationId xmlns:a16="http://schemas.microsoft.com/office/drawing/2014/main" id="{8D5008F5-4C81-4A5F-AEBA-FACD3818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048250"/>
            <a:ext cx="786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relies heavily on short-term price ______.</a:t>
            </a:r>
          </a:p>
        </p:txBody>
      </p:sp>
    </p:spTree>
    <p:extLst>
      <p:ext uri="{BB962C8B-B14F-4D97-AF65-F5344CB8AC3E}">
        <p14:creationId xmlns:p14="http://schemas.microsoft.com/office/powerpoint/2010/main" val="21252871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DB8DCE0F-F48C-432C-B4B9-C481B532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ED47DA48-D4D6-484B-803C-9F63D31A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AD1D9E0-5A3D-4BDE-94C0-0DB5350A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B7308CCB-FE65-425E-904A-1C4EBBA6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05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7353DE-37C5-4433-81F4-30087531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Retrieve Lesson 1 · Reveal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DC644B6C-5AD7-406B-A7D1-B48E4851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mpt">
            <a:extLst xmlns:a="http://schemas.openxmlformats.org/drawingml/2006/main">
              <a:ext uri="{FF2B5EF4-FFF2-40B4-BE49-F238E27FC236}">
                <a16:creationId xmlns:a16="http://schemas.microsoft.com/office/drawing/2014/main" id="{8D866699-D351-420D-ABE8-47B26E0A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Check the meaning, not only the word.</a:t>
            </a:r>
          </a:p>
        </p:txBody>
      </p:sp>
      <p:sp>
        <p:nvSpPr>
          <p:cNvPr id="8" name="recall-card-1">
            <a:extLst xmlns:a="http://schemas.openxmlformats.org/drawingml/2006/main">
              <a:ext uri="{FF2B5EF4-FFF2-40B4-BE49-F238E27FC236}">
                <a16:creationId xmlns:a16="http://schemas.microsoft.com/office/drawing/2014/main" id="{919B586E-9AF3-4783-9F92-57859E10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057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recall-term-1">
            <a:extLst xmlns:a="http://schemas.openxmlformats.org/drawingml/2006/main">
              <a:ext uri="{FF2B5EF4-FFF2-40B4-BE49-F238E27FC236}">
                <a16:creationId xmlns:a16="http://schemas.microsoft.com/office/drawing/2014/main" id="{AF8F7BF1-4637-4DFB-A8BD-B66C6AA2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Investment</a:t>
            </a:r>
          </a:p>
        </p:txBody>
      </p:sp>
      <p:sp>
        <p:nvSpPr>
          <p:cNvPr id="10" name="recall-def-1">
            <a:extLst xmlns:a="http://schemas.openxmlformats.org/drawingml/2006/main">
              <a:ext uri="{FF2B5EF4-FFF2-40B4-BE49-F238E27FC236}">
                <a16:creationId xmlns:a16="http://schemas.microsoft.com/office/drawing/2014/main" id="{6F4FAD8D-ADEC-41B6-BA08-C60BDF6C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609850"/>
            <a:ext cx="786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uses money now to seek future return.</a:t>
            </a:r>
          </a:p>
        </p:txBody>
      </p:sp>
      <p:sp>
        <p:nvSpPr>
          <p:cNvPr id="11" name="recall-card-2">
            <a:extLst xmlns:a="http://schemas.openxmlformats.org/drawingml/2006/main">
              <a:ext uri="{FF2B5EF4-FFF2-40B4-BE49-F238E27FC236}">
                <a16:creationId xmlns:a16="http://schemas.microsoft.com/office/drawing/2014/main" id="{F6B6B9E2-4EDA-40B3-86C3-66C4956A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057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recall-term-2">
            <a:extLst xmlns:a="http://schemas.openxmlformats.org/drawingml/2006/main">
              <a:ext uri="{FF2B5EF4-FFF2-40B4-BE49-F238E27FC236}">
                <a16:creationId xmlns:a16="http://schemas.microsoft.com/office/drawing/2014/main" id="{91A99FF8-2D49-4E03-8015-16BC1A31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Saving</a:t>
            </a:r>
          </a:p>
        </p:txBody>
      </p:sp>
      <p:sp>
        <p:nvSpPr>
          <p:cNvPr id="13" name="recall-def-2">
            <a:extLst xmlns:a="http://schemas.openxmlformats.org/drawingml/2006/main">
              <a:ext uri="{FF2B5EF4-FFF2-40B4-BE49-F238E27FC236}">
                <a16:creationId xmlns:a16="http://schemas.microsoft.com/office/drawing/2014/main" id="{C4404FB0-AD75-498F-8367-D1859205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829050"/>
            <a:ext cx="786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prioritises safety and access.</a:t>
            </a:r>
          </a:p>
        </p:txBody>
      </p:sp>
      <p:sp>
        <p:nvSpPr>
          <p:cNvPr id="14" name="recall-card-3">
            <a:extLst xmlns:a="http://schemas.openxmlformats.org/drawingml/2006/main">
              <a:ext uri="{FF2B5EF4-FFF2-40B4-BE49-F238E27FC236}">
                <a16:creationId xmlns:a16="http://schemas.microsoft.com/office/drawing/2014/main" id="{88CB5C8E-0283-4B18-A46A-9F68FC68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105727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5" name="recall-term-3">
            <a:extLst xmlns:a="http://schemas.openxmlformats.org/drawingml/2006/main">
              <a:ext uri="{FF2B5EF4-FFF2-40B4-BE49-F238E27FC236}">
                <a16:creationId xmlns:a16="http://schemas.microsoft.com/office/drawing/2014/main" id="{59BB4AFA-34B6-47AC-AA5E-6EF321ED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48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Speculation</a:t>
            </a:r>
          </a:p>
        </p:txBody>
      </p:sp>
      <p:sp>
        <p:nvSpPr>
          <p:cNvPr id="16" name="recall-def-3">
            <a:extLst xmlns:a="http://schemas.openxmlformats.org/drawingml/2006/main">
              <a:ext uri="{FF2B5EF4-FFF2-40B4-BE49-F238E27FC236}">
                <a16:creationId xmlns:a16="http://schemas.microsoft.com/office/drawing/2014/main" id="{3A002F17-3FC3-4B84-9654-0224A995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5048250"/>
            <a:ext cx="7867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relies heavily on short-term price movements.</a:t>
            </a:r>
          </a:p>
        </p:txBody>
      </p:sp>
    </p:spTree>
    <p:extLst>
      <p:ext uri="{BB962C8B-B14F-4D97-AF65-F5344CB8AC3E}">
        <p14:creationId xmlns:p14="http://schemas.microsoft.com/office/powerpoint/2010/main" val="4047378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240A61E9-6271-4CEC-97ED-E732AB76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EA2BCE6C-49F0-4844-B44A-AA11C175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3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3F9929B9-8F8E-437E-8811-CD50D53A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54DF07FF-3780-4629-8528-5FDC8137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What is total return?</a:t>
            </a:r>
          </a:p>
        </p:txBody>
      </p:sp>
      <p:sp>
        <p:nvSpPr>
          <p:cNvPr id="5" name="section-zh">
            <a:extLst xmlns:a="http://schemas.openxmlformats.org/drawingml/2006/main">
              <a:ext uri="{FF2B5EF4-FFF2-40B4-BE49-F238E27FC236}">
                <a16:creationId xmlns:a16="http://schemas.microsoft.com/office/drawing/2014/main" id="{2EF78ACF-6EC5-4FE9-A927-0E88A29D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E5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E5B52"/>
                </a:solidFill>
                <a:latin typeface="Microsoft YaHei"/>
                <a:ea typeface="Microsoft YaHei"/>
                <a:cs typeface="Microsoft YaHei"/>
              </a:rPr>
              <a:t>什么是总回报？</a:t>
            </a:r>
          </a:p>
        </p:txBody>
      </p:sp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4D182AF-CC1A-4622-8877-E1183D14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00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A MEASUREMENT CHAPTER</a:t>
            </a:r>
          </a:p>
        </p:txBody>
      </p:sp>
    </p:spTree>
    <p:extLst>
      <p:ext uri="{BB962C8B-B14F-4D97-AF65-F5344CB8AC3E}">
        <p14:creationId xmlns:p14="http://schemas.microsoft.com/office/powerpoint/2010/main" val="11224725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1563b251541e3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dentity-edge">
            <a:extLst xmlns:a="http://schemas.openxmlformats.org/drawingml/2006/main">
              <a:ext uri="{FF2B5EF4-FFF2-40B4-BE49-F238E27FC236}">
                <a16:creationId xmlns:a16="http://schemas.microsoft.com/office/drawing/2014/main" id="{E384EC8C-3E0A-48B8-8993-0681717E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11666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4A872226-C4A1-40D8-BF37-D6AD03810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176A18CD-AEBC-4AB4-B00B-F57F39B1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837419F-9910-4486-8C44-66D324FB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CA5B2F6C-5A95-477F-8C40-A9909A17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08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3068892-5A0A-45F8-AE2D-E73F7491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Total return · 总回报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8119BB0B-FD5B-438B-AAD7-98841A57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label">
            <a:extLst xmlns:a="http://schemas.openxmlformats.org/drawingml/2006/main">
              <a:ext uri="{FF2B5EF4-FFF2-40B4-BE49-F238E27FC236}">
                <a16:creationId xmlns:a16="http://schemas.microsoft.com/office/drawing/2014/main" id="{32265532-2D83-4007-AA1B-0F2636AB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KEY TERM  ·  关键词</a:t>
            </a:r>
          </a:p>
        </p:txBody>
      </p:sp>
      <p:sp>
        <p:nvSpPr>
          <p:cNvPr id="8" name="definition-surface">
            <a:extLst xmlns:a="http://schemas.openxmlformats.org/drawingml/2006/main">
              <a:ext uri="{FF2B5EF4-FFF2-40B4-BE49-F238E27FC236}">
                <a16:creationId xmlns:a16="http://schemas.microsoft.com/office/drawing/2014/main" id="{43C24DB6-C61B-4D9C-BEA7-A2F36007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572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3264778D-2633-4C3E-900A-0D88F37AF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10115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Total return is the change in an investment's ______ plus any ______ received.</a:t>
            </a:r>
          </a:p>
        </p:txBody>
      </p:sp>
      <p:sp>
        <p:nvSpPr>
          <p:cNvPr id="10" name="clue">
            <a:extLst xmlns:a="http://schemas.openxmlformats.org/drawingml/2006/main">
              <a:ext uri="{FF2B5EF4-FFF2-40B4-BE49-F238E27FC236}">
                <a16:creationId xmlns:a16="http://schemas.microsoft.com/office/drawing/2014/main" id="{03753D2D-1D71-4F03-B485-F1DEF822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530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Think: value change + cash paid to the investor</a:t>
            </a:r>
          </a:p>
        </p:txBody>
      </p:sp>
    </p:spTree>
    <p:extLst>
      <p:ext uri="{BB962C8B-B14F-4D97-AF65-F5344CB8AC3E}">
        <p14:creationId xmlns:p14="http://schemas.microsoft.com/office/powerpoint/2010/main" val="1053547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4416ADA5-000E-4F54-843A-9EBFDBA5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AE16D6B7-8F4D-40B3-B857-AB060DCF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9A56E1C5-B90A-4C1B-BB11-43DDA1EA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7A8E84E1-1482-4754-901F-1F5B46CF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09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8049191-4B38-434C-918B-82D2ADF9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Total return · 总回报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53763F98-301E-494A-9728-43893B35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rm-label">
            <a:extLst xmlns:a="http://schemas.openxmlformats.org/drawingml/2006/main">
              <a:ext uri="{FF2B5EF4-FFF2-40B4-BE49-F238E27FC236}">
                <a16:creationId xmlns:a16="http://schemas.microsoft.com/office/drawing/2014/main" id="{B018BCC4-8A2E-4E35-9C54-B1005E086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KEY TERM  ·  关键词</a:t>
            </a:r>
          </a:p>
        </p:txBody>
      </p:sp>
      <p:sp>
        <p:nvSpPr>
          <p:cNvPr id="8" name="definition-surface">
            <a:extLst xmlns:a="http://schemas.openxmlformats.org/drawingml/2006/main">
              <a:ext uri="{FF2B5EF4-FFF2-40B4-BE49-F238E27FC236}">
                <a16:creationId xmlns:a16="http://schemas.microsoft.com/office/drawing/2014/main" id="{EB5161DE-66AB-4CBE-A72A-7DF26297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5727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definition">
            <a:extLst xmlns:a="http://schemas.openxmlformats.org/drawingml/2006/main">
              <a:ext uri="{FF2B5EF4-FFF2-40B4-BE49-F238E27FC236}">
                <a16:creationId xmlns:a16="http://schemas.microsoft.com/office/drawing/2014/main" id="{69D2AF7B-03FB-45AC-BBB5-AE12D64A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95550"/>
            <a:ext cx="101155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7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77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Total return is the change in an investment's value plus any income received.</a:t>
            </a:r>
          </a:p>
        </p:txBody>
      </p:sp>
      <p:sp>
        <p:nvSpPr>
          <p:cNvPr id="10" name="clue">
            <a:extLst xmlns:a="http://schemas.openxmlformats.org/drawingml/2006/main">
              <a:ext uri="{FF2B5EF4-FFF2-40B4-BE49-F238E27FC236}">
                <a16:creationId xmlns:a16="http://schemas.microsoft.com/office/drawing/2014/main" id="{DCF3069B-AB5B-4CA4-8DD5-88B623BE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53050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6D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6D756F"/>
                </a:solidFill>
                <a:latin typeface="Microsoft YaHei"/>
                <a:ea typeface="Microsoft YaHei"/>
                <a:cs typeface="Microsoft YaHei"/>
              </a:rPr>
              <a:t>总回报 = 价值变化 + 收入</a:t>
            </a:r>
          </a:p>
        </p:txBody>
      </p:sp>
    </p:spTree>
    <p:extLst>
      <p:ext uri="{BB962C8B-B14F-4D97-AF65-F5344CB8AC3E}">
        <p14:creationId xmlns:p14="http://schemas.microsoft.com/office/powerpoint/2010/main" val="7621880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6AB8C252-8357-4903-8A40-5493C737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BF151E18-5836-4644-8122-33FE90BD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CF451D2-1D7E-42A1-98D6-5AC0CB03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A6AE1F3F-EACC-4968-9FAC-93301812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10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939795C-1ABF-4894-8084-8CFE9DB39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Return can arrive in different forms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52FE0360-D8B1-4646-8971-87EF0459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ample-1">
            <a:extLst xmlns:a="http://schemas.openxmlformats.org/drawingml/2006/main">
              <a:ext uri="{FF2B5EF4-FFF2-40B4-BE49-F238E27FC236}">
                <a16:creationId xmlns:a16="http://schemas.microsoft.com/office/drawing/2014/main" id="{D9B307D9-0ABA-4D3A-BF88-D9BA7CF3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33718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example-accent-1">
            <a:extLst xmlns:a="http://schemas.openxmlformats.org/drawingml/2006/main">
              <a:ext uri="{FF2B5EF4-FFF2-40B4-BE49-F238E27FC236}">
                <a16:creationId xmlns:a16="http://schemas.microsoft.com/office/drawing/2014/main" id="{2CEDB0FB-B6AC-48C7-AA3B-112A3FCF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66925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ample-label-1">
            <a:extLst xmlns:a="http://schemas.openxmlformats.org/drawingml/2006/main">
              <a:ext uri="{FF2B5EF4-FFF2-40B4-BE49-F238E27FC236}">
                <a16:creationId xmlns:a16="http://schemas.microsoft.com/office/drawing/2014/main" id="{1E8D5C70-41D6-4C1E-B970-11EF9E08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146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Share</a:t>
            </a:r>
          </a:p>
        </p:txBody>
      </p:sp>
      <p:sp>
        <p:nvSpPr>
          <p:cNvPr id="10" name="example-body-1">
            <a:extLst xmlns:a="http://schemas.openxmlformats.org/drawingml/2006/main">
              <a:ext uri="{FF2B5EF4-FFF2-40B4-BE49-F238E27FC236}">
                <a16:creationId xmlns:a16="http://schemas.microsoft.com/office/drawing/2014/main" id="{7E454623-D757-4E49-86F4-072FBB16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575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Price rises</a:t>
            </a:r>
          </a:p>
          <a:p xmlns:a="http://schemas.openxmlformats.org/drawingml/2006/main">
            <a:pPr algn="ctr">
              <a:defRPr sz="21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+ dividend</a:t>
            </a:r>
          </a:p>
        </p:txBody>
      </p:sp>
      <p:sp>
        <p:nvSpPr>
          <p:cNvPr id="11" name="example-2">
            <a:extLst xmlns:a="http://schemas.openxmlformats.org/drawingml/2006/main">
              <a:ext uri="{FF2B5EF4-FFF2-40B4-BE49-F238E27FC236}">
                <a16:creationId xmlns:a16="http://schemas.microsoft.com/office/drawing/2014/main" id="{33843597-992F-4D27-A9EA-2829D0FD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66925"/>
            <a:ext cx="33718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example-accent-2">
            <a:extLst xmlns:a="http://schemas.openxmlformats.org/drawingml/2006/main">
              <a:ext uri="{FF2B5EF4-FFF2-40B4-BE49-F238E27FC236}">
                <a16:creationId xmlns:a16="http://schemas.microsoft.com/office/drawing/2014/main" id="{C713C736-F132-4B76-827E-73A72917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66925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example-label-2">
            <a:extLst xmlns:a="http://schemas.openxmlformats.org/drawingml/2006/main">
              <a:ext uri="{FF2B5EF4-FFF2-40B4-BE49-F238E27FC236}">
                <a16:creationId xmlns:a16="http://schemas.microsoft.com/office/drawing/2014/main" id="{FFFDD47B-A81E-443F-B5AE-2CF68D31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146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Bond</a:t>
            </a:r>
          </a:p>
        </p:txBody>
      </p:sp>
      <p:sp>
        <p:nvSpPr>
          <p:cNvPr id="14" name="example-body-2">
            <a:extLst xmlns:a="http://schemas.openxmlformats.org/drawingml/2006/main">
              <a:ext uri="{FF2B5EF4-FFF2-40B4-BE49-F238E27FC236}">
                <a16:creationId xmlns:a16="http://schemas.microsoft.com/office/drawing/2014/main" id="{9F8043DC-557C-4479-94FE-020027F3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575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Price changes</a:t>
            </a:r>
          </a:p>
          <a:p xmlns:a="http://schemas.openxmlformats.org/drawingml/2006/main">
            <a:pPr algn="ctr">
              <a:defRPr sz="21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+ interest</a:t>
            </a:r>
          </a:p>
        </p:txBody>
      </p:sp>
      <p:sp>
        <p:nvSpPr>
          <p:cNvPr id="15" name="example-3">
            <a:extLst xmlns:a="http://schemas.openxmlformats.org/drawingml/2006/main">
              <a:ext uri="{FF2B5EF4-FFF2-40B4-BE49-F238E27FC236}">
                <a16:creationId xmlns:a16="http://schemas.microsoft.com/office/drawing/2014/main" id="{533529EE-A31D-49B4-8565-FEF78352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66925"/>
            <a:ext cx="33718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6" name="example-accent-3">
            <a:extLst xmlns:a="http://schemas.openxmlformats.org/drawingml/2006/main">
              <a:ext uri="{FF2B5EF4-FFF2-40B4-BE49-F238E27FC236}">
                <a16:creationId xmlns:a16="http://schemas.microsoft.com/office/drawing/2014/main" id="{1E6D4831-7054-490E-B9C6-C13DB92B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66925"/>
            <a:ext cx="3371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5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example-label-3">
            <a:extLst xmlns:a="http://schemas.openxmlformats.org/drawingml/2006/main">
              <a:ext uri="{FF2B5EF4-FFF2-40B4-BE49-F238E27FC236}">
                <a16:creationId xmlns:a16="http://schemas.microsoft.com/office/drawing/2014/main" id="{D0EB9FAC-CCB5-4FE3-A279-5EDBB998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14600"/>
            <a:ext cx="2876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6C557D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6C557D"/>
                </a:solidFill>
                <a:latin typeface="Arial"/>
                <a:ea typeface="Arial"/>
                <a:cs typeface="Arial"/>
              </a:rPr>
              <a:t>Property fund</a:t>
            </a:r>
          </a:p>
        </p:txBody>
      </p:sp>
      <p:sp>
        <p:nvSpPr>
          <p:cNvPr id="18" name="example-body-3">
            <a:extLst xmlns:a="http://schemas.openxmlformats.org/drawingml/2006/main">
              <a:ext uri="{FF2B5EF4-FFF2-40B4-BE49-F238E27FC236}">
                <a16:creationId xmlns:a16="http://schemas.microsoft.com/office/drawing/2014/main" id="{81C11CFD-FF76-4784-B6FE-B85CEB41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57550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Unit value changes</a:t>
            </a:r>
          </a:p>
          <a:p xmlns:a="http://schemas.openxmlformats.org/drawingml/2006/main">
            <a:pPr algn="ctr">
              <a:defRPr sz="21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+ distribution</a:t>
            </a:r>
          </a:p>
        </p:txBody>
      </p:sp>
    </p:spTree>
    <p:extLst>
      <p:ext uri="{BB962C8B-B14F-4D97-AF65-F5344CB8AC3E}">
        <p14:creationId xmlns:p14="http://schemas.microsoft.com/office/powerpoint/2010/main" val="5355280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2E323A37-743A-48BD-9BE1-55525E2C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8659422C-DBD5-468C-9FD9-5E9A3550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6D9397B-C6D0-4E78-AFFA-CA15E0684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81E849B6-B3D3-4CF9-932D-6F32DE35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11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E0F24A-9075-4BCB-944D-A08D2839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Classify before calculating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C848F31D-F8FF-464B-9BB5-C0E28D8C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mpt">
            <a:extLst xmlns:a="http://schemas.openxmlformats.org/drawingml/2006/main">
              <a:ext uri="{FF2B5EF4-FFF2-40B4-BE49-F238E27FC236}">
                <a16:creationId xmlns:a16="http://schemas.microsoft.com/office/drawing/2014/main" id="{81B3F4FF-18D4-4D21-8016-209DFD87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Label each item: capital gain/loss, income, or new cash flow.</a:t>
            </a:r>
          </a:p>
        </p:txBody>
      </p:sp>
      <p:sp>
        <p:nvSpPr>
          <p:cNvPr id="8" name="class-row-1">
            <a:extLst xmlns:a="http://schemas.openxmlformats.org/drawingml/2006/main">
              <a:ext uri="{FF2B5EF4-FFF2-40B4-BE49-F238E27FC236}">
                <a16:creationId xmlns:a16="http://schemas.microsoft.com/office/drawing/2014/main" id="{714098D8-0CCF-4854-9484-306A7E050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class-item-1">
            <a:extLst xmlns:a="http://schemas.openxmlformats.org/drawingml/2006/main">
              <a:ext uri="{FF2B5EF4-FFF2-40B4-BE49-F238E27FC236}">
                <a16:creationId xmlns:a16="http://schemas.microsoft.com/office/drawing/2014/main" id="{8B4BE6E4-BCA7-4376-A1EA-2842716D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5742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1.  Share price rises by CNY 80</a:t>
            </a:r>
          </a:p>
        </p:txBody>
      </p:sp>
      <p:sp>
        <p:nvSpPr>
          <p:cNvPr id="10" name="class-answer-1">
            <a:extLst xmlns:a="http://schemas.openxmlformats.org/drawingml/2006/main">
              <a:ext uri="{FF2B5EF4-FFF2-40B4-BE49-F238E27FC236}">
                <a16:creationId xmlns:a16="http://schemas.microsoft.com/office/drawing/2014/main" id="{D1A039C8-94DF-4F6C-9A99-FF93DEA8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5742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________________</a:t>
            </a:r>
          </a:p>
        </p:txBody>
      </p:sp>
      <p:sp>
        <p:nvSpPr>
          <p:cNvPr id="11" name="class-row-2">
            <a:extLst xmlns:a="http://schemas.openxmlformats.org/drawingml/2006/main">
              <a:ext uri="{FF2B5EF4-FFF2-40B4-BE49-F238E27FC236}">
                <a16:creationId xmlns:a16="http://schemas.microsoft.com/office/drawing/2014/main" id="{2142BEE2-B569-4E94-96A9-A210CB149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class-item-2">
            <a:extLst xmlns:a="http://schemas.openxmlformats.org/drawingml/2006/main">
              <a:ext uri="{FF2B5EF4-FFF2-40B4-BE49-F238E27FC236}">
                <a16:creationId xmlns:a16="http://schemas.microsoft.com/office/drawing/2014/main" id="{FA993CA4-714B-41BC-9600-6211D5FD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2.  Dividend of CNY 20</a:t>
            </a:r>
          </a:p>
        </p:txBody>
      </p:sp>
      <p:sp>
        <p:nvSpPr>
          <p:cNvPr id="13" name="class-answer-2">
            <a:extLst xmlns:a="http://schemas.openxmlformats.org/drawingml/2006/main">
              <a:ext uri="{FF2B5EF4-FFF2-40B4-BE49-F238E27FC236}">
                <a16:creationId xmlns:a16="http://schemas.microsoft.com/office/drawing/2014/main" id="{B0A19104-8885-4C96-8EDF-E3B36E91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3847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________________</a:t>
            </a:r>
          </a:p>
        </p:txBody>
      </p:sp>
      <p:sp>
        <p:nvSpPr>
          <p:cNvPr id="14" name="class-row-3">
            <a:extLst xmlns:a="http://schemas.openxmlformats.org/drawingml/2006/main">
              <a:ext uri="{FF2B5EF4-FFF2-40B4-BE49-F238E27FC236}">
                <a16:creationId xmlns:a16="http://schemas.microsoft.com/office/drawing/2014/main" id="{03EF0EDB-77F2-4DDA-9E5E-FD6F48F8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5" name="class-item-3">
            <a:extLst xmlns:a="http://schemas.openxmlformats.org/drawingml/2006/main">
              <a:ext uri="{FF2B5EF4-FFF2-40B4-BE49-F238E27FC236}">
                <a16:creationId xmlns:a16="http://schemas.microsoft.com/office/drawing/2014/main" id="{95AF49C2-36BC-4D91-8681-800EDFAB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3.  You add CNY 500</a:t>
            </a:r>
          </a:p>
        </p:txBody>
      </p:sp>
      <p:sp>
        <p:nvSpPr>
          <p:cNvPr id="16" name="class-answer-3">
            <a:extLst xmlns:a="http://schemas.openxmlformats.org/drawingml/2006/main">
              <a:ext uri="{FF2B5EF4-FFF2-40B4-BE49-F238E27FC236}">
                <a16:creationId xmlns:a16="http://schemas.microsoft.com/office/drawing/2014/main" id="{5ACB5313-9B02-4D8A-9B25-1457A8E3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952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________________</a:t>
            </a:r>
          </a:p>
        </p:txBody>
      </p:sp>
      <p:sp>
        <p:nvSpPr>
          <p:cNvPr id="17" name="class-row-4">
            <a:extLst xmlns:a="http://schemas.openxmlformats.org/drawingml/2006/main">
              <a:ext uri="{FF2B5EF4-FFF2-40B4-BE49-F238E27FC236}">
                <a16:creationId xmlns:a16="http://schemas.microsoft.com/office/drawing/2014/main" id="{E076CEEA-4F2D-4827-9BF1-17E5D24F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8" name="class-item-4">
            <a:extLst xmlns:a="http://schemas.openxmlformats.org/drawingml/2006/main">
              <a:ext uri="{FF2B5EF4-FFF2-40B4-BE49-F238E27FC236}">
                <a16:creationId xmlns:a16="http://schemas.microsoft.com/office/drawing/2014/main" id="{5570DEB5-4B1C-4AF5-B42D-C1A73650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4.  Fund value falls by CNY 60</a:t>
            </a:r>
          </a:p>
        </p:txBody>
      </p:sp>
      <p:sp>
        <p:nvSpPr>
          <p:cNvPr id="19" name="class-answer-4">
            <a:extLst xmlns:a="http://schemas.openxmlformats.org/drawingml/2006/main">
              <a:ext uri="{FF2B5EF4-FFF2-40B4-BE49-F238E27FC236}">
                <a16:creationId xmlns:a16="http://schemas.microsoft.com/office/drawing/2014/main" id="{AA73F63C-7DC7-427B-83E4-51231B2C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0057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________________</a:t>
            </a:r>
          </a:p>
        </p:txBody>
      </p:sp>
      <p:sp>
        <p:nvSpPr>
          <p:cNvPr id="20" name="class-row-5">
            <a:extLst xmlns:a="http://schemas.openxmlformats.org/drawingml/2006/main">
              <a:ext uri="{FF2B5EF4-FFF2-40B4-BE49-F238E27FC236}">
                <a16:creationId xmlns:a16="http://schemas.microsoft.com/office/drawing/2014/main" id="{27864BE7-0FC1-452B-A895-F2643F2BE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21" name="class-item-5">
            <a:extLst xmlns:a="http://schemas.openxmlformats.org/drawingml/2006/main">
              <a:ext uri="{FF2B5EF4-FFF2-40B4-BE49-F238E27FC236}">
                <a16:creationId xmlns:a16="http://schemas.microsoft.com/office/drawing/2014/main" id="{7626CF2A-8BE3-4FE5-AA72-AAB0E5D6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5.  Bond interest of CNY 35</a:t>
            </a:r>
          </a:p>
        </p:txBody>
      </p:sp>
      <p:sp>
        <p:nvSpPr>
          <p:cNvPr id="22" name="class-answer-5">
            <a:extLst xmlns:a="http://schemas.openxmlformats.org/drawingml/2006/main">
              <a:ext uri="{FF2B5EF4-FFF2-40B4-BE49-F238E27FC236}">
                <a16:creationId xmlns:a16="http://schemas.microsoft.com/office/drawing/2014/main" id="{66A88BFA-DF83-406A-B33E-432F7EB63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8162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11523437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FEF9D144-2366-40DB-A1CB-B3FB10BD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22D8AD6C-E09E-446D-8414-F696972F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6E8E312E-12C2-4313-AD7F-9DDB6973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3BB8DC76-C149-4A64-A44C-38AC1363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12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08633F7-7827-4AD5-A273-60B5BC3D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Classify before calculating · Reveal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83A32A72-81E8-4199-903D-C82A6351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ass-row-1">
            <a:extLst xmlns:a="http://schemas.openxmlformats.org/drawingml/2006/main">
              <a:ext uri="{FF2B5EF4-FFF2-40B4-BE49-F238E27FC236}">
                <a16:creationId xmlns:a16="http://schemas.microsoft.com/office/drawing/2014/main" id="{E8525600-C760-42FC-B3F2-DC41B00E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class-item-1">
            <a:extLst xmlns:a="http://schemas.openxmlformats.org/drawingml/2006/main">
              <a:ext uri="{FF2B5EF4-FFF2-40B4-BE49-F238E27FC236}">
                <a16:creationId xmlns:a16="http://schemas.microsoft.com/office/drawing/2014/main" id="{7ECBEE0C-5BA5-40F1-978A-E19247F2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5742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1.  Share price rises by CNY 80</a:t>
            </a:r>
          </a:p>
        </p:txBody>
      </p:sp>
      <p:sp>
        <p:nvSpPr>
          <p:cNvPr id="9" name="class-answer-1">
            <a:extLst xmlns:a="http://schemas.openxmlformats.org/drawingml/2006/main">
              <a:ext uri="{FF2B5EF4-FFF2-40B4-BE49-F238E27FC236}">
                <a16:creationId xmlns:a16="http://schemas.microsoft.com/office/drawing/2014/main" id="{143DEFCE-FC3C-40E4-A2E0-29F7C680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5742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Capital gain</a:t>
            </a:r>
          </a:p>
        </p:txBody>
      </p:sp>
      <p:sp>
        <p:nvSpPr>
          <p:cNvPr id="10" name="class-row-2">
            <a:extLst xmlns:a="http://schemas.openxmlformats.org/drawingml/2006/main">
              <a:ext uri="{FF2B5EF4-FFF2-40B4-BE49-F238E27FC236}">
                <a16:creationId xmlns:a16="http://schemas.microsoft.com/office/drawing/2014/main" id="{67DFAA14-1825-436D-9CB9-AB1D2023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38475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1" name="class-item-2">
            <a:extLst xmlns:a="http://schemas.openxmlformats.org/drawingml/2006/main">
              <a:ext uri="{FF2B5EF4-FFF2-40B4-BE49-F238E27FC236}">
                <a16:creationId xmlns:a16="http://schemas.microsoft.com/office/drawing/2014/main" id="{24AF1513-2BF0-487F-81ED-EF443789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2.  Dividend of CNY 20</a:t>
            </a:r>
          </a:p>
        </p:txBody>
      </p:sp>
      <p:sp>
        <p:nvSpPr>
          <p:cNvPr id="12" name="class-answer-2">
            <a:extLst xmlns:a="http://schemas.openxmlformats.org/drawingml/2006/main">
              <a:ext uri="{FF2B5EF4-FFF2-40B4-BE49-F238E27FC236}">
                <a16:creationId xmlns:a16="http://schemas.microsoft.com/office/drawing/2014/main" id="{6D076A02-4907-452E-817A-CBE74250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03847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Income</a:t>
            </a:r>
          </a:p>
        </p:txBody>
      </p:sp>
      <p:sp>
        <p:nvSpPr>
          <p:cNvPr id="13" name="class-row-3">
            <a:extLst xmlns:a="http://schemas.openxmlformats.org/drawingml/2006/main">
              <a:ext uri="{FF2B5EF4-FFF2-40B4-BE49-F238E27FC236}">
                <a16:creationId xmlns:a16="http://schemas.microsoft.com/office/drawing/2014/main" id="{06E00119-1762-4D4E-A24E-CC591D41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9525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4" name="class-item-3">
            <a:extLst xmlns:a="http://schemas.openxmlformats.org/drawingml/2006/main">
              <a:ext uri="{FF2B5EF4-FFF2-40B4-BE49-F238E27FC236}">
                <a16:creationId xmlns:a16="http://schemas.microsoft.com/office/drawing/2014/main" id="{5353681C-51DB-4270-B7A8-B13EA366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3.  You add CNY 500</a:t>
            </a:r>
          </a:p>
        </p:txBody>
      </p:sp>
      <p:sp>
        <p:nvSpPr>
          <p:cNvPr id="15" name="class-answer-3">
            <a:extLst xmlns:a="http://schemas.openxmlformats.org/drawingml/2006/main">
              <a:ext uri="{FF2B5EF4-FFF2-40B4-BE49-F238E27FC236}">
                <a16:creationId xmlns:a16="http://schemas.microsoft.com/office/drawing/2014/main" id="{26A1ECB3-4463-4032-8C75-1C89B591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1952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B94C4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B94C45"/>
                </a:solidFill>
                <a:latin typeface="Arial"/>
                <a:ea typeface="Arial"/>
                <a:cs typeface="Arial"/>
              </a:rPr>
              <a:t>New cash flow — exclude</a:t>
            </a:r>
          </a:p>
        </p:txBody>
      </p:sp>
      <p:sp>
        <p:nvSpPr>
          <p:cNvPr id="16" name="class-row-4">
            <a:extLst xmlns:a="http://schemas.openxmlformats.org/drawingml/2006/main">
              <a:ext uri="{FF2B5EF4-FFF2-40B4-BE49-F238E27FC236}">
                <a16:creationId xmlns:a16="http://schemas.microsoft.com/office/drawing/2014/main" id="{F0E52ED1-A60B-4BE4-BBA9-4D12ADDC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00575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7" name="class-item-4">
            <a:extLst xmlns:a="http://schemas.openxmlformats.org/drawingml/2006/main">
              <a:ext uri="{FF2B5EF4-FFF2-40B4-BE49-F238E27FC236}">
                <a16:creationId xmlns:a16="http://schemas.microsoft.com/office/drawing/2014/main" id="{2BCB8D27-FBF4-48F5-8453-D60E74CF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4.  Fund value falls by CNY 60</a:t>
            </a:r>
          </a:p>
        </p:txBody>
      </p:sp>
      <p:sp>
        <p:nvSpPr>
          <p:cNvPr id="18" name="class-answer-4">
            <a:extLst xmlns:a="http://schemas.openxmlformats.org/drawingml/2006/main">
              <a:ext uri="{FF2B5EF4-FFF2-40B4-BE49-F238E27FC236}">
                <a16:creationId xmlns:a16="http://schemas.microsoft.com/office/drawing/2014/main" id="{D140BD25-F35F-4243-BE51-A70EF65C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60057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Capital loss</a:t>
            </a:r>
          </a:p>
        </p:txBody>
      </p:sp>
      <p:sp>
        <p:nvSpPr>
          <p:cNvPr id="19" name="class-row-5">
            <a:extLst xmlns:a="http://schemas.openxmlformats.org/drawingml/2006/main">
              <a:ext uri="{FF2B5EF4-FFF2-40B4-BE49-F238E27FC236}">
                <a16:creationId xmlns:a16="http://schemas.microsoft.com/office/drawing/2014/main" id="{00D0C6E1-73C4-4A0D-9269-579D9A20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105727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20" name="class-item-5">
            <a:extLst xmlns:a="http://schemas.openxmlformats.org/drawingml/2006/main">
              <a:ext uri="{FF2B5EF4-FFF2-40B4-BE49-F238E27FC236}">
                <a16:creationId xmlns:a16="http://schemas.microsoft.com/office/drawing/2014/main" id="{F5A03454-3465-4B3F-AA39-D465C8F0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81625"/>
            <a:ext cx="628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5.  Bond interest of CNY 35</a:t>
            </a:r>
          </a:p>
        </p:txBody>
      </p:sp>
      <p:sp>
        <p:nvSpPr>
          <p:cNvPr id="21" name="class-answer-5">
            <a:extLst xmlns:a="http://schemas.openxmlformats.org/drawingml/2006/main">
              <a:ext uri="{FF2B5EF4-FFF2-40B4-BE49-F238E27FC236}">
                <a16:creationId xmlns:a16="http://schemas.microsoft.com/office/drawing/2014/main" id="{C6C8B65F-3EC0-44AB-B6D3-95FD2C33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81625"/>
            <a:ext cx="35052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Income</a:t>
            </a:r>
          </a:p>
        </p:txBody>
      </p:sp>
    </p:spTree>
    <p:extLst>
      <p:ext uri="{BB962C8B-B14F-4D97-AF65-F5344CB8AC3E}">
        <p14:creationId xmlns:p14="http://schemas.microsoft.com/office/powerpoint/2010/main" val="38710901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0B7D8E26-E9D6-4610-9AFC-2E34152F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CE7DB5CD-2FC6-4333-8C2D-3F503FCC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A142EDC-45B4-443B-996F-EA8085A5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3D4646FD-FE63-4D31-B504-EE993607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13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FC23555-4E3F-4697-8982-77CBAA42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Build the total-return formula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332C67-4894-4AE9-B79C-5C1100E9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mpt">
            <a:extLst xmlns:a="http://schemas.openxmlformats.org/drawingml/2006/main">
              <a:ext uri="{FF2B5EF4-FFF2-40B4-BE49-F238E27FC236}">
                <a16:creationId xmlns:a16="http://schemas.microsoft.com/office/drawing/2014/main" id="{BE1578E9-7D56-4EF6-A235-A0B35D5B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Complete the chain.</a:t>
            </a:r>
          </a:p>
        </p:txBody>
      </p:sp>
      <p:sp>
        <p:nvSpPr>
          <p:cNvPr id="8" name="flow-step-1">
            <a:extLst xmlns:a="http://schemas.openxmlformats.org/drawingml/2006/main">
              <a:ext uri="{FF2B5EF4-FFF2-40B4-BE49-F238E27FC236}">
                <a16:creationId xmlns:a16="http://schemas.microsoft.com/office/drawing/2014/main" id="{61288961-6CAB-4CFA-B60F-EF6C843C7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514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65982D54-0C92-4D13-AE88-4248EA1FE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flow-text-1">
            <a:extLst xmlns:a="http://schemas.openxmlformats.org/drawingml/2006/main">
              <a:ext uri="{FF2B5EF4-FFF2-40B4-BE49-F238E27FC236}">
                <a16:creationId xmlns:a16="http://schemas.microsoft.com/office/drawing/2014/main" id="{DD5838E4-BE75-4DC1-B7C0-5F8996211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Ending value</a:t>
            </a:r>
          </a:p>
        </p:txBody>
      </p:sp>
      <p:sp>
        <p:nvSpPr>
          <p:cNvPr id="11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B4D121D2-7D1E-40DC-9154-16DF654B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5755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flow-step-2">
            <a:extLst xmlns:a="http://schemas.openxmlformats.org/drawingml/2006/main">
              <a:ext uri="{FF2B5EF4-FFF2-40B4-BE49-F238E27FC236}">
                <a16:creationId xmlns:a16="http://schemas.microsoft.com/office/drawing/2014/main" id="{47F9818F-C4A1-48F8-99E4-2811170D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2514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3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1BE54ED0-CCFA-4367-B3A0-8113EA98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00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flow-text-2">
            <a:extLst xmlns:a="http://schemas.openxmlformats.org/drawingml/2006/main">
              <a:ext uri="{FF2B5EF4-FFF2-40B4-BE49-F238E27FC236}">
                <a16:creationId xmlns:a16="http://schemas.microsoft.com/office/drawing/2014/main" id="{C85E607C-478E-4CCA-8B05-4CFFDEA7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9925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− ______ value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3C0EEA86-184B-4810-BCA1-C0AC209FE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5755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82732609-1A1B-4894-AB74-8A1D0354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38425"/>
            <a:ext cx="2514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7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45BF4D8E-77BC-4ACE-84F5-4E51216E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3A63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3A63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flow-text-3">
            <a:extLst xmlns:a="http://schemas.openxmlformats.org/drawingml/2006/main">
              <a:ext uri="{FF2B5EF4-FFF2-40B4-BE49-F238E27FC236}">
                <a16:creationId xmlns:a16="http://schemas.microsoft.com/office/drawing/2014/main" id="{DD8A8C1A-DE36-4130-BD53-E28CFB43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9925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+ ______</a:t>
            </a:r>
          </a:p>
        </p:txBody>
      </p:sp>
      <p:sp>
        <p:nvSpPr>
          <p:cNvPr id="1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E4D141B9-5DBD-49D8-AE96-BF4C02866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5755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flow-step-4">
            <a:extLst xmlns:a="http://schemas.openxmlformats.org/drawingml/2006/main">
              <a:ext uri="{FF2B5EF4-FFF2-40B4-BE49-F238E27FC236}">
                <a16:creationId xmlns:a16="http://schemas.microsoft.com/office/drawing/2014/main" id="{52019F62-96C2-4740-B593-E4CABC35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2514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21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89F9669B-CC62-407E-9C86-EBF562E0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0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flow-text-4">
            <a:extLst xmlns:a="http://schemas.openxmlformats.org/drawingml/2006/main">
              <a:ext uri="{FF2B5EF4-FFF2-40B4-BE49-F238E27FC236}">
                <a16:creationId xmlns:a16="http://schemas.microsoft.com/office/drawing/2014/main" id="{F985973E-D8F1-4534-A7BE-7626F420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9925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= total return</a:t>
            </a:r>
          </a:p>
        </p:txBody>
      </p:sp>
    </p:spTree>
    <p:extLst>
      <p:ext uri="{BB962C8B-B14F-4D97-AF65-F5344CB8AC3E}">
        <p14:creationId xmlns:p14="http://schemas.microsoft.com/office/powerpoint/2010/main" val="15108677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3CBC6481-801E-4F55-9399-93C032C4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398B3D30-BB90-4557-8767-873F9D81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20A299C-4B9D-43B5-8501-40637A2F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584CDCAD-2666-41F2-81F6-78B04E25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14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A736DAA-5C93-46F5-952E-645B902DA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Build the total-return formula · Reveal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08551FF0-5A8F-4EBB-998A-00E504E9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mpt">
            <a:extLst xmlns:a="http://schemas.openxmlformats.org/drawingml/2006/main">
              <a:ext uri="{FF2B5EF4-FFF2-40B4-BE49-F238E27FC236}">
                <a16:creationId xmlns:a16="http://schemas.microsoft.com/office/drawing/2014/main" id="{ED368A79-C68A-48B2-8FA5-02C408FA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Total return = ending value − starting value + income</a:t>
            </a:r>
          </a:p>
        </p:txBody>
      </p:sp>
      <p:sp>
        <p:nvSpPr>
          <p:cNvPr id="8" name="flow-step-1">
            <a:extLst xmlns:a="http://schemas.openxmlformats.org/drawingml/2006/main">
              <a:ext uri="{FF2B5EF4-FFF2-40B4-BE49-F238E27FC236}">
                <a16:creationId xmlns:a16="http://schemas.microsoft.com/office/drawing/2014/main" id="{61B176E5-08E8-4706-A5E0-D0A2D124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514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flow-number-1">
            <a:extLst xmlns:a="http://schemas.openxmlformats.org/drawingml/2006/main">
              <a:ext uri="{FF2B5EF4-FFF2-40B4-BE49-F238E27FC236}">
                <a16:creationId xmlns:a16="http://schemas.microsoft.com/office/drawing/2014/main" id="{F85B11C5-8F26-4D82-995D-C266DE0E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flow-text-1">
            <a:extLst xmlns:a="http://schemas.openxmlformats.org/drawingml/2006/main">
              <a:ext uri="{FF2B5EF4-FFF2-40B4-BE49-F238E27FC236}">
                <a16:creationId xmlns:a16="http://schemas.microsoft.com/office/drawing/2014/main" id="{DF74021E-C6E0-46D4-B6CE-1E95E87F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Ending value</a:t>
            </a:r>
          </a:p>
        </p:txBody>
      </p:sp>
      <p:sp>
        <p:nvSpPr>
          <p:cNvPr id="11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1E5C441B-CD3A-40BB-8C8E-E7C6D30B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5755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flow-step-2">
            <a:extLst xmlns:a="http://schemas.openxmlformats.org/drawingml/2006/main">
              <a:ext uri="{FF2B5EF4-FFF2-40B4-BE49-F238E27FC236}">
                <a16:creationId xmlns:a16="http://schemas.microsoft.com/office/drawing/2014/main" id="{59DB7647-6B67-4253-B447-A99DAFFB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638425"/>
            <a:ext cx="2514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3" name="flow-number-2">
            <a:extLst xmlns:a="http://schemas.openxmlformats.org/drawingml/2006/main">
              <a:ext uri="{FF2B5EF4-FFF2-40B4-BE49-F238E27FC236}">
                <a16:creationId xmlns:a16="http://schemas.microsoft.com/office/drawing/2014/main" id="{36EB0AE0-C72F-4FEE-A588-25ADE1B6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00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flow-text-2">
            <a:extLst xmlns:a="http://schemas.openxmlformats.org/drawingml/2006/main">
              <a:ext uri="{FF2B5EF4-FFF2-40B4-BE49-F238E27FC236}">
                <a16:creationId xmlns:a16="http://schemas.microsoft.com/office/drawing/2014/main" id="{DCB3CBC3-DF5D-414D-A681-6CB1A22F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9925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− starting value</a:t>
            </a:r>
          </a:p>
        </p:txBody>
      </p:sp>
      <p:sp>
        <p:nvSpPr>
          <p:cNvPr id="1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45A68539-46FF-4357-ADBD-77E46B1E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5755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flow-step-3">
            <a:extLst xmlns:a="http://schemas.openxmlformats.org/drawingml/2006/main">
              <a:ext uri="{FF2B5EF4-FFF2-40B4-BE49-F238E27FC236}">
                <a16:creationId xmlns:a16="http://schemas.microsoft.com/office/drawing/2014/main" id="{F4EC9B82-16D7-4603-B3B1-FB1ACCC1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38425"/>
            <a:ext cx="2514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7" name="flow-number-3">
            <a:extLst xmlns:a="http://schemas.openxmlformats.org/drawingml/2006/main">
              <a:ext uri="{FF2B5EF4-FFF2-40B4-BE49-F238E27FC236}">
                <a16:creationId xmlns:a16="http://schemas.microsoft.com/office/drawing/2014/main" id="{9FEA5011-431E-4EED-BA4D-5B8B92A3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3A63C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3A63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flow-text-3">
            <a:extLst xmlns:a="http://schemas.openxmlformats.org/drawingml/2006/main">
              <a:ext uri="{FF2B5EF4-FFF2-40B4-BE49-F238E27FC236}">
                <a16:creationId xmlns:a16="http://schemas.microsoft.com/office/drawing/2014/main" id="{3382E596-7707-4FAC-8A7D-79786F92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209925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+ income</a:t>
            </a:r>
          </a:p>
        </p:txBody>
      </p:sp>
      <p:sp>
        <p:nvSpPr>
          <p:cNvPr id="19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BD29470B-32C0-4324-BDED-078A0042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5755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4587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flow-step-4">
            <a:extLst xmlns:a="http://schemas.openxmlformats.org/drawingml/2006/main">
              <a:ext uri="{FF2B5EF4-FFF2-40B4-BE49-F238E27FC236}">
                <a16:creationId xmlns:a16="http://schemas.microsoft.com/office/drawing/2014/main" id="{664551A6-9652-40F8-B004-4764319A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25146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21" name="flow-number-4">
            <a:extLst xmlns:a="http://schemas.openxmlformats.org/drawingml/2006/main">
              <a:ext uri="{FF2B5EF4-FFF2-40B4-BE49-F238E27FC236}">
                <a16:creationId xmlns:a16="http://schemas.microsoft.com/office/drawing/2014/main" id="{93DC2A3E-981E-44E5-A6A4-B9A9DF19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80035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flow-text-4">
            <a:extLst xmlns:a="http://schemas.openxmlformats.org/drawingml/2006/main">
              <a:ext uri="{FF2B5EF4-FFF2-40B4-BE49-F238E27FC236}">
                <a16:creationId xmlns:a16="http://schemas.microsoft.com/office/drawing/2014/main" id="{EAD5D563-822E-4F63-8806-7CC00B48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09925"/>
            <a:ext cx="21336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= total return</a:t>
            </a:r>
          </a:p>
        </p:txBody>
      </p:sp>
      <p:sp>
        <p:nvSpPr>
          <p:cNvPr id="23" name="formula-line">
            <a:extLst xmlns:a="http://schemas.openxmlformats.org/drawingml/2006/main">
              <a:ext uri="{FF2B5EF4-FFF2-40B4-BE49-F238E27FC236}">
                <a16:creationId xmlns:a16="http://schemas.microsoft.com/office/drawing/2014/main" id="{B7084FFE-B99A-4426-B888-51168CE9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067300"/>
            <a:ext cx="9048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Total return = ending value − starting value + income</a:t>
            </a:r>
          </a:p>
        </p:txBody>
      </p:sp>
    </p:spTree>
    <p:extLst>
      <p:ext uri="{BB962C8B-B14F-4D97-AF65-F5344CB8AC3E}">
        <p14:creationId xmlns:p14="http://schemas.microsoft.com/office/powerpoint/2010/main" val="4467150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091C4084-7259-48C0-8FB9-CB63B1061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F2602474-10E8-457A-BD27-D97BAB06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CAD2114E-2B9F-40D3-82E4-5561FAD1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C708BFBA-F3A8-401C-AA55-703F8164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15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62F9701-6997-4568-8BDB-0248C4192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Hinge check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481175A0-46C0-4AF3-891B-B9C0A096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F9949CB7-D3EC-49DC-8347-7C90E364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13C3BE8E-BA24-43F2-AB08-0E9D1CD7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1019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Start CNY 1,000 · End CNY 1,100 · Income CNY 20</a:t>
            </a:r>
          </a:p>
          <a:p xmlns:a="http://schemas.openxmlformats.org/drawingml/2006/main">
            <a:pPr algn="ctr">
              <a:defRPr sz="18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What is total return?</a:t>
            </a:r>
          </a:p>
        </p:txBody>
      </p:sp>
      <p:sp>
        <p:nvSpPr>
          <p:cNvPr id="9" name="option-1">
            <a:extLst xmlns:a="http://schemas.openxmlformats.org/drawingml/2006/main">
              <a:ext uri="{FF2B5EF4-FFF2-40B4-BE49-F238E27FC236}">
                <a16:creationId xmlns:a16="http://schemas.microsoft.com/office/drawing/2014/main" id="{BCB48799-F945-482C-89C8-1395CC68E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0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5A0B559B-FFF7-4BD7-8443-42A06D93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  CNY 100</a:t>
            </a:r>
          </a:p>
        </p:txBody>
      </p:sp>
      <p:sp>
        <p:nvSpPr>
          <p:cNvPr id="11" name="option-2">
            <a:extLst xmlns:a="http://schemas.openxmlformats.org/drawingml/2006/main">
              <a:ext uri="{FF2B5EF4-FFF2-40B4-BE49-F238E27FC236}">
                <a16:creationId xmlns:a16="http://schemas.microsoft.com/office/drawing/2014/main" id="{02C86501-8121-4710-A029-E367D390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48C9C4F2-CBA5-4E70-B0B6-88F6BE51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B  CNY 120</a:t>
            </a:r>
          </a:p>
        </p:txBody>
      </p:sp>
      <p:sp>
        <p:nvSpPr>
          <p:cNvPr id="13" name="option-3">
            <a:extLst xmlns:a="http://schemas.openxmlformats.org/drawingml/2006/main">
              <a:ext uri="{FF2B5EF4-FFF2-40B4-BE49-F238E27FC236}">
                <a16:creationId xmlns:a16="http://schemas.microsoft.com/office/drawing/2014/main" id="{A5F8C2C4-EA89-43B5-BAA7-6CDFE0AB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4" name="option-text-3">
            <a:extLst xmlns:a="http://schemas.openxmlformats.org/drawingml/2006/main">
              <a:ext uri="{FF2B5EF4-FFF2-40B4-BE49-F238E27FC236}">
                <a16:creationId xmlns:a16="http://schemas.microsoft.com/office/drawing/2014/main" id="{78DCA112-2F40-491B-929B-8280ECFD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  CNY 1,120</a:t>
            </a:r>
          </a:p>
        </p:txBody>
      </p:sp>
      <p:sp>
        <p:nvSpPr>
          <p:cNvPr id="15" name="option-4">
            <a:extLst xmlns:a="http://schemas.openxmlformats.org/drawingml/2006/main">
              <a:ext uri="{FF2B5EF4-FFF2-40B4-BE49-F238E27FC236}">
                <a16:creationId xmlns:a16="http://schemas.microsoft.com/office/drawing/2014/main" id="{92EFBDAF-739D-495D-8CCC-77A77508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6" name="option-text-4">
            <a:extLst xmlns:a="http://schemas.openxmlformats.org/drawingml/2006/main">
              <a:ext uri="{FF2B5EF4-FFF2-40B4-BE49-F238E27FC236}">
                <a16:creationId xmlns:a16="http://schemas.microsoft.com/office/drawing/2014/main" id="{CB2E4C7F-F372-4943-9564-7D924A6C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D  12%</a:t>
            </a:r>
          </a:p>
        </p:txBody>
      </p:sp>
    </p:spTree>
    <p:extLst>
      <p:ext uri="{BB962C8B-B14F-4D97-AF65-F5344CB8AC3E}">
        <p14:creationId xmlns:p14="http://schemas.microsoft.com/office/powerpoint/2010/main" val="129626191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9EE292E5-1214-41F2-B600-918CC3B4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7049FB5A-6505-4BA8-98FC-2B4BCE95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0292F8B8-692A-4ECB-BFE6-EB504AD7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5C2CF080-34B0-4AF9-B598-77493915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16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360D4E3-C8E8-4BD9-9112-FD64B8DB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Hinge check · Reveal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16461052-2CDD-4171-972F-4FB25732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90635443-0C2E-46E9-B025-028AE71A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2DCDF0DC-695B-4B98-918E-6BD7DA4F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1019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(1,100 − 1,000) + 20 = CNY 120</a:t>
            </a:r>
          </a:p>
        </p:txBody>
      </p:sp>
      <p:sp>
        <p:nvSpPr>
          <p:cNvPr id="9" name="option-1">
            <a:extLst xmlns:a="http://schemas.openxmlformats.org/drawingml/2006/main">
              <a:ext uri="{FF2B5EF4-FFF2-40B4-BE49-F238E27FC236}">
                <a16:creationId xmlns:a16="http://schemas.microsoft.com/office/drawing/2014/main" id="{738F8625-96A5-49BA-9C97-B7AE896C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0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1B10ACCD-99C6-4684-863E-39D674B5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  CNY 100</a:t>
            </a:r>
          </a:p>
        </p:txBody>
      </p:sp>
      <p:sp>
        <p:nvSpPr>
          <p:cNvPr id="11" name="option-2">
            <a:extLst xmlns:a="http://schemas.openxmlformats.org/drawingml/2006/main">
              <a:ext uri="{FF2B5EF4-FFF2-40B4-BE49-F238E27FC236}">
                <a16:creationId xmlns:a16="http://schemas.microsoft.com/office/drawing/2014/main" id="{E0DBFC84-F8D8-4732-8DE2-6CA4D975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3"/>
          </a:solidFill>
          <a:ln xmlns:a="http://schemas.openxmlformats.org/drawingml/2006/main" w="28575">
            <a:solidFill>
              <a:srgbClr val="2F8065"/>
            </a:solidFill>
            <a:prstDash val="solid"/>
          </a:ln>
        </p:spPr>
      </p:sp>
      <p:sp>
        <p:nvSpPr>
          <p:cNvPr id="12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3DB2462E-7502-4C2D-B824-91372265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B  CNY 120</a:t>
            </a:r>
          </a:p>
        </p:txBody>
      </p:sp>
      <p:sp>
        <p:nvSpPr>
          <p:cNvPr id="13" name="option-3">
            <a:extLst xmlns:a="http://schemas.openxmlformats.org/drawingml/2006/main">
              <a:ext uri="{FF2B5EF4-FFF2-40B4-BE49-F238E27FC236}">
                <a16:creationId xmlns:a16="http://schemas.microsoft.com/office/drawing/2014/main" id="{AF844D63-BD57-4404-80A3-F2F90054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4" name="option-text-3">
            <a:extLst xmlns:a="http://schemas.openxmlformats.org/drawingml/2006/main">
              <a:ext uri="{FF2B5EF4-FFF2-40B4-BE49-F238E27FC236}">
                <a16:creationId xmlns:a16="http://schemas.microsoft.com/office/drawing/2014/main" id="{0876F582-ADD8-4E62-BCA4-21AAE8F9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  CNY 1,120</a:t>
            </a:r>
          </a:p>
        </p:txBody>
      </p:sp>
      <p:sp>
        <p:nvSpPr>
          <p:cNvPr id="15" name="option-4">
            <a:extLst xmlns:a="http://schemas.openxmlformats.org/drawingml/2006/main">
              <a:ext uri="{FF2B5EF4-FFF2-40B4-BE49-F238E27FC236}">
                <a16:creationId xmlns:a16="http://schemas.microsoft.com/office/drawing/2014/main" id="{CE7A412A-256A-4CC2-8626-2210C0C5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6" name="option-text-4">
            <a:extLst xmlns:a="http://schemas.openxmlformats.org/drawingml/2006/main">
              <a:ext uri="{FF2B5EF4-FFF2-40B4-BE49-F238E27FC236}">
                <a16:creationId xmlns:a16="http://schemas.microsoft.com/office/drawing/2014/main" id="{3ED68075-F336-4D4F-B779-B3C2A983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D  12%</a:t>
            </a:r>
          </a:p>
        </p:txBody>
      </p:sp>
    </p:spTree>
    <p:extLst>
      <p:ext uri="{BB962C8B-B14F-4D97-AF65-F5344CB8AC3E}">
        <p14:creationId xmlns:p14="http://schemas.microsoft.com/office/powerpoint/2010/main" val="6687992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F8516AD4-CFBC-494F-BE35-D8A8FE97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914013D9-5E89-41BF-AFBC-57B27AC4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3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B07FA34F-8F8A-4B13-826C-A03DA133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CF821226-41B3-4232-90D6-BB8C36FAE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How do we calculate return?</a:t>
            </a:r>
          </a:p>
        </p:txBody>
      </p:sp>
      <p:sp>
        <p:nvSpPr>
          <p:cNvPr id="5" name="section-zh">
            <a:extLst xmlns:a="http://schemas.openxmlformats.org/drawingml/2006/main">
              <a:ext uri="{FF2B5EF4-FFF2-40B4-BE49-F238E27FC236}">
                <a16:creationId xmlns:a16="http://schemas.microsoft.com/office/drawing/2014/main" id="{4FCFCCB3-F422-46EE-943D-97B49613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E5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E5B52"/>
                </a:solidFill>
                <a:latin typeface="Microsoft YaHei"/>
                <a:ea typeface="Microsoft YaHei"/>
                <a:cs typeface="Microsoft YaHei"/>
              </a:rPr>
              <a:t>如何计算回报？</a:t>
            </a:r>
          </a:p>
        </p:txBody>
      </p:sp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1566A66-D3E3-4EE9-83D3-BADB8D6A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00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A MEASUREMENT CHAPTER</a:t>
            </a:r>
          </a:p>
        </p:txBody>
      </p:sp>
    </p:spTree>
    <p:extLst>
      <p:ext uri="{BB962C8B-B14F-4D97-AF65-F5344CB8AC3E}">
        <p14:creationId xmlns:p14="http://schemas.microsoft.com/office/powerpoint/2010/main" val="87758943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511c01fa04d06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dentity-edge">
            <a:extLst xmlns:a="http://schemas.openxmlformats.org/drawingml/2006/main">
              <a:ext uri="{FF2B5EF4-FFF2-40B4-BE49-F238E27FC236}">
                <a16:creationId xmlns:a16="http://schemas.microsoft.com/office/drawing/2014/main" id="{08F55B98-A3D6-4430-A401-610D735E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160990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A09B551A-F9F9-4F4C-9102-B25348D8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D01467A1-D0E8-4D65-9755-733BABB6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0C4CDBF-57D4-452B-BB42-38B499D1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CALCULATE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D2CDB651-B23A-4568-ACC1-39520DC73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19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7544173-5338-488E-AE03-F053FEFE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Use the same four-step method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CDCB3461-D69A-4117-BF63-0BD6EED1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number-bg-1">
            <a:extLst xmlns:a="http://schemas.openxmlformats.org/drawingml/2006/main">
              <a:ext uri="{FF2B5EF4-FFF2-40B4-BE49-F238E27FC236}">
                <a16:creationId xmlns:a16="http://schemas.microsoft.com/office/drawing/2014/main" id="{DB29FA91-AE9B-4AE3-9F6A-3864EEC9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number-1">
            <a:extLst xmlns:a="http://schemas.openxmlformats.org/drawingml/2006/main">
              <a:ext uri="{FF2B5EF4-FFF2-40B4-BE49-F238E27FC236}">
                <a16:creationId xmlns:a16="http://schemas.microsoft.com/office/drawing/2014/main" id="{4F875F60-AED8-4377-9412-BCD1FB7B8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method-label-1">
            <a:extLst xmlns:a="http://schemas.openxmlformats.org/drawingml/2006/main">
              <a:ext uri="{FF2B5EF4-FFF2-40B4-BE49-F238E27FC236}">
                <a16:creationId xmlns:a16="http://schemas.microsoft.com/office/drawing/2014/main" id="{A3236059-94CD-4D5C-B1E2-797974B7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924050"/>
            <a:ext cx="957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24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24A43"/>
                </a:solidFill>
                <a:latin typeface="Arial"/>
                <a:ea typeface="Arial"/>
                <a:cs typeface="Arial"/>
              </a:rPr>
              <a:t>Find capital ______</a:t>
            </a:r>
          </a:p>
        </p:txBody>
      </p:sp>
      <p:sp>
        <p:nvSpPr>
          <p:cNvPr id="10" name="method-line-1">
            <a:extLst xmlns:a="http://schemas.openxmlformats.org/drawingml/2006/main">
              <a:ext uri="{FF2B5EF4-FFF2-40B4-BE49-F238E27FC236}">
                <a16:creationId xmlns:a16="http://schemas.microsoft.com/office/drawing/2014/main" id="{AA72234E-8203-4E2E-A15D-8FD8028D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hod-number-bg-2">
            <a:extLst xmlns:a="http://schemas.openxmlformats.org/drawingml/2006/main">
              <a:ext uri="{FF2B5EF4-FFF2-40B4-BE49-F238E27FC236}">
                <a16:creationId xmlns:a16="http://schemas.microsoft.com/office/drawing/2014/main" id="{27A77230-630E-4872-A939-ED690DB7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number-2">
            <a:extLst xmlns:a="http://schemas.openxmlformats.org/drawingml/2006/main">
              <a:ext uri="{FF2B5EF4-FFF2-40B4-BE49-F238E27FC236}">
                <a16:creationId xmlns:a16="http://schemas.microsoft.com/office/drawing/2014/main" id="{7022744F-FB9C-4079-B54B-F72C1F05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method-label-2">
            <a:extLst xmlns:a="http://schemas.openxmlformats.org/drawingml/2006/main">
              <a:ext uri="{FF2B5EF4-FFF2-40B4-BE49-F238E27FC236}">
                <a16:creationId xmlns:a16="http://schemas.microsoft.com/office/drawing/2014/main" id="{3A70DDBD-30FB-4966-94BD-8FAEFD719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924175"/>
            <a:ext cx="957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24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24A43"/>
                </a:solidFill>
                <a:latin typeface="Arial"/>
                <a:ea typeface="Arial"/>
                <a:cs typeface="Arial"/>
              </a:rPr>
              <a:t>Add ______</a:t>
            </a:r>
          </a:p>
        </p:txBody>
      </p:sp>
      <p:sp>
        <p:nvSpPr>
          <p:cNvPr id="14" name="method-line-2">
            <a:extLst xmlns:a="http://schemas.openxmlformats.org/drawingml/2006/main">
              <a:ext uri="{FF2B5EF4-FFF2-40B4-BE49-F238E27FC236}">
                <a16:creationId xmlns:a16="http://schemas.microsoft.com/office/drawing/2014/main" id="{717504D4-890E-49F8-BE54-F4EB038F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2902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hod-number-bg-3">
            <a:extLst xmlns:a="http://schemas.openxmlformats.org/drawingml/2006/main">
              <a:ext uri="{FF2B5EF4-FFF2-40B4-BE49-F238E27FC236}">
                <a16:creationId xmlns:a16="http://schemas.microsoft.com/office/drawing/2014/main" id="{864767DC-C12E-4966-BA98-BBF6AD08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number-3">
            <a:extLst xmlns:a="http://schemas.openxmlformats.org/drawingml/2006/main">
              <a:ext uri="{FF2B5EF4-FFF2-40B4-BE49-F238E27FC236}">
                <a16:creationId xmlns:a16="http://schemas.microsoft.com/office/drawing/2014/main" id="{1E99CA86-51AE-4117-B4CC-9DD92063B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method-label-3">
            <a:extLst xmlns:a="http://schemas.openxmlformats.org/drawingml/2006/main">
              <a:ext uri="{FF2B5EF4-FFF2-40B4-BE49-F238E27FC236}">
                <a16:creationId xmlns:a16="http://schemas.microsoft.com/office/drawing/2014/main" id="{9382B509-E1F0-4640-926A-CFB9AF43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924300"/>
            <a:ext cx="957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24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24A43"/>
                </a:solidFill>
                <a:latin typeface="Arial"/>
                <a:ea typeface="Arial"/>
                <a:cs typeface="Arial"/>
              </a:rPr>
              <a:t>Divide by starting ______</a:t>
            </a:r>
          </a:p>
        </p:txBody>
      </p:sp>
      <p:sp>
        <p:nvSpPr>
          <p:cNvPr id="18" name="method-line-3">
            <a:extLst xmlns:a="http://schemas.openxmlformats.org/drawingml/2006/main">
              <a:ext uri="{FF2B5EF4-FFF2-40B4-BE49-F238E27FC236}">
                <a16:creationId xmlns:a16="http://schemas.microsoft.com/office/drawing/2014/main" id="{E8B3DE5C-931F-4230-AF07-0CA2F09A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hod-number-bg-4">
            <a:extLst xmlns:a="http://schemas.openxmlformats.org/drawingml/2006/main">
              <a:ext uri="{FF2B5EF4-FFF2-40B4-BE49-F238E27FC236}">
                <a16:creationId xmlns:a16="http://schemas.microsoft.com/office/drawing/2014/main" id="{516AFC1F-71D2-405C-8937-E6AB6AFC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hod-number-4">
            <a:extLst xmlns:a="http://schemas.openxmlformats.org/drawingml/2006/main">
              <a:ext uri="{FF2B5EF4-FFF2-40B4-BE49-F238E27FC236}">
                <a16:creationId xmlns:a16="http://schemas.microsoft.com/office/drawing/2014/main" id="{6F288387-65A2-4E3D-B3AF-23721E87D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method-label-4">
            <a:extLst xmlns:a="http://schemas.openxmlformats.org/drawingml/2006/main">
              <a:ext uri="{FF2B5EF4-FFF2-40B4-BE49-F238E27FC236}">
                <a16:creationId xmlns:a16="http://schemas.microsoft.com/office/drawing/2014/main" id="{E9101722-E4F5-4A8B-ACC3-8A717CE8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924425"/>
            <a:ext cx="957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324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324A43"/>
                </a:solidFill>
                <a:latin typeface="Arial"/>
                <a:ea typeface="Arial"/>
                <a:cs typeface="Arial"/>
              </a:rPr>
              <a:t>× 100 and ______</a:t>
            </a:r>
          </a:p>
        </p:txBody>
      </p:sp>
    </p:spTree>
    <p:extLst>
      <p:ext uri="{BB962C8B-B14F-4D97-AF65-F5344CB8AC3E}">
        <p14:creationId xmlns:p14="http://schemas.microsoft.com/office/powerpoint/2010/main" val="89315025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C94E27C5-519C-4B02-8DCC-454443F6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03608462-837B-44EC-85A1-DC424E1A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1ECC159-3791-467E-B6DA-31E21E82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CALCULATE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1A20057F-F4DB-46C3-9FCF-BF6E9653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20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611305B-AD14-471B-A589-2981D206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Use the same four-step method · Reveal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189B0D17-198B-4463-8507-677DA01E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ethod-number-bg-1">
            <a:extLst xmlns:a="http://schemas.openxmlformats.org/drawingml/2006/main">
              <a:ext uri="{FF2B5EF4-FFF2-40B4-BE49-F238E27FC236}">
                <a16:creationId xmlns:a16="http://schemas.microsoft.com/office/drawing/2014/main" id="{35382B30-7238-4652-8E12-5E59504B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ethod-number-1">
            <a:extLst xmlns:a="http://schemas.openxmlformats.org/drawingml/2006/main">
              <a:ext uri="{FF2B5EF4-FFF2-40B4-BE49-F238E27FC236}">
                <a16:creationId xmlns:a16="http://schemas.microsoft.com/office/drawing/2014/main" id="{6CC887C4-15D2-478F-9C68-CFFCA728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method-label-1">
            <a:extLst xmlns:a="http://schemas.openxmlformats.org/drawingml/2006/main">
              <a:ext uri="{FF2B5EF4-FFF2-40B4-BE49-F238E27FC236}">
                <a16:creationId xmlns:a16="http://schemas.microsoft.com/office/drawing/2014/main" id="{129ECF7B-871E-4EE6-B2BA-F5388FCB0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1924050"/>
            <a:ext cx="957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Find capital gain or loss</a:t>
            </a:r>
          </a:p>
        </p:txBody>
      </p:sp>
      <p:sp>
        <p:nvSpPr>
          <p:cNvPr id="10" name="method-line-1">
            <a:extLst xmlns:a="http://schemas.openxmlformats.org/drawingml/2006/main">
              <a:ext uri="{FF2B5EF4-FFF2-40B4-BE49-F238E27FC236}">
                <a16:creationId xmlns:a16="http://schemas.microsoft.com/office/drawing/2014/main" id="{1BDF2E6A-4B34-48FF-AB79-A452E6A9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2890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hod-number-bg-2">
            <a:extLst xmlns:a="http://schemas.openxmlformats.org/drawingml/2006/main">
              <a:ext uri="{FF2B5EF4-FFF2-40B4-BE49-F238E27FC236}">
                <a16:creationId xmlns:a16="http://schemas.microsoft.com/office/drawing/2014/main" id="{77F36996-B831-4A90-BB6B-BA3D2601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ethod-number-2">
            <a:extLst xmlns:a="http://schemas.openxmlformats.org/drawingml/2006/main">
              <a:ext uri="{FF2B5EF4-FFF2-40B4-BE49-F238E27FC236}">
                <a16:creationId xmlns:a16="http://schemas.microsoft.com/office/drawing/2014/main" id="{EB34FF9A-DFA3-4060-A698-C3EF29D3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2417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method-label-2">
            <a:extLst xmlns:a="http://schemas.openxmlformats.org/drawingml/2006/main">
              <a:ext uri="{FF2B5EF4-FFF2-40B4-BE49-F238E27FC236}">
                <a16:creationId xmlns:a16="http://schemas.microsoft.com/office/drawing/2014/main" id="{1B24B2E7-3DE5-4D89-973E-95DA6AD1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924175"/>
            <a:ext cx="957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Add income</a:t>
            </a:r>
          </a:p>
        </p:txBody>
      </p:sp>
      <p:sp>
        <p:nvSpPr>
          <p:cNvPr id="14" name="method-line-2">
            <a:extLst xmlns:a="http://schemas.openxmlformats.org/drawingml/2006/main">
              <a:ext uri="{FF2B5EF4-FFF2-40B4-BE49-F238E27FC236}">
                <a16:creationId xmlns:a16="http://schemas.microsoft.com/office/drawing/2014/main" id="{AA705922-3EBA-4617-BFE0-07B8991A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29025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ethod-number-bg-3">
            <a:extLst xmlns:a="http://schemas.openxmlformats.org/drawingml/2006/main">
              <a:ext uri="{FF2B5EF4-FFF2-40B4-BE49-F238E27FC236}">
                <a16:creationId xmlns:a16="http://schemas.microsoft.com/office/drawing/2014/main" id="{735D0773-09AB-4DB7-A03C-42608967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method-number-3">
            <a:extLst xmlns:a="http://schemas.openxmlformats.org/drawingml/2006/main">
              <a:ext uri="{FF2B5EF4-FFF2-40B4-BE49-F238E27FC236}">
                <a16:creationId xmlns:a16="http://schemas.microsoft.com/office/drawing/2014/main" id="{0D7FB713-D983-4377-9330-C19D0B21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method-label-3">
            <a:extLst xmlns:a="http://schemas.openxmlformats.org/drawingml/2006/main">
              <a:ext uri="{FF2B5EF4-FFF2-40B4-BE49-F238E27FC236}">
                <a16:creationId xmlns:a16="http://schemas.microsoft.com/office/drawing/2014/main" id="{F002E813-22AE-4492-8ED1-57A4940C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924300"/>
            <a:ext cx="957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Divide by starting value</a:t>
            </a:r>
          </a:p>
        </p:txBody>
      </p:sp>
      <p:sp>
        <p:nvSpPr>
          <p:cNvPr id="18" name="method-line-3">
            <a:extLst xmlns:a="http://schemas.openxmlformats.org/drawingml/2006/main">
              <a:ext uri="{FF2B5EF4-FFF2-40B4-BE49-F238E27FC236}">
                <a16:creationId xmlns:a16="http://schemas.microsoft.com/office/drawing/2014/main" id="{67D437EA-FC81-4D59-972C-36721EB6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2915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hod-number-bg-4">
            <a:extLst xmlns:a="http://schemas.openxmlformats.org/drawingml/2006/main">
              <a:ext uri="{FF2B5EF4-FFF2-40B4-BE49-F238E27FC236}">
                <a16:creationId xmlns:a16="http://schemas.microsoft.com/office/drawing/2014/main" id="{15A956E2-6F2F-4908-92DD-5E66D264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method-number-4">
            <a:extLst xmlns:a="http://schemas.openxmlformats.org/drawingml/2006/main">
              <a:ext uri="{FF2B5EF4-FFF2-40B4-BE49-F238E27FC236}">
                <a16:creationId xmlns:a16="http://schemas.microsoft.com/office/drawing/2014/main" id="{A26BC4DE-559D-4FA8-ABA7-491B251C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2442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method-label-4">
            <a:extLst xmlns:a="http://schemas.openxmlformats.org/drawingml/2006/main">
              <a:ext uri="{FF2B5EF4-FFF2-40B4-BE49-F238E27FC236}">
                <a16:creationId xmlns:a16="http://schemas.microsoft.com/office/drawing/2014/main" id="{F117D2A5-EB51-4CD5-B16D-0157F45B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924425"/>
            <a:ext cx="9572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× 100 and interpret</a:t>
            </a:r>
          </a:p>
        </p:txBody>
      </p:sp>
    </p:spTree>
    <p:extLst>
      <p:ext uri="{BB962C8B-B14F-4D97-AF65-F5344CB8AC3E}">
        <p14:creationId xmlns:p14="http://schemas.microsoft.com/office/powerpoint/2010/main" val="71998106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4586B5EC-3503-4E8D-B8C2-B7C01DDC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0357AC59-893F-40F4-8692-4C30A837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24F38A1-F211-468F-A54B-64167FD1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CALCULATE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7C247CAC-3497-4364-8D8F-85FC41C0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21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0BA6340-8480-4765-A3DD-4690543B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5EA07314-4FE6-42BA-957F-4E6DDF29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ata-card">
            <a:extLst xmlns:a="http://schemas.openxmlformats.org/drawingml/2006/main">
              <a:ext uri="{FF2B5EF4-FFF2-40B4-BE49-F238E27FC236}">
                <a16:creationId xmlns:a16="http://schemas.microsoft.com/office/drawing/2014/main" id="{60A7BCD1-6C97-40FF-B2CC-C1B0F3FB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31432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data-label">
            <a:extLst xmlns:a="http://schemas.openxmlformats.org/drawingml/2006/main">
              <a:ext uri="{FF2B5EF4-FFF2-40B4-BE49-F238E27FC236}">
                <a16:creationId xmlns:a16="http://schemas.microsoft.com/office/drawing/2014/main" id="{FA8585FF-D734-4C93-B1A4-2436E91C6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CASE DATA</a:t>
            </a:r>
          </a:p>
        </p:txBody>
      </p:sp>
      <p:sp>
        <p:nvSpPr>
          <p:cNvPr id="9" name="data">
            <a:extLst xmlns:a="http://schemas.openxmlformats.org/drawingml/2006/main">
              <a:ext uri="{FF2B5EF4-FFF2-40B4-BE49-F238E27FC236}">
                <a16:creationId xmlns:a16="http://schemas.microsoft.com/office/drawing/2014/main" id="{DAF86835-134C-4504-A924-4B6BEB22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9850"/>
            <a:ext cx="26860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Starting value  CNY 5,000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Ending value  CNY 5,400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Income  CNY 100</a:t>
            </a:r>
          </a:p>
        </p:txBody>
      </p:sp>
      <p:sp>
        <p:nvSpPr>
          <p:cNvPr id="10" name="method-card">
            <a:extLst xmlns:a="http://schemas.openxmlformats.org/drawingml/2006/main">
              <a:ext uri="{FF2B5EF4-FFF2-40B4-BE49-F238E27FC236}">
                <a16:creationId xmlns:a16="http://schemas.microsoft.com/office/drawing/2014/main" id="{BF0DE201-94EE-4C61-BAD0-5AE1C47D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28800"/>
            <a:ext cx="71437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1" name="worked-step-1">
            <a:extLst xmlns:a="http://schemas.openxmlformats.org/drawingml/2006/main">
              <a:ext uri="{FF2B5EF4-FFF2-40B4-BE49-F238E27FC236}">
                <a16:creationId xmlns:a16="http://schemas.microsoft.com/office/drawing/2014/main" id="{7121ED4E-A45D-41E8-8D43-539F898B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336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1.  Capital gain = 5,400 − 5,000 = 400</a:t>
            </a:r>
          </a:p>
        </p:txBody>
      </p:sp>
      <p:sp>
        <p:nvSpPr>
          <p:cNvPr id="12" name="worked-step-2">
            <a:extLst xmlns:a="http://schemas.openxmlformats.org/drawingml/2006/main">
              <a:ext uri="{FF2B5EF4-FFF2-40B4-BE49-F238E27FC236}">
                <a16:creationId xmlns:a16="http://schemas.microsoft.com/office/drawing/2014/main" id="{89B6302B-47B1-4F2A-968E-E7D4D1CF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527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2.  Total return = 400 + 100 = CNY 500</a:t>
            </a:r>
          </a:p>
        </p:txBody>
      </p:sp>
      <p:sp>
        <p:nvSpPr>
          <p:cNvPr id="13" name="worked-step-3">
            <a:extLst xmlns:a="http://schemas.openxmlformats.org/drawingml/2006/main">
              <a:ext uri="{FF2B5EF4-FFF2-40B4-BE49-F238E27FC236}">
                <a16:creationId xmlns:a16="http://schemas.microsoft.com/office/drawing/2014/main" id="{B222EA7E-7708-4F0E-BF2A-E5380E89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719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3.  Return % = 500 ÷ 5,000 × 100 = 10%</a:t>
            </a:r>
          </a:p>
        </p:txBody>
      </p:sp>
      <p:sp>
        <p:nvSpPr>
          <p:cNvPr id="14" name="worked-step-4">
            <a:extLst xmlns:a="http://schemas.openxmlformats.org/drawingml/2006/main">
              <a:ext uri="{FF2B5EF4-FFF2-40B4-BE49-F238E27FC236}">
                <a16:creationId xmlns:a16="http://schemas.microsoft.com/office/drawing/2014/main" id="{7D96AD0D-2718-4BCE-A0F9-DB59BC6C3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59105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4.  Interpretation: the investment returned 10%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124092791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6D523A05-E48C-439F-8D51-A0F8623C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05FE8A74-CC8A-4D88-B773-1F6AE5B2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F3A22CF6-5973-4A98-A051-E0BFC326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CALCULATE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7696B610-E2B0-4762-A6D3-6863F042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22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4759243-B4C2-4FDC-B124-4DFAA025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Practice 1 · Gain plus income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B1FF0815-2883-435F-9192-38401CA7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actice-main">
            <a:extLst xmlns:a="http://schemas.openxmlformats.org/drawingml/2006/main">
              <a:ext uri="{FF2B5EF4-FFF2-40B4-BE49-F238E27FC236}">
                <a16:creationId xmlns:a16="http://schemas.microsoft.com/office/drawing/2014/main" id="{040D1F20-EE0E-4BCB-9748-4965CE87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10572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practice-data">
            <a:extLst xmlns:a="http://schemas.openxmlformats.org/drawingml/2006/main">
              <a:ext uri="{FF2B5EF4-FFF2-40B4-BE49-F238E27FC236}">
                <a16:creationId xmlns:a16="http://schemas.microsoft.com/office/drawing/2014/main" id="{A73ED37E-9A5E-4E67-B4D9-C0DE9B1D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717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Start  CNY 3,000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End  CNY 3,240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Income  CNY 60</a:t>
            </a:r>
          </a:p>
        </p:txBody>
      </p:sp>
      <p:sp>
        <p:nvSpPr>
          <p:cNvPr id="9" name="practice-divider">
            <a:extLst xmlns:a="http://schemas.openxmlformats.org/drawingml/2006/main">
              <a:ext uri="{FF2B5EF4-FFF2-40B4-BE49-F238E27FC236}">
                <a16:creationId xmlns:a16="http://schemas.microsoft.com/office/drawing/2014/main" id="{20BDA563-3E9A-47B4-85A6-EA7E7C07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actice-question">
            <a:extLst xmlns:a="http://schemas.openxmlformats.org/drawingml/2006/main">
              <a:ext uri="{FF2B5EF4-FFF2-40B4-BE49-F238E27FC236}">
                <a16:creationId xmlns:a16="http://schemas.microsoft.com/office/drawing/2014/main" id="{9189794A-0BA7-4BEE-BCB6-6C32CACE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447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Calculate the total return and percentage return. Show all four steps.</a:t>
            </a:r>
          </a:p>
        </p:txBody>
      </p:sp>
    </p:spTree>
    <p:extLst>
      <p:ext uri="{BB962C8B-B14F-4D97-AF65-F5344CB8AC3E}">
        <p14:creationId xmlns:p14="http://schemas.microsoft.com/office/powerpoint/2010/main" val="33130288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4834720C-9D11-492D-ACFA-11609BD03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28B120A8-CEBE-4222-9C66-B281978D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6010CAB-93E5-4C3F-825A-16ACEF2D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B5339EF1-182B-41B3-8E85-48DEE906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23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E4B61EC-8D6A-43C2-95B9-9E3F757F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Practice 1 · Model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11DE3656-FDFC-418B-8F83-338F114C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actice-main">
            <a:extLst xmlns:a="http://schemas.openxmlformats.org/drawingml/2006/main">
              <a:ext uri="{FF2B5EF4-FFF2-40B4-BE49-F238E27FC236}">
                <a16:creationId xmlns:a16="http://schemas.microsoft.com/office/drawing/2014/main" id="{A46FD0DF-BDB7-4D4E-9FED-789A4378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10572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practice-data">
            <a:extLst xmlns:a="http://schemas.openxmlformats.org/drawingml/2006/main">
              <a:ext uri="{FF2B5EF4-FFF2-40B4-BE49-F238E27FC236}">
                <a16:creationId xmlns:a16="http://schemas.microsoft.com/office/drawing/2014/main" id="{DAF3E082-1531-4657-8724-7B06F740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717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Capital gain = 3,240 − 3,000 = 240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Total return = 240 + 60 = CNY 300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Return % = 300 ÷ 3,000 × 100 = 10%</a:t>
            </a:r>
          </a:p>
        </p:txBody>
      </p:sp>
      <p:sp>
        <p:nvSpPr>
          <p:cNvPr id="9" name="practice-divider">
            <a:extLst xmlns:a="http://schemas.openxmlformats.org/drawingml/2006/main">
              <a:ext uri="{FF2B5EF4-FFF2-40B4-BE49-F238E27FC236}">
                <a16:creationId xmlns:a16="http://schemas.microsoft.com/office/drawing/2014/main" id="{C72FD204-22BE-474B-ACB7-C50BF913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actice-question">
            <a:extLst xmlns:a="http://schemas.openxmlformats.org/drawingml/2006/main">
              <a:ext uri="{FF2B5EF4-FFF2-40B4-BE49-F238E27FC236}">
                <a16:creationId xmlns:a16="http://schemas.microsoft.com/office/drawing/2014/main" id="{F4EA16C5-988F-4BDD-8617-8BFA3033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447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The investment returned 10%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212028883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8E164AE3-3178-459E-8991-0C65DF0C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81293450-2BC7-438B-AAB8-BB0AC8D2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5ECA9441-262E-488C-BAD0-1DD272DB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CALCULATE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3FE37B84-1173-490F-8EBC-F3006344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24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7758F248-C72A-4C74-8744-F9766480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Practice 2 · Income does not prevent a loss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D8E6420A-CE07-48A6-B0D4-7CD27436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actice-main">
            <a:extLst xmlns:a="http://schemas.openxmlformats.org/drawingml/2006/main">
              <a:ext uri="{FF2B5EF4-FFF2-40B4-BE49-F238E27FC236}">
                <a16:creationId xmlns:a16="http://schemas.microsoft.com/office/drawing/2014/main" id="{B2218AE7-C0E4-430D-8ABF-301E1AD9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10572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practice-data">
            <a:extLst xmlns:a="http://schemas.openxmlformats.org/drawingml/2006/main">
              <a:ext uri="{FF2B5EF4-FFF2-40B4-BE49-F238E27FC236}">
                <a16:creationId xmlns:a16="http://schemas.microsoft.com/office/drawing/2014/main" id="{0F57B3CC-A085-4A72-B395-29BFB0AA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717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Start  CNY 5,000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End  CNY 4,550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Income  CNY 150</a:t>
            </a:r>
          </a:p>
        </p:txBody>
      </p:sp>
      <p:sp>
        <p:nvSpPr>
          <p:cNvPr id="9" name="practice-divider">
            <a:extLst xmlns:a="http://schemas.openxmlformats.org/drawingml/2006/main">
              <a:ext uri="{FF2B5EF4-FFF2-40B4-BE49-F238E27FC236}">
                <a16:creationId xmlns:a16="http://schemas.microsoft.com/office/drawing/2014/main" id="{98B8686E-BA36-4B5E-B86F-586060FB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actice-question">
            <a:extLst xmlns:a="http://schemas.openxmlformats.org/drawingml/2006/main">
              <a:ext uri="{FF2B5EF4-FFF2-40B4-BE49-F238E27FC236}">
                <a16:creationId xmlns:a16="http://schemas.microsoft.com/office/drawing/2014/main" id="{7A314F8C-153E-42CB-AB36-313764D1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447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Calculate and interpret the return.</a:t>
            </a:r>
          </a:p>
        </p:txBody>
      </p:sp>
    </p:spTree>
    <p:extLst>
      <p:ext uri="{BB962C8B-B14F-4D97-AF65-F5344CB8AC3E}">
        <p14:creationId xmlns:p14="http://schemas.microsoft.com/office/powerpoint/2010/main" val="7858545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9CA53F48-D13A-4735-BF78-CD10F8C6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057A3437-DD72-461A-9D52-33784128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79C74F00-C13F-418A-B1F2-E0303253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TOTAL RETURN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52C59448-1261-44E0-A2EC-EADCEB18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25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A435D42-481C-4357-80EC-5CC5E2BD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Practice 2 · Model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BA4F89F3-6462-40BD-88A1-9C2DC02D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actice-main">
            <a:extLst xmlns:a="http://schemas.openxmlformats.org/drawingml/2006/main">
              <a:ext uri="{FF2B5EF4-FFF2-40B4-BE49-F238E27FC236}">
                <a16:creationId xmlns:a16="http://schemas.microsoft.com/office/drawing/2014/main" id="{F3877600-AAC3-41A6-9CA7-0AF2F5AF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76425"/>
            <a:ext cx="105727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practice-data">
            <a:extLst xmlns:a="http://schemas.openxmlformats.org/drawingml/2006/main">
              <a:ext uri="{FF2B5EF4-FFF2-40B4-BE49-F238E27FC236}">
                <a16:creationId xmlns:a16="http://schemas.microsoft.com/office/drawing/2014/main" id="{6F9E08D9-9CC9-4C7B-A4E1-D7A30E3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71700"/>
            <a:ext cx="47625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Capital loss = 4,550 − 5,000 = −450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Total return = −450 + 150 = −CNY 300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Return % = −300 ÷ 5,000 × 100 = −6%</a:t>
            </a:r>
          </a:p>
        </p:txBody>
      </p:sp>
      <p:sp>
        <p:nvSpPr>
          <p:cNvPr id="9" name="practice-divider">
            <a:extLst xmlns:a="http://schemas.openxmlformats.org/drawingml/2006/main">
              <a:ext uri="{FF2B5EF4-FFF2-40B4-BE49-F238E27FC236}">
                <a16:creationId xmlns:a16="http://schemas.microsoft.com/office/drawing/2014/main" id="{C24E9F84-8309-4758-AC0B-91F4477B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57425"/>
            <a:ext cx="190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actice-question">
            <a:extLst xmlns:a="http://schemas.openxmlformats.org/drawingml/2006/main">
              <a:ext uri="{FF2B5EF4-FFF2-40B4-BE49-F238E27FC236}">
                <a16:creationId xmlns:a16="http://schemas.microsoft.com/office/drawing/2014/main" id="{494ED05B-F9AC-42F9-BF97-BCBBC850B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19350"/>
            <a:ext cx="447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Income reduced the loss, but the total return remained negative.</a:t>
            </a:r>
          </a:p>
        </p:txBody>
      </p:sp>
    </p:spTree>
    <p:extLst>
      <p:ext uri="{BB962C8B-B14F-4D97-AF65-F5344CB8AC3E}">
        <p14:creationId xmlns:p14="http://schemas.microsoft.com/office/powerpoint/2010/main" val="8915821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D576D312-6633-47C1-8183-A014B195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7F37C1DF-F2A0-438B-B1E3-9A63DBF3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0A68948-96FD-442C-8336-8F2E3F63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CALCULATE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0F096DC0-802A-4B18-A3A3-B077DCD2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26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98AD1A6-09AA-4D63-953D-87A5925B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Yes or no?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14636B58-F273-4A02-BED3-FBC1D5A3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yn-row-1">
            <a:extLst xmlns:a="http://schemas.openxmlformats.org/drawingml/2006/main">
              <a:ext uri="{FF2B5EF4-FFF2-40B4-BE49-F238E27FC236}">
                <a16:creationId xmlns:a16="http://schemas.microsoft.com/office/drawing/2014/main" id="{A2EC9393-5FFE-4A38-88FD-C0064CF2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057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yn-text-1">
            <a:extLst xmlns:a="http://schemas.openxmlformats.org/drawingml/2006/main">
              <a:ext uri="{FF2B5EF4-FFF2-40B4-BE49-F238E27FC236}">
                <a16:creationId xmlns:a16="http://schemas.microsoft.com/office/drawing/2014/main" id="{D9F98065-1E9F-434D-83EF-4A085D27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24050"/>
            <a:ext cx="847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 dividend counts as income.</a:t>
            </a:r>
          </a:p>
        </p:txBody>
      </p:sp>
      <p:sp>
        <p:nvSpPr>
          <p:cNvPr id="9" name="yn-choice-1">
            <a:extLst xmlns:a="http://schemas.openxmlformats.org/drawingml/2006/main">
              <a:ext uri="{FF2B5EF4-FFF2-40B4-BE49-F238E27FC236}">
                <a16:creationId xmlns:a16="http://schemas.microsoft.com/office/drawing/2014/main" id="{04A1A97D-B9D9-4349-90E1-136616314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924050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YES / NO</a:t>
            </a:r>
          </a:p>
        </p:txBody>
      </p:sp>
      <p:sp>
        <p:nvSpPr>
          <p:cNvPr id="10" name="yn-row-2">
            <a:extLst xmlns:a="http://schemas.openxmlformats.org/drawingml/2006/main">
              <a:ext uri="{FF2B5EF4-FFF2-40B4-BE49-F238E27FC236}">
                <a16:creationId xmlns:a16="http://schemas.microsoft.com/office/drawing/2014/main" id="{9BC7B7B4-4C18-4B18-B189-419AE29C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1057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1" name="yn-text-2">
            <a:extLst xmlns:a="http://schemas.openxmlformats.org/drawingml/2006/main">
              <a:ext uri="{FF2B5EF4-FFF2-40B4-BE49-F238E27FC236}">
                <a16:creationId xmlns:a16="http://schemas.microsoft.com/office/drawing/2014/main" id="{64A9FBC8-C9BE-4175-BA89-06A8994F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05125"/>
            <a:ext cx="847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Money you add later counts as return.</a:t>
            </a:r>
          </a:p>
        </p:txBody>
      </p:sp>
      <p:sp>
        <p:nvSpPr>
          <p:cNvPr id="12" name="yn-choice-2">
            <a:extLst xmlns:a="http://schemas.openxmlformats.org/drawingml/2006/main">
              <a:ext uri="{FF2B5EF4-FFF2-40B4-BE49-F238E27FC236}">
                <a16:creationId xmlns:a16="http://schemas.microsoft.com/office/drawing/2014/main" id="{1E642441-FABF-4A29-8758-894B0BAC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905125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YES / NO</a:t>
            </a:r>
          </a:p>
        </p:txBody>
      </p:sp>
      <p:sp>
        <p:nvSpPr>
          <p:cNvPr id="13" name="yn-row-3">
            <a:extLst xmlns:a="http://schemas.openxmlformats.org/drawingml/2006/main">
              <a:ext uri="{FF2B5EF4-FFF2-40B4-BE49-F238E27FC236}">
                <a16:creationId xmlns:a16="http://schemas.microsoft.com/office/drawing/2014/main" id="{6E067567-CAF5-4B26-825C-3E4632EB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057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4" name="yn-text-3">
            <a:extLst xmlns:a="http://schemas.openxmlformats.org/drawingml/2006/main">
              <a:ext uri="{FF2B5EF4-FFF2-40B4-BE49-F238E27FC236}">
                <a16:creationId xmlns:a16="http://schemas.microsoft.com/office/drawing/2014/main" id="{9211B3D5-BF07-44EA-929E-9EFD0A66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86200"/>
            <a:ext cx="847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 positive income payment guarantees a positive total return.</a:t>
            </a:r>
          </a:p>
        </p:txBody>
      </p:sp>
      <p:sp>
        <p:nvSpPr>
          <p:cNvPr id="15" name="yn-choice-3">
            <a:extLst xmlns:a="http://schemas.openxmlformats.org/drawingml/2006/main">
              <a:ext uri="{FF2B5EF4-FFF2-40B4-BE49-F238E27FC236}">
                <a16:creationId xmlns:a16="http://schemas.microsoft.com/office/drawing/2014/main" id="{96F11A10-26BE-4859-B043-6B79A0D9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886200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YES / NO</a:t>
            </a:r>
          </a:p>
        </p:txBody>
      </p:sp>
      <p:sp>
        <p:nvSpPr>
          <p:cNvPr id="16" name="yn-row-4">
            <a:extLst xmlns:a="http://schemas.openxmlformats.org/drawingml/2006/main">
              <a:ext uri="{FF2B5EF4-FFF2-40B4-BE49-F238E27FC236}">
                <a16:creationId xmlns:a16="http://schemas.microsoft.com/office/drawing/2014/main" id="{3562741E-B231-4D42-A6EF-301EDA08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1057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7" name="yn-text-4">
            <a:extLst xmlns:a="http://schemas.openxmlformats.org/drawingml/2006/main">
              <a:ext uri="{FF2B5EF4-FFF2-40B4-BE49-F238E27FC236}">
                <a16:creationId xmlns:a16="http://schemas.microsoft.com/office/drawing/2014/main" id="{8CA397CA-2DD5-4702-9945-0CE8AFFFB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67275"/>
            <a:ext cx="8477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 percentage return needs the starting value.</a:t>
            </a:r>
          </a:p>
        </p:txBody>
      </p:sp>
      <p:sp>
        <p:nvSpPr>
          <p:cNvPr id="18" name="yn-choice-4">
            <a:extLst xmlns:a="http://schemas.openxmlformats.org/drawingml/2006/main">
              <a:ext uri="{FF2B5EF4-FFF2-40B4-BE49-F238E27FC236}">
                <a16:creationId xmlns:a16="http://schemas.microsoft.com/office/drawing/2014/main" id="{8F7D031E-4AF5-47C0-9E81-80037FD4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4867275"/>
            <a:ext cx="1476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YES / NO</a:t>
            </a:r>
          </a:p>
        </p:txBody>
      </p:sp>
    </p:spTree>
    <p:extLst>
      <p:ext uri="{BB962C8B-B14F-4D97-AF65-F5344CB8AC3E}">
        <p14:creationId xmlns:p14="http://schemas.microsoft.com/office/powerpoint/2010/main" val="1438852251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AA44A2E4-415E-467A-8ADD-E976F2E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01E1BDD2-8592-4148-BC59-C8C5B25E8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A5E74CE-19D7-4436-981F-D3920CAE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CALCULATE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5B2357EB-5B73-4C86-A33F-93E6DCAD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27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7872114-2381-4FF9-AC36-4655BA50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Yes or no? · Reveal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12C17A46-AF1B-483D-A788-E66C5B55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yn-row-1">
            <a:extLst xmlns:a="http://schemas.openxmlformats.org/drawingml/2006/main">
              <a:ext uri="{FF2B5EF4-FFF2-40B4-BE49-F238E27FC236}">
                <a16:creationId xmlns:a16="http://schemas.microsoft.com/office/drawing/2014/main" id="{AA9BB6A3-4A86-4FAD-AC80-64B7FB83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057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yn-answer-1">
            <a:extLst xmlns:a="http://schemas.openxmlformats.org/drawingml/2006/main">
              <a:ext uri="{FF2B5EF4-FFF2-40B4-BE49-F238E27FC236}">
                <a16:creationId xmlns:a16="http://schemas.microsoft.com/office/drawing/2014/main" id="{AA34661B-5065-4799-A540-BEF00169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00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9" name="yn-text-1">
            <a:extLst xmlns:a="http://schemas.openxmlformats.org/drawingml/2006/main">
              <a:ext uri="{FF2B5EF4-FFF2-40B4-BE49-F238E27FC236}">
                <a16:creationId xmlns:a16="http://schemas.microsoft.com/office/drawing/2014/main" id="{D6DDEF18-B217-4C65-939A-CEA2FAE5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2405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 dividend counts as income.</a:t>
            </a:r>
          </a:p>
        </p:txBody>
      </p:sp>
      <p:sp>
        <p:nvSpPr>
          <p:cNvPr id="10" name="yn-row-2">
            <a:extLst xmlns:a="http://schemas.openxmlformats.org/drawingml/2006/main">
              <a:ext uri="{FF2B5EF4-FFF2-40B4-BE49-F238E27FC236}">
                <a16:creationId xmlns:a16="http://schemas.microsoft.com/office/drawing/2014/main" id="{CEAB6C5E-B018-414D-83EC-2052F51DD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1057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1" name="yn-answer-2">
            <a:extLst xmlns:a="http://schemas.openxmlformats.org/drawingml/2006/main">
              <a:ext uri="{FF2B5EF4-FFF2-40B4-BE49-F238E27FC236}">
                <a16:creationId xmlns:a16="http://schemas.microsoft.com/office/drawing/2014/main" id="{C4BAC539-BF2C-4D4F-8476-9406004B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100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94C4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94C45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2" name="yn-text-2">
            <a:extLst xmlns:a="http://schemas.openxmlformats.org/drawingml/2006/main">
              <a:ext uri="{FF2B5EF4-FFF2-40B4-BE49-F238E27FC236}">
                <a16:creationId xmlns:a16="http://schemas.microsoft.com/office/drawing/2014/main" id="{9228A8D1-DB2E-446D-9625-D931D828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90512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New money is a cash flow, not return.</a:t>
            </a:r>
          </a:p>
        </p:txBody>
      </p:sp>
      <p:sp>
        <p:nvSpPr>
          <p:cNvPr id="13" name="yn-row-3">
            <a:extLst xmlns:a="http://schemas.openxmlformats.org/drawingml/2006/main">
              <a:ext uri="{FF2B5EF4-FFF2-40B4-BE49-F238E27FC236}">
                <a16:creationId xmlns:a16="http://schemas.microsoft.com/office/drawing/2014/main" id="{2B76287C-08DF-4DB7-92CB-844A80F7D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1057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4" name="yn-answer-3">
            <a:extLst xmlns:a="http://schemas.openxmlformats.org/drawingml/2006/main">
              <a:ext uri="{FF2B5EF4-FFF2-40B4-BE49-F238E27FC236}">
                <a16:creationId xmlns:a16="http://schemas.microsoft.com/office/drawing/2014/main" id="{DBAD1769-C247-4B60-BD5F-E4117F68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86200"/>
            <a:ext cx="100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B94C4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94C45"/>
                </a:solidFill>
                <a:latin typeface="Arial"/>
                <a:ea typeface="Arial"/>
                <a:cs typeface="Arial"/>
              </a:rPr>
              <a:t>NO</a:t>
            </a:r>
          </a:p>
        </p:txBody>
      </p:sp>
      <p:sp>
        <p:nvSpPr>
          <p:cNvPr id="15" name="yn-text-3">
            <a:extLst xmlns:a="http://schemas.openxmlformats.org/drawingml/2006/main">
              <a:ext uri="{FF2B5EF4-FFF2-40B4-BE49-F238E27FC236}">
                <a16:creationId xmlns:a16="http://schemas.microsoft.com/office/drawing/2014/main" id="{C90ED132-3176-4B00-9DC9-7F1A6080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86200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 capital loss can exceed income.</a:t>
            </a:r>
          </a:p>
        </p:txBody>
      </p:sp>
      <p:sp>
        <p:nvSpPr>
          <p:cNvPr id="16" name="yn-row-4">
            <a:extLst xmlns:a="http://schemas.openxmlformats.org/drawingml/2006/main">
              <a:ext uri="{FF2B5EF4-FFF2-40B4-BE49-F238E27FC236}">
                <a16:creationId xmlns:a16="http://schemas.microsoft.com/office/drawing/2014/main" id="{BED1F075-826B-4919-A9E0-2A597DE3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67275"/>
            <a:ext cx="1057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7" name="yn-answer-4">
            <a:extLst xmlns:a="http://schemas.openxmlformats.org/drawingml/2006/main">
              <a:ext uri="{FF2B5EF4-FFF2-40B4-BE49-F238E27FC236}">
                <a16:creationId xmlns:a16="http://schemas.microsoft.com/office/drawing/2014/main" id="{7044A06D-BA48-4232-AC74-0EA535AB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67275"/>
            <a:ext cx="1000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18" name="yn-text-4">
            <a:extLst xmlns:a="http://schemas.openxmlformats.org/drawingml/2006/main">
              <a:ext uri="{FF2B5EF4-FFF2-40B4-BE49-F238E27FC236}">
                <a16:creationId xmlns:a16="http://schemas.microsoft.com/office/drawing/2014/main" id="{730A3847-4201-4C62-BB0B-15E71970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867275"/>
            <a:ext cx="895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The starting value is the denominator.</a:t>
            </a:r>
          </a:p>
        </p:txBody>
      </p:sp>
    </p:spTree>
    <p:extLst>
      <p:ext uri="{BB962C8B-B14F-4D97-AF65-F5344CB8AC3E}">
        <p14:creationId xmlns:p14="http://schemas.microsoft.com/office/powerpoint/2010/main" val="9632649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7C9570A3-FCEC-4500-9635-40AE27AE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17ABD4DF-4F02-47C7-88F0-CF49093E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"/>
            <a:ext cx="2476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3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80E6E797-FA40-4C33-BF29-38D30783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A7CAE67C-A297-45C3-9EE5-36B348E8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9239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8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38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How do we compare fairly?</a:t>
            </a:r>
          </a:p>
        </p:txBody>
      </p:sp>
      <p:sp>
        <p:nvSpPr>
          <p:cNvPr id="5" name="section-zh">
            <a:extLst xmlns:a="http://schemas.openxmlformats.org/drawingml/2006/main">
              <a:ext uri="{FF2B5EF4-FFF2-40B4-BE49-F238E27FC236}">
                <a16:creationId xmlns:a16="http://schemas.microsoft.com/office/drawing/2014/main" id="{CBEAFB22-82E8-4444-8F8C-805DC6CE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71950"/>
            <a:ext cx="800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E5B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 i="0">
                <a:solidFill>
                  <a:srgbClr val="1E5B52"/>
                </a:solidFill>
                <a:latin typeface="Microsoft YaHei"/>
                <a:ea typeface="Microsoft YaHei"/>
                <a:cs typeface="Microsoft YaHei"/>
              </a:rPr>
              <a:t>如何公平比较？</a:t>
            </a:r>
          </a:p>
        </p:txBody>
      </p:sp>
      <p:sp>
        <p:nvSpPr>
          <p:cNvPr id="6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95356CE6-61BE-45E7-BA85-8FE23507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007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A MEASUREMENT CHAPTER</a:t>
            </a:r>
          </a:p>
        </p:txBody>
      </p:sp>
    </p:spTree>
    <p:extLst>
      <p:ext uri="{BB962C8B-B14F-4D97-AF65-F5344CB8AC3E}">
        <p14:creationId xmlns:p14="http://schemas.microsoft.com/office/powerpoint/2010/main" val="80482573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8e9b06793b408e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identity-edge">
            <a:extLst xmlns:a="http://schemas.openxmlformats.org/drawingml/2006/main">
              <a:ext uri="{FF2B5EF4-FFF2-40B4-BE49-F238E27FC236}">
                <a16:creationId xmlns:a16="http://schemas.microsoft.com/office/drawing/2014/main" id="{91899902-A625-40E6-9116-F5CEA9C7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3179407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14025DCF-94D2-431E-8C54-0D33E846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6A677ABE-6FBB-4A59-9907-88495F7E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AA442B1-8F99-444B-9A69-0CE40523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74443CC6-B906-4A5A-A161-F0AB7D50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30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F6C4817-B98E-48D4-8B9A-C9D9909F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Amount and percentage answer different questions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05FDE13D-D851-46C5-AA71-3435E1CE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e-1">
            <a:extLst xmlns:a="http://schemas.openxmlformats.org/drawingml/2006/main">
              <a:ext uri="{FF2B5EF4-FFF2-40B4-BE49-F238E27FC236}">
                <a16:creationId xmlns:a16="http://schemas.microsoft.com/office/drawing/2014/main" id="{ABC899CB-C696-4D7A-BD1C-BABB3CBDC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compare-accent-1">
            <a:extLst xmlns:a="http://schemas.openxmlformats.org/drawingml/2006/main">
              <a:ext uri="{FF2B5EF4-FFF2-40B4-BE49-F238E27FC236}">
                <a16:creationId xmlns:a16="http://schemas.microsoft.com/office/drawing/2014/main" id="{093A062F-B387-4D21-B27F-5EB317C2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14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33A0E147-9450-4D4E-BFF6-D8840643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Return amount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5939A3FA-E694-4219-AB26-21AE3E7C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4533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How much money was gained or lost?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Best when starting values are ______.</a:t>
            </a:r>
          </a:p>
        </p:txBody>
      </p:sp>
      <p:sp>
        <p:nvSpPr>
          <p:cNvPr id="11" name="compare-2">
            <a:extLst xmlns:a="http://schemas.openxmlformats.org/drawingml/2006/main">
              <a:ext uri="{FF2B5EF4-FFF2-40B4-BE49-F238E27FC236}">
                <a16:creationId xmlns:a16="http://schemas.microsoft.com/office/drawing/2014/main" id="{4CCBB950-6B18-42FC-8EBD-6ABF319F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compare-accent-2">
            <a:extLst xmlns:a="http://schemas.openxmlformats.org/drawingml/2006/main">
              <a:ext uri="{FF2B5EF4-FFF2-40B4-BE49-F238E27FC236}">
                <a16:creationId xmlns:a16="http://schemas.microsoft.com/office/drawing/2014/main" id="{F3788574-FEFF-4420-AFC9-0C3C23A3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4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mpare-head-2">
            <a:extLst xmlns:a="http://schemas.openxmlformats.org/drawingml/2006/main">
              <a:ext uri="{FF2B5EF4-FFF2-40B4-BE49-F238E27FC236}">
                <a16:creationId xmlns:a16="http://schemas.microsoft.com/office/drawing/2014/main" id="{1F472598-81B9-4E41-9BC6-B7C112B51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Percentage return</a:t>
            </a:r>
          </a:p>
        </p:txBody>
      </p:sp>
      <p:sp>
        <p:nvSpPr>
          <p:cNvPr id="14" name="compare-body-2">
            <a:extLst xmlns:a="http://schemas.openxmlformats.org/drawingml/2006/main">
              <a:ext uri="{FF2B5EF4-FFF2-40B4-BE49-F238E27FC236}">
                <a16:creationId xmlns:a16="http://schemas.microsoft.com/office/drawing/2014/main" id="{C918C1D4-8CE7-418E-ADB6-587D4961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90850"/>
            <a:ext cx="4533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How strong was performance relative to size?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Best for comparing ______ starting values.</a:t>
            </a:r>
          </a:p>
        </p:txBody>
      </p:sp>
    </p:spTree>
    <p:extLst>
      <p:ext uri="{BB962C8B-B14F-4D97-AF65-F5344CB8AC3E}">
        <p14:creationId xmlns:p14="http://schemas.microsoft.com/office/powerpoint/2010/main" val="16036227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800F097A-6E15-4879-BB57-B1DA1D7A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77231CD0-76F1-4747-85B5-1CEF476CB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711AD27-A19E-4CBB-B09D-FD605249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B8151E72-6F02-4D13-8C68-6816B760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31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E8352CE-0EF2-4146-AAE3-BE600D51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Amount and percentage · Reveal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012420BE-69AB-4166-8624-E1E0FF3B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ompare-1">
            <a:extLst xmlns:a="http://schemas.openxmlformats.org/drawingml/2006/main">
              <a:ext uri="{FF2B5EF4-FFF2-40B4-BE49-F238E27FC236}">
                <a16:creationId xmlns:a16="http://schemas.microsoft.com/office/drawing/2014/main" id="{9D05A7D0-88D5-46D9-93A7-264F3C478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compare-accent-1">
            <a:extLst xmlns:a="http://schemas.openxmlformats.org/drawingml/2006/main">
              <a:ext uri="{FF2B5EF4-FFF2-40B4-BE49-F238E27FC236}">
                <a16:creationId xmlns:a16="http://schemas.microsoft.com/office/drawing/2014/main" id="{BDF372E7-BE81-4BEC-B650-130CAFA6E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514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mpare-head-1">
            <a:extLst xmlns:a="http://schemas.openxmlformats.org/drawingml/2006/main">
              <a:ext uri="{FF2B5EF4-FFF2-40B4-BE49-F238E27FC236}">
                <a16:creationId xmlns:a16="http://schemas.microsoft.com/office/drawing/2014/main" id="{A61E65E3-163A-4C0A-B9E9-75580AC32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4315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Return amount</a:t>
            </a:r>
          </a:p>
        </p:txBody>
      </p:sp>
      <p:sp>
        <p:nvSpPr>
          <p:cNvPr id="10" name="compare-body-1">
            <a:extLst xmlns:a="http://schemas.openxmlformats.org/drawingml/2006/main">
              <a:ext uri="{FF2B5EF4-FFF2-40B4-BE49-F238E27FC236}">
                <a16:creationId xmlns:a16="http://schemas.microsoft.com/office/drawing/2014/main" id="{C5A684EC-6148-4106-8338-1C8CE12F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90850"/>
            <a:ext cx="4533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How much money was gained or lost?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Useful when starting values are similar.</a:t>
            </a:r>
          </a:p>
        </p:txBody>
      </p:sp>
      <p:sp>
        <p:nvSpPr>
          <p:cNvPr id="11" name="compare-2">
            <a:extLst xmlns:a="http://schemas.openxmlformats.org/drawingml/2006/main">
              <a:ext uri="{FF2B5EF4-FFF2-40B4-BE49-F238E27FC236}">
                <a16:creationId xmlns:a16="http://schemas.microsoft.com/office/drawing/2014/main" id="{F8FF60B4-76DE-4781-94AA-1A08830A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compare-accent-2">
            <a:extLst xmlns:a="http://schemas.openxmlformats.org/drawingml/2006/main">
              <a:ext uri="{FF2B5EF4-FFF2-40B4-BE49-F238E27FC236}">
                <a16:creationId xmlns:a16="http://schemas.microsoft.com/office/drawing/2014/main" id="{6FDBFEDB-4F8D-47B9-A16B-0DDCB779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4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mpare-head-2">
            <a:extLst xmlns:a="http://schemas.openxmlformats.org/drawingml/2006/main">
              <a:ext uri="{FF2B5EF4-FFF2-40B4-BE49-F238E27FC236}">
                <a16:creationId xmlns:a16="http://schemas.microsoft.com/office/drawing/2014/main" id="{D9716FEE-50AC-4BF3-A54B-C1F5787B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4315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Percentage return</a:t>
            </a:r>
          </a:p>
        </p:txBody>
      </p:sp>
      <p:sp>
        <p:nvSpPr>
          <p:cNvPr id="14" name="compare-body-2">
            <a:extLst xmlns:a="http://schemas.openxmlformats.org/drawingml/2006/main">
              <a:ext uri="{FF2B5EF4-FFF2-40B4-BE49-F238E27FC236}">
                <a16:creationId xmlns:a16="http://schemas.microsoft.com/office/drawing/2014/main" id="{F47478A0-5C9D-41E6-8876-5E3DC01F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90850"/>
            <a:ext cx="45339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How strong was performance relative to size?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Fairer for unequal starting values.</a:t>
            </a:r>
          </a:p>
        </p:txBody>
      </p:sp>
    </p:spTree>
    <p:extLst>
      <p:ext uri="{BB962C8B-B14F-4D97-AF65-F5344CB8AC3E}">
        <p14:creationId xmlns:p14="http://schemas.microsoft.com/office/powerpoint/2010/main" val="47577681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42258DF1-7CE6-4BCD-9674-3CB89699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A5B5665B-4201-4EBC-92B6-BFC9D8AC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78F1517-380A-4968-8878-080E6785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6BA928D7-EF54-4A51-9B2D-FFB76B84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32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9AD2EDD-1F4A-40B3-85FD-B6CA43F0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Return to the opening dilemma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A05174-BE6D-4D2C-B60C-37157191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se-prompt">
            <a:extLst xmlns:a="http://schemas.openxmlformats.org/drawingml/2006/main">
              <a:ext uri="{FF2B5EF4-FFF2-40B4-BE49-F238E27FC236}">
                <a16:creationId xmlns:a16="http://schemas.microsoft.com/office/drawing/2014/main" id="{95569A3E-DC97-463D-BC80-7A95CC16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Now calculate both percentages before deciding.</a:t>
            </a:r>
          </a:p>
        </p:txBody>
      </p:sp>
      <p:sp>
        <p:nvSpPr>
          <p:cNvPr id="8" name="case-1">
            <a:extLst xmlns:a="http://schemas.openxmlformats.org/drawingml/2006/main">
              <a:ext uri="{FF2B5EF4-FFF2-40B4-BE49-F238E27FC236}">
                <a16:creationId xmlns:a16="http://schemas.microsoft.com/office/drawing/2014/main" id="{D8B08187-716D-4FD5-81D0-BD57F0C5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51530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6EE0DC3E-A54A-4D60-B99A-34380CBB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465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Investment A</a:t>
            </a:r>
          </a:p>
        </p:txBody>
      </p:sp>
      <p:sp>
        <p:nvSpPr>
          <p:cNvPr id="10" name="case-body-1">
            <a:extLst xmlns:a="http://schemas.openxmlformats.org/drawingml/2006/main">
              <a:ext uri="{FF2B5EF4-FFF2-40B4-BE49-F238E27FC236}">
                <a16:creationId xmlns:a16="http://schemas.microsoft.com/office/drawing/2014/main" id="{CD9A81C6-3C96-4BEA-A799-50833F3DC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Start CNY 2,000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Return CNY 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Return % = ______</a:t>
            </a:r>
          </a:p>
        </p:txBody>
      </p:sp>
      <p:sp>
        <p:nvSpPr>
          <p:cNvPr id="11" name="case-2">
            <a:extLst xmlns:a="http://schemas.openxmlformats.org/drawingml/2006/main">
              <a:ext uri="{FF2B5EF4-FFF2-40B4-BE49-F238E27FC236}">
                <a16:creationId xmlns:a16="http://schemas.microsoft.com/office/drawing/2014/main" id="{63150C5A-A874-46A9-B214-DF0F70F7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09850"/>
            <a:ext cx="51530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ECDB2BC0-073E-4A21-AFB5-80CC9620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38450"/>
            <a:ext cx="465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Investment B</a:t>
            </a:r>
          </a:p>
        </p:txBody>
      </p:sp>
      <p:sp>
        <p:nvSpPr>
          <p:cNvPr id="13" name="case-body-2">
            <a:extLst xmlns:a="http://schemas.openxmlformats.org/drawingml/2006/main">
              <a:ext uri="{FF2B5EF4-FFF2-40B4-BE49-F238E27FC236}">
                <a16:creationId xmlns:a16="http://schemas.microsoft.com/office/drawing/2014/main" id="{47136864-4EC5-4527-A5E7-D4166581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9090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Start CNY 10,000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Return CNY 600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Return % = ______</a:t>
            </a:r>
          </a:p>
        </p:txBody>
      </p:sp>
    </p:spTree>
    <p:extLst>
      <p:ext uri="{BB962C8B-B14F-4D97-AF65-F5344CB8AC3E}">
        <p14:creationId xmlns:p14="http://schemas.microsoft.com/office/powerpoint/2010/main" val="138320208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D3E8E956-B32E-48CD-9D0D-EE029E29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03955858-1DC6-4F03-A8E6-AE4AECE2F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D4427C9-D3D0-409C-B7C5-5171A7AB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0C13FD22-038D-4189-87CE-CB992B86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33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848920B-0659-410D-AD19-658C5EC6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The judgement changes with the metric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F56C5663-447B-4D69-B2B0-E861F560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se-prompt">
            <a:extLst xmlns:a="http://schemas.openxmlformats.org/drawingml/2006/main">
              <a:ext uri="{FF2B5EF4-FFF2-40B4-BE49-F238E27FC236}">
                <a16:creationId xmlns:a16="http://schemas.microsoft.com/office/drawing/2014/main" id="{66F92DE7-5995-4A29-A2A8-C7AFBB00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A performed better relative to its starting value; B earned more money.</a:t>
            </a:r>
          </a:p>
        </p:txBody>
      </p:sp>
      <p:sp>
        <p:nvSpPr>
          <p:cNvPr id="8" name="case-1">
            <a:extLst xmlns:a="http://schemas.openxmlformats.org/drawingml/2006/main">
              <a:ext uri="{FF2B5EF4-FFF2-40B4-BE49-F238E27FC236}">
                <a16:creationId xmlns:a16="http://schemas.microsoft.com/office/drawing/2014/main" id="{39E14737-612B-4E1E-9835-30D164F2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51530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1615CEE8-98FD-445F-B9CC-84920915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465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Investment A</a:t>
            </a:r>
          </a:p>
        </p:txBody>
      </p:sp>
      <p:sp>
        <p:nvSpPr>
          <p:cNvPr id="10" name="case-body-1">
            <a:extLst xmlns:a="http://schemas.openxmlformats.org/drawingml/2006/main">
              <a:ext uri="{FF2B5EF4-FFF2-40B4-BE49-F238E27FC236}">
                <a16:creationId xmlns:a16="http://schemas.microsoft.com/office/drawing/2014/main" id="{4D7ACA3C-2737-4235-9833-8E324EA2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CNY 200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10%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Higher percentage</a:t>
            </a:r>
          </a:p>
        </p:txBody>
      </p:sp>
      <p:sp>
        <p:nvSpPr>
          <p:cNvPr id="11" name="case-2">
            <a:extLst xmlns:a="http://schemas.openxmlformats.org/drawingml/2006/main">
              <a:ext uri="{FF2B5EF4-FFF2-40B4-BE49-F238E27FC236}">
                <a16:creationId xmlns:a16="http://schemas.microsoft.com/office/drawing/2014/main" id="{F944B306-297E-4FFE-9E4C-05969BDD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09850"/>
            <a:ext cx="51530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BC5F732C-5AA0-4D7F-925F-D063D14DC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38450"/>
            <a:ext cx="465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Investment B</a:t>
            </a:r>
          </a:p>
        </p:txBody>
      </p:sp>
      <p:sp>
        <p:nvSpPr>
          <p:cNvPr id="13" name="case-body-2">
            <a:extLst xmlns:a="http://schemas.openxmlformats.org/drawingml/2006/main">
              <a:ext uri="{FF2B5EF4-FFF2-40B4-BE49-F238E27FC236}">
                <a16:creationId xmlns:a16="http://schemas.microsoft.com/office/drawing/2014/main" id="{E5C40715-67DA-4A41-8C5E-DB9F0D8D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9090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CNY 600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6%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Higher amount</a:t>
            </a:r>
          </a:p>
        </p:txBody>
      </p:sp>
    </p:spTree>
    <p:extLst>
      <p:ext uri="{BB962C8B-B14F-4D97-AF65-F5344CB8AC3E}">
        <p14:creationId xmlns:p14="http://schemas.microsoft.com/office/powerpoint/2010/main" val="203223306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7C93BFD7-0B91-40A1-BA33-06DA0A24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8A316733-A168-4CFB-B299-F397ECF9C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97F5D9C-25E6-4CAB-BDC7-68F33A50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6A77F6E5-CF0F-4FB4-AE0C-4CA2A3F3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34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4ECACA4-1C04-445B-9DF2-395E59C0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Partner check · Compare C and D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8C4F9FC0-1087-44C6-8509-58F257EA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se-prompt">
            <a:extLst xmlns:a="http://schemas.openxmlformats.org/drawingml/2006/main">
              <a:ext uri="{FF2B5EF4-FFF2-40B4-BE49-F238E27FC236}">
                <a16:creationId xmlns:a16="http://schemas.microsoft.com/office/drawing/2014/main" id="{41521D7C-7B30-45B1-AEB5-9A8FDD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Calculate amount and percentage. Then write one fair judgement.</a:t>
            </a:r>
          </a:p>
        </p:txBody>
      </p:sp>
      <p:sp>
        <p:nvSpPr>
          <p:cNvPr id="8" name="case-1">
            <a:extLst xmlns:a="http://schemas.openxmlformats.org/drawingml/2006/main">
              <a:ext uri="{FF2B5EF4-FFF2-40B4-BE49-F238E27FC236}">
                <a16:creationId xmlns:a16="http://schemas.microsoft.com/office/drawing/2014/main" id="{35FFD434-05AB-4B0E-8354-69BD8493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51530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CB30AFA2-FAE0-4800-B468-6555C431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465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" name="case-body-1">
            <a:extLst xmlns:a="http://schemas.openxmlformats.org/drawingml/2006/main">
              <a:ext uri="{FF2B5EF4-FFF2-40B4-BE49-F238E27FC236}">
                <a16:creationId xmlns:a16="http://schemas.microsoft.com/office/drawing/2014/main" id="{56C44F41-325C-4498-A319-B2D4A2D8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Start 4,000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End 4,280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Income 120</a:t>
            </a:r>
          </a:p>
        </p:txBody>
      </p:sp>
      <p:sp>
        <p:nvSpPr>
          <p:cNvPr id="11" name="case-2">
            <a:extLst xmlns:a="http://schemas.openxmlformats.org/drawingml/2006/main">
              <a:ext uri="{FF2B5EF4-FFF2-40B4-BE49-F238E27FC236}">
                <a16:creationId xmlns:a16="http://schemas.microsoft.com/office/drawing/2014/main" id="{79A03ECC-80CD-44D9-9AAA-FD44B07A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09850"/>
            <a:ext cx="51530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5B2B9017-0E72-4118-A93E-7070A43B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38450"/>
            <a:ext cx="465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3" name="case-body-2">
            <a:extLst xmlns:a="http://schemas.openxmlformats.org/drawingml/2006/main">
              <a:ext uri="{FF2B5EF4-FFF2-40B4-BE49-F238E27FC236}">
                <a16:creationId xmlns:a16="http://schemas.microsoft.com/office/drawing/2014/main" id="{8567F568-D298-41EA-BA9B-1D94FB48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9090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Start 8,000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End 8,480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Income 80</a:t>
            </a:r>
          </a:p>
        </p:txBody>
      </p:sp>
    </p:spTree>
    <p:extLst>
      <p:ext uri="{BB962C8B-B14F-4D97-AF65-F5344CB8AC3E}">
        <p14:creationId xmlns:p14="http://schemas.microsoft.com/office/powerpoint/2010/main" val="189469765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9C5B4B3D-5EA8-4A84-BABE-3CF6901C3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49099EDD-734F-440E-AE0F-38137C11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3976A267-2CE3-4D6F-8F71-FFB01523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C81D7C61-5DCD-47FD-B6AC-3CE6D7E1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35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9C6EB99-E69D-42DD-8217-76723CC6D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Partner check · Model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BC4E67EE-6ACE-4DD3-BC52-2D15E08BF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ase-prompt">
            <a:extLst xmlns:a="http://schemas.openxmlformats.org/drawingml/2006/main">
              <a:ext uri="{FF2B5EF4-FFF2-40B4-BE49-F238E27FC236}">
                <a16:creationId xmlns:a16="http://schemas.microsoft.com/office/drawing/2014/main" id="{D2E5EAF5-FA3D-4392-AC74-717160A1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C performed better in percentage terms, although D earned more money.</a:t>
            </a:r>
          </a:p>
        </p:txBody>
      </p:sp>
      <p:sp>
        <p:nvSpPr>
          <p:cNvPr id="8" name="case-1">
            <a:extLst xmlns:a="http://schemas.openxmlformats.org/drawingml/2006/main">
              <a:ext uri="{FF2B5EF4-FFF2-40B4-BE49-F238E27FC236}">
                <a16:creationId xmlns:a16="http://schemas.microsoft.com/office/drawing/2014/main" id="{9C4F397C-2205-4368-9BD2-E2291387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51530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9" name="case-title-1">
            <a:extLst xmlns:a="http://schemas.openxmlformats.org/drawingml/2006/main">
              <a:ext uri="{FF2B5EF4-FFF2-40B4-BE49-F238E27FC236}">
                <a16:creationId xmlns:a16="http://schemas.microsoft.com/office/drawing/2014/main" id="{FDC4ACC7-E0DE-427F-94B5-89B817243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38450"/>
            <a:ext cx="465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1E5B52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E5B52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" name="case-body-1">
            <a:extLst xmlns:a="http://schemas.openxmlformats.org/drawingml/2006/main">
              <a:ext uri="{FF2B5EF4-FFF2-40B4-BE49-F238E27FC236}">
                <a16:creationId xmlns:a16="http://schemas.microsoft.com/office/drawing/2014/main" id="{09705599-0D4E-4D3E-BDEE-47C3A10C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9090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Return CNY 400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10%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Higher percentage</a:t>
            </a:r>
          </a:p>
        </p:txBody>
      </p:sp>
      <p:sp>
        <p:nvSpPr>
          <p:cNvPr id="11" name="case-2">
            <a:extLst xmlns:a="http://schemas.openxmlformats.org/drawingml/2006/main">
              <a:ext uri="{FF2B5EF4-FFF2-40B4-BE49-F238E27FC236}">
                <a16:creationId xmlns:a16="http://schemas.microsoft.com/office/drawing/2014/main" id="{3509AA26-171C-4161-9355-C76EB2A2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609850"/>
            <a:ext cx="51530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case-title-2">
            <a:extLst xmlns:a="http://schemas.openxmlformats.org/drawingml/2006/main">
              <a:ext uri="{FF2B5EF4-FFF2-40B4-BE49-F238E27FC236}">
                <a16:creationId xmlns:a16="http://schemas.microsoft.com/office/drawing/2014/main" id="{95805090-897B-4A6A-AEE0-69F0E50F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38450"/>
            <a:ext cx="4657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3" name="case-body-2">
            <a:extLst xmlns:a="http://schemas.openxmlformats.org/drawingml/2006/main">
              <a:ext uri="{FF2B5EF4-FFF2-40B4-BE49-F238E27FC236}">
                <a16:creationId xmlns:a16="http://schemas.microsoft.com/office/drawing/2014/main" id="{2291937F-3481-4CA6-845F-FADC1892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390900"/>
            <a:ext cx="46196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Return CNY 560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7%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Higher amount</a:t>
            </a:r>
          </a:p>
        </p:txBody>
      </p:sp>
    </p:spTree>
    <p:extLst>
      <p:ext uri="{BB962C8B-B14F-4D97-AF65-F5344CB8AC3E}">
        <p14:creationId xmlns:p14="http://schemas.microsoft.com/office/powerpoint/2010/main" val="207108784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4CB72BF5-EFE8-4A7C-9EC1-66837F76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B6209029-4965-46A1-89B4-745CEB2C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769EE22-57CA-4580-8DAC-EC694D25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94A343F8-95F0-450C-9EC0-60BAABB2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36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4F5E85BF-6527-4403-A6F0-C2185FC7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Stock Market Game · Build an evidence record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84C18838-EBA9-4C58-B67A-3144AC4C2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ecord-panel">
            <a:extLst xmlns:a="http://schemas.openxmlformats.org/drawingml/2006/main">
              <a:ext uri="{FF2B5EF4-FFF2-40B4-BE49-F238E27FC236}">
                <a16:creationId xmlns:a16="http://schemas.microsoft.com/office/drawing/2014/main" id="{B7A85B90-4292-4FCF-91A2-103042B9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5905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record-fields">
            <a:extLst xmlns:a="http://schemas.openxmlformats.org/drawingml/2006/main">
              <a:ext uri="{FF2B5EF4-FFF2-40B4-BE49-F238E27FC236}">
                <a16:creationId xmlns:a16="http://schemas.microsoft.com/office/drawing/2014/main" id="{01B05FA1-F38F-4152-B3DD-889E0C59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085975"/>
            <a:ext cx="5286375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01  Starting portfolio value</a:t>
            </a:r>
          </a:p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02  Ending portfolio value</a:t>
            </a:r>
          </a:p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03  Dividends or interest</a:t>
            </a:r>
          </a:p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04  New deposits/withdrawals</a:t>
            </a:r>
          </a:p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05  Total return</a:t>
            </a:r>
          </a:p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06  Return %</a:t>
            </a:r>
          </a:p>
          <a:p xmlns:a="http://schemas.openxmlformats.org/drawingml/2006/main">
            <a:pPr algn="l">
              <a:defRPr sz="15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07  Measurement period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9c5c7be8b544a7"/>
          <a:srcRect xmlns:a="http://schemas.openxmlformats.org/drawingml/2006/main" l="0" t="15913" r="0" b="159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67550" y="1828800"/>
            <a:ext cx="4381500" cy="4000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274290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1BC4BE49-1EDC-4C16-A2FB-19ED0DB9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F2327127-C61C-4A2E-AC07-2493517B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F2E809E-950A-4B61-B8AC-97B2CC4F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BDC29B4A-36D1-4A04-B911-91245A3F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37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B1F5D707-0FC5-4B3A-8EFB-EAA472E9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Check understanding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192770-E61E-4E93-9A4B-62311475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0DDBE19E-64B6-4819-9FF3-4CFAEBA2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9D767EF9-AB4A-4E08-95E0-CD75B5E3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1019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 fund starts at CNY 2,500, ends at CNY 2,650 and pays CNY 50 income. What is its return percentage?</a:t>
            </a:r>
          </a:p>
        </p:txBody>
      </p:sp>
      <p:sp>
        <p:nvSpPr>
          <p:cNvPr id="9" name="option-1">
            <a:extLst xmlns:a="http://schemas.openxmlformats.org/drawingml/2006/main">
              <a:ext uri="{FF2B5EF4-FFF2-40B4-BE49-F238E27FC236}">
                <a16:creationId xmlns:a16="http://schemas.microsoft.com/office/drawing/2014/main" id="{F43B9CE9-D809-4F8E-B4C9-B35620F7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0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46BE3A46-C451-42DE-8B5E-FAEE7116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  4%</a:t>
            </a:r>
          </a:p>
        </p:txBody>
      </p:sp>
      <p:sp>
        <p:nvSpPr>
          <p:cNvPr id="11" name="option-2">
            <a:extLst xmlns:a="http://schemas.openxmlformats.org/drawingml/2006/main">
              <a:ext uri="{FF2B5EF4-FFF2-40B4-BE49-F238E27FC236}">
                <a16:creationId xmlns:a16="http://schemas.microsoft.com/office/drawing/2014/main" id="{E0E2012C-369C-4AE4-B487-650C89B5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E1281BA1-5F76-4A9C-AB55-A3CB0761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B  6%</a:t>
            </a:r>
          </a:p>
        </p:txBody>
      </p:sp>
      <p:sp>
        <p:nvSpPr>
          <p:cNvPr id="13" name="option-3">
            <a:extLst xmlns:a="http://schemas.openxmlformats.org/drawingml/2006/main">
              <a:ext uri="{FF2B5EF4-FFF2-40B4-BE49-F238E27FC236}">
                <a16:creationId xmlns:a16="http://schemas.microsoft.com/office/drawing/2014/main" id="{0681B519-FBAC-4ABD-A573-4C7978C5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4" name="option-text-3">
            <a:extLst xmlns:a="http://schemas.openxmlformats.org/drawingml/2006/main">
              <a:ext uri="{FF2B5EF4-FFF2-40B4-BE49-F238E27FC236}">
                <a16:creationId xmlns:a16="http://schemas.microsoft.com/office/drawing/2014/main" id="{44DCE5A2-8934-4E9B-A552-586CA29C3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  8%</a:t>
            </a:r>
          </a:p>
        </p:txBody>
      </p:sp>
      <p:sp>
        <p:nvSpPr>
          <p:cNvPr id="15" name="option-4">
            <a:extLst xmlns:a="http://schemas.openxmlformats.org/drawingml/2006/main">
              <a:ext uri="{FF2B5EF4-FFF2-40B4-BE49-F238E27FC236}">
                <a16:creationId xmlns:a16="http://schemas.microsoft.com/office/drawing/2014/main" id="{333DCC5A-1926-41E9-B34A-EC6D8608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6" name="option-text-4">
            <a:extLst xmlns:a="http://schemas.openxmlformats.org/drawingml/2006/main">
              <a:ext uri="{FF2B5EF4-FFF2-40B4-BE49-F238E27FC236}">
                <a16:creationId xmlns:a16="http://schemas.microsoft.com/office/drawing/2014/main" id="{DDC5E085-16A4-4689-BB37-9BED118F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D  10%</a:t>
            </a:r>
          </a:p>
        </p:txBody>
      </p:sp>
    </p:spTree>
    <p:extLst>
      <p:ext uri="{BB962C8B-B14F-4D97-AF65-F5344CB8AC3E}">
        <p14:creationId xmlns:p14="http://schemas.microsoft.com/office/powerpoint/2010/main" val="84611544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5A8753CB-06AB-4536-ABD9-45DB8D64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76DD400E-6143-446F-8CDC-C8EDD60F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855A5F40-B09D-424B-8BD6-73A18D43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AC46D856-00D4-4122-BBEE-432DC7813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38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2509253B-A3B4-4D69-8B40-A9BE3500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Check understanding · Reveal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D0FE679E-1B1C-404B-8F93-69B8D0F3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-surface">
            <a:extLst xmlns:a="http://schemas.openxmlformats.org/drawingml/2006/main">
              <a:ext uri="{FF2B5EF4-FFF2-40B4-BE49-F238E27FC236}">
                <a16:creationId xmlns:a16="http://schemas.microsoft.com/office/drawing/2014/main" id="{CE33BA84-ED6C-4156-B4B0-1401F48C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33550"/>
            <a:ext cx="105727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C86F326C-269B-4BD6-B815-4A269DD5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1019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Total return = (2,650 − 2,500) + 50 = 200</a:t>
            </a:r>
          </a:p>
          <a:p xmlns:a="http://schemas.openxmlformats.org/drawingml/2006/main">
            <a:pPr algn="ctr">
              <a:defRPr sz="1875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200 ÷ 2,500 × 100 = 8%</a:t>
            </a:r>
          </a:p>
        </p:txBody>
      </p:sp>
      <p:sp>
        <p:nvSpPr>
          <p:cNvPr id="9" name="option-1">
            <a:extLst xmlns:a="http://schemas.openxmlformats.org/drawingml/2006/main">
              <a:ext uri="{FF2B5EF4-FFF2-40B4-BE49-F238E27FC236}">
                <a16:creationId xmlns:a16="http://schemas.microsoft.com/office/drawing/2014/main" id="{067C5F55-1500-41DF-BD15-CAF6F14C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0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5AB51C40-D05A-44C1-87AD-B1885042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  4%</a:t>
            </a:r>
          </a:p>
        </p:txBody>
      </p:sp>
      <p:sp>
        <p:nvSpPr>
          <p:cNvPr id="11" name="option-2">
            <a:extLst xmlns:a="http://schemas.openxmlformats.org/drawingml/2006/main">
              <a:ext uri="{FF2B5EF4-FFF2-40B4-BE49-F238E27FC236}">
                <a16:creationId xmlns:a16="http://schemas.microsoft.com/office/drawing/2014/main" id="{9A140899-FF1E-4282-96A3-88227956D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2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763279B5-8BDC-47B7-88A2-17F043A12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B  6%</a:t>
            </a:r>
          </a:p>
        </p:txBody>
      </p:sp>
      <p:sp>
        <p:nvSpPr>
          <p:cNvPr id="13" name="option-3">
            <a:extLst xmlns:a="http://schemas.openxmlformats.org/drawingml/2006/main">
              <a:ext uri="{FF2B5EF4-FFF2-40B4-BE49-F238E27FC236}">
                <a16:creationId xmlns:a16="http://schemas.microsoft.com/office/drawing/2014/main" id="{EA61F06E-874C-4441-9266-0B2DBB54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3"/>
          </a:solidFill>
          <a:ln xmlns:a="http://schemas.openxmlformats.org/drawingml/2006/main" w="28575">
            <a:solidFill>
              <a:srgbClr val="2F8065"/>
            </a:solidFill>
            <a:prstDash val="solid"/>
          </a:ln>
        </p:spPr>
      </p:sp>
      <p:sp>
        <p:nvSpPr>
          <p:cNvPr id="14" name="option-text-3">
            <a:extLst xmlns:a="http://schemas.openxmlformats.org/drawingml/2006/main">
              <a:ext uri="{FF2B5EF4-FFF2-40B4-BE49-F238E27FC236}">
                <a16:creationId xmlns:a16="http://schemas.microsoft.com/office/drawing/2014/main" id="{BDC524DD-5D66-4E04-89C9-BD8D9D1D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C  8%</a:t>
            </a:r>
          </a:p>
        </p:txBody>
      </p:sp>
      <p:sp>
        <p:nvSpPr>
          <p:cNvPr id="15" name="option-4">
            <a:extLst xmlns:a="http://schemas.openxmlformats.org/drawingml/2006/main">
              <a:ext uri="{FF2B5EF4-FFF2-40B4-BE49-F238E27FC236}">
                <a16:creationId xmlns:a16="http://schemas.microsoft.com/office/drawing/2014/main" id="{65760DF2-B758-4B0A-8974-23E841FF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51816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DED0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16" name="option-text-4">
            <a:extLst xmlns:a="http://schemas.openxmlformats.org/drawingml/2006/main">
              <a:ext uri="{FF2B5EF4-FFF2-40B4-BE49-F238E27FC236}">
                <a16:creationId xmlns:a16="http://schemas.microsoft.com/office/drawing/2014/main" id="{87E8D388-1A38-48CB-B893-7CA109A8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533900"/>
            <a:ext cx="51816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0" tIns="114300" rIns="1905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D  10%</a:t>
            </a:r>
          </a:p>
        </p:txBody>
      </p:sp>
    </p:spTree>
    <p:extLst>
      <p:ext uri="{BB962C8B-B14F-4D97-AF65-F5344CB8AC3E}">
        <p14:creationId xmlns:p14="http://schemas.microsoft.com/office/powerpoint/2010/main" val="65418109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A3F4EA51-6B44-4A42-AC78-03B48E6E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AD657F45-DF83-4234-A290-CE8508CA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B424ADD2-8A26-4185-BB9D-90D6B4DDE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ECF22CB4-AABC-40B1-A80C-ADDFFA941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39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C50A0708-C62B-4DBC-89B1-2FD116C6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Short answer · Calculate and interpret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6060E0B1-13B2-41E5-B3F4-56D7DF55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ort-surface">
            <a:extLst xmlns:a="http://schemas.openxmlformats.org/drawingml/2006/main">
              <a:ext uri="{FF2B5EF4-FFF2-40B4-BE49-F238E27FC236}">
                <a16:creationId xmlns:a16="http://schemas.microsoft.com/office/drawing/2014/main" id="{617B2AE6-7468-4CB8-90E1-729617BE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05727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short-prompt">
            <a:extLst xmlns:a="http://schemas.openxmlformats.org/drawingml/2006/main">
              <a:ext uri="{FF2B5EF4-FFF2-40B4-BE49-F238E27FC236}">
                <a16:creationId xmlns:a16="http://schemas.microsoft.com/office/drawing/2014/main" id="{C280A5C1-2436-4F66-A622-E7066C22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05050"/>
            <a:ext cx="97345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An investment starts at CNY 8,000, ends at CNY 8,540 and pays CNY 260 income. Calculate its total return and percentage return. Interpret the result.</a:t>
            </a:r>
          </a:p>
        </p:txBody>
      </p:sp>
    </p:spTree>
    <p:extLst>
      <p:ext uri="{BB962C8B-B14F-4D97-AF65-F5344CB8AC3E}">
        <p14:creationId xmlns:p14="http://schemas.microsoft.com/office/powerpoint/2010/main" val="18100848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1786C128-247F-49E9-9BB3-C72BA7BF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83D1117C-976C-4532-ADDD-CBFF768D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D1564B99-28FB-4CDA-A9D3-ABB23046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083E8D29-F01C-4260-8413-62C6D7631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40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71ECFEB-E165-4B98-910C-4AEACC50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Short answer · Model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76FFBA14-882F-4792-BD73-1C1F28F4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hort-surface">
            <a:extLst xmlns:a="http://schemas.openxmlformats.org/drawingml/2006/main">
              <a:ext uri="{FF2B5EF4-FFF2-40B4-BE49-F238E27FC236}">
                <a16:creationId xmlns:a16="http://schemas.microsoft.com/office/drawing/2014/main" id="{C9495AD6-44E3-46C5-9BD4-79688526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05727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short-prompt">
            <a:extLst xmlns:a="http://schemas.openxmlformats.org/drawingml/2006/main">
              <a:ext uri="{FF2B5EF4-FFF2-40B4-BE49-F238E27FC236}">
                <a16:creationId xmlns:a16="http://schemas.microsoft.com/office/drawing/2014/main" id="{76C0EC7A-27A7-4166-9F3A-B78ECE53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05050"/>
            <a:ext cx="97345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Total return = (8,540 − 8,000) + 260 = CNY 800</a:t>
            </a:r>
          </a:p>
          <a:p xmlns:a="http://schemas.openxmlformats.org/drawingml/2006/main">
            <a:pPr algn="ctr">
              <a:defRPr sz="2100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Return % = 800 ÷ 8,000 × 100 = 10%</a:t>
            </a:r>
          </a:p>
          <a:p xmlns:a="http://schemas.openxmlformats.org/drawingml/2006/main">
            <a:pPr algn="ctr">
              <a:defRPr sz="2100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Therefore, the investment returned 10% over the stated period.</a:t>
            </a:r>
          </a:p>
        </p:txBody>
      </p:sp>
    </p:spTree>
    <p:extLst>
      <p:ext uri="{BB962C8B-B14F-4D97-AF65-F5344CB8AC3E}">
        <p14:creationId xmlns:p14="http://schemas.microsoft.com/office/powerpoint/2010/main" val="419951722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3D1BEB65-D3E1-49C7-8493-042891C6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D1103A3D-D771-41DB-AC03-8C6B5920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4C8D5E9D-4283-4BF7-99DC-95188A17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76E9D07B-C926-4C14-BB1E-6519807B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41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3FB9D401-B969-479B-8A67-037AE065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FD607B22-4411-4DE4-9B3C-368F365E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it-surface">
            <a:extLst xmlns:a="http://schemas.openxmlformats.org/drawingml/2006/main">
              <a:ext uri="{FF2B5EF4-FFF2-40B4-BE49-F238E27FC236}">
                <a16:creationId xmlns:a16="http://schemas.microsoft.com/office/drawing/2014/main" id="{465300DE-6BA5-466B-A1A3-7D63057E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05727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exit-prompt">
            <a:extLst xmlns:a="http://schemas.openxmlformats.org/drawingml/2006/main">
              <a:ext uri="{FF2B5EF4-FFF2-40B4-BE49-F238E27FC236}">
                <a16:creationId xmlns:a16="http://schemas.microsoft.com/office/drawing/2014/main" id="{C8387C87-FBDE-46FF-90DE-AAF1BCD4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05050"/>
            <a:ext cx="97345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Total return = ending value − ______ value + ______.</a:t>
            </a:r>
          </a:p>
          <a:p xmlns:a="http://schemas.openxmlformats.org/drawingml/2006/main">
            <a:pPr algn="l">
              <a:defRPr sz="20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Percentage return is usually fairer when starting amounts are ______.</a:t>
            </a:r>
          </a:p>
          <a:p xmlns:a="http://schemas.openxmlformats.org/drawingml/2006/main">
            <a:pPr algn="l">
              <a:defRPr sz="2025" b="0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In the opening case, ______ had the higher percentage return.</a:t>
            </a:r>
          </a:p>
        </p:txBody>
      </p:sp>
    </p:spTree>
    <p:extLst>
      <p:ext uri="{BB962C8B-B14F-4D97-AF65-F5344CB8AC3E}">
        <p14:creationId xmlns:p14="http://schemas.microsoft.com/office/powerpoint/2010/main" val="153623003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identity-rail">
            <a:extLst xmlns:a="http://schemas.openxmlformats.org/drawingml/2006/main">
              <a:ext uri="{FF2B5EF4-FFF2-40B4-BE49-F238E27FC236}">
                <a16:creationId xmlns:a16="http://schemas.microsoft.com/office/drawing/2014/main" id="{5EBCD6DD-5E7A-4255-8878-BA15CCD9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hapter-marker">
            <a:extLst xmlns:a="http://schemas.openxmlformats.org/drawingml/2006/main">
              <a:ext uri="{FF2B5EF4-FFF2-40B4-BE49-F238E27FC236}">
                <a16:creationId xmlns:a16="http://schemas.microsoft.com/office/drawing/2014/main" id="{15B5A4BA-5442-4E18-8214-6F4F5487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E47F119B-3B43-4E6D-B6BC-41632E49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56B3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C56B3F"/>
                </a:solidFill>
                <a:latin typeface="Arial"/>
                <a:ea typeface="Arial"/>
                <a:cs typeface="Arial"/>
              </a:rPr>
              <a:t>LESSON 02  /  COMPARE &amp; CHECK</a:t>
            </a:r>
          </a:p>
        </p:txBody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829BAE03-D05A-464F-A61B-9FF8E92F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2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6D756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756F"/>
                </a:solidFill>
                <a:latin typeface="Arial"/>
                <a:ea typeface="Arial"/>
                <a:cs typeface="Arial"/>
              </a:rPr>
              <a:t>RETURN / 42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EE51DA15-4160-4C6F-8913-70A84D27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1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5231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5231F"/>
                </a:solidFill>
                <a:latin typeface="Arial"/>
                <a:ea typeface="Arial"/>
                <a:cs typeface="Arial"/>
              </a:rPr>
              <a:t>Exit ticket · Reveal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2F7E62-7713-4992-8220-47655F8E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382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5B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xit-surface">
            <a:extLst xmlns:a="http://schemas.openxmlformats.org/drawingml/2006/main">
              <a:ext uri="{FF2B5EF4-FFF2-40B4-BE49-F238E27FC236}">
                <a16:creationId xmlns:a16="http://schemas.microsoft.com/office/drawing/2014/main" id="{B4448F5D-DB40-4A08-8587-CE7CF38F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10572750" cy="3762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9525">
            <a:solidFill>
              <a:srgbClr val="E6DED0"/>
            </a:solidFill>
            <a:prstDash val="solid"/>
          </a:ln>
        </p:spPr>
      </p:sp>
      <p:sp>
        <p:nvSpPr>
          <p:cNvPr id="8" name="exit-prompt">
            <a:extLst xmlns:a="http://schemas.openxmlformats.org/drawingml/2006/main">
              <a:ext uri="{FF2B5EF4-FFF2-40B4-BE49-F238E27FC236}">
                <a16:creationId xmlns:a16="http://schemas.microsoft.com/office/drawing/2014/main" id="{48247A0C-4DD0-43C2-8A92-D646B5F6F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05050"/>
            <a:ext cx="97345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Total return = ending value − starting value + income.</a:t>
            </a:r>
          </a:p>
          <a:p xmlns:a="http://schemas.openxmlformats.org/drawingml/2006/main">
            <a:pPr algn="l">
              <a:defRPr sz="202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Percentage return is usually fairer when starting amounts are unequal.</a:t>
            </a:r>
          </a:p>
          <a:p xmlns:a="http://schemas.openxmlformats.org/drawingml/2006/main">
            <a:pPr algn="l">
              <a:defRPr sz="2025" b="1" i="0">
                <a:solidFill>
                  <a:srgbClr val="2F806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F8065"/>
                </a:solidFill>
                <a:latin typeface="Arial"/>
                <a:ea typeface="Arial"/>
                <a:cs typeface="Arial"/>
              </a:rPr>
              <a:t>In the opening case, Investment A had the higher percentage return.</a:t>
            </a:r>
          </a:p>
        </p:txBody>
      </p:sp>
    </p:spTree>
    <p:extLst>
      <p:ext uri="{BB962C8B-B14F-4D97-AF65-F5344CB8AC3E}">
        <p14:creationId xmlns:p14="http://schemas.microsoft.com/office/powerpoint/2010/main" val="306184609"/>
      </p:ext>
    </p:extLst>
  </p:cSld>
</p:sld>
</file>

<file path=ppt/theme/theme1.xml><?xml version="1.0" encoding="utf-8"?>
<a:theme xmlns:a="http://schemas.openxmlformats.org/drawingml/2006/main" name="ChatGPT">
  <a:themeElements>
    <a:clrScheme name="Investment Ledger">
      <a:dk1>
        <a:srgbClr val="000000"/>
      </a:dk1>
      <a:lt1>
        <a:srgbClr val="FFFFFF"/>
      </a:lt1>
      <a:dk2>
        <a:srgbClr val="15231F"/>
      </a:dk2>
      <a:lt2>
        <a:srgbClr val="E6DED0"/>
      </a:lt2>
      <a:accent1>
        <a:srgbClr val="1E5B52"/>
      </a:accent1>
      <a:accent2>
        <a:srgbClr val="C56B3F"/>
      </a:accent2>
      <a:accent3>
        <a:srgbClr val="D3A63C"/>
      </a:accent3>
      <a:accent4>
        <a:srgbClr val="B94C45"/>
      </a:accent4>
      <a:accent5>
        <a:srgbClr val="6C557D"/>
      </a:accent5>
      <a:accent6>
        <a:srgbClr val="2F8065"/>
      </a:accent6>
      <a:hlink>
        <a:srgbClr val="1E5B52"/>
      </a:hlink>
      <a:folHlink>
        <a:srgbClr val="6C55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Investment Ledg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2026-09-03T04:24:54.1010000Z</dcterms:created>
  <dcterms:modified xsi:type="dcterms:W3CDTF">2026-09-03T04:24:54.1010000Z</dcterms:modified>
</coreProperties>
</file>