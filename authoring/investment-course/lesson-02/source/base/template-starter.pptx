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6a4cfcf1e5d47ba" /><Relationship Type="http://schemas.openxmlformats.org/officeDocument/2006/relationships/extended-properties" Target="/docProps/app.xml" Id="Rcd885f578aab49d2" /><Relationship Type="http://schemas.openxmlformats.org/officeDocument/2006/relationships/officeDocument" Target="/ppt/presentation.xml" Id="R619c2bbced28444e" /></Relationships>
</file>

<file path=ppt/presentation.xml><?xml version="1.0" encoding="utf-8"?>
<p:presentation xmlns:p="http://schemas.openxmlformats.org/presentationml/2006/main">
  <p:sldMasterIdLst>
    <p:sldMasterId xmlns:r="http://schemas.openxmlformats.org/officeDocument/2006/relationships" id="2147483648" r:id="R031be30d173e493a"/>
  </p:sldMasterIdLst>
  <p:notesMasterIdLst>
    <p:notesMasterId xmlns:r="http://schemas.openxmlformats.org/officeDocument/2006/relationships" r:id="R11638da8f9a14f48"/>
  </p:notesMasterIdLst>
  <p:sldIdLst>
    <p:sldId xmlns:r="http://schemas.openxmlformats.org/officeDocument/2006/relationships" id="256" r:id="Rc9fe17a838c84da0"/>
    <p:sldId xmlns:r="http://schemas.openxmlformats.org/officeDocument/2006/relationships" id="257" r:id="Rec3727a6b09e4149"/>
    <p:sldId xmlns:r="http://schemas.openxmlformats.org/officeDocument/2006/relationships" id="258" r:id="R831ffebe854144c8"/>
    <p:sldId xmlns:r="http://schemas.openxmlformats.org/officeDocument/2006/relationships" id="259" r:id="R4fb2808917f54def"/>
    <p:sldId xmlns:r="http://schemas.openxmlformats.org/officeDocument/2006/relationships" id="260" r:id="Rec9d2e8607984f7e"/>
    <p:sldId xmlns:r="http://schemas.openxmlformats.org/officeDocument/2006/relationships" id="261" r:id="Rb2fd14afcf804907"/>
    <p:sldId xmlns:r="http://schemas.openxmlformats.org/officeDocument/2006/relationships" id="262" r:id="R31020352ef964b8f"/>
    <p:sldId xmlns:r="http://schemas.openxmlformats.org/officeDocument/2006/relationships" id="263" r:id="R073706d52ff349ed"/>
    <p:sldId xmlns:r="http://schemas.openxmlformats.org/officeDocument/2006/relationships" id="264" r:id="Rde3ab3f6b45a4fe7"/>
    <p:sldId xmlns:r="http://schemas.openxmlformats.org/officeDocument/2006/relationships" id="265" r:id="Rfe0ffef57a91488c"/>
    <p:sldId xmlns:r="http://schemas.openxmlformats.org/officeDocument/2006/relationships" id="266" r:id="R40d81b87258e48ae"/>
    <p:sldId xmlns:r="http://schemas.openxmlformats.org/officeDocument/2006/relationships" id="267" r:id="R521a4c981f41424f"/>
    <p:sldId xmlns:r="http://schemas.openxmlformats.org/officeDocument/2006/relationships" id="268" r:id="R87569911f04648f9"/>
    <p:sldId xmlns:r="http://schemas.openxmlformats.org/officeDocument/2006/relationships" id="269" r:id="R4670108bc19b4664"/>
    <p:sldId xmlns:r="http://schemas.openxmlformats.org/officeDocument/2006/relationships" id="270" r:id="R14f29164f8214b3f"/>
    <p:sldId xmlns:r="http://schemas.openxmlformats.org/officeDocument/2006/relationships" id="271" r:id="R2c9539377ff64ad5"/>
    <p:sldId xmlns:r="http://schemas.openxmlformats.org/officeDocument/2006/relationships" id="272" r:id="Re7d85d36c03e4fe4"/>
    <p:sldId xmlns:r="http://schemas.openxmlformats.org/officeDocument/2006/relationships" id="273" r:id="R2f91906b6608478b"/>
    <p:sldId xmlns:r="http://schemas.openxmlformats.org/officeDocument/2006/relationships" id="274" r:id="Rdd510100dc364a04"/>
    <p:sldId xmlns:r="http://schemas.openxmlformats.org/officeDocument/2006/relationships" id="275" r:id="R743f6b2223904500"/>
    <p:sldId xmlns:r="http://schemas.openxmlformats.org/officeDocument/2006/relationships" id="276" r:id="Rdec87376898f49d7"/>
    <p:sldId xmlns:r="http://schemas.openxmlformats.org/officeDocument/2006/relationships" id="277" r:id="Rc2f5d0d7c24443a9"/>
    <p:sldId xmlns:r="http://schemas.openxmlformats.org/officeDocument/2006/relationships" id="278" r:id="R0ba0be2a20b64bd6"/>
    <p:sldId xmlns:r="http://schemas.openxmlformats.org/officeDocument/2006/relationships" id="279" r:id="R9d8909e7a6ff4741"/>
    <p:sldId xmlns:r="http://schemas.openxmlformats.org/officeDocument/2006/relationships" id="280" r:id="R7573934e3ccb4a0d"/>
    <p:sldId xmlns:r="http://schemas.openxmlformats.org/officeDocument/2006/relationships" id="281" r:id="R82c6dc0e952841ea"/>
    <p:sldId xmlns:r="http://schemas.openxmlformats.org/officeDocument/2006/relationships" id="282" r:id="R5491c20aba664788"/>
    <p:sldId xmlns:r="http://schemas.openxmlformats.org/officeDocument/2006/relationships" id="283" r:id="R3d9c69cf50ef4596"/>
    <p:sldId xmlns:r="http://schemas.openxmlformats.org/officeDocument/2006/relationships" id="284" r:id="R6ab43e671f394e0a"/>
    <p:sldId xmlns:r="http://schemas.openxmlformats.org/officeDocument/2006/relationships" id="285" r:id="R043fb7b7966646bc"/>
    <p:sldId xmlns:r="http://schemas.openxmlformats.org/officeDocument/2006/relationships" id="286" r:id="Rbe41d3a211b74ce3"/>
    <p:sldId xmlns:r="http://schemas.openxmlformats.org/officeDocument/2006/relationships" id="287" r:id="Rc750b12c17254485"/>
    <p:sldId xmlns:r="http://schemas.openxmlformats.org/officeDocument/2006/relationships" id="288" r:id="Rbcc1fdfb85864fbf"/>
    <p:sldId xmlns:r="http://schemas.openxmlformats.org/officeDocument/2006/relationships" id="289" r:id="Rf08a481f36974957"/>
    <p:sldId xmlns:r="http://schemas.openxmlformats.org/officeDocument/2006/relationships" id="290" r:id="Ra6edcde77470487e"/>
    <p:sldId xmlns:r="http://schemas.openxmlformats.org/officeDocument/2006/relationships" id="291" r:id="R10427e148b1c484a"/>
    <p:sldId xmlns:r="http://schemas.openxmlformats.org/officeDocument/2006/relationships" id="292" r:id="R3345b588dd5f453f"/>
    <p:sldId xmlns:r="http://schemas.openxmlformats.org/officeDocument/2006/relationships" id="293" r:id="R7b92a2c032d94f68"/>
    <p:sldId xmlns:r="http://schemas.openxmlformats.org/officeDocument/2006/relationships" id="294" r:id="Ra8dcb24c628541a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a569358b611a4db9" /><Relationship Type="http://schemas.openxmlformats.org/officeDocument/2006/relationships/slideMaster" Target="/ppt/slideMasters/slideMaster1.xml" Id="R031be30d173e493a" /><Relationship Type="http://schemas.openxmlformats.org/officeDocument/2006/relationships/notesMaster" Target="/ppt/notesMasters/notesMaster1.xml" Id="R11638da8f9a14f48" /><Relationship Type="http://schemas.openxmlformats.org/officeDocument/2006/relationships/presProps" Target="/ppt/presProps.xml" Id="R71ec5c7599b84704" /><Relationship Type="http://schemas.openxmlformats.org/officeDocument/2006/relationships/viewProps" Target="/ppt/viewProps.xml" Id="R62b155bedf2e4d7b" /><Relationship Type="http://schemas.openxmlformats.org/officeDocument/2006/relationships/tableStyles" Target="/ppt/tableStyles.xml" Id="R3553c9827f294444" /><Relationship Type="http://schemas.openxmlformats.org/officeDocument/2006/relationships/slide" Target="/ppt/slides/slide1.xml" Id="Rc9fe17a838c84da0" /><Relationship Type="http://schemas.openxmlformats.org/officeDocument/2006/relationships/slide" Target="/ppt/slides/slide2.xml" Id="Rec3727a6b09e4149" /><Relationship Type="http://schemas.openxmlformats.org/officeDocument/2006/relationships/slide" Target="/ppt/slides/slide3.xml" Id="R831ffebe854144c8" /><Relationship Type="http://schemas.openxmlformats.org/officeDocument/2006/relationships/slide" Target="/ppt/slides/slide4.xml" Id="R4fb2808917f54def" /><Relationship Type="http://schemas.openxmlformats.org/officeDocument/2006/relationships/slide" Target="/ppt/slides/slide5.xml" Id="Rec9d2e8607984f7e" /><Relationship Type="http://schemas.openxmlformats.org/officeDocument/2006/relationships/slide" Target="/ppt/slides/slide6.xml" Id="Rb2fd14afcf804907" /><Relationship Type="http://schemas.openxmlformats.org/officeDocument/2006/relationships/slide" Target="/ppt/slides/slide7.xml" Id="R31020352ef964b8f" /><Relationship Type="http://schemas.openxmlformats.org/officeDocument/2006/relationships/slide" Target="/ppt/slides/slide8.xml" Id="R073706d52ff349ed" /><Relationship Type="http://schemas.openxmlformats.org/officeDocument/2006/relationships/slide" Target="/ppt/slides/slide9.xml" Id="Rde3ab3f6b45a4fe7" /><Relationship Type="http://schemas.openxmlformats.org/officeDocument/2006/relationships/slide" Target="/ppt/slides/slide10.xml" Id="Rfe0ffef57a91488c" /><Relationship Type="http://schemas.openxmlformats.org/officeDocument/2006/relationships/slide" Target="/ppt/slides/slide11.xml" Id="R40d81b87258e48ae" /><Relationship Type="http://schemas.openxmlformats.org/officeDocument/2006/relationships/slide" Target="/ppt/slides/slide12.xml" Id="R521a4c981f41424f" /><Relationship Type="http://schemas.openxmlformats.org/officeDocument/2006/relationships/slide" Target="/ppt/slides/slide13.xml" Id="R87569911f04648f9" /><Relationship Type="http://schemas.openxmlformats.org/officeDocument/2006/relationships/slide" Target="/ppt/slides/slide14.xml" Id="R4670108bc19b4664" /><Relationship Type="http://schemas.openxmlformats.org/officeDocument/2006/relationships/slide" Target="/ppt/slides/slide15.xml" Id="R14f29164f8214b3f" /><Relationship Type="http://schemas.openxmlformats.org/officeDocument/2006/relationships/slide" Target="/ppt/slides/slide16.xml" Id="R2c9539377ff64ad5" /><Relationship Type="http://schemas.openxmlformats.org/officeDocument/2006/relationships/slide" Target="/ppt/slides/slide17.xml" Id="Re7d85d36c03e4fe4" /><Relationship Type="http://schemas.openxmlformats.org/officeDocument/2006/relationships/slide" Target="/ppt/slides/slide18.xml" Id="R2f91906b6608478b" /><Relationship Type="http://schemas.openxmlformats.org/officeDocument/2006/relationships/slide" Target="/ppt/slides/slide19.xml" Id="Rdd510100dc364a04" /><Relationship Type="http://schemas.openxmlformats.org/officeDocument/2006/relationships/slide" Target="/ppt/slides/slide20.xml" Id="R743f6b2223904500" /><Relationship Type="http://schemas.openxmlformats.org/officeDocument/2006/relationships/slide" Target="/ppt/slides/slide21.xml" Id="Rdec87376898f49d7" /><Relationship Type="http://schemas.openxmlformats.org/officeDocument/2006/relationships/slide" Target="/ppt/slides/slide22.xml" Id="Rc2f5d0d7c24443a9" /><Relationship Type="http://schemas.openxmlformats.org/officeDocument/2006/relationships/slide" Target="/ppt/slides/slide23.xml" Id="R0ba0be2a20b64bd6" /><Relationship Type="http://schemas.openxmlformats.org/officeDocument/2006/relationships/slide" Target="/ppt/slides/slide24.xml" Id="R9d8909e7a6ff4741" /><Relationship Type="http://schemas.openxmlformats.org/officeDocument/2006/relationships/slide" Target="/ppt/slides/slide25.xml" Id="R7573934e3ccb4a0d" /><Relationship Type="http://schemas.openxmlformats.org/officeDocument/2006/relationships/slide" Target="/ppt/slides/slide26.xml" Id="R82c6dc0e952841ea" /><Relationship Type="http://schemas.openxmlformats.org/officeDocument/2006/relationships/slide" Target="/ppt/slides/slide27.xml" Id="R5491c20aba664788" /><Relationship Type="http://schemas.openxmlformats.org/officeDocument/2006/relationships/slide" Target="/ppt/slides/slide28.xml" Id="R3d9c69cf50ef4596" /><Relationship Type="http://schemas.openxmlformats.org/officeDocument/2006/relationships/slide" Target="/ppt/slides/slide29.xml" Id="R6ab43e671f394e0a" /><Relationship Type="http://schemas.openxmlformats.org/officeDocument/2006/relationships/slide" Target="/ppt/slides/slide30.xml" Id="R043fb7b7966646bc" /><Relationship Type="http://schemas.openxmlformats.org/officeDocument/2006/relationships/slide" Target="/ppt/slides/slide31.xml" Id="Rbe41d3a211b74ce3" /><Relationship Type="http://schemas.openxmlformats.org/officeDocument/2006/relationships/slide" Target="/ppt/slides/slide32.xml" Id="Rc750b12c17254485" /><Relationship Type="http://schemas.openxmlformats.org/officeDocument/2006/relationships/slide" Target="/ppt/slides/slide33.xml" Id="Rbcc1fdfb85864fbf" /><Relationship Type="http://schemas.openxmlformats.org/officeDocument/2006/relationships/slide" Target="/ppt/slides/slide34.xml" Id="Rf08a481f36974957" /><Relationship Type="http://schemas.openxmlformats.org/officeDocument/2006/relationships/slide" Target="/ppt/slides/slide35.xml" Id="Ra6edcde77470487e" /><Relationship Type="http://schemas.openxmlformats.org/officeDocument/2006/relationships/slide" Target="/ppt/slides/slide36.xml" Id="R10427e148b1c484a" /><Relationship Type="http://schemas.openxmlformats.org/officeDocument/2006/relationships/slide" Target="/ppt/slides/slide37.xml" Id="R3345b588dd5f453f" /><Relationship Type="http://schemas.openxmlformats.org/officeDocument/2006/relationships/slide" Target="/ppt/slides/slide38.xml" Id="R7b92a2c032d94f68" /><Relationship Type="http://schemas.openxmlformats.org/officeDocument/2006/relationships/slide" Target="/ppt/slides/slide39.xml" Id="Ra8dcb24c628541a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90e0123aed143e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2007 - 2010">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48545f63ca14180" /><Relationship Type="http://schemas.openxmlformats.org/officeDocument/2006/relationships/notesMaster" Target="/ppt/notesMasters/notesMaster1.xml" Id="Rfe8f6dcde32547d7" /></Relationships>
</file>

<file path=ppt/notesSlides/_rels/notesSlide2.xml.rels>&#65279;<?xml version="1.0" encoding="utf-8"?><Relationships xmlns="http://schemas.openxmlformats.org/package/2006/relationships"><Relationship Type="http://schemas.openxmlformats.org/officeDocument/2006/relationships/slide" Target="/ppt/slides/slide2.xml" Id="R77328bb8afef4246" /><Relationship Type="http://schemas.openxmlformats.org/officeDocument/2006/relationships/notesMaster" Target="/ppt/notesMasters/notesMaster1.xml" Id="R1aea0f39037e47b8" /></Relationships>
</file>

<file path=ppt/notesSlides/_rels/notesSlide3.xml.rels>&#65279;<?xml version="1.0" encoding="utf-8"?><Relationships xmlns="http://schemas.openxmlformats.org/package/2006/relationships"><Relationship Type="http://schemas.openxmlformats.org/officeDocument/2006/relationships/slide" Target="/ppt/slides/slide3.xml" Id="R1434d1abe0b14d8e" /><Relationship Type="http://schemas.openxmlformats.org/officeDocument/2006/relationships/notesMaster" Target="/ppt/notesMasters/notesMaster1.xml" Id="Rd924cfe892824e4f" /></Relationships>
</file>

<file path=ppt/notesSlides/_rels/notesSlide4.xml.rels>&#65279;<?xml version="1.0" encoding="utf-8"?><Relationships xmlns="http://schemas.openxmlformats.org/package/2006/relationships"><Relationship Type="http://schemas.openxmlformats.org/officeDocument/2006/relationships/slide" Target="/ppt/slides/slide4.xml" Id="R973489b5ebad445c" /><Relationship Type="http://schemas.openxmlformats.org/officeDocument/2006/relationships/notesMaster" Target="/ppt/notesMasters/notesMaster1.xml" Id="R05f49c6f4aa5459b" /></Relationships>
</file>

<file path=ppt/notesSlides/_rels/notesSlide5.xml.rels>&#65279;<?xml version="1.0" encoding="utf-8"?><Relationships xmlns="http://schemas.openxmlformats.org/package/2006/relationships"><Relationship Type="http://schemas.openxmlformats.org/officeDocument/2006/relationships/slide" Target="/ppt/slides/slide5.xml" Id="R36f03e6d683f4e9d" /><Relationship Type="http://schemas.openxmlformats.org/officeDocument/2006/relationships/notesMaster" Target="/ppt/notesMasters/notesMaster1.xml" Id="Red9e73efe5b040c2" /></Relationships>
</file>

<file path=ppt/notesSlides/_rels/notesSlide6.xml.rels>&#65279;<?xml version="1.0" encoding="utf-8"?><Relationships xmlns="http://schemas.openxmlformats.org/package/2006/relationships"><Relationship Type="http://schemas.openxmlformats.org/officeDocument/2006/relationships/slide" Target="/ppt/slides/slide6.xml" Id="R1aff75974a474b29" /><Relationship Type="http://schemas.openxmlformats.org/officeDocument/2006/relationships/notesMaster" Target="/ppt/notesMasters/notesMaster1.xml" Id="R4161b5c52ab94c0e" /></Relationships>
</file>

<file path=ppt/notesSlides/_rels/notesSlide7.xml.rels>&#65279;<?xml version="1.0" encoding="utf-8"?><Relationships xmlns="http://schemas.openxmlformats.org/package/2006/relationships"><Relationship Type="http://schemas.openxmlformats.org/officeDocument/2006/relationships/slide" Target="/ppt/slides/slide7.xml" Id="R35f8f2c3df3e415d" /><Relationship Type="http://schemas.openxmlformats.org/officeDocument/2006/relationships/notesMaster" Target="/ppt/notesMasters/notesMaster1.xml" Id="Rbf145d910b66410e" /></Relationships>
</file>

<file path=ppt/notesSlides/_rels/notesSlide8.xml.rels>&#65279;<?xml version="1.0" encoding="utf-8"?><Relationships xmlns="http://schemas.openxmlformats.org/package/2006/relationships"><Relationship Type="http://schemas.openxmlformats.org/officeDocument/2006/relationships/slide" Target="/ppt/slides/slide8.xml" Id="Rb159fa12a9644da2" /><Relationship Type="http://schemas.openxmlformats.org/officeDocument/2006/relationships/notesMaster" Target="/ppt/notesMasters/notesMaster1.xml" Id="R37db030482c54a4a" /></Relationships>
</file>

<file path=ppt/notesSlides/_rels/notesSlide9.xml.rels>&#65279;<?xml version="1.0" encoding="utf-8"?><Relationships xmlns="http://schemas.openxmlformats.org/package/2006/relationships"><Relationship Type="http://schemas.openxmlformats.org/officeDocument/2006/relationships/slide" Target="/ppt/slides/slide9.xml" Id="Rad1142b9fb8d40bc" /><Relationship Type="http://schemas.openxmlformats.org/officeDocument/2006/relationships/notesMaster" Target="/ppt/notesMasters/notesMaster1.xml" Id="Re788421cba5841a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ab2de314380427c" /><Relationship Type="http://schemas.openxmlformats.org/officeDocument/2006/relationships/notesMaster" Target="/ppt/notesMasters/notesMaster1.xml" Id="R3cc65abb4d42458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dddb1f713444a2d" /><Relationship Type="http://schemas.openxmlformats.org/officeDocument/2006/relationships/notesMaster" Target="/ppt/notesMasters/notesMaster1.xml" Id="R76a98f909b9c4d9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97fec2067db4dcf" /><Relationship Type="http://schemas.openxmlformats.org/officeDocument/2006/relationships/notesMaster" Target="/ppt/notesMasters/notesMaster1.xml" Id="R89d7606abef24e9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278f279d89a45c3" /><Relationship Type="http://schemas.openxmlformats.org/officeDocument/2006/relationships/notesMaster" Target="/ppt/notesMasters/notesMaster1.xml" Id="Rcc07534acec5465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51f23598b184c5e" /><Relationship Type="http://schemas.openxmlformats.org/officeDocument/2006/relationships/notesMaster" Target="/ppt/notesMasters/notesMaster1.xml" Id="Rc486e74b9a1c462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23808361b01483e" /><Relationship Type="http://schemas.openxmlformats.org/officeDocument/2006/relationships/notesMaster" Target="/ppt/notesMasters/notesMaster1.xml" Id="R3a7adbbed86b4631"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3fe28f777e847fa" /><Relationship Type="http://schemas.openxmlformats.org/officeDocument/2006/relationships/notesMaster" Target="/ppt/notesMasters/notesMaster1.xml" Id="Radf69f2b69e94f94"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5b87ba615936434b" /><Relationship Type="http://schemas.openxmlformats.org/officeDocument/2006/relationships/notesMaster" Target="/ppt/notesMasters/notesMaster1.xml" Id="R40c845389f744209"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1ad679a612754120" /><Relationship Type="http://schemas.openxmlformats.org/officeDocument/2006/relationships/notesMaster" Target="/ppt/notesMasters/notesMaster1.xml" Id="R0133ed3ad27a4703"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992abf369e904272" /><Relationship Type="http://schemas.openxmlformats.org/officeDocument/2006/relationships/notesMaster" Target="/ppt/notesMasters/notesMaster1.xml" Id="R85e010e8fc4f47d7"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bc631676d3e84ed2" /><Relationship Type="http://schemas.openxmlformats.org/officeDocument/2006/relationships/notesMaster" Target="/ppt/notesMasters/notesMaster1.xml" Id="R83a9f9bc549e4f4e"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4875e3ef6f2d4edb" /><Relationship Type="http://schemas.openxmlformats.org/officeDocument/2006/relationships/notesMaster" Target="/ppt/notesMasters/notesMaster1.xml" Id="R81c0333cb241414a"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b03dcc2b81ea4778" /><Relationship Type="http://schemas.openxmlformats.org/officeDocument/2006/relationships/notesMaster" Target="/ppt/notesMasters/notesMaster1.xml" Id="Rc3cb3edfcd6840af"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2316173520cc496a" /><Relationship Type="http://schemas.openxmlformats.org/officeDocument/2006/relationships/notesMaster" Target="/ppt/notesMasters/notesMaster1.xml" Id="R8ed03803b7cc4a41"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d20428c3abd84d49" /><Relationship Type="http://schemas.openxmlformats.org/officeDocument/2006/relationships/notesMaster" Target="/ppt/notesMasters/notesMaster1.xml" Id="R2204c450e0164cd4"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46ffc2a71c284fe1" /><Relationship Type="http://schemas.openxmlformats.org/officeDocument/2006/relationships/notesMaster" Target="/ppt/notesMasters/notesMaster1.xml" Id="R411467ac01304bfb"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9749818d16044a32" /><Relationship Type="http://schemas.openxmlformats.org/officeDocument/2006/relationships/notesMaster" Target="/ppt/notesMasters/notesMaster1.xml" Id="R00a82d43d7094795"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4bcd154db7974a78" /><Relationship Type="http://schemas.openxmlformats.org/officeDocument/2006/relationships/notesMaster" Target="/ppt/notesMasters/notesMaster1.xml" Id="R55c3c8c66b6e4927"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9dd25805064b4e5a" /><Relationship Type="http://schemas.openxmlformats.org/officeDocument/2006/relationships/notesMaster" Target="/ppt/notesMasters/notesMaster1.xml" Id="R1ac80b26beb24814"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069eb6279611425f" /><Relationship Type="http://schemas.openxmlformats.org/officeDocument/2006/relationships/notesMaster" Target="/ppt/notesMasters/notesMaster1.xml" Id="R1efa26e9d70947c7"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f43bc9b70abe4b2d" /><Relationship Type="http://schemas.openxmlformats.org/officeDocument/2006/relationships/notesMaster" Target="/ppt/notesMasters/notesMaster1.xml" Id="Refdf1ce97ab44d49"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336adf38d9eb42c0" /><Relationship Type="http://schemas.openxmlformats.org/officeDocument/2006/relationships/notesMaster" Target="/ppt/notesMasters/notesMaster1.xml" Id="R496bce203f754ee8"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59019d6f27ca405d" /><Relationship Type="http://schemas.openxmlformats.org/officeDocument/2006/relationships/notesMaster" Target="/ppt/notesMasters/notesMaster1.xml" Id="Rdb6392207ff044d9"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3cda6d60a6d84ba6" /><Relationship Type="http://schemas.openxmlformats.org/officeDocument/2006/relationships/notesMaster" Target="/ppt/notesMasters/notesMaster1.xml" Id="R6784f8467f934396"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2baee839be8b4d36" /><Relationship Type="http://schemas.openxmlformats.org/officeDocument/2006/relationships/notesMaster" Target="/ppt/notesMasters/notesMaster1.xml" Id="R4f45f64aef544a9e"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6e0b3e10433d4700" /><Relationship Type="http://schemas.openxmlformats.org/officeDocument/2006/relationships/notesMaster" Target="/ppt/notesMasters/notesMaster1.xml" Id="R9ac6eb1ec7fc4e7e"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d4184b9919d04b14" /><Relationship Type="http://schemas.openxmlformats.org/officeDocument/2006/relationships/notesMaster" Target="/ppt/notesMasters/notesMaster1.xml" Id="Rfb26ae2b8687439e"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c81393aab60e472b" /><Relationship Type="http://schemas.openxmlformats.org/officeDocument/2006/relationships/notesMaster" Target="/ppt/notesMasters/notesMaster1.xml" Id="Rf40ba99e85fb4ed1"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3606827d09e04aa6" /><Relationship Type="http://schemas.openxmlformats.org/officeDocument/2006/relationships/notesMaster" Target="/ppt/notesMasters/notesMaster1.xml" Id="R9405f8b6b9ce43e0"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0a8bfc2344fa4d6d" /><Relationship Type="http://schemas.openxmlformats.org/officeDocument/2006/relationships/notesMaster" Target="/ppt/notesMasters/notesMaster1.xml" Id="R8a0892c0a73c45b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C:/Users/oehle/Documents/investment-course/lesson-01/Lesson 01 - What is investment - handout v2.docx</a:t>
            </a:r>
          </a:p>
          <a:p xmlns:a="http://schemas.openxmlformats.org/drawingml/2006/main">
            <a:r>
              <a:t>- https://www.apec2026.cn/node_196.html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https://www.cnbc.com/2019/12/18/how-to-build-an-emergency-savings-fund.html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C:/Users/oehle/Documents/investment-course/lesson-01/Lesson 01 - What is investment - handout v2.docx</a:t>
            </a:r>
          </a:p>
          <a:p xmlns:a="http://schemas.openxmlformats.org/drawingml/2006/main">
            <a:r>
              <a:t>- C:/Users/oehle/Documents/igcse-term-outlines/outputs/investment-course-one-semester/Investment and Financial Decision-Making - 2026-27 Semester 1 Bilingual Department Leadership Learning Summary.pdf</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https://uk.finance.yahoo.com/news/investing-money-savings-risks-finances-050038406.html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C:/Users/oehle/Documents/investment-course/lesson-01/Lesson 01 - What is investment - handout v2.docx</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C:/Users/oehle/Documents/investment-course/lesson-01/Lesson 01 - What is investment - handout v2.docx</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C:/Users/oehle/Documents/investment-course/lesson-01/Lesson 01 - What is investment - handout v2.docx</a:t>
            </a:r>
          </a:p>
          <a:p xmlns:a="http://schemas.openxmlformats.org/drawingml/2006/main">
            <a:r>
              <a:t>- C:/Users/oehle/Documents/igcse-term-outlines/outputs/investment-course-one-semester/Investment and Financial Decision-Making - 2026-27 Semester 1 Bilingual Department Leadership Learning Summary.pdf</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C:/Users/oehle/Documents/investment-course/lesson-01/Lesson 01 - What is investment - handout v2.docx</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C:/Users/oehle/Documents/investment-course/lesson-01/Lesson 01 - What is investment - handout v2.docx</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C:/Users/oehle/Documents/investment-course/lesson-01/Lesson 01 - What is investment - handout v2.docx</a:t>
            </a:r>
          </a:p>
          <a:p xmlns:a="http://schemas.openxmlformats.org/drawingml/2006/main">
            <a:r>
              <a:t>- C:/Users/oehle/Documents/igcse-term-outlines/outputs/investment-course-one-semester/Investment and Financial Decision-Making - 2026-27 Semester 1 Bilingual Department Leadership Learning Summary.pdf</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C:/Users/oehle/Documents/investment-course/lesson-01/Lesson 01 - What is investment - handout v2.docx</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C:/Users/oehle/Documents/investment-course/lesson-01/Lesson 01 - What is investment - handout v2.docx</a:t>
            </a:r>
          </a:p>
          <a:p xmlns:a="http://schemas.openxmlformats.org/drawingml/2006/main">
            <a:r>
              <a:t>- C:/Users/oehle/Documents/igcse-term-outlines/outputs/investment-course-one-semester/Investment and Financial Decision-Making - 2026-27 Semester 1 Bilingual Department Leadership Learning Summary.pdf</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C:/Users/oehle/Documents/investment-course/lesson-01/Lesson 01 - What is investment - handout v2.docx</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C:/Users/oehle/Documents/investment-course/lesson-01/Lesson 01 - What is investment - handout v2.docx</a:t>
            </a:r>
          </a:p>
          <a:p xmlns:a="http://schemas.openxmlformats.org/drawingml/2006/main">
            <a:r>
              <a:t>- C:/Users/oehle/Documents/igcse-term-outlines/outputs/investment-course-one-semester/Investment and Financial Decision-Making - 2026-27 Semester 1 Bilingual Department Leadership Learning Summary.pdf</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C:/Users/oehle/Documents/investment-course/lesson-01/Lesson 01 - What is investment - handout v2.docx</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C:/Users/oehle/Documents/investment-course/lesson-01/Lesson 01 - What is investment - handout v2.docx</a:t>
            </a:r>
          </a:p>
          <a:p xmlns:a="http://schemas.openxmlformats.org/drawingml/2006/main">
            <a:r>
              <a:t>- C:/Users/oehle/Documents/igcse-term-outlines/outputs/investment-course-one-semester/Investment and Financial Decision-Making - 2026-27 Semester 1 Bilingual Department Leadership Learning Summary.pdf</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C:/Users/oehle/Documents/investment-course/lesson-01/Lesson 01 - What is investment - handout v2.docx</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C:/Users/oehle/Documents/investment-course/lesson-01/Lesson 01 - What is investment - handout v2.docx</a:t>
            </a:r>
          </a:p>
          <a:p xmlns:a="http://schemas.openxmlformats.org/drawingml/2006/main">
            <a:r>
              <a:t>- C:/Users/oehle/Documents/igcse-term-outlines/outputs/investment-course-one-semester/Investment and Financial Decision-Making - 2026-27 Semester 1 Bilingual Department Leadership Learning Summary.pdf</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C:/Users/oehle/Documents/investment-course/lesson-01/Lesson 01 - What is investment - handout v2.docx</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C:/Users/oehle/Documents/investment-course/lesson-01/Lesson 01 - What is investment - handout v2.docx</a:t>
            </a:r>
          </a:p>
          <a:p xmlns:a="http://schemas.openxmlformats.org/drawingml/2006/main">
            <a:r>
              <a:t>- C:/Users/oehle/Documents/igcse-term-outlines/outputs/investment-course-one-semester/Investment and Financial Decision-Making - 2026-27 Semester 1 Bilingual Department Leadership Learning Summary.pdf</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C:/Users/oehle/Documents/investment-course/lesson-01/Lesson 01 - What is investment - handout v2.docx</a:t>
            </a:r>
          </a:p>
          <a:p xmlns:a="http://schemas.openxmlformats.org/drawingml/2006/main">
            <a:r>
              <a:t>- https://www.hanseaticbank.de/klarmacher/vorsorgen/die-betriebliche-altersvorsorge-kuendigen-geht-das-ueberhaupt</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Answer: B. Decisive clue: the expected payoff is supported by income and/or evidence about underlying value, while possible loss is accepted.</a:t>
            </a:r>
          </a:p>
          <a:p xmlns:a="http://schemas.openxmlformats.org/drawingml/2006/main">
            <a:endParaRPr/>
          </a:p>
          <a:p xmlns:a="http://schemas.openxmlformats.org/drawingml/2006/main">
            <a:r>
              <a:t>[Sources]</a:t>
            </a:r>
          </a:p>
          <a:p xmlns:a="http://schemas.openxmlformats.org/drawingml/2006/main">
            <a:r>
              <a:t>- C:/Users/oehle/Documents/investment-course/lesson-01/Lesson 01 - What is investment - handout v2.docx</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Answer: A. Decisive clue: the money is for a known near-term need, so liquidity and capital preservation matter most.</a:t>
            </a:r>
          </a:p>
          <a:p xmlns:a="http://schemas.openxmlformats.org/drawingml/2006/main">
            <a:endParaRPr/>
          </a:p>
          <a:p xmlns:a="http://schemas.openxmlformats.org/drawingml/2006/main">
            <a:r>
              <a:t>[Sources]</a:t>
            </a:r>
          </a:p>
          <a:p xmlns:a="http://schemas.openxmlformats.org/drawingml/2006/main">
            <a:r>
              <a:t>- C:/Users/oehle/Documents/investment-course/lesson-01/Lesson 01 - What is investment - handout v2.docx</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Answer: C. Decisive clue: the decision relies on a rumour and a predicted short-term price rise, with borrowing increasing possible loss.</a:t>
            </a:r>
          </a:p>
          <a:p xmlns:a="http://schemas.openxmlformats.org/drawingml/2006/main">
            <a:endParaRPr/>
          </a:p>
          <a:p xmlns:a="http://schemas.openxmlformats.org/drawingml/2006/main">
            <a:r>
              <a:t>[Sources]</a:t>
            </a:r>
          </a:p>
          <a:p xmlns:a="http://schemas.openxmlformats.org/drawingml/2006/main">
            <a:r>
              <a:t>- C:/Users/oehle/Documents/investment-course/lesson-01/Lesson 01 - What is investment - handout v2.docx</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Answer: C. Decisive clue: saving can prioritise capital preservation and liquidity even when it earns interest.</a:t>
            </a:r>
          </a:p>
          <a:p xmlns:a="http://schemas.openxmlformats.org/drawingml/2006/main">
            <a:endParaRPr/>
          </a:p>
          <a:p xmlns:a="http://schemas.openxmlformats.org/drawingml/2006/main">
            <a:r>
              <a:t>[Sources]</a:t>
            </a:r>
          </a:p>
          <a:p xmlns:a="http://schemas.openxmlformats.org/drawingml/2006/main">
            <a:r>
              <a:t>- C:/Users/oehle/Documents/investment-course/lesson-01/Lesson 01 - What is investment - handout v2.docx</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Answer: C. Decisive clue: classify the decision by its expected payoff basis and evidence, not by the asset name.</a:t>
            </a:r>
          </a:p>
          <a:p xmlns:a="http://schemas.openxmlformats.org/drawingml/2006/main">
            <a:endParaRPr/>
          </a:p>
          <a:p xmlns:a="http://schemas.openxmlformats.org/drawingml/2006/main">
            <a:r>
              <a:t>[Sources]</a:t>
            </a:r>
          </a:p>
          <a:p xmlns:a="http://schemas.openxmlformats.org/drawingml/2006/main">
            <a:r>
              <a:t>- C:/Users/oehle/Documents/investment-course/lesson-01/Lesson 01 - What is investment - handout v2.docx</a:t>
            </a:r>
          </a:p>
          <a:p xmlns:a="http://schemas.openxmlformats.org/drawingml/2006/main">
            <a:r>
              <a:t>- C:/Users/oehle/Documents/igcse-term-outlines/outputs/investment-course-one-semester/Investment and Financial Decision-Making - 2026-27 Semester 1 Bilingual Department Leadership Learning Summary.pdf</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C:/Users/oehle/Documents/investment-course/lesson-01/Lesson 01 - What is investment - handout v2.docx</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C:/Users/oehle/Documents/investment-course/lesson-01/Lesson 01 - What is investment - handout v2.docx</a:t>
            </a:r>
          </a:p>
          <a:p xmlns:a="http://schemas.openxmlformats.org/drawingml/2006/main">
            <a:r>
              <a:t>- C:/Users/oehle/Documents/igcse-term-outlines/outputs/investment-course-one-semester/Investment and Financial Decision-Making - 2026-27 Semester 1 Bilingual Department Leadership Learning Summary.pdf</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C:/Users/oehle/Documents/investment-course/lesson-01/Lesson 01 - What is investment - handout v2.docx</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C:/Users/oehle/Documents/investment-course/lesson-01/Lesson 01 - What is investment - handout v2.docx</a:t>
            </a:r>
          </a:p>
          <a:p xmlns:a="http://schemas.openxmlformats.org/drawingml/2006/main">
            <a:r>
              <a:t>- C:/Users/oehle/Documents/igcse-term-outlines/outputs/investment-course-one-semester/Investment and Financial Decision-Making - 2026-27 Semester 1 Bilingual Department Leadership Learning Summary.pdf</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4037419b1e545e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45da59d654a4687" /><Relationship Type="http://schemas.openxmlformats.org/officeDocument/2006/relationships/image" Target="/ppt/media/image.png" Id="R64882a7abce64d2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8ac0bc1c64343c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6dd350a6bef456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2045ff0317048b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73727dc9dfd4f23"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99e4e6008afe4216"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c1f70aef5d5f46e4"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4a11cfe5e7c34bf3"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ccfcd62287a74d7a"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7eec2cfa04794904"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1.xml" Id="Rf4824a21000544c5" /></Relationships>
</file>

<file path=ppt/slideLayouts/_rels/slideLayout13.xml.rels>&#65279;<?xml version="1.0" encoding="utf-8"?><Relationships xmlns="http://schemas.openxmlformats.org/package/2006/relationships"><Relationship Type="http://schemas.openxmlformats.org/officeDocument/2006/relationships/slideMaster" Target="/ppt/slideMasters/slideMaster1.xml" Id="R8485f4649c694ef6"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E740C31-A7E6-CF6F-6C74-398A96ED8968}"/>
              </a:ext>
            </a:extLst>
          </p:cNvPr>
          <p:cNvSpPr>
            <a:spLocks xmlns:a="http://schemas.openxmlformats.org/drawingml/2006/main" noGrp="1"/>
          </p:cNvSpPr>
          <p:nvPr>
            <p:ph type="ctrTitle" idx="0"/>
          </p:nvPr>
        </p:nvSpPr>
        <p:spPr>
          <a:xfrm xmlns:a="http://schemas.openxmlformats.org/drawingml/2006/main">
            <a:off x="1524000" y="1122363"/>
            <a:ext cx="9144000" cy="2387600"/>
          </a:xfrm>
        </p:spPr>
        <p:txBody>
          <a:bodyPr xmlns:a="http://schemas.openxmlformats.org/drawingml/2006/main" anchor="b"/>
          <a:lstStyle xmlns:a="http://schemas.openxmlformats.org/drawingml/2006/main">
            <a:lvl1pPr algn="ctr">
              <a:buNone/>
              <a:defRPr sz="6000"/>
            </a:lvl1pPr>
          </a:lstStyle>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614258B1-786C-CCDE-E680-48165EEA159E}"/>
              </a:ext>
            </a:extLst>
          </p:cNvPr>
          <p:cNvSpPr>
            <a:spLocks xmlns:a="http://schemas.openxmlformats.org/drawingml/2006/main" noGrp="1"/>
          </p:cNvSpPr>
          <p:nvPr>
            <p:ph type="subTitle" idx="1"/>
          </p:nvPr>
        </p:nvSpPr>
        <p:spPr>
          <a:xfrm xmlns:a="http://schemas.openxmlformats.org/drawingml/2006/main">
            <a:off x="1524000" y="3602038"/>
            <a:ext cx="9144000" cy="1655762"/>
          </a:xfrm>
        </p:spPr>
        <p:txBody>
          <a:bodyPr xmlns:a="http://schemas.openxmlformats.org/drawingml/2006/main"/>
          <a:lstStyle xmlns:a="http://schemas.openxmlformats.org/drawingml/2006/main">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Click to edit Master subtitle style</a:t>
            </a:r>
          </a:p>
        </p:txBody>
      </p:sp>
      <p:sp>
        <p:nvSpPr>
          <p:cNvPr id="4" name="Date Placeholder 3">
            <a:extLst xmlns:a="http://schemas.openxmlformats.org/drawingml/2006/main">
              <a:ext uri="{FF2B5EF4-FFF2-40B4-BE49-F238E27FC236}">
                <a16:creationId xmlns:a16="http://schemas.microsoft.com/office/drawing/2014/main" id="{BAEB133B-4E15-ECE7-D9A7-3CFA4433158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215C897A-756B-4347-B7BE-67F9F8184678}" type="datetimeFigureOut">
              <a:t>2026.09.02</a:t>
            </a:fld>
            <a:endParaRPr/>
          </a:p>
        </p:txBody>
      </p:sp>
      <p:sp>
        <p:nvSpPr>
          <p:cNvPr id="5" name="Footer Placeholder 4">
            <a:extLst xmlns:a="http://schemas.openxmlformats.org/drawingml/2006/main">
              <a:ext uri="{FF2B5EF4-FFF2-40B4-BE49-F238E27FC236}">
                <a16:creationId xmlns:a16="http://schemas.microsoft.com/office/drawing/2014/main" id="{12FE4D9C-58CB-8113-DFC3-F45C05B8C6C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834AB8E9-4CBA-44A4-995B-F8B448F1303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125C1BC-A9EE-43B2-941F-41C98DCEFBE8}" type="slidenum">
              <a:t>‹#›</a:t>
            </a:fld>
            <a:endParaRPr/>
          </a:p>
        </p:txBody>
      </p:sp>
    </p:spTree>
  </p:cSld>
</p:sldLayout>
</file>

<file path=ppt/slideLayouts/slideLayout2.xml><?xml version="1.0" encoding="utf-8"?>
<p:sldLayout xmlns:p="http://schemas.openxmlformats.org/presentationml/2006/main" preserve="1" userDrawn="1">
  <p:cSld name="Slide divider">
    <p:bg>
      <p:bgRef idx="1001">
        <a:schemeClr xmlns:a="http://schemas.openxmlformats.org/drawingml/2006/main" val="bg2"/>
      </p:bgRef>
    </p:bg>
    <p:spTree>
      <p:nvGrpSpPr>
        <p:cNvPr id="1" name=""/>
        <p:cNvGrpSpPr/>
        <p:nvPr/>
      </p:nvGrpSpPr>
      <p:grpSpPr>
        <a:xfrm xmlns:a="http://schemas.openxmlformats.org/drawingml/2006/main"/>
      </p:grpSpPr>
      <p:pic>
        <p:nvPicPr>
          <p:cNvPr id="7" name="Picture 6"/>
          <p:cNvPicPr>
            <a:picLocks xmlns:a="http://schemas.openxmlformats.org/drawingml/2006/main" noChangeAspect="1"/>
          </p:cNvPicPr>
          <p:nvPr/>
        </p:nvPicPr>
        <p:blipFill>
          <a:blip xmlns:r="http://schemas.openxmlformats.org/officeDocument/2006/relationships" xmlns:a="http://schemas.openxmlformats.org/drawingml/2006/main" r:embed="R64882a7abce64d23"/>
          <a:stretch xmlns:a="http://schemas.openxmlformats.org/drawingml/2006/main">
            <a:fillRect l="0" t="0" r="0" b="0"/>
          </a:stretch>
        </p:blipFill>
        <p:spPr>
          <a:xfrm xmlns:a="http://schemas.openxmlformats.org/drawingml/2006/main">
            <a:off x="3239" y="0"/>
            <a:ext cx="12185522" cy="6858000"/>
          </a:xfrm>
          <a:prstGeom xmlns:a="http://schemas.openxmlformats.org/drawingml/2006/main" prst="rect">
            <a:avLst/>
          </a:prstGeom>
        </p:spPr>
      </p:pic>
      <p:sp>
        <p:nvSpPr>
          <p:cNvPr id="2" name="Title 1">
            <a:extLst xmlns:a="http://schemas.openxmlformats.org/drawingml/2006/main">
              <a:ext uri="{FF2B5EF4-FFF2-40B4-BE49-F238E27FC236}">
                <a16:creationId xmlns:a16="http://schemas.microsoft.com/office/drawing/2014/main" id="{0FD13574-9FF2-05FE-AD13-4D425480CF36}"/>
              </a:ext>
            </a:extLst>
          </p:cNvPr>
          <p:cNvSpPr>
            <a:spLocks xmlns:a="http://schemas.openxmlformats.org/drawingml/2006/main" noGrp="1"/>
          </p:cNvSpPr>
          <p:nvPr>
            <p:ph type="title" idx="0"/>
          </p:nvPr>
        </p:nvSpPr>
        <p:spPr>
          <a:xfrm xmlns:a="http://schemas.openxmlformats.org/drawingml/2006/main">
            <a:off x="838200" y="2766218"/>
            <a:ext cx="10515600" cy="1325563"/>
          </a:xfrm>
        </p:spPr>
        <p:txBody>
          <a:bodyPr xmlns:a="http://schemas.openxmlformats.org/drawingml/2006/main">
            <a:normAutofit/>
          </a:bodyPr>
          <a:lstStyle xmlns:a="http://schemas.openxmlformats.org/drawingml/2006/main">
            <a:lvl1pPr algn="ctr">
              <a:buNone/>
              <a:defRPr sz="4800" b="1"/>
            </a:lvl1pPr>
          </a:lstStyle>
          <a:p xmlns:a="http://schemas.openxmlformats.org/drawingml/2006/main">
            <a:r>
              <a:t>Click to edit Master title style</a:t>
            </a:r>
            <a:endParaRPr/>
          </a:p>
        </p:txBody>
      </p:sp>
      <p:sp>
        <p:nvSpPr>
          <p:cNvPr id="3" name="Date Placeholder 2">
            <a:extLst xmlns:a="http://schemas.openxmlformats.org/drawingml/2006/main">
              <a:ext uri="{FF2B5EF4-FFF2-40B4-BE49-F238E27FC236}">
                <a16:creationId xmlns:a16="http://schemas.microsoft.com/office/drawing/2014/main" id="{0E93A917-7F2A-87D3-3B91-040590C6624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215C897A-756B-4347-B7BE-67F9F8184678}" type="datetimeFigureOut">
              <a:t>9/2/2026</a:t>
            </a:fld>
            <a:endParaRPr/>
          </a:p>
        </p:txBody>
      </p:sp>
      <p:sp>
        <p:nvSpPr>
          <p:cNvPr id="4" name="Footer Placeholder 3">
            <a:extLst xmlns:a="http://schemas.openxmlformats.org/drawingml/2006/main">
              <a:ext uri="{FF2B5EF4-FFF2-40B4-BE49-F238E27FC236}">
                <a16:creationId xmlns:a16="http://schemas.microsoft.com/office/drawing/2014/main" id="{B332E39A-7264-3AD7-D1FB-3858886B99A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9D6F412A-15E8-97C8-8EF2-06E72F2C204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125C1BC-A9EE-43B2-941F-41C98DCEFBE8}" type="slidenum">
              <a:t>‹#›</a:t>
            </a:fld>
            <a:endParaRPr/>
          </a:p>
        </p:txBody>
      </p:sp>
    </p:spTree>
  </p:cSld>
</p:sldLayout>
</file>

<file path=ppt/slideLayouts/slideLayout3.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1639949-CD78-E643-0AAD-859E09FDD0A1}"/>
              </a:ext>
            </a:extLst>
          </p:cNvPr>
          <p:cNvSpPr>
            <a:spLocks xmlns:a="http://schemas.openxmlformats.org/drawingml/2006/main" noGrp="1"/>
          </p:cNvSpPr>
          <p:nvPr>
            <p:ph type="title" idx="0"/>
          </p:nvPr>
        </p:nvSpPr>
        <p:spPr/>
        <p:txBody>
          <a:bodyPr xmlns:a="http://schemas.openxmlformats.org/drawingml/2006/main">
            <a:normAutofit/>
          </a:bodyPr>
          <a:lstStyle xmlns:a="http://schemas.openxmlformats.org/drawingml/2006/main">
            <a:lvl1pPr>
              <a:buNone/>
              <a:defRPr sz="4000">
                <a:solidFill>
                  <a:schemeClr val="tx2">
                    <a:lumMod val="90000"/>
                    <a:lumOff val="10000"/>
                  </a:schemeClr>
                </a:solidFill>
              </a:defRPr>
            </a:lvl1pPr>
          </a:lstStyle>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A2A8F88A-00F8-FABD-6623-7925E9E14CA7}"/>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12E1F7E2-A114-EA69-8513-1075CA7750D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215C897A-756B-4347-B7BE-67F9F8184678}" type="datetimeFigureOut">
              <a:t>2026.09.02</a:t>
            </a:fld>
            <a:endParaRPr/>
          </a:p>
        </p:txBody>
      </p:sp>
      <p:sp>
        <p:nvSpPr>
          <p:cNvPr id="5" name="Footer Placeholder 4">
            <a:extLst xmlns:a="http://schemas.openxmlformats.org/drawingml/2006/main">
              <a:ext uri="{FF2B5EF4-FFF2-40B4-BE49-F238E27FC236}">
                <a16:creationId xmlns:a16="http://schemas.microsoft.com/office/drawing/2014/main" id="{8B9A6A31-52B9-93FA-BFD3-A1AFDA93EEE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B41B0C23-1B47-BE09-9A93-F060C7A12DA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125C1BC-A9EE-43B2-941F-41C98DCEFBE8}" type="slidenum">
              <a:t>‹#›</a:t>
            </a:fld>
            <a:endParaRPr/>
          </a:p>
        </p:txBody>
      </p:sp>
    </p:spTree>
  </p:cSld>
</p:sldLayout>
</file>

<file path=ppt/slideLayouts/slideLayout4.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B1419C6-2CAE-566B-B33F-F3A6EA06CECE}"/>
              </a:ext>
            </a:extLst>
          </p:cNvPr>
          <p:cNvSpPr>
            <a:spLocks xmlns:a="http://schemas.openxmlformats.org/drawingml/2006/main" noGrp="1"/>
          </p:cNvSpPr>
          <p:nvPr>
            <p:ph type="title" idx="0"/>
          </p:nvPr>
        </p:nvSpPr>
        <p:spPr>
          <a:xfrm xmlns:a="http://schemas.openxmlformats.org/drawingml/2006/main">
            <a:off x="831850" y="1709738"/>
            <a:ext cx="10515600" cy="2852737"/>
          </a:xfrm>
        </p:spPr>
        <p:txBody>
          <a:bodyPr xmlns:a="http://schemas.openxmlformats.org/drawingml/2006/main" anchor="b"/>
          <a:lstStyle xmlns:a="http://schemas.openxmlformats.org/drawingml/2006/main">
            <a:lvl1pPr>
              <a:buNone/>
              <a:defRPr sz="6000"/>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0ADA953B-4D3B-D56E-B9D8-F62A934DC100}"/>
              </a:ext>
            </a:extLst>
          </p:cNvPr>
          <p:cNvSpPr>
            <a:spLocks xmlns:a="http://schemas.openxmlformats.org/drawingml/2006/main" noGrp="1"/>
          </p:cNvSpPr>
          <p:nvPr>
            <p:ph type="body" idx="1"/>
          </p:nvPr>
        </p:nvSpPr>
        <p:spPr>
          <a:xfrm xmlns:a="http://schemas.openxmlformats.org/drawingml/2006/main">
            <a:off x="831850" y="4589463"/>
            <a:ext cx="10515600" cy="1500187"/>
          </a:xfrm>
        </p:spPr>
        <p:txBody>
          <a:bodyPr xmlns:a="http://schemas.openxmlformats.org/drawingml/2006/main"/>
          <a:lstStyle xmlns:a="http://schemas.openxmlformats.org/drawingml/2006/main">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D64FA94B-1175-F7C9-B2E9-1ADDBF4C6C2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215C897A-756B-4347-B7BE-67F9F8184678}" type="datetimeFigureOut">
              <a:t>2026.09.02</a:t>
            </a:fld>
            <a:endParaRPr/>
          </a:p>
        </p:txBody>
      </p:sp>
      <p:sp>
        <p:nvSpPr>
          <p:cNvPr id="5" name="Footer Placeholder 4">
            <a:extLst xmlns:a="http://schemas.openxmlformats.org/drawingml/2006/main">
              <a:ext uri="{FF2B5EF4-FFF2-40B4-BE49-F238E27FC236}">
                <a16:creationId xmlns:a16="http://schemas.microsoft.com/office/drawing/2014/main" id="{1BFEE77B-5F23-75ED-FE40-7877CD43F19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DA551DF6-61B4-3433-1503-1257F0935C8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125C1BC-A9EE-43B2-941F-41C98DCEFBE8}" type="slidenum">
              <a:t>‹#›</a:t>
            </a:fld>
            <a:endParaRPr/>
          </a:p>
        </p:txBody>
      </p:sp>
    </p:spTree>
  </p:cSld>
</p:sldLayout>
</file>

<file path=ppt/slideLayouts/slideLayout5.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8189D28-4BBA-6A41-F0CD-E00915C08FCB}"/>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2BC85A29-ED15-2702-3077-3660312DC998}"/>
              </a:ext>
            </a:extLst>
          </p:cNvPr>
          <p:cNvSpPr>
            <a:spLocks xmlns:a="http://schemas.openxmlformats.org/drawingml/2006/main" noGrp="1"/>
          </p:cNvSpPr>
          <p:nvPr>
            <p:ph idx="1"/>
          </p:nvPr>
        </p:nvSpPr>
        <p:spPr>
          <a:xfrm xmlns:a="http://schemas.openxmlformats.org/drawingml/2006/main">
            <a:off x="838200" y="1825625"/>
            <a:ext cx="5181600" cy="435133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Content Placeholder 3">
            <a:extLst xmlns:a="http://schemas.openxmlformats.org/drawingml/2006/main">
              <a:ext uri="{FF2B5EF4-FFF2-40B4-BE49-F238E27FC236}">
                <a16:creationId xmlns:a16="http://schemas.microsoft.com/office/drawing/2014/main" id="{AE1BF950-9049-EE20-5B7F-B28BF7739D5E}"/>
              </a:ext>
            </a:extLst>
          </p:cNvPr>
          <p:cNvSpPr>
            <a:spLocks xmlns:a="http://schemas.openxmlformats.org/drawingml/2006/main" noGrp="1"/>
          </p:cNvSpPr>
          <p:nvPr>
            <p:ph idx="2"/>
          </p:nvPr>
        </p:nvSpPr>
        <p:spPr>
          <a:xfrm xmlns:a="http://schemas.openxmlformats.org/drawingml/2006/main">
            <a:off x="6172200" y="1825625"/>
            <a:ext cx="5181600" cy="435133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Date Placeholder 4">
            <a:extLst xmlns:a="http://schemas.openxmlformats.org/drawingml/2006/main">
              <a:ext uri="{FF2B5EF4-FFF2-40B4-BE49-F238E27FC236}">
                <a16:creationId xmlns:a16="http://schemas.microsoft.com/office/drawing/2014/main" id="{20A14AD9-934F-5C6D-BEF8-5F1812876CD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215C897A-756B-4347-B7BE-67F9F8184678}" type="datetimeFigureOut">
              <a:t>2026.09.02</a:t>
            </a:fld>
            <a:endParaRPr/>
          </a:p>
        </p:txBody>
      </p:sp>
      <p:sp>
        <p:nvSpPr>
          <p:cNvPr id="6" name="Footer Placeholder 5">
            <a:extLst xmlns:a="http://schemas.openxmlformats.org/drawingml/2006/main">
              <a:ext uri="{FF2B5EF4-FFF2-40B4-BE49-F238E27FC236}">
                <a16:creationId xmlns:a16="http://schemas.microsoft.com/office/drawing/2014/main" id="{D016DC94-16E8-4028-B91C-E0793D8AC2E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04C2C6C0-E46F-838C-2235-BB949C2CD42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125C1BC-A9EE-43B2-941F-41C98DCEFBE8}" type="slidenum">
              <a:t>‹#›</a:t>
            </a:fld>
            <a:endParaRPr/>
          </a:p>
        </p:txBody>
      </p:sp>
    </p:spTree>
  </p:cSld>
</p:sldLayout>
</file>

<file path=ppt/slideLayouts/slideLayout6.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9987481-28C9-36B8-BB5A-A48EB5BFE6C9}"/>
              </a:ext>
            </a:extLst>
          </p:cNvPr>
          <p:cNvSpPr>
            <a:spLocks xmlns:a="http://schemas.openxmlformats.org/drawingml/2006/main" noGrp="1"/>
          </p:cNvSpPr>
          <p:nvPr>
            <p:ph type="title" idx="0"/>
          </p:nvPr>
        </p:nvSpPr>
        <p:spPr>
          <a:xfrm xmlns:a="http://schemas.openxmlformats.org/drawingml/2006/main">
            <a:off x="839788" y="365125"/>
            <a:ext cx="10515600" cy="1325563"/>
          </a:xfrm>
        </p:spPr>
        <p:txBody>
          <a:bodyPr xmlns:a="http://schemas.openxmlformats.org/drawingml/2006/main"/>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E13935DB-018C-2AC2-55DD-4618F60DB9D1}"/>
              </a:ext>
            </a:extLst>
          </p:cNvPr>
          <p:cNvSpPr>
            <a:spLocks xmlns:a="http://schemas.openxmlformats.org/drawingml/2006/main" noGrp="1"/>
          </p:cNvSpPr>
          <p:nvPr>
            <p:ph type="body" idx="1"/>
          </p:nvPr>
        </p:nvSpPr>
        <p:spPr>
          <a:xfrm xmlns:a="http://schemas.openxmlformats.org/drawingml/2006/main">
            <a:off x="839788" y="1681163"/>
            <a:ext cx="5157787" cy="82391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35D95862-0413-B47F-5EA6-F8C658133FB3}"/>
              </a:ext>
            </a:extLst>
          </p:cNvPr>
          <p:cNvSpPr>
            <a:spLocks xmlns:a="http://schemas.openxmlformats.org/drawingml/2006/main" noGrp="1"/>
          </p:cNvSpPr>
          <p:nvPr>
            <p:ph idx="2"/>
          </p:nvPr>
        </p:nvSpPr>
        <p:spPr>
          <a:xfrm xmlns:a="http://schemas.openxmlformats.org/drawingml/2006/main">
            <a:off x="839788" y="2505075"/>
            <a:ext cx="5157787" cy="368458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Text Placeholder 4">
            <a:extLst xmlns:a="http://schemas.openxmlformats.org/drawingml/2006/main">
              <a:ext uri="{FF2B5EF4-FFF2-40B4-BE49-F238E27FC236}">
                <a16:creationId xmlns:a16="http://schemas.microsoft.com/office/drawing/2014/main" id="{28CE1305-8D0D-E5C7-E787-20ACC29B3D9E}"/>
              </a:ext>
            </a:extLst>
          </p:cNvPr>
          <p:cNvSpPr>
            <a:spLocks xmlns:a="http://schemas.openxmlformats.org/drawingml/2006/main" noGrp="1"/>
          </p:cNvSpPr>
          <p:nvPr>
            <p:ph type="body" idx="3"/>
          </p:nvPr>
        </p:nvSpPr>
        <p:spPr>
          <a:xfrm xmlns:a="http://schemas.openxmlformats.org/drawingml/2006/main">
            <a:off x="6172200" y="1681163"/>
            <a:ext cx="5183188" cy="82391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43188980-E579-DEE1-5828-BCDCC6AD1C4A}"/>
              </a:ext>
            </a:extLst>
          </p:cNvPr>
          <p:cNvSpPr>
            <a:spLocks xmlns:a="http://schemas.openxmlformats.org/drawingml/2006/main" noGrp="1"/>
          </p:cNvSpPr>
          <p:nvPr>
            <p:ph idx="4"/>
          </p:nvPr>
        </p:nvSpPr>
        <p:spPr>
          <a:xfrm xmlns:a="http://schemas.openxmlformats.org/drawingml/2006/main">
            <a:off x="6172200" y="2505075"/>
            <a:ext cx="5183188" cy="368458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7" name="Date Placeholder 6">
            <a:extLst xmlns:a="http://schemas.openxmlformats.org/drawingml/2006/main">
              <a:ext uri="{FF2B5EF4-FFF2-40B4-BE49-F238E27FC236}">
                <a16:creationId xmlns:a16="http://schemas.microsoft.com/office/drawing/2014/main" id="{1029A561-CCB2-1174-F947-83A5BAC81C1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215C897A-756B-4347-B7BE-67F9F8184678}" type="datetimeFigureOut">
              <a:t>2026.09.02</a:t>
            </a:fld>
            <a:endParaRPr/>
          </a:p>
        </p:txBody>
      </p:sp>
      <p:sp>
        <p:nvSpPr>
          <p:cNvPr id="8" name="Footer Placeholder 7">
            <a:extLst xmlns:a="http://schemas.openxmlformats.org/drawingml/2006/main">
              <a:ext uri="{FF2B5EF4-FFF2-40B4-BE49-F238E27FC236}">
                <a16:creationId xmlns:a16="http://schemas.microsoft.com/office/drawing/2014/main" id="{47B90D5B-48EB-6D16-19FF-B121C98D94D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1AB32215-F36B-8982-15B3-9ADF1B12530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125C1BC-A9EE-43B2-941F-41C98DCEFBE8}" type="slidenum">
              <a:t>‹#›</a:t>
            </a:fld>
            <a:endParaRPr/>
          </a:p>
        </p:txBody>
      </p:sp>
    </p:spTree>
  </p:cSld>
</p:sldLayout>
</file>

<file path=ppt/slideLayouts/slideLayout7.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D0C8A60-5317-9D60-55E0-A5C712D22E0F}"/>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Date Placeholder 2">
            <a:extLst xmlns:a="http://schemas.openxmlformats.org/drawingml/2006/main">
              <a:ext uri="{FF2B5EF4-FFF2-40B4-BE49-F238E27FC236}">
                <a16:creationId xmlns:a16="http://schemas.microsoft.com/office/drawing/2014/main" id="{321AB46B-BEB8-0075-E4F0-FFD4DAB9FE2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215C897A-756B-4347-B7BE-67F9F8184678}" type="datetimeFigureOut">
              <a:t>2026.09.02</a:t>
            </a:fld>
            <a:endParaRPr/>
          </a:p>
        </p:txBody>
      </p:sp>
      <p:sp>
        <p:nvSpPr>
          <p:cNvPr id="4" name="Footer Placeholder 3">
            <a:extLst xmlns:a="http://schemas.openxmlformats.org/drawingml/2006/main">
              <a:ext uri="{FF2B5EF4-FFF2-40B4-BE49-F238E27FC236}">
                <a16:creationId xmlns:a16="http://schemas.microsoft.com/office/drawing/2014/main" id="{49ED68B8-2C17-DB9F-98CA-7774C21DCA2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D251ADF9-B6D2-3B08-0067-5D70FA2D533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125C1BC-A9EE-43B2-941F-41C98DCEFBE8}" type="slidenum">
              <a:t>‹#›</a:t>
            </a:fld>
            <a:endParaRPr/>
          </a:p>
        </p:txBody>
      </p:sp>
    </p:spTree>
  </p:cSld>
</p:sldLayout>
</file>

<file path=ppt/slideLayouts/slideLayout8.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7259CB8C-5882-D7F9-0C5F-5CAE7BB8CB0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215C897A-756B-4347-B7BE-67F9F8184678}" type="datetimeFigureOut">
              <a:t>2026.09.02</a:t>
            </a:fld>
            <a:endParaRPr/>
          </a:p>
        </p:txBody>
      </p:sp>
      <p:sp>
        <p:nvSpPr>
          <p:cNvPr id="3" name="Footer Placeholder 2">
            <a:extLst xmlns:a="http://schemas.openxmlformats.org/drawingml/2006/main">
              <a:ext uri="{FF2B5EF4-FFF2-40B4-BE49-F238E27FC236}">
                <a16:creationId xmlns:a16="http://schemas.microsoft.com/office/drawing/2014/main" id="{3C5A38BF-916A-394C-A009-EA8384497DB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301AC420-6534-BA75-9579-11901021DAB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125C1BC-A9EE-43B2-941F-41C98DCEFBE8}" type="slidenum">
              <a:t>‹#›</a:t>
            </a:fld>
            <a:endParaRPr/>
          </a:p>
        </p:txBody>
      </p:sp>
    </p:spTree>
  </p:cSld>
</p:sldLayout>
</file>

<file path=ppt/slideLayouts/slideLayout9.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A54C0B0-D4EF-8BE0-3D87-434572F0D275}"/>
              </a:ext>
            </a:extLst>
          </p:cNvPr>
          <p:cNvSpPr>
            <a:spLocks xmlns:a="http://schemas.openxmlformats.org/drawingml/2006/main" noGrp="1"/>
          </p:cNvSpPr>
          <p:nvPr>
            <p:ph type="title" idx="0"/>
          </p:nvPr>
        </p:nvSpPr>
        <p:spPr>
          <a:xfrm xmlns:a="http://schemas.openxmlformats.org/drawingml/2006/main">
            <a:off x="839788" y="457200"/>
            <a:ext cx="3932237" cy="1600200"/>
          </a:xfrm>
        </p:spPr>
        <p:txBody>
          <a:bodyPr xmlns:a="http://schemas.openxmlformats.org/drawingml/2006/main" anchor="b"/>
          <a:lstStyle xmlns:a="http://schemas.openxmlformats.org/drawingml/2006/main">
            <a:lvl1pPr>
              <a:buNone/>
              <a:defRPr sz="3200"/>
            </a:lvl1pPr>
          </a:lstStyle>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4DEB04DA-348F-0CA0-3EB3-6B5B5E66D3FF}"/>
              </a:ext>
            </a:extLst>
          </p:cNvPr>
          <p:cNvSpPr>
            <a:spLocks xmlns:a="http://schemas.openxmlformats.org/drawingml/2006/main" noGrp="1"/>
          </p:cNvSpPr>
          <p:nvPr>
            <p:ph idx="1"/>
          </p:nvPr>
        </p:nvSpPr>
        <p:spPr>
          <a:xfrm xmlns:a="http://schemas.openxmlformats.org/drawingml/2006/main">
            <a:off x="5183188" y="987425"/>
            <a:ext cx="6172200" cy="4873625"/>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Text Placeholder 3">
            <a:extLst xmlns:a="http://schemas.openxmlformats.org/drawingml/2006/main">
              <a:ext uri="{FF2B5EF4-FFF2-40B4-BE49-F238E27FC236}">
                <a16:creationId xmlns:a16="http://schemas.microsoft.com/office/drawing/2014/main" id="{3A024A34-06D8-8410-DAA7-584D6654141F}"/>
              </a:ext>
            </a:extLst>
          </p:cNvPr>
          <p:cNvSpPr>
            <a:spLocks xmlns:a="http://schemas.openxmlformats.org/drawingml/2006/main" noGrp="1"/>
          </p:cNvSpPr>
          <p:nvPr>
            <p:ph type="body" idx="2"/>
          </p:nvPr>
        </p:nvSpPr>
        <p:spPr>
          <a:xfrm xmlns:a="http://schemas.openxmlformats.org/drawingml/2006/main">
            <a:off x="839788" y="2057400"/>
            <a:ext cx="3932237" cy="3811588"/>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71C790C3-85ED-A42A-E800-B96767E89D0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215C897A-756B-4347-B7BE-67F9F8184678}" type="datetimeFigureOut">
              <a:t>2026.09.02</a:t>
            </a:fld>
            <a:endParaRPr/>
          </a:p>
        </p:txBody>
      </p:sp>
      <p:sp>
        <p:nvSpPr>
          <p:cNvPr id="6" name="Footer Placeholder 5">
            <a:extLst xmlns:a="http://schemas.openxmlformats.org/drawingml/2006/main">
              <a:ext uri="{FF2B5EF4-FFF2-40B4-BE49-F238E27FC236}">
                <a16:creationId xmlns:a16="http://schemas.microsoft.com/office/drawing/2014/main" id="{BFC8CE1A-3A99-4FA9-0273-D6593A0C728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0825D52D-C5CB-071F-A944-F9889377248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125C1BC-A9EE-43B2-941F-41C98DCEFBE8}" type="slidenum">
              <a:t>‹#›</a:t>
            </a:fld>
            <a:endParaRPr/>
          </a:p>
        </p:txBody>
      </p:sp>
    </p:spTree>
  </p:cSld>
</p:sldLayout>
</file>

<file path=ppt/slideLayouts/slideLayout10.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99A96CC-38AC-1EF5-648E-E7F422D731D9}"/>
              </a:ext>
            </a:extLst>
          </p:cNvPr>
          <p:cNvSpPr>
            <a:spLocks xmlns:a="http://schemas.openxmlformats.org/drawingml/2006/main" noGrp="1"/>
          </p:cNvSpPr>
          <p:nvPr>
            <p:ph type="title" idx="0"/>
          </p:nvPr>
        </p:nvSpPr>
        <p:spPr>
          <a:xfrm xmlns:a="http://schemas.openxmlformats.org/drawingml/2006/main">
            <a:off x="839788" y="457200"/>
            <a:ext cx="3932237" cy="1600200"/>
          </a:xfrm>
        </p:spPr>
        <p:txBody>
          <a:bodyPr xmlns:a="http://schemas.openxmlformats.org/drawingml/2006/main" anchor="b"/>
          <a:lstStyle xmlns:a="http://schemas.openxmlformats.org/drawingml/2006/main">
            <a:lvl1pPr>
              <a:buNone/>
              <a:defRPr sz="3200"/>
            </a:lvl1pPr>
          </a:lstStyle>
          <a:p xmlns:a="http://schemas.openxmlformats.org/drawingml/2006/main">
            <a:r>
              <a:t>Click to edit Master title style</a:t>
            </a:r>
          </a:p>
        </p:txBody>
      </p:sp>
      <p:sp>
        <p:nvSpPr>
          <p:cNvPr id="3" name="Picture Placeholder 2">
            <a:extLst xmlns:a="http://schemas.openxmlformats.org/drawingml/2006/main">
              <a:ext uri="{FF2B5EF4-FFF2-40B4-BE49-F238E27FC236}">
                <a16:creationId xmlns:a16="http://schemas.microsoft.com/office/drawing/2014/main" id="{BD0507D7-2DF6-FAC2-D4BB-A4AB3244AF0A}"/>
              </a:ext>
            </a:extLst>
          </p:cNvPr>
          <p:cNvSpPr>
            <a:spLocks xmlns:a="http://schemas.openxmlformats.org/drawingml/2006/main" noGrp="1"/>
          </p:cNvSpPr>
          <p:nvPr>
            <p:ph type="pic" idx="1"/>
          </p:nvPr>
        </p:nvSpPr>
        <p:spPr>
          <a:xfrm xmlns:a="http://schemas.openxmlformats.org/drawingml/2006/main">
            <a:off x="5183188" y="987425"/>
            <a:ext cx="6172200" cy="4873625"/>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Text Placeholder 3">
            <a:extLst xmlns:a="http://schemas.openxmlformats.org/drawingml/2006/main">
              <a:ext uri="{FF2B5EF4-FFF2-40B4-BE49-F238E27FC236}">
                <a16:creationId xmlns:a16="http://schemas.microsoft.com/office/drawing/2014/main" id="{EFBF6656-6D39-2FD8-5252-482351FF6B42}"/>
              </a:ext>
            </a:extLst>
          </p:cNvPr>
          <p:cNvSpPr>
            <a:spLocks xmlns:a="http://schemas.openxmlformats.org/drawingml/2006/main" noGrp="1"/>
          </p:cNvSpPr>
          <p:nvPr>
            <p:ph type="body" idx="2"/>
          </p:nvPr>
        </p:nvSpPr>
        <p:spPr>
          <a:xfrm xmlns:a="http://schemas.openxmlformats.org/drawingml/2006/main">
            <a:off x="839788" y="2057400"/>
            <a:ext cx="3932237" cy="3811588"/>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B0CA16A1-82B5-DA65-7D5C-1071657EA51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215C897A-756B-4347-B7BE-67F9F8184678}" type="datetimeFigureOut">
              <a:t>2026.09.02</a:t>
            </a:fld>
            <a:endParaRPr/>
          </a:p>
        </p:txBody>
      </p:sp>
      <p:sp>
        <p:nvSpPr>
          <p:cNvPr id="6" name="Footer Placeholder 5">
            <a:extLst xmlns:a="http://schemas.openxmlformats.org/drawingml/2006/main">
              <a:ext uri="{FF2B5EF4-FFF2-40B4-BE49-F238E27FC236}">
                <a16:creationId xmlns:a16="http://schemas.microsoft.com/office/drawing/2014/main" id="{12523671-72F7-98E8-B10C-E2B3321B3CB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AA0913F0-CB9B-234C-E784-84F1D5C9D9D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125C1BC-A9EE-43B2-941F-41C98DCEFBE8}" type="slidenum">
              <a:t>‹#›</a:t>
            </a:fld>
            <a:endParaRPr/>
          </a:p>
        </p:txBody>
      </p:sp>
    </p:spTree>
  </p:cSld>
</p:sldLayout>
</file>

<file path=ppt/slideLayouts/slideLayout11.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9757AC8-A107-6BEF-E21C-C9F2BB83AEE8}"/>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0E64E386-D025-1C80-A103-5968FBBCBA14}"/>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D92B3C2C-FD10-2FF9-27A8-1744C93C663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215C897A-756B-4347-B7BE-67F9F8184678}" type="datetimeFigureOut">
              <a:t>2026.09.02</a:t>
            </a:fld>
            <a:endParaRPr/>
          </a:p>
        </p:txBody>
      </p:sp>
      <p:sp>
        <p:nvSpPr>
          <p:cNvPr id="5" name="Footer Placeholder 4">
            <a:extLst xmlns:a="http://schemas.openxmlformats.org/drawingml/2006/main">
              <a:ext uri="{FF2B5EF4-FFF2-40B4-BE49-F238E27FC236}">
                <a16:creationId xmlns:a16="http://schemas.microsoft.com/office/drawing/2014/main" id="{52BEEF54-8ADC-991C-7D9C-C7C12EA43B4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39079658-DCDC-95B9-20D6-1ACA48D1B12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125C1BC-A9EE-43B2-941F-41C98DCEFBE8}" type="slidenum">
              <a:t>‹#›</a:t>
            </a:fld>
            <a:endParaRPr/>
          </a:p>
        </p:txBody>
      </p:sp>
    </p:spTree>
  </p:cSld>
</p:sldLayout>
</file>

<file path=ppt/slideLayouts/slideLayout12.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F99EDAE0-532D-25E1-1EA2-CA7D31C2BBEF}"/>
              </a:ext>
            </a:extLst>
          </p:cNvPr>
          <p:cNvSpPr>
            <a:spLocks xmlns:a="http://schemas.openxmlformats.org/drawingml/2006/main" noGrp="1"/>
          </p:cNvSpPr>
          <p:nvPr>
            <p:ph type="title" idx="0"/>
          </p:nvPr>
        </p:nvSpPr>
        <p:spPr>
          <a:xfrm xmlns:a="http://schemas.openxmlformats.org/drawingml/2006/main">
            <a:off x="8724900" y="365125"/>
            <a:ext cx="2628900" cy="5811838"/>
          </a:xfrm>
        </p:spPr>
        <p:txBody>
          <a:bodyPr xmlns:a="http://schemas.openxmlformats.org/drawingml/2006/main" vert="eaVert"/>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3C223E2A-A142-D64E-7901-D79B21152BEE}"/>
              </a:ext>
            </a:extLst>
          </p:cNvPr>
          <p:cNvSpPr>
            <a:spLocks xmlns:a="http://schemas.openxmlformats.org/drawingml/2006/main" noGrp="1"/>
          </p:cNvSpPr>
          <p:nvPr>
            <p:ph type="body" idx="1"/>
          </p:nvPr>
        </p:nvSpPr>
        <p:spPr>
          <a:xfrm xmlns:a="http://schemas.openxmlformats.org/drawingml/2006/main">
            <a:off x="838200" y="365125"/>
            <a:ext cx="7734300" cy="5811838"/>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A3DD5A47-47AF-2E22-3F5F-00D8029CCBC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215C897A-756B-4347-B7BE-67F9F8184678}" type="datetimeFigureOut">
              <a:t>2026.09.02</a:t>
            </a:fld>
            <a:endParaRPr/>
          </a:p>
        </p:txBody>
      </p:sp>
      <p:sp>
        <p:nvSpPr>
          <p:cNvPr id="5" name="Footer Placeholder 4">
            <a:extLst xmlns:a="http://schemas.openxmlformats.org/drawingml/2006/main">
              <a:ext uri="{FF2B5EF4-FFF2-40B4-BE49-F238E27FC236}">
                <a16:creationId xmlns:a16="http://schemas.microsoft.com/office/drawing/2014/main" id="{CC6E2697-B3A1-C43C-9380-7183DFA939C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65D8AFB7-62EB-363B-3021-3BA01BEEB6C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125C1BC-A9EE-43B2-941F-41C98DCEFBE8}" type="slidenum">
              <a:t>‹#›</a:t>
            </a:fld>
            <a:endParaRPr/>
          </a:p>
        </p:txBody>
      </p:sp>
    </p:spTree>
  </p:cSld>
</p:sldLayout>
</file>

<file path=ppt/slideLayouts/slideLayout13.xml><?xml version="1.0" encoding="utf-8"?>
<p:sldLayout xmlns:p="http://schemas.openxmlformats.org/presentationml/2006/main" userDrawn="1">
  <p:cSld name="Custom Layout">
    <p:bg>
      <p:bgPr>
        <a:solidFill xmlns:a="http://schemas.openxmlformats.org/drawingml/2006/main">
          <a:schemeClr val="accent2">
            <a:lumMod val="40000"/>
            <a:lumOff val="60000"/>
          </a:schemeClr>
        </a:solid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36C06A0-D6B8-2953-A94F-665DA5DB1691}"/>
              </a:ext>
            </a:extLst>
          </p:cNvPr>
          <p:cNvSpPr>
            <a:spLocks xmlns:a="http://schemas.openxmlformats.org/drawingml/2006/main" noGrp="1"/>
          </p:cNvSpPr>
          <p:nvPr>
            <p:ph type="title" idx="0"/>
          </p:nvPr>
        </p:nvSpPr>
        <p:spPr>
          <a:xfrm xmlns:a="http://schemas.openxmlformats.org/drawingml/2006/main">
            <a:off x="838200" y="1405905"/>
            <a:ext cx="10515600" cy="1325563"/>
          </a:xfrm>
        </p:spPr>
        <p:txBody>
          <a:bodyPr xmlns:a="http://schemas.openxmlformats.org/drawingml/2006/main">
            <a:normAutofit/>
          </a:bodyPr>
          <a:lstStyle xmlns:a="http://schemas.openxmlformats.org/drawingml/2006/main">
            <a:lvl1pPr algn="ctr">
              <a:buNone/>
              <a:defRPr sz="5400"/>
            </a:lvl1pPr>
          </a:lstStyle>
          <a:p xmlns:a="http://schemas.openxmlformats.org/drawingml/2006/main">
            <a:r>
              <a:t>Click to edit Master title style</a:t>
            </a:r>
            <a:endParaRPr/>
          </a:p>
        </p:txBody>
      </p:sp>
      <p:sp>
        <p:nvSpPr>
          <p:cNvPr id="3" name="Date Placeholder 2">
            <a:extLst xmlns:a="http://schemas.openxmlformats.org/drawingml/2006/main">
              <a:ext uri="{FF2B5EF4-FFF2-40B4-BE49-F238E27FC236}">
                <a16:creationId xmlns:a16="http://schemas.microsoft.com/office/drawing/2014/main" id="{6515F6CC-54C4-ED8E-E344-8B4767DF3EE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215C897A-756B-4347-B7BE-67F9F8184678}" type="datetimeFigureOut">
              <a:t>9/2/2026</a:t>
            </a:fld>
            <a:endParaRPr/>
          </a:p>
        </p:txBody>
      </p:sp>
      <p:sp>
        <p:nvSpPr>
          <p:cNvPr id="4" name="Footer Placeholder 3">
            <a:extLst xmlns:a="http://schemas.openxmlformats.org/drawingml/2006/main">
              <a:ext uri="{FF2B5EF4-FFF2-40B4-BE49-F238E27FC236}">
                <a16:creationId xmlns:a16="http://schemas.microsoft.com/office/drawing/2014/main" id="{9104274F-129A-D1C3-73AA-C6E23710C26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EA8DD721-84DE-27D7-7382-79508FAC666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125C1BC-A9EE-43B2-941F-41C98DCEFBE8}" type="slidenum">
              <a:t>‹#›</a:t>
            </a:fld>
            <a:endParaRPr/>
          </a:p>
        </p:txBody>
      </p:sp>
      <p:sp>
        <p:nvSpPr>
          <p:cNvPr id="7" name="Content Placeholder 2">
            <a:extLst xmlns:a="http://schemas.openxmlformats.org/drawingml/2006/main">
              <a:ext uri="{FF2B5EF4-FFF2-40B4-BE49-F238E27FC236}">
                <a16:creationId xmlns:a16="http://schemas.microsoft.com/office/drawing/2014/main" id="{82729BF1-177A-1916-2FC6-8292FF90A1E4}"/>
              </a:ext>
            </a:extLst>
          </p:cNvPr>
          <p:cNvSpPr>
            <a:spLocks xmlns:a="http://schemas.openxmlformats.org/drawingml/2006/main" noGrp="1"/>
          </p:cNvSpPr>
          <p:nvPr>
            <p:ph idx="1"/>
          </p:nvPr>
        </p:nvSpPr>
        <p:spPr>
          <a:xfrm xmlns:a="http://schemas.openxmlformats.org/drawingml/2006/main">
            <a:off x="838200" y="2973659"/>
            <a:ext cx="10515600" cy="3203304"/>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c5dd8c4b5c64284" /><Relationship Type="http://schemas.openxmlformats.org/officeDocument/2006/relationships/slideLayout" Target="/ppt/slideLayouts/slideLayout1.xml" Id="R2971f41fd4954aa7" /><Relationship Type="http://schemas.openxmlformats.org/officeDocument/2006/relationships/slideLayout" Target="/ppt/slideLayouts/slideLayout2.xml" Id="Rfba6045b265e4d3a" /><Relationship Type="http://schemas.openxmlformats.org/officeDocument/2006/relationships/slideLayout" Target="/ppt/slideLayouts/slideLayout3.xml" Id="Rf7aaccd45d4043cc" /><Relationship Type="http://schemas.openxmlformats.org/officeDocument/2006/relationships/slideLayout" Target="/ppt/slideLayouts/slideLayout4.xml" Id="R5553d28f6a674046" /><Relationship Type="http://schemas.openxmlformats.org/officeDocument/2006/relationships/slideLayout" Target="/ppt/slideLayouts/slideLayout5.xml" Id="Rcb1da697c63a489b" /><Relationship Type="http://schemas.openxmlformats.org/officeDocument/2006/relationships/slideLayout" Target="/ppt/slideLayouts/slideLayout6.xml" Id="R929bf23f17f148ad" /><Relationship Type="http://schemas.openxmlformats.org/officeDocument/2006/relationships/slideLayout" Target="/ppt/slideLayouts/slideLayout7.xml" Id="R81a65f10765546e5" /><Relationship Type="http://schemas.openxmlformats.org/officeDocument/2006/relationships/slideLayout" Target="/ppt/slideLayouts/slideLayout8.xml" Id="R737cd364ba3f4ca3" /><Relationship Type="http://schemas.openxmlformats.org/officeDocument/2006/relationships/slideLayout" Target="/ppt/slideLayouts/slideLayout9.xml" Id="Rd5a3635f9bee48b5" /><Relationship Type="http://schemas.openxmlformats.org/officeDocument/2006/relationships/slideLayout" Target="/ppt/slideLayouts/slideLayout10.xml" Id="Rb652fb200d0641f7" /><Relationship Type="http://schemas.openxmlformats.org/officeDocument/2006/relationships/slideLayout" Target="/ppt/slideLayouts/slideLayout11.xml" Id="Rb9a575c36f444ab7" /><Relationship Type="http://schemas.openxmlformats.org/officeDocument/2006/relationships/slideLayout" Target="/ppt/slideLayouts/slideLayout12.xml" Id="R1d2e8aaf491c4688" /><Relationship Type="http://schemas.openxmlformats.org/officeDocument/2006/relationships/slideLayout" Target="/ppt/slideLayouts/slideLayout13.xml" Id="R5b54f667c7354c3f"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06D20DC8-DCE3-A103-1D88-A82751FCCCDF}"/>
              </a:ext>
            </a:extLst>
          </p:cNvPr>
          <p:cNvSpPr>
            <a:spLocks xmlns:a="http://schemas.openxmlformats.org/drawingml/2006/main" noGrp="1"/>
          </p:cNvSpPr>
          <p:nvPr>
            <p:ph type="title" idx="0"/>
          </p:nvPr>
        </p:nvSpPr>
        <p:spPr>
          <a:xfrm xmlns:a="http://schemas.openxmlformats.org/drawingml/2006/main">
            <a:off x="838200" y="365125"/>
            <a:ext cx="10515600" cy="1325563"/>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79BB9AD6-1C43-4F75-D382-EAEFBD03A225}"/>
              </a:ext>
            </a:extLst>
          </p:cNvPr>
          <p:cNvSpPr>
            <a:spLocks xmlns:a="http://schemas.openxmlformats.org/drawingml/2006/main" noGrp="1"/>
          </p:cNvSpPr>
          <p:nvPr>
            <p:ph type="body" idx="1"/>
          </p:nvPr>
        </p:nvSpPr>
        <p:spPr>
          <a:xfrm xmlns:a="http://schemas.openxmlformats.org/drawingml/2006/main">
            <a:off x="838200" y="1825625"/>
            <a:ext cx="10515600" cy="4351338"/>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55504F01-46CE-D06D-2D4D-3BA090E33CDA}"/>
              </a:ext>
            </a:extLst>
          </p:cNvPr>
          <p:cNvSpPr>
            <a:spLocks xmlns:a="http://schemas.openxmlformats.org/drawingml/2006/main" noGrp="1"/>
          </p:cNvSpPr>
          <p:nvPr>
            <p:ph type="dt" idx="2"/>
          </p:nvPr>
        </p:nvSpPr>
        <p:spPr>
          <a:xfrm xmlns:a="http://schemas.openxmlformats.org/drawingml/2006/main">
            <a:off x="8382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82000"/>
                  </a:schemeClr>
                </a:solidFill>
              </a:defRPr>
            </a:lvl1pPr>
          </a:lstStyle>
          <a:p xmlns:a="http://schemas.openxmlformats.org/drawingml/2006/main">
            <a:fld id="{215C897A-756B-4347-B7BE-67F9F8184678}" type="datetimeFigureOut">
              <a:t>2026.09.02</a:t>
            </a:fld>
            <a:endParaRPr/>
          </a:p>
        </p:txBody>
      </p:sp>
      <p:sp>
        <p:nvSpPr>
          <p:cNvPr id="5" name="Footer Placeholder 4">
            <a:extLst xmlns:a="http://schemas.openxmlformats.org/drawingml/2006/main">
              <a:ext uri="{FF2B5EF4-FFF2-40B4-BE49-F238E27FC236}">
                <a16:creationId xmlns:a16="http://schemas.microsoft.com/office/drawing/2014/main" id="{46A5B816-E33A-EA33-5019-C0C206A326D6}"/>
              </a:ext>
            </a:extLst>
          </p:cNvPr>
          <p:cNvSpPr>
            <a:spLocks xmlns:a="http://schemas.openxmlformats.org/drawingml/2006/main" noGrp="1"/>
          </p:cNvSpPr>
          <p:nvPr>
            <p:ph type="ftr" idx="3"/>
          </p:nvPr>
        </p:nvSpPr>
        <p:spPr>
          <a:xfrm xmlns:a="http://schemas.openxmlformats.org/drawingml/2006/main">
            <a:off x="4038600" y="6356350"/>
            <a:ext cx="41148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82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EF0F2935-C73C-9292-EF27-B601E8004AB6}"/>
              </a:ext>
            </a:extLst>
          </p:cNvPr>
          <p:cNvSpPr>
            <a:spLocks xmlns:a="http://schemas.openxmlformats.org/drawingml/2006/main" noGrp="1"/>
          </p:cNvSpPr>
          <p:nvPr>
            <p:ph type="sldNum" idx="4"/>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82000"/>
                  </a:schemeClr>
                </a:solidFill>
              </a:defRPr>
            </a:lvl1pPr>
          </a:lstStyle>
          <a:p xmlns:a="http://schemas.openxmlformats.org/drawingml/2006/main">
            <a:fld id="{B125C1BC-A9EE-43B2-941F-41C98DCEFBE8}"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971f41fd4954aa7"/>
    <p:sldLayoutId xmlns:r="http://schemas.openxmlformats.org/officeDocument/2006/relationships" id="2147483650" r:id="Rfba6045b265e4d3a"/>
    <p:sldLayoutId xmlns:r="http://schemas.openxmlformats.org/officeDocument/2006/relationships" id="2147483651" r:id="Rf7aaccd45d4043cc"/>
    <p:sldLayoutId xmlns:r="http://schemas.openxmlformats.org/officeDocument/2006/relationships" id="2147483652" r:id="R5553d28f6a674046"/>
    <p:sldLayoutId xmlns:r="http://schemas.openxmlformats.org/officeDocument/2006/relationships" id="2147483653" r:id="Rcb1da697c63a489b"/>
    <p:sldLayoutId xmlns:r="http://schemas.openxmlformats.org/officeDocument/2006/relationships" id="2147483654" r:id="R929bf23f17f148ad"/>
    <p:sldLayoutId xmlns:r="http://schemas.openxmlformats.org/officeDocument/2006/relationships" id="2147483655" r:id="R81a65f10765546e5"/>
    <p:sldLayoutId xmlns:r="http://schemas.openxmlformats.org/officeDocument/2006/relationships" id="2147483656" r:id="R737cd364ba3f4ca3"/>
    <p:sldLayoutId xmlns:r="http://schemas.openxmlformats.org/officeDocument/2006/relationships" id="2147483657" r:id="Rd5a3635f9bee48b5"/>
    <p:sldLayoutId xmlns:r="http://schemas.openxmlformats.org/officeDocument/2006/relationships" id="2147483658" r:id="Rb652fb200d0641f7"/>
    <p:sldLayoutId xmlns:r="http://schemas.openxmlformats.org/officeDocument/2006/relationships" id="2147483659" r:id="Rb9a575c36f444ab7"/>
    <p:sldLayoutId xmlns:r="http://schemas.openxmlformats.org/officeDocument/2006/relationships" id="2147483660" r:id="R1d2e8aaf491c4688"/>
    <p:sldLayoutId xmlns:r="http://schemas.openxmlformats.org/officeDocument/2006/relationships" id="2147483661" r:id="R5b54f667c7354c3f"/>
  </p:sldLayoutIdLst>
  <p:txStyles>
    <p:titleStyle>
      <a:lvl1pPr xmlns:a="http://schemas.openxmlformats.org/drawingml/2006/main" algn="l" defTabSz="914400">
        <a:lnSpc>
          <a:spcPct val="90000"/>
        </a:lnSpc>
        <a:spcBef>
          <a:spcPct val="0"/>
        </a:spcBef>
        <a:buNone/>
        <a:defRPr sz="4400" kern="12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2007 - 2010">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434c3a595cc4fb6" /><Relationship Type="http://schemas.openxmlformats.org/officeDocument/2006/relationships/image" Target="/ppt/media/image2.png" Id="R2651b9ba302b4b2a" /><Relationship Type="http://schemas.openxmlformats.org/officeDocument/2006/relationships/notesSlide" Target="/ppt/notesSlides/notesSlide1.xml" Id="R2f75ec11a4294d54" /></Relationships>
</file>

<file path=ppt/slides/_rels/slide2.xml.rels>&#65279;<?xml version="1.0" encoding="utf-8"?><Relationships xmlns="http://schemas.openxmlformats.org/package/2006/relationships"><Relationship Type="http://schemas.openxmlformats.org/officeDocument/2006/relationships/slideLayout" Target="/ppt/slideLayouts/slideLayout3.xml" Id="R814cfafa318b40bf" /><Relationship Type="http://schemas.openxmlformats.org/officeDocument/2006/relationships/image" Target="/ppt/media/image.jpeg" Id="R3ce7038d377346c3" /><Relationship Type="http://schemas.openxmlformats.org/officeDocument/2006/relationships/notesSlide" Target="/ppt/notesSlides/notesSlide2.xml" Id="Re34115f1c39641e4" /></Relationships>
</file>

<file path=ppt/slides/_rels/slide3.xml.rels>&#65279;<?xml version="1.0" encoding="utf-8"?><Relationships xmlns="http://schemas.openxmlformats.org/package/2006/relationships"><Relationship Type="http://schemas.openxmlformats.org/officeDocument/2006/relationships/slideLayout" Target="/ppt/slideLayouts/slideLayout3.xml" Id="Rdf22a3fc72b94133" /><Relationship Type="http://schemas.openxmlformats.org/officeDocument/2006/relationships/image" Target="/ppt/media/image.png" Id="R253965bb69864f2a" /><Relationship Type="http://schemas.openxmlformats.org/officeDocument/2006/relationships/notesSlide" Target="/ppt/notesSlides/notesSlide3.xml" Id="R8e8fa8f5067447ac"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c1066941fec9416d" /><Relationship Type="http://schemas.openxmlformats.org/officeDocument/2006/relationships/notesSlide" Target="/ppt/notesSlides/notesSlide4.xml" Id="Rd45c718df31b4fa8" /></Relationships>
</file>

<file path=ppt/slides/_rels/slide5.xml.rels>&#65279;<?xml version="1.0" encoding="utf-8"?><Relationships xmlns="http://schemas.openxmlformats.org/package/2006/relationships"><Relationship Type="http://schemas.openxmlformats.org/officeDocument/2006/relationships/slideLayout" Target="/ppt/slideLayouts/slideLayout3.xml" Id="Ra3254dffe596449c" /><Relationship Type="http://schemas.openxmlformats.org/officeDocument/2006/relationships/notesSlide" Target="/ppt/notesSlides/notesSlide5.xml" Id="Rdd24aaacf4ec4ebc" /></Relationships>
</file>

<file path=ppt/slides/_rels/slide6.xml.rels>&#65279;<?xml version="1.0" encoding="utf-8"?><Relationships xmlns="http://schemas.openxmlformats.org/package/2006/relationships"><Relationship Type="http://schemas.openxmlformats.org/officeDocument/2006/relationships/slideLayout" Target="/ppt/slideLayouts/slideLayout3.xml" Id="R2b0e4a08748a4628" /><Relationship Type="http://schemas.openxmlformats.org/officeDocument/2006/relationships/notesSlide" Target="/ppt/notesSlides/notesSlide6.xml" Id="Rf8684bac484c49bc" /></Relationships>
</file>

<file path=ppt/slides/_rels/slide7.xml.rels>&#65279;<?xml version="1.0" encoding="utf-8"?><Relationships xmlns="http://schemas.openxmlformats.org/package/2006/relationships"><Relationship Type="http://schemas.openxmlformats.org/officeDocument/2006/relationships/slideLayout" Target="/ppt/slideLayouts/slideLayout3.xml" Id="R3397650297f54227" /><Relationship Type="http://schemas.openxmlformats.org/officeDocument/2006/relationships/notesSlide" Target="/ppt/notesSlides/notesSlide7.xml" Id="Rb40b11e56db84264" /></Relationships>
</file>

<file path=ppt/slides/_rels/slide8.xml.rels>&#65279;<?xml version="1.0" encoding="utf-8"?><Relationships xmlns="http://schemas.openxmlformats.org/package/2006/relationships"><Relationship Type="http://schemas.openxmlformats.org/officeDocument/2006/relationships/slideLayout" Target="/ppt/slideLayouts/slideLayout3.xml" Id="R0e9c794a794f4092" /><Relationship Type="http://schemas.openxmlformats.org/officeDocument/2006/relationships/image" Target="/ppt/media/image2.jpeg" Id="Rf1e374cf664b407f" /><Relationship Type="http://schemas.openxmlformats.org/officeDocument/2006/relationships/notesSlide" Target="/ppt/notesSlides/notesSlide8.xml" Id="Rb68d16d8a44f4c37" /></Relationships>
</file>

<file path=ppt/slides/_rels/slide9.xml.rels>&#65279;<?xml version="1.0" encoding="utf-8"?><Relationships xmlns="http://schemas.openxmlformats.org/package/2006/relationships"><Relationship Type="http://schemas.openxmlformats.org/officeDocument/2006/relationships/slideLayout" Target="/ppt/slideLayouts/slideLayout3.xml" Id="Rcfecef29b4354eec" /><Relationship Type="http://schemas.openxmlformats.org/officeDocument/2006/relationships/notesSlide" Target="/ppt/notesSlides/notesSlide9.xml" Id="R5e797be6791941d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3.xml" Id="R6b48b96a556145bc" /><Relationship Type="http://schemas.openxmlformats.org/officeDocument/2006/relationships/notesSlide" Target="/ppt/notesSlides/notesSlide10.xml" Id="R977f4f10a3fe441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3.xml" Id="Ref1c75d0155c4fe7" /><Relationship Type="http://schemas.openxmlformats.org/officeDocument/2006/relationships/notesSlide" Target="/ppt/notesSlides/notesSlide11.xml" Id="R89ad0f67b3e14ce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3.xml" Id="R4587adc40a974b66" /><Relationship Type="http://schemas.openxmlformats.org/officeDocument/2006/relationships/notesSlide" Target="/ppt/notesSlides/notesSlide12.xml" Id="Raba0f764a5fa4b7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dcf8b64266804f91" /><Relationship Type="http://schemas.openxmlformats.org/officeDocument/2006/relationships/notesSlide" Target="/ppt/notesSlides/notesSlide13.xml" Id="R8f325a9f39e8454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3.xml" Id="Ref73f16dcf824f06" /><Relationship Type="http://schemas.openxmlformats.org/officeDocument/2006/relationships/notesSlide" Target="/ppt/notesSlides/notesSlide14.xml" Id="R7827346fac0e4e54" /></Relationships>
</file>

<file path=ppt/slides/_rels/slide15.xml.rels>&#65279;<?xml version="1.0" encoding="utf-8"?><Relationships xmlns="http://schemas.openxmlformats.org/package/2006/relationships"><Relationship Type="http://schemas.openxmlformats.org/officeDocument/2006/relationships/slideLayout" Target="/ppt/slideLayouts/slideLayout3.xml" Id="R5f10b81eb2f34260" /><Relationship Type="http://schemas.openxmlformats.org/officeDocument/2006/relationships/notesSlide" Target="/ppt/notesSlides/notesSlide15.xml" Id="R835bc2ac4e944a15" /></Relationships>
</file>

<file path=ppt/slides/_rels/slide16.xml.rels>&#65279;<?xml version="1.0" encoding="utf-8"?><Relationships xmlns="http://schemas.openxmlformats.org/package/2006/relationships"><Relationship Type="http://schemas.openxmlformats.org/officeDocument/2006/relationships/slideLayout" Target="/ppt/slideLayouts/slideLayout3.xml" Id="Rc32a58b470bc4c30" /><Relationship Type="http://schemas.openxmlformats.org/officeDocument/2006/relationships/notesSlide" Target="/ppt/notesSlides/notesSlide16.xml" Id="Rb0fe47ea48e845b5" /></Relationships>
</file>

<file path=ppt/slides/_rels/slide17.xml.rels>&#65279;<?xml version="1.0" encoding="utf-8"?><Relationships xmlns="http://schemas.openxmlformats.org/package/2006/relationships"><Relationship Type="http://schemas.openxmlformats.org/officeDocument/2006/relationships/slideLayout" Target="/ppt/slideLayouts/slideLayout3.xml" Id="R4c40655b53fb47a2" /><Relationship Type="http://schemas.openxmlformats.org/officeDocument/2006/relationships/notesSlide" Target="/ppt/notesSlides/notesSlide17.xml" Id="R271e8bc14f3d4edd" /></Relationships>
</file>

<file path=ppt/slides/_rels/slide18.xml.rels>&#65279;<?xml version="1.0" encoding="utf-8"?><Relationships xmlns="http://schemas.openxmlformats.org/package/2006/relationships"><Relationship Type="http://schemas.openxmlformats.org/officeDocument/2006/relationships/slideLayout" Target="/ppt/slideLayouts/slideLayout3.xml" Id="R4ef670a6938847c7" /><Relationship Type="http://schemas.openxmlformats.org/officeDocument/2006/relationships/notesSlide" Target="/ppt/notesSlides/notesSlide18.xml" Id="Ra05226ca7e354957" /></Relationships>
</file>

<file path=ppt/slides/_rels/slide19.xml.rels>&#65279;<?xml version="1.0" encoding="utf-8"?><Relationships xmlns="http://schemas.openxmlformats.org/package/2006/relationships"><Relationship Type="http://schemas.openxmlformats.org/officeDocument/2006/relationships/slideLayout" Target="/ppt/slideLayouts/slideLayout3.xml" Id="R53abbcbabae14ab7" /><Relationship Type="http://schemas.openxmlformats.org/officeDocument/2006/relationships/notesSlide" Target="/ppt/notesSlides/notesSlide19.xml" Id="R462f97eb437e4f2d" /></Relationships>
</file>

<file path=ppt/slides/_rels/slide20.xml.rels>&#65279;<?xml version="1.0" encoding="utf-8"?><Relationships xmlns="http://schemas.openxmlformats.org/package/2006/relationships"><Relationship Type="http://schemas.openxmlformats.org/officeDocument/2006/relationships/slideLayout" Target="/ppt/slideLayouts/slideLayout3.xml" Id="Rfef320a14a774a93" /><Relationship Type="http://schemas.openxmlformats.org/officeDocument/2006/relationships/notesSlide" Target="/ppt/notesSlides/notesSlide20.xml" Id="R324703ca34684c8f" /></Relationships>
</file>

<file path=ppt/slides/_rels/slide21.xml.rels>&#65279;<?xml version="1.0" encoding="utf-8"?><Relationships xmlns="http://schemas.openxmlformats.org/package/2006/relationships"><Relationship Type="http://schemas.openxmlformats.org/officeDocument/2006/relationships/slideLayout" Target="/ppt/slideLayouts/slideLayout3.xml" Id="R050887db4c85460f" /><Relationship Type="http://schemas.openxmlformats.org/officeDocument/2006/relationships/notesSlide" Target="/ppt/notesSlides/notesSlide21.xml" Id="R03f7016ff09f49d4" /></Relationships>
</file>

<file path=ppt/slides/_rels/slide22.xml.rels>&#65279;<?xml version="1.0" encoding="utf-8"?><Relationships xmlns="http://schemas.openxmlformats.org/package/2006/relationships"><Relationship Type="http://schemas.openxmlformats.org/officeDocument/2006/relationships/slideLayout" Target="/ppt/slideLayouts/slideLayout3.xml" Id="Rbf1e3eb1076e468b" /><Relationship Type="http://schemas.openxmlformats.org/officeDocument/2006/relationships/notesSlide" Target="/ppt/notesSlides/notesSlide22.xml" Id="R49f3361383e84945" /></Relationships>
</file>

<file path=ppt/slides/_rels/slide23.xml.rels>&#65279;<?xml version="1.0" encoding="utf-8"?><Relationships xmlns="http://schemas.openxmlformats.org/package/2006/relationships"><Relationship Type="http://schemas.openxmlformats.org/officeDocument/2006/relationships/slideLayout" Target="/ppt/slideLayouts/slideLayout2.xml" Id="R9d37787343154d84" /><Relationship Type="http://schemas.openxmlformats.org/officeDocument/2006/relationships/notesSlide" Target="/ppt/notesSlides/notesSlide23.xml" Id="Ra724b6c8ab4d4836"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3.xml" Id="R2e5168a819194fa2" /><Relationship Type="http://schemas.openxmlformats.org/officeDocument/2006/relationships/notesSlide" Target="/ppt/notesSlides/notesSlide24.xml" Id="Rbb74a336d57e4e3f" /></Relationships>
</file>

<file path=ppt/slides/_rels/slide25.xml.rels>&#65279;<?xml version="1.0" encoding="utf-8"?><Relationships xmlns="http://schemas.openxmlformats.org/package/2006/relationships"><Relationship Type="http://schemas.openxmlformats.org/officeDocument/2006/relationships/slideLayout" Target="/ppt/slideLayouts/slideLayout3.xml" Id="R0a08c562f1e24166" /><Relationship Type="http://schemas.openxmlformats.org/officeDocument/2006/relationships/notesSlide" Target="/ppt/notesSlides/notesSlide25.xml" Id="R7800d35074bf4006" /></Relationships>
</file>

<file path=ppt/slides/_rels/slide26.xml.rels>&#65279;<?xml version="1.0" encoding="utf-8"?><Relationships xmlns="http://schemas.openxmlformats.org/package/2006/relationships"><Relationship Type="http://schemas.openxmlformats.org/officeDocument/2006/relationships/slideLayout" Target="/ppt/slideLayouts/slideLayout3.xml" Id="Rba1b6e2cd4fb43b3" /><Relationship Type="http://schemas.openxmlformats.org/officeDocument/2006/relationships/notesSlide" Target="/ppt/notesSlides/notesSlide26.xml" Id="Reb15bc4d1c64463f" /></Relationships>
</file>

<file path=ppt/slides/_rels/slide27.xml.rels>&#65279;<?xml version="1.0" encoding="utf-8"?><Relationships xmlns="http://schemas.openxmlformats.org/package/2006/relationships"><Relationship Type="http://schemas.openxmlformats.org/officeDocument/2006/relationships/slideLayout" Target="/ppt/slideLayouts/slideLayout3.xml" Id="R23138f584bde4eed" /><Relationship Type="http://schemas.openxmlformats.org/officeDocument/2006/relationships/notesSlide" Target="/ppt/notesSlides/notesSlide27.xml" Id="R2dba7f04125f40ff" /></Relationships>
</file>

<file path=ppt/slides/_rels/slide28.xml.rels>&#65279;<?xml version="1.0" encoding="utf-8"?><Relationships xmlns="http://schemas.openxmlformats.org/package/2006/relationships"><Relationship Type="http://schemas.openxmlformats.org/officeDocument/2006/relationships/slideLayout" Target="/ppt/slideLayouts/slideLayout3.xml" Id="R569e36c0b38b437a" /><Relationship Type="http://schemas.openxmlformats.org/officeDocument/2006/relationships/notesSlide" Target="/ppt/notesSlides/notesSlide28.xml" Id="Re9eb0bea024345f3" /></Relationships>
</file>

<file path=ppt/slides/_rels/slide29.xml.rels>&#65279;<?xml version="1.0" encoding="utf-8"?><Relationships xmlns="http://schemas.openxmlformats.org/package/2006/relationships"><Relationship Type="http://schemas.openxmlformats.org/officeDocument/2006/relationships/slideLayout" Target="/ppt/slideLayouts/slideLayout3.xml" Id="Ra884f20211234d81" /><Relationship Type="http://schemas.openxmlformats.org/officeDocument/2006/relationships/image" Target="/ppt/media/image3.jpeg" Id="Racc7bee062eb4b61" /><Relationship Type="http://schemas.openxmlformats.org/officeDocument/2006/relationships/notesSlide" Target="/ppt/notesSlides/notesSlide29.xml" Id="Rd23d6a28e384499e" /></Relationships>
</file>

<file path=ppt/slides/_rels/slide30.xml.rels>&#65279;<?xml version="1.0" encoding="utf-8"?><Relationships xmlns="http://schemas.openxmlformats.org/package/2006/relationships"><Relationship Type="http://schemas.openxmlformats.org/officeDocument/2006/relationships/slideLayout" Target="/ppt/slideLayouts/slideLayout2.xml" Id="R7e45e67950cb4ee1" /><Relationship Type="http://schemas.openxmlformats.org/officeDocument/2006/relationships/notesSlide" Target="/ppt/notesSlides/notesSlide30.xml" Id="Re22afbf170af4cc3" /></Relationships>
</file>

<file path=ppt/slides/_rels/slide31.xml.rels>&#65279;<?xml version="1.0" encoding="utf-8"?><Relationships xmlns="http://schemas.openxmlformats.org/package/2006/relationships"><Relationship Type="http://schemas.openxmlformats.org/officeDocument/2006/relationships/slideLayout" Target="/ppt/slideLayouts/slideLayout3.xml" Id="R2ada99376cfc4ff2" /><Relationship Type="http://schemas.openxmlformats.org/officeDocument/2006/relationships/notesSlide" Target="/ppt/notesSlides/notesSlide31.xml" Id="R066edc9f1fbc461b" /></Relationships>
</file>

<file path=ppt/slides/_rels/slide32.xml.rels>&#65279;<?xml version="1.0" encoding="utf-8"?><Relationships xmlns="http://schemas.openxmlformats.org/package/2006/relationships"><Relationship Type="http://schemas.openxmlformats.org/officeDocument/2006/relationships/slideLayout" Target="/ppt/slideLayouts/slideLayout3.xml" Id="Rf250cbb8da2e49cf" /><Relationship Type="http://schemas.openxmlformats.org/officeDocument/2006/relationships/notesSlide" Target="/ppt/notesSlides/notesSlide32.xml" Id="R288c832e586a4fd4" /></Relationships>
</file>

<file path=ppt/slides/_rels/slide33.xml.rels>&#65279;<?xml version="1.0" encoding="utf-8"?><Relationships xmlns="http://schemas.openxmlformats.org/package/2006/relationships"><Relationship Type="http://schemas.openxmlformats.org/officeDocument/2006/relationships/slideLayout" Target="/ppt/slideLayouts/slideLayout3.xml" Id="R90765c30a47c48af" /><Relationship Type="http://schemas.openxmlformats.org/officeDocument/2006/relationships/notesSlide" Target="/ppt/notesSlides/notesSlide33.xml" Id="R927b0effb0cc484f" /></Relationships>
</file>

<file path=ppt/slides/_rels/slide34.xml.rels>&#65279;<?xml version="1.0" encoding="utf-8"?><Relationships xmlns="http://schemas.openxmlformats.org/package/2006/relationships"><Relationship Type="http://schemas.openxmlformats.org/officeDocument/2006/relationships/slideLayout" Target="/ppt/slideLayouts/slideLayout3.xml" Id="R93499d54ab104330" /><Relationship Type="http://schemas.openxmlformats.org/officeDocument/2006/relationships/notesSlide" Target="/ppt/notesSlides/notesSlide34.xml" Id="Rf3bdb595cc0f451f" /></Relationships>
</file>

<file path=ppt/slides/_rels/slide35.xml.rels>&#65279;<?xml version="1.0" encoding="utf-8"?><Relationships xmlns="http://schemas.openxmlformats.org/package/2006/relationships"><Relationship Type="http://schemas.openxmlformats.org/officeDocument/2006/relationships/slideLayout" Target="/ppt/slideLayouts/slideLayout3.xml" Id="Ra9043604011b4822" /><Relationship Type="http://schemas.openxmlformats.org/officeDocument/2006/relationships/notesSlide" Target="/ppt/notesSlides/notesSlide35.xml" Id="R4176d4f518614f80" /></Relationships>
</file>

<file path=ppt/slides/_rels/slide36.xml.rels>&#65279;<?xml version="1.0" encoding="utf-8"?><Relationships xmlns="http://schemas.openxmlformats.org/package/2006/relationships"><Relationship Type="http://schemas.openxmlformats.org/officeDocument/2006/relationships/slideLayout" Target="/ppt/slideLayouts/slideLayout3.xml" Id="R491b4034fee146f8" /><Relationship Type="http://schemas.openxmlformats.org/officeDocument/2006/relationships/notesSlide" Target="/ppt/notesSlides/notesSlide36.xml" Id="R5e3f39a6227946ee" /></Relationships>
</file>

<file path=ppt/slides/_rels/slide37.xml.rels>&#65279;<?xml version="1.0" encoding="utf-8"?><Relationships xmlns="http://schemas.openxmlformats.org/package/2006/relationships"><Relationship Type="http://schemas.openxmlformats.org/officeDocument/2006/relationships/slideLayout" Target="/ppt/slideLayouts/slideLayout3.xml" Id="R0cb936c4084e48b8" /><Relationship Type="http://schemas.openxmlformats.org/officeDocument/2006/relationships/notesSlide" Target="/ppt/notesSlides/notesSlide37.xml" Id="R98fa9f6d38c9436d" /></Relationships>
</file>

<file path=ppt/slides/_rels/slide38.xml.rels>&#65279;<?xml version="1.0" encoding="utf-8"?><Relationships xmlns="http://schemas.openxmlformats.org/package/2006/relationships"><Relationship Type="http://schemas.openxmlformats.org/officeDocument/2006/relationships/slideLayout" Target="/ppt/slideLayouts/slideLayout3.xml" Id="R0656db4009424952" /><Relationship Type="http://schemas.openxmlformats.org/officeDocument/2006/relationships/notesSlide" Target="/ppt/notesSlides/notesSlide38.xml" Id="R613ef66a55ee4d85" /></Relationships>
</file>

<file path=ppt/slides/_rels/slide39.xml.rels>&#65279;<?xml version="1.0" encoding="utf-8"?><Relationships xmlns="http://schemas.openxmlformats.org/package/2006/relationships"><Relationship Type="http://schemas.openxmlformats.org/officeDocument/2006/relationships/slideLayout" Target="/ppt/slideLayouts/slideLayout3.xml" Id="R86502b24ff1c4fea" /><Relationship Type="http://schemas.openxmlformats.org/officeDocument/2006/relationships/notesSlide" Target="/ppt/notesSlides/notesSlide39.xml" Id="Rea109c9a17154530" /></Relationships>
</file>

<file path=ppt/slides/slide1.xml><?xml version="1.0" encoding="utf-8"?>
<p:sld xmlns:p="http://schemas.openxmlformats.org/presentationml/2006/main">
  <p:cSld>
    <p:bg>
      <p:bgPr>
        <a:solidFill xmlns:a="http://schemas.openxmlformats.org/drawingml/2006/main">
          <a:srgbClr val="FCFBF8"/>
        </a:solidFill>
      </p:bgPr>
    </p:bg>
    <p:spTree>
      <p:nvGrpSpPr>
        <p:cNvPr id="1" name=""/>
        <p:cNvGrpSpPr/>
        <p:nvPr/>
      </p:nvGrpSpPr>
      <p:grpSpPr>
        <a:xfrm xmlns:a="http://schemas.openxmlformats.org/drawingml/2006/main"/>
      </p:grpSpPr>
      <p:sp>
        <p:nvSpPr>
          <p:cNvPr id="4" name="Title 3">
            <a:extLst xmlns:a="http://schemas.openxmlformats.org/drawingml/2006/main">
              <a:ext uri="{FF2B5EF4-FFF2-40B4-BE49-F238E27FC236}">
                <a16:creationId xmlns:a16="http://schemas.microsoft.com/office/drawing/2014/main" id="{9D552B7E-AFDF-CAEE-26D2-7B844E7D1732}"/>
              </a:ext>
            </a:extLst>
          </p:cNvPr>
          <p:cNvSpPr>
            <a:spLocks xmlns:a="http://schemas.openxmlformats.org/drawingml/2006/main" noGrp="1"/>
          </p:cNvSpPr>
          <p:nvPr>
            <p:ph type="ctrTitle" idx="0"/>
          </p:nvPr>
        </p:nvSpPr>
        <p:spPr/>
        <p:txBody>
          <a:bodyPr xmlns:a="http://schemas.openxmlformats.org/drawingml/2006/main"/>
          <a:lstStyle xmlns:a="http://schemas.openxmlformats.org/drawingml/2006/main"/>
          <a:p xmlns:a="http://schemas.openxmlformats.org/drawingml/2006/main">
            <a:endParaRPr/>
          </a:p>
        </p:txBody>
      </p:sp>
      <p:pic>
        <p:nvPicPr>
          <p:cNvPr id="7" name="Picture 6"/>
          <p:cNvPicPr>
            <a:picLocks xmlns:a="http://schemas.openxmlformats.org/drawingml/2006/main" noChangeAspect="1"/>
          </p:cNvPicPr>
          <p:nvPr/>
        </p:nvPicPr>
        <p:blipFill>
          <a:blip xmlns:r="http://schemas.openxmlformats.org/officeDocument/2006/relationships" xmlns:a="http://schemas.openxmlformats.org/drawingml/2006/main" r:embed="R2651b9ba302b4b2a"/>
          <a:stretch xmlns:a="http://schemas.openxmlformats.org/drawingml/2006/main">
            <a:fillRect l="0" t="0" r="0" b="0"/>
          </a:stretch>
        </p:blipFill>
        <p:spPr>
          <a:xfrm xmlns:a="http://schemas.openxmlformats.org/drawingml/2006/main">
            <a:off x="3239" y="0"/>
            <a:ext cx="12185522" cy="6858000"/>
          </a:xfrm>
          <a:prstGeom xmlns:a="http://schemas.openxmlformats.org/drawingml/2006/main" prst="rect">
            <a:avLst/>
          </a:prstGeom>
        </p:spPr>
      </p:pic>
    </p:spTree>
    <p:extLst>
      <p:ext uri="{BB962C8B-B14F-4D97-AF65-F5344CB8AC3E}">
        <p14:creationId xmlns:p14="http://schemas.microsoft.com/office/powerpoint/2010/main" val="1098961716"/>
      </p:ext>
    </p:extLst>
  </p:cSld>
</p:sld>
</file>

<file path=ppt/slides/slide2.xml><?xml version="1.0" encoding="utf-8"?>
<p:sld xmlns:p="http://schemas.openxmlformats.org/presentationml/2006/main">
  <p:cSld>
    <p:bg>
      <p:bgPr>
        <a:solidFill xmlns:a="http://schemas.openxmlformats.org/drawingml/2006/main">
          <a:srgbClr val="FCFBF8"/>
        </a:solid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FCE3483-6CEA-D277-81EA-0AEE6BE974B5}"/>
              </a:ext>
            </a:extLst>
          </p:cNvPr>
          <p:cNvSpPr>
            <a:spLocks xmlns:a="http://schemas.openxmlformats.org/drawingml/2006/main" noGrp="1"/>
          </p:cNvSpPr>
          <p:nvPr>
            <p:ph type="title" idx="0"/>
          </p:nvPr>
        </p:nvSpPr>
        <p:spPr>
          <a:xfrm xmlns:a="http://schemas.openxmlformats.org/drawingml/2006/main">
            <a:off x="609600" y="438150"/>
            <a:ext cx="10972800" cy="781050"/>
          </a:xfrm>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lnSpc>
                <a:spcPct val="96000"/>
              </a:lnSpc>
              <a:buNone/>
              <a:defRPr sz="3300" b="1">
                <a:solidFill>
                  <a:srgbClr val="17232D"/>
                </a:solidFill>
                <a:latin typeface="Microsoft YaHei"/>
                <a:ea typeface="Microsoft YaHei"/>
                <a:cs typeface="Microsoft YaHei"/>
              </a:defRPr>
            </a:pPr>
            <a:r>
              <a:rPr sz="3300" b="1">
                <a:solidFill>
                  <a:srgbClr val="17232D"/>
                </a:solidFill>
                <a:latin typeface="Microsoft YaHei"/>
                <a:ea typeface="Microsoft YaHei"/>
                <a:cs typeface="Microsoft YaHei"/>
              </a:rPr>
              <a:t>Is this investment?</a:t>
            </a:r>
          </a:p>
        </p:txBody>
      </p:sp>
      <p:pic>
        <p:nvPicPr>
          <p:cNvPr id="5" name="Picture 4"/>
          <p:cNvPicPr>
            <a:picLocks xmlns:a="http://schemas.openxmlformats.org/drawingml/2006/main" noChangeAspect="1"/>
          </p:cNvPicPr>
          <p:nvPr/>
        </p:nvPicPr>
        <p:blipFill>
          <a:blip xmlns:r="http://schemas.openxmlformats.org/officeDocument/2006/relationships" xmlns:a="http://schemas.openxmlformats.org/drawingml/2006/main" r:embed="R3ce7038d377346c3"/>
          <a:srcRect xmlns:a="http://schemas.openxmlformats.org/drawingml/2006/main" l="0" t="10536" r="0" b="10536"/>
          <a:stretch xmlns:a="http://schemas.openxmlformats.org/drawingml/2006/main">
            <a:fillRect l="0" t="0" r="0" b="0"/>
          </a:stretch>
        </p:blipFill>
        <p:spPr>
          <a:xfrm xmlns:a="http://schemas.openxmlformats.org/drawingml/2006/main">
            <a:off x="571500" y="1381125"/>
            <a:ext cx="11049000" cy="4905375"/>
          </a:xfrm>
          <a:prstGeom xmlns:a="http://schemas.openxmlformats.org/drawingml/2006/main" prst="rect">
            <a:avLst/>
          </a:prstGeom>
        </p:spPr>
      </p:pic>
    </p:spTree>
    <p:extLst>
      <p:ext uri="{BB962C8B-B14F-4D97-AF65-F5344CB8AC3E}">
        <p14:creationId xmlns:p14="http://schemas.microsoft.com/office/powerpoint/2010/main" val="625765403"/>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pic>
        <p:nvPicPr>
          <p:cNvPr id="5" name="Picture 6"/>
          <p:cNvPicPr>
            <a:picLocks xmlns:a="http://schemas.openxmlformats.org/drawingml/2006/main" noChangeAspect="1"/>
          </p:cNvPicPr>
          <p:nvPr/>
        </p:nvPicPr>
        <p:blipFill>
          <a:blip xmlns:r="http://schemas.openxmlformats.org/officeDocument/2006/relationships" xmlns:a="http://schemas.openxmlformats.org/drawingml/2006/main" r:embed="R253965bb69864f2a"/>
          <a:stretch xmlns:a="http://schemas.openxmlformats.org/drawingml/2006/main">
            <a:fillRect l="0" t="0" r="0" b="0"/>
          </a:stretch>
        </p:blipFill>
        <p:spPr>
          <a:xfrm xmlns:a="http://schemas.openxmlformats.org/drawingml/2006/main">
            <a:off x="3239" y="0"/>
            <a:ext cx="12185522" cy="6858000"/>
          </a:xfrm>
          <a:prstGeom xmlns:a="http://schemas.openxmlformats.org/drawingml/2006/main" prst="rect">
            <a:avLst/>
          </a:prstGeom>
        </p:spPr>
      </p:pic>
      <p:sp>
        <p:nvSpPr>
          <p:cNvPr id="2" name="Title 1">
            <a:extLst xmlns:a="http://schemas.openxmlformats.org/drawingml/2006/main">
              <a:ext uri="{FF2B5EF4-FFF2-40B4-BE49-F238E27FC236}">
                <a16:creationId xmlns:a16="http://schemas.microsoft.com/office/drawing/2014/main" id="{BA6F2455-E349-05AF-6801-DE0AD8FF5058}"/>
              </a:ext>
            </a:extLst>
          </p:cNvPr>
          <p:cNvSpPr>
            <a:spLocks xmlns:a="http://schemas.openxmlformats.org/drawingml/2006/main" noGrp="1"/>
          </p:cNvSpPr>
          <p:nvPr>
            <p:ph type="title" idx="0"/>
          </p:nvPr>
        </p:nvSpPr>
        <p:spPr/>
        <p:txBody>
          <a:bodyPr xmlns:a="http://schemas.openxmlformats.org/drawingml/2006/main">
            <a:normAutofit/>
          </a:bodyPr>
          <a:lstStyle xmlns:a="http://schemas.openxmlformats.org/drawingml/2006/main"/>
          <a:p xmlns:a="http://schemas.openxmlformats.org/drawingml/2006/main">
            <a:pPr algn="ctr">
              <a:buNone/>
            </a:pPr>
            <a:r>
              <a:rPr sz="6000">
                <a:solidFill>
                  <a:schemeClr val="bg1"/>
                </a:solidFill>
              </a:rPr>
              <a:t>Today</a:t>
            </a:r>
            <a:endParaRPr sz="6000">
              <a:solidFill>
                <a:schemeClr val="bg1"/>
              </a:solidFill>
            </a:endParaRPr>
          </a:p>
        </p:txBody>
      </p:sp>
      <p:sp>
        <p:nvSpPr>
          <p:cNvPr id="3" name="Content Placeholder 2">
            <a:extLst xmlns:a="http://schemas.openxmlformats.org/drawingml/2006/main">
              <a:ext uri="{FF2B5EF4-FFF2-40B4-BE49-F238E27FC236}">
                <a16:creationId xmlns:a16="http://schemas.microsoft.com/office/drawing/2014/main" id="{A2558F5A-E2C3-D9E1-FAAF-45DCBE3177D8}"/>
              </a:ext>
            </a:extLst>
          </p:cNvPr>
          <p:cNvSpPr>
            <a:spLocks xmlns:a="http://schemas.openxmlformats.org/drawingml/2006/main" noGrp="1"/>
          </p:cNvSpPr>
          <p:nvPr>
            <p:ph idx="1"/>
          </p:nvPr>
        </p:nvSpPr>
        <p:spPr>
          <a:xfrm xmlns:a="http://schemas.openxmlformats.org/drawingml/2006/main">
            <a:off x="838200" y="1825625"/>
            <a:ext cx="8234464" cy="4351338"/>
          </a:xfrm>
        </p:spPr>
        <p:txBody>
          <a:bodyPr xmlns:a="http://schemas.openxmlformats.org/drawingml/2006/main">
            <a:normAutofit/>
          </a:bodyPr>
          <a:lstStyle xmlns:a="http://schemas.openxmlformats.org/drawingml/2006/main"/>
          <a:p xmlns:a="http://schemas.openxmlformats.org/drawingml/2006/main">
            <a:pPr marL="514350" indent="-514350">
              <a:lnSpc>
                <a:spcPct val="100000"/>
              </a:lnSpc>
              <a:spcAft>
                <a:spcPts val="1200"/>
              </a:spcAft>
              <a:buFont typeface="+mj-lt"/>
              <a:buAutoNum type="arabicPeriod"/>
            </a:pPr>
            <a:r>
              <a:rPr sz="3600">
                <a:solidFill>
                  <a:schemeClr val="bg1"/>
                </a:solidFill>
              </a:rPr>
              <a:t>What is </a:t>
            </a:r>
            <a:r>
              <a:rPr sz="3600" b="1">
                <a:solidFill>
                  <a:schemeClr val="bg1"/>
                </a:solidFill>
              </a:rPr>
              <a:t>investment</a:t>
            </a:r>
            <a:r>
              <a:rPr sz="3600">
                <a:solidFill>
                  <a:schemeClr val="bg1"/>
                </a:solidFill>
              </a:rPr>
              <a:t>?</a:t>
            </a:r>
          </a:p>
          <a:p xmlns:a="http://schemas.openxmlformats.org/drawingml/2006/main">
            <a:pPr marL="514350" indent="-514350">
              <a:lnSpc>
                <a:spcPct val="100000"/>
              </a:lnSpc>
              <a:spcAft>
                <a:spcPts val="1200"/>
              </a:spcAft>
              <a:buFont typeface="+mj-lt"/>
              <a:buAutoNum type="arabicPeriod"/>
            </a:pPr>
            <a:r>
              <a:rPr sz="3600">
                <a:solidFill>
                  <a:schemeClr val="bg1"/>
                </a:solidFill>
              </a:rPr>
              <a:t>What is </a:t>
            </a:r>
            <a:r>
              <a:rPr sz="3600" b="1">
                <a:solidFill>
                  <a:schemeClr val="bg1"/>
                </a:solidFill>
              </a:rPr>
              <a:t>financial investment</a:t>
            </a:r>
            <a:r>
              <a:rPr sz="3600">
                <a:solidFill>
                  <a:schemeClr val="bg1"/>
                </a:solidFill>
              </a:rPr>
              <a:t>?</a:t>
            </a:r>
          </a:p>
          <a:p xmlns:a="http://schemas.openxmlformats.org/drawingml/2006/main">
            <a:pPr marL="514350" indent="-514350">
              <a:lnSpc>
                <a:spcPct val="100000"/>
              </a:lnSpc>
              <a:spcAft>
                <a:spcPts val="1200"/>
              </a:spcAft>
              <a:buFont typeface="+mj-lt"/>
              <a:buAutoNum type="arabicPeriod"/>
            </a:pPr>
            <a:r>
              <a:rPr sz="3600">
                <a:solidFill>
                  <a:schemeClr val="bg1"/>
                </a:solidFill>
              </a:rPr>
              <a:t>Distinguish between </a:t>
            </a:r>
            <a:r>
              <a:rPr sz="3600" b="1">
                <a:solidFill>
                  <a:schemeClr val="bg1"/>
                </a:solidFill>
              </a:rPr>
              <a:t>investment, saving and speculation</a:t>
            </a:r>
            <a:r>
              <a:rPr sz="3600">
                <a:solidFill>
                  <a:schemeClr val="bg1"/>
                </a:solidFill>
              </a:rPr>
              <a:t>.</a:t>
            </a:r>
            <a:endParaRPr sz="3600">
              <a:solidFill>
                <a:schemeClr val="bg1"/>
              </a:solidFill>
            </a:endParaRPr>
          </a:p>
        </p:txBody>
      </p:sp>
    </p:spTree>
    <p:extLst>
      <p:ext uri="{BB962C8B-B14F-4D97-AF65-F5344CB8AC3E}">
        <p14:creationId xmlns:p14="http://schemas.microsoft.com/office/powerpoint/2010/main" val="2169184144"/>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181C4BB-EE82-454A-95E9-D176597838BE}"/>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pPr algn="ctr">
              <a:buNone/>
            </a:pPr>
            <a:r>
              <a:t>1. What is investment?</a:t>
            </a:r>
            <a:endParaRPr/>
          </a:p>
        </p:txBody>
      </p:sp>
    </p:spTree>
    <p:extLst>
      <p:ext uri="{BB962C8B-B14F-4D97-AF65-F5344CB8AC3E}">
        <p14:creationId xmlns:p14="http://schemas.microsoft.com/office/powerpoint/2010/main" val="1911187285"/>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ACD2C90-1956-1EA0-9BDE-335009895BE9}"/>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Exit ticket</a:t>
            </a:r>
            <a:endParaRPr/>
          </a:p>
        </p:txBody>
      </p:sp>
      <p:sp>
        <p:nvSpPr>
          <p:cNvPr id="3" name="Content Placeholder 2">
            <a:extLst xmlns:a="http://schemas.openxmlformats.org/drawingml/2006/main">
              <a:ext uri="{FF2B5EF4-FFF2-40B4-BE49-F238E27FC236}">
                <a16:creationId xmlns:a16="http://schemas.microsoft.com/office/drawing/2014/main" id="{D98E8C3C-722B-B13C-FB07-F614531963EE}"/>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marL="514350" indent="-514350">
              <a:buFont typeface="+mj-lt"/>
              <a:buAutoNum type="arabicPeriod"/>
            </a:pPr>
            <a:r>
              <a:t>What is investment?</a:t>
            </a:r>
          </a:p>
          <a:p xmlns:a="http://schemas.openxmlformats.org/drawingml/2006/main">
            <a:pPr marL="514350" indent="-514350">
              <a:buFont typeface="+mj-lt"/>
              <a:buAutoNum type="arabicPeriod"/>
            </a:pPr>
            <a:r>
              <a:t>What is financial investment?</a:t>
            </a:r>
          </a:p>
          <a:p xmlns:a="http://schemas.openxmlformats.org/drawingml/2006/main">
            <a:pPr marL="514350" indent="-514350">
              <a:buFont typeface="+mj-lt"/>
              <a:buAutoNum type="arabicPeriod"/>
            </a:pPr>
            <a:r>
              <a:t>List two financial assets.</a:t>
            </a:r>
          </a:p>
          <a:p xmlns:a="http://schemas.openxmlformats.org/drawingml/2006/main">
            <a:pPr marL="514350" indent="-514350">
              <a:buFont typeface="+mj-lt"/>
              <a:buAutoNum type="arabicPeriod"/>
            </a:pPr>
            <a:r>
              <a:t>List two non-financial assets.</a:t>
            </a:r>
            <a:endParaRPr/>
          </a:p>
        </p:txBody>
      </p:sp>
    </p:spTree>
    <p:extLst>
      <p:ext uri="{BB962C8B-B14F-4D97-AF65-F5344CB8AC3E}">
        <p14:creationId xmlns:p14="http://schemas.microsoft.com/office/powerpoint/2010/main" val="1589672751"/>
      </p:ext>
    </p:extLst>
  </p:cSld>
</p:sld>
</file>

<file path=ppt/slides/slide6.xml><?xml version="1.0" encoding="utf-8"?>
<p:sld xmlns:p="http://schemas.openxmlformats.org/presentationml/2006/main">
  <p:cSld>
    <p:bg>
      <p:bgPr>
        <a:solidFill xmlns:a="http://schemas.openxmlformats.org/drawingml/2006/main">
          <a:srgbClr val="FCFBF8"/>
        </a:solid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50FD62F-AADD-915A-DD6D-C994392E9694}"/>
              </a:ext>
            </a:extLst>
          </p:cNvPr>
          <p:cNvSpPr>
            <a:spLocks xmlns:a="http://schemas.openxmlformats.org/drawingml/2006/main" noGrp="1"/>
          </p:cNvSpPr>
          <p:nvPr>
            <p:ph type="title" idx="0"/>
          </p:nvPr>
        </p:nvSpPr>
        <p:spPr>
          <a:xfrm xmlns:a="http://schemas.openxmlformats.org/drawingml/2006/main">
            <a:off x="685800" y="590550"/>
            <a:ext cx="10820400" cy="781050"/>
          </a:xfrm>
        </p:spPr>
        <p:txBody>
          <a:bodyPr xmlns:a="http://schemas.openxmlformats.org/drawingml/2006/main" wrap="square" lIns="0" tIns="0" rIns="0" bIns="0" anchor="ctr">
            <a:normAutofit/>
          </a:bodyPr>
          <a:lstStyle xmlns:a="http://schemas.openxmlformats.org/drawingml/2006/main"/>
          <a:p xmlns:a="http://schemas.openxmlformats.org/drawingml/2006/main">
            <a:pPr algn="l">
              <a:lnSpc>
                <a:spcPct val="108000"/>
              </a:lnSpc>
              <a:buNone/>
              <a:defRPr sz="3450" b="1">
                <a:solidFill>
                  <a:srgbClr val="17232D"/>
                </a:solidFill>
                <a:latin typeface="Microsoft YaHei"/>
                <a:ea typeface="Microsoft YaHei"/>
                <a:cs typeface="Microsoft YaHei"/>
              </a:defRPr>
            </a:pPr>
            <a:r>
              <a:rPr sz="3450" b="1">
                <a:solidFill>
                  <a:srgbClr val="17232D"/>
                </a:solidFill>
                <a:latin typeface="Microsoft YaHei"/>
                <a:ea typeface="Microsoft YaHei"/>
                <a:cs typeface="Microsoft YaHei"/>
              </a:rPr>
              <a:t>A strong answer</a:t>
            </a:r>
            <a:endParaRPr/>
          </a:p>
        </p:txBody>
      </p:sp>
      <p:sp>
        <p:nvSpPr>
          <p:cNvPr id="3" name="Content Placeholder 2">
            <a:extLst xmlns:a="http://schemas.openxmlformats.org/drawingml/2006/main">
              <a:ext uri="{FF2B5EF4-FFF2-40B4-BE49-F238E27FC236}">
                <a16:creationId xmlns:a16="http://schemas.microsoft.com/office/drawing/2014/main" id="{C55E56F6-0A1D-ADCB-6DF9-639690F61E06}"/>
              </a:ext>
            </a:extLst>
          </p:cNvPr>
          <p:cNvSpPr>
            <a:spLocks xmlns:a="http://schemas.openxmlformats.org/drawingml/2006/main" noGrp="1"/>
          </p:cNvSpPr>
          <p:nvPr>
            <p:ph idx="1"/>
          </p:nvPr>
        </p:nvSpPr>
        <p:spPr>
          <a:xfrm xmlns:a="http://schemas.openxmlformats.org/drawingml/2006/main">
            <a:off x="1123950" y="1952625"/>
            <a:ext cx="9944100" cy="2952750"/>
          </a:xfrm>
        </p:spPr>
        <p:txBody>
          <a:bodyPr xmlns:a="http://schemas.openxmlformats.org/drawingml/2006/main" wrap="square" lIns="0" tIns="0" rIns="0" bIns="0" anchor="ctr">
            <a:normAutofit/>
          </a:bodyPr>
          <a:lstStyle xmlns:a="http://schemas.openxmlformats.org/drawingml/2006/main"/>
          <a:p xmlns:a="http://schemas.openxmlformats.org/drawingml/2006/main">
            <a:pPr algn="l">
              <a:buNone/>
              <a:defRPr sz="2550" b="0">
                <a:solidFill>
                  <a:srgbClr val="17232D"/>
                </a:solidFill>
                <a:latin typeface="Microsoft YaHei"/>
                <a:ea typeface="Microsoft YaHei"/>
                <a:cs typeface="Microsoft YaHei"/>
              </a:defRPr>
            </a:pPr>
            <a:r>
              <a:rPr sz="2700" b="1">
                <a:solidFill>
                  <a:srgbClr val="2B5D7E"/>
                </a:solidFill>
                <a:latin typeface="Microsoft YaHei"/>
                <a:ea typeface="Microsoft YaHei"/>
                <a:cs typeface="Microsoft YaHei"/>
              </a:rPr>
              <a:t>Mina should save some of the ¥500 first.</a:t>
            </a:r>
            <a:r>
              <a:t> She has no </a:t>
            </a:r>
            <a:r>
              <a:rPr sz="2550" b="1">
                <a:solidFill>
                  <a:srgbClr val="2B5D7E"/>
                </a:solidFill>
                <a:latin typeface="Microsoft YaHei"/>
                <a:ea typeface="Microsoft YaHei"/>
                <a:cs typeface="Microsoft YaHei"/>
              </a:rPr>
              <a:t>emergency fund</a:t>
            </a:r>
            <a:r>
              <a:t>, so </a:t>
            </a:r>
            <a:r>
              <a:rPr sz="2550" b="1">
                <a:solidFill>
                  <a:srgbClr val="2B5D7E"/>
                </a:solidFill>
                <a:latin typeface="Microsoft YaHei"/>
                <a:ea typeface="Microsoft YaHei"/>
                <a:cs typeface="Microsoft YaHei"/>
              </a:rPr>
              <a:t>liquidity</a:t>
            </a:r>
            <a:r>
              <a:t> matters: the money may be needed for </a:t>
            </a:r>
            <a:r>
              <a:rPr sz="2550" b="1">
                <a:solidFill>
                  <a:srgbClr val="2B5D7E"/>
                </a:solidFill>
                <a:latin typeface="Microsoft YaHei"/>
                <a:ea typeface="Microsoft YaHei"/>
                <a:cs typeface="Microsoft YaHei"/>
              </a:rPr>
              <a:t>essential spending</a:t>
            </a:r>
            <a:r>
              <a:t>. If she invested all of it, a </a:t>
            </a:r>
            <a:r>
              <a:rPr sz="2550" b="1">
                <a:solidFill>
                  <a:srgbClr val="F06C5B"/>
                </a:solidFill>
                <a:latin typeface="Microsoft YaHei"/>
                <a:ea typeface="Microsoft YaHei"/>
                <a:cs typeface="Microsoft YaHei"/>
              </a:rPr>
              <a:t>possible loss</a:t>
            </a:r>
            <a:r>
              <a:t> could leave her unable to meet an emergency.</a:t>
            </a:r>
          </a:p>
        </p:txBody>
      </p:sp>
    </p:spTree>
    <p:extLst>
      <p:ext uri="{BB962C8B-B14F-4D97-AF65-F5344CB8AC3E}">
        <p14:creationId xmlns:p14="http://schemas.microsoft.com/office/powerpoint/2010/main" val="3457858574"/>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4" name="Title 3">
            <a:extLst xmlns:a="http://schemas.openxmlformats.org/drawingml/2006/main">
              <a:ext uri="{FF2B5EF4-FFF2-40B4-BE49-F238E27FC236}">
                <a16:creationId xmlns:a16="http://schemas.microsoft.com/office/drawing/2014/main" id="{E6DD0FB8-8C85-1E60-EE15-B93269B01001}"/>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Explain the difference between financial investment and speculation.</a:t>
            </a:r>
            <a:endParaRPr/>
          </a:p>
        </p:txBody>
      </p:sp>
      <p:sp>
        <p:nvSpPr>
          <p:cNvPr id="3" name="Content Placeholder 2">
            <a:extLst xmlns:a="http://schemas.openxmlformats.org/drawingml/2006/main">
              <a:ext uri="{FF2B5EF4-FFF2-40B4-BE49-F238E27FC236}">
                <a16:creationId xmlns:a16="http://schemas.microsoft.com/office/drawing/2014/main" id="{9DA492F0-2B88-D18B-DE9B-58D681E0E1BF}"/>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marL="0" indent="0">
              <a:buNone/>
            </a:pPr>
            <a:r>
              <a:t>Investment involves committing money to an asset to earn income, such as dividends or rent, and to benefit from an increase in its underlying value. It is therefore often based on the asset’s long-term performance.</a:t>
            </a:r>
            <a:endParaRPr/>
          </a:p>
          <a:p xmlns:a="http://schemas.openxmlformats.org/drawingml/2006/main">
            <a:pPr marL="0" indent="0">
              <a:buNone/>
            </a:pPr>
            <a:r>
              <a:t>In contrast, S</a:t>
            </a:r>
            <a:r>
              <a:t>peculation involves buying an asset to profit from an expected change in its market price.</a:t>
            </a:r>
            <a:r>
              <a:t> </a:t>
            </a:r>
            <a:r>
              <a:t>Speculation is often shorter-term and carries greater risk because the expected price movement may not occur.</a:t>
            </a:r>
          </a:p>
        </p:txBody>
      </p:sp>
    </p:spTree>
    <p:extLst>
      <p:ext uri="{BB962C8B-B14F-4D97-AF65-F5344CB8AC3E}">
        <p14:creationId xmlns:p14="http://schemas.microsoft.com/office/powerpoint/2010/main" val="3844294307"/>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4CE2FAC-3797-2F00-FAC9-EFDF7014C094}"/>
              </a:ext>
            </a:extLst>
          </p:cNvPr>
          <p:cNvSpPr>
            <a:spLocks xmlns:a="http://schemas.openxmlformats.org/drawingml/2006/main" noGrp="1"/>
          </p:cNvSpPr>
          <p:nvPr>
            <p:ph type="title" idx="0"/>
          </p:nvPr>
        </p:nvSpPr>
        <p:spPr>
          <a:xfrm xmlns:a="http://schemas.openxmlformats.org/drawingml/2006/main">
            <a:off x="609600" y="457200"/>
            <a:ext cx="10972800" cy="723900"/>
          </a:xfrm>
        </p:spPr>
        <p:txBody>
          <a:bodyPr xmlns:a="http://schemas.openxmlformats.org/drawingml/2006/main" anchor="ctr">
            <a:normAutofit/>
          </a:bodyPr>
          <a:lstStyle xmlns:a="http://schemas.openxmlformats.org/drawingml/2006/main"/>
          <a:p xmlns:a="http://schemas.openxmlformats.org/drawingml/2006/main">
            <a:pPr marL="0" indent="0" algn="l">
              <a:buNone/>
              <a:defRPr sz="3600" b="1">
                <a:solidFill>
                  <a:srgbClr val="171717"/>
                </a:solidFill>
                <a:latin typeface="Arial"/>
                <a:ea typeface="Arial"/>
                <a:cs typeface="Arial"/>
              </a:defRPr>
            </a:pPr>
            <a:r>
              <a:rPr sz="3600" b="1">
                <a:solidFill>
                  <a:srgbClr val="171717"/>
                </a:solidFill>
                <a:latin typeface="Arial"/>
                <a:ea typeface="Arial"/>
                <a:cs typeface="Arial"/>
              </a:rPr>
              <a:t>Is this investment?</a:t>
            </a:r>
          </a:p>
        </p:txBody>
      </p:sp>
      <p:pic>
        <p:nvPicPr>
          <p:cNvPr id="5" name="Picture 4"/>
          <p:cNvPicPr>
            <a:picLocks xmlns:a="http://schemas.openxmlformats.org/drawingml/2006/main" noChangeAspect="1"/>
          </p:cNvPicPr>
          <p:nvPr/>
        </p:nvPicPr>
        <p:blipFill>
          <a:blip xmlns:r="http://schemas.openxmlformats.org/officeDocument/2006/relationships" xmlns:a="http://schemas.openxmlformats.org/drawingml/2006/main" r:embed="Rf1e374cf664b407f"/>
          <a:srcRect xmlns:a="http://schemas.openxmlformats.org/drawingml/2006/main" l="0" t="16703" r="0" b="16703"/>
          <a:stretch xmlns:a="http://schemas.openxmlformats.org/drawingml/2006/main">
            <a:fillRect l="0" t="0" r="0" b="0"/>
          </a:stretch>
        </p:blipFill>
        <p:spPr>
          <a:xfrm xmlns:a="http://schemas.openxmlformats.org/drawingml/2006/main">
            <a:off x="571500" y="1381125"/>
            <a:ext cx="11049000" cy="4905375"/>
          </a:xfrm>
          <a:prstGeom xmlns:a="http://schemas.openxmlformats.org/drawingml/2006/main" prst="rect">
            <a:avLst/>
          </a:prstGeom>
        </p:spPr>
      </p:pic>
    </p:spTree>
    <p:extLst>
      <p:ext uri="{BB962C8B-B14F-4D97-AF65-F5344CB8AC3E}">
        <p14:creationId xmlns:p14="http://schemas.microsoft.com/office/powerpoint/2010/main" val="798279976"/>
      </p:ext>
    </p:extLst>
  </p:cSld>
</p:sld>
</file>

<file path=ppt/slides/slide9.xml><?xml version="1.0" encoding="utf-8"?>
<p:sld xmlns:p="http://schemas.openxmlformats.org/presentationml/2006/main">
  <p:cSld>
    <p:bg>
      <p:bgPr>
        <a:solidFill xmlns:a="http://schemas.openxmlformats.org/drawingml/2006/main">
          <a:srgbClr val="FCFBF8"/>
        </a:solid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4A08E3E-37C7-BC1D-7555-C4FE5DC7BDCF}"/>
              </a:ext>
            </a:extLst>
          </p:cNvPr>
          <p:cNvSpPr>
            <a:spLocks xmlns:a="http://schemas.openxmlformats.org/drawingml/2006/main" noGrp="1"/>
          </p:cNvSpPr>
          <p:nvPr>
            <p:ph type="title" idx="0"/>
          </p:nvPr>
        </p:nvSpPr>
        <p:spPr>
          <a:xfrm xmlns:a="http://schemas.openxmlformats.org/drawingml/2006/main">
            <a:off x="609600" y="438150"/>
            <a:ext cx="10972800" cy="781050"/>
          </a:xfrm>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lnSpc>
                <a:spcPct val="96000"/>
              </a:lnSpc>
              <a:buNone/>
              <a:defRPr sz="2550" b="1">
                <a:solidFill>
                  <a:srgbClr val="17232D"/>
                </a:solidFill>
                <a:latin typeface="Microsoft YaHei"/>
                <a:ea typeface="Microsoft YaHei"/>
                <a:cs typeface="Microsoft YaHei"/>
              </a:defRPr>
            </a:pPr>
            <a:r>
              <a:rPr sz="2550" b="1">
                <a:solidFill>
                  <a:srgbClr val="17232D"/>
                </a:solidFill>
                <a:latin typeface="Microsoft YaHei"/>
                <a:ea typeface="Microsoft YaHei"/>
                <a:cs typeface="Microsoft YaHei"/>
              </a:rPr>
              <a:t>Choose: Investment (投资), speculation (投机) or saving (储蓄)?</a:t>
            </a:r>
          </a:p>
        </p:txBody>
      </p:sp>
      <p:sp>
        <p:nvSpPr>
          <p:cNvPr id="3" name="Content Placeholder 2">
            <a:extLst xmlns:a="http://schemas.openxmlformats.org/drawingml/2006/main">
              <a:ext uri="{FF2B5EF4-FFF2-40B4-BE49-F238E27FC236}">
                <a16:creationId xmlns:a16="http://schemas.microsoft.com/office/drawing/2014/main" id="{8F1DE0E9-51B1-D256-F5A3-E55CC614F586}"/>
              </a:ext>
            </a:extLst>
          </p:cNvPr>
          <p:cNvSpPr>
            <a:spLocks xmlns:a="http://schemas.openxmlformats.org/drawingml/2006/main" noGrp="1"/>
          </p:cNvSpPr>
          <p:nvPr>
            <p:ph idx="1"/>
          </p:nvPr>
        </p:nvSpPr>
        <p:spPr>
          <a:xfrm xmlns:a="http://schemas.openxmlformats.org/drawingml/2006/main">
            <a:off x="781050" y="1381125"/>
            <a:ext cx="10629900" cy="4953000"/>
          </a:xfrm>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ct val="108000"/>
              </a:lnSpc>
              <a:spcAft>
                <a:spcPts val="600"/>
              </a:spcAft>
              <a:buNone/>
              <a:defRPr sz="1725" b="0">
                <a:solidFill>
                  <a:srgbClr val="17232D"/>
                </a:solidFill>
                <a:latin typeface="Microsoft YaHei"/>
                <a:ea typeface="Microsoft YaHei"/>
                <a:cs typeface="Microsoft YaHei"/>
              </a:defRPr>
            </a:pPr>
            <a:r>
              <a:rPr sz="2400" b="1">
                <a:solidFill>
                  <a:srgbClr val="3B82F6"/>
                </a:solidFill>
                <a:latin typeface="Microsoft YaHei"/>
                <a:ea typeface="Microsoft YaHei"/>
                <a:cs typeface="Microsoft YaHei"/>
              </a:rPr>
              <a:t>1.</a:t>
            </a:r>
            <a:r>
              <a:rPr sz="2400" b="0">
                <a:solidFill>
                  <a:srgbClr val="17232D"/>
                </a:solidFill>
                <a:latin typeface="Microsoft YaHei"/>
                <a:ea typeface="Microsoft YaHei"/>
                <a:cs typeface="Microsoft YaHei"/>
              </a:rPr>
              <a:t> The main basis is expected income and/or evidence about underlying value; possible loss is accepted.</a:t>
            </a:r>
          </a:p>
          <a:p xmlns:a="http://schemas.openxmlformats.org/drawingml/2006/main">
            <a:pPr marL="0" indent="0" algn="l">
              <a:lnSpc>
                <a:spcPct val="108000"/>
              </a:lnSpc>
              <a:spcAft>
                <a:spcPts val="600"/>
              </a:spcAft>
              <a:buNone/>
              <a:defRPr sz="1725" b="0">
                <a:solidFill>
                  <a:srgbClr val="17232D"/>
                </a:solidFill>
                <a:latin typeface="Microsoft YaHei"/>
                <a:ea typeface="Microsoft YaHei"/>
                <a:cs typeface="Microsoft YaHei"/>
              </a:defRPr>
            </a:pPr>
            <a:r>
              <a:rPr sz="2400" b="1">
                <a:solidFill>
                  <a:srgbClr val="3B82F6"/>
                </a:solidFill>
                <a:latin typeface="Microsoft YaHei"/>
                <a:ea typeface="Microsoft YaHei"/>
                <a:cs typeface="Microsoft YaHei"/>
              </a:rPr>
              <a:t>2.</a:t>
            </a:r>
            <a:r>
              <a:rPr sz="2400" b="0">
                <a:solidFill>
                  <a:srgbClr val="17232D"/>
                </a:solidFill>
                <a:latin typeface="Microsoft YaHei"/>
                <a:ea typeface="Microsoft YaHei"/>
                <a:cs typeface="Microsoft YaHei"/>
              </a:rPr>
              <a:t> The main reason is a </a:t>
            </a:r>
            <a:r>
              <a:rPr sz="2400" b="1">
                <a:solidFill>
                  <a:srgbClr val="F06C5B"/>
                </a:solidFill>
                <a:latin typeface="Microsoft YaHei"/>
                <a:ea typeface="Microsoft YaHei"/>
                <a:cs typeface="Microsoft YaHei"/>
              </a:rPr>
              <a:t>predicted price change</a:t>
            </a:r>
            <a:r>
              <a:rPr sz="2400" b="0">
                <a:solidFill>
                  <a:srgbClr val="17232D"/>
                </a:solidFill>
                <a:latin typeface="Microsoft YaHei"/>
                <a:ea typeface="Microsoft YaHei"/>
                <a:cs typeface="Microsoft YaHei"/>
              </a:rPr>
              <a:t>; income or underlying value is not the main basis.</a:t>
            </a:r>
          </a:p>
          <a:p xmlns:a="http://schemas.openxmlformats.org/drawingml/2006/main">
            <a:pPr marL="0" indent="0" algn="l">
              <a:lnSpc>
                <a:spcPct val="108000"/>
              </a:lnSpc>
              <a:spcAft>
                <a:spcPts val="600"/>
              </a:spcAft>
              <a:buNone/>
              <a:defRPr sz="1725" b="0">
                <a:solidFill>
                  <a:srgbClr val="17232D"/>
                </a:solidFill>
                <a:latin typeface="Microsoft YaHei"/>
                <a:ea typeface="Microsoft YaHei"/>
                <a:cs typeface="Microsoft YaHei"/>
              </a:defRPr>
            </a:pPr>
            <a:r>
              <a:rPr sz="2400" b="1">
                <a:solidFill>
                  <a:srgbClr val="3B82F6"/>
                </a:solidFill>
                <a:latin typeface="Microsoft YaHei"/>
                <a:ea typeface="Microsoft YaHei"/>
                <a:cs typeface="Microsoft YaHei"/>
              </a:rPr>
              <a:t>3.</a:t>
            </a:r>
            <a:r>
              <a:rPr sz="2400" b="0">
                <a:solidFill>
                  <a:srgbClr val="17232D"/>
                </a:solidFill>
                <a:latin typeface="Microsoft YaHei"/>
                <a:ea typeface="Microsoft YaHei"/>
                <a:cs typeface="Microsoft YaHei"/>
              </a:rPr>
              <a:t> Money is kept mainly for a </a:t>
            </a:r>
            <a:r>
              <a:rPr sz="2400" b="1">
                <a:solidFill>
                  <a:srgbClr val="2F9B67"/>
                </a:solidFill>
                <a:latin typeface="Microsoft YaHei"/>
                <a:ea typeface="Microsoft YaHei"/>
                <a:cs typeface="Microsoft YaHei"/>
              </a:rPr>
              <a:t>future need, safety and ready access</a:t>
            </a:r>
            <a:r>
              <a:rPr sz="2400" b="0">
                <a:solidFill>
                  <a:srgbClr val="17232D"/>
                </a:solidFill>
                <a:latin typeface="Microsoft YaHei"/>
                <a:ea typeface="Microsoft YaHei"/>
                <a:cs typeface="Microsoft YaHei"/>
              </a:rPr>
              <a:t>.</a:t>
            </a:r>
          </a:p>
          <a:p xmlns:a="http://schemas.openxmlformats.org/drawingml/2006/main">
            <a:pPr marL="0" indent="0" algn="l">
              <a:lnSpc>
                <a:spcPct val="108000"/>
              </a:lnSpc>
              <a:spcAft>
                <a:spcPts val="600"/>
              </a:spcAft>
              <a:buNone/>
              <a:defRPr sz="1725" b="0">
                <a:solidFill>
                  <a:srgbClr val="17232D"/>
                </a:solidFill>
                <a:latin typeface="Microsoft YaHei"/>
                <a:ea typeface="Microsoft YaHei"/>
                <a:cs typeface="Microsoft YaHei"/>
              </a:defRPr>
            </a:pPr>
            <a:r>
              <a:rPr sz="2400" b="1">
                <a:solidFill>
                  <a:srgbClr val="3B82F6"/>
                </a:solidFill>
                <a:latin typeface="Microsoft YaHei"/>
                <a:ea typeface="Microsoft YaHei"/>
                <a:cs typeface="Microsoft YaHei"/>
              </a:rPr>
              <a:t>4.</a:t>
            </a:r>
            <a:r>
              <a:rPr sz="2400" b="0">
                <a:solidFill>
                  <a:srgbClr val="17232D"/>
                </a:solidFill>
                <a:latin typeface="Microsoft YaHei"/>
                <a:ea typeface="Microsoft YaHei"/>
                <a:cs typeface="Microsoft YaHei"/>
              </a:rPr>
              <a:t> </a:t>
            </a:r>
            <a:r>
              <a:rPr sz="2400" b="1">
                <a:solidFill>
                  <a:srgbClr val="17232D"/>
                </a:solidFill>
                <a:latin typeface="Microsoft YaHei"/>
                <a:ea typeface="Microsoft YaHei"/>
                <a:cs typeface="Microsoft YaHei"/>
              </a:rPr>
              <a:t>Amina</a:t>
            </a:r>
            <a:r>
              <a:rPr sz="2400" b="0">
                <a:solidFill>
                  <a:srgbClr val="17232D"/>
                </a:solidFill>
                <a:latin typeface="Microsoft YaHei"/>
                <a:ea typeface="Microsoft YaHei"/>
                <a:cs typeface="Microsoft YaHei"/>
              </a:rPr>
              <a:t> studies profits, cash flow and debt before buying a diversified share portfolio. She expects dividends and long-term price growth.</a:t>
            </a:r>
          </a:p>
          <a:p xmlns:a="http://schemas.openxmlformats.org/drawingml/2006/main">
            <a:pPr marL="0" indent="0" algn="l">
              <a:lnSpc>
                <a:spcPct val="108000"/>
              </a:lnSpc>
              <a:spcAft>
                <a:spcPts val="600"/>
              </a:spcAft>
              <a:buNone/>
              <a:defRPr sz="1725" b="0">
                <a:solidFill>
                  <a:srgbClr val="17232D"/>
                </a:solidFill>
                <a:latin typeface="Microsoft YaHei"/>
                <a:ea typeface="Microsoft YaHei"/>
                <a:cs typeface="Microsoft YaHei"/>
              </a:defRPr>
            </a:pPr>
            <a:r>
              <a:rPr sz="2400" b="1">
                <a:solidFill>
                  <a:srgbClr val="3B82F6"/>
                </a:solidFill>
                <a:latin typeface="Microsoft YaHei"/>
                <a:ea typeface="Microsoft YaHei"/>
                <a:cs typeface="Microsoft YaHei"/>
              </a:rPr>
              <a:t>5.</a:t>
            </a:r>
            <a:r>
              <a:rPr sz="2400" b="0">
                <a:solidFill>
                  <a:srgbClr val="17232D"/>
                </a:solidFill>
                <a:latin typeface="Microsoft YaHei"/>
                <a:ea typeface="Microsoft YaHei"/>
                <a:cs typeface="Microsoft YaHei"/>
              </a:rPr>
              <a:t> </a:t>
            </a:r>
            <a:r>
              <a:rPr sz="2400" b="1">
                <a:solidFill>
                  <a:srgbClr val="17232D"/>
                </a:solidFill>
                <a:latin typeface="Microsoft YaHei"/>
                <a:ea typeface="Microsoft YaHei"/>
                <a:cs typeface="Microsoft YaHei"/>
              </a:rPr>
              <a:t>Bao</a:t>
            </a:r>
            <a:r>
              <a:rPr sz="2400" b="0">
                <a:solidFill>
                  <a:srgbClr val="17232D"/>
                </a:solidFill>
                <a:latin typeface="Microsoft YaHei"/>
                <a:ea typeface="Microsoft YaHei"/>
                <a:cs typeface="Microsoft YaHei"/>
              </a:rPr>
              <a:t> borrows after an online rumour predicts a price rise next week. He will sell after an announcement.</a:t>
            </a:r>
          </a:p>
        </p:txBody>
      </p:sp>
    </p:spTree>
    <p:extLst>
      <p:ext uri="{BB962C8B-B14F-4D97-AF65-F5344CB8AC3E}">
        <p14:creationId xmlns:p14="http://schemas.microsoft.com/office/powerpoint/2010/main" val="925250668"/>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4" name="Title 3">
            <a:extLst xmlns:a="http://schemas.openxmlformats.org/drawingml/2006/main">
              <a:ext uri="{FF2B5EF4-FFF2-40B4-BE49-F238E27FC236}">
                <a16:creationId xmlns:a16="http://schemas.microsoft.com/office/drawing/2014/main" id="{E6DD0FB8-8C85-1E60-EE15-B93269B01001}"/>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Explain the difference between financial investment and speculation.</a:t>
            </a:r>
            <a:endParaRPr/>
          </a:p>
        </p:txBody>
      </p:sp>
      <p:sp>
        <p:nvSpPr>
          <p:cNvPr id="3" name="Content Placeholder 2">
            <a:extLst xmlns:a="http://schemas.openxmlformats.org/drawingml/2006/main">
              <a:ext uri="{FF2B5EF4-FFF2-40B4-BE49-F238E27FC236}">
                <a16:creationId xmlns:a16="http://schemas.microsoft.com/office/drawing/2014/main" id="{9DA492F0-2B88-D18B-DE9B-58D681E0E1BF}"/>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marL="0" indent="0">
              <a:buNone/>
            </a:pPr>
            <a:r>
              <a:t>Investment involves committing money to an asset to earn income, such as dividends or rent, and to benefit from an increase in its underlying value. It is therefore often based on the asset’s long-term performance.</a:t>
            </a:r>
            <a:endParaRPr/>
          </a:p>
          <a:p xmlns:a="http://schemas.openxmlformats.org/drawingml/2006/main">
            <a:pPr marL="0" indent="0">
              <a:buNone/>
            </a:pPr>
            <a:r>
              <a:t>In contrast, S</a:t>
            </a:r>
            <a:r>
              <a:t>peculation involves buying an asset to profit from an expected change in its market price.</a:t>
            </a:r>
            <a:r>
              <a:t> </a:t>
            </a:r>
            <a:r>
              <a:t>Speculation is often shorter-term and carries greater risk because the expected price movement may not occur.</a:t>
            </a:r>
          </a:p>
        </p:txBody>
      </p:sp>
    </p:spTree>
    <p:extLst>
      <p:ext uri="{BB962C8B-B14F-4D97-AF65-F5344CB8AC3E}">
        <p14:creationId xmlns:p14="http://schemas.microsoft.com/office/powerpoint/2010/main" val="3844294307"/>
      </p:ext>
    </p:extLst>
  </p:cSld>
</p:sld>
</file>

<file path=ppt/slides/slide11.xml><?xml version="1.0" encoding="utf-8"?>
<p:sld xmlns:p="http://schemas.openxmlformats.org/presentationml/2006/main">
  <p:cSld>
    <p:bg>
      <p:bgPr>
        <a:solidFill xmlns:a="http://schemas.openxmlformats.org/drawingml/2006/main">
          <a:srgbClr val="FCFBF8"/>
        </a:solid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4A08E3E-37C7-BC1D-7555-C4FE5DC7BDCF}"/>
              </a:ext>
            </a:extLst>
          </p:cNvPr>
          <p:cNvSpPr>
            <a:spLocks xmlns:a="http://schemas.openxmlformats.org/drawingml/2006/main" noGrp="1"/>
          </p:cNvSpPr>
          <p:nvPr>
            <p:ph type="title" idx="0"/>
          </p:nvPr>
        </p:nvSpPr>
        <p:spPr>
          <a:xfrm xmlns:a="http://schemas.openxmlformats.org/drawingml/2006/main">
            <a:off x="609600" y="438150"/>
            <a:ext cx="10972800" cy="781050"/>
          </a:xfrm>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lnSpc>
                <a:spcPct val="96000"/>
              </a:lnSpc>
              <a:buNone/>
              <a:defRPr sz="2550" b="1">
                <a:solidFill>
                  <a:srgbClr val="17232D"/>
                </a:solidFill>
                <a:latin typeface="Microsoft YaHei"/>
                <a:ea typeface="Microsoft YaHei"/>
                <a:cs typeface="Microsoft YaHei"/>
              </a:defRPr>
            </a:pPr>
            <a:r>
              <a:rPr sz="2550" b="1">
                <a:solidFill>
                  <a:srgbClr val="17232D"/>
                </a:solidFill>
                <a:latin typeface="Microsoft YaHei"/>
                <a:ea typeface="Microsoft YaHei"/>
                <a:cs typeface="Microsoft YaHei"/>
              </a:rPr>
              <a:t>Choose: Investment (投资), speculation (投机) or saving (储蓄)?</a:t>
            </a:r>
          </a:p>
        </p:txBody>
      </p:sp>
      <p:sp>
        <p:nvSpPr>
          <p:cNvPr id="3" name="Content Placeholder 2">
            <a:extLst xmlns:a="http://schemas.openxmlformats.org/drawingml/2006/main">
              <a:ext uri="{FF2B5EF4-FFF2-40B4-BE49-F238E27FC236}">
                <a16:creationId xmlns:a16="http://schemas.microsoft.com/office/drawing/2014/main" id="{8F1DE0E9-51B1-D256-F5A3-E55CC614F586}"/>
              </a:ext>
            </a:extLst>
          </p:cNvPr>
          <p:cNvSpPr>
            <a:spLocks xmlns:a="http://schemas.openxmlformats.org/drawingml/2006/main" noGrp="1"/>
          </p:cNvSpPr>
          <p:nvPr>
            <p:ph idx="1"/>
          </p:nvPr>
        </p:nvSpPr>
        <p:spPr>
          <a:xfrm xmlns:a="http://schemas.openxmlformats.org/drawingml/2006/main">
            <a:off x="781050" y="1381125"/>
            <a:ext cx="10629900" cy="4953000"/>
          </a:xfrm>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ct val="108000"/>
              </a:lnSpc>
              <a:spcAft>
                <a:spcPts val="600"/>
              </a:spcAft>
              <a:buNone/>
              <a:defRPr sz="1725" b="0">
                <a:solidFill>
                  <a:srgbClr val="17232D"/>
                </a:solidFill>
                <a:latin typeface="Microsoft YaHei"/>
                <a:ea typeface="Microsoft YaHei"/>
                <a:cs typeface="Microsoft YaHei"/>
              </a:defRPr>
            </a:pPr>
            <a:r>
              <a:rPr sz="2400" b="1">
                <a:solidFill>
                  <a:srgbClr val="3B82F6"/>
                </a:solidFill>
                <a:latin typeface="Microsoft YaHei"/>
                <a:ea typeface="Microsoft YaHei"/>
                <a:cs typeface="Microsoft YaHei"/>
              </a:rPr>
              <a:t>1.</a:t>
            </a:r>
            <a:r>
              <a:rPr sz="2400" b="0">
                <a:solidFill>
                  <a:srgbClr val="17232D"/>
                </a:solidFill>
                <a:latin typeface="Microsoft YaHei"/>
                <a:ea typeface="Microsoft YaHei"/>
                <a:cs typeface="Microsoft YaHei"/>
              </a:rPr>
              <a:t> The main basis is expected income and/or evidence about underlying value; possible loss is accepted.</a:t>
            </a:r>
          </a:p>
          <a:p xmlns:a="http://schemas.openxmlformats.org/drawingml/2006/main">
            <a:pPr marL="0" indent="0" algn="l">
              <a:lnSpc>
                <a:spcPct val="108000"/>
              </a:lnSpc>
              <a:spcAft>
                <a:spcPts val="600"/>
              </a:spcAft>
              <a:buNone/>
              <a:defRPr sz="1725" b="0">
                <a:solidFill>
                  <a:srgbClr val="17232D"/>
                </a:solidFill>
                <a:latin typeface="Microsoft YaHei"/>
                <a:ea typeface="Microsoft YaHei"/>
                <a:cs typeface="Microsoft YaHei"/>
              </a:defRPr>
            </a:pPr>
            <a:r>
              <a:rPr sz="2400" b="1">
                <a:solidFill>
                  <a:srgbClr val="3B82F6"/>
                </a:solidFill>
                <a:latin typeface="Microsoft YaHei"/>
                <a:ea typeface="Microsoft YaHei"/>
                <a:cs typeface="Microsoft YaHei"/>
              </a:rPr>
              <a:t>2.</a:t>
            </a:r>
            <a:r>
              <a:rPr sz="2400" b="0">
                <a:solidFill>
                  <a:srgbClr val="17232D"/>
                </a:solidFill>
                <a:latin typeface="Microsoft YaHei"/>
                <a:ea typeface="Microsoft YaHei"/>
                <a:cs typeface="Microsoft YaHei"/>
              </a:rPr>
              <a:t> The main reason is a </a:t>
            </a:r>
            <a:r>
              <a:rPr sz="2400" b="1">
                <a:solidFill>
                  <a:srgbClr val="F06C5B"/>
                </a:solidFill>
                <a:latin typeface="Microsoft YaHei"/>
                <a:ea typeface="Microsoft YaHei"/>
                <a:cs typeface="Microsoft YaHei"/>
              </a:rPr>
              <a:t>predicted price change</a:t>
            </a:r>
            <a:r>
              <a:rPr sz="2400" b="0">
                <a:solidFill>
                  <a:srgbClr val="17232D"/>
                </a:solidFill>
                <a:latin typeface="Microsoft YaHei"/>
                <a:ea typeface="Microsoft YaHei"/>
                <a:cs typeface="Microsoft YaHei"/>
              </a:rPr>
              <a:t>; income or underlying value is not the main basis.</a:t>
            </a:r>
          </a:p>
          <a:p xmlns:a="http://schemas.openxmlformats.org/drawingml/2006/main">
            <a:pPr marL="0" indent="0" algn="l">
              <a:lnSpc>
                <a:spcPct val="108000"/>
              </a:lnSpc>
              <a:spcAft>
                <a:spcPts val="600"/>
              </a:spcAft>
              <a:buNone/>
              <a:defRPr sz="1725" b="0">
                <a:solidFill>
                  <a:srgbClr val="17232D"/>
                </a:solidFill>
                <a:latin typeface="Microsoft YaHei"/>
                <a:ea typeface="Microsoft YaHei"/>
                <a:cs typeface="Microsoft YaHei"/>
              </a:defRPr>
            </a:pPr>
            <a:r>
              <a:rPr sz="2400" b="1">
                <a:solidFill>
                  <a:srgbClr val="3B82F6"/>
                </a:solidFill>
                <a:latin typeface="Microsoft YaHei"/>
                <a:ea typeface="Microsoft YaHei"/>
                <a:cs typeface="Microsoft YaHei"/>
              </a:rPr>
              <a:t>3.</a:t>
            </a:r>
            <a:r>
              <a:rPr sz="2400" b="0">
                <a:solidFill>
                  <a:srgbClr val="17232D"/>
                </a:solidFill>
                <a:latin typeface="Microsoft YaHei"/>
                <a:ea typeface="Microsoft YaHei"/>
                <a:cs typeface="Microsoft YaHei"/>
              </a:rPr>
              <a:t> Money is kept mainly for a </a:t>
            </a:r>
            <a:r>
              <a:rPr sz="2400" b="1">
                <a:solidFill>
                  <a:srgbClr val="2F9B67"/>
                </a:solidFill>
                <a:latin typeface="Microsoft YaHei"/>
                <a:ea typeface="Microsoft YaHei"/>
                <a:cs typeface="Microsoft YaHei"/>
              </a:rPr>
              <a:t>future need, safety and ready access</a:t>
            </a:r>
            <a:r>
              <a:rPr sz="2400" b="0">
                <a:solidFill>
                  <a:srgbClr val="17232D"/>
                </a:solidFill>
                <a:latin typeface="Microsoft YaHei"/>
                <a:ea typeface="Microsoft YaHei"/>
                <a:cs typeface="Microsoft YaHei"/>
              </a:rPr>
              <a:t>.</a:t>
            </a:r>
          </a:p>
          <a:p xmlns:a="http://schemas.openxmlformats.org/drawingml/2006/main">
            <a:pPr marL="0" indent="0" algn="l">
              <a:lnSpc>
                <a:spcPct val="108000"/>
              </a:lnSpc>
              <a:spcAft>
                <a:spcPts val="600"/>
              </a:spcAft>
              <a:buNone/>
              <a:defRPr sz="1725" b="0">
                <a:solidFill>
                  <a:srgbClr val="17232D"/>
                </a:solidFill>
                <a:latin typeface="Microsoft YaHei"/>
                <a:ea typeface="Microsoft YaHei"/>
                <a:cs typeface="Microsoft YaHei"/>
              </a:defRPr>
            </a:pPr>
            <a:r>
              <a:rPr sz="2400" b="1">
                <a:solidFill>
                  <a:srgbClr val="3B82F6"/>
                </a:solidFill>
                <a:latin typeface="Microsoft YaHei"/>
                <a:ea typeface="Microsoft YaHei"/>
                <a:cs typeface="Microsoft YaHei"/>
              </a:rPr>
              <a:t>4.</a:t>
            </a:r>
            <a:r>
              <a:rPr sz="2400" b="0">
                <a:solidFill>
                  <a:srgbClr val="17232D"/>
                </a:solidFill>
                <a:latin typeface="Microsoft YaHei"/>
                <a:ea typeface="Microsoft YaHei"/>
                <a:cs typeface="Microsoft YaHei"/>
              </a:rPr>
              <a:t> </a:t>
            </a:r>
            <a:r>
              <a:rPr sz="2400" b="1">
                <a:solidFill>
                  <a:srgbClr val="17232D"/>
                </a:solidFill>
                <a:latin typeface="Microsoft YaHei"/>
                <a:ea typeface="Microsoft YaHei"/>
                <a:cs typeface="Microsoft YaHei"/>
              </a:rPr>
              <a:t>Amina</a:t>
            </a:r>
            <a:r>
              <a:rPr sz="2400" b="0">
                <a:solidFill>
                  <a:srgbClr val="17232D"/>
                </a:solidFill>
                <a:latin typeface="Microsoft YaHei"/>
                <a:ea typeface="Microsoft YaHei"/>
                <a:cs typeface="Microsoft YaHei"/>
              </a:rPr>
              <a:t> studies profits, cash flow and debt before buying a diversified share portfolio. She expects dividends and long-term price growth.</a:t>
            </a:r>
          </a:p>
          <a:p xmlns:a="http://schemas.openxmlformats.org/drawingml/2006/main">
            <a:pPr marL="0" indent="0" algn="l">
              <a:lnSpc>
                <a:spcPct val="108000"/>
              </a:lnSpc>
              <a:spcAft>
                <a:spcPts val="600"/>
              </a:spcAft>
              <a:buNone/>
              <a:defRPr sz="1725" b="0">
                <a:solidFill>
                  <a:srgbClr val="17232D"/>
                </a:solidFill>
                <a:latin typeface="Microsoft YaHei"/>
                <a:ea typeface="Microsoft YaHei"/>
                <a:cs typeface="Microsoft YaHei"/>
              </a:defRPr>
            </a:pPr>
            <a:r>
              <a:rPr sz="2400" b="1">
                <a:solidFill>
                  <a:srgbClr val="3B82F6"/>
                </a:solidFill>
                <a:latin typeface="Microsoft YaHei"/>
                <a:ea typeface="Microsoft YaHei"/>
                <a:cs typeface="Microsoft YaHei"/>
              </a:rPr>
              <a:t>5.</a:t>
            </a:r>
            <a:r>
              <a:rPr sz="2400" b="0">
                <a:solidFill>
                  <a:srgbClr val="17232D"/>
                </a:solidFill>
                <a:latin typeface="Microsoft YaHei"/>
                <a:ea typeface="Microsoft YaHei"/>
                <a:cs typeface="Microsoft YaHei"/>
              </a:rPr>
              <a:t> </a:t>
            </a:r>
            <a:r>
              <a:rPr sz="2400" b="1">
                <a:solidFill>
                  <a:srgbClr val="17232D"/>
                </a:solidFill>
                <a:latin typeface="Microsoft YaHei"/>
                <a:ea typeface="Microsoft YaHei"/>
                <a:cs typeface="Microsoft YaHei"/>
              </a:rPr>
              <a:t>Bao</a:t>
            </a:r>
            <a:r>
              <a:rPr sz="2400" b="0">
                <a:solidFill>
                  <a:srgbClr val="17232D"/>
                </a:solidFill>
                <a:latin typeface="Microsoft YaHei"/>
                <a:ea typeface="Microsoft YaHei"/>
                <a:cs typeface="Microsoft YaHei"/>
              </a:rPr>
              <a:t> borrows after an online rumour predicts a price rise next week. He will sell after an announcement.</a:t>
            </a:r>
          </a:p>
        </p:txBody>
      </p:sp>
    </p:spTree>
    <p:extLst>
      <p:ext uri="{BB962C8B-B14F-4D97-AF65-F5344CB8AC3E}">
        <p14:creationId xmlns:p14="http://schemas.microsoft.com/office/powerpoint/2010/main" val="925250668"/>
      </p:ext>
    </p:extLst>
  </p:cSld>
</p:sld>
</file>

<file path=ppt/slides/slide12.xml><?xml version="1.0" encoding="utf-8"?>
<p:sld xmlns:p="http://schemas.openxmlformats.org/presentationml/2006/main">
  <p:cSld>
    <p:bg>
      <p:bgPr>
        <a:solidFill xmlns:a="http://schemas.openxmlformats.org/drawingml/2006/main">
          <a:srgbClr val="FCFBF8"/>
        </a:solid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50FD62F-AADD-915A-DD6D-C994392E9694}"/>
              </a:ext>
            </a:extLst>
          </p:cNvPr>
          <p:cNvSpPr>
            <a:spLocks xmlns:a="http://schemas.openxmlformats.org/drawingml/2006/main" noGrp="1"/>
          </p:cNvSpPr>
          <p:nvPr>
            <p:ph type="title" idx="0"/>
          </p:nvPr>
        </p:nvSpPr>
        <p:spPr>
          <a:xfrm xmlns:a="http://schemas.openxmlformats.org/drawingml/2006/main">
            <a:off x="685800" y="590550"/>
            <a:ext cx="10820400" cy="781050"/>
          </a:xfrm>
        </p:spPr>
        <p:txBody>
          <a:bodyPr xmlns:a="http://schemas.openxmlformats.org/drawingml/2006/main" wrap="square" lIns="0" tIns="0" rIns="0" bIns="0" anchor="ctr">
            <a:normAutofit/>
          </a:bodyPr>
          <a:lstStyle xmlns:a="http://schemas.openxmlformats.org/drawingml/2006/main"/>
          <a:p xmlns:a="http://schemas.openxmlformats.org/drawingml/2006/main">
            <a:pPr algn="l">
              <a:lnSpc>
                <a:spcPct val="108000"/>
              </a:lnSpc>
              <a:buNone/>
              <a:defRPr sz="3450" b="1">
                <a:solidFill>
                  <a:srgbClr val="17232D"/>
                </a:solidFill>
                <a:latin typeface="Microsoft YaHei"/>
                <a:ea typeface="Microsoft YaHei"/>
                <a:cs typeface="Microsoft YaHei"/>
              </a:defRPr>
            </a:pPr>
            <a:r>
              <a:rPr sz="3450" b="1">
                <a:solidFill>
                  <a:srgbClr val="17232D"/>
                </a:solidFill>
                <a:latin typeface="Microsoft YaHei"/>
                <a:ea typeface="Microsoft YaHei"/>
                <a:cs typeface="Microsoft YaHei"/>
              </a:rPr>
              <a:t>A strong answer</a:t>
            </a:r>
            <a:endParaRPr/>
          </a:p>
        </p:txBody>
      </p:sp>
      <p:sp>
        <p:nvSpPr>
          <p:cNvPr id="3" name="Content Placeholder 2">
            <a:extLst xmlns:a="http://schemas.openxmlformats.org/drawingml/2006/main">
              <a:ext uri="{FF2B5EF4-FFF2-40B4-BE49-F238E27FC236}">
                <a16:creationId xmlns:a16="http://schemas.microsoft.com/office/drawing/2014/main" id="{C55E56F6-0A1D-ADCB-6DF9-639690F61E06}"/>
              </a:ext>
            </a:extLst>
          </p:cNvPr>
          <p:cNvSpPr>
            <a:spLocks xmlns:a="http://schemas.openxmlformats.org/drawingml/2006/main" noGrp="1"/>
          </p:cNvSpPr>
          <p:nvPr>
            <p:ph idx="1"/>
          </p:nvPr>
        </p:nvSpPr>
        <p:spPr>
          <a:xfrm xmlns:a="http://schemas.openxmlformats.org/drawingml/2006/main">
            <a:off x="1123950" y="1952625"/>
            <a:ext cx="9944100" cy="2952750"/>
          </a:xfrm>
        </p:spPr>
        <p:txBody>
          <a:bodyPr xmlns:a="http://schemas.openxmlformats.org/drawingml/2006/main" wrap="square" lIns="0" tIns="0" rIns="0" bIns="0" anchor="ctr">
            <a:normAutofit/>
          </a:bodyPr>
          <a:lstStyle xmlns:a="http://schemas.openxmlformats.org/drawingml/2006/main"/>
          <a:p xmlns:a="http://schemas.openxmlformats.org/drawingml/2006/main">
            <a:pPr algn="l">
              <a:buNone/>
              <a:defRPr sz="2550" b="0">
                <a:solidFill>
                  <a:srgbClr val="17232D"/>
                </a:solidFill>
                <a:latin typeface="Microsoft YaHei"/>
                <a:ea typeface="Microsoft YaHei"/>
                <a:cs typeface="Microsoft YaHei"/>
              </a:defRPr>
            </a:pPr>
            <a:r>
              <a:rPr sz="2700" b="1">
                <a:solidFill>
                  <a:srgbClr val="2B5D7E"/>
                </a:solidFill>
                <a:latin typeface="Microsoft YaHei"/>
                <a:ea typeface="Microsoft YaHei"/>
                <a:cs typeface="Microsoft YaHei"/>
              </a:rPr>
              <a:t>Mina should save some of the ¥500 first.</a:t>
            </a:r>
            <a:r>
              <a:t> She has no </a:t>
            </a:r>
            <a:r>
              <a:rPr sz="2550" b="1">
                <a:solidFill>
                  <a:srgbClr val="2B5D7E"/>
                </a:solidFill>
                <a:latin typeface="Microsoft YaHei"/>
                <a:ea typeface="Microsoft YaHei"/>
                <a:cs typeface="Microsoft YaHei"/>
              </a:rPr>
              <a:t>emergency fund</a:t>
            </a:r>
            <a:r>
              <a:t>, so </a:t>
            </a:r>
            <a:r>
              <a:rPr sz="2550" b="1">
                <a:solidFill>
                  <a:srgbClr val="2B5D7E"/>
                </a:solidFill>
                <a:latin typeface="Microsoft YaHei"/>
                <a:ea typeface="Microsoft YaHei"/>
                <a:cs typeface="Microsoft YaHei"/>
              </a:rPr>
              <a:t>liquidity</a:t>
            </a:r>
            <a:r>
              <a:t> matters: the money may be needed for </a:t>
            </a:r>
            <a:r>
              <a:rPr sz="2550" b="1">
                <a:solidFill>
                  <a:srgbClr val="2B5D7E"/>
                </a:solidFill>
                <a:latin typeface="Microsoft YaHei"/>
                <a:ea typeface="Microsoft YaHei"/>
                <a:cs typeface="Microsoft YaHei"/>
              </a:rPr>
              <a:t>essential spending</a:t>
            </a:r>
            <a:r>
              <a:t>. If she invested all of it, a </a:t>
            </a:r>
            <a:r>
              <a:rPr sz="2550" b="1">
                <a:solidFill>
                  <a:srgbClr val="F06C5B"/>
                </a:solidFill>
                <a:latin typeface="Microsoft YaHei"/>
                <a:ea typeface="Microsoft YaHei"/>
                <a:cs typeface="Microsoft YaHei"/>
              </a:rPr>
              <a:t>possible loss</a:t>
            </a:r>
            <a:r>
              <a:t> could leave her unable to meet an emergency.</a:t>
            </a:r>
          </a:p>
        </p:txBody>
      </p:sp>
    </p:spTree>
    <p:extLst>
      <p:ext uri="{BB962C8B-B14F-4D97-AF65-F5344CB8AC3E}">
        <p14:creationId xmlns:p14="http://schemas.microsoft.com/office/powerpoint/2010/main" val="3457858574"/>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86602AC-42D7-FE47-74FE-62E45621FC7D}"/>
              </a:ext>
            </a:extLst>
          </p:cNvPr>
          <p:cNvSpPr>
            <a:spLocks xmlns:a="http://schemas.openxmlformats.org/drawingml/2006/main" noGrp="1"/>
          </p:cNvSpPr>
          <p:nvPr>
            <p:ph type="title" idx="0"/>
          </p:nvPr>
        </p:nvSpPr>
        <p:spPr/>
        <p:txBody>
          <a:bodyPr xmlns:a="http://schemas.openxmlformats.org/drawingml/2006/main">
            <a:normAutofit fontScale="90000"/>
          </a:bodyPr>
          <a:lstStyle xmlns:a="http://schemas.openxmlformats.org/drawingml/2006/main"/>
          <a:p xmlns:a="http://schemas.openxmlformats.org/drawingml/2006/main">
            <a:pPr algn="ctr">
              <a:buNone/>
            </a:pPr>
            <a:r>
              <a:t>3. Distinguish between investment, saving and speculation.</a:t>
            </a:r>
          </a:p>
        </p:txBody>
      </p:sp>
    </p:spTree>
    <p:extLst>
      <p:ext uri="{BB962C8B-B14F-4D97-AF65-F5344CB8AC3E}">
        <p14:creationId xmlns:p14="http://schemas.microsoft.com/office/powerpoint/2010/main" val="343979516"/>
      </p:ext>
    </p:extLst>
  </p:cSld>
</p:sld>
</file>

<file path=ppt/slides/slide14.xml><?xml version="1.0" encoding="utf-8"?>
<p:sld xmlns:p="http://schemas.openxmlformats.org/presentationml/2006/main">
  <p:cSld>
    <p:bg>
      <p:bgPr>
        <a:solidFill xmlns:a="http://schemas.openxmlformats.org/drawingml/2006/main">
          <a:srgbClr val="FCFBF8"/>
        </a:solid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4A08E3E-37C7-BC1D-7555-C4FE5DC7BDCF}"/>
              </a:ext>
            </a:extLst>
          </p:cNvPr>
          <p:cNvSpPr>
            <a:spLocks xmlns:a="http://schemas.openxmlformats.org/drawingml/2006/main" noGrp="1"/>
          </p:cNvSpPr>
          <p:nvPr>
            <p:ph type="title" idx="0"/>
          </p:nvPr>
        </p:nvSpPr>
        <p:spPr>
          <a:xfrm xmlns:a="http://schemas.openxmlformats.org/drawingml/2006/main">
            <a:off x="609600" y="438150"/>
            <a:ext cx="10972800" cy="781050"/>
          </a:xfrm>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lnSpc>
                <a:spcPct val="96000"/>
              </a:lnSpc>
              <a:buNone/>
              <a:defRPr sz="2550" b="1">
                <a:solidFill>
                  <a:srgbClr val="17232D"/>
                </a:solidFill>
                <a:latin typeface="Microsoft YaHei"/>
                <a:ea typeface="Microsoft YaHei"/>
                <a:cs typeface="Microsoft YaHei"/>
              </a:defRPr>
            </a:pPr>
            <a:r>
              <a:rPr sz="2550" b="1">
                <a:solidFill>
                  <a:srgbClr val="17232D"/>
                </a:solidFill>
                <a:latin typeface="Microsoft YaHei"/>
                <a:ea typeface="Microsoft YaHei"/>
                <a:cs typeface="Microsoft YaHei"/>
              </a:rPr>
              <a:t>Choose: Investment (投资), speculation (投机) or saving (储蓄)?</a:t>
            </a:r>
          </a:p>
        </p:txBody>
      </p:sp>
      <p:sp>
        <p:nvSpPr>
          <p:cNvPr id="3" name="Content Placeholder 2">
            <a:extLst xmlns:a="http://schemas.openxmlformats.org/drawingml/2006/main">
              <a:ext uri="{FF2B5EF4-FFF2-40B4-BE49-F238E27FC236}">
                <a16:creationId xmlns:a16="http://schemas.microsoft.com/office/drawing/2014/main" id="{8F1DE0E9-51B1-D256-F5A3-E55CC614F586}"/>
              </a:ext>
            </a:extLst>
          </p:cNvPr>
          <p:cNvSpPr>
            <a:spLocks xmlns:a="http://schemas.openxmlformats.org/drawingml/2006/main" noGrp="1"/>
          </p:cNvSpPr>
          <p:nvPr>
            <p:ph idx="1"/>
          </p:nvPr>
        </p:nvSpPr>
        <p:spPr>
          <a:xfrm xmlns:a="http://schemas.openxmlformats.org/drawingml/2006/main">
            <a:off x="781050" y="1381125"/>
            <a:ext cx="10629900" cy="4953000"/>
          </a:xfrm>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ct val="108000"/>
              </a:lnSpc>
              <a:spcAft>
                <a:spcPts val="600"/>
              </a:spcAft>
              <a:buNone/>
              <a:defRPr sz="1725" b="0">
                <a:solidFill>
                  <a:srgbClr val="17232D"/>
                </a:solidFill>
                <a:latin typeface="Microsoft YaHei"/>
                <a:ea typeface="Microsoft YaHei"/>
                <a:cs typeface="Microsoft YaHei"/>
              </a:defRPr>
            </a:pPr>
            <a:r>
              <a:rPr sz="2400" b="1">
                <a:solidFill>
                  <a:srgbClr val="3B82F6"/>
                </a:solidFill>
                <a:latin typeface="Microsoft YaHei"/>
                <a:ea typeface="Microsoft YaHei"/>
                <a:cs typeface="Microsoft YaHei"/>
              </a:rPr>
              <a:t>1.</a:t>
            </a:r>
            <a:r>
              <a:rPr sz="2400" b="0">
                <a:solidFill>
                  <a:srgbClr val="17232D"/>
                </a:solidFill>
                <a:latin typeface="Microsoft YaHei"/>
                <a:ea typeface="Microsoft YaHei"/>
                <a:cs typeface="Microsoft YaHei"/>
              </a:rPr>
              <a:t> The main basis is expected income and/or evidence about underlying value; possible loss is accepted.</a:t>
            </a:r>
          </a:p>
          <a:p xmlns:a="http://schemas.openxmlformats.org/drawingml/2006/main">
            <a:pPr marL="0" indent="0" algn="l">
              <a:lnSpc>
                <a:spcPct val="108000"/>
              </a:lnSpc>
              <a:spcAft>
                <a:spcPts val="600"/>
              </a:spcAft>
              <a:buNone/>
              <a:defRPr sz="1725" b="0">
                <a:solidFill>
                  <a:srgbClr val="17232D"/>
                </a:solidFill>
                <a:latin typeface="Microsoft YaHei"/>
                <a:ea typeface="Microsoft YaHei"/>
                <a:cs typeface="Microsoft YaHei"/>
              </a:defRPr>
            </a:pPr>
            <a:r>
              <a:rPr sz="2400" b="1">
                <a:solidFill>
                  <a:srgbClr val="3B82F6"/>
                </a:solidFill>
                <a:latin typeface="Microsoft YaHei"/>
                <a:ea typeface="Microsoft YaHei"/>
                <a:cs typeface="Microsoft YaHei"/>
              </a:rPr>
              <a:t>2.</a:t>
            </a:r>
            <a:r>
              <a:rPr sz="2400" b="0">
                <a:solidFill>
                  <a:srgbClr val="17232D"/>
                </a:solidFill>
                <a:latin typeface="Microsoft YaHei"/>
                <a:ea typeface="Microsoft YaHei"/>
                <a:cs typeface="Microsoft YaHei"/>
              </a:rPr>
              <a:t> The main reason is a </a:t>
            </a:r>
            <a:r>
              <a:rPr sz="2400" b="1">
                <a:solidFill>
                  <a:srgbClr val="F06C5B"/>
                </a:solidFill>
                <a:latin typeface="Microsoft YaHei"/>
                <a:ea typeface="Microsoft YaHei"/>
                <a:cs typeface="Microsoft YaHei"/>
              </a:rPr>
              <a:t>predicted price change</a:t>
            </a:r>
            <a:r>
              <a:rPr sz="2400" b="0">
                <a:solidFill>
                  <a:srgbClr val="17232D"/>
                </a:solidFill>
                <a:latin typeface="Microsoft YaHei"/>
                <a:ea typeface="Microsoft YaHei"/>
                <a:cs typeface="Microsoft YaHei"/>
              </a:rPr>
              <a:t>; income or underlying value is not the main basis.</a:t>
            </a:r>
          </a:p>
          <a:p xmlns:a="http://schemas.openxmlformats.org/drawingml/2006/main">
            <a:pPr marL="0" indent="0" algn="l">
              <a:lnSpc>
                <a:spcPct val="108000"/>
              </a:lnSpc>
              <a:spcAft>
                <a:spcPts val="600"/>
              </a:spcAft>
              <a:buNone/>
              <a:defRPr sz="1725" b="0">
                <a:solidFill>
                  <a:srgbClr val="17232D"/>
                </a:solidFill>
                <a:latin typeface="Microsoft YaHei"/>
                <a:ea typeface="Microsoft YaHei"/>
                <a:cs typeface="Microsoft YaHei"/>
              </a:defRPr>
            </a:pPr>
            <a:r>
              <a:rPr sz="2400" b="1">
                <a:solidFill>
                  <a:srgbClr val="3B82F6"/>
                </a:solidFill>
                <a:latin typeface="Microsoft YaHei"/>
                <a:ea typeface="Microsoft YaHei"/>
                <a:cs typeface="Microsoft YaHei"/>
              </a:rPr>
              <a:t>3.</a:t>
            </a:r>
            <a:r>
              <a:rPr sz="2400" b="0">
                <a:solidFill>
                  <a:srgbClr val="17232D"/>
                </a:solidFill>
                <a:latin typeface="Microsoft YaHei"/>
                <a:ea typeface="Microsoft YaHei"/>
                <a:cs typeface="Microsoft YaHei"/>
              </a:rPr>
              <a:t> Money is kept mainly for a </a:t>
            </a:r>
            <a:r>
              <a:rPr sz="2400" b="1">
                <a:solidFill>
                  <a:srgbClr val="2F9B67"/>
                </a:solidFill>
                <a:latin typeface="Microsoft YaHei"/>
                <a:ea typeface="Microsoft YaHei"/>
                <a:cs typeface="Microsoft YaHei"/>
              </a:rPr>
              <a:t>future need, safety and ready access</a:t>
            </a:r>
            <a:r>
              <a:rPr sz="2400" b="0">
                <a:solidFill>
                  <a:srgbClr val="17232D"/>
                </a:solidFill>
                <a:latin typeface="Microsoft YaHei"/>
                <a:ea typeface="Microsoft YaHei"/>
                <a:cs typeface="Microsoft YaHei"/>
              </a:rPr>
              <a:t>.</a:t>
            </a:r>
          </a:p>
          <a:p xmlns:a="http://schemas.openxmlformats.org/drawingml/2006/main">
            <a:pPr marL="0" indent="0" algn="l">
              <a:lnSpc>
                <a:spcPct val="108000"/>
              </a:lnSpc>
              <a:spcAft>
                <a:spcPts val="600"/>
              </a:spcAft>
              <a:buNone/>
              <a:defRPr sz="1725" b="0">
                <a:solidFill>
                  <a:srgbClr val="17232D"/>
                </a:solidFill>
                <a:latin typeface="Microsoft YaHei"/>
                <a:ea typeface="Microsoft YaHei"/>
                <a:cs typeface="Microsoft YaHei"/>
              </a:defRPr>
            </a:pPr>
            <a:r>
              <a:rPr sz="2400" b="1">
                <a:solidFill>
                  <a:srgbClr val="3B82F6"/>
                </a:solidFill>
                <a:latin typeface="Microsoft YaHei"/>
                <a:ea typeface="Microsoft YaHei"/>
                <a:cs typeface="Microsoft YaHei"/>
              </a:rPr>
              <a:t>4.</a:t>
            </a:r>
            <a:r>
              <a:rPr sz="2400" b="0">
                <a:solidFill>
                  <a:srgbClr val="17232D"/>
                </a:solidFill>
                <a:latin typeface="Microsoft YaHei"/>
                <a:ea typeface="Microsoft YaHei"/>
                <a:cs typeface="Microsoft YaHei"/>
              </a:rPr>
              <a:t> </a:t>
            </a:r>
            <a:r>
              <a:rPr sz="2400" b="1">
                <a:solidFill>
                  <a:srgbClr val="17232D"/>
                </a:solidFill>
                <a:latin typeface="Microsoft YaHei"/>
                <a:ea typeface="Microsoft YaHei"/>
                <a:cs typeface="Microsoft YaHei"/>
              </a:rPr>
              <a:t>Amina</a:t>
            </a:r>
            <a:r>
              <a:rPr sz="2400" b="0">
                <a:solidFill>
                  <a:srgbClr val="17232D"/>
                </a:solidFill>
                <a:latin typeface="Microsoft YaHei"/>
                <a:ea typeface="Microsoft YaHei"/>
                <a:cs typeface="Microsoft YaHei"/>
              </a:rPr>
              <a:t> studies profits, cash flow and debt before buying a diversified share portfolio. She expects dividends and long-term price growth.</a:t>
            </a:r>
          </a:p>
          <a:p xmlns:a="http://schemas.openxmlformats.org/drawingml/2006/main">
            <a:pPr marL="0" indent="0" algn="l">
              <a:lnSpc>
                <a:spcPct val="108000"/>
              </a:lnSpc>
              <a:spcAft>
                <a:spcPts val="600"/>
              </a:spcAft>
              <a:buNone/>
              <a:defRPr sz="1725" b="0">
                <a:solidFill>
                  <a:srgbClr val="17232D"/>
                </a:solidFill>
                <a:latin typeface="Microsoft YaHei"/>
                <a:ea typeface="Microsoft YaHei"/>
                <a:cs typeface="Microsoft YaHei"/>
              </a:defRPr>
            </a:pPr>
            <a:r>
              <a:rPr sz="2400" b="1">
                <a:solidFill>
                  <a:srgbClr val="3B82F6"/>
                </a:solidFill>
                <a:latin typeface="Microsoft YaHei"/>
                <a:ea typeface="Microsoft YaHei"/>
                <a:cs typeface="Microsoft YaHei"/>
              </a:rPr>
              <a:t>5.</a:t>
            </a:r>
            <a:r>
              <a:rPr sz="2400" b="0">
                <a:solidFill>
                  <a:srgbClr val="17232D"/>
                </a:solidFill>
                <a:latin typeface="Microsoft YaHei"/>
                <a:ea typeface="Microsoft YaHei"/>
                <a:cs typeface="Microsoft YaHei"/>
              </a:rPr>
              <a:t> </a:t>
            </a:r>
            <a:r>
              <a:rPr sz="2400" b="1">
                <a:solidFill>
                  <a:srgbClr val="17232D"/>
                </a:solidFill>
                <a:latin typeface="Microsoft YaHei"/>
                <a:ea typeface="Microsoft YaHei"/>
                <a:cs typeface="Microsoft YaHei"/>
              </a:rPr>
              <a:t>Bao</a:t>
            </a:r>
            <a:r>
              <a:rPr sz="2400" b="0">
                <a:solidFill>
                  <a:srgbClr val="17232D"/>
                </a:solidFill>
                <a:latin typeface="Microsoft YaHei"/>
                <a:ea typeface="Microsoft YaHei"/>
                <a:cs typeface="Microsoft YaHei"/>
              </a:rPr>
              <a:t> borrows after an online rumour predicts a price rise next week. He will sell after an announcement.</a:t>
            </a:r>
          </a:p>
        </p:txBody>
      </p:sp>
    </p:spTree>
    <p:extLst>
      <p:ext uri="{BB962C8B-B14F-4D97-AF65-F5344CB8AC3E}">
        <p14:creationId xmlns:p14="http://schemas.microsoft.com/office/powerpoint/2010/main" val="925250668"/>
      </p:ext>
    </p:extLst>
  </p:cSld>
</p:sld>
</file>

<file path=ppt/slides/slide15.xml><?xml version="1.0" encoding="utf-8"?>
<p:sld xmlns:p="http://schemas.openxmlformats.org/presentationml/2006/main">
  <p:cSld>
    <p:bg>
      <p:bgPr>
        <a:solidFill xmlns:a="http://schemas.openxmlformats.org/drawingml/2006/main">
          <a:srgbClr val="FCFBF8"/>
        </a:solid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4A08E3E-37C7-BC1D-7555-C4FE5DC7BDCF}"/>
              </a:ext>
            </a:extLst>
          </p:cNvPr>
          <p:cNvSpPr>
            <a:spLocks xmlns:a="http://schemas.openxmlformats.org/drawingml/2006/main" noGrp="1"/>
          </p:cNvSpPr>
          <p:nvPr>
            <p:ph type="title" idx="0"/>
          </p:nvPr>
        </p:nvSpPr>
        <p:spPr>
          <a:xfrm xmlns:a="http://schemas.openxmlformats.org/drawingml/2006/main">
            <a:off x="609600" y="438150"/>
            <a:ext cx="10972800" cy="781050"/>
          </a:xfrm>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lnSpc>
                <a:spcPct val="96000"/>
              </a:lnSpc>
              <a:buNone/>
              <a:defRPr sz="2550" b="1">
                <a:solidFill>
                  <a:srgbClr val="17232D"/>
                </a:solidFill>
                <a:latin typeface="Microsoft YaHei"/>
                <a:ea typeface="Microsoft YaHei"/>
                <a:cs typeface="Microsoft YaHei"/>
              </a:defRPr>
            </a:pPr>
            <a:r>
              <a:rPr sz="2550" b="1">
                <a:solidFill>
                  <a:srgbClr val="17232D"/>
                </a:solidFill>
                <a:latin typeface="Microsoft YaHei"/>
                <a:ea typeface="Microsoft YaHei"/>
                <a:cs typeface="Microsoft YaHei"/>
              </a:rPr>
              <a:t>Choose: Investment (投资), speculation (投机) or saving (储蓄)?</a:t>
            </a:r>
          </a:p>
        </p:txBody>
      </p:sp>
      <p:sp>
        <p:nvSpPr>
          <p:cNvPr id="3" name="Content Placeholder 2">
            <a:extLst xmlns:a="http://schemas.openxmlformats.org/drawingml/2006/main">
              <a:ext uri="{FF2B5EF4-FFF2-40B4-BE49-F238E27FC236}">
                <a16:creationId xmlns:a16="http://schemas.microsoft.com/office/drawing/2014/main" id="{8F1DE0E9-51B1-D256-F5A3-E55CC614F586}"/>
              </a:ext>
            </a:extLst>
          </p:cNvPr>
          <p:cNvSpPr>
            <a:spLocks xmlns:a="http://schemas.openxmlformats.org/drawingml/2006/main" noGrp="1"/>
          </p:cNvSpPr>
          <p:nvPr>
            <p:ph idx="1"/>
          </p:nvPr>
        </p:nvSpPr>
        <p:spPr>
          <a:xfrm xmlns:a="http://schemas.openxmlformats.org/drawingml/2006/main">
            <a:off x="781050" y="1381125"/>
            <a:ext cx="10629900" cy="4953000"/>
          </a:xfrm>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ct val="108000"/>
              </a:lnSpc>
              <a:spcAft>
                <a:spcPts val="600"/>
              </a:spcAft>
              <a:buNone/>
              <a:defRPr sz="1725" b="0">
                <a:solidFill>
                  <a:srgbClr val="17232D"/>
                </a:solidFill>
                <a:latin typeface="Microsoft YaHei"/>
                <a:ea typeface="Microsoft YaHei"/>
                <a:cs typeface="Microsoft YaHei"/>
              </a:defRPr>
            </a:pPr>
            <a:r>
              <a:rPr sz="2400" b="1">
                <a:solidFill>
                  <a:srgbClr val="3B82F6"/>
                </a:solidFill>
                <a:latin typeface="Microsoft YaHei"/>
                <a:ea typeface="Microsoft YaHei"/>
                <a:cs typeface="Microsoft YaHei"/>
              </a:rPr>
              <a:t>1.</a:t>
            </a:r>
            <a:r>
              <a:rPr sz="2400" b="0">
                <a:solidFill>
                  <a:srgbClr val="17232D"/>
                </a:solidFill>
                <a:latin typeface="Microsoft YaHei"/>
                <a:ea typeface="Microsoft YaHei"/>
                <a:cs typeface="Microsoft YaHei"/>
              </a:rPr>
              <a:t> The main basis is expected income and/or evidence about underlying value; possible loss is accepted.</a:t>
            </a:r>
          </a:p>
          <a:p xmlns:a="http://schemas.openxmlformats.org/drawingml/2006/main">
            <a:pPr marL="0" indent="0" algn="l">
              <a:lnSpc>
                <a:spcPct val="108000"/>
              </a:lnSpc>
              <a:spcAft>
                <a:spcPts val="600"/>
              </a:spcAft>
              <a:buNone/>
              <a:defRPr sz="1725" b="0">
                <a:solidFill>
                  <a:srgbClr val="17232D"/>
                </a:solidFill>
                <a:latin typeface="Microsoft YaHei"/>
                <a:ea typeface="Microsoft YaHei"/>
                <a:cs typeface="Microsoft YaHei"/>
              </a:defRPr>
            </a:pPr>
            <a:r>
              <a:rPr sz="2400" b="1">
                <a:solidFill>
                  <a:srgbClr val="3B82F6"/>
                </a:solidFill>
                <a:latin typeface="Microsoft YaHei"/>
                <a:ea typeface="Microsoft YaHei"/>
                <a:cs typeface="Microsoft YaHei"/>
              </a:rPr>
              <a:t>2.</a:t>
            </a:r>
            <a:r>
              <a:rPr sz="2400" b="0">
                <a:solidFill>
                  <a:srgbClr val="17232D"/>
                </a:solidFill>
                <a:latin typeface="Microsoft YaHei"/>
                <a:ea typeface="Microsoft YaHei"/>
                <a:cs typeface="Microsoft YaHei"/>
              </a:rPr>
              <a:t> The main reason is a </a:t>
            </a:r>
            <a:r>
              <a:rPr sz="2400" b="1">
                <a:solidFill>
                  <a:srgbClr val="F06C5B"/>
                </a:solidFill>
                <a:latin typeface="Microsoft YaHei"/>
                <a:ea typeface="Microsoft YaHei"/>
                <a:cs typeface="Microsoft YaHei"/>
              </a:rPr>
              <a:t>predicted price change</a:t>
            </a:r>
            <a:r>
              <a:rPr sz="2400" b="0">
                <a:solidFill>
                  <a:srgbClr val="17232D"/>
                </a:solidFill>
                <a:latin typeface="Microsoft YaHei"/>
                <a:ea typeface="Microsoft YaHei"/>
                <a:cs typeface="Microsoft YaHei"/>
              </a:rPr>
              <a:t>; income or underlying value is not the main basis.</a:t>
            </a:r>
          </a:p>
          <a:p xmlns:a="http://schemas.openxmlformats.org/drawingml/2006/main">
            <a:pPr marL="0" indent="0" algn="l">
              <a:lnSpc>
                <a:spcPct val="108000"/>
              </a:lnSpc>
              <a:spcAft>
                <a:spcPts val="600"/>
              </a:spcAft>
              <a:buNone/>
              <a:defRPr sz="1725" b="0">
                <a:solidFill>
                  <a:srgbClr val="17232D"/>
                </a:solidFill>
                <a:latin typeface="Microsoft YaHei"/>
                <a:ea typeface="Microsoft YaHei"/>
                <a:cs typeface="Microsoft YaHei"/>
              </a:defRPr>
            </a:pPr>
            <a:r>
              <a:rPr sz="2400" b="1">
                <a:solidFill>
                  <a:srgbClr val="3B82F6"/>
                </a:solidFill>
                <a:latin typeface="Microsoft YaHei"/>
                <a:ea typeface="Microsoft YaHei"/>
                <a:cs typeface="Microsoft YaHei"/>
              </a:rPr>
              <a:t>3.</a:t>
            </a:r>
            <a:r>
              <a:rPr sz="2400" b="0">
                <a:solidFill>
                  <a:srgbClr val="17232D"/>
                </a:solidFill>
                <a:latin typeface="Microsoft YaHei"/>
                <a:ea typeface="Microsoft YaHei"/>
                <a:cs typeface="Microsoft YaHei"/>
              </a:rPr>
              <a:t> Money is kept mainly for a </a:t>
            </a:r>
            <a:r>
              <a:rPr sz="2400" b="1">
                <a:solidFill>
                  <a:srgbClr val="2F9B67"/>
                </a:solidFill>
                <a:latin typeface="Microsoft YaHei"/>
                <a:ea typeface="Microsoft YaHei"/>
                <a:cs typeface="Microsoft YaHei"/>
              </a:rPr>
              <a:t>future need, safety and ready access</a:t>
            </a:r>
            <a:r>
              <a:rPr sz="2400" b="0">
                <a:solidFill>
                  <a:srgbClr val="17232D"/>
                </a:solidFill>
                <a:latin typeface="Microsoft YaHei"/>
                <a:ea typeface="Microsoft YaHei"/>
                <a:cs typeface="Microsoft YaHei"/>
              </a:rPr>
              <a:t>.</a:t>
            </a:r>
          </a:p>
          <a:p xmlns:a="http://schemas.openxmlformats.org/drawingml/2006/main">
            <a:pPr marL="0" indent="0" algn="l">
              <a:lnSpc>
                <a:spcPct val="108000"/>
              </a:lnSpc>
              <a:spcAft>
                <a:spcPts val="600"/>
              </a:spcAft>
              <a:buNone/>
              <a:defRPr sz="1725" b="0">
                <a:solidFill>
                  <a:srgbClr val="17232D"/>
                </a:solidFill>
                <a:latin typeface="Microsoft YaHei"/>
                <a:ea typeface="Microsoft YaHei"/>
                <a:cs typeface="Microsoft YaHei"/>
              </a:defRPr>
            </a:pPr>
            <a:r>
              <a:rPr sz="2400" b="1">
                <a:solidFill>
                  <a:srgbClr val="3B82F6"/>
                </a:solidFill>
                <a:latin typeface="Microsoft YaHei"/>
                <a:ea typeface="Microsoft YaHei"/>
                <a:cs typeface="Microsoft YaHei"/>
              </a:rPr>
              <a:t>4.</a:t>
            </a:r>
            <a:r>
              <a:rPr sz="2400" b="0">
                <a:solidFill>
                  <a:srgbClr val="17232D"/>
                </a:solidFill>
                <a:latin typeface="Microsoft YaHei"/>
                <a:ea typeface="Microsoft YaHei"/>
                <a:cs typeface="Microsoft YaHei"/>
              </a:rPr>
              <a:t> </a:t>
            </a:r>
            <a:r>
              <a:rPr sz="2400" b="1">
                <a:solidFill>
                  <a:srgbClr val="17232D"/>
                </a:solidFill>
                <a:latin typeface="Microsoft YaHei"/>
                <a:ea typeface="Microsoft YaHei"/>
                <a:cs typeface="Microsoft YaHei"/>
              </a:rPr>
              <a:t>Amina</a:t>
            </a:r>
            <a:r>
              <a:rPr sz="2400" b="0">
                <a:solidFill>
                  <a:srgbClr val="17232D"/>
                </a:solidFill>
                <a:latin typeface="Microsoft YaHei"/>
                <a:ea typeface="Microsoft YaHei"/>
                <a:cs typeface="Microsoft YaHei"/>
              </a:rPr>
              <a:t> studies profits, cash flow and debt before buying a diversified share portfolio. She expects dividends and long-term price growth.</a:t>
            </a:r>
          </a:p>
          <a:p xmlns:a="http://schemas.openxmlformats.org/drawingml/2006/main">
            <a:pPr marL="0" indent="0" algn="l">
              <a:lnSpc>
                <a:spcPct val="108000"/>
              </a:lnSpc>
              <a:spcAft>
                <a:spcPts val="600"/>
              </a:spcAft>
              <a:buNone/>
              <a:defRPr sz="1725" b="0">
                <a:solidFill>
                  <a:srgbClr val="17232D"/>
                </a:solidFill>
                <a:latin typeface="Microsoft YaHei"/>
                <a:ea typeface="Microsoft YaHei"/>
                <a:cs typeface="Microsoft YaHei"/>
              </a:defRPr>
            </a:pPr>
            <a:r>
              <a:rPr sz="2400" b="1">
                <a:solidFill>
                  <a:srgbClr val="3B82F6"/>
                </a:solidFill>
                <a:latin typeface="Microsoft YaHei"/>
                <a:ea typeface="Microsoft YaHei"/>
                <a:cs typeface="Microsoft YaHei"/>
              </a:rPr>
              <a:t>5.</a:t>
            </a:r>
            <a:r>
              <a:rPr sz="2400" b="0">
                <a:solidFill>
                  <a:srgbClr val="17232D"/>
                </a:solidFill>
                <a:latin typeface="Microsoft YaHei"/>
                <a:ea typeface="Microsoft YaHei"/>
                <a:cs typeface="Microsoft YaHei"/>
              </a:rPr>
              <a:t> </a:t>
            </a:r>
            <a:r>
              <a:rPr sz="2400" b="1">
                <a:solidFill>
                  <a:srgbClr val="17232D"/>
                </a:solidFill>
                <a:latin typeface="Microsoft YaHei"/>
                <a:ea typeface="Microsoft YaHei"/>
                <a:cs typeface="Microsoft YaHei"/>
              </a:rPr>
              <a:t>Bao</a:t>
            </a:r>
            <a:r>
              <a:rPr sz="2400" b="0">
                <a:solidFill>
                  <a:srgbClr val="17232D"/>
                </a:solidFill>
                <a:latin typeface="Microsoft YaHei"/>
                <a:ea typeface="Microsoft YaHei"/>
                <a:cs typeface="Microsoft YaHei"/>
              </a:rPr>
              <a:t> borrows after an online rumour predicts a price rise next week. He will sell after an announcement.</a:t>
            </a:r>
          </a:p>
        </p:txBody>
      </p:sp>
    </p:spTree>
    <p:extLst>
      <p:ext uri="{BB962C8B-B14F-4D97-AF65-F5344CB8AC3E}">
        <p14:creationId xmlns:p14="http://schemas.microsoft.com/office/powerpoint/2010/main" val="925250668"/>
      </p:ext>
    </p:extLst>
  </p:cSld>
</p:sld>
</file>

<file path=ppt/slides/slide16.xml><?xml version="1.0" encoding="utf-8"?>
<p:sld xmlns:p="http://schemas.openxmlformats.org/presentationml/2006/main">
  <p:cSld>
    <p:bg>
      <p:bgPr>
        <a:solidFill xmlns:a="http://schemas.openxmlformats.org/drawingml/2006/main">
          <a:srgbClr val="FCFBF8"/>
        </a:solid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50FD62F-AADD-915A-DD6D-C994392E9694}"/>
              </a:ext>
            </a:extLst>
          </p:cNvPr>
          <p:cNvSpPr>
            <a:spLocks xmlns:a="http://schemas.openxmlformats.org/drawingml/2006/main" noGrp="1"/>
          </p:cNvSpPr>
          <p:nvPr>
            <p:ph type="title" idx="0"/>
          </p:nvPr>
        </p:nvSpPr>
        <p:spPr>
          <a:xfrm xmlns:a="http://schemas.openxmlformats.org/drawingml/2006/main">
            <a:off x="685800" y="590550"/>
            <a:ext cx="10820400" cy="781050"/>
          </a:xfrm>
        </p:spPr>
        <p:txBody>
          <a:bodyPr xmlns:a="http://schemas.openxmlformats.org/drawingml/2006/main" wrap="square" lIns="0" tIns="0" rIns="0" bIns="0" anchor="ctr">
            <a:normAutofit/>
          </a:bodyPr>
          <a:lstStyle xmlns:a="http://schemas.openxmlformats.org/drawingml/2006/main"/>
          <a:p xmlns:a="http://schemas.openxmlformats.org/drawingml/2006/main">
            <a:pPr algn="l">
              <a:lnSpc>
                <a:spcPct val="108000"/>
              </a:lnSpc>
              <a:buNone/>
              <a:defRPr sz="3450" b="1">
                <a:solidFill>
                  <a:srgbClr val="17232D"/>
                </a:solidFill>
                <a:latin typeface="Microsoft YaHei"/>
                <a:ea typeface="Microsoft YaHei"/>
                <a:cs typeface="Microsoft YaHei"/>
              </a:defRPr>
            </a:pPr>
            <a:r>
              <a:rPr sz="3450" b="1">
                <a:solidFill>
                  <a:srgbClr val="17232D"/>
                </a:solidFill>
                <a:latin typeface="Microsoft YaHei"/>
                <a:ea typeface="Microsoft YaHei"/>
                <a:cs typeface="Microsoft YaHei"/>
              </a:rPr>
              <a:t>A strong answer</a:t>
            </a:r>
            <a:endParaRPr/>
          </a:p>
        </p:txBody>
      </p:sp>
      <p:sp>
        <p:nvSpPr>
          <p:cNvPr id="3" name="Content Placeholder 2">
            <a:extLst xmlns:a="http://schemas.openxmlformats.org/drawingml/2006/main">
              <a:ext uri="{FF2B5EF4-FFF2-40B4-BE49-F238E27FC236}">
                <a16:creationId xmlns:a16="http://schemas.microsoft.com/office/drawing/2014/main" id="{C55E56F6-0A1D-ADCB-6DF9-639690F61E06}"/>
              </a:ext>
            </a:extLst>
          </p:cNvPr>
          <p:cNvSpPr>
            <a:spLocks xmlns:a="http://schemas.openxmlformats.org/drawingml/2006/main" noGrp="1"/>
          </p:cNvSpPr>
          <p:nvPr>
            <p:ph idx="1"/>
          </p:nvPr>
        </p:nvSpPr>
        <p:spPr>
          <a:xfrm xmlns:a="http://schemas.openxmlformats.org/drawingml/2006/main">
            <a:off x="1123950" y="1952625"/>
            <a:ext cx="9944100" cy="2952750"/>
          </a:xfrm>
        </p:spPr>
        <p:txBody>
          <a:bodyPr xmlns:a="http://schemas.openxmlformats.org/drawingml/2006/main" wrap="square" lIns="0" tIns="0" rIns="0" bIns="0" anchor="ctr">
            <a:normAutofit/>
          </a:bodyPr>
          <a:lstStyle xmlns:a="http://schemas.openxmlformats.org/drawingml/2006/main"/>
          <a:p xmlns:a="http://schemas.openxmlformats.org/drawingml/2006/main">
            <a:pPr algn="l">
              <a:buNone/>
              <a:defRPr sz="2550" b="0">
                <a:solidFill>
                  <a:srgbClr val="17232D"/>
                </a:solidFill>
                <a:latin typeface="Microsoft YaHei"/>
                <a:ea typeface="Microsoft YaHei"/>
                <a:cs typeface="Microsoft YaHei"/>
              </a:defRPr>
            </a:pPr>
            <a:r>
              <a:rPr sz="2700" b="1">
                <a:solidFill>
                  <a:srgbClr val="2B5D7E"/>
                </a:solidFill>
                <a:latin typeface="Microsoft YaHei"/>
                <a:ea typeface="Microsoft YaHei"/>
                <a:cs typeface="Microsoft YaHei"/>
              </a:rPr>
              <a:t>Mina should save some of the ¥500 first.</a:t>
            </a:r>
            <a:r>
              <a:t> She has no </a:t>
            </a:r>
            <a:r>
              <a:rPr sz="2550" b="1">
                <a:solidFill>
                  <a:srgbClr val="2B5D7E"/>
                </a:solidFill>
                <a:latin typeface="Microsoft YaHei"/>
                <a:ea typeface="Microsoft YaHei"/>
                <a:cs typeface="Microsoft YaHei"/>
              </a:rPr>
              <a:t>emergency fund</a:t>
            </a:r>
            <a:r>
              <a:t>, so </a:t>
            </a:r>
            <a:r>
              <a:rPr sz="2550" b="1">
                <a:solidFill>
                  <a:srgbClr val="2B5D7E"/>
                </a:solidFill>
                <a:latin typeface="Microsoft YaHei"/>
                <a:ea typeface="Microsoft YaHei"/>
                <a:cs typeface="Microsoft YaHei"/>
              </a:rPr>
              <a:t>liquidity</a:t>
            </a:r>
            <a:r>
              <a:t> matters: the money may be needed for </a:t>
            </a:r>
            <a:r>
              <a:rPr sz="2550" b="1">
                <a:solidFill>
                  <a:srgbClr val="2B5D7E"/>
                </a:solidFill>
                <a:latin typeface="Microsoft YaHei"/>
                <a:ea typeface="Microsoft YaHei"/>
                <a:cs typeface="Microsoft YaHei"/>
              </a:rPr>
              <a:t>essential spending</a:t>
            </a:r>
            <a:r>
              <a:t>. If she invested all of it, a </a:t>
            </a:r>
            <a:r>
              <a:rPr sz="2550" b="1">
                <a:solidFill>
                  <a:srgbClr val="F06C5B"/>
                </a:solidFill>
                <a:latin typeface="Microsoft YaHei"/>
                <a:ea typeface="Microsoft YaHei"/>
                <a:cs typeface="Microsoft YaHei"/>
              </a:rPr>
              <a:t>possible loss</a:t>
            </a:r>
            <a:r>
              <a:t> could leave her unable to meet an emergency.</a:t>
            </a:r>
          </a:p>
        </p:txBody>
      </p:sp>
    </p:spTree>
    <p:extLst>
      <p:ext uri="{BB962C8B-B14F-4D97-AF65-F5344CB8AC3E}">
        <p14:creationId xmlns:p14="http://schemas.microsoft.com/office/powerpoint/2010/main" val="3457858574"/>
      </p:ext>
    </p:extLst>
  </p:cSld>
</p:sld>
</file>

<file path=ppt/slides/slide17.xml><?xml version="1.0" encoding="utf-8"?>
<p:sld xmlns:p="http://schemas.openxmlformats.org/presentationml/2006/main">
  <p:cSld>
    <p:bg>
      <p:bgPr>
        <a:solidFill xmlns:a="http://schemas.openxmlformats.org/drawingml/2006/main">
          <a:srgbClr val="FCFBF8"/>
        </a:solid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4A08E3E-37C7-BC1D-7555-C4FE5DC7BDCF}"/>
              </a:ext>
            </a:extLst>
          </p:cNvPr>
          <p:cNvSpPr>
            <a:spLocks xmlns:a="http://schemas.openxmlformats.org/drawingml/2006/main" noGrp="1"/>
          </p:cNvSpPr>
          <p:nvPr>
            <p:ph type="title" idx="0"/>
          </p:nvPr>
        </p:nvSpPr>
        <p:spPr>
          <a:xfrm xmlns:a="http://schemas.openxmlformats.org/drawingml/2006/main">
            <a:off x="609600" y="438150"/>
            <a:ext cx="10972800" cy="781050"/>
          </a:xfrm>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lnSpc>
                <a:spcPct val="96000"/>
              </a:lnSpc>
              <a:buNone/>
              <a:defRPr sz="2550" b="1">
                <a:solidFill>
                  <a:srgbClr val="17232D"/>
                </a:solidFill>
                <a:latin typeface="Microsoft YaHei"/>
                <a:ea typeface="Microsoft YaHei"/>
                <a:cs typeface="Microsoft YaHei"/>
              </a:defRPr>
            </a:pPr>
            <a:r>
              <a:rPr sz="2550" b="1">
                <a:solidFill>
                  <a:srgbClr val="17232D"/>
                </a:solidFill>
                <a:latin typeface="Microsoft YaHei"/>
                <a:ea typeface="Microsoft YaHei"/>
                <a:cs typeface="Microsoft YaHei"/>
              </a:rPr>
              <a:t>Choose: Investment (投资), speculation (投机) or saving (储蓄)?</a:t>
            </a:r>
          </a:p>
        </p:txBody>
      </p:sp>
      <p:sp>
        <p:nvSpPr>
          <p:cNvPr id="3" name="Content Placeholder 2">
            <a:extLst xmlns:a="http://schemas.openxmlformats.org/drawingml/2006/main">
              <a:ext uri="{FF2B5EF4-FFF2-40B4-BE49-F238E27FC236}">
                <a16:creationId xmlns:a16="http://schemas.microsoft.com/office/drawing/2014/main" id="{8F1DE0E9-51B1-D256-F5A3-E55CC614F586}"/>
              </a:ext>
            </a:extLst>
          </p:cNvPr>
          <p:cNvSpPr>
            <a:spLocks xmlns:a="http://schemas.openxmlformats.org/drawingml/2006/main" noGrp="1"/>
          </p:cNvSpPr>
          <p:nvPr>
            <p:ph idx="1"/>
          </p:nvPr>
        </p:nvSpPr>
        <p:spPr>
          <a:xfrm xmlns:a="http://schemas.openxmlformats.org/drawingml/2006/main">
            <a:off x="781050" y="1381125"/>
            <a:ext cx="10629900" cy="4953000"/>
          </a:xfrm>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ct val="108000"/>
              </a:lnSpc>
              <a:spcAft>
                <a:spcPts val="600"/>
              </a:spcAft>
              <a:buNone/>
              <a:defRPr sz="1725" b="0">
                <a:solidFill>
                  <a:srgbClr val="17232D"/>
                </a:solidFill>
                <a:latin typeface="Microsoft YaHei"/>
                <a:ea typeface="Microsoft YaHei"/>
                <a:cs typeface="Microsoft YaHei"/>
              </a:defRPr>
            </a:pPr>
            <a:r>
              <a:rPr sz="2400" b="1">
                <a:solidFill>
                  <a:srgbClr val="3B82F6"/>
                </a:solidFill>
                <a:latin typeface="Microsoft YaHei"/>
                <a:ea typeface="Microsoft YaHei"/>
                <a:cs typeface="Microsoft YaHei"/>
              </a:rPr>
              <a:t>1.</a:t>
            </a:r>
            <a:r>
              <a:rPr sz="2400" b="0">
                <a:solidFill>
                  <a:srgbClr val="17232D"/>
                </a:solidFill>
                <a:latin typeface="Microsoft YaHei"/>
                <a:ea typeface="Microsoft YaHei"/>
                <a:cs typeface="Microsoft YaHei"/>
              </a:rPr>
              <a:t> The main basis is expected income and/or evidence about underlying value; possible loss is accepted.</a:t>
            </a:r>
          </a:p>
          <a:p xmlns:a="http://schemas.openxmlformats.org/drawingml/2006/main">
            <a:pPr marL="0" indent="0" algn="l">
              <a:lnSpc>
                <a:spcPct val="108000"/>
              </a:lnSpc>
              <a:spcAft>
                <a:spcPts val="600"/>
              </a:spcAft>
              <a:buNone/>
              <a:defRPr sz="1725" b="0">
                <a:solidFill>
                  <a:srgbClr val="17232D"/>
                </a:solidFill>
                <a:latin typeface="Microsoft YaHei"/>
                <a:ea typeface="Microsoft YaHei"/>
                <a:cs typeface="Microsoft YaHei"/>
              </a:defRPr>
            </a:pPr>
            <a:r>
              <a:rPr sz="2400" b="1">
                <a:solidFill>
                  <a:srgbClr val="3B82F6"/>
                </a:solidFill>
                <a:latin typeface="Microsoft YaHei"/>
                <a:ea typeface="Microsoft YaHei"/>
                <a:cs typeface="Microsoft YaHei"/>
              </a:rPr>
              <a:t>2.</a:t>
            </a:r>
            <a:r>
              <a:rPr sz="2400" b="0">
                <a:solidFill>
                  <a:srgbClr val="17232D"/>
                </a:solidFill>
                <a:latin typeface="Microsoft YaHei"/>
                <a:ea typeface="Microsoft YaHei"/>
                <a:cs typeface="Microsoft YaHei"/>
              </a:rPr>
              <a:t> The main reason is a </a:t>
            </a:r>
            <a:r>
              <a:rPr sz="2400" b="1">
                <a:solidFill>
                  <a:srgbClr val="F06C5B"/>
                </a:solidFill>
                <a:latin typeface="Microsoft YaHei"/>
                <a:ea typeface="Microsoft YaHei"/>
                <a:cs typeface="Microsoft YaHei"/>
              </a:rPr>
              <a:t>predicted price change</a:t>
            </a:r>
            <a:r>
              <a:rPr sz="2400" b="0">
                <a:solidFill>
                  <a:srgbClr val="17232D"/>
                </a:solidFill>
                <a:latin typeface="Microsoft YaHei"/>
                <a:ea typeface="Microsoft YaHei"/>
                <a:cs typeface="Microsoft YaHei"/>
              </a:rPr>
              <a:t>; income or underlying value is not the main basis.</a:t>
            </a:r>
          </a:p>
          <a:p xmlns:a="http://schemas.openxmlformats.org/drawingml/2006/main">
            <a:pPr marL="0" indent="0" algn="l">
              <a:lnSpc>
                <a:spcPct val="108000"/>
              </a:lnSpc>
              <a:spcAft>
                <a:spcPts val="600"/>
              </a:spcAft>
              <a:buNone/>
              <a:defRPr sz="1725" b="0">
                <a:solidFill>
                  <a:srgbClr val="17232D"/>
                </a:solidFill>
                <a:latin typeface="Microsoft YaHei"/>
                <a:ea typeface="Microsoft YaHei"/>
                <a:cs typeface="Microsoft YaHei"/>
              </a:defRPr>
            </a:pPr>
            <a:r>
              <a:rPr sz="2400" b="1">
                <a:solidFill>
                  <a:srgbClr val="3B82F6"/>
                </a:solidFill>
                <a:latin typeface="Microsoft YaHei"/>
                <a:ea typeface="Microsoft YaHei"/>
                <a:cs typeface="Microsoft YaHei"/>
              </a:rPr>
              <a:t>3.</a:t>
            </a:r>
            <a:r>
              <a:rPr sz="2400" b="0">
                <a:solidFill>
                  <a:srgbClr val="17232D"/>
                </a:solidFill>
                <a:latin typeface="Microsoft YaHei"/>
                <a:ea typeface="Microsoft YaHei"/>
                <a:cs typeface="Microsoft YaHei"/>
              </a:rPr>
              <a:t> Money is kept mainly for a </a:t>
            </a:r>
            <a:r>
              <a:rPr sz="2400" b="1">
                <a:solidFill>
                  <a:srgbClr val="2F9B67"/>
                </a:solidFill>
                <a:latin typeface="Microsoft YaHei"/>
                <a:ea typeface="Microsoft YaHei"/>
                <a:cs typeface="Microsoft YaHei"/>
              </a:rPr>
              <a:t>future need, safety and ready access</a:t>
            </a:r>
            <a:r>
              <a:rPr sz="2400" b="0">
                <a:solidFill>
                  <a:srgbClr val="17232D"/>
                </a:solidFill>
                <a:latin typeface="Microsoft YaHei"/>
                <a:ea typeface="Microsoft YaHei"/>
                <a:cs typeface="Microsoft YaHei"/>
              </a:rPr>
              <a:t>.</a:t>
            </a:r>
          </a:p>
          <a:p xmlns:a="http://schemas.openxmlformats.org/drawingml/2006/main">
            <a:pPr marL="0" indent="0" algn="l">
              <a:lnSpc>
                <a:spcPct val="108000"/>
              </a:lnSpc>
              <a:spcAft>
                <a:spcPts val="600"/>
              </a:spcAft>
              <a:buNone/>
              <a:defRPr sz="1725" b="0">
                <a:solidFill>
                  <a:srgbClr val="17232D"/>
                </a:solidFill>
                <a:latin typeface="Microsoft YaHei"/>
                <a:ea typeface="Microsoft YaHei"/>
                <a:cs typeface="Microsoft YaHei"/>
              </a:defRPr>
            </a:pPr>
            <a:r>
              <a:rPr sz="2400" b="1">
                <a:solidFill>
                  <a:srgbClr val="3B82F6"/>
                </a:solidFill>
                <a:latin typeface="Microsoft YaHei"/>
                <a:ea typeface="Microsoft YaHei"/>
                <a:cs typeface="Microsoft YaHei"/>
              </a:rPr>
              <a:t>4.</a:t>
            </a:r>
            <a:r>
              <a:rPr sz="2400" b="0">
                <a:solidFill>
                  <a:srgbClr val="17232D"/>
                </a:solidFill>
                <a:latin typeface="Microsoft YaHei"/>
                <a:ea typeface="Microsoft YaHei"/>
                <a:cs typeface="Microsoft YaHei"/>
              </a:rPr>
              <a:t> </a:t>
            </a:r>
            <a:r>
              <a:rPr sz="2400" b="1">
                <a:solidFill>
                  <a:srgbClr val="17232D"/>
                </a:solidFill>
                <a:latin typeface="Microsoft YaHei"/>
                <a:ea typeface="Microsoft YaHei"/>
                <a:cs typeface="Microsoft YaHei"/>
              </a:rPr>
              <a:t>Amina</a:t>
            </a:r>
            <a:r>
              <a:rPr sz="2400" b="0">
                <a:solidFill>
                  <a:srgbClr val="17232D"/>
                </a:solidFill>
                <a:latin typeface="Microsoft YaHei"/>
                <a:ea typeface="Microsoft YaHei"/>
                <a:cs typeface="Microsoft YaHei"/>
              </a:rPr>
              <a:t> studies profits, cash flow and debt before buying a diversified share portfolio. She expects dividends and long-term price growth.</a:t>
            </a:r>
          </a:p>
          <a:p xmlns:a="http://schemas.openxmlformats.org/drawingml/2006/main">
            <a:pPr marL="0" indent="0" algn="l">
              <a:lnSpc>
                <a:spcPct val="108000"/>
              </a:lnSpc>
              <a:spcAft>
                <a:spcPts val="600"/>
              </a:spcAft>
              <a:buNone/>
              <a:defRPr sz="1725" b="0">
                <a:solidFill>
                  <a:srgbClr val="17232D"/>
                </a:solidFill>
                <a:latin typeface="Microsoft YaHei"/>
                <a:ea typeface="Microsoft YaHei"/>
                <a:cs typeface="Microsoft YaHei"/>
              </a:defRPr>
            </a:pPr>
            <a:r>
              <a:rPr sz="2400" b="1">
                <a:solidFill>
                  <a:srgbClr val="3B82F6"/>
                </a:solidFill>
                <a:latin typeface="Microsoft YaHei"/>
                <a:ea typeface="Microsoft YaHei"/>
                <a:cs typeface="Microsoft YaHei"/>
              </a:rPr>
              <a:t>5.</a:t>
            </a:r>
            <a:r>
              <a:rPr sz="2400" b="0">
                <a:solidFill>
                  <a:srgbClr val="17232D"/>
                </a:solidFill>
                <a:latin typeface="Microsoft YaHei"/>
                <a:ea typeface="Microsoft YaHei"/>
                <a:cs typeface="Microsoft YaHei"/>
              </a:rPr>
              <a:t> </a:t>
            </a:r>
            <a:r>
              <a:rPr sz="2400" b="1">
                <a:solidFill>
                  <a:srgbClr val="17232D"/>
                </a:solidFill>
                <a:latin typeface="Microsoft YaHei"/>
                <a:ea typeface="Microsoft YaHei"/>
                <a:cs typeface="Microsoft YaHei"/>
              </a:rPr>
              <a:t>Bao</a:t>
            </a:r>
            <a:r>
              <a:rPr sz="2400" b="0">
                <a:solidFill>
                  <a:srgbClr val="17232D"/>
                </a:solidFill>
                <a:latin typeface="Microsoft YaHei"/>
                <a:ea typeface="Microsoft YaHei"/>
                <a:cs typeface="Microsoft YaHei"/>
              </a:rPr>
              <a:t> borrows after an online rumour predicts a price rise next week. He will sell after an announcement.</a:t>
            </a:r>
          </a:p>
        </p:txBody>
      </p:sp>
    </p:spTree>
    <p:extLst>
      <p:ext uri="{BB962C8B-B14F-4D97-AF65-F5344CB8AC3E}">
        <p14:creationId xmlns:p14="http://schemas.microsoft.com/office/powerpoint/2010/main" val="925250668"/>
      </p:ext>
    </p:extLst>
  </p:cSld>
</p:sld>
</file>

<file path=ppt/slides/slide18.xml><?xml version="1.0" encoding="utf-8"?>
<p:sld xmlns:p="http://schemas.openxmlformats.org/presentationml/2006/main">
  <p:cSld>
    <p:bg>
      <p:bgPr>
        <a:solidFill xmlns:a="http://schemas.openxmlformats.org/drawingml/2006/main">
          <a:srgbClr val="FCFBF8"/>
        </a:solid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50FD62F-AADD-915A-DD6D-C994392E9694}"/>
              </a:ext>
            </a:extLst>
          </p:cNvPr>
          <p:cNvSpPr>
            <a:spLocks xmlns:a="http://schemas.openxmlformats.org/drawingml/2006/main" noGrp="1"/>
          </p:cNvSpPr>
          <p:nvPr>
            <p:ph type="title" idx="0"/>
          </p:nvPr>
        </p:nvSpPr>
        <p:spPr>
          <a:xfrm xmlns:a="http://schemas.openxmlformats.org/drawingml/2006/main">
            <a:off x="685800" y="590550"/>
            <a:ext cx="10820400" cy="781050"/>
          </a:xfrm>
        </p:spPr>
        <p:txBody>
          <a:bodyPr xmlns:a="http://schemas.openxmlformats.org/drawingml/2006/main" wrap="square" lIns="0" tIns="0" rIns="0" bIns="0" anchor="ctr">
            <a:normAutofit/>
          </a:bodyPr>
          <a:lstStyle xmlns:a="http://schemas.openxmlformats.org/drawingml/2006/main"/>
          <a:p xmlns:a="http://schemas.openxmlformats.org/drawingml/2006/main">
            <a:pPr algn="l">
              <a:lnSpc>
                <a:spcPct val="108000"/>
              </a:lnSpc>
              <a:buNone/>
              <a:defRPr sz="3450" b="1">
                <a:solidFill>
                  <a:srgbClr val="17232D"/>
                </a:solidFill>
                <a:latin typeface="Microsoft YaHei"/>
                <a:ea typeface="Microsoft YaHei"/>
                <a:cs typeface="Microsoft YaHei"/>
              </a:defRPr>
            </a:pPr>
            <a:r>
              <a:rPr sz="3450" b="1">
                <a:solidFill>
                  <a:srgbClr val="17232D"/>
                </a:solidFill>
                <a:latin typeface="Microsoft YaHei"/>
                <a:ea typeface="Microsoft YaHei"/>
                <a:cs typeface="Microsoft YaHei"/>
              </a:rPr>
              <a:t>A strong answer</a:t>
            </a:r>
            <a:endParaRPr/>
          </a:p>
        </p:txBody>
      </p:sp>
      <p:sp>
        <p:nvSpPr>
          <p:cNvPr id="3" name="Content Placeholder 2">
            <a:extLst xmlns:a="http://schemas.openxmlformats.org/drawingml/2006/main">
              <a:ext uri="{FF2B5EF4-FFF2-40B4-BE49-F238E27FC236}">
                <a16:creationId xmlns:a16="http://schemas.microsoft.com/office/drawing/2014/main" id="{C55E56F6-0A1D-ADCB-6DF9-639690F61E06}"/>
              </a:ext>
            </a:extLst>
          </p:cNvPr>
          <p:cNvSpPr>
            <a:spLocks xmlns:a="http://schemas.openxmlformats.org/drawingml/2006/main" noGrp="1"/>
          </p:cNvSpPr>
          <p:nvPr>
            <p:ph idx="1"/>
          </p:nvPr>
        </p:nvSpPr>
        <p:spPr>
          <a:xfrm xmlns:a="http://schemas.openxmlformats.org/drawingml/2006/main">
            <a:off x="1123950" y="1952625"/>
            <a:ext cx="9944100" cy="2952750"/>
          </a:xfrm>
        </p:spPr>
        <p:txBody>
          <a:bodyPr xmlns:a="http://schemas.openxmlformats.org/drawingml/2006/main" wrap="square" lIns="0" tIns="0" rIns="0" bIns="0" anchor="ctr">
            <a:normAutofit/>
          </a:bodyPr>
          <a:lstStyle xmlns:a="http://schemas.openxmlformats.org/drawingml/2006/main"/>
          <a:p xmlns:a="http://schemas.openxmlformats.org/drawingml/2006/main">
            <a:pPr algn="l">
              <a:buNone/>
              <a:defRPr sz="2550" b="0">
                <a:solidFill>
                  <a:srgbClr val="17232D"/>
                </a:solidFill>
                <a:latin typeface="Microsoft YaHei"/>
                <a:ea typeface="Microsoft YaHei"/>
                <a:cs typeface="Microsoft YaHei"/>
              </a:defRPr>
            </a:pPr>
            <a:r>
              <a:rPr sz="2700" b="1">
                <a:solidFill>
                  <a:srgbClr val="2B5D7E"/>
                </a:solidFill>
                <a:latin typeface="Microsoft YaHei"/>
                <a:ea typeface="Microsoft YaHei"/>
                <a:cs typeface="Microsoft YaHei"/>
              </a:rPr>
              <a:t>Mina should save some of the ¥500 first.</a:t>
            </a:r>
            <a:r>
              <a:t> She has no </a:t>
            </a:r>
            <a:r>
              <a:rPr sz="2550" b="1">
                <a:solidFill>
                  <a:srgbClr val="2B5D7E"/>
                </a:solidFill>
                <a:latin typeface="Microsoft YaHei"/>
                <a:ea typeface="Microsoft YaHei"/>
                <a:cs typeface="Microsoft YaHei"/>
              </a:rPr>
              <a:t>emergency fund</a:t>
            </a:r>
            <a:r>
              <a:t>, so </a:t>
            </a:r>
            <a:r>
              <a:rPr sz="2550" b="1">
                <a:solidFill>
                  <a:srgbClr val="2B5D7E"/>
                </a:solidFill>
                <a:latin typeface="Microsoft YaHei"/>
                <a:ea typeface="Microsoft YaHei"/>
                <a:cs typeface="Microsoft YaHei"/>
              </a:rPr>
              <a:t>liquidity</a:t>
            </a:r>
            <a:r>
              <a:t> matters: the money may be needed for </a:t>
            </a:r>
            <a:r>
              <a:rPr sz="2550" b="1">
                <a:solidFill>
                  <a:srgbClr val="2B5D7E"/>
                </a:solidFill>
                <a:latin typeface="Microsoft YaHei"/>
                <a:ea typeface="Microsoft YaHei"/>
                <a:cs typeface="Microsoft YaHei"/>
              </a:rPr>
              <a:t>essential spending</a:t>
            </a:r>
            <a:r>
              <a:t>. If she invested all of it, a </a:t>
            </a:r>
            <a:r>
              <a:rPr sz="2550" b="1">
                <a:solidFill>
                  <a:srgbClr val="F06C5B"/>
                </a:solidFill>
                <a:latin typeface="Microsoft YaHei"/>
                <a:ea typeface="Microsoft YaHei"/>
                <a:cs typeface="Microsoft YaHei"/>
              </a:rPr>
              <a:t>possible loss</a:t>
            </a:r>
            <a:r>
              <a:t> could leave her unable to meet an emergency.</a:t>
            </a:r>
          </a:p>
        </p:txBody>
      </p:sp>
    </p:spTree>
    <p:extLst>
      <p:ext uri="{BB962C8B-B14F-4D97-AF65-F5344CB8AC3E}">
        <p14:creationId xmlns:p14="http://schemas.microsoft.com/office/powerpoint/2010/main" val="3457858574"/>
      </p:ext>
    </p:extLst>
  </p:cSld>
</p:sld>
</file>

<file path=ppt/slides/slide19.xml><?xml version="1.0" encoding="utf-8"?>
<p:sld xmlns:p="http://schemas.openxmlformats.org/presentationml/2006/main">
  <p:cSld>
    <p:bg>
      <p:bgPr>
        <a:solidFill xmlns:a="http://schemas.openxmlformats.org/drawingml/2006/main">
          <a:srgbClr val="FCFBF8"/>
        </a:solid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4A08E3E-37C7-BC1D-7555-C4FE5DC7BDCF}"/>
              </a:ext>
            </a:extLst>
          </p:cNvPr>
          <p:cNvSpPr>
            <a:spLocks xmlns:a="http://schemas.openxmlformats.org/drawingml/2006/main" noGrp="1"/>
          </p:cNvSpPr>
          <p:nvPr>
            <p:ph type="title" idx="0"/>
          </p:nvPr>
        </p:nvSpPr>
        <p:spPr>
          <a:xfrm xmlns:a="http://schemas.openxmlformats.org/drawingml/2006/main">
            <a:off x="609600" y="438150"/>
            <a:ext cx="10972800" cy="781050"/>
          </a:xfrm>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lnSpc>
                <a:spcPct val="96000"/>
              </a:lnSpc>
              <a:buNone/>
              <a:defRPr sz="2550" b="1">
                <a:solidFill>
                  <a:srgbClr val="17232D"/>
                </a:solidFill>
                <a:latin typeface="Microsoft YaHei"/>
                <a:ea typeface="Microsoft YaHei"/>
                <a:cs typeface="Microsoft YaHei"/>
              </a:defRPr>
            </a:pPr>
            <a:r>
              <a:rPr sz="2550" b="1">
                <a:solidFill>
                  <a:srgbClr val="17232D"/>
                </a:solidFill>
                <a:latin typeface="Microsoft YaHei"/>
                <a:ea typeface="Microsoft YaHei"/>
                <a:cs typeface="Microsoft YaHei"/>
              </a:rPr>
              <a:t>Choose: Investment (投资), speculation (投机) or saving (储蓄)?</a:t>
            </a:r>
          </a:p>
        </p:txBody>
      </p:sp>
      <p:sp>
        <p:nvSpPr>
          <p:cNvPr id="3" name="Content Placeholder 2">
            <a:extLst xmlns:a="http://schemas.openxmlformats.org/drawingml/2006/main">
              <a:ext uri="{FF2B5EF4-FFF2-40B4-BE49-F238E27FC236}">
                <a16:creationId xmlns:a16="http://schemas.microsoft.com/office/drawing/2014/main" id="{8F1DE0E9-51B1-D256-F5A3-E55CC614F586}"/>
              </a:ext>
            </a:extLst>
          </p:cNvPr>
          <p:cNvSpPr>
            <a:spLocks xmlns:a="http://schemas.openxmlformats.org/drawingml/2006/main" noGrp="1"/>
          </p:cNvSpPr>
          <p:nvPr>
            <p:ph idx="1"/>
          </p:nvPr>
        </p:nvSpPr>
        <p:spPr>
          <a:xfrm xmlns:a="http://schemas.openxmlformats.org/drawingml/2006/main">
            <a:off x="781050" y="1381125"/>
            <a:ext cx="10629900" cy="4953000"/>
          </a:xfrm>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ct val="108000"/>
              </a:lnSpc>
              <a:spcAft>
                <a:spcPts val="600"/>
              </a:spcAft>
              <a:buNone/>
              <a:defRPr sz="1725" b="0">
                <a:solidFill>
                  <a:srgbClr val="17232D"/>
                </a:solidFill>
                <a:latin typeface="Microsoft YaHei"/>
                <a:ea typeface="Microsoft YaHei"/>
                <a:cs typeface="Microsoft YaHei"/>
              </a:defRPr>
            </a:pPr>
            <a:r>
              <a:rPr sz="2400" b="1">
                <a:solidFill>
                  <a:srgbClr val="3B82F6"/>
                </a:solidFill>
                <a:latin typeface="Microsoft YaHei"/>
                <a:ea typeface="Microsoft YaHei"/>
                <a:cs typeface="Microsoft YaHei"/>
              </a:rPr>
              <a:t>1.</a:t>
            </a:r>
            <a:r>
              <a:rPr sz="2400" b="0">
                <a:solidFill>
                  <a:srgbClr val="17232D"/>
                </a:solidFill>
                <a:latin typeface="Microsoft YaHei"/>
                <a:ea typeface="Microsoft YaHei"/>
                <a:cs typeface="Microsoft YaHei"/>
              </a:rPr>
              <a:t> The main basis is expected income and/or evidence about underlying value; possible loss is accepted.</a:t>
            </a:r>
          </a:p>
          <a:p xmlns:a="http://schemas.openxmlformats.org/drawingml/2006/main">
            <a:pPr marL="0" indent="0" algn="l">
              <a:lnSpc>
                <a:spcPct val="108000"/>
              </a:lnSpc>
              <a:spcAft>
                <a:spcPts val="600"/>
              </a:spcAft>
              <a:buNone/>
              <a:defRPr sz="1725" b="0">
                <a:solidFill>
                  <a:srgbClr val="17232D"/>
                </a:solidFill>
                <a:latin typeface="Microsoft YaHei"/>
                <a:ea typeface="Microsoft YaHei"/>
                <a:cs typeface="Microsoft YaHei"/>
              </a:defRPr>
            </a:pPr>
            <a:r>
              <a:rPr sz="2400" b="1">
                <a:solidFill>
                  <a:srgbClr val="3B82F6"/>
                </a:solidFill>
                <a:latin typeface="Microsoft YaHei"/>
                <a:ea typeface="Microsoft YaHei"/>
                <a:cs typeface="Microsoft YaHei"/>
              </a:rPr>
              <a:t>2.</a:t>
            </a:r>
            <a:r>
              <a:rPr sz="2400" b="0">
                <a:solidFill>
                  <a:srgbClr val="17232D"/>
                </a:solidFill>
                <a:latin typeface="Microsoft YaHei"/>
                <a:ea typeface="Microsoft YaHei"/>
                <a:cs typeface="Microsoft YaHei"/>
              </a:rPr>
              <a:t> The main reason is a </a:t>
            </a:r>
            <a:r>
              <a:rPr sz="2400" b="1">
                <a:solidFill>
                  <a:srgbClr val="F06C5B"/>
                </a:solidFill>
                <a:latin typeface="Microsoft YaHei"/>
                <a:ea typeface="Microsoft YaHei"/>
                <a:cs typeface="Microsoft YaHei"/>
              </a:rPr>
              <a:t>predicted price change</a:t>
            </a:r>
            <a:r>
              <a:rPr sz="2400" b="0">
                <a:solidFill>
                  <a:srgbClr val="17232D"/>
                </a:solidFill>
                <a:latin typeface="Microsoft YaHei"/>
                <a:ea typeface="Microsoft YaHei"/>
                <a:cs typeface="Microsoft YaHei"/>
              </a:rPr>
              <a:t>; income or underlying value is not the main basis.</a:t>
            </a:r>
          </a:p>
          <a:p xmlns:a="http://schemas.openxmlformats.org/drawingml/2006/main">
            <a:pPr marL="0" indent="0" algn="l">
              <a:lnSpc>
                <a:spcPct val="108000"/>
              </a:lnSpc>
              <a:spcAft>
                <a:spcPts val="600"/>
              </a:spcAft>
              <a:buNone/>
              <a:defRPr sz="1725" b="0">
                <a:solidFill>
                  <a:srgbClr val="17232D"/>
                </a:solidFill>
                <a:latin typeface="Microsoft YaHei"/>
                <a:ea typeface="Microsoft YaHei"/>
                <a:cs typeface="Microsoft YaHei"/>
              </a:defRPr>
            </a:pPr>
            <a:r>
              <a:rPr sz="2400" b="1">
                <a:solidFill>
                  <a:srgbClr val="3B82F6"/>
                </a:solidFill>
                <a:latin typeface="Microsoft YaHei"/>
                <a:ea typeface="Microsoft YaHei"/>
                <a:cs typeface="Microsoft YaHei"/>
              </a:rPr>
              <a:t>3.</a:t>
            </a:r>
            <a:r>
              <a:rPr sz="2400" b="0">
                <a:solidFill>
                  <a:srgbClr val="17232D"/>
                </a:solidFill>
                <a:latin typeface="Microsoft YaHei"/>
                <a:ea typeface="Microsoft YaHei"/>
                <a:cs typeface="Microsoft YaHei"/>
              </a:rPr>
              <a:t> Money is kept mainly for a </a:t>
            </a:r>
            <a:r>
              <a:rPr sz="2400" b="1">
                <a:solidFill>
                  <a:srgbClr val="2F9B67"/>
                </a:solidFill>
                <a:latin typeface="Microsoft YaHei"/>
                <a:ea typeface="Microsoft YaHei"/>
                <a:cs typeface="Microsoft YaHei"/>
              </a:rPr>
              <a:t>future need, safety and ready access</a:t>
            </a:r>
            <a:r>
              <a:rPr sz="2400" b="0">
                <a:solidFill>
                  <a:srgbClr val="17232D"/>
                </a:solidFill>
                <a:latin typeface="Microsoft YaHei"/>
                <a:ea typeface="Microsoft YaHei"/>
                <a:cs typeface="Microsoft YaHei"/>
              </a:rPr>
              <a:t>.</a:t>
            </a:r>
          </a:p>
          <a:p xmlns:a="http://schemas.openxmlformats.org/drawingml/2006/main">
            <a:pPr marL="0" indent="0" algn="l">
              <a:lnSpc>
                <a:spcPct val="108000"/>
              </a:lnSpc>
              <a:spcAft>
                <a:spcPts val="600"/>
              </a:spcAft>
              <a:buNone/>
              <a:defRPr sz="1725" b="0">
                <a:solidFill>
                  <a:srgbClr val="17232D"/>
                </a:solidFill>
                <a:latin typeface="Microsoft YaHei"/>
                <a:ea typeface="Microsoft YaHei"/>
                <a:cs typeface="Microsoft YaHei"/>
              </a:defRPr>
            </a:pPr>
            <a:r>
              <a:rPr sz="2400" b="1">
                <a:solidFill>
                  <a:srgbClr val="3B82F6"/>
                </a:solidFill>
                <a:latin typeface="Microsoft YaHei"/>
                <a:ea typeface="Microsoft YaHei"/>
                <a:cs typeface="Microsoft YaHei"/>
              </a:rPr>
              <a:t>4.</a:t>
            </a:r>
            <a:r>
              <a:rPr sz="2400" b="0">
                <a:solidFill>
                  <a:srgbClr val="17232D"/>
                </a:solidFill>
                <a:latin typeface="Microsoft YaHei"/>
                <a:ea typeface="Microsoft YaHei"/>
                <a:cs typeface="Microsoft YaHei"/>
              </a:rPr>
              <a:t> </a:t>
            </a:r>
            <a:r>
              <a:rPr sz="2400" b="1">
                <a:solidFill>
                  <a:srgbClr val="17232D"/>
                </a:solidFill>
                <a:latin typeface="Microsoft YaHei"/>
                <a:ea typeface="Microsoft YaHei"/>
                <a:cs typeface="Microsoft YaHei"/>
              </a:rPr>
              <a:t>Amina</a:t>
            </a:r>
            <a:r>
              <a:rPr sz="2400" b="0">
                <a:solidFill>
                  <a:srgbClr val="17232D"/>
                </a:solidFill>
                <a:latin typeface="Microsoft YaHei"/>
                <a:ea typeface="Microsoft YaHei"/>
                <a:cs typeface="Microsoft YaHei"/>
              </a:rPr>
              <a:t> studies profits, cash flow and debt before buying a diversified share portfolio. She expects dividends and long-term price growth.</a:t>
            </a:r>
          </a:p>
          <a:p xmlns:a="http://schemas.openxmlformats.org/drawingml/2006/main">
            <a:pPr marL="0" indent="0" algn="l">
              <a:lnSpc>
                <a:spcPct val="108000"/>
              </a:lnSpc>
              <a:spcAft>
                <a:spcPts val="600"/>
              </a:spcAft>
              <a:buNone/>
              <a:defRPr sz="1725" b="0">
                <a:solidFill>
                  <a:srgbClr val="17232D"/>
                </a:solidFill>
                <a:latin typeface="Microsoft YaHei"/>
                <a:ea typeface="Microsoft YaHei"/>
                <a:cs typeface="Microsoft YaHei"/>
              </a:defRPr>
            </a:pPr>
            <a:r>
              <a:rPr sz="2400" b="1">
                <a:solidFill>
                  <a:srgbClr val="3B82F6"/>
                </a:solidFill>
                <a:latin typeface="Microsoft YaHei"/>
                <a:ea typeface="Microsoft YaHei"/>
                <a:cs typeface="Microsoft YaHei"/>
              </a:rPr>
              <a:t>5.</a:t>
            </a:r>
            <a:r>
              <a:rPr sz="2400" b="0">
                <a:solidFill>
                  <a:srgbClr val="17232D"/>
                </a:solidFill>
                <a:latin typeface="Microsoft YaHei"/>
                <a:ea typeface="Microsoft YaHei"/>
                <a:cs typeface="Microsoft YaHei"/>
              </a:rPr>
              <a:t> </a:t>
            </a:r>
            <a:r>
              <a:rPr sz="2400" b="1">
                <a:solidFill>
                  <a:srgbClr val="17232D"/>
                </a:solidFill>
                <a:latin typeface="Microsoft YaHei"/>
                <a:ea typeface="Microsoft YaHei"/>
                <a:cs typeface="Microsoft YaHei"/>
              </a:rPr>
              <a:t>Bao</a:t>
            </a:r>
            <a:r>
              <a:rPr sz="2400" b="0">
                <a:solidFill>
                  <a:srgbClr val="17232D"/>
                </a:solidFill>
                <a:latin typeface="Microsoft YaHei"/>
                <a:ea typeface="Microsoft YaHei"/>
                <a:cs typeface="Microsoft YaHei"/>
              </a:rPr>
              <a:t> borrows after an online rumour predicts a price rise next week. He will sell after an announcement.</a:t>
            </a:r>
          </a:p>
        </p:txBody>
      </p:sp>
    </p:spTree>
    <p:extLst>
      <p:ext uri="{BB962C8B-B14F-4D97-AF65-F5344CB8AC3E}">
        <p14:creationId xmlns:p14="http://schemas.microsoft.com/office/powerpoint/2010/main" val="925250668"/>
      </p:ext>
    </p:extLst>
  </p:cSld>
</p:sld>
</file>

<file path=ppt/slides/slide20.xml><?xml version="1.0" encoding="utf-8"?>
<p:sld xmlns:p="http://schemas.openxmlformats.org/presentationml/2006/main">
  <p:cSld>
    <p:bg>
      <p:bgPr>
        <a:solidFill xmlns:a="http://schemas.openxmlformats.org/drawingml/2006/main">
          <a:srgbClr val="FCFBF8"/>
        </a:solid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50FD62F-AADD-915A-DD6D-C994392E9694}"/>
              </a:ext>
            </a:extLst>
          </p:cNvPr>
          <p:cNvSpPr>
            <a:spLocks xmlns:a="http://schemas.openxmlformats.org/drawingml/2006/main" noGrp="1"/>
          </p:cNvSpPr>
          <p:nvPr>
            <p:ph type="title" idx="0"/>
          </p:nvPr>
        </p:nvSpPr>
        <p:spPr>
          <a:xfrm xmlns:a="http://schemas.openxmlformats.org/drawingml/2006/main">
            <a:off x="685800" y="590550"/>
            <a:ext cx="10820400" cy="781050"/>
          </a:xfrm>
        </p:spPr>
        <p:txBody>
          <a:bodyPr xmlns:a="http://schemas.openxmlformats.org/drawingml/2006/main" wrap="square" lIns="0" tIns="0" rIns="0" bIns="0" anchor="ctr">
            <a:normAutofit/>
          </a:bodyPr>
          <a:lstStyle xmlns:a="http://schemas.openxmlformats.org/drawingml/2006/main"/>
          <a:p xmlns:a="http://schemas.openxmlformats.org/drawingml/2006/main">
            <a:pPr algn="l">
              <a:lnSpc>
                <a:spcPct val="108000"/>
              </a:lnSpc>
              <a:buNone/>
              <a:defRPr sz="3450" b="1">
                <a:solidFill>
                  <a:srgbClr val="17232D"/>
                </a:solidFill>
                <a:latin typeface="Microsoft YaHei"/>
                <a:ea typeface="Microsoft YaHei"/>
                <a:cs typeface="Microsoft YaHei"/>
              </a:defRPr>
            </a:pPr>
            <a:r>
              <a:rPr sz="3450" b="1">
                <a:solidFill>
                  <a:srgbClr val="17232D"/>
                </a:solidFill>
                <a:latin typeface="Microsoft YaHei"/>
                <a:ea typeface="Microsoft YaHei"/>
                <a:cs typeface="Microsoft YaHei"/>
              </a:rPr>
              <a:t>A strong answer</a:t>
            </a:r>
            <a:endParaRPr/>
          </a:p>
        </p:txBody>
      </p:sp>
      <p:sp>
        <p:nvSpPr>
          <p:cNvPr id="3" name="Content Placeholder 2">
            <a:extLst xmlns:a="http://schemas.openxmlformats.org/drawingml/2006/main">
              <a:ext uri="{FF2B5EF4-FFF2-40B4-BE49-F238E27FC236}">
                <a16:creationId xmlns:a16="http://schemas.microsoft.com/office/drawing/2014/main" id="{C55E56F6-0A1D-ADCB-6DF9-639690F61E06}"/>
              </a:ext>
            </a:extLst>
          </p:cNvPr>
          <p:cNvSpPr>
            <a:spLocks xmlns:a="http://schemas.openxmlformats.org/drawingml/2006/main" noGrp="1"/>
          </p:cNvSpPr>
          <p:nvPr>
            <p:ph idx="1"/>
          </p:nvPr>
        </p:nvSpPr>
        <p:spPr>
          <a:xfrm xmlns:a="http://schemas.openxmlformats.org/drawingml/2006/main">
            <a:off x="1123950" y="1952625"/>
            <a:ext cx="9944100" cy="2952750"/>
          </a:xfrm>
        </p:spPr>
        <p:txBody>
          <a:bodyPr xmlns:a="http://schemas.openxmlformats.org/drawingml/2006/main" wrap="square" lIns="0" tIns="0" rIns="0" bIns="0" anchor="ctr">
            <a:normAutofit/>
          </a:bodyPr>
          <a:lstStyle xmlns:a="http://schemas.openxmlformats.org/drawingml/2006/main"/>
          <a:p xmlns:a="http://schemas.openxmlformats.org/drawingml/2006/main">
            <a:pPr algn="l">
              <a:buNone/>
              <a:defRPr sz="2550" b="0">
                <a:solidFill>
                  <a:srgbClr val="17232D"/>
                </a:solidFill>
                <a:latin typeface="Microsoft YaHei"/>
                <a:ea typeface="Microsoft YaHei"/>
                <a:cs typeface="Microsoft YaHei"/>
              </a:defRPr>
            </a:pPr>
            <a:r>
              <a:rPr sz="2700" b="1">
                <a:solidFill>
                  <a:srgbClr val="2B5D7E"/>
                </a:solidFill>
                <a:latin typeface="Microsoft YaHei"/>
                <a:ea typeface="Microsoft YaHei"/>
                <a:cs typeface="Microsoft YaHei"/>
              </a:rPr>
              <a:t>Mina should save some of the ¥500 first.</a:t>
            </a:r>
            <a:r>
              <a:t> She has no </a:t>
            </a:r>
            <a:r>
              <a:rPr sz="2550" b="1">
                <a:solidFill>
                  <a:srgbClr val="2B5D7E"/>
                </a:solidFill>
                <a:latin typeface="Microsoft YaHei"/>
                <a:ea typeface="Microsoft YaHei"/>
                <a:cs typeface="Microsoft YaHei"/>
              </a:rPr>
              <a:t>emergency fund</a:t>
            </a:r>
            <a:r>
              <a:t>, so </a:t>
            </a:r>
            <a:r>
              <a:rPr sz="2550" b="1">
                <a:solidFill>
                  <a:srgbClr val="2B5D7E"/>
                </a:solidFill>
                <a:latin typeface="Microsoft YaHei"/>
                <a:ea typeface="Microsoft YaHei"/>
                <a:cs typeface="Microsoft YaHei"/>
              </a:rPr>
              <a:t>liquidity</a:t>
            </a:r>
            <a:r>
              <a:t> matters: the money may be needed for </a:t>
            </a:r>
            <a:r>
              <a:rPr sz="2550" b="1">
                <a:solidFill>
                  <a:srgbClr val="2B5D7E"/>
                </a:solidFill>
                <a:latin typeface="Microsoft YaHei"/>
                <a:ea typeface="Microsoft YaHei"/>
                <a:cs typeface="Microsoft YaHei"/>
              </a:rPr>
              <a:t>essential spending</a:t>
            </a:r>
            <a:r>
              <a:t>. If she invested all of it, a </a:t>
            </a:r>
            <a:r>
              <a:rPr sz="2550" b="1">
                <a:solidFill>
                  <a:srgbClr val="F06C5B"/>
                </a:solidFill>
                <a:latin typeface="Microsoft YaHei"/>
                <a:ea typeface="Microsoft YaHei"/>
                <a:cs typeface="Microsoft YaHei"/>
              </a:rPr>
              <a:t>possible loss</a:t>
            </a:r>
            <a:r>
              <a:t> could leave her unable to meet an emergency.</a:t>
            </a:r>
          </a:p>
        </p:txBody>
      </p:sp>
    </p:spTree>
    <p:extLst>
      <p:ext uri="{BB962C8B-B14F-4D97-AF65-F5344CB8AC3E}">
        <p14:creationId xmlns:p14="http://schemas.microsoft.com/office/powerpoint/2010/main" val="3457858574"/>
      </p:ext>
    </p:extLst>
  </p:cSld>
</p:sld>
</file>

<file path=ppt/slides/slide21.xml><?xml version="1.0" encoding="utf-8"?>
<p:sld xmlns:p="http://schemas.openxmlformats.org/presentationml/2006/main">
  <p:cSld>
    <p:bg>
      <p:bgPr>
        <a:solidFill xmlns:a="http://schemas.openxmlformats.org/drawingml/2006/main">
          <a:srgbClr val="FCFBF8"/>
        </a:solid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4A08E3E-37C7-BC1D-7555-C4FE5DC7BDCF}"/>
              </a:ext>
            </a:extLst>
          </p:cNvPr>
          <p:cNvSpPr>
            <a:spLocks xmlns:a="http://schemas.openxmlformats.org/drawingml/2006/main" noGrp="1"/>
          </p:cNvSpPr>
          <p:nvPr>
            <p:ph type="title" idx="0"/>
          </p:nvPr>
        </p:nvSpPr>
        <p:spPr>
          <a:xfrm xmlns:a="http://schemas.openxmlformats.org/drawingml/2006/main">
            <a:off x="609600" y="438150"/>
            <a:ext cx="10972800" cy="781050"/>
          </a:xfrm>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lnSpc>
                <a:spcPct val="96000"/>
              </a:lnSpc>
              <a:buNone/>
              <a:defRPr sz="2550" b="1">
                <a:solidFill>
                  <a:srgbClr val="17232D"/>
                </a:solidFill>
                <a:latin typeface="Microsoft YaHei"/>
                <a:ea typeface="Microsoft YaHei"/>
                <a:cs typeface="Microsoft YaHei"/>
              </a:defRPr>
            </a:pPr>
            <a:r>
              <a:rPr sz="2550" b="1">
                <a:solidFill>
                  <a:srgbClr val="17232D"/>
                </a:solidFill>
                <a:latin typeface="Microsoft YaHei"/>
                <a:ea typeface="Microsoft YaHei"/>
                <a:cs typeface="Microsoft YaHei"/>
              </a:rPr>
              <a:t>Choose: Investment (投资), speculation (投机) or saving (储蓄)?</a:t>
            </a:r>
          </a:p>
        </p:txBody>
      </p:sp>
      <p:sp>
        <p:nvSpPr>
          <p:cNvPr id="3" name="Content Placeholder 2">
            <a:extLst xmlns:a="http://schemas.openxmlformats.org/drawingml/2006/main">
              <a:ext uri="{FF2B5EF4-FFF2-40B4-BE49-F238E27FC236}">
                <a16:creationId xmlns:a16="http://schemas.microsoft.com/office/drawing/2014/main" id="{8F1DE0E9-51B1-D256-F5A3-E55CC614F586}"/>
              </a:ext>
            </a:extLst>
          </p:cNvPr>
          <p:cNvSpPr>
            <a:spLocks xmlns:a="http://schemas.openxmlformats.org/drawingml/2006/main" noGrp="1"/>
          </p:cNvSpPr>
          <p:nvPr>
            <p:ph idx="1"/>
          </p:nvPr>
        </p:nvSpPr>
        <p:spPr>
          <a:xfrm xmlns:a="http://schemas.openxmlformats.org/drawingml/2006/main">
            <a:off x="781050" y="1381125"/>
            <a:ext cx="10629900" cy="4953000"/>
          </a:xfrm>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ct val="108000"/>
              </a:lnSpc>
              <a:spcAft>
                <a:spcPts val="600"/>
              </a:spcAft>
              <a:buNone/>
              <a:defRPr sz="1725" b="0">
                <a:solidFill>
                  <a:srgbClr val="17232D"/>
                </a:solidFill>
                <a:latin typeface="Microsoft YaHei"/>
                <a:ea typeface="Microsoft YaHei"/>
                <a:cs typeface="Microsoft YaHei"/>
              </a:defRPr>
            </a:pPr>
            <a:r>
              <a:rPr sz="2400" b="1">
                <a:solidFill>
                  <a:srgbClr val="3B82F6"/>
                </a:solidFill>
                <a:latin typeface="Microsoft YaHei"/>
                <a:ea typeface="Microsoft YaHei"/>
                <a:cs typeface="Microsoft YaHei"/>
              </a:rPr>
              <a:t>1.</a:t>
            </a:r>
            <a:r>
              <a:rPr sz="2400" b="0">
                <a:solidFill>
                  <a:srgbClr val="17232D"/>
                </a:solidFill>
                <a:latin typeface="Microsoft YaHei"/>
                <a:ea typeface="Microsoft YaHei"/>
                <a:cs typeface="Microsoft YaHei"/>
              </a:rPr>
              <a:t> The main basis is expected income and/or evidence about underlying value; possible loss is accepted.</a:t>
            </a:r>
          </a:p>
          <a:p xmlns:a="http://schemas.openxmlformats.org/drawingml/2006/main">
            <a:pPr marL="0" indent="0" algn="l">
              <a:lnSpc>
                <a:spcPct val="108000"/>
              </a:lnSpc>
              <a:spcAft>
                <a:spcPts val="600"/>
              </a:spcAft>
              <a:buNone/>
              <a:defRPr sz="1725" b="0">
                <a:solidFill>
                  <a:srgbClr val="17232D"/>
                </a:solidFill>
                <a:latin typeface="Microsoft YaHei"/>
                <a:ea typeface="Microsoft YaHei"/>
                <a:cs typeface="Microsoft YaHei"/>
              </a:defRPr>
            </a:pPr>
            <a:r>
              <a:rPr sz="2400" b="1">
                <a:solidFill>
                  <a:srgbClr val="3B82F6"/>
                </a:solidFill>
                <a:latin typeface="Microsoft YaHei"/>
                <a:ea typeface="Microsoft YaHei"/>
                <a:cs typeface="Microsoft YaHei"/>
              </a:rPr>
              <a:t>2.</a:t>
            </a:r>
            <a:r>
              <a:rPr sz="2400" b="0">
                <a:solidFill>
                  <a:srgbClr val="17232D"/>
                </a:solidFill>
                <a:latin typeface="Microsoft YaHei"/>
                <a:ea typeface="Microsoft YaHei"/>
                <a:cs typeface="Microsoft YaHei"/>
              </a:rPr>
              <a:t> The main reason is a </a:t>
            </a:r>
            <a:r>
              <a:rPr sz="2400" b="1">
                <a:solidFill>
                  <a:srgbClr val="F06C5B"/>
                </a:solidFill>
                <a:latin typeface="Microsoft YaHei"/>
                <a:ea typeface="Microsoft YaHei"/>
                <a:cs typeface="Microsoft YaHei"/>
              </a:rPr>
              <a:t>predicted price change</a:t>
            </a:r>
            <a:r>
              <a:rPr sz="2400" b="0">
                <a:solidFill>
                  <a:srgbClr val="17232D"/>
                </a:solidFill>
                <a:latin typeface="Microsoft YaHei"/>
                <a:ea typeface="Microsoft YaHei"/>
                <a:cs typeface="Microsoft YaHei"/>
              </a:rPr>
              <a:t>; income or underlying value is not the main basis.</a:t>
            </a:r>
          </a:p>
          <a:p xmlns:a="http://schemas.openxmlformats.org/drawingml/2006/main">
            <a:pPr marL="0" indent="0" algn="l">
              <a:lnSpc>
                <a:spcPct val="108000"/>
              </a:lnSpc>
              <a:spcAft>
                <a:spcPts val="600"/>
              </a:spcAft>
              <a:buNone/>
              <a:defRPr sz="1725" b="0">
                <a:solidFill>
                  <a:srgbClr val="17232D"/>
                </a:solidFill>
                <a:latin typeface="Microsoft YaHei"/>
                <a:ea typeface="Microsoft YaHei"/>
                <a:cs typeface="Microsoft YaHei"/>
              </a:defRPr>
            </a:pPr>
            <a:r>
              <a:rPr sz="2400" b="1">
                <a:solidFill>
                  <a:srgbClr val="3B82F6"/>
                </a:solidFill>
                <a:latin typeface="Microsoft YaHei"/>
                <a:ea typeface="Microsoft YaHei"/>
                <a:cs typeface="Microsoft YaHei"/>
              </a:rPr>
              <a:t>3.</a:t>
            </a:r>
            <a:r>
              <a:rPr sz="2400" b="0">
                <a:solidFill>
                  <a:srgbClr val="17232D"/>
                </a:solidFill>
                <a:latin typeface="Microsoft YaHei"/>
                <a:ea typeface="Microsoft YaHei"/>
                <a:cs typeface="Microsoft YaHei"/>
              </a:rPr>
              <a:t> Money is kept mainly for a </a:t>
            </a:r>
            <a:r>
              <a:rPr sz="2400" b="1">
                <a:solidFill>
                  <a:srgbClr val="2F9B67"/>
                </a:solidFill>
                <a:latin typeface="Microsoft YaHei"/>
                <a:ea typeface="Microsoft YaHei"/>
                <a:cs typeface="Microsoft YaHei"/>
              </a:rPr>
              <a:t>future need, safety and ready access</a:t>
            </a:r>
            <a:r>
              <a:rPr sz="2400" b="0">
                <a:solidFill>
                  <a:srgbClr val="17232D"/>
                </a:solidFill>
                <a:latin typeface="Microsoft YaHei"/>
                <a:ea typeface="Microsoft YaHei"/>
                <a:cs typeface="Microsoft YaHei"/>
              </a:rPr>
              <a:t>.</a:t>
            </a:r>
          </a:p>
          <a:p xmlns:a="http://schemas.openxmlformats.org/drawingml/2006/main">
            <a:pPr marL="0" indent="0" algn="l">
              <a:lnSpc>
                <a:spcPct val="108000"/>
              </a:lnSpc>
              <a:spcAft>
                <a:spcPts val="600"/>
              </a:spcAft>
              <a:buNone/>
              <a:defRPr sz="1725" b="0">
                <a:solidFill>
                  <a:srgbClr val="17232D"/>
                </a:solidFill>
                <a:latin typeface="Microsoft YaHei"/>
                <a:ea typeface="Microsoft YaHei"/>
                <a:cs typeface="Microsoft YaHei"/>
              </a:defRPr>
            </a:pPr>
            <a:r>
              <a:rPr sz="2400" b="1">
                <a:solidFill>
                  <a:srgbClr val="3B82F6"/>
                </a:solidFill>
                <a:latin typeface="Microsoft YaHei"/>
                <a:ea typeface="Microsoft YaHei"/>
                <a:cs typeface="Microsoft YaHei"/>
              </a:rPr>
              <a:t>4.</a:t>
            </a:r>
            <a:r>
              <a:rPr sz="2400" b="0">
                <a:solidFill>
                  <a:srgbClr val="17232D"/>
                </a:solidFill>
                <a:latin typeface="Microsoft YaHei"/>
                <a:ea typeface="Microsoft YaHei"/>
                <a:cs typeface="Microsoft YaHei"/>
              </a:rPr>
              <a:t> </a:t>
            </a:r>
            <a:r>
              <a:rPr sz="2400" b="1">
                <a:solidFill>
                  <a:srgbClr val="17232D"/>
                </a:solidFill>
                <a:latin typeface="Microsoft YaHei"/>
                <a:ea typeface="Microsoft YaHei"/>
                <a:cs typeface="Microsoft YaHei"/>
              </a:rPr>
              <a:t>Amina</a:t>
            </a:r>
            <a:r>
              <a:rPr sz="2400" b="0">
                <a:solidFill>
                  <a:srgbClr val="17232D"/>
                </a:solidFill>
                <a:latin typeface="Microsoft YaHei"/>
                <a:ea typeface="Microsoft YaHei"/>
                <a:cs typeface="Microsoft YaHei"/>
              </a:rPr>
              <a:t> studies profits, cash flow and debt before buying a diversified share portfolio. She expects dividends and long-term price growth.</a:t>
            </a:r>
          </a:p>
          <a:p xmlns:a="http://schemas.openxmlformats.org/drawingml/2006/main">
            <a:pPr marL="0" indent="0" algn="l">
              <a:lnSpc>
                <a:spcPct val="108000"/>
              </a:lnSpc>
              <a:spcAft>
                <a:spcPts val="600"/>
              </a:spcAft>
              <a:buNone/>
              <a:defRPr sz="1725" b="0">
                <a:solidFill>
                  <a:srgbClr val="17232D"/>
                </a:solidFill>
                <a:latin typeface="Microsoft YaHei"/>
                <a:ea typeface="Microsoft YaHei"/>
                <a:cs typeface="Microsoft YaHei"/>
              </a:defRPr>
            </a:pPr>
            <a:r>
              <a:rPr sz="2400" b="1">
                <a:solidFill>
                  <a:srgbClr val="3B82F6"/>
                </a:solidFill>
                <a:latin typeface="Microsoft YaHei"/>
                <a:ea typeface="Microsoft YaHei"/>
                <a:cs typeface="Microsoft YaHei"/>
              </a:rPr>
              <a:t>5.</a:t>
            </a:r>
            <a:r>
              <a:rPr sz="2400" b="0">
                <a:solidFill>
                  <a:srgbClr val="17232D"/>
                </a:solidFill>
                <a:latin typeface="Microsoft YaHei"/>
                <a:ea typeface="Microsoft YaHei"/>
                <a:cs typeface="Microsoft YaHei"/>
              </a:rPr>
              <a:t> </a:t>
            </a:r>
            <a:r>
              <a:rPr sz="2400" b="1">
                <a:solidFill>
                  <a:srgbClr val="17232D"/>
                </a:solidFill>
                <a:latin typeface="Microsoft YaHei"/>
                <a:ea typeface="Microsoft YaHei"/>
                <a:cs typeface="Microsoft YaHei"/>
              </a:rPr>
              <a:t>Bao</a:t>
            </a:r>
            <a:r>
              <a:rPr sz="2400" b="0">
                <a:solidFill>
                  <a:srgbClr val="17232D"/>
                </a:solidFill>
                <a:latin typeface="Microsoft YaHei"/>
                <a:ea typeface="Microsoft YaHei"/>
                <a:cs typeface="Microsoft YaHei"/>
              </a:rPr>
              <a:t> borrows after an online rumour predicts a price rise next week. He will sell after an announcement.</a:t>
            </a:r>
          </a:p>
        </p:txBody>
      </p:sp>
    </p:spTree>
    <p:extLst>
      <p:ext uri="{BB962C8B-B14F-4D97-AF65-F5344CB8AC3E}">
        <p14:creationId xmlns:p14="http://schemas.microsoft.com/office/powerpoint/2010/main" val="925250668"/>
      </p:ext>
    </p:extLst>
  </p:cSld>
</p:sld>
</file>

<file path=ppt/slides/slide22.xml><?xml version="1.0" encoding="utf-8"?>
<p:sld xmlns:p="http://schemas.openxmlformats.org/presentationml/2006/main">
  <p:cSld>
    <p:bg>
      <p:bgPr>
        <a:solidFill xmlns:a="http://schemas.openxmlformats.org/drawingml/2006/main">
          <a:srgbClr val="FCFBF8"/>
        </a:solid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50FD62F-AADD-915A-DD6D-C994392E9694}"/>
              </a:ext>
            </a:extLst>
          </p:cNvPr>
          <p:cNvSpPr>
            <a:spLocks xmlns:a="http://schemas.openxmlformats.org/drawingml/2006/main" noGrp="1"/>
          </p:cNvSpPr>
          <p:nvPr>
            <p:ph type="title" idx="0"/>
          </p:nvPr>
        </p:nvSpPr>
        <p:spPr>
          <a:xfrm xmlns:a="http://schemas.openxmlformats.org/drawingml/2006/main">
            <a:off x="685800" y="590550"/>
            <a:ext cx="10820400" cy="781050"/>
          </a:xfrm>
        </p:spPr>
        <p:txBody>
          <a:bodyPr xmlns:a="http://schemas.openxmlformats.org/drawingml/2006/main" wrap="square" lIns="0" tIns="0" rIns="0" bIns="0" anchor="ctr">
            <a:normAutofit/>
          </a:bodyPr>
          <a:lstStyle xmlns:a="http://schemas.openxmlformats.org/drawingml/2006/main"/>
          <a:p xmlns:a="http://schemas.openxmlformats.org/drawingml/2006/main">
            <a:pPr algn="l">
              <a:lnSpc>
                <a:spcPct val="108000"/>
              </a:lnSpc>
              <a:buNone/>
              <a:defRPr sz="3450" b="1">
                <a:solidFill>
                  <a:srgbClr val="17232D"/>
                </a:solidFill>
                <a:latin typeface="Microsoft YaHei"/>
                <a:ea typeface="Microsoft YaHei"/>
                <a:cs typeface="Microsoft YaHei"/>
              </a:defRPr>
            </a:pPr>
            <a:r>
              <a:rPr sz="3450" b="1">
                <a:solidFill>
                  <a:srgbClr val="17232D"/>
                </a:solidFill>
                <a:latin typeface="Microsoft YaHei"/>
                <a:ea typeface="Microsoft YaHei"/>
                <a:cs typeface="Microsoft YaHei"/>
              </a:rPr>
              <a:t>A strong answer</a:t>
            </a:r>
            <a:endParaRPr/>
          </a:p>
        </p:txBody>
      </p:sp>
      <p:sp>
        <p:nvSpPr>
          <p:cNvPr id="3" name="Content Placeholder 2">
            <a:extLst xmlns:a="http://schemas.openxmlformats.org/drawingml/2006/main">
              <a:ext uri="{FF2B5EF4-FFF2-40B4-BE49-F238E27FC236}">
                <a16:creationId xmlns:a16="http://schemas.microsoft.com/office/drawing/2014/main" id="{C55E56F6-0A1D-ADCB-6DF9-639690F61E06}"/>
              </a:ext>
            </a:extLst>
          </p:cNvPr>
          <p:cNvSpPr>
            <a:spLocks xmlns:a="http://schemas.openxmlformats.org/drawingml/2006/main" noGrp="1"/>
          </p:cNvSpPr>
          <p:nvPr>
            <p:ph idx="1"/>
          </p:nvPr>
        </p:nvSpPr>
        <p:spPr>
          <a:xfrm xmlns:a="http://schemas.openxmlformats.org/drawingml/2006/main">
            <a:off x="1123950" y="1952625"/>
            <a:ext cx="9944100" cy="2952750"/>
          </a:xfrm>
        </p:spPr>
        <p:txBody>
          <a:bodyPr xmlns:a="http://schemas.openxmlformats.org/drawingml/2006/main" wrap="square" lIns="0" tIns="0" rIns="0" bIns="0" anchor="ctr">
            <a:normAutofit/>
          </a:bodyPr>
          <a:lstStyle xmlns:a="http://schemas.openxmlformats.org/drawingml/2006/main"/>
          <a:p xmlns:a="http://schemas.openxmlformats.org/drawingml/2006/main">
            <a:pPr algn="l">
              <a:buNone/>
              <a:defRPr sz="2550" b="0">
                <a:solidFill>
                  <a:srgbClr val="17232D"/>
                </a:solidFill>
                <a:latin typeface="Microsoft YaHei"/>
                <a:ea typeface="Microsoft YaHei"/>
                <a:cs typeface="Microsoft YaHei"/>
              </a:defRPr>
            </a:pPr>
            <a:r>
              <a:rPr sz="2700" b="1">
                <a:solidFill>
                  <a:srgbClr val="2B5D7E"/>
                </a:solidFill>
                <a:latin typeface="Microsoft YaHei"/>
                <a:ea typeface="Microsoft YaHei"/>
                <a:cs typeface="Microsoft YaHei"/>
              </a:rPr>
              <a:t>Mina should save some of the ¥500 first.</a:t>
            </a:r>
            <a:r>
              <a:t> She has no </a:t>
            </a:r>
            <a:r>
              <a:rPr sz="2550" b="1">
                <a:solidFill>
                  <a:srgbClr val="2B5D7E"/>
                </a:solidFill>
                <a:latin typeface="Microsoft YaHei"/>
                <a:ea typeface="Microsoft YaHei"/>
                <a:cs typeface="Microsoft YaHei"/>
              </a:rPr>
              <a:t>emergency fund</a:t>
            </a:r>
            <a:r>
              <a:t>, so </a:t>
            </a:r>
            <a:r>
              <a:rPr sz="2550" b="1">
                <a:solidFill>
                  <a:srgbClr val="2B5D7E"/>
                </a:solidFill>
                <a:latin typeface="Microsoft YaHei"/>
                <a:ea typeface="Microsoft YaHei"/>
                <a:cs typeface="Microsoft YaHei"/>
              </a:rPr>
              <a:t>liquidity</a:t>
            </a:r>
            <a:r>
              <a:t> matters: the money may be needed for </a:t>
            </a:r>
            <a:r>
              <a:rPr sz="2550" b="1">
                <a:solidFill>
                  <a:srgbClr val="2B5D7E"/>
                </a:solidFill>
                <a:latin typeface="Microsoft YaHei"/>
                <a:ea typeface="Microsoft YaHei"/>
                <a:cs typeface="Microsoft YaHei"/>
              </a:rPr>
              <a:t>essential spending</a:t>
            </a:r>
            <a:r>
              <a:t>. If she invested all of it, a </a:t>
            </a:r>
            <a:r>
              <a:rPr sz="2550" b="1">
                <a:solidFill>
                  <a:srgbClr val="F06C5B"/>
                </a:solidFill>
                <a:latin typeface="Microsoft YaHei"/>
                <a:ea typeface="Microsoft YaHei"/>
                <a:cs typeface="Microsoft YaHei"/>
              </a:rPr>
              <a:t>possible loss</a:t>
            </a:r>
            <a:r>
              <a:t> could leave her unable to meet an emergency.</a:t>
            </a:r>
          </a:p>
        </p:txBody>
      </p:sp>
    </p:spTree>
    <p:extLst>
      <p:ext uri="{BB962C8B-B14F-4D97-AF65-F5344CB8AC3E}">
        <p14:creationId xmlns:p14="http://schemas.microsoft.com/office/powerpoint/2010/main" val="3457858574"/>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4" name="Title 3">
            <a:extLst xmlns:a="http://schemas.openxmlformats.org/drawingml/2006/main">
              <a:ext uri="{FF2B5EF4-FFF2-40B4-BE49-F238E27FC236}">
                <a16:creationId xmlns:a16="http://schemas.microsoft.com/office/drawing/2014/main" id="{808377D5-BE9F-AD33-0669-9BA301D1D9B5}"/>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Which is which?</a:t>
            </a:r>
            <a:endParaRPr/>
          </a:p>
        </p:txBody>
      </p:sp>
    </p:spTree>
    <p:extLst>
      <p:ext uri="{BB962C8B-B14F-4D97-AF65-F5344CB8AC3E}">
        <p14:creationId xmlns:p14="http://schemas.microsoft.com/office/powerpoint/2010/main" val="3508709295"/>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8BAF0B6-58A5-7BCE-7C10-F60B364D4A7C}"/>
              </a:ext>
            </a:extLst>
          </p:cNvPr>
          <p:cNvSpPr>
            <a:spLocks xmlns:a="http://schemas.openxmlformats.org/drawingml/2006/main" noGrp="1"/>
          </p:cNvSpPr>
          <p:nvPr>
            <p:ph type="title" idx="0"/>
          </p:nvPr>
        </p:nvSpPr>
        <p:spPr/>
        <p:txBody>
          <a:bodyPr xmlns:a="http://schemas.openxmlformats.org/drawingml/2006/main">
            <a:noAutofit/>
          </a:bodyPr>
          <a:lstStyle xmlns:a="http://schemas.openxmlformats.org/drawingml/2006/main"/>
          <a:p xmlns:a="http://schemas.openxmlformats.org/drawingml/2006/main">
            <a:r>
              <a:rPr sz="4400"/>
              <a:t>Explain the difference between financial investment and speculation.</a:t>
            </a:r>
            <a:endParaRPr sz="4400"/>
          </a:p>
        </p:txBody>
      </p:sp>
      <p:sp>
        <p:nvSpPr>
          <p:cNvPr id="4" name="Content Placeholder 3">
            <a:extLst xmlns:a="http://schemas.openxmlformats.org/drawingml/2006/main">
              <a:ext uri="{FF2B5EF4-FFF2-40B4-BE49-F238E27FC236}">
                <a16:creationId xmlns:a16="http://schemas.microsoft.com/office/drawing/2014/main" id="{7D084F4F-696A-3545-FE48-33767ABCF884}"/>
              </a:ext>
            </a:extLst>
          </p:cNvPr>
          <p:cNvSpPr>
            <a:spLocks xmlns:a="http://schemas.openxmlformats.org/drawingml/2006/main" noGrp="1"/>
          </p:cNvSpPr>
          <p:nvPr>
            <p:ph idx="1"/>
          </p:nvPr>
        </p:nvSpPr>
        <p:spPr>
          <a:xfrm xmlns:a="http://schemas.openxmlformats.org/drawingml/2006/main">
            <a:off x="734122" y="3278459"/>
            <a:ext cx="5451088" cy="3203304"/>
          </a:xfrm>
        </p:spPr>
        <p:txBody>
          <a:bodyPr xmlns:a="http://schemas.openxmlformats.org/drawingml/2006/main"/>
          <a:lstStyle xmlns:a="http://schemas.openxmlformats.org/drawingml/2006/main"/>
          <a:p xmlns:a="http://schemas.openxmlformats.org/drawingml/2006/main">
            <a:pPr marL="0" indent="0">
              <a:buNone/>
            </a:pPr>
            <a:r>
              <a:rPr b="1"/>
              <a:t>Investment:</a:t>
            </a:r>
          </a:p>
          <a:p xmlns:a="http://schemas.openxmlformats.org/drawingml/2006/main">
            <a:r>
              <a:t>Focuses on total return: income plus growth in value </a:t>
            </a:r>
            <a:endParaRPr/>
          </a:p>
          <a:p xmlns:a="http://schemas.openxmlformats.org/drawingml/2006/main">
            <a:r>
              <a:t>Often longer-term</a:t>
            </a:r>
          </a:p>
        </p:txBody>
      </p:sp>
      <p:sp>
        <p:nvSpPr>
          <p:cNvPr id="5" name="Content Placeholder 3">
            <a:extLst xmlns:a="http://schemas.openxmlformats.org/drawingml/2006/main">
              <a:ext uri="{FF2B5EF4-FFF2-40B4-BE49-F238E27FC236}">
                <a16:creationId xmlns:a16="http://schemas.microsoft.com/office/drawing/2014/main" id="{FD5C523C-D964-C739-8369-0539BB9D9C82}"/>
              </a:ext>
            </a:extLst>
          </p:cNvPr>
          <p:cNvSpPr>
            <a:spLocks xmlns:a="http://schemas.openxmlformats.org/drawingml/2006/main" noGrp="1"/>
          </p:cNvSpPr>
          <p:nvPr/>
        </p:nvSpPr>
        <p:spPr>
          <a:xfrm xmlns:a="http://schemas.openxmlformats.org/drawingml/2006/main">
            <a:off x="6289288" y="3278459"/>
            <a:ext cx="5451088" cy="2036956"/>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lvl1pPr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buFont typeface="Arial"/>
              <a:buNone/>
            </a:pPr>
            <a:r>
              <a:rPr b="1"/>
              <a:t>Speculation</a:t>
            </a:r>
          </a:p>
          <a:p xmlns:a="http://schemas.openxmlformats.org/drawingml/2006/main">
            <a:r>
              <a:t>Focuses on price movement</a:t>
            </a:r>
          </a:p>
          <a:p xmlns:a="http://schemas.openxmlformats.org/drawingml/2006/main">
            <a:r>
              <a:t>Often shorter-term and involves greater risk</a:t>
            </a:r>
            <a:endParaRPr/>
          </a:p>
        </p:txBody>
      </p:sp>
    </p:spTree>
    <p:extLst>
      <p:ext uri="{BB962C8B-B14F-4D97-AF65-F5344CB8AC3E}">
        <p14:creationId xmlns:p14="http://schemas.microsoft.com/office/powerpoint/2010/main" val="1332411611"/>
      </p:ext>
    </p:extLst>
  </p:cSld>
</p:sld>
</file>

<file path=ppt/slides/slide25.xml><?xml version="1.0" encoding="utf-8"?>
<p:sld xmlns:p="http://schemas.openxmlformats.org/presentationml/2006/main">
  <p:cSld>
    <p:bg>
      <p:bgPr>
        <a:solidFill xmlns:a="http://schemas.openxmlformats.org/drawingml/2006/main">
          <a:srgbClr val="FCFBF8"/>
        </a:solid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4A08E3E-37C7-BC1D-7555-C4FE5DC7BDCF}"/>
              </a:ext>
            </a:extLst>
          </p:cNvPr>
          <p:cNvSpPr>
            <a:spLocks xmlns:a="http://schemas.openxmlformats.org/drawingml/2006/main" noGrp="1"/>
          </p:cNvSpPr>
          <p:nvPr>
            <p:ph type="title" idx="0"/>
          </p:nvPr>
        </p:nvSpPr>
        <p:spPr>
          <a:xfrm xmlns:a="http://schemas.openxmlformats.org/drawingml/2006/main">
            <a:off x="609600" y="438150"/>
            <a:ext cx="10972800" cy="781050"/>
          </a:xfrm>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lnSpc>
                <a:spcPct val="96000"/>
              </a:lnSpc>
              <a:buNone/>
              <a:defRPr sz="2550" b="1">
                <a:solidFill>
                  <a:srgbClr val="17232D"/>
                </a:solidFill>
                <a:latin typeface="Microsoft YaHei"/>
                <a:ea typeface="Microsoft YaHei"/>
                <a:cs typeface="Microsoft YaHei"/>
              </a:defRPr>
            </a:pPr>
            <a:r>
              <a:rPr sz="2550" b="1">
                <a:solidFill>
                  <a:srgbClr val="17232D"/>
                </a:solidFill>
                <a:latin typeface="Microsoft YaHei"/>
                <a:ea typeface="Microsoft YaHei"/>
                <a:cs typeface="Microsoft YaHei"/>
              </a:rPr>
              <a:t>Choose: Investment (投资), speculation (投机) or saving (储蓄)?</a:t>
            </a:r>
          </a:p>
        </p:txBody>
      </p:sp>
      <p:sp>
        <p:nvSpPr>
          <p:cNvPr id="3" name="Content Placeholder 2">
            <a:extLst xmlns:a="http://schemas.openxmlformats.org/drawingml/2006/main">
              <a:ext uri="{FF2B5EF4-FFF2-40B4-BE49-F238E27FC236}">
                <a16:creationId xmlns:a16="http://schemas.microsoft.com/office/drawing/2014/main" id="{8F1DE0E9-51B1-D256-F5A3-E55CC614F586}"/>
              </a:ext>
            </a:extLst>
          </p:cNvPr>
          <p:cNvSpPr>
            <a:spLocks xmlns:a="http://schemas.openxmlformats.org/drawingml/2006/main" noGrp="1"/>
          </p:cNvSpPr>
          <p:nvPr>
            <p:ph idx="1"/>
          </p:nvPr>
        </p:nvSpPr>
        <p:spPr>
          <a:xfrm xmlns:a="http://schemas.openxmlformats.org/drawingml/2006/main">
            <a:off x="781050" y="1381125"/>
            <a:ext cx="10629900" cy="4953000"/>
          </a:xfrm>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ct val="108000"/>
              </a:lnSpc>
              <a:spcAft>
                <a:spcPts val="600"/>
              </a:spcAft>
              <a:buNone/>
              <a:defRPr sz="1725" b="0">
                <a:solidFill>
                  <a:srgbClr val="17232D"/>
                </a:solidFill>
                <a:latin typeface="Microsoft YaHei"/>
                <a:ea typeface="Microsoft YaHei"/>
                <a:cs typeface="Microsoft YaHei"/>
              </a:defRPr>
            </a:pPr>
            <a:r>
              <a:rPr sz="2400" b="1">
                <a:solidFill>
                  <a:srgbClr val="3B82F6"/>
                </a:solidFill>
                <a:latin typeface="Microsoft YaHei"/>
                <a:ea typeface="Microsoft YaHei"/>
                <a:cs typeface="Microsoft YaHei"/>
              </a:rPr>
              <a:t>1.</a:t>
            </a:r>
            <a:r>
              <a:rPr sz="2400" b="0">
                <a:solidFill>
                  <a:srgbClr val="17232D"/>
                </a:solidFill>
                <a:latin typeface="Microsoft YaHei"/>
                <a:ea typeface="Microsoft YaHei"/>
                <a:cs typeface="Microsoft YaHei"/>
              </a:rPr>
              <a:t> The main basis is expected income and/or evidence about underlying value; possible loss is accepted.</a:t>
            </a:r>
          </a:p>
          <a:p xmlns:a="http://schemas.openxmlformats.org/drawingml/2006/main">
            <a:pPr marL="0" indent="0" algn="l">
              <a:lnSpc>
                <a:spcPct val="108000"/>
              </a:lnSpc>
              <a:spcAft>
                <a:spcPts val="600"/>
              </a:spcAft>
              <a:buNone/>
              <a:defRPr sz="1725" b="0">
                <a:solidFill>
                  <a:srgbClr val="17232D"/>
                </a:solidFill>
                <a:latin typeface="Microsoft YaHei"/>
                <a:ea typeface="Microsoft YaHei"/>
                <a:cs typeface="Microsoft YaHei"/>
              </a:defRPr>
            </a:pPr>
            <a:r>
              <a:rPr sz="2400" b="1">
                <a:solidFill>
                  <a:srgbClr val="3B82F6"/>
                </a:solidFill>
                <a:latin typeface="Microsoft YaHei"/>
                <a:ea typeface="Microsoft YaHei"/>
                <a:cs typeface="Microsoft YaHei"/>
              </a:rPr>
              <a:t>2.</a:t>
            </a:r>
            <a:r>
              <a:rPr sz="2400" b="0">
                <a:solidFill>
                  <a:srgbClr val="17232D"/>
                </a:solidFill>
                <a:latin typeface="Microsoft YaHei"/>
                <a:ea typeface="Microsoft YaHei"/>
                <a:cs typeface="Microsoft YaHei"/>
              </a:rPr>
              <a:t> The main reason is a </a:t>
            </a:r>
            <a:r>
              <a:rPr sz="2400" b="1">
                <a:solidFill>
                  <a:srgbClr val="F06C5B"/>
                </a:solidFill>
                <a:latin typeface="Microsoft YaHei"/>
                <a:ea typeface="Microsoft YaHei"/>
                <a:cs typeface="Microsoft YaHei"/>
              </a:rPr>
              <a:t>predicted price change</a:t>
            </a:r>
            <a:r>
              <a:rPr sz="2400" b="0">
                <a:solidFill>
                  <a:srgbClr val="17232D"/>
                </a:solidFill>
                <a:latin typeface="Microsoft YaHei"/>
                <a:ea typeface="Microsoft YaHei"/>
                <a:cs typeface="Microsoft YaHei"/>
              </a:rPr>
              <a:t>; income or underlying value is not the main basis.</a:t>
            </a:r>
          </a:p>
          <a:p xmlns:a="http://schemas.openxmlformats.org/drawingml/2006/main">
            <a:pPr marL="0" indent="0" algn="l">
              <a:lnSpc>
                <a:spcPct val="108000"/>
              </a:lnSpc>
              <a:spcAft>
                <a:spcPts val="600"/>
              </a:spcAft>
              <a:buNone/>
              <a:defRPr sz="1725" b="0">
                <a:solidFill>
                  <a:srgbClr val="17232D"/>
                </a:solidFill>
                <a:latin typeface="Microsoft YaHei"/>
                <a:ea typeface="Microsoft YaHei"/>
                <a:cs typeface="Microsoft YaHei"/>
              </a:defRPr>
            </a:pPr>
            <a:r>
              <a:rPr sz="2400" b="1">
                <a:solidFill>
                  <a:srgbClr val="3B82F6"/>
                </a:solidFill>
                <a:latin typeface="Microsoft YaHei"/>
                <a:ea typeface="Microsoft YaHei"/>
                <a:cs typeface="Microsoft YaHei"/>
              </a:rPr>
              <a:t>3.</a:t>
            </a:r>
            <a:r>
              <a:rPr sz="2400" b="0">
                <a:solidFill>
                  <a:srgbClr val="17232D"/>
                </a:solidFill>
                <a:latin typeface="Microsoft YaHei"/>
                <a:ea typeface="Microsoft YaHei"/>
                <a:cs typeface="Microsoft YaHei"/>
              </a:rPr>
              <a:t> Money is kept mainly for a </a:t>
            </a:r>
            <a:r>
              <a:rPr sz="2400" b="1">
                <a:solidFill>
                  <a:srgbClr val="2F9B67"/>
                </a:solidFill>
                <a:latin typeface="Microsoft YaHei"/>
                <a:ea typeface="Microsoft YaHei"/>
                <a:cs typeface="Microsoft YaHei"/>
              </a:rPr>
              <a:t>future need, safety and ready access</a:t>
            </a:r>
            <a:r>
              <a:rPr sz="2400" b="0">
                <a:solidFill>
                  <a:srgbClr val="17232D"/>
                </a:solidFill>
                <a:latin typeface="Microsoft YaHei"/>
                <a:ea typeface="Microsoft YaHei"/>
                <a:cs typeface="Microsoft YaHei"/>
              </a:rPr>
              <a:t>.</a:t>
            </a:r>
          </a:p>
          <a:p xmlns:a="http://schemas.openxmlformats.org/drawingml/2006/main">
            <a:pPr marL="0" indent="0" algn="l">
              <a:lnSpc>
                <a:spcPct val="108000"/>
              </a:lnSpc>
              <a:spcAft>
                <a:spcPts val="600"/>
              </a:spcAft>
              <a:buNone/>
              <a:defRPr sz="1725" b="0">
                <a:solidFill>
                  <a:srgbClr val="17232D"/>
                </a:solidFill>
                <a:latin typeface="Microsoft YaHei"/>
                <a:ea typeface="Microsoft YaHei"/>
                <a:cs typeface="Microsoft YaHei"/>
              </a:defRPr>
            </a:pPr>
            <a:r>
              <a:rPr sz="2400" b="1">
                <a:solidFill>
                  <a:srgbClr val="3B82F6"/>
                </a:solidFill>
                <a:latin typeface="Microsoft YaHei"/>
                <a:ea typeface="Microsoft YaHei"/>
                <a:cs typeface="Microsoft YaHei"/>
              </a:rPr>
              <a:t>4.</a:t>
            </a:r>
            <a:r>
              <a:rPr sz="2400" b="0">
                <a:solidFill>
                  <a:srgbClr val="17232D"/>
                </a:solidFill>
                <a:latin typeface="Microsoft YaHei"/>
                <a:ea typeface="Microsoft YaHei"/>
                <a:cs typeface="Microsoft YaHei"/>
              </a:rPr>
              <a:t> </a:t>
            </a:r>
            <a:r>
              <a:rPr sz="2400" b="1">
                <a:solidFill>
                  <a:srgbClr val="17232D"/>
                </a:solidFill>
                <a:latin typeface="Microsoft YaHei"/>
                <a:ea typeface="Microsoft YaHei"/>
                <a:cs typeface="Microsoft YaHei"/>
              </a:rPr>
              <a:t>Amina</a:t>
            </a:r>
            <a:r>
              <a:rPr sz="2400" b="0">
                <a:solidFill>
                  <a:srgbClr val="17232D"/>
                </a:solidFill>
                <a:latin typeface="Microsoft YaHei"/>
                <a:ea typeface="Microsoft YaHei"/>
                <a:cs typeface="Microsoft YaHei"/>
              </a:rPr>
              <a:t> studies profits, cash flow and debt before buying a diversified share portfolio. She expects dividends and long-term price growth.</a:t>
            </a:r>
          </a:p>
          <a:p xmlns:a="http://schemas.openxmlformats.org/drawingml/2006/main">
            <a:pPr marL="0" indent="0" algn="l">
              <a:lnSpc>
                <a:spcPct val="108000"/>
              </a:lnSpc>
              <a:spcAft>
                <a:spcPts val="600"/>
              </a:spcAft>
              <a:buNone/>
              <a:defRPr sz="1725" b="0">
                <a:solidFill>
                  <a:srgbClr val="17232D"/>
                </a:solidFill>
                <a:latin typeface="Microsoft YaHei"/>
                <a:ea typeface="Microsoft YaHei"/>
                <a:cs typeface="Microsoft YaHei"/>
              </a:defRPr>
            </a:pPr>
            <a:r>
              <a:rPr sz="2400" b="1">
                <a:solidFill>
                  <a:srgbClr val="3B82F6"/>
                </a:solidFill>
                <a:latin typeface="Microsoft YaHei"/>
                <a:ea typeface="Microsoft YaHei"/>
                <a:cs typeface="Microsoft YaHei"/>
              </a:rPr>
              <a:t>5.</a:t>
            </a:r>
            <a:r>
              <a:rPr sz="2400" b="0">
                <a:solidFill>
                  <a:srgbClr val="17232D"/>
                </a:solidFill>
                <a:latin typeface="Microsoft YaHei"/>
                <a:ea typeface="Microsoft YaHei"/>
                <a:cs typeface="Microsoft YaHei"/>
              </a:rPr>
              <a:t> </a:t>
            </a:r>
            <a:r>
              <a:rPr sz="2400" b="1">
                <a:solidFill>
                  <a:srgbClr val="17232D"/>
                </a:solidFill>
                <a:latin typeface="Microsoft YaHei"/>
                <a:ea typeface="Microsoft YaHei"/>
                <a:cs typeface="Microsoft YaHei"/>
              </a:rPr>
              <a:t>Bao</a:t>
            </a:r>
            <a:r>
              <a:rPr sz="2400" b="0">
                <a:solidFill>
                  <a:srgbClr val="17232D"/>
                </a:solidFill>
                <a:latin typeface="Microsoft YaHei"/>
                <a:ea typeface="Microsoft YaHei"/>
                <a:cs typeface="Microsoft YaHei"/>
              </a:rPr>
              <a:t> borrows after an online rumour predicts a price rise next week. He will sell after an announcement.</a:t>
            </a:r>
          </a:p>
        </p:txBody>
      </p:sp>
    </p:spTree>
    <p:extLst>
      <p:ext uri="{BB962C8B-B14F-4D97-AF65-F5344CB8AC3E}">
        <p14:creationId xmlns:p14="http://schemas.microsoft.com/office/powerpoint/2010/main" val="925250668"/>
      </p:ext>
    </p:extLst>
  </p:cSld>
</p:sld>
</file>

<file path=ppt/slides/slide26.xml><?xml version="1.0" encoding="utf-8"?>
<p:sld xmlns:p="http://schemas.openxmlformats.org/presentationml/2006/main">
  <p:cSld>
    <p:bg>
      <p:bgPr>
        <a:solidFill xmlns:a="http://schemas.openxmlformats.org/drawingml/2006/main">
          <a:srgbClr val="FCFBF8"/>
        </a:solid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50FD62F-AADD-915A-DD6D-C994392E9694}"/>
              </a:ext>
            </a:extLst>
          </p:cNvPr>
          <p:cNvSpPr>
            <a:spLocks xmlns:a="http://schemas.openxmlformats.org/drawingml/2006/main" noGrp="1"/>
          </p:cNvSpPr>
          <p:nvPr>
            <p:ph type="title" idx="0"/>
          </p:nvPr>
        </p:nvSpPr>
        <p:spPr>
          <a:xfrm xmlns:a="http://schemas.openxmlformats.org/drawingml/2006/main">
            <a:off x="685800" y="590550"/>
            <a:ext cx="10820400" cy="781050"/>
          </a:xfrm>
        </p:spPr>
        <p:txBody>
          <a:bodyPr xmlns:a="http://schemas.openxmlformats.org/drawingml/2006/main" wrap="square" lIns="0" tIns="0" rIns="0" bIns="0" anchor="ctr">
            <a:normAutofit/>
          </a:bodyPr>
          <a:lstStyle xmlns:a="http://schemas.openxmlformats.org/drawingml/2006/main"/>
          <a:p xmlns:a="http://schemas.openxmlformats.org/drawingml/2006/main">
            <a:pPr algn="l">
              <a:lnSpc>
                <a:spcPct val="108000"/>
              </a:lnSpc>
              <a:buNone/>
              <a:defRPr sz="3450" b="1">
                <a:solidFill>
                  <a:srgbClr val="17232D"/>
                </a:solidFill>
                <a:latin typeface="Microsoft YaHei"/>
                <a:ea typeface="Microsoft YaHei"/>
                <a:cs typeface="Microsoft YaHei"/>
              </a:defRPr>
            </a:pPr>
            <a:r>
              <a:rPr sz="3450" b="1">
                <a:solidFill>
                  <a:srgbClr val="17232D"/>
                </a:solidFill>
                <a:latin typeface="Microsoft YaHei"/>
                <a:ea typeface="Microsoft YaHei"/>
                <a:cs typeface="Microsoft YaHei"/>
              </a:rPr>
              <a:t>A strong answer</a:t>
            </a:r>
            <a:endParaRPr/>
          </a:p>
        </p:txBody>
      </p:sp>
      <p:sp>
        <p:nvSpPr>
          <p:cNvPr id="3" name="Content Placeholder 2">
            <a:extLst xmlns:a="http://schemas.openxmlformats.org/drawingml/2006/main">
              <a:ext uri="{FF2B5EF4-FFF2-40B4-BE49-F238E27FC236}">
                <a16:creationId xmlns:a16="http://schemas.microsoft.com/office/drawing/2014/main" id="{C55E56F6-0A1D-ADCB-6DF9-639690F61E06}"/>
              </a:ext>
            </a:extLst>
          </p:cNvPr>
          <p:cNvSpPr>
            <a:spLocks xmlns:a="http://schemas.openxmlformats.org/drawingml/2006/main" noGrp="1"/>
          </p:cNvSpPr>
          <p:nvPr>
            <p:ph idx="1"/>
          </p:nvPr>
        </p:nvSpPr>
        <p:spPr>
          <a:xfrm xmlns:a="http://schemas.openxmlformats.org/drawingml/2006/main">
            <a:off x="1123950" y="1952625"/>
            <a:ext cx="9944100" cy="2952750"/>
          </a:xfrm>
        </p:spPr>
        <p:txBody>
          <a:bodyPr xmlns:a="http://schemas.openxmlformats.org/drawingml/2006/main" wrap="square" lIns="0" tIns="0" rIns="0" bIns="0" anchor="ctr">
            <a:normAutofit/>
          </a:bodyPr>
          <a:lstStyle xmlns:a="http://schemas.openxmlformats.org/drawingml/2006/main"/>
          <a:p xmlns:a="http://schemas.openxmlformats.org/drawingml/2006/main">
            <a:pPr algn="l">
              <a:buNone/>
              <a:defRPr sz="2550" b="0">
                <a:solidFill>
                  <a:srgbClr val="17232D"/>
                </a:solidFill>
                <a:latin typeface="Microsoft YaHei"/>
                <a:ea typeface="Microsoft YaHei"/>
                <a:cs typeface="Microsoft YaHei"/>
              </a:defRPr>
            </a:pPr>
            <a:r>
              <a:rPr sz="2700" b="1">
                <a:solidFill>
                  <a:srgbClr val="2B5D7E"/>
                </a:solidFill>
                <a:latin typeface="Microsoft YaHei"/>
                <a:ea typeface="Microsoft YaHei"/>
                <a:cs typeface="Microsoft YaHei"/>
              </a:rPr>
              <a:t>Mina should save some of the ¥500 first.</a:t>
            </a:r>
            <a:r>
              <a:t> She has no </a:t>
            </a:r>
            <a:r>
              <a:rPr sz="2550" b="1">
                <a:solidFill>
                  <a:srgbClr val="2B5D7E"/>
                </a:solidFill>
                <a:latin typeface="Microsoft YaHei"/>
                <a:ea typeface="Microsoft YaHei"/>
                <a:cs typeface="Microsoft YaHei"/>
              </a:rPr>
              <a:t>emergency fund</a:t>
            </a:r>
            <a:r>
              <a:t>, so </a:t>
            </a:r>
            <a:r>
              <a:rPr sz="2550" b="1">
                <a:solidFill>
                  <a:srgbClr val="2B5D7E"/>
                </a:solidFill>
                <a:latin typeface="Microsoft YaHei"/>
                <a:ea typeface="Microsoft YaHei"/>
                <a:cs typeface="Microsoft YaHei"/>
              </a:rPr>
              <a:t>liquidity</a:t>
            </a:r>
            <a:r>
              <a:t> matters: the money may be needed for </a:t>
            </a:r>
            <a:r>
              <a:rPr sz="2550" b="1">
                <a:solidFill>
                  <a:srgbClr val="2B5D7E"/>
                </a:solidFill>
                <a:latin typeface="Microsoft YaHei"/>
                <a:ea typeface="Microsoft YaHei"/>
                <a:cs typeface="Microsoft YaHei"/>
              </a:rPr>
              <a:t>essential spending</a:t>
            </a:r>
            <a:r>
              <a:t>. If she invested all of it, a </a:t>
            </a:r>
            <a:r>
              <a:rPr sz="2550" b="1">
                <a:solidFill>
                  <a:srgbClr val="F06C5B"/>
                </a:solidFill>
                <a:latin typeface="Microsoft YaHei"/>
                <a:ea typeface="Microsoft YaHei"/>
                <a:cs typeface="Microsoft YaHei"/>
              </a:rPr>
              <a:t>possible loss</a:t>
            </a:r>
            <a:r>
              <a:t> could leave her unable to meet an emergency.</a:t>
            </a:r>
          </a:p>
        </p:txBody>
      </p:sp>
    </p:spTree>
    <p:extLst>
      <p:ext uri="{BB962C8B-B14F-4D97-AF65-F5344CB8AC3E}">
        <p14:creationId xmlns:p14="http://schemas.microsoft.com/office/powerpoint/2010/main" val="3457858574"/>
      </p:ext>
    </p:extLst>
  </p:cSld>
</p:sld>
</file>

<file path=ppt/slides/slide27.xml><?xml version="1.0" encoding="utf-8"?>
<p:sld xmlns:p="http://schemas.openxmlformats.org/presentationml/2006/main">
  <p:cSld>
    <p:bg>
      <p:bgPr>
        <a:solidFill xmlns:a="http://schemas.openxmlformats.org/drawingml/2006/main">
          <a:srgbClr val="FCFBF8"/>
        </a:solid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4A08E3E-37C7-BC1D-7555-C4FE5DC7BDCF}"/>
              </a:ext>
            </a:extLst>
          </p:cNvPr>
          <p:cNvSpPr>
            <a:spLocks xmlns:a="http://schemas.openxmlformats.org/drawingml/2006/main" noGrp="1"/>
          </p:cNvSpPr>
          <p:nvPr>
            <p:ph type="title" idx="0"/>
          </p:nvPr>
        </p:nvSpPr>
        <p:spPr>
          <a:xfrm xmlns:a="http://schemas.openxmlformats.org/drawingml/2006/main">
            <a:off x="609600" y="438150"/>
            <a:ext cx="10972800" cy="781050"/>
          </a:xfrm>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lnSpc>
                <a:spcPct val="96000"/>
              </a:lnSpc>
              <a:buNone/>
              <a:defRPr sz="2550" b="1">
                <a:solidFill>
                  <a:srgbClr val="17232D"/>
                </a:solidFill>
                <a:latin typeface="Microsoft YaHei"/>
                <a:ea typeface="Microsoft YaHei"/>
                <a:cs typeface="Microsoft YaHei"/>
              </a:defRPr>
            </a:pPr>
            <a:r>
              <a:rPr sz="2550" b="1">
                <a:solidFill>
                  <a:srgbClr val="17232D"/>
                </a:solidFill>
                <a:latin typeface="Microsoft YaHei"/>
                <a:ea typeface="Microsoft YaHei"/>
                <a:cs typeface="Microsoft YaHei"/>
              </a:rPr>
              <a:t>Choose: Investment (投资), speculation (投机) or saving (储蓄)?</a:t>
            </a:r>
          </a:p>
        </p:txBody>
      </p:sp>
      <p:sp>
        <p:nvSpPr>
          <p:cNvPr id="3" name="Content Placeholder 2">
            <a:extLst xmlns:a="http://schemas.openxmlformats.org/drawingml/2006/main">
              <a:ext uri="{FF2B5EF4-FFF2-40B4-BE49-F238E27FC236}">
                <a16:creationId xmlns:a16="http://schemas.microsoft.com/office/drawing/2014/main" id="{8F1DE0E9-51B1-D256-F5A3-E55CC614F586}"/>
              </a:ext>
            </a:extLst>
          </p:cNvPr>
          <p:cNvSpPr>
            <a:spLocks xmlns:a="http://schemas.openxmlformats.org/drawingml/2006/main" noGrp="1"/>
          </p:cNvSpPr>
          <p:nvPr>
            <p:ph idx="1"/>
          </p:nvPr>
        </p:nvSpPr>
        <p:spPr>
          <a:xfrm xmlns:a="http://schemas.openxmlformats.org/drawingml/2006/main">
            <a:off x="781050" y="1381125"/>
            <a:ext cx="10629900" cy="4953000"/>
          </a:xfrm>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ct val="108000"/>
              </a:lnSpc>
              <a:spcAft>
                <a:spcPts val="600"/>
              </a:spcAft>
              <a:buNone/>
              <a:defRPr sz="1725" b="0">
                <a:solidFill>
                  <a:srgbClr val="17232D"/>
                </a:solidFill>
                <a:latin typeface="Microsoft YaHei"/>
                <a:ea typeface="Microsoft YaHei"/>
                <a:cs typeface="Microsoft YaHei"/>
              </a:defRPr>
            </a:pPr>
            <a:r>
              <a:rPr sz="2400" b="1">
                <a:solidFill>
                  <a:srgbClr val="3B82F6"/>
                </a:solidFill>
                <a:latin typeface="Microsoft YaHei"/>
                <a:ea typeface="Microsoft YaHei"/>
                <a:cs typeface="Microsoft YaHei"/>
              </a:rPr>
              <a:t>1.</a:t>
            </a:r>
            <a:r>
              <a:rPr sz="2400" b="0">
                <a:solidFill>
                  <a:srgbClr val="17232D"/>
                </a:solidFill>
                <a:latin typeface="Microsoft YaHei"/>
                <a:ea typeface="Microsoft YaHei"/>
                <a:cs typeface="Microsoft YaHei"/>
              </a:rPr>
              <a:t> The main basis is expected income and/or evidence about underlying value; possible loss is accepted.</a:t>
            </a:r>
          </a:p>
          <a:p xmlns:a="http://schemas.openxmlformats.org/drawingml/2006/main">
            <a:pPr marL="0" indent="0" algn="l">
              <a:lnSpc>
                <a:spcPct val="108000"/>
              </a:lnSpc>
              <a:spcAft>
                <a:spcPts val="600"/>
              </a:spcAft>
              <a:buNone/>
              <a:defRPr sz="1725" b="0">
                <a:solidFill>
                  <a:srgbClr val="17232D"/>
                </a:solidFill>
                <a:latin typeface="Microsoft YaHei"/>
                <a:ea typeface="Microsoft YaHei"/>
                <a:cs typeface="Microsoft YaHei"/>
              </a:defRPr>
            </a:pPr>
            <a:r>
              <a:rPr sz="2400" b="1">
                <a:solidFill>
                  <a:srgbClr val="3B82F6"/>
                </a:solidFill>
                <a:latin typeface="Microsoft YaHei"/>
                <a:ea typeface="Microsoft YaHei"/>
                <a:cs typeface="Microsoft YaHei"/>
              </a:rPr>
              <a:t>2.</a:t>
            </a:r>
            <a:r>
              <a:rPr sz="2400" b="0">
                <a:solidFill>
                  <a:srgbClr val="17232D"/>
                </a:solidFill>
                <a:latin typeface="Microsoft YaHei"/>
                <a:ea typeface="Microsoft YaHei"/>
                <a:cs typeface="Microsoft YaHei"/>
              </a:rPr>
              <a:t> The main reason is a </a:t>
            </a:r>
            <a:r>
              <a:rPr sz="2400" b="1">
                <a:solidFill>
                  <a:srgbClr val="F06C5B"/>
                </a:solidFill>
                <a:latin typeface="Microsoft YaHei"/>
                <a:ea typeface="Microsoft YaHei"/>
                <a:cs typeface="Microsoft YaHei"/>
              </a:rPr>
              <a:t>predicted price change</a:t>
            </a:r>
            <a:r>
              <a:rPr sz="2400" b="0">
                <a:solidFill>
                  <a:srgbClr val="17232D"/>
                </a:solidFill>
                <a:latin typeface="Microsoft YaHei"/>
                <a:ea typeface="Microsoft YaHei"/>
                <a:cs typeface="Microsoft YaHei"/>
              </a:rPr>
              <a:t>; income or underlying value is not the main basis.</a:t>
            </a:r>
          </a:p>
          <a:p xmlns:a="http://schemas.openxmlformats.org/drawingml/2006/main">
            <a:pPr marL="0" indent="0" algn="l">
              <a:lnSpc>
                <a:spcPct val="108000"/>
              </a:lnSpc>
              <a:spcAft>
                <a:spcPts val="600"/>
              </a:spcAft>
              <a:buNone/>
              <a:defRPr sz="1725" b="0">
                <a:solidFill>
                  <a:srgbClr val="17232D"/>
                </a:solidFill>
                <a:latin typeface="Microsoft YaHei"/>
                <a:ea typeface="Microsoft YaHei"/>
                <a:cs typeface="Microsoft YaHei"/>
              </a:defRPr>
            </a:pPr>
            <a:r>
              <a:rPr sz="2400" b="1">
                <a:solidFill>
                  <a:srgbClr val="3B82F6"/>
                </a:solidFill>
                <a:latin typeface="Microsoft YaHei"/>
                <a:ea typeface="Microsoft YaHei"/>
                <a:cs typeface="Microsoft YaHei"/>
              </a:rPr>
              <a:t>3.</a:t>
            </a:r>
            <a:r>
              <a:rPr sz="2400" b="0">
                <a:solidFill>
                  <a:srgbClr val="17232D"/>
                </a:solidFill>
                <a:latin typeface="Microsoft YaHei"/>
                <a:ea typeface="Microsoft YaHei"/>
                <a:cs typeface="Microsoft YaHei"/>
              </a:rPr>
              <a:t> Money is kept mainly for a </a:t>
            </a:r>
            <a:r>
              <a:rPr sz="2400" b="1">
                <a:solidFill>
                  <a:srgbClr val="2F9B67"/>
                </a:solidFill>
                <a:latin typeface="Microsoft YaHei"/>
                <a:ea typeface="Microsoft YaHei"/>
                <a:cs typeface="Microsoft YaHei"/>
              </a:rPr>
              <a:t>future need, safety and ready access</a:t>
            </a:r>
            <a:r>
              <a:rPr sz="2400" b="0">
                <a:solidFill>
                  <a:srgbClr val="17232D"/>
                </a:solidFill>
                <a:latin typeface="Microsoft YaHei"/>
                <a:ea typeface="Microsoft YaHei"/>
                <a:cs typeface="Microsoft YaHei"/>
              </a:rPr>
              <a:t>.</a:t>
            </a:r>
          </a:p>
          <a:p xmlns:a="http://schemas.openxmlformats.org/drawingml/2006/main">
            <a:pPr marL="0" indent="0" algn="l">
              <a:lnSpc>
                <a:spcPct val="108000"/>
              </a:lnSpc>
              <a:spcAft>
                <a:spcPts val="600"/>
              </a:spcAft>
              <a:buNone/>
              <a:defRPr sz="1725" b="0">
                <a:solidFill>
                  <a:srgbClr val="17232D"/>
                </a:solidFill>
                <a:latin typeface="Microsoft YaHei"/>
                <a:ea typeface="Microsoft YaHei"/>
                <a:cs typeface="Microsoft YaHei"/>
              </a:defRPr>
            </a:pPr>
            <a:r>
              <a:rPr sz="2400" b="1">
                <a:solidFill>
                  <a:srgbClr val="3B82F6"/>
                </a:solidFill>
                <a:latin typeface="Microsoft YaHei"/>
                <a:ea typeface="Microsoft YaHei"/>
                <a:cs typeface="Microsoft YaHei"/>
              </a:rPr>
              <a:t>4.</a:t>
            </a:r>
            <a:r>
              <a:rPr sz="2400" b="0">
                <a:solidFill>
                  <a:srgbClr val="17232D"/>
                </a:solidFill>
                <a:latin typeface="Microsoft YaHei"/>
                <a:ea typeface="Microsoft YaHei"/>
                <a:cs typeface="Microsoft YaHei"/>
              </a:rPr>
              <a:t> </a:t>
            </a:r>
            <a:r>
              <a:rPr sz="2400" b="1">
                <a:solidFill>
                  <a:srgbClr val="17232D"/>
                </a:solidFill>
                <a:latin typeface="Microsoft YaHei"/>
                <a:ea typeface="Microsoft YaHei"/>
                <a:cs typeface="Microsoft YaHei"/>
              </a:rPr>
              <a:t>Amina</a:t>
            </a:r>
            <a:r>
              <a:rPr sz="2400" b="0">
                <a:solidFill>
                  <a:srgbClr val="17232D"/>
                </a:solidFill>
                <a:latin typeface="Microsoft YaHei"/>
                <a:ea typeface="Microsoft YaHei"/>
                <a:cs typeface="Microsoft YaHei"/>
              </a:rPr>
              <a:t> studies profits, cash flow and debt before buying a diversified share portfolio. She expects dividends and long-term price growth.</a:t>
            </a:r>
          </a:p>
          <a:p xmlns:a="http://schemas.openxmlformats.org/drawingml/2006/main">
            <a:pPr marL="0" indent="0" algn="l">
              <a:lnSpc>
                <a:spcPct val="108000"/>
              </a:lnSpc>
              <a:spcAft>
                <a:spcPts val="600"/>
              </a:spcAft>
              <a:buNone/>
              <a:defRPr sz="1725" b="0">
                <a:solidFill>
                  <a:srgbClr val="17232D"/>
                </a:solidFill>
                <a:latin typeface="Microsoft YaHei"/>
                <a:ea typeface="Microsoft YaHei"/>
                <a:cs typeface="Microsoft YaHei"/>
              </a:defRPr>
            </a:pPr>
            <a:r>
              <a:rPr sz="2400" b="1">
                <a:solidFill>
                  <a:srgbClr val="3B82F6"/>
                </a:solidFill>
                <a:latin typeface="Microsoft YaHei"/>
                <a:ea typeface="Microsoft YaHei"/>
                <a:cs typeface="Microsoft YaHei"/>
              </a:rPr>
              <a:t>5.</a:t>
            </a:r>
            <a:r>
              <a:rPr sz="2400" b="0">
                <a:solidFill>
                  <a:srgbClr val="17232D"/>
                </a:solidFill>
                <a:latin typeface="Microsoft YaHei"/>
                <a:ea typeface="Microsoft YaHei"/>
                <a:cs typeface="Microsoft YaHei"/>
              </a:rPr>
              <a:t> </a:t>
            </a:r>
            <a:r>
              <a:rPr sz="2400" b="1">
                <a:solidFill>
                  <a:srgbClr val="17232D"/>
                </a:solidFill>
                <a:latin typeface="Microsoft YaHei"/>
                <a:ea typeface="Microsoft YaHei"/>
                <a:cs typeface="Microsoft YaHei"/>
              </a:rPr>
              <a:t>Bao</a:t>
            </a:r>
            <a:r>
              <a:rPr sz="2400" b="0">
                <a:solidFill>
                  <a:srgbClr val="17232D"/>
                </a:solidFill>
                <a:latin typeface="Microsoft YaHei"/>
                <a:ea typeface="Microsoft YaHei"/>
                <a:cs typeface="Microsoft YaHei"/>
              </a:rPr>
              <a:t> borrows after an online rumour predicts a price rise next week. He will sell after an announcement.</a:t>
            </a:r>
          </a:p>
        </p:txBody>
      </p:sp>
    </p:spTree>
    <p:extLst>
      <p:ext uri="{BB962C8B-B14F-4D97-AF65-F5344CB8AC3E}">
        <p14:creationId xmlns:p14="http://schemas.microsoft.com/office/powerpoint/2010/main" val="925250668"/>
      </p:ext>
    </p:extLst>
  </p:cSld>
</p:sld>
</file>

<file path=ppt/slides/slide28.xml><?xml version="1.0" encoding="utf-8"?>
<p:sld xmlns:p="http://schemas.openxmlformats.org/presentationml/2006/main">
  <p:cSld>
    <p:bg>
      <p:bgPr>
        <a:solidFill xmlns:a="http://schemas.openxmlformats.org/drawingml/2006/main">
          <a:srgbClr val="FCFBF8"/>
        </a:solid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50FD62F-AADD-915A-DD6D-C994392E9694}"/>
              </a:ext>
            </a:extLst>
          </p:cNvPr>
          <p:cNvSpPr>
            <a:spLocks xmlns:a="http://schemas.openxmlformats.org/drawingml/2006/main" noGrp="1"/>
          </p:cNvSpPr>
          <p:nvPr>
            <p:ph type="title" idx="0"/>
          </p:nvPr>
        </p:nvSpPr>
        <p:spPr>
          <a:xfrm xmlns:a="http://schemas.openxmlformats.org/drawingml/2006/main">
            <a:off x="685800" y="590550"/>
            <a:ext cx="10820400" cy="781050"/>
          </a:xfrm>
        </p:spPr>
        <p:txBody>
          <a:bodyPr xmlns:a="http://schemas.openxmlformats.org/drawingml/2006/main" wrap="square" lIns="0" tIns="0" rIns="0" bIns="0" anchor="ctr">
            <a:normAutofit/>
          </a:bodyPr>
          <a:lstStyle xmlns:a="http://schemas.openxmlformats.org/drawingml/2006/main"/>
          <a:p xmlns:a="http://schemas.openxmlformats.org/drawingml/2006/main">
            <a:pPr algn="l">
              <a:lnSpc>
                <a:spcPct val="108000"/>
              </a:lnSpc>
              <a:buNone/>
              <a:defRPr sz="3450" b="1">
                <a:solidFill>
                  <a:srgbClr val="17232D"/>
                </a:solidFill>
                <a:latin typeface="Microsoft YaHei"/>
                <a:ea typeface="Microsoft YaHei"/>
                <a:cs typeface="Microsoft YaHei"/>
              </a:defRPr>
            </a:pPr>
            <a:r>
              <a:rPr sz="3450" b="1">
                <a:solidFill>
                  <a:srgbClr val="17232D"/>
                </a:solidFill>
                <a:latin typeface="Microsoft YaHei"/>
                <a:ea typeface="Microsoft YaHei"/>
                <a:cs typeface="Microsoft YaHei"/>
              </a:rPr>
              <a:t>A strong answer</a:t>
            </a:r>
            <a:endParaRPr/>
          </a:p>
        </p:txBody>
      </p:sp>
      <p:sp>
        <p:nvSpPr>
          <p:cNvPr id="3" name="Content Placeholder 2">
            <a:extLst xmlns:a="http://schemas.openxmlformats.org/drawingml/2006/main">
              <a:ext uri="{FF2B5EF4-FFF2-40B4-BE49-F238E27FC236}">
                <a16:creationId xmlns:a16="http://schemas.microsoft.com/office/drawing/2014/main" id="{C55E56F6-0A1D-ADCB-6DF9-639690F61E06}"/>
              </a:ext>
            </a:extLst>
          </p:cNvPr>
          <p:cNvSpPr>
            <a:spLocks xmlns:a="http://schemas.openxmlformats.org/drawingml/2006/main" noGrp="1"/>
          </p:cNvSpPr>
          <p:nvPr>
            <p:ph idx="1"/>
          </p:nvPr>
        </p:nvSpPr>
        <p:spPr>
          <a:xfrm xmlns:a="http://schemas.openxmlformats.org/drawingml/2006/main">
            <a:off x="1123950" y="1952625"/>
            <a:ext cx="9944100" cy="2952750"/>
          </a:xfrm>
        </p:spPr>
        <p:txBody>
          <a:bodyPr xmlns:a="http://schemas.openxmlformats.org/drawingml/2006/main" wrap="square" lIns="0" tIns="0" rIns="0" bIns="0" anchor="ctr">
            <a:normAutofit/>
          </a:bodyPr>
          <a:lstStyle xmlns:a="http://schemas.openxmlformats.org/drawingml/2006/main"/>
          <a:p xmlns:a="http://schemas.openxmlformats.org/drawingml/2006/main">
            <a:pPr algn="l">
              <a:buNone/>
              <a:defRPr sz="2550" b="0">
                <a:solidFill>
                  <a:srgbClr val="17232D"/>
                </a:solidFill>
                <a:latin typeface="Microsoft YaHei"/>
                <a:ea typeface="Microsoft YaHei"/>
                <a:cs typeface="Microsoft YaHei"/>
              </a:defRPr>
            </a:pPr>
            <a:r>
              <a:rPr sz="2700" b="1">
                <a:solidFill>
                  <a:srgbClr val="2B5D7E"/>
                </a:solidFill>
                <a:latin typeface="Microsoft YaHei"/>
                <a:ea typeface="Microsoft YaHei"/>
                <a:cs typeface="Microsoft YaHei"/>
              </a:rPr>
              <a:t>Mina should save some of the ¥500 first.</a:t>
            </a:r>
            <a:r>
              <a:t> She has no </a:t>
            </a:r>
            <a:r>
              <a:rPr sz="2550" b="1">
                <a:solidFill>
                  <a:srgbClr val="2B5D7E"/>
                </a:solidFill>
                <a:latin typeface="Microsoft YaHei"/>
                <a:ea typeface="Microsoft YaHei"/>
                <a:cs typeface="Microsoft YaHei"/>
              </a:rPr>
              <a:t>emergency fund</a:t>
            </a:r>
            <a:r>
              <a:t>, so </a:t>
            </a:r>
            <a:r>
              <a:rPr sz="2550" b="1">
                <a:solidFill>
                  <a:srgbClr val="2B5D7E"/>
                </a:solidFill>
                <a:latin typeface="Microsoft YaHei"/>
                <a:ea typeface="Microsoft YaHei"/>
                <a:cs typeface="Microsoft YaHei"/>
              </a:rPr>
              <a:t>liquidity</a:t>
            </a:r>
            <a:r>
              <a:t> matters: the money may be needed for </a:t>
            </a:r>
            <a:r>
              <a:rPr sz="2550" b="1">
                <a:solidFill>
                  <a:srgbClr val="2B5D7E"/>
                </a:solidFill>
                <a:latin typeface="Microsoft YaHei"/>
                <a:ea typeface="Microsoft YaHei"/>
                <a:cs typeface="Microsoft YaHei"/>
              </a:rPr>
              <a:t>essential spending</a:t>
            </a:r>
            <a:r>
              <a:t>. If she invested all of it, a </a:t>
            </a:r>
            <a:r>
              <a:rPr sz="2550" b="1">
                <a:solidFill>
                  <a:srgbClr val="F06C5B"/>
                </a:solidFill>
                <a:latin typeface="Microsoft YaHei"/>
                <a:ea typeface="Microsoft YaHei"/>
                <a:cs typeface="Microsoft YaHei"/>
              </a:rPr>
              <a:t>possible loss</a:t>
            </a:r>
            <a:r>
              <a:t> could leave her unable to meet an emergency.</a:t>
            </a:r>
          </a:p>
        </p:txBody>
      </p:sp>
    </p:spTree>
    <p:extLst>
      <p:ext uri="{BB962C8B-B14F-4D97-AF65-F5344CB8AC3E}">
        <p14:creationId xmlns:p14="http://schemas.microsoft.com/office/powerpoint/2010/main" val="3457858574"/>
      </p:ext>
    </p:extLst>
  </p:cSld>
</p:sld>
</file>

<file path=ppt/slides/slide29.xml><?xml version="1.0" encoding="utf-8"?>
<p:sld xmlns:p="http://schemas.openxmlformats.org/presentationml/2006/main">
  <p:cSld>
    <p:bg>
      <p:bgPr>
        <a:solidFill xmlns:a="http://schemas.openxmlformats.org/drawingml/2006/main">
          <a:srgbClr val="FCFBF8"/>
        </a:solid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34190B7-B771-44F1-2AE6-B30C059E9210}"/>
              </a:ext>
            </a:extLst>
          </p:cNvPr>
          <p:cNvSpPr>
            <a:spLocks xmlns:a="http://schemas.openxmlformats.org/drawingml/2006/main" noGrp="1"/>
          </p:cNvSpPr>
          <p:nvPr>
            <p:ph type="title" idx="0"/>
          </p:nvPr>
        </p:nvSpPr>
        <p:spPr>
          <a:xfrm xmlns:a="http://schemas.openxmlformats.org/drawingml/2006/main">
            <a:off x="609600" y="438150"/>
            <a:ext cx="10972800" cy="781050"/>
          </a:xfrm>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lnSpc>
                <a:spcPct val="96000"/>
              </a:lnSpc>
              <a:buNone/>
              <a:defRPr sz="2925" b="1">
                <a:solidFill>
                  <a:srgbClr val="17232D"/>
                </a:solidFill>
                <a:latin typeface="Microsoft YaHei"/>
                <a:ea typeface="Microsoft YaHei"/>
                <a:cs typeface="Microsoft YaHei"/>
              </a:defRPr>
            </a:pPr>
            <a:r>
              <a:rPr sz="2925" b="1">
                <a:solidFill>
                  <a:srgbClr val="17232D"/>
                </a:solidFill>
                <a:latin typeface="Microsoft YaHei"/>
                <a:ea typeface="Microsoft YaHei"/>
                <a:cs typeface="Microsoft YaHei"/>
              </a:rPr>
              <a:t>Short answer question 1: save first or invest now?</a:t>
            </a:r>
          </a:p>
        </p:txBody>
      </p:sp>
      <p:sp>
        <p:nvSpPr>
          <p:cNvPr id="3" name="Content Placeholder 2">
            <a:extLst xmlns:a="http://schemas.openxmlformats.org/drawingml/2006/main">
              <a:ext uri="{FF2B5EF4-FFF2-40B4-BE49-F238E27FC236}">
                <a16:creationId xmlns:a16="http://schemas.microsoft.com/office/drawing/2014/main" id="{DF3F9A3A-B398-A25E-EF98-2CDD0E4C2893}"/>
              </a:ext>
            </a:extLst>
          </p:cNvPr>
          <p:cNvSpPr>
            <a:spLocks xmlns:a="http://schemas.openxmlformats.org/drawingml/2006/main" noGrp="1"/>
          </p:cNvSpPr>
          <p:nvPr>
            <p:ph idx="1"/>
          </p:nvPr>
        </p:nvSpPr>
        <p:spPr>
          <a:xfrm xmlns:a="http://schemas.openxmlformats.org/drawingml/2006/main">
            <a:off x="666750" y="1476375"/>
            <a:ext cx="6334125" cy="4619625"/>
          </a:xfrm>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ct val="104000"/>
              </a:lnSpc>
              <a:buNone/>
              <a:defRPr sz="1800" b="0">
                <a:solidFill>
                  <a:srgbClr val="17232D"/>
                </a:solidFill>
                <a:latin typeface="Microsoft YaHei"/>
                <a:ea typeface="Microsoft YaHei"/>
                <a:cs typeface="Microsoft YaHei"/>
              </a:defRPr>
            </a:pPr>
            <a:r>
              <a:rPr sz="1875" b="1">
                <a:solidFill>
                  <a:srgbClr val="17232D"/>
                </a:solidFill>
                <a:latin typeface="Microsoft YaHei"/>
                <a:ea typeface="Microsoft YaHei"/>
                <a:cs typeface="Microsoft YaHei"/>
              </a:rPr>
              <a:t>Mina receives ¥500 and has no money set aside for emergencies. Should she save some before investing? Explain.</a:t>
            </a:r>
          </a:p>
          <a:p xmlns:a="http://schemas.openxmlformats.org/drawingml/2006/main">
            <a:pPr marL="0" indent="0">
              <a:buNone/>
            </a:pPr>
            <a:endParaRPr sz="1875" b="1">
              <a:solidFill>
                <a:srgbClr val="17232D"/>
              </a:solidFill>
              <a:latin typeface="Microsoft YaHei"/>
              <a:ea typeface="Microsoft YaHei"/>
              <a:cs typeface="Microsoft YaHei"/>
            </a:endParaRPr>
          </a:p>
          <a:p xmlns:a="http://schemas.openxmlformats.org/drawingml/2006/main">
            <a:pPr marL="0" indent="0" algn="l">
              <a:lnSpc>
                <a:spcPct val="104000"/>
              </a:lnSpc>
              <a:buNone/>
              <a:defRPr sz="1800" b="0">
                <a:solidFill>
                  <a:srgbClr val="17232D"/>
                </a:solidFill>
                <a:latin typeface="Microsoft YaHei"/>
                <a:ea typeface="Microsoft YaHei"/>
                <a:cs typeface="Microsoft YaHei"/>
              </a:defRPr>
            </a:pPr>
            <a:r>
              <a:rPr sz="1800" b="0">
                <a:solidFill>
                  <a:srgbClr val="17232D"/>
                </a:solidFill>
                <a:latin typeface="Microsoft YaHei"/>
                <a:ea typeface="Microsoft YaHei"/>
                <a:cs typeface="Microsoft YaHei"/>
              </a:rPr>
              <a:t>Use at least two terms:</a:t>
            </a:r>
          </a:p>
          <a:p xmlns:a="http://schemas.openxmlformats.org/drawingml/2006/main">
            <a:pPr>
              <a:lnSpc>
                <a:spcPct val="104000"/>
              </a:lnSpc>
              <a:buNone/>
              <a:defRPr sz="1800" b="0">
                <a:solidFill>
                  <a:srgbClr val="17232D"/>
                </a:solidFill>
                <a:latin typeface="Microsoft YaHei"/>
                <a:ea typeface="Microsoft YaHei"/>
                <a:cs typeface="Microsoft YaHei"/>
              </a:defRPr>
            </a:pPr>
            <a:r>
              <a:rPr sz="1800" b="0">
                <a:solidFill>
                  <a:srgbClr val="17232D"/>
                </a:solidFill>
                <a:latin typeface="Microsoft YaHei"/>
                <a:ea typeface="Microsoft YaHei"/>
                <a:cs typeface="Microsoft YaHei"/>
              </a:rPr>
              <a:t>emergency fund (应急资金)</a:t>
            </a:r>
          </a:p>
          <a:p xmlns:a="http://schemas.openxmlformats.org/drawingml/2006/main">
            <a:pPr>
              <a:lnSpc>
                <a:spcPct val="104000"/>
              </a:lnSpc>
              <a:buNone/>
              <a:defRPr sz="1800" b="0">
                <a:solidFill>
                  <a:srgbClr val="17232D"/>
                </a:solidFill>
                <a:latin typeface="Microsoft YaHei"/>
                <a:ea typeface="Microsoft YaHei"/>
                <a:cs typeface="Microsoft YaHei"/>
              </a:defRPr>
            </a:pPr>
            <a:r>
              <a:rPr sz="1800" b="0">
                <a:solidFill>
                  <a:srgbClr val="17232D"/>
                </a:solidFill>
                <a:latin typeface="Microsoft YaHei"/>
                <a:ea typeface="Microsoft YaHei"/>
                <a:cs typeface="Microsoft YaHei"/>
              </a:rPr>
              <a:t>liquidity (流动性)</a:t>
            </a:r>
          </a:p>
          <a:p xmlns:a="http://schemas.openxmlformats.org/drawingml/2006/main">
            <a:pPr>
              <a:lnSpc>
                <a:spcPct val="104000"/>
              </a:lnSpc>
              <a:buNone/>
              <a:defRPr sz="1800" b="0">
                <a:solidFill>
                  <a:srgbClr val="17232D"/>
                </a:solidFill>
                <a:latin typeface="Microsoft YaHei"/>
                <a:ea typeface="Microsoft YaHei"/>
                <a:cs typeface="Microsoft YaHei"/>
              </a:defRPr>
            </a:pPr>
            <a:r>
              <a:rPr sz="1800" b="0">
                <a:solidFill>
                  <a:srgbClr val="17232D"/>
                </a:solidFill>
                <a:latin typeface="Microsoft YaHei"/>
                <a:ea typeface="Microsoft YaHei"/>
                <a:cs typeface="Microsoft YaHei"/>
              </a:rPr>
              <a:t>essential spending (必要支出)</a:t>
            </a:r>
          </a:p>
          <a:p xmlns:a="http://schemas.openxmlformats.org/drawingml/2006/main">
            <a:pPr>
              <a:lnSpc>
                <a:spcPct val="104000"/>
              </a:lnSpc>
              <a:buNone/>
              <a:defRPr sz="1800" b="0">
                <a:solidFill>
                  <a:srgbClr val="17232D"/>
                </a:solidFill>
                <a:latin typeface="Microsoft YaHei"/>
                <a:ea typeface="Microsoft YaHei"/>
                <a:cs typeface="Microsoft YaHei"/>
              </a:defRPr>
            </a:pPr>
            <a:r>
              <a:rPr sz="1800" b="0">
                <a:solidFill>
                  <a:srgbClr val="17232D"/>
                </a:solidFill>
                <a:latin typeface="Microsoft YaHei"/>
                <a:ea typeface="Microsoft YaHei"/>
                <a:cs typeface="Microsoft YaHei"/>
              </a:rPr>
              <a:t>possible loss (可能亏损)</a:t>
            </a:r>
          </a:p>
        </p:txBody>
      </p:sp>
      <p:pic>
        <p:nvPicPr>
          <p:cNvPr id="7" name="Picture 6"/>
          <p:cNvPicPr>
            <a:picLocks xmlns:a="http://schemas.openxmlformats.org/drawingml/2006/main" noChangeAspect="1"/>
          </p:cNvPicPr>
          <p:nvPr/>
        </p:nvPicPr>
        <p:blipFill>
          <a:blip xmlns:r="http://schemas.openxmlformats.org/officeDocument/2006/relationships" xmlns:a="http://schemas.openxmlformats.org/drawingml/2006/main" r:embed="Racc7bee062eb4b61"/>
          <a:srcRect xmlns:a="http://schemas.openxmlformats.org/drawingml/2006/main" l="23177" t="0" r="23177" b="0"/>
          <a:stretch xmlns:a="http://schemas.openxmlformats.org/drawingml/2006/main">
            <a:fillRect l="0" t="0" r="0" b="0"/>
          </a:stretch>
        </p:blipFill>
        <p:spPr>
          <a:xfrm xmlns:a="http://schemas.openxmlformats.org/drawingml/2006/main">
            <a:off x="7620000" y="1524000"/>
            <a:ext cx="4000500" cy="4191000"/>
          </a:xfrm>
          <a:prstGeom xmlns:a="http://schemas.openxmlformats.org/drawingml/2006/main" prst="rect">
            <a:avLst/>
          </a:prstGeom>
        </p:spPr>
      </p:pic>
    </p:spTree>
    <p:extLst>
      <p:ext uri="{BB962C8B-B14F-4D97-AF65-F5344CB8AC3E}">
        <p14:creationId xmlns:p14="http://schemas.microsoft.com/office/powerpoint/2010/main" val="889146372"/>
      </p:ext>
    </p:extLst>
  </p:cSld>
</p:sld>
</file>

<file path=ppt/slides/slide30.xml><?xml version="1.0" encoding="utf-8"?>
<p:sld xmlns:p="http://schemas.openxmlformats.org/presentationml/2006/main">
  <p:cSld>
    <p:spTree>
      <p:nvGrpSpPr>
        <p:cNvPr id="1" name=""/>
        <p:cNvGrpSpPr/>
        <p:nvPr/>
      </p:nvGrpSpPr>
      <p:grpSpPr>
        <a:xfrm xmlns:a="http://schemas.openxmlformats.org/drawingml/2006/main"/>
      </p:grpSpPr>
      <p:sp>
        <p:nvSpPr>
          <p:cNvPr id="4" name="Title 3">
            <a:extLst xmlns:a="http://schemas.openxmlformats.org/drawingml/2006/main">
              <a:ext uri="{FF2B5EF4-FFF2-40B4-BE49-F238E27FC236}">
                <a16:creationId xmlns:a16="http://schemas.microsoft.com/office/drawing/2014/main" id="{6EE848EF-37F3-FAC9-9CBE-3C92962CD9A6}"/>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MCQs</a:t>
            </a:r>
            <a:endParaRPr/>
          </a:p>
        </p:txBody>
      </p:sp>
    </p:spTree>
    <p:extLst>
      <p:ext uri="{BB962C8B-B14F-4D97-AF65-F5344CB8AC3E}">
        <p14:creationId xmlns:p14="http://schemas.microsoft.com/office/powerpoint/2010/main" val="2199965319"/>
      </p:ext>
    </p:extLst>
  </p:cSld>
</p:sld>
</file>

<file path=ppt/slides/slide31.xml><?xml version="1.0" encoding="utf-8"?>
<p:sld xmlns:p="http://schemas.openxmlformats.org/presentationml/2006/main">
  <p:cSld>
    <p:bg>
      <p:bgPr>
        <a:solidFill xmlns:a="http://schemas.openxmlformats.org/drawingml/2006/main">
          <a:srgbClr val="FCFBF8"/>
        </a:solid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56DCE13-3C03-E181-F9CA-8F5D6DC44D4B}"/>
              </a:ext>
            </a:extLst>
          </p:cNvPr>
          <p:cNvSpPr>
            <a:spLocks xmlns:a="http://schemas.openxmlformats.org/drawingml/2006/main" noGrp="1"/>
          </p:cNvSpPr>
          <p:nvPr>
            <p:ph type="title" idx="0"/>
          </p:nvPr>
        </p:nvSpPr>
        <p:spPr>
          <a:xfrm xmlns:a="http://schemas.openxmlformats.org/drawingml/2006/main">
            <a:off x="533400" y="590550"/>
            <a:ext cx="1524000" cy="647700"/>
          </a:xfrm>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ct val="96000"/>
              </a:lnSpc>
              <a:buNone/>
              <a:defRPr sz="2550" b="1">
                <a:solidFill>
                  <a:srgbClr val="3B82F6"/>
                </a:solidFill>
                <a:latin typeface="Microsoft YaHei"/>
                <a:ea typeface="Microsoft YaHei"/>
                <a:cs typeface="Microsoft YaHei"/>
              </a:defRPr>
            </a:pPr>
            <a:r>
              <a:rPr sz="2550" b="1">
                <a:solidFill>
                  <a:srgbClr val="3B82F6"/>
                </a:solidFill>
                <a:latin typeface="Microsoft YaHei"/>
                <a:ea typeface="Microsoft YaHei"/>
                <a:cs typeface="Microsoft YaHei"/>
              </a:rPr>
              <a:t>MCQ 1</a:t>
            </a:r>
          </a:p>
        </p:txBody>
      </p:sp>
      <p:sp>
        <p:nvSpPr>
          <p:cNvPr id="3" name="Content Placeholder 2">
            <a:extLst xmlns:a="http://schemas.openxmlformats.org/drawingml/2006/main">
              <a:ext uri="{FF2B5EF4-FFF2-40B4-BE49-F238E27FC236}">
                <a16:creationId xmlns:a16="http://schemas.microsoft.com/office/drawing/2014/main" id="{5F1E0E34-08C7-D5B0-FB16-1E95872D9A7F}"/>
              </a:ext>
            </a:extLst>
          </p:cNvPr>
          <p:cNvSpPr>
            <a:spLocks xmlns:a="http://schemas.openxmlformats.org/drawingml/2006/main" noGrp="1"/>
          </p:cNvSpPr>
          <p:nvPr>
            <p:ph idx="1"/>
          </p:nvPr>
        </p:nvSpPr>
        <p:spPr>
          <a:xfrm xmlns:a="http://schemas.openxmlformats.org/drawingml/2006/main">
            <a:off x="2333625" y="609600"/>
            <a:ext cx="9096375" cy="5619750"/>
          </a:xfrm>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ct val="105000"/>
              </a:lnSpc>
              <a:buNone/>
              <a:defRPr sz="1763" b="0">
                <a:solidFill>
                  <a:srgbClr val="17232D"/>
                </a:solidFill>
                <a:latin typeface="Microsoft YaHei"/>
                <a:ea typeface="Microsoft YaHei"/>
                <a:cs typeface="Microsoft YaHei"/>
              </a:defRPr>
            </a:pPr>
            <a:r>
              <a:rPr sz="2175" b="1">
                <a:solidFill>
                  <a:srgbClr val="17232D"/>
                </a:solidFill>
                <a:latin typeface="Microsoft YaHei"/>
                <a:ea typeface="Microsoft YaHei"/>
                <a:cs typeface="Microsoft YaHei"/>
              </a:rPr>
              <a:t>What is the strongest evidence that a decision is a financial investment (金融投资)?</a:t>
            </a:r>
          </a:p>
          <a:p xmlns:a="http://schemas.openxmlformats.org/drawingml/2006/main">
            <a:pPr marL="0" indent="0">
              <a:buNone/>
            </a:pPr>
            <a:endParaRPr sz="2175" b="1">
              <a:solidFill>
                <a:srgbClr val="17232D"/>
              </a:solidFill>
              <a:latin typeface="Microsoft YaHei"/>
              <a:ea typeface="Microsoft YaHei"/>
              <a:cs typeface="Microsoft YaHei"/>
            </a:endParaRPr>
          </a:p>
          <a:p xmlns:a="http://schemas.openxmlformats.org/drawingml/2006/main">
            <a:pPr marL="0" indent="0" algn="l">
              <a:lnSpc>
                <a:spcPct val="105000"/>
              </a:lnSpc>
              <a:buNone/>
              <a:defRPr sz="1763" b="0">
                <a:solidFill>
                  <a:srgbClr val="17232D"/>
                </a:solidFill>
                <a:latin typeface="Microsoft YaHei"/>
                <a:ea typeface="Microsoft YaHei"/>
                <a:cs typeface="Microsoft YaHei"/>
              </a:defRPr>
            </a:pPr>
            <a:r>
              <a:rPr sz="2025" b="1">
                <a:solidFill>
                  <a:srgbClr val="3B82F6"/>
                </a:solidFill>
                <a:latin typeface="Microsoft YaHei"/>
                <a:ea typeface="Microsoft YaHei"/>
                <a:cs typeface="Microsoft YaHei"/>
              </a:rPr>
              <a:t>A.</a:t>
            </a:r>
            <a:r>
              <a:rPr sz="1763" b="0">
                <a:solidFill>
                  <a:srgbClr val="17232D"/>
                </a:solidFill>
                <a:latin typeface="Microsoft YaHei"/>
                <a:ea typeface="Microsoft YaHei"/>
                <a:cs typeface="Microsoft YaHei"/>
              </a:rPr>
              <a:t> The asset has risen in price before.</a:t>
            </a:r>
          </a:p>
          <a:p xmlns:a="http://schemas.openxmlformats.org/drawingml/2006/main">
            <a:pPr marL="0" indent="0">
              <a:buNone/>
            </a:pPr>
            <a:endParaRPr sz="1763" b="0">
              <a:solidFill>
                <a:srgbClr val="17232D"/>
              </a:solidFill>
              <a:latin typeface="Microsoft YaHei"/>
              <a:ea typeface="Microsoft YaHei"/>
              <a:cs typeface="Microsoft YaHei"/>
            </a:endParaRPr>
          </a:p>
          <a:p xmlns:a="http://schemas.openxmlformats.org/drawingml/2006/main">
            <a:pPr marL="0" indent="0" algn="l">
              <a:lnSpc>
                <a:spcPct val="105000"/>
              </a:lnSpc>
              <a:buNone/>
              <a:defRPr sz="1763" b="0">
                <a:solidFill>
                  <a:srgbClr val="17232D"/>
                </a:solidFill>
                <a:latin typeface="Microsoft YaHei"/>
                <a:ea typeface="Microsoft YaHei"/>
                <a:cs typeface="Microsoft YaHei"/>
              </a:defRPr>
            </a:pPr>
            <a:r>
              <a:rPr sz="2025" b="1">
                <a:solidFill>
                  <a:srgbClr val="3B82F6"/>
                </a:solidFill>
                <a:latin typeface="Microsoft YaHei"/>
                <a:ea typeface="Microsoft YaHei"/>
                <a:cs typeface="Microsoft YaHei"/>
              </a:rPr>
              <a:t>B.</a:t>
            </a:r>
            <a:r>
              <a:rPr sz="1763" b="0">
                <a:solidFill>
                  <a:srgbClr val="17232D"/>
                </a:solidFill>
                <a:latin typeface="Microsoft YaHei"/>
                <a:ea typeface="Microsoft YaHei"/>
                <a:cs typeface="Microsoft YaHei"/>
              </a:rPr>
              <a:t> The main basis is expected income and/or evidence about underlying value, while possible loss is accepted.</a:t>
            </a:r>
          </a:p>
          <a:p xmlns:a="http://schemas.openxmlformats.org/drawingml/2006/main">
            <a:pPr marL="0" indent="0">
              <a:buNone/>
            </a:pPr>
            <a:endParaRPr sz="1763" b="0">
              <a:solidFill>
                <a:srgbClr val="17232D"/>
              </a:solidFill>
              <a:latin typeface="Microsoft YaHei"/>
              <a:ea typeface="Microsoft YaHei"/>
              <a:cs typeface="Microsoft YaHei"/>
            </a:endParaRPr>
          </a:p>
          <a:p xmlns:a="http://schemas.openxmlformats.org/drawingml/2006/main">
            <a:pPr marL="0" indent="0" algn="l">
              <a:lnSpc>
                <a:spcPct val="105000"/>
              </a:lnSpc>
              <a:buNone/>
              <a:defRPr sz="1763" b="0">
                <a:solidFill>
                  <a:srgbClr val="17232D"/>
                </a:solidFill>
                <a:latin typeface="Microsoft YaHei"/>
                <a:ea typeface="Microsoft YaHei"/>
                <a:cs typeface="Microsoft YaHei"/>
              </a:defRPr>
            </a:pPr>
            <a:r>
              <a:rPr sz="2025" b="1">
                <a:solidFill>
                  <a:srgbClr val="3B82F6"/>
                </a:solidFill>
                <a:latin typeface="Microsoft YaHei"/>
                <a:ea typeface="Microsoft YaHei"/>
                <a:cs typeface="Microsoft YaHei"/>
              </a:rPr>
              <a:t>C.</a:t>
            </a:r>
            <a:r>
              <a:rPr sz="1763" b="0">
                <a:solidFill>
                  <a:srgbClr val="17232D"/>
                </a:solidFill>
                <a:latin typeface="Microsoft YaHei"/>
                <a:ea typeface="Microsoft YaHei"/>
                <a:cs typeface="Microsoft YaHei"/>
              </a:rPr>
              <a:t> Money can be withdrawn immediately with no possible loss.</a:t>
            </a:r>
          </a:p>
          <a:p xmlns:a="http://schemas.openxmlformats.org/drawingml/2006/main">
            <a:pPr marL="0" indent="0">
              <a:buNone/>
            </a:pPr>
            <a:endParaRPr sz="1763" b="0">
              <a:solidFill>
                <a:srgbClr val="17232D"/>
              </a:solidFill>
              <a:latin typeface="Microsoft YaHei"/>
              <a:ea typeface="Microsoft YaHei"/>
              <a:cs typeface="Microsoft YaHei"/>
            </a:endParaRPr>
          </a:p>
          <a:p xmlns:a="http://schemas.openxmlformats.org/drawingml/2006/main">
            <a:pPr marL="0" indent="0" algn="l">
              <a:lnSpc>
                <a:spcPct val="105000"/>
              </a:lnSpc>
              <a:buNone/>
              <a:defRPr sz="1763" b="0">
                <a:solidFill>
                  <a:srgbClr val="17232D"/>
                </a:solidFill>
                <a:latin typeface="Microsoft YaHei"/>
                <a:ea typeface="Microsoft YaHei"/>
                <a:cs typeface="Microsoft YaHei"/>
              </a:defRPr>
            </a:pPr>
            <a:r>
              <a:rPr sz="2025" b="1">
                <a:solidFill>
                  <a:srgbClr val="3B82F6"/>
                </a:solidFill>
                <a:latin typeface="Microsoft YaHei"/>
                <a:ea typeface="Microsoft YaHei"/>
                <a:cs typeface="Microsoft YaHei"/>
              </a:rPr>
              <a:t>D.</a:t>
            </a:r>
            <a:r>
              <a:rPr sz="1763" b="0">
                <a:solidFill>
                  <a:srgbClr val="17232D"/>
                </a:solidFill>
                <a:latin typeface="Microsoft YaHei"/>
                <a:ea typeface="Microsoft YaHei"/>
                <a:cs typeface="Microsoft YaHei"/>
              </a:rPr>
              <a:t> The buyer plans to sell after an unverified rumour.</a:t>
            </a:r>
          </a:p>
        </p:txBody>
      </p:sp>
    </p:spTree>
    <p:extLst>
      <p:ext uri="{BB962C8B-B14F-4D97-AF65-F5344CB8AC3E}">
        <p14:creationId xmlns:p14="http://schemas.microsoft.com/office/powerpoint/2010/main" val="525596206"/>
      </p:ext>
    </p:extLst>
  </p:cSld>
</p:sld>
</file>

<file path=ppt/slides/slide32.xml><?xml version="1.0" encoding="utf-8"?>
<p:sld xmlns:p="http://schemas.openxmlformats.org/presentationml/2006/main">
  <p:cSld>
    <p:bg>
      <p:bgPr>
        <a:solidFill xmlns:a="http://schemas.openxmlformats.org/drawingml/2006/main">
          <a:srgbClr val="FCFBF8"/>
        </a:solid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5276B47-845A-DC38-E33E-A2A88CB7E41C}"/>
              </a:ext>
            </a:extLst>
          </p:cNvPr>
          <p:cNvSpPr>
            <a:spLocks xmlns:a="http://schemas.openxmlformats.org/drawingml/2006/main" noGrp="1"/>
          </p:cNvSpPr>
          <p:nvPr>
            <p:ph type="title" idx="0"/>
          </p:nvPr>
        </p:nvSpPr>
        <p:spPr>
          <a:xfrm xmlns:a="http://schemas.openxmlformats.org/drawingml/2006/main">
            <a:off x="533400" y="590550"/>
            <a:ext cx="1524000" cy="647700"/>
          </a:xfrm>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ct val="96000"/>
              </a:lnSpc>
              <a:buNone/>
              <a:defRPr sz="2550" b="1">
                <a:solidFill>
                  <a:srgbClr val="3B82F6"/>
                </a:solidFill>
                <a:latin typeface="Microsoft YaHei"/>
                <a:ea typeface="Microsoft YaHei"/>
                <a:cs typeface="Microsoft YaHei"/>
              </a:defRPr>
            </a:pPr>
            <a:r>
              <a:rPr sz="2550" b="1">
                <a:solidFill>
                  <a:srgbClr val="3B82F6"/>
                </a:solidFill>
                <a:latin typeface="Microsoft YaHei"/>
                <a:ea typeface="Microsoft YaHei"/>
                <a:cs typeface="Microsoft YaHei"/>
              </a:rPr>
              <a:t>MCQ 2</a:t>
            </a:r>
          </a:p>
        </p:txBody>
      </p:sp>
      <p:sp>
        <p:nvSpPr>
          <p:cNvPr id="3" name="Content Placeholder 2">
            <a:extLst xmlns:a="http://schemas.openxmlformats.org/drawingml/2006/main">
              <a:ext uri="{FF2B5EF4-FFF2-40B4-BE49-F238E27FC236}">
                <a16:creationId xmlns:a16="http://schemas.microsoft.com/office/drawing/2014/main" id="{C775F429-E529-97E6-0606-D10EB458EB72}"/>
              </a:ext>
            </a:extLst>
          </p:cNvPr>
          <p:cNvSpPr>
            <a:spLocks xmlns:a="http://schemas.openxmlformats.org/drawingml/2006/main" noGrp="1"/>
          </p:cNvSpPr>
          <p:nvPr>
            <p:ph idx="1"/>
          </p:nvPr>
        </p:nvSpPr>
        <p:spPr>
          <a:xfrm xmlns:a="http://schemas.openxmlformats.org/drawingml/2006/main">
            <a:off x="2333625" y="609600"/>
            <a:ext cx="9096375" cy="5619750"/>
          </a:xfrm>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ct val="105000"/>
              </a:lnSpc>
              <a:buNone/>
              <a:defRPr sz="1763" b="0">
                <a:solidFill>
                  <a:srgbClr val="17232D"/>
                </a:solidFill>
                <a:latin typeface="Microsoft YaHei"/>
                <a:ea typeface="Microsoft YaHei"/>
                <a:cs typeface="Microsoft YaHei"/>
              </a:defRPr>
            </a:pPr>
            <a:r>
              <a:rPr sz="2175" b="1">
                <a:solidFill>
                  <a:srgbClr val="17232D"/>
                </a:solidFill>
                <a:latin typeface="Microsoft YaHei"/>
                <a:ea typeface="Microsoft YaHei"/>
                <a:cs typeface="Microsoft YaHei"/>
              </a:rPr>
              <a:t>Which decision is saving (储蓄) rather than financial investment (金融投资)?</a:t>
            </a:r>
          </a:p>
          <a:p xmlns:a="http://schemas.openxmlformats.org/drawingml/2006/main">
            <a:pPr marL="0" indent="0">
              <a:buNone/>
            </a:pPr>
            <a:endParaRPr sz="2175" b="1">
              <a:solidFill>
                <a:srgbClr val="17232D"/>
              </a:solidFill>
              <a:latin typeface="Microsoft YaHei"/>
              <a:ea typeface="Microsoft YaHei"/>
              <a:cs typeface="Microsoft YaHei"/>
            </a:endParaRPr>
          </a:p>
          <a:p xmlns:a="http://schemas.openxmlformats.org/drawingml/2006/main">
            <a:pPr marL="0" indent="0" algn="l">
              <a:lnSpc>
                <a:spcPct val="105000"/>
              </a:lnSpc>
              <a:buNone/>
              <a:defRPr sz="1763" b="0">
                <a:solidFill>
                  <a:srgbClr val="17232D"/>
                </a:solidFill>
                <a:latin typeface="Microsoft YaHei"/>
                <a:ea typeface="Microsoft YaHei"/>
                <a:cs typeface="Microsoft YaHei"/>
              </a:defRPr>
            </a:pPr>
            <a:r>
              <a:rPr sz="2025" b="1">
                <a:solidFill>
                  <a:srgbClr val="3B82F6"/>
                </a:solidFill>
                <a:latin typeface="Microsoft YaHei"/>
                <a:ea typeface="Microsoft YaHei"/>
                <a:cs typeface="Microsoft YaHei"/>
              </a:rPr>
              <a:t>A.</a:t>
            </a:r>
            <a:r>
              <a:rPr sz="1763" b="0">
                <a:solidFill>
                  <a:srgbClr val="17232D"/>
                </a:solidFill>
                <a:latin typeface="Microsoft YaHei"/>
                <a:ea typeface="Microsoft YaHei"/>
                <a:cs typeface="Microsoft YaHei"/>
              </a:rPr>
              <a:t> Keeping school-trip money in an easy-access account.</a:t>
            </a:r>
          </a:p>
          <a:p xmlns:a="http://schemas.openxmlformats.org/drawingml/2006/main">
            <a:pPr marL="0" indent="0">
              <a:buNone/>
            </a:pPr>
            <a:endParaRPr sz="1763" b="0">
              <a:solidFill>
                <a:srgbClr val="17232D"/>
              </a:solidFill>
              <a:latin typeface="Microsoft YaHei"/>
              <a:ea typeface="Microsoft YaHei"/>
              <a:cs typeface="Microsoft YaHei"/>
            </a:endParaRPr>
          </a:p>
          <a:p xmlns:a="http://schemas.openxmlformats.org/drawingml/2006/main">
            <a:pPr marL="0" indent="0" algn="l">
              <a:lnSpc>
                <a:spcPct val="105000"/>
              </a:lnSpc>
              <a:buNone/>
              <a:defRPr sz="1763" b="0">
                <a:solidFill>
                  <a:srgbClr val="17232D"/>
                </a:solidFill>
                <a:latin typeface="Microsoft YaHei"/>
                <a:ea typeface="Microsoft YaHei"/>
                <a:cs typeface="Microsoft YaHei"/>
              </a:defRPr>
            </a:pPr>
            <a:r>
              <a:rPr sz="2025" b="1">
                <a:solidFill>
                  <a:srgbClr val="3B82F6"/>
                </a:solidFill>
                <a:latin typeface="Microsoft YaHei"/>
                <a:ea typeface="Microsoft YaHei"/>
                <a:cs typeface="Microsoft YaHei"/>
              </a:rPr>
              <a:t>B.</a:t>
            </a:r>
            <a:r>
              <a:rPr sz="1763" b="0">
                <a:solidFill>
                  <a:srgbClr val="17232D"/>
                </a:solidFill>
                <a:latin typeface="Microsoft YaHei"/>
                <a:ea typeface="Microsoft YaHei"/>
                <a:cs typeface="Microsoft YaHei"/>
              </a:rPr>
              <a:t> Buying a diversified fund for long-term growth after reviewing its fees and risks.</a:t>
            </a:r>
          </a:p>
          <a:p xmlns:a="http://schemas.openxmlformats.org/drawingml/2006/main">
            <a:pPr marL="0" indent="0">
              <a:buNone/>
            </a:pPr>
            <a:endParaRPr sz="1763" b="0">
              <a:solidFill>
                <a:srgbClr val="17232D"/>
              </a:solidFill>
              <a:latin typeface="Microsoft YaHei"/>
              <a:ea typeface="Microsoft YaHei"/>
              <a:cs typeface="Microsoft YaHei"/>
            </a:endParaRPr>
          </a:p>
          <a:p xmlns:a="http://schemas.openxmlformats.org/drawingml/2006/main">
            <a:pPr marL="0" indent="0" algn="l">
              <a:lnSpc>
                <a:spcPct val="105000"/>
              </a:lnSpc>
              <a:buNone/>
              <a:defRPr sz="1763" b="0">
                <a:solidFill>
                  <a:srgbClr val="17232D"/>
                </a:solidFill>
                <a:latin typeface="Microsoft YaHei"/>
                <a:ea typeface="Microsoft YaHei"/>
                <a:cs typeface="Microsoft YaHei"/>
              </a:defRPr>
            </a:pPr>
            <a:r>
              <a:rPr sz="2025" b="1">
                <a:solidFill>
                  <a:srgbClr val="3B82F6"/>
                </a:solidFill>
                <a:latin typeface="Microsoft YaHei"/>
                <a:ea typeface="Microsoft YaHei"/>
                <a:cs typeface="Microsoft YaHei"/>
              </a:rPr>
              <a:t>C.</a:t>
            </a:r>
            <a:r>
              <a:rPr sz="1763" b="0">
                <a:solidFill>
                  <a:srgbClr val="17232D"/>
                </a:solidFill>
                <a:latin typeface="Microsoft YaHei"/>
                <a:ea typeface="Microsoft YaHei"/>
                <a:cs typeface="Microsoft YaHei"/>
              </a:rPr>
              <a:t> Buying shares for dividends and long-term value after analysing profits, debt and cash flow.</a:t>
            </a:r>
          </a:p>
          <a:p xmlns:a="http://schemas.openxmlformats.org/drawingml/2006/main">
            <a:pPr marL="0" indent="0">
              <a:buNone/>
            </a:pPr>
            <a:endParaRPr sz="1763" b="0">
              <a:solidFill>
                <a:srgbClr val="17232D"/>
              </a:solidFill>
              <a:latin typeface="Microsoft YaHei"/>
              <a:ea typeface="Microsoft YaHei"/>
              <a:cs typeface="Microsoft YaHei"/>
            </a:endParaRPr>
          </a:p>
          <a:p xmlns:a="http://schemas.openxmlformats.org/drawingml/2006/main">
            <a:pPr marL="0" indent="0" algn="l">
              <a:lnSpc>
                <a:spcPct val="105000"/>
              </a:lnSpc>
              <a:buNone/>
              <a:defRPr sz="1763" b="0">
                <a:solidFill>
                  <a:srgbClr val="17232D"/>
                </a:solidFill>
                <a:latin typeface="Microsoft YaHei"/>
                <a:ea typeface="Microsoft YaHei"/>
                <a:cs typeface="Microsoft YaHei"/>
              </a:defRPr>
            </a:pPr>
            <a:r>
              <a:rPr sz="2025" b="1">
                <a:solidFill>
                  <a:srgbClr val="3B82F6"/>
                </a:solidFill>
                <a:latin typeface="Microsoft YaHei"/>
                <a:ea typeface="Microsoft YaHei"/>
                <a:cs typeface="Microsoft YaHei"/>
              </a:rPr>
              <a:t>D.</a:t>
            </a:r>
            <a:r>
              <a:rPr sz="1763" b="0">
                <a:solidFill>
                  <a:srgbClr val="17232D"/>
                </a:solidFill>
                <a:latin typeface="Microsoft YaHei"/>
                <a:ea typeface="Microsoft YaHei"/>
                <a:cs typeface="Microsoft YaHei"/>
              </a:rPr>
              <a:t> Buying property mainly for expected net rental income.</a:t>
            </a:r>
          </a:p>
        </p:txBody>
      </p:sp>
    </p:spTree>
    <p:extLst>
      <p:ext uri="{BB962C8B-B14F-4D97-AF65-F5344CB8AC3E}">
        <p14:creationId xmlns:p14="http://schemas.microsoft.com/office/powerpoint/2010/main" val="162208425"/>
      </p:ext>
    </p:extLst>
  </p:cSld>
</p:sld>
</file>

<file path=ppt/slides/slide33.xml><?xml version="1.0" encoding="utf-8"?>
<p:sld xmlns:p="http://schemas.openxmlformats.org/presentationml/2006/main">
  <p:cSld>
    <p:bg>
      <p:bgPr>
        <a:solidFill xmlns:a="http://schemas.openxmlformats.org/drawingml/2006/main">
          <a:srgbClr val="FCFBF8"/>
        </a:solid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05AD8BB-23E8-C4F3-A9DA-31F5CCC0DE15}"/>
              </a:ext>
            </a:extLst>
          </p:cNvPr>
          <p:cNvSpPr>
            <a:spLocks xmlns:a="http://schemas.openxmlformats.org/drawingml/2006/main" noGrp="1"/>
          </p:cNvSpPr>
          <p:nvPr>
            <p:ph type="title" idx="0"/>
          </p:nvPr>
        </p:nvSpPr>
        <p:spPr>
          <a:xfrm xmlns:a="http://schemas.openxmlformats.org/drawingml/2006/main">
            <a:off x="533400" y="590550"/>
            <a:ext cx="1524000" cy="647700"/>
          </a:xfrm>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ct val="96000"/>
              </a:lnSpc>
              <a:buNone/>
              <a:defRPr sz="2550" b="1">
                <a:solidFill>
                  <a:srgbClr val="3B82F6"/>
                </a:solidFill>
                <a:latin typeface="Microsoft YaHei"/>
                <a:ea typeface="Microsoft YaHei"/>
                <a:cs typeface="Microsoft YaHei"/>
              </a:defRPr>
            </a:pPr>
            <a:r>
              <a:rPr sz="2550" b="1">
                <a:solidFill>
                  <a:srgbClr val="3B82F6"/>
                </a:solidFill>
                <a:latin typeface="Microsoft YaHei"/>
                <a:ea typeface="Microsoft YaHei"/>
                <a:cs typeface="Microsoft YaHei"/>
              </a:rPr>
              <a:t>MCQ 3</a:t>
            </a:r>
          </a:p>
        </p:txBody>
      </p:sp>
      <p:sp>
        <p:nvSpPr>
          <p:cNvPr id="3" name="Content Placeholder 2">
            <a:extLst xmlns:a="http://schemas.openxmlformats.org/drawingml/2006/main">
              <a:ext uri="{FF2B5EF4-FFF2-40B4-BE49-F238E27FC236}">
                <a16:creationId xmlns:a16="http://schemas.microsoft.com/office/drawing/2014/main" id="{2ABEC868-95C2-1C0D-E1B7-455334054264}"/>
              </a:ext>
            </a:extLst>
          </p:cNvPr>
          <p:cNvSpPr>
            <a:spLocks xmlns:a="http://schemas.openxmlformats.org/drawingml/2006/main" noGrp="1"/>
          </p:cNvSpPr>
          <p:nvPr>
            <p:ph idx="1"/>
          </p:nvPr>
        </p:nvSpPr>
        <p:spPr>
          <a:xfrm xmlns:a="http://schemas.openxmlformats.org/drawingml/2006/main">
            <a:off x="2333625" y="609600"/>
            <a:ext cx="9096375" cy="5619750"/>
          </a:xfrm>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ct val="105000"/>
              </a:lnSpc>
              <a:buNone/>
              <a:defRPr sz="1763" b="0">
                <a:solidFill>
                  <a:srgbClr val="17232D"/>
                </a:solidFill>
                <a:latin typeface="Microsoft YaHei"/>
                <a:ea typeface="Microsoft YaHei"/>
                <a:cs typeface="Microsoft YaHei"/>
              </a:defRPr>
            </a:pPr>
            <a:r>
              <a:rPr sz="2175" b="1">
                <a:solidFill>
                  <a:srgbClr val="17232D"/>
                </a:solidFill>
                <a:latin typeface="Microsoft YaHei"/>
                <a:ea typeface="Microsoft YaHei"/>
                <a:cs typeface="Microsoft YaHei"/>
              </a:rPr>
              <a:t>Which evidence most clearly indicates speculation (投机)?</a:t>
            </a:r>
          </a:p>
          <a:p xmlns:a="http://schemas.openxmlformats.org/drawingml/2006/main">
            <a:pPr marL="0" indent="0">
              <a:buNone/>
            </a:pPr>
            <a:endParaRPr sz="2175" b="1">
              <a:solidFill>
                <a:srgbClr val="17232D"/>
              </a:solidFill>
              <a:latin typeface="Microsoft YaHei"/>
              <a:ea typeface="Microsoft YaHei"/>
              <a:cs typeface="Microsoft YaHei"/>
            </a:endParaRPr>
          </a:p>
          <a:p xmlns:a="http://schemas.openxmlformats.org/drawingml/2006/main">
            <a:pPr marL="0" indent="0" algn="l">
              <a:lnSpc>
                <a:spcPct val="105000"/>
              </a:lnSpc>
              <a:buNone/>
              <a:defRPr sz="1763" b="0">
                <a:solidFill>
                  <a:srgbClr val="17232D"/>
                </a:solidFill>
                <a:latin typeface="Microsoft YaHei"/>
                <a:ea typeface="Microsoft YaHei"/>
                <a:cs typeface="Microsoft YaHei"/>
              </a:defRPr>
            </a:pPr>
            <a:r>
              <a:rPr sz="2025" b="1">
                <a:solidFill>
                  <a:srgbClr val="3B82F6"/>
                </a:solidFill>
                <a:latin typeface="Microsoft YaHei"/>
                <a:ea typeface="Microsoft YaHei"/>
                <a:cs typeface="Microsoft YaHei"/>
              </a:rPr>
              <a:t>A.</a:t>
            </a:r>
            <a:r>
              <a:rPr sz="1763" b="0">
                <a:solidFill>
                  <a:srgbClr val="17232D"/>
                </a:solidFill>
                <a:latin typeface="Microsoft YaHei"/>
                <a:ea typeface="Microsoft YaHei"/>
                <a:cs typeface="Microsoft YaHei"/>
              </a:rPr>
              <a:t> Expected bond interest after analysing credit risk.</a:t>
            </a:r>
          </a:p>
          <a:p xmlns:a="http://schemas.openxmlformats.org/drawingml/2006/main">
            <a:pPr marL="0" indent="0">
              <a:buNone/>
            </a:pPr>
            <a:endParaRPr sz="1763" b="0">
              <a:solidFill>
                <a:srgbClr val="17232D"/>
              </a:solidFill>
              <a:latin typeface="Microsoft YaHei"/>
              <a:ea typeface="Microsoft YaHei"/>
              <a:cs typeface="Microsoft YaHei"/>
            </a:endParaRPr>
          </a:p>
          <a:p xmlns:a="http://schemas.openxmlformats.org/drawingml/2006/main">
            <a:pPr marL="0" indent="0" algn="l">
              <a:lnSpc>
                <a:spcPct val="105000"/>
              </a:lnSpc>
              <a:buNone/>
              <a:defRPr sz="1763" b="0">
                <a:solidFill>
                  <a:srgbClr val="17232D"/>
                </a:solidFill>
                <a:latin typeface="Microsoft YaHei"/>
                <a:ea typeface="Microsoft YaHei"/>
                <a:cs typeface="Microsoft YaHei"/>
              </a:defRPr>
            </a:pPr>
            <a:r>
              <a:rPr sz="2025" b="1">
                <a:solidFill>
                  <a:srgbClr val="3B82F6"/>
                </a:solidFill>
                <a:latin typeface="Microsoft YaHei"/>
                <a:ea typeface="Microsoft YaHei"/>
                <a:cs typeface="Microsoft YaHei"/>
              </a:rPr>
              <a:t>B.</a:t>
            </a:r>
            <a:r>
              <a:rPr sz="1763" b="0">
                <a:solidFill>
                  <a:srgbClr val="17232D"/>
                </a:solidFill>
                <a:latin typeface="Microsoft YaHei"/>
                <a:ea typeface="Microsoft YaHei"/>
                <a:cs typeface="Microsoft YaHei"/>
              </a:rPr>
              <a:t> Expected net rental income after estimating vacancy and maintenance.</a:t>
            </a:r>
          </a:p>
          <a:p xmlns:a="http://schemas.openxmlformats.org/drawingml/2006/main">
            <a:pPr marL="0" indent="0">
              <a:buNone/>
            </a:pPr>
            <a:endParaRPr sz="1763" b="0">
              <a:solidFill>
                <a:srgbClr val="17232D"/>
              </a:solidFill>
              <a:latin typeface="Microsoft YaHei"/>
              <a:ea typeface="Microsoft YaHei"/>
              <a:cs typeface="Microsoft YaHei"/>
            </a:endParaRPr>
          </a:p>
          <a:p xmlns:a="http://schemas.openxmlformats.org/drawingml/2006/main">
            <a:pPr marL="0" indent="0" algn="l">
              <a:lnSpc>
                <a:spcPct val="105000"/>
              </a:lnSpc>
              <a:buNone/>
              <a:defRPr sz="1763" b="0">
                <a:solidFill>
                  <a:srgbClr val="17232D"/>
                </a:solidFill>
                <a:latin typeface="Microsoft YaHei"/>
                <a:ea typeface="Microsoft YaHei"/>
                <a:cs typeface="Microsoft YaHei"/>
              </a:defRPr>
            </a:pPr>
            <a:r>
              <a:rPr sz="2025" b="1">
                <a:solidFill>
                  <a:srgbClr val="3B82F6"/>
                </a:solidFill>
                <a:latin typeface="Microsoft YaHei"/>
                <a:ea typeface="Microsoft YaHei"/>
                <a:cs typeface="Microsoft YaHei"/>
              </a:rPr>
              <a:t>C.</a:t>
            </a:r>
            <a:r>
              <a:rPr sz="1763" b="0">
                <a:solidFill>
                  <a:srgbClr val="17232D"/>
                </a:solidFill>
                <a:latin typeface="Microsoft YaHei"/>
                <a:ea typeface="Microsoft YaHei"/>
                <a:cs typeface="Microsoft YaHei"/>
              </a:rPr>
              <a:t> Borrowing after a rumour of a next-week price jump and planning a quick sale.</a:t>
            </a:r>
          </a:p>
          <a:p xmlns:a="http://schemas.openxmlformats.org/drawingml/2006/main">
            <a:pPr marL="0" indent="0">
              <a:buNone/>
            </a:pPr>
            <a:endParaRPr sz="1763" b="0">
              <a:solidFill>
                <a:srgbClr val="17232D"/>
              </a:solidFill>
              <a:latin typeface="Microsoft YaHei"/>
              <a:ea typeface="Microsoft YaHei"/>
              <a:cs typeface="Microsoft YaHei"/>
            </a:endParaRPr>
          </a:p>
          <a:p xmlns:a="http://schemas.openxmlformats.org/drawingml/2006/main">
            <a:pPr marL="0" indent="0" algn="l">
              <a:lnSpc>
                <a:spcPct val="105000"/>
              </a:lnSpc>
              <a:buNone/>
              <a:defRPr sz="1763" b="0">
                <a:solidFill>
                  <a:srgbClr val="17232D"/>
                </a:solidFill>
                <a:latin typeface="Microsoft YaHei"/>
                <a:ea typeface="Microsoft YaHei"/>
                <a:cs typeface="Microsoft YaHei"/>
              </a:defRPr>
            </a:pPr>
            <a:r>
              <a:rPr sz="2025" b="1">
                <a:solidFill>
                  <a:srgbClr val="3B82F6"/>
                </a:solidFill>
                <a:latin typeface="Microsoft YaHei"/>
                <a:ea typeface="Microsoft YaHei"/>
                <a:cs typeface="Microsoft YaHei"/>
              </a:rPr>
              <a:t>D.</a:t>
            </a:r>
            <a:r>
              <a:rPr sz="1763" b="0">
                <a:solidFill>
                  <a:srgbClr val="17232D"/>
                </a:solidFill>
                <a:latin typeface="Microsoft YaHei"/>
                <a:ea typeface="Microsoft YaHei"/>
                <a:cs typeface="Microsoft YaHei"/>
              </a:rPr>
              <a:t> Accepting that a diversified fund held long term can lose value.</a:t>
            </a:r>
          </a:p>
        </p:txBody>
      </p:sp>
    </p:spTree>
    <p:extLst>
      <p:ext uri="{BB962C8B-B14F-4D97-AF65-F5344CB8AC3E}">
        <p14:creationId xmlns:p14="http://schemas.microsoft.com/office/powerpoint/2010/main" val="1612041934"/>
      </p:ext>
    </p:extLst>
  </p:cSld>
</p:sld>
</file>

<file path=ppt/slides/slide34.xml><?xml version="1.0" encoding="utf-8"?>
<p:sld xmlns:p="http://schemas.openxmlformats.org/presentationml/2006/main">
  <p:cSld>
    <p:bg>
      <p:bgPr>
        <a:solidFill xmlns:a="http://schemas.openxmlformats.org/drawingml/2006/main">
          <a:srgbClr val="FCFBF8"/>
        </a:solid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5276B47-845A-DC38-E33E-A2A88CB7E41C}"/>
              </a:ext>
            </a:extLst>
          </p:cNvPr>
          <p:cNvSpPr>
            <a:spLocks xmlns:a="http://schemas.openxmlformats.org/drawingml/2006/main" noGrp="1"/>
          </p:cNvSpPr>
          <p:nvPr>
            <p:ph type="title" idx="0"/>
          </p:nvPr>
        </p:nvSpPr>
        <p:spPr>
          <a:xfrm xmlns:a="http://schemas.openxmlformats.org/drawingml/2006/main">
            <a:off x="533400" y="590550"/>
            <a:ext cx="1524000" cy="647700"/>
          </a:xfrm>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ct val="96000"/>
              </a:lnSpc>
              <a:buNone/>
              <a:defRPr sz="2550" b="1">
                <a:solidFill>
                  <a:srgbClr val="3B82F6"/>
                </a:solidFill>
                <a:latin typeface="Microsoft YaHei"/>
                <a:ea typeface="Microsoft YaHei"/>
                <a:cs typeface="Microsoft YaHei"/>
              </a:defRPr>
            </a:pPr>
            <a:r>
              <a:rPr sz="2550" b="1">
                <a:solidFill>
                  <a:srgbClr val="3B82F6"/>
                </a:solidFill>
                <a:latin typeface="Microsoft YaHei"/>
                <a:ea typeface="Microsoft YaHei"/>
                <a:cs typeface="Microsoft YaHei"/>
              </a:rPr>
              <a:t>MCQ 4</a:t>
            </a:r>
          </a:p>
        </p:txBody>
      </p:sp>
      <p:sp>
        <p:nvSpPr>
          <p:cNvPr id="3" name="Content Placeholder 2">
            <a:extLst xmlns:a="http://schemas.openxmlformats.org/drawingml/2006/main">
              <a:ext uri="{FF2B5EF4-FFF2-40B4-BE49-F238E27FC236}">
                <a16:creationId xmlns:a16="http://schemas.microsoft.com/office/drawing/2014/main" id="{C775F429-E529-97E6-0606-D10EB458EB72}"/>
              </a:ext>
            </a:extLst>
          </p:cNvPr>
          <p:cNvSpPr>
            <a:spLocks xmlns:a="http://schemas.openxmlformats.org/drawingml/2006/main" noGrp="1"/>
          </p:cNvSpPr>
          <p:nvPr>
            <p:ph idx="1"/>
          </p:nvPr>
        </p:nvSpPr>
        <p:spPr>
          <a:xfrm xmlns:a="http://schemas.openxmlformats.org/drawingml/2006/main">
            <a:off x="2333625" y="609600"/>
            <a:ext cx="9096375" cy="5619750"/>
          </a:xfrm>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ct val="105000"/>
              </a:lnSpc>
              <a:buNone/>
              <a:defRPr sz="1763" b="0">
                <a:solidFill>
                  <a:srgbClr val="17232D"/>
                </a:solidFill>
                <a:latin typeface="Microsoft YaHei"/>
                <a:ea typeface="Microsoft YaHei"/>
                <a:cs typeface="Microsoft YaHei"/>
              </a:defRPr>
            </a:pPr>
            <a:r>
              <a:rPr sz="2175" b="1">
                <a:solidFill>
                  <a:srgbClr val="17232D"/>
                </a:solidFill>
                <a:latin typeface="Microsoft YaHei"/>
                <a:ea typeface="Microsoft YaHei"/>
                <a:cs typeface="Microsoft YaHei"/>
              </a:rPr>
              <a:t>Which statement about saving (储蓄) is correct?</a:t>
            </a:r>
          </a:p>
          <a:p xmlns:a="http://schemas.openxmlformats.org/drawingml/2006/main">
            <a:pPr marL="0" indent="0">
              <a:buNone/>
            </a:pPr>
            <a:endParaRPr sz="2175" b="1">
              <a:solidFill>
                <a:srgbClr val="17232D"/>
              </a:solidFill>
              <a:latin typeface="Microsoft YaHei"/>
              <a:ea typeface="Microsoft YaHei"/>
              <a:cs typeface="Microsoft YaHei"/>
            </a:endParaRPr>
          </a:p>
          <a:p xmlns:a="http://schemas.openxmlformats.org/drawingml/2006/main">
            <a:pPr marL="0" indent="0" algn="l">
              <a:lnSpc>
                <a:spcPct val="105000"/>
              </a:lnSpc>
              <a:buNone/>
              <a:defRPr sz="1763" b="0">
                <a:solidFill>
                  <a:srgbClr val="17232D"/>
                </a:solidFill>
                <a:latin typeface="Microsoft YaHei"/>
                <a:ea typeface="Microsoft YaHei"/>
                <a:cs typeface="Microsoft YaHei"/>
              </a:defRPr>
            </a:pPr>
            <a:r>
              <a:rPr sz="2025" b="1">
                <a:solidFill>
                  <a:srgbClr val="3B82F6"/>
                </a:solidFill>
                <a:latin typeface="Microsoft YaHei"/>
                <a:ea typeface="Microsoft YaHei"/>
                <a:cs typeface="Microsoft YaHei"/>
              </a:rPr>
              <a:t>A.</a:t>
            </a:r>
            <a:r>
              <a:rPr sz="1763" b="0">
                <a:solidFill>
                  <a:srgbClr val="17232D"/>
                </a:solidFill>
                <a:latin typeface="Microsoft YaHei"/>
                <a:ea typeface="Microsoft YaHei"/>
                <a:cs typeface="Microsoft YaHei"/>
              </a:rPr>
              <a:t> Earning interest automatically changes saving into financial investment (金融投资).</a:t>
            </a:r>
          </a:p>
          <a:p xmlns:a="http://schemas.openxmlformats.org/drawingml/2006/main">
            <a:pPr marL="0" indent="0">
              <a:buNone/>
            </a:pPr>
            <a:endParaRPr sz="1763" b="0">
              <a:solidFill>
                <a:srgbClr val="17232D"/>
              </a:solidFill>
              <a:latin typeface="Microsoft YaHei"/>
              <a:ea typeface="Microsoft YaHei"/>
              <a:cs typeface="Microsoft YaHei"/>
            </a:endParaRPr>
          </a:p>
          <a:p xmlns:a="http://schemas.openxmlformats.org/drawingml/2006/main">
            <a:pPr marL="0" indent="0" algn="l">
              <a:lnSpc>
                <a:spcPct val="105000"/>
              </a:lnSpc>
              <a:buNone/>
              <a:defRPr sz="1763" b="0">
                <a:solidFill>
                  <a:srgbClr val="17232D"/>
                </a:solidFill>
                <a:latin typeface="Microsoft YaHei"/>
                <a:ea typeface="Microsoft YaHei"/>
                <a:cs typeface="Microsoft YaHei"/>
              </a:defRPr>
            </a:pPr>
            <a:r>
              <a:rPr sz="2025" b="1">
                <a:solidFill>
                  <a:srgbClr val="3B82F6"/>
                </a:solidFill>
                <a:latin typeface="Microsoft YaHei"/>
                <a:ea typeface="Microsoft YaHei"/>
                <a:cs typeface="Microsoft YaHei"/>
              </a:rPr>
              <a:t>B.</a:t>
            </a:r>
            <a:r>
              <a:rPr sz="1763" b="0">
                <a:solidFill>
                  <a:srgbClr val="17232D"/>
                </a:solidFill>
                <a:latin typeface="Microsoft YaHei"/>
                <a:ea typeface="Microsoft YaHei"/>
                <a:cs typeface="Microsoft YaHei"/>
              </a:rPr>
              <a:t> Saving cannot lose purchasing power (购买力).</a:t>
            </a:r>
          </a:p>
          <a:p xmlns:a="http://schemas.openxmlformats.org/drawingml/2006/main">
            <a:pPr marL="0" indent="0">
              <a:buNone/>
            </a:pPr>
            <a:endParaRPr sz="1763" b="0">
              <a:solidFill>
                <a:srgbClr val="17232D"/>
              </a:solidFill>
              <a:latin typeface="Microsoft YaHei"/>
              <a:ea typeface="Microsoft YaHei"/>
              <a:cs typeface="Microsoft YaHei"/>
            </a:endParaRPr>
          </a:p>
          <a:p xmlns:a="http://schemas.openxmlformats.org/drawingml/2006/main">
            <a:pPr marL="0" indent="0" algn="l">
              <a:lnSpc>
                <a:spcPct val="105000"/>
              </a:lnSpc>
              <a:buNone/>
              <a:defRPr sz="1763" b="0">
                <a:solidFill>
                  <a:srgbClr val="17232D"/>
                </a:solidFill>
                <a:latin typeface="Microsoft YaHei"/>
                <a:ea typeface="Microsoft YaHei"/>
                <a:cs typeface="Microsoft YaHei"/>
              </a:defRPr>
            </a:pPr>
            <a:r>
              <a:rPr sz="2025" b="1">
                <a:solidFill>
                  <a:srgbClr val="3B82F6"/>
                </a:solidFill>
                <a:latin typeface="Microsoft YaHei"/>
                <a:ea typeface="Microsoft YaHei"/>
                <a:cs typeface="Microsoft YaHei"/>
              </a:rPr>
              <a:t>C.</a:t>
            </a:r>
            <a:r>
              <a:rPr sz="1763" b="0">
                <a:solidFill>
                  <a:srgbClr val="17232D"/>
                </a:solidFill>
                <a:latin typeface="Microsoft YaHei"/>
                <a:ea typeface="Microsoft YaHei"/>
                <a:cs typeface="Microsoft YaHei"/>
              </a:rPr>
              <a:t> Capital preservation (保本) and liquidity (流动性) can matter more than a high return.</a:t>
            </a:r>
          </a:p>
          <a:p xmlns:a="http://schemas.openxmlformats.org/drawingml/2006/main">
            <a:pPr marL="0" indent="0">
              <a:buNone/>
            </a:pPr>
            <a:endParaRPr sz="1763" b="0">
              <a:solidFill>
                <a:srgbClr val="17232D"/>
              </a:solidFill>
              <a:latin typeface="Microsoft YaHei"/>
              <a:ea typeface="Microsoft YaHei"/>
              <a:cs typeface="Microsoft YaHei"/>
            </a:endParaRPr>
          </a:p>
          <a:p xmlns:a="http://schemas.openxmlformats.org/drawingml/2006/main">
            <a:pPr marL="0" indent="0" algn="l">
              <a:lnSpc>
                <a:spcPct val="105000"/>
              </a:lnSpc>
              <a:buNone/>
              <a:defRPr sz="1763" b="0">
                <a:solidFill>
                  <a:srgbClr val="17232D"/>
                </a:solidFill>
                <a:latin typeface="Microsoft YaHei"/>
                <a:ea typeface="Microsoft YaHei"/>
                <a:cs typeface="Microsoft YaHei"/>
              </a:defRPr>
            </a:pPr>
            <a:r>
              <a:rPr sz="2025" b="1">
                <a:solidFill>
                  <a:srgbClr val="3B82F6"/>
                </a:solidFill>
                <a:latin typeface="Microsoft YaHei"/>
                <a:ea typeface="Microsoft YaHei"/>
                <a:cs typeface="Microsoft YaHei"/>
              </a:rPr>
              <a:t>D.</a:t>
            </a:r>
            <a:r>
              <a:rPr sz="1763" b="0">
                <a:solidFill>
                  <a:srgbClr val="17232D"/>
                </a:solidFill>
                <a:latin typeface="Microsoft YaHei"/>
                <a:ea typeface="Microsoft YaHei"/>
                <a:cs typeface="Microsoft YaHei"/>
              </a:rPr>
              <a:t> Saving always means holding cash at home.</a:t>
            </a:r>
          </a:p>
        </p:txBody>
      </p:sp>
    </p:spTree>
    <p:extLst>
      <p:ext uri="{BB962C8B-B14F-4D97-AF65-F5344CB8AC3E}">
        <p14:creationId xmlns:p14="http://schemas.microsoft.com/office/powerpoint/2010/main" val="162208425"/>
      </p:ext>
    </p:extLst>
  </p:cSld>
</p:sld>
</file>

<file path=ppt/slides/slide35.xml><?xml version="1.0" encoding="utf-8"?>
<p:sld xmlns:p="http://schemas.openxmlformats.org/presentationml/2006/main">
  <p:cSld>
    <p:bg>
      <p:bgPr>
        <a:solidFill xmlns:a="http://schemas.openxmlformats.org/drawingml/2006/main">
          <a:srgbClr val="FCFBF8"/>
        </a:solid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05AD8BB-23E8-C4F3-A9DA-31F5CCC0DE15}"/>
              </a:ext>
            </a:extLst>
          </p:cNvPr>
          <p:cNvSpPr>
            <a:spLocks xmlns:a="http://schemas.openxmlformats.org/drawingml/2006/main" noGrp="1"/>
          </p:cNvSpPr>
          <p:nvPr>
            <p:ph type="title" idx="0"/>
          </p:nvPr>
        </p:nvSpPr>
        <p:spPr>
          <a:xfrm xmlns:a="http://schemas.openxmlformats.org/drawingml/2006/main">
            <a:off x="533400" y="590550"/>
            <a:ext cx="1524000" cy="647700"/>
          </a:xfrm>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ct val="96000"/>
              </a:lnSpc>
              <a:buNone/>
              <a:defRPr sz="2550" b="1">
                <a:solidFill>
                  <a:srgbClr val="3B82F6"/>
                </a:solidFill>
                <a:latin typeface="Microsoft YaHei"/>
                <a:ea typeface="Microsoft YaHei"/>
                <a:cs typeface="Microsoft YaHei"/>
              </a:defRPr>
            </a:pPr>
            <a:r>
              <a:rPr sz="2550" b="1">
                <a:solidFill>
                  <a:srgbClr val="3B82F6"/>
                </a:solidFill>
                <a:latin typeface="Microsoft YaHei"/>
                <a:ea typeface="Microsoft YaHei"/>
                <a:cs typeface="Microsoft YaHei"/>
              </a:rPr>
              <a:t>MCQ 5</a:t>
            </a:r>
          </a:p>
        </p:txBody>
      </p:sp>
      <p:sp>
        <p:nvSpPr>
          <p:cNvPr id="3" name="Content Placeholder 2">
            <a:extLst xmlns:a="http://schemas.openxmlformats.org/drawingml/2006/main">
              <a:ext uri="{FF2B5EF4-FFF2-40B4-BE49-F238E27FC236}">
                <a16:creationId xmlns:a16="http://schemas.microsoft.com/office/drawing/2014/main" id="{2ABEC868-95C2-1C0D-E1B7-455334054264}"/>
              </a:ext>
            </a:extLst>
          </p:cNvPr>
          <p:cNvSpPr>
            <a:spLocks xmlns:a="http://schemas.openxmlformats.org/drawingml/2006/main" noGrp="1"/>
          </p:cNvSpPr>
          <p:nvPr>
            <p:ph idx="1"/>
          </p:nvPr>
        </p:nvSpPr>
        <p:spPr>
          <a:xfrm xmlns:a="http://schemas.openxmlformats.org/drawingml/2006/main">
            <a:off x="2333625" y="609600"/>
            <a:ext cx="9096375" cy="5619750"/>
          </a:xfrm>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ct val="105000"/>
              </a:lnSpc>
              <a:buNone/>
              <a:defRPr sz="1688" b="0">
                <a:solidFill>
                  <a:srgbClr val="17232D"/>
                </a:solidFill>
                <a:latin typeface="Microsoft YaHei"/>
                <a:ea typeface="Microsoft YaHei"/>
                <a:cs typeface="Microsoft YaHei"/>
              </a:defRPr>
            </a:pPr>
            <a:r>
              <a:rPr sz="2100" b="1">
                <a:solidFill>
                  <a:srgbClr val="17232D"/>
                </a:solidFill>
                <a:latin typeface="Microsoft YaHei"/>
                <a:ea typeface="Microsoft YaHei"/>
                <a:cs typeface="Microsoft YaHei"/>
              </a:rPr>
              <a:t>Two people buy the same asset (资产). Why might one be investing (投资) and the other speculating (投机)?</a:t>
            </a:r>
          </a:p>
          <a:p xmlns:a="http://schemas.openxmlformats.org/drawingml/2006/main">
            <a:pPr marL="0" indent="0">
              <a:buNone/>
            </a:pPr>
            <a:endParaRPr sz="2100" b="1">
              <a:solidFill>
                <a:srgbClr val="17232D"/>
              </a:solidFill>
              <a:latin typeface="Microsoft YaHei"/>
              <a:ea typeface="Microsoft YaHei"/>
              <a:cs typeface="Microsoft YaHei"/>
            </a:endParaRPr>
          </a:p>
          <a:p xmlns:a="http://schemas.openxmlformats.org/drawingml/2006/main">
            <a:pPr marL="0" indent="0" algn="l">
              <a:lnSpc>
                <a:spcPct val="105000"/>
              </a:lnSpc>
              <a:buNone/>
              <a:defRPr sz="1688" b="0">
                <a:solidFill>
                  <a:srgbClr val="17232D"/>
                </a:solidFill>
                <a:latin typeface="Microsoft YaHei"/>
                <a:ea typeface="Microsoft YaHei"/>
                <a:cs typeface="Microsoft YaHei"/>
              </a:defRPr>
            </a:pPr>
            <a:r>
              <a:rPr sz="2025" b="1">
                <a:solidFill>
                  <a:srgbClr val="3B82F6"/>
                </a:solidFill>
                <a:latin typeface="Microsoft YaHei"/>
                <a:ea typeface="Microsoft YaHei"/>
                <a:cs typeface="Microsoft YaHei"/>
              </a:rPr>
              <a:t>A.</a:t>
            </a:r>
            <a:r>
              <a:rPr sz="1688" b="0">
                <a:solidFill>
                  <a:srgbClr val="17232D"/>
                </a:solidFill>
                <a:latin typeface="Microsoft YaHei"/>
                <a:ea typeface="Microsoft YaHei"/>
                <a:cs typeface="Microsoft YaHei"/>
              </a:rPr>
              <a:t> The asset name decides the category.</a:t>
            </a:r>
          </a:p>
          <a:p xmlns:a="http://schemas.openxmlformats.org/drawingml/2006/main">
            <a:pPr marL="0" indent="0">
              <a:buNone/>
            </a:pPr>
            <a:endParaRPr sz="1688" b="0">
              <a:solidFill>
                <a:srgbClr val="17232D"/>
              </a:solidFill>
              <a:latin typeface="Microsoft YaHei"/>
              <a:ea typeface="Microsoft YaHei"/>
              <a:cs typeface="Microsoft YaHei"/>
            </a:endParaRPr>
          </a:p>
          <a:p xmlns:a="http://schemas.openxmlformats.org/drawingml/2006/main">
            <a:pPr marL="0" indent="0" algn="l">
              <a:lnSpc>
                <a:spcPct val="105000"/>
              </a:lnSpc>
              <a:buNone/>
              <a:defRPr sz="1688" b="0">
                <a:solidFill>
                  <a:srgbClr val="17232D"/>
                </a:solidFill>
                <a:latin typeface="Microsoft YaHei"/>
                <a:ea typeface="Microsoft YaHei"/>
                <a:cs typeface="Microsoft YaHei"/>
              </a:defRPr>
            </a:pPr>
            <a:r>
              <a:rPr sz="2025" b="1">
                <a:solidFill>
                  <a:srgbClr val="3B82F6"/>
                </a:solidFill>
                <a:latin typeface="Microsoft YaHei"/>
                <a:ea typeface="Microsoft YaHei"/>
                <a:cs typeface="Microsoft YaHei"/>
              </a:rPr>
              <a:t>B.</a:t>
            </a:r>
            <a:r>
              <a:rPr sz="1688" b="0">
                <a:solidFill>
                  <a:srgbClr val="17232D"/>
                </a:solidFill>
                <a:latin typeface="Microsoft YaHei"/>
                <a:ea typeface="Microsoft YaHei"/>
                <a:cs typeface="Microsoft YaHei"/>
              </a:rPr>
              <a:t> The person who pays the higher price is the speculator (投机者).</a:t>
            </a:r>
          </a:p>
          <a:p xmlns:a="http://schemas.openxmlformats.org/drawingml/2006/main">
            <a:pPr marL="0" indent="0">
              <a:buNone/>
            </a:pPr>
            <a:endParaRPr sz="1688" b="0">
              <a:solidFill>
                <a:srgbClr val="17232D"/>
              </a:solidFill>
              <a:latin typeface="Microsoft YaHei"/>
              <a:ea typeface="Microsoft YaHei"/>
              <a:cs typeface="Microsoft YaHei"/>
            </a:endParaRPr>
          </a:p>
          <a:p xmlns:a="http://schemas.openxmlformats.org/drawingml/2006/main">
            <a:pPr marL="0" indent="0" algn="l">
              <a:lnSpc>
                <a:spcPct val="105000"/>
              </a:lnSpc>
              <a:buNone/>
              <a:defRPr sz="1688" b="0">
                <a:solidFill>
                  <a:srgbClr val="17232D"/>
                </a:solidFill>
                <a:latin typeface="Microsoft YaHei"/>
                <a:ea typeface="Microsoft YaHei"/>
                <a:cs typeface="Microsoft YaHei"/>
              </a:defRPr>
            </a:pPr>
            <a:r>
              <a:rPr sz="2025" b="1">
                <a:solidFill>
                  <a:srgbClr val="3B82F6"/>
                </a:solidFill>
                <a:latin typeface="Microsoft YaHei"/>
                <a:ea typeface="Microsoft YaHei"/>
                <a:cs typeface="Microsoft YaHei"/>
              </a:rPr>
              <a:t>C.</a:t>
            </a:r>
            <a:r>
              <a:rPr sz="1688" b="0">
                <a:solidFill>
                  <a:srgbClr val="17232D"/>
                </a:solidFill>
                <a:latin typeface="Microsoft YaHei"/>
                <a:ea typeface="Microsoft YaHei"/>
                <a:cs typeface="Microsoft YaHei"/>
              </a:rPr>
              <a:t> One bases expected return on income and/or evidence about long-term value; the other mainly on a price prediction (价格预测).</a:t>
            </a:r>
          </a:p>
          <a:p xmlns:a="http://schemas.openxmlformats.org/drawingml/2006/main">
            <a:pPr marL="0" indent="0">
              <a:buNone/>
            </a:pPr>
            <a:endParaRPr sz="1688" b="0">
              <a:solidFill>
                <a:srgbClr val="17232D"/>
              </a:solidFill>
              <a:latin typeface="Microsoft YaHei"/>
              <a:ea typeface="Microsoft YaHei"/>
              <a:cs typeface="Microsoft YaHei"/>
            </a:endParaRPr>
          </a:p>
          <a:p xmlns:a="http://schemas.openxmlformats.org/drawingml/2006/main">
            <a:pPr marL="0" indent="0" algn="l">
              <a:lnSpc>
                <a:spcPct val="105000"/>
              </a:lnSpc>
              <a:buNone/>
              <a:defRPr sz="1688" b="0">
                <a:solidFill>
                  <a:srgbClr val="17232D"/>
                </a:solidFill>
                <a:latin typeface="Microsoft YaHei"/>
                <a:ea typeface="Microsoft YaHei"/>
                <a:cs typeface="Microsoft YaHei"/>
              </a:defRPr>
            </a:pPr>
            <a:r>
              <a:rPr sz="2025" b="1">
                <a:solidFill>
                  <a:srgbClr val="3B82F6"/>
                </a:solidFill>
                <a:latin typeface="Microsoft YaHei"/>
                <a:ea typeface="Microsoft YaHei"/>
                <a:cs typeface="Microsoft YaHei"/>
              </a:rPr>
              <a:t>D.</a:t>
            </a:r>
            <a:r>
              <a:rPr sz="1688" b="0">
                <a:solidFill>
                  <a:srgbClr val="17232D"/>
                </a:solidFill>
                <a:latin typeface="Microsoft YaHei"/>
                <a:ea typeface="Microsoft YaHei"/>
                <a:cs typeface="Microsoft YaHei"/>
              </a:rPr>
              <a:t> The person planning to sell sooner is always the speculator (投机者).</a:t>
            </a:r>
          </a:p>
        </p:txBody>
      </p:sp>
    </p:spTree>
    <p:extLst>
      <p:ext uri="{BB962C8B-B14F-4D97-AF65-F5344CB8AC3E}">
        <p14:creationId xmlns:p14="http://schemas.microsoft.com/office/powerpoint/2010/main" val="1612041934"/>
      </p:ext>
    </p:extLst>
  </p:cSld>
</p:sld>
</file>

<file path=ppt/slides/slide36.xml><?xml version="1.0" encoding="utf-8"?>
<p:sld xmlns:p="http://schemas.openxmlformats.org/presentationml/2006/main">
  <p:cSld>
    <p:bg>
      <p:bgPr>
        <a:solidFill xmlns:a="http://schemas.openxmlformats.org/drawingml/2006/main">
          <a:srgbClr val="FCFBF8"/>
        </a:solid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4A08E3E-37C7-BC1D-7555-C4FE5DC7BDCF}"/>
              </a:ext>
            </a:extLst>
          </p:cNvPr>
          <p:cNvSpPr>
            <a:spLocks xmlns:a="http://schemas.openxmlformats.org/drawingml/2006/main" noGrp="1"/>
          </p:cNvSpPr>
          <p:nvPr>
            <p:ph type="title" idx="0"/>
          </p:nvPr>
        </p:nvSpPr>
        <p:spPr>
          <a:xfrm xmlns:a="http://schemas.openxmlformats.org/drawingml/2006/main">
            <a:off x="609600" y="438150"/>
            <a:ext cx="10972800" cy="781050"/>
          </a:xfrm>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lnSpc>
                <a:spcPct val="96000"/>
              </a:lnSpc>
              <a:buNone/>
              <a:defRPr sz="2550" b="1">
                <a:solidFill>
                  <a:srgbClr val="17232D"/>
                </a:solidFill>
                <a:latin typeface="Microsoft YaHei"/>
                <a:ea typeface="Microsoft YaHei"/>
                <a:cs typeface="Microsoft YaHei"/>
              </a:defRPr>
            </a:pPr>
            <a:r>
              <a:rPr sz="2550" b="1">
                <a:solidFill>
                  <a:srgbClr val="17232D"/>
                </a:solidFill>
                <a:latin typeface="Microsoft YaHei"/>
                <a:ea typeface="Microsoft YaHei"/>
                <a:cs typeface="Microsoft YaHei"/>
              </a:rPr>
              <a:t>Choose: Investment (投资), speculation (投机) or saving (储蓄)?</a:t>
            </a:r>
          </a:p>
        </p:txBody>
      </p:sp>
      <p:sp>
        <p:nvSpPr>
          <p:cNvPr id="3" name="Content Placeholder 2">
            <a:extLst xmlns:a="http://schemas.openxmlformats.org/drawingml/2006/main">
              <a:ext uri="{FF2B5EF4-FFF2-40B4-BE49-F238E27FC236}">
                <a16:creationId xmlns:a16="http://schemas.microsoft.com/office/drawing/2014/main" id="{8F1DE0E9-51B1-D256-F5A3-E55CC614F586}"/>
              </a:ext>
            </a:extLst>
          </p:cNvPr>
          <p:cNvSpPr>
            <a:spLocks xmlns:a="http://schemas.openxmlformats.org/drawingml/2006/main" noGrp="1"/>
          </p:cNvSpPr>
          <p:nvPr>
            <p:ph idx="1"/>
          </p:nvPr>
        </p:nvSpPr>
        <p:spPr>
          <a:xfrm xmlns:a="http://schemas.openxmlformats.org/drawingml/2006/main">
            <a:off x="781050" y="1381125"/>
            <a:ext cx="10629900" cy="4953000"/>
          </a:xfrm>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ct val="108000"/>
              </a:lnSpc>
              <a:spcAft>
                <a:spcPts val="600"/>
              </a:spcAft>
              <a:buNone/>
              <a:defRPr sz="1725" b="0">
                <a:solidFill>
                  <a:srgbClr val="17232D"/>
                </a:solidFill>
                <a:latin typeface="Microsoft YaHei"/>
                <a:ea typeface="Microsoft YaHei"/>
                <a:cs typeface="Microsoft YaHei"/>
              </a:defRPr>
            </a:pPr>
            <a:r>
              <a:rPr sz="2400" b="1">
                <a:solidFill>
                  <a:srgbClr val="3B82F6"/>
                </a:solidFill>
                <a:latin typeface="Microsoft YaHei"/>
                <a:ea typeface="Microsoft YaHei"/>
                <a:cs typeface="Microsoft YaHei"/>
              </a:rPr>
              <a:t>1.</a:t>
            </a:r>
            <a:r>
              <a:rPr sz="2400" b="0">
                <a:solidFill>
                  <a:srgbClr val="17232D"/>
                </a:solidFill>
                <a:latin typeface="Microsoft YaHei"/>
                <a:ea typeface="Microsoft YaHei"/>
                <a:cs typeface="Microsoft YaHei"/>
              </a:rPr>
              <a:t> The main basis is expected income and/or evidence about underlying value; possible loss is accepted.</a:t>
            </a:r>
          </a:p>
          <a:p xmlns:a="http://schemas.openxmlformats.org/drawingml/2006/main">
            <a:pPr marL="0" indent="0" algn="l">
              <a:lnSpc>
                <a:spcPct val="108000"/>
              </a:lnSpc>
              <a:spcAft>
                <a:spcPts val="600"/>
              </a:spcAft>
              <a:buNone/>
              <a:defRPr sz="1725" b="0">
                <a:solidFill>
                  <a:srgbClr val="17232D"/>
                </a:solidFill>
                <a:latin typeface="Microsoft YaHei"/>
                <a:ea typeface="Microsoft YaHei"/>
                <a:cs typeface="Microsoft YaHei"/>
              </a:defRPr>
            </a:pPr>
            <a:r>
              <a:rPr sz="2400" b="1">
                <a:solidFill>
                  <a:srgbClr val="3B82F6"/>
                </a:solidFill>
                <a:latin typeface="Microsoft YaHei"/>
                <a:ea typeface="Microsoft YaHei"/>
                <a:cs typeface="Microsoft YaHei"/>
              </a:rPr>
              <a:t>2.</a:t>
            </a:r>
            <a:r>
              <a:rPr sz="2400" b="0">
                <a:solidFill>
                  <a:srgbClr val="17232D"/>
                </a:solidFill>
                <a:latin typeface="Microsoft YaHei"/>
                <a:ea typeface="Microsoft YaHei"/>
                <a:cs typeface="Microsoft YaHei"/>
              </a:rPr>
              <a:t> The main reason is a </a:t>
            </a:r>
            <a:r>
              <a:rPr sz="2400" b="1">
                <a:solidFill>
                  <a:srgbClr val="F06C5B"/>
                </a:solidFill>
                <a:latin typeface="Microsoft YaHei"/>
                <a:ea typeface="Microsoft YaHei"/>
                <a:cs typeface="Microsoft YaHei"/>
              </a:rPr>
              <a:t>predicted price change</a:t>
            </a:r>
            <a:r>
              <a:rPr sz="2400" b="0">
                <a:solidFill>
                  <a:srgbClr val="17232D"/>
                </a:solidFill>
                <a:latin typeface="Microsoft YaHei"/>
                <a:ea typeface="Microsoft YaHei"/>
                <a:cs typeface="Microsoft YaHei"/>
              </a:rPr>
              <a:t>; income or underlying value is not the main basis.</a:t>
            </a:r>
          </a:p>
          <a:p xmlns:a="http://schemas.openxmlformats.org/drawingml/2006/main">
            <a:pPr marL="0" indent="0" algn="l">
              <a:lnSpc>
                <a:spcPct val="108000"/>
              </a:lnSpc>
              <a:spcAft>
                <a:spcPts val="600"/>
              </a:spcAft>
              <a:buNone/>
              <a:defRPr sz="1725" b="0">
                <a:solidFill>
                  <a:srgbClr val="17232D"/>
                </a:solidFill>
                <a:latin typeface="Microsoft YaHei"/>
                <a:ea typeface="Microsoft YaHei"/>
                <a:cs typeface="Microsoft YaHei"/>
              </a:defRPr>
            </a:pPr>
            <a:r>
              <a:rPr sz="2400" b="1">
                <a:solidFill>
                  <a:srgbClr val="3B82F6"/>
                </a:solidFill>
                <a:latin typeface="Microsoft YaHei"/>
                <a:ea typeface="Microsoft YaHei"/>
                <a:cs typeface="Microsoft YaHei"/>
              </a:rPr>
              <a:t>3.</a:t>
            </a:r>
            <a:r>
              <a:rPr sz="2400" b="0">
                <a:solidFill>
                  <a:srgbClr val="17232D"/>
                </a:solidFill>
                <a:latin typeface="Microsoft YaHei"/>
                <a:ea typeface="Microsoft YaHei"/>
                <a:cs typeface="Microsoft YaHei"/>
              </a:rPr>
              <a:t> Money is kept mainly for a </a:t>
            </a:r>
            <a:r>
              <a:rPr sz="2400" b="1">
                <a:solidFill>
                  <a:srgbClr val="2F9B67"/>
                </a:solidFill>
                <a:latin typeface="Microsoft YaHei"/>
                <a:ea typeface="Microsoft YaHei"/>
                <a:cs typeface="Microsoft YaHei"/>
              </a:rPr>
              <a:t>future need, safety and ready access</a:t>
            </a:r>
            <a:r>
              <a:rPr sz="2400" b="0">
                <a:solidFill>
                  <a:srgbClr val="17232D"/>
                </a:solidFill>
                <a:latin typeface="Microsoft YaHei"/>
                <a:ea typeface="Microsoft YaHei"/>
                <a:cs typeface="Microsoft YaHei"/>
              </a:rPr>
              <a:t>.</a:t>
            </a:r>
          </a:p>
          <a:p xmlns:a="http://schemas.openxmlformats.org/drawingml/2006/main">
            <a:pPr marL="0" indent="0" algn="l">
              <a:lnSpc>
                <a:spcPct val="108000"/>
              </a:lnSpc>
              <a:spcAft>
                <a:spcPts val="600"/>
              </a:spcAft>
              <a:buNone/>
              <a:defRPr sz="1725" b="0">
                <a:solidFill>
                  <a:srgbClr val="17232D"/>
                </a:solidFill>
                <a:latin typeface="Microsoft YaHei"/>
                <a:ea typeface="Microsoft YaHei"/>
                <a:cs typeface="Microsoft YaHei"/>
              </a:defRPr>
            </a:pPr>
            <a:r>
              <a:rPr sz="2400" b="1">
                <a:solidFill>
                  <a:srgbClr val="3B82F6"/>
                </a:solidFill>
                <a:latin typeface="Microsoft YaHei"/>
                <a:ea typeface="Microsoft YaHei"/>
                <a:cs typeface="Microsoft YaHei"/>
              </a:rPr>
              <a:t>4.</a:t>
            </a:r>
            <a:r>
              <a:rPr sz="2400" b="0">
                <a:solidFill>
                  <a:srgbClr val="17232D"/>
                </a:solidFill>
                <a:latin typeface="Microsoft YaHei"/>
                <a:ea typeface="Microsoft YaHei"/>
                <a:cs typeface="Microsoft YaHei"/>
              </a:rPr>
              <a:t> </a:t>
            </a:r>
            <a:r>
              <a:rPr sz="2400" b="1">
                <a:solidFill>
                  <a:srgbClr val="17232D"/>
                </a:solidFill>
                <a:latin typeface="Microsoft YaHei"/>
                <a:ea typeface="Microsoft YaHei"/>
                <a:cs typeface="Microsoft YaHei"/>
              </a:rPr>
              <a:t>Amina</a:t>
            </a:r>
            <a:r>
              <a:rPr sz="2400" b="0">
                <a:solidFill>
                  <a:srgbClr val="17232D"/>
                </a:solidFill>
                <a:latin typeface="Microsoft YaHei"/>
                <a:ea typeface="Microsoft YaHei"/>
                <a:cs typeface="Microsoft YaHei"/>
              </a:rPr>
              <a:t> studies profits, cash flow and debt before buying a diversified share portfolio. She expects dividends and long-term price growth.</a:t>
            </a:r>
          </a:p>
          <a:p xmlns:a="http://schemas.openxmlformats.org/drawingml/2006/main">
            <a:pPr marL="0" indent="0" algn="l">
              <a:lnSpc>
                <a:spcPct val="108000"/>
              </a:lnSpc>
              <a:spcAft>
                <a:spcPts val="600"/>
              </a:spcAft>
              <a:buNone/>
              <a:defRPr sz="1725" b="0">
                <a:solidFill>
                  <a:srgbClr val="17232D"/>
                </a:solidFill>
                <a:latin typeface="Microsoft YaHei"/>
                <a:ea typeface="Microsoft YaHei"/>
                <a:cs typeface="Microsoft YaHei"/>
              </a:defRPr>
            </a:pPr>
            <a:r>
              <a:rPr sz="2400" b="1">
                <a:solidFill>
                  <a:srgbClr val="3B82F6"/>
                </a:solidFill>
                <a:latin typeface="Microsoft YaHei"/>
                <a:ea typeface="Microsoft YaHei"/>
                <a:cs typeface="Microsoft YaHei"/>
              </a:rPr>
              <a:t>5.</a:t>
            </a:r>
            <a:r>
              <a:rPr sz="2400" b="0">
                <a:solidFill>
                  <a:srgbClr val="17232D"/>
                </a:solidFill>
                <a:latin typeface="Microsoft YaHei"/>
                <a:ea typeface="Microsoft YaHei"/>
                <a:cs typeface="Microsoft YaHei"/>
              </a:rPr>
              <a:t> </a:t>
            </a:r>
            <a:r>
              <a:rPr sz="2400" b="1">
                <a:solidFill>
                  <a:srgbClr val="17232D"/>
                </a:solidFill>
                <a:latin typeface="Microsoft YaHei"/>
                <a:ea typeface="Microsoft YaHei"/>
                <a:cs typeface="Microsoft YaHei"/>
              </a:rPr>
              <a:t>Bao</a:t>
            </a:r>
            <a:r>
              <a:rPr sz="2400" b="0">
                <a:solidFill>
                  <a:srgbClr val="17232D"/>
                </a:solidFill>
                <a:latin typeface="Microsoft YaHei"/>
                <a:ea typeface="Microsoft YaHei"/>
                <a:cs typeface="Microsoft YaHei"/>
              </a:rPr>
              <a:t> borrows after an online rumour predicts a price rise next week. He will sell after an announcement.</a:t>
            </a:r>
          </a:p>
        </p:txBody>
      </p:sp>
    </p:spTree>
    <p:extLst>
      <p:ext uri="{BB962C8B-B14F-4D97-AF65-F5344CB8AC3E}">
        <p14:creationId xmlns:p14="http://schemas.microsoft.com/office/powerpoint/2010/main" val="925250668"/>
      </p:ext>
    </p:extLst>
  </p:cSld>
</p:sld>
</file>

<file path=ppt/slides/slide37.xml><?xml version="1.0" encoding="utf-8"?>
<p:sld xmlns:p="http://schemas.openxmlformats.org/presentationml/2006/main">
  <p:cSld>
    <p:bg>
      <p:bgPr>
        <a:solidFill xmlns:a="http://schemas.openxmlformats.org/drawingml/2006/main">
          <a:srgbClr val="FCFBF8"/>
        </a:solid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50FD62F-AADD-915A-DD6D-C994392E9694}"/>
              </a:ext>
            </a:extLst>
          </p:cNvPr>
          <p:cNvSpPr>
            <a:spLocks xmlns:a="http://schemas.openxmlformats.org/drawingml/2006/main" noGrp="1"/>
          </p:cNvSpPr>
          <p:nvPr>
            <p:ph type="title" idx="0"/>
          </p:nvPr>
        </p:nvSpPr>
        <p:spPr>
          <a:xfrm xmlns:a="http://schemas.openxmlformats.org/drawingml/2006/main">
            <a:off x="685800" y="590550"/>
            <a:ext cx="10820400" cy="781050"/>
          </a:xfrm>
        </p:spPr>
        <p:txBody>
          <a:bodyPr xmlns:a="http://schemas.openxmlformats.org/drawingml/2006/main" wrap="square" lIns="0" tIns="0" rIns="0" bIns="0" anchor="ctr">
            <a:normAutofit/>
          </a:bodyPr>
          <a:lstStyle xmlns:a="http://schemas.openxmlformats.org/drawingml/2006/main"/>
          <a:p xmlns:a="http://schemas.openxmlformats.org/drawingml/2006/main">
            <a:pPr algn="l">
              <a:lnSpc>
                <a:spcPct val="108000"/>
              </a:lnSpc>
              <a:buNone/>
              <a:defRPr sz="3450" b="1">
                <a:solidFill>
                  <a:srgbClr val="17232D"/>
                </a:solidFill>
                <a:latin typeface="Microsoft YaHei"/>
                <a:ea typeface="Microsoft YaHei"/>
                <a:cs typeface="Microsoft YaHei"/>
              </a:defRPr>
            </a:pPr>
            <a:r>
              <a:rPr sz="3450" b="1">
                <a:solidFill>
                  <a:srgbClr val="17232D"/>
                </a:solidFill>
                <a:latin typeface="Microsoft YaHei"/>
                <a:ea typeface="Microsoft YaHei"/>
                <a:cs typeface="Microsoft YaHei"/>
              </a:rPr>
              <a:t>A strong answer</a:t>
            </a:r>
            <a:endParaRPr/>
          </a:p>
        </p:txBody>
      </p:sp>
      <p:sp>
        <p:nvSpPr>
          <p:cNvPr id="3" name="Content Placeholder 2">
            <a:extLst xmlns:a="http://schemas.openxmlformats.org/drawingml/2006/main">
              <a:ext uri="{FF2B5EF4-FFF2-40B4-BE49-F238E27FC236}">
                <a16:creationId xmlns:a16="http://schemas.microsoft.com/office/drawing/2014/main" id="{C55E56F6-0A1D-ADCB-6DF9-639690F61E06}"/>
              </a:ext>
            </a:extLst>
          </p:cNvPr>
          <p:cNvSpPr>
            <a:spLocks xmlns:a="http://schemas.openxmlformats.org/drawingml/2006/main" noGrp="1"/>
          </p:cNvSpPr>
          <p:nvPr>
            <p:ph idx="1"/>
          </p:nvPr>
        </p:nvSpPr>
        <p:spPr>
          <a:xfrm xmlns:a="http://schemas.openxmlformats.org/drawingml/2006/main">
            <a:off x="1123950" y="1952625"/>
            <a:ext cx="9944100" cy="2952750"/>
          </a:xfrm>
        </p:spPr>
        <p:txBody>
          <a:bodyPr xmlns:a="http://schemas.openxmlformats.org/drawingml/2006/main" wrap="square" lIns="0" tIns="0" rIns="0" bIns="0" anchor="ctr">
            <a:normAutofit/>
          </a:bodyPr>
          <a:lstStyle xmlns:a="http://schemas.openxmlformats.org/drawingml/2006/main"/>
          <a:p xmlns:a="http://schemas.openxmlformats.org/drawingml/2006/main">
            <a:pPr algn="l">
              <a:buNone/>
              <a:defRPr sz="2550" b="0">
                <a:solidFill>
                  <a:srgbClr val="17232D"/>
                </a:solidFill>
                <a:latin typeface="Microsoft YaHei"/>
                <a:ea typeface="Microsoft YaHei"/>
                <a:cs typeface="Microsoft YaHei"/>
              </a:defRPr>
            </a:pPr>
            <a:r>
              <a:rPr sz="2700" b="1">
                <a:solidFill>
                  <a:srgbClr val="2B5D7E"/>
                </a:solidFill>
                <a:latin typeface="Microsoft YaHei"/>
                <a:ea typeface="Microsoft YaHei"/>
                <a:cs typeface="Microsoft YaHei"/>
              </a:rPr>
              <a:t>Mina should save some of the ¥500 first.</a:t>
            </a:r>
            <a:r>
              <a:t> She has no </a:t>
            </a:r>
            <a:r>
              <a:rPr sz="2550" b="1">
                <a:solidFill>
                  <a:srgbClr val="2B5D7E"/>
                </a:solidFill>
                <a:latin typeface="Microsoft YaHei"/>
                <a:ea typeface="Microsoft YaHei"/>
                <a:cs typeface="Microsoft YaHei"/>
              </a:rPr>
              <a:t>emergency fund</a:t>
            </a:r>
            <a:r>
              <a:t>, so </a:t>
            </a:r>
            <a:r>
              <a:rPr sz="2550" b="1">
                <a:solidFill>
                  <a:srgbClr val="2B5D7E"/>
                </a:solidFill>
                <a:latin typeface="Microsoft YaHei"/>
                <a:ea typeface="Microsoft YaHei"/>
                <a:cs typeface="Microsoft YaHei"/>
              </a:rPr>
              <a:t>liquidity</a:t>
            </a:r>
            <a:r>
              <a:t> matters: the money may be needed for </a:t>
            </a:r>
            <a:r>
              <a:rPr sz="2550" b="1">
                <a:solidFill>
                  <a:srgbClr val="2B5D7E"/>
                </a:solidFill>
                <a:latin typeface="Microsoft YaHei"/>
                <a:ea typeface="Microsoft YaHei"/>
                <a:cs typeface="Microsoft YaHei"/>
              </a:rPr>
              <a:t>essential spending</a:t>
            </a:r>
            <a:r>
              <a:t>. If she invested all of it, a </a:t>
            </a:r>
            <a:r>
              <a:rPr sz="2550" b="1">
                <a:solidFill>
                  <a:srgbClr val="F06C5B"/>
                </a:solidFill>
                <a:latin typeface="Microsoft YaHei"/>
                <a:ea typeface="Microsoft YaHei"/>
                <a:cs typeface="Microsoft YaHei"/>
              </a:rPr>
              <a:t>possible loss</a:t>
            </a:r>
            <a:r>
              <a:t> could leave her unable to meet an emergency.</a:t>
            </a:r>
          </a:p>
        </p:txBody>
      </p:sp>
    </p:spTree>
    <p:extLst>
      <p:ext uri="{BB962C8B-B14F-4D97-AF65-F5344CB8AC3E}">
        <p14:creationId xmlns:p14="http://schemas.microsoft.com/office/powerpoint/2010/main" val="3457858574"/>
      </p:ext>
    </p:extLst>
  </p:cSld>
</p:sld>
</file>

<file path=ppt/slides/slide38.xml><?xml version="1.0" encoding="utf-8"?>
<p:sld xmlns:p="http://schemas.openxmlformats.org/presentationml/2006/main">
  <p:cSld>
    <p:bg>
      <p:bgPr>
        <a:solidFill xmlns:a="http://schemas.openxmlformats.org/drawingml/2006/main">
          <a:srgbClr val="FCFBF8"/>
        </a:solid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4A08E3E-37C7-BC1D-7555-C4FE5DC7BDCF}"/>
              </a:ext>
            </a:extLst>
          </p:cNvPr>
          <p:cNvSpPr>
            <a:spLocks xmlns:a="http://schemas.openxmlformats.org/drawingml/2006/main" noGrp="1"/>
          </p:cNvSpPr>
          <p:nvPr>
            <p:ph type="title" idx="0"/>
          </p:nvPr>
        </p:nvSpPr>
        <p:spPr>
          <a:xfrm xmlns:a="http://schemas.openxmlformats.org/drawingml/2006/main">
            <a:off x="609600" y="438150"/>
            <a:ext cx="10972800" cy="781050"/>
          </a:xfrm>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lnSpc>
                <a:spcPct val="96000"/>
              </a:lnSpc>
              <a:buNone/>
              <a:defRPr sz="2550" b="1">
                <a:solidFill>
                  <a:srgbClr val="17232D"/>
                </a:solidFill>
                <a:latin typeface="Microsoft YaHei"/>
                <a:ea typeface="Microsoft YaHei"/>
                <a:cs typeface="Microsoft YaHei"/>
              </a:defRPr>
            </a:pPr>
            <a:r>
              <a:rPr sz="2550" b="1">
                <a:solidFill>
                  <a:srgbClr val="17232D"/>
                </a:solidFill>
                <a:latin typeface="Microsoft YaHei"/>
                <a:ea typeface="Microsoft YaHei"/>
                <a:cs typeface="Microsoft YaHei"/>
              </a:rPr>
              <a:t>Choose: Investment (投资), speculation (投机) or saving (储蓄)?</a:t>
            </a:r>
          </a:p>
        </p:txBody>
      </p:sp>
      <p:sp>
        <p:nvSpPr>
          <p:cNvPr id="3" name="Content Placeholder 2">
            <a:extLst xmlns:a="http://schemas.openxmlformats.org/drawingml/2006/main">
              <a:ext uri="{FF2B5EF4-FFF2-40B4-BE49-F238E27FC236}">
                <a16:creationId xmlns:a16="http://schemas.microsoft.com/office/drawing/2014/main" id="{8F1DE0E9-51B1-D256-F5A3-E55CC614F586}"/>
              </a:ext>
            </a:extLst>
          </p:cNvPr>
          <p:cNvSpPr>
            <a:spLocks xmlns:a="http://schemas.openxmlformats.org/drawingml/2006/main" noGrp="1"/>
          </p:cNvSpPr>
          <p:nvPr>
            <p:ph idx="1"/>
          </p:nvPr>
        </p:nvSpPr>
        <p:spPr>
          <a:xfrm xmlns:a="http://schemas.openxmlformats.org/drawingml/2006/main">
            <a:off x="781050" y="1381125"/>
            <a:ext cx="10629900" cy="4953000"/>
          </a:xfrm>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ct val="108000"/>
              </a:lnSpc>
              <a:spcAft>
                <a:spcPts val="600"/>
              </a:spcAft>
              <a:buNone/>
              <a:defRPr sz="1725" b="0">
                <a:solidFill>
                  <a:srgbClr val="17232D"/>
                </a:solidFill>
                <a:latin typeface="Microsoft YaHei"/>
                <a:ea typeface="Microsoft YaHei"/>
                <a:cs typeface="Microsoft YaHei"/>
              </a:defRPr>
            </a:pPr>
            <a:r>
              <a:rPr sz="2400" b="1">
                <a:solidFill>
                  <a:srgbClr val="3B82F6"/>
                </a:solidFill>
                <a:latin typeface="Microsoft YaHei"/>
                <a:ea typeface="Microsoft YaHei"/>
                <a:cs typeface="Microsoft YaHei"/>
              </a:rPr>
              <a:t>1.</a:t>
            </a:r>
            <a:r>
              <a:rPr sz="2400" b="0">
                <a:solidFill>
                  <a:srgbClr val="17232D"/>
                </a:solidFill>
                <a:latin typeface="Microsoft YaHei"/>
                <a:ea typeface="Microsoft YaHei"/>
                <a:cs typeface="Microsoft YaHei"/>
              </a:rPr>
              <a:t> The main basis is expected income and/or evidence about underlying value; possible loss is accepted.</a:t>
            </a:r>
          </a:p>
          <a:p xmlns:a="http://schemas.openxmlformats.org/drawingml/2006/main">
            <a:pPr marL="0" indent="0" algn="l">
              <a:lnSpc>
                <a:spcPct val="108000"/>
              </a:lnSpc>
              <a:spcAft>
                <a:spcPts val="600"/>
              </a:spcAft>
              <a:buNone/>
              <a:defRPr sz="1725" b="0">
                <a:solidFill>
                  <a:srgbClr val="17232D"/>
                </a:solidFill>
                <a:latin typeface="Microsoft YaHei"/>
                <a:ea typeface="Microsoft YaHei"/>
                <a:cs typeface="Microsoft YaHei"/>
              </a:defRPr>
            </a:pPr>
            <a:r>
              <a:rPr sz="2400" b="1">
                <a:solidFill>
                  <a:srgbClr val="3B82F6"/>
                </a:solidFill>
                <a:latin typeface="Microsoft YaHei"/>
                <a:ea typeface="Microsoft YaHei"/>
                <a:cs typeface="Microsoft YaHei"/>
              </a:rPr>
              <a:t>2.</a:t>
            </a:r>
            <a:r>
              <a:rPr sz="2400" b="0">
                <a:solidFill>
                  <a:srgbClr val="17232D"/>
                </a:solidFill>
                <a:latin typeface="Microsoft YaHei"/>
                <a:ea typeface="Microsoft YaHei"/>
                <a:cs typeface="Microsoft YaHei"/>
              </a:rPr>
              <a:t> The main reason is a </a:t>
            </a:r>
            <a:r>
              <a:rPr sz="2400" b="1">
                <a:solidFill>
                  <a:srgbClr val="F06C5B"/>
                </a:solidFill>
                <a:latin typeface="Microsoft YaHei"/>
                <a:ea typeface="Microsoft YaHei"/>
                <a:cs typeface="Microsoft YaHei"/>
              </a:rPr>
              <a:t>predicted price change</a:t>
            </a:r>
            <a:r>
              <a:rPr sz="2400" b="0">
                <a:solidFill>
                  <a:srgbClr val="17232D"/>
                </a:solidFill>
                <a:latin typeface="Microsoft YaHei"/>
                <a:ea typeface="Microsoft YaHei"/>
                <a:cs typeface="Microsoft YaHei"/>
              </a:rPr>
              <a:t>; income or underlying value is not the main basis.</a:t>
            </a:r>
          </a:p>
          <a:p xmlns:a="http://schemas.openxmlformats.org/drawingml/2006/main">
            <a:pPr marL="0" indent="0" algn="l">
              <a:lnSpc>
                <a:spcPct val="108000"/>
              </a:lnSpc>
              <a:spcAft>
                <a:spcPts val="600"/>
              </a:spcAft>
              <a:buNone/>
              <a:defRPr sz="1725" b="0">
                <a:solidFill>
                  <a:srgbClr val="17232D"/>
                </a:solidFill>
                <a:latin typeface="Microsoft YaHei"/>
                <a:ea typeface="Microsoft YaHei"/>
                <a:cs typeface="Microsoft YaHei"/>
              </a:defRPr>
            </a:pPr>
            <a:r>
              <a:rPr sz="2400" b="1">
                <a:solidFill>
                  <a:srgbClr val="3B82F6"/>
                </a:solidFill>
                <a:latin typeface="Microsoft YaHei"/>
                <a:ea typeface="Microsoft YaHei"/>
                <a:cs typeface="Microsoft YaHei"/>
              </a:rPr>
              <a:t>3.</a:t>
            </a:r>
            <a:r>
              <a:rPr sz="2400" b="0">
                <a:solidFill>
                  <a:srgbClr val="17232D"/>
                </a:solidFill>
                <a:latin typeface="Microsoft YaHei"/>
                <a:ea typeface="Microsoft YaHei"/>
                <a:cs typeface="Microsoft YaHei"/>
              </a:rPr>
              <a:t> Money is kept mainly for a </a:t>
            </a:r>
            <a:r>
              <a:rPr sz="2400" b="1">
                <a:solidFill>
                  <a:srgbClr val="2F9B67"/>
                </a:solidFill>
                <a:latin typeface="Microsoft YaHei"/>
                <a:ea typeface="Microsoft YaHei"/>
                <a:cs typeface="Microsoft YaHei"/>
              </a:rPr>
              <a:t>future need, safety and ready access</a:t>
            </a:r>
            <a:r>
              <a:rPr sz="2400" b="0">
                <a:solidFill>
                  <a:srgbClr val="17232D"/>
                </a:solidFill>
                <a:latin typeface="Microsoft YaHei"/>
                <a:ea typeface="Microsoft YaHei"/>
                <a:cs typeface="Microsoft YaHei"/>
              </a:rPr>
              <a:t>.</a:t>
            </a:r>
          </a:p>
          <a:p xmlns:a="http://schemas.openxmlformats.org/drawingml/2006/main">
            <a:pPr marL="0" indent="0" algn="l">
              <a:lnSpc>
                <a:spcPct val="108000"/>
              </a:lnSpc>
              <a:spcAft>
                <a:spcPts val="600"/>
              </a:spcAft>
              <a:buNone/>
              <a:defRPr sz="1725" b="0">
                <a:solidFill>
                  <a:srgbClr val="17232D"/>
                </a:solidFill>
                <a:latin typeface="Microsoft YaHei"/>
                <a:ea typeface="Microsoft YaHei"/>
                <a:cs typeface="Microsoft YaHei"/>
              </a:defRPr>
            </a:pPr>
            <a:r>
              <a:rPr sz="2400" b="1">
                <a:solidFill>
                  <a:srgbClr val="3B82F6"/>
                </a:solidFill>
                <a:latin typeface="Microsoft YaHei"/>
                <a:ea typeface="Microsoft YaHei"/>
                <a:cs typeface="Microsoft YaHei"/>
              </a:rPr>
              <a:t>4.</a:t>
            </a:r>
            <a:r>
              <a:rPr sz="2400" b="0">
                <a:solidFill>
                  <a:srgbClr val="17232D"/>
                </a:solidFill>
                <a:latin typeface="Microsoft YaHei"/>
                <a:ea typeface="Microsoft YaHei"/>
                <a:cs typeface="Microsoft YaHei"/>
              </a:rPr>
              <a:t> </a:t>
            </a:r>
            <a:r>
              <a:rPr sz="2400" b="1">
                <a:solidFill>
                  <a:srgbClr val="17232D"/>
                </a:solidFill>
                <a:latin typeface="Microsoft YaHei"/>
                <a:ea typeface="Microsoft YaHei"/>
                <a:cs typeface="Microsoft YaHei"/>
              </a:rPr>
              <a:t>Amina</a:t>
            </a:r>
            <a:r>
              <a:rPr sz="2400" b="0">
                <a:solidFill>
                  <a:srgbClr val="17232D"/>
                </a:solidFill>
                <a:latin typeface="Microsoft YaHei"/>
                <a:ea typeface="Microsoft YaHei"/>
                <a:cs typeface="Microsoft YaHei"/>
              </a:rPr>
              <a:t> studies profits, cash flow and debt before buying a diversified share portfolio. She expects dividends and long-term price growth.</a:t>
            </a:r>
          </a:p>
          <a:p xmlns:a="http://schemas.openxmlformats.org/drawingml/2006/main">
            <a:pPr marL="0" indent="0" algn="l">
              <a:lnSpc>
                <a:spcPct val="108000"/>
              </a:lnSpc>
              <a:spcAft>
                <a:spcPts val="600"/>
              </a:spcAft>
              <a:buNone/>
              <a:defRPr sz="1725" b="0">
                <a:solidFill>
                  <a:srgbClr val="17232D"/>
                </a:solidFill>
                <a:latin typeface="Microsoft YaHei"/>
                <a:ea typeface="Microsoft YaHei"/>
                <a:cs typeface="Microsoft YaHei"/>
              </a:defRPr>
            </a:pPr>
            <a:r>
              <a:rPr sz="2400" b="1">
                <a:solidFill>
                  <a:srgbClr val="3B82F6"/>
                </a:solidFill>
                <a:latin typeface="Microsoft YaHei"/>
                <a:ea typeface="Microsoft YaHei"/>
                <a:cs typeface="Microsoft YaHei"/>
              </a:rPr>
              <a:t>5.</a:t>
            </a:r>
            <a:r>
              <a:rPr sz="2400" b="0">
                <a:solidFill>
                  <a:srgbClr val="17232D"/>
                </a:solidFill>
                <a:latin typeface="Microsoft YaHei"/>
                <a:ea typeface="Microsoft YaHei"/>
                <a:cs typeface="Microsoft YaHei"/>
              </a:rPr>
              <a:t> </a:t>
            </a:r>
            <a:r>
              <a:rPr sz="2400" b="1">
                <a:solidFill>
                  <a:srgbClr val="17232D"/>
                </a:solidFill>
                <a:latin typeface="Microsoft YaHei"/>
                <a:ea typeface="Microsoft YaHei"/>
                <a:cs typeface="Microsoft YaHei"/>
              </a:rPr>
              <a:t>Bao</a:t>
            </a:r>
            <a:r>
              <a:rPr sz="2400" b="0">
                <a:solidFill>
                  <a:srgbClr val="17232D"/>
                </a:solidFill>
                <a:latin typeface="Microsoft YaHei"/>
                <a:ea typeface="Microsoft YaHei"/>
                <a:cs typeface="Microsoft YaHei"/>
              </a:rPr>
              <a:t> borrows after an online rumour predicts a price rise next week. He will sell after an announcement.</a:t>
            </a:r>
          </a:p>
        </p:txBody>
      </p:sp>
    </p:spTree>
    <p:extLst>
      <p:ext uri="{BB962C8B-B14F-4D97-AF65-F5344CB8AC3E}">
        <p14:creationId xmlns:p14="http://schemas.microsoft.com/office/powerpoint/2010/main" val="925250668"/>
      </p:ext>
    </p:extLst>
  </p:cSld>
</p:sld>
</file>

<file path=ppt/slides/slide39.xml><?xml version="1.0" encoding="utf-8"?>
<p:sld xmlns:p="http://schemas.openxmlformats.org/presentationml/2006/main">
  <p:cSld>
    <p:bg>
      <p:bgPr>
        <a:solidFill xmlns:a="http://schemas.openxmlformats.org/drawingml/2006/main">
          <a:srgbClr val="FCFBF8"/>
        </a:solid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4EB0E53-F788-98D5-24E5-BE5C999839F1}"/>
              </a:ext>
            </a:extLst>
          </p:cNvPr>
          <p:cNvSpPr>
            <a:spLocks xmlns:a="http://schemas.openxmlformats.org/drawingml/2006/main" noGrp="1"/>
          </p:cNvSpPr>
          <p:nvPr>
            <p:ph type="title" idx="0"/>
          </p:nvPr>
        </p:nvSpPr>
        <p:spPr>
          <a:xfrm xmlns:a="http://schemas.openxmlformats.org/drawingml/2006/main">
            <a:off x="685800" y="590550"/>
            <a:ext cx="10820400" cy="781050"/>
          </a:xfrm>
        </p:spPr>
        <p:txBody>
          <a:bodyPr xmlns:a="http://schemas.openxmlformats.org/drawingml/2006/main" wrap="square" lIns="0" tIns="0" rIns="0" bIns="0" anchor="ctr">
            <a:normAutofit/>
          </a:bodyPr>
          <a:lstStyle xmlns:a="http://schemas.openxmlformats.org/drawingml/2006/main"/>
          <a:p xmlns:a="http://schemas.openxmlformats.org/drawingml/2006/main">
            <a:pPr algn="l">
              <a:lnSpc>
                <a:spcPct val="108000"/>
              </a:lnSpc>
              <a:buNone/>
              <a:defRPr sz="3450" b="1">
                <a:solidFill>
                  <a:srgbClr val="17232D"/>
                </a:solidFill>
                <a:latin typeface="Microsoft YaHei"/>
                <a:ea typeface="Microsoft YaHei"/>
                <a:cs typeface="Microsoft YaHei"/>
              </a:defRPr>
            </a:pPr>
            <a:r>
              <a:rPr sz="3450" b="1">
                <a:solidFill>
                  <a:srgbClr val="17232D"/>
                </a:solidFill>
                <a:latin typeface="Microsoft YaHei"/>
                <a:ea typeface="Microsoft YaHei"/>
                <a:cs typeface="Microsoft YaHei"/>
              </a:rPr>
              <a:t>A strong answer</a:t>
            </a:r>
            <a:endParaRPr/>
          </a:p>
        </p:txBody>
      </p:sp>
      <p:sp>
        <p:nvSpPr>
          <p:cNvPr id="3" name="Content Placeholder 2">
            <a:extLst xmlns:a="http://schemas.openxmlformats.org/drawingml/2006/main">
              <a:ext uri="{FF2B5EF4-FFF2-40B4-BE49-F238E27FC236}">
                <a16:creationId xmlns:a16="http://schemas.microsoft.com/office/drawing/2014/main" id="{96C93E13-C7DC-3114-7BCE-864CEB625E62}"/>
              </a:ext>
            </a:extLst>
          </p:cNvPr>
          <p:cNvSpPr>
            <a:spLocks xmlns:a="http://schemas.openxmlformats.org/drawingml/2006/main" noGrp="1"/>
          </p:cNvSpPr>
          <p:nvPr>
            <p:ph idx="1"/>
          </p:nvPr>
        </p:nvSpPr>
        <p:spPr>
          <a:xfrm xmlns:a="http://schemas.openxmlformats.org/drawingml/2006/main">
            <a:off x="1123950" y="1952625"/>
            <a:ext cx="9944100" cy="2952750"/>
          </a:xfrm>
        </p:spPr>
        <p:txBody>
          <a:bodyPr xmlns:a="http://schemas.openxmlformats.org/drawingml/2006/main" wrap="square" lIns="0" tIns="0" rIns="0" bIns="0" anchor="ctr">
            <a:normAutofit/>
          </a:bodyPr>
          <a:lstStyle xmlns:a="http://schemas.openxmlformats.org/drawingml/2006/main"/>
          <a:p xmlns:a="http://schemas.openxmlformats.org/drawingml/2006/main">
            <a:pPr algn="l">
              <a:buNone/>
              <a:defRPr sz="2550" b="0">
                <a:solidFill>
                  <a:srgbClr val="17232D"/>
                </a:solidFill>
                <a:latin typeface="Microsoft YaHei"/>
                <a:ea typeface="Microsoft YaHei"/>
                <a:cs typeface="Microsoft YaHei"/>
              </a:defRPr>
            </a:pPr>
            <a:r>
              <a:rPr sz="2700" b="1">
                <a:solidFill>
                  <a:srgbClr val="2B5D7E"/>
                </a:solidFill>
                <a:latin typeface="Microsoft YaHei"/>
                <a:ea typeface="Microsoft YaHei"/>
                <a:cs typeface="Microsoft YaHei"/>
              </a:rPr>
              <a:t>This is speculation</a:t>
            </a:r>
            <a:r>
              <a:t> because Nora relies on an </a:t>
            </a:r>
            <a:r>
              <a:rPr sz="2550" b="1">
                <a:solidFill>
                  <a:srgbClr val="2B5D7E"/>
                </a:solidFill>
                <a:latin typeface="Microsoft YaHei"/>
                <a:ea typeface="Microsoft YaHei"/>
                <a:cs typeface="Microsoft YaHei"/>
              </a:rPr>
              <a:t>unverified rumour</a:t>
            </a:r>
            <a:r>
              <a:t> and a </a:t>
            </a:r>
            <a:r>
              <a:rPr sz="2550" b="1">
                <a:solidFill>
                  <a:srgbClr val="2B5D7E"/>
                </a:solidFill>
                <a:latin typeface="Microsoft YaHei"/>
                <a:ea typeface="Microsoft YaHei"/>
                <a:cs typeface="Microsoft YaHei"/>
              </a:rPr>
              <a:t>predicted price change</a:t>
            </a:r>
            <a:r>
              <a:t>, not expected income or evidence about underlying value. Borrowing makes the </a:t>
            </a:r>
            <a:r>
              <a:rPr sz="2550" b="1">
                <a:solidFill>
                  <a:srgbClr val="F06C5B"/>
                </a:solidFill>
                <a:latin typeface="Microsoft YaHei"/>
                <a:ea typeface="Microsoft YaHei"/>
                <a:cs typeface="Microsoft YaHei"/>
              </a:rPr>
              <a:t>possible loss</a:t>
            </a:r>
            <a:r>
              <a:t> worse because the </a:t>
            </a:r>
            <a:r>
              <a:rPr sz="2550" b="1">
                <a:solidFill>
                  <a:srgbClr val="2B5D7E"/>
                </a:solidFill>
                <a:latin typeface="Microsoft YaHei"/>
                <a:ea typeface="Microsoft YaHei"/>
                <a:cs typeface="Microsoft YaHei"/>
              </a:rPr>
              <a:t>repayment obligation</a:t>
            </a:r>
            <a:r>
              <a:t> remains even if the share price falls.</a:t>
            </a:r>
          </a:p>
        </p:txBody>
      </p:sp>
    </p:spTree>
    <p:extLst>
      <p:ext uri="{BB962C8B-B14F-4D97-AF65-F5344CB8AC3E}">
        <p14:creationId xmlns:p14="http://schemas.microsoft.com/office/powerpoint/2010/main" val="1764574064"/>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2007 - 2010">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2026-09-03T03:39:08.8880000Z</dcterms:created>
  <dcterms:modified xsi:type="dcterms:W3CDTF">2026-09-03T03:39:08.8880000Z</dcterms:modified>
</coreProperties>
</file>