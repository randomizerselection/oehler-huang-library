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ee7c1244b741b1" /><Relationship Type="http://schemas.openxmlformats.org/officeDocument/2006/relationships/extended-properties" Target="/docProps/app.xml" Id="R8d7b64e41a4c46e4" /><Relationship Type="http://schemas.openxmlformats.org/officeDocument/2006/relationships/officeDocument" Target="/ppt/presentation.xml" Id="R0af33a4dbe6d45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a95694c6f54698"/>
  </p:sldMasterIdLst>
  <p:notesMasterIdLst>
    <p:notesMasterId xmlns:r="http://schemas.openxmlformats.org/officeDocument/2006/relationships" r:id="Re219412e72cf4c0f"/>
  </p:notesMasterIdLst>
  <p:sldIdLst>
    <p:sldId xmlns:r="http://schemas.openxmlformats.org/officeDocument/2006/relationships" id="256" r:id="R53787b742fe9450b"/>
    <p:sldId xmlns:r="http://schemas.openxmlformats.org/officeDocument/2006/relationships" id="257" r:id="R793ad90bb2734d7e"/>
    <p:sldId xmlns:r="http://schemas.openxmlformats.org/officeDocument/2006/relationships" id="258" r:id="R102f9cd5d2364765"/>
    <p:sldId xmlns:r="http://schemas.openxmlformats.org/officeDocument/2006/relationships" id="259" r:id="R2eba07b6b31d4727"/>
    <p:sldId xmlns:r="http://schemas.openxmlformats.org/officeDocument/2006/relationships" id="260" r:id="Rdf33ef0417334441"/>
    <p:sldId xmlns:r="http://schemas.openxmlformats.org/officeDocument/2006/relationships" id="261" r:id="Rb222e79fa5b44723"/>
    <p:sldId xmlns:r="http://schemas.openxmlformats.org/officeDocument/2006/relationships" id="262" r:id="R8fd6b03be5824a45"/>
    <p:sldId xmlns:r="http://schemas.openxmlformats.org/officeDocument/2006/relationships" id="263" r:id="R4909501725d648d5"/>
    <p:sldId xmlns:r="http://schemas.openxmlformats.org/officeDocument/2006/relationships" id="264" r:id="R146513a308244c6b"/>
    <p:sldId xmlns:r="http://schemas.openxmlformats.org/officeDocument/2006/relationships" id="265" r:id="R310cba3323324f61"/>
    <p:sldId xmlns:r="http://schemas.openxmlformats.org/officeDocument/2006/relationships" id="266" r:id="R336f0cbff2c0462e"/>
    <p:sldId xmlns:r="http://schemas.openxmlformats.org/officeDocument/2006/relationships" id="267" r:id="Rf2a4a0e697374d93"/>
    <p:sldId xmlns:r="http://schemas.openxmlformats.org/officeDocument/2006/relationships" id="268" r:id="R3e90e7baccc84735"/>
    <p:sldId xmlns:r="http://schemas.openxmlformats.org/officeDocument/2006/relationships" id="269" r:id="R779fac9d8b1e42f7"/>
    <p:sldId xmlns:r="http://schemas.openxmlformats.org/officeDocument/2006/relationships" id="270" r:id="Rc82a82405cb748fb"/>
    <p:sldId xmlns:r="http://schemas.openxmlformats.org/officeDocument/2006/relationships" id="271" r:id="Rc624bf78d037442c"/>
    <p:sldId xmlns:r="http://schemas.openxmlformats.org/officeDocument/2006/relationships" id="272" r:id="Rb08037e2e1394401"/>
    <p:sldId xmlns:r="http://schemas.openxmlformats.org/officeDocument/2006/relationships" id="273" r:id="R2ef5dd4aa8b94c22"/>
    <p:sldId xmlns:r="http://schemas.openxmlformats.org/officeDocument/2006/relationships" id="274" r:id="R51a8d41ecd834a7a"/>
    <p:sldId xmlns:r="http://schemas.openxmlformats.org/officeDocument/2006/relationships" id="275" r:id="R7c0511b00ca346d3"/>
    <p:sldId xmlns:r="http://schemas.openxmlformats.org/officeDocument/2006/relationships" id="276" r:id="R5c6171e2a791450b"/>
    <p:sldId xmlns:r="http://schemas.openxmlformats.org/officeDocument/2006/relationships" id="277" r:id="R4690283b79af4972"/>
    <p:sldId xmlns:r="http://schemas.openxmlformats.org/officeDocument/2006/relationships" id="278" r:id="R38e3f9c5eee04c3a"/>
    <p:sldId xmlns:r="http://schemas.openxmlformats.org/officeDocument/2006/relationships" id="279" r:id="R11a60d15676a47f6"/>
    <p:sldId xmlns:r="http://schemas.openxmlformats.org/officeDocument/2006/relationships" id="280" r:id="R9fd7b21338da4eeb"/>
    <p:sldId xmlns:r="http://schemas.openxmlformats.org/officeDocument/2006/relationships" id="281" r:id="R64a493e7ce0b4180"/>
    <p:sldId xmlns:r="http://schemas.openxmlformats.org/officeDocument/2006/relationships" id="282" r:id="R37a12566a0764df7"/>
    <p:sldId xmlns:r="http://schemas.openxmlformats.org/officeDocument/2006/relationships" id="283" r:id="R6443f9ae08bd4feb"/>
    <p:sldId xmlns:r="http://schemas.openxmlformats.org/officeDocument/2006/relationships" id="284" r:id="Rb992e26f9ba54a57"/>
    <p:sldId xmlns:r="http://schemas.openxmlformats.org/officeDocument/2006/relationships" id="285" r:id="R5f271872001746be"/>
    <p:sldId xmlns:r="http://schemas.openxmlformats.org/officeDocument/2006/relationships" id="286" r:id="R6ebbf797ed674aad"/>
    <p:sldId xmlns:r="http://schemas.openxmlformats.org/officeDocument/2006/relationships" id="287" r:id="R1e529ffd10c4460e"/>
    <p:sldId xmlns:r="http://schemas.openxmlformats.org/officeDocument/2006/relationships" id="288" r:id="Rf0b24e6835234b74"/>
    <p:sldId xmlns:r="http://schemas.openxmlformats.org/officeDocument/2006/relationships" id="289" r:id="Rd3267e2b04d94a57"/>
    <p:sldId xmlns:r="http://schemas.openxmlformats.org/officeDocument/2006/relationships" id="290" r:id="R9839b08460c94ec4"/>
    <p:sldId xmlns:r="http://schemas.openxmlformats.org/officeDocument/2006/relationships" id="291" r:id="Recedc479fd2b459f"/>
    <p:sldId xmlns:r="http://schemas.openxmlformats.org/officeDocument/2006/relationships" id="292" r:id="R035f805585c548ec"/>
    <p:sldId xmlns:r="http://schemas.openxmlformats.org/officeDocument/2006/relationships" id="293" r:id="R67760800b1a5465a"/>
    <p:sldId xmlns:r="http://schemas.openxmlformats.org/officeDocument/2006/relationships" id="294" r:id="R916c7970d9b04e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4818dd2e5a4177" /><Relationship Type="http://schemas.openxmlformats.org/officeDocument/2006/relationships/slideMaster" Target="/ppt/slideMasters/slideMaster1.xml" Id="Ra5a95694c6f54698" /><Relationship Type="http://schemas.openxmlformats.org/officeDocument/2006/relationships/notesMaster" Target="/ppt/notesMasters/notesMaster1.xml" Id="Re219412e72cf4c0f" /><Relationship Type="http://schemas.openxmlformats.org/officeDocument/2006/relationships/presProps" Target="/ppt/presProps.xml" Id="R49f74be9bc154608" /><Relationship Type="http://schemas.openxmlformats.org/officeDocument/2006/relationships/viewProps" Target="/ppt/viewProps.xml" Id="R4390bc2ca90a476d" /><Relationship Type="http://schemas.openxmlformats.org/officeDocument/2006/relationships/tableStyles" Target="/ppt/tableStyles.xml" Id="R1a530088d3e14586" /><Relationship Type="http://schemas.openxmlformats.org/officeDocument/2006/relationships/slide" Target="/ppt/slides/slide1.xml" Id="R53787b742fe9450b" /><Relationship Type="http://schemas.openxmlformats.org/officeDocument/2006/relationships/slide" Target="/ppt/slides/slide2.xml" Id="R793ad90bb2734d7e" /><Relationship Type="http://schemas.openxmlformats.org/officeDocument/2006/relationships/slide" Target="/ppt/slides/slide3.xml" Id="R102f9cd5d2364765" /><Relationship Type="http://schemas.openxmlformats.org/officeDocument/2006/relationships/slide" Target="/ppt/slides/slide4.xml" Id="R2eba07b6b31d4727" /><Relationship Type="http://schemas.openxmlformats.org/officeDocument/2006/relationships/slide" Target="/ppt/slides/slide5.xml" Id="Rdf33ef0417334441" /><Relationship Type="http://schemas.openxmlformats.org/officeDocument/2006/relationships/slide" Target="/ppt/slides/slide6.xml" Id="Rb222e79fa5b44723" /><Relationship Type="http://schemas.openxmlformats.org/officeDocument/2006/relationships/slide" Target="/ppt/slides/slide7.xml" Id="R8fd6b03be5824a45" /><Relationship Type="http://schemas.openxmlformats.org/officeDocument/2006/relationships/slide" Target="/ppt/slides/slide8.xml" Id="R4909501725d648d5" /><Relationship Type="http://schemas.openxmlformats.org/officeDocument/2006/relationships/slide" Target="/ppt/slides/slide9.xml" Id="R146513a308244c6b" /><Relationship Type="http://schemas.openxmlformats.org/officeDocument/2006/relationships/slide" Target="/ppt/slides/slide10.xml" Id="R310cba3323324f61" /><Relationship Type="http://schemas.openxmlformats.org/officeDocument/2006/relationships/slide" Target="/ppt/slides/slide11.xml" Id="R336f0cbff2c0462e" /><Relationship Type="http://schemas.openxmlformats.org/officeDocument/2006/relationships/slide" Target="/ppt/slides/slide12.xml" Id="Rf2a4a0e697374d93" /><Relationship Type="http://schemas.openxmlformats.org/officeDocument/2006/relationships/slide" Target="/ppt/slides/slide13.xml" Id="R3e90e7baccc84735" /><Relationship Type="http://schemas.openxmlformats.org/officeDocument/2006/relationships/slide" Target="/ppt/slides/slide14.xml" Id="R779fac9d8b1e42f7" /><Relationship Type="http://schemas.openxmlformats.org/officeDocument/2006/relationships/slide" Target="/ppt/slides/slide15.xml" Id="Rc82a82405cb748fb" /><Relationship Type="http://schemas.openxmlformats.org/officeDocument/2006/relationships/slide" Target="/ppt/slides/slide16.xml" Id="Rc624bf78d037442c" /><Relationship Type="http://schemas.openxmlformats.org/officeDocument/2006/relationships/slide" Target="/ppt/slides/slide17.xml" Id="Rb08037e2e1394401" /><Relationship Type="http://schemas.openxmlformats.org/officeDocument/2006/relationships/slide" Target="/ppt/slides/slide18.xml" Id="R2ef5dd4aa8b94c22" /><Relationship Type="http://schemas.openxmlformats.org/officeDocument/2006/relationships/slide" Target="/ppt/slides/slide19.xml" Id="R51a8d41ecd834a7a" /><Relationship Type="http://schemas.openxmlformats.org/officeDocument/2006/relationships/slide" Target="/ppt/slides/slide20.xml" Id="R7c0511b00ca346d3" /><Relationship Type="http://schemas.openxmlformats.org/officeDocument/2006/relationships/slide" Target="/ppt/slides/slide21.xml" Id="R5c6171e2a791450b" /><Relationship Type="http://schemas.openxmlformats.org/officeDocument/2006/relationships/slide" Target="/ppt/slides/slide22.xml" Id="R4690283b79af4972" /><Relationship Type="http://schemas.openxmlformats.org/officeDocument/2006/relationships/slide" Target="/ppt/slides/slide23.xml" Id="R38e3f9c5eee04c3a" /><Relationship Type="http://schemas.openxmlformats.org/officeDocument/2006/relationships/slide" Target="/ppt/slides/slide24.xml" Id="R11a60d15676a47f6" /><Relationship Type="http://schemas.openxmlformats.org/officeDocument/2006/relationships/slide" Target="/ppt/slides/slide25.xml" Id="R9fd7b21338da4eeb" /><Relationship Type="http://schemas.openxmlformats.org/officeDocument/2006/relationships/slide" Target="/ppt/slides/slide26.xml" Id="R64a493e7ce0b4180" /><Relationship Type="http://schemas.openxmlformats.org/officeDocument/2006/relationships/slide" Target="/ppt/slides/slide27.xml" Id="R37a12566a0764df7" /><Relationship Type="http://schemas.openxmlformats.org/officeDocument/2006/relationships/slide" Target="/ppt/slides/slide28.xml" Id="R6443f9ae08bd4feb" /><Relationship Type="http://schemas.openxmlformats.org/officeDocument/2006/relationships/slide" Target="/ppt/slides/slide29.xml" Id="Rb992e26f9ba54a57" /><Relationship Type="http://schemas.openxmlformats.org/officeDocument/2006/relationships/slide" Target="/ppt/slides/slide30.xml" Id="R5f271872001746be" /><Relationship Type="http://schemas.openxmlformats.org/officeDocument/2006/relationships/slide" Target="/ppt/slides/slide31.xml" Id="R6ebbf797ed674aad" /><Relationship Type="http://schemas.openxmlformats.org/officeDocument/2006/relationships/slide" Target="/ppt/slides/slide32.xml" Id="R1e529ffd10c4460e" /><Relationship Type="http://schemas.openxmlformats.org/officeDocument/2006/relationships/slide" Target="/ppt/slides/slide33.xml" Id="Rf0b24e6835234b74" /><Relationship Type="http://schemas.openxmlformats.org/officeDocument/2006/relationships/slide" Target="/ppt/slides/slide34.xml" Id="Rd3267e2b04d94a57" /><Relationship Type="http://schemas.openxmlformats.org/officeDocument/2006/relationships/slide" Target="/ppt/slides/slide35.xml" Id="R9839b08460c94ec4" /><Relationship Type="http://schemas.openxmlformats.org/officeDocument/2006/relationships/slide" Target="/ppt/slides/slide36.xml" Id="Recedc479fd2b459f" /><Relationship Type="http://schemas.openxmlformats.org/officeDocument/2006/relationships/slide" Target="/ppt/slides/slide37.xml" Id="R035f805585c548ec" /><Relationship Type="http://schemas.openxmlformats.org/officeDocument/2006/relationships/slide" Target="/ppt/slides/slide38.xml" Id="R67760800b1a5465a" /><Relationship Type="http://schemas.openxmlformats.org/officeDocument/2006/relationships/slide" Target="/ppt/slides/slide39.xml" Id="R916c7970d9b04e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a0eb45547146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a038d653454860" /><Relationship Type="http://schemas.openxmlformats.org/officeDocument/2006/relationships/notesMaster" Target="/ppt/notesMasters/notesMaster1.xml" Id="R53fe9ad75d154b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5a29a070274c8f" /><Relationship Type="http://schemas.openxmlformats.org/officeDocument/2006/relationships/notesMaster" Target="/ppt/notesMasters/notesMaster1.xml" Id="Rfdecef41940542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9a287bd8eb45fc" /><Relationship Type="http://schemas.openxmlformats.org/officeDocument/2006/relationships/notesMaster" Target="/ppt/notesMasters/notesMaster1.xml" Id="R6ccb1ad19e3646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061bcbc71f4db7" /><Relationship Type="http://schemas.openxmlformats.org/officeDocument/2006/relationships/notesMaster" Target="/ppt/notesMasters/notesMaster1.xml" Id="R7d486c52535f42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ea6fcac2a548a0" /><Relationship Type="http://schemas.openxmlformats.org/officeDocument/2006/relationships/notesMaster" Target="/ppt/notesMasters/notesMaster1.xml" Id="R59a6f845953f45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d6f8e15738419a" /><Relationship Type="http://schemas.openxmlformats.org/officeDocument/2006/relationships/notesMaster" Target="/ppt/notesMasters/notesMaster1.xml" Id="R546d9388b9304b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74c48c71f840ca" /><Relationship Type="http://schemas.openxmlformats.org/officeDocument/2006/relationships/notesMaster" Target="/ppt/notesMasters/notesMaster1.xml" Id="R0e865dbbb0904e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dc4c1cf40f466c" /><Relationship Type="http://schemas.openxmlformats.org/officeDocument/2006/relationships/notesMaster" Target="/ppt/notesMasters/notesMaster1.xml" Id="R211fe900beb946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0c9a63abce4c1f" /><Relationship Type="http://schemas.openxmlformats.org/officeDocument/2006/relationships/notesMaster" Target="/ppt/notesMasters/notesMaster1.xml" Id="Rd712629fcd2540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623033fda44c49" /><Relationship Type="http://schemas.openxmlformats.org/officeDocument/2006/relationships/notesMaster" Target="/ppt/notesMasters/notesMaster1.xml" Id="R9d3935b47df04c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527920dab34d68" /><Relationship Type="http://schemas.openxmlformats.org/officeDocument/2006/relationships/notesMaster" Target="/ppt/notesMasters/notesMaster1.xml" Id="R6b68a3cdf55e41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5bdf428f9d473a" /><Relationship Type="http://schemas.openxmlformats.org/officeDocument/2006/relationships/notesMaster" Target="/ppt/notesMasters/notesMaster1.xml" Id="R92e714cfe6074e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00e76619014cfd" /><Relationship Type="http://schemas.openxmlformats.org/officeDocument/2006/relationships/notesMaster" Target="/ppt/notesMasters/notesMaster1.xml" Id="R997ecbef32494db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c2d0d704a743c9" /><Relationship Type="http://schemas.openxmlformats.org/officeDocument/2006/relationships/notesMaster" Target="/ppt/notesMasters/notesMaster1.xml" Id="R3e105c60a0e34f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de9c873458d4c8f" /><Relationship Type="http://schemas.openxmlformats.org/officeDocument/2006/relationships/notesMaster" Target="/ppt/notesMasters/notesMaster1.xml" Id="R713e78e95e4a4b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c0fd7520b264071" /><Relationship Type="http://schemas.openxmlformats.org/officeDocument/2006/relationships/notesMaster" Target="/ppt/notesMasters/notesMaster1.xml" Id="R88fb4402fbd14a7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78f9030923347d3" /><Relationship Type="http://schemas.openxmlformats.org/officeDocument/2006/relationships/notesMaster" Target="/ppt/notesMasters/notesMaster1.xml" Id="R22009d8c86e548c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feab945a68340e0" /><Relationship Type="http://schemas.openxmlformats.org/officeDocument/2006/relationships/notesMaster" Target="/ppt/notesMasters/notesMaster1.xml" Id="R22cf51f3df3d41f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944ca5aec9d4f58" /><Relationship Type="http://schemas.openxmlformats.org/officeDocument/2006/relationships/notesMaster" Target="/ppt/notesMasters/notesMaster1.xml" Id="Rfa64c2710bbb4bd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20d78253a05464e" /><Relationship Type="http://schemas.openxmlformats.org/officeDocument/2006/relationships/notesMaster" Target="/ppt/notesMasters/notesMaster1.xml" Id="R9a5ad8096fcd422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84d6a9058944bb7" /><Relationship Type="http://schemas.openxmlformats.org/officeDocument/2006/relationships/notesMaster" Target="/ppt/notesMasters/notesMaster1.xml" Id="R0e43d83a34ad4c3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1e3c7082c5340b5" /><Relationship Type="http://schemas.openxmlformats.org/officeDocument/2006/relationships/notesMaster" Target="/ppt/notesMasters/notesMaster1.xml" Id="R098829ff536f426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c4991734bb642a5" /><Relationship Type="http://schemas.openxmlformats.org/officeDocument/2006/relationships/notesMaster" Target="/ppt/notesMasters/notesMaster1.xml" Id="R5cce774df6544ee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9960c24b2a94f67" /><Relationship Type="http://schemas.openxmlformats.org/officeDocument/2006/relationships/notesMaster" Target="/ppt/notesMasters/notesMaster1.xml" Id="Raff5def444d94b6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b43701d5c2f479a" /><Relationship Type="http://schemas.openxmlformats.org/officeDocument/2006/relationships/notesMaster" Target="/ppt/notesMasters/notesMaster1.xml" Id="Rf21320c101c4441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a803be554f744ec" /><Relationship Type="http://schemas.openxmlformats.org/officeDocument/2006/relationships/notesMaster" Target="/ppt/notesMasters/notesMaster1.xml" Id="R92875024bfec413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e71af7662614b54" /><Relationship Type="http://schemas.openxmlformats.org/officeDocument/2006/relationships/notesMaster" Target="/ppt/notesMasters/notesMaster1.xml" Id="Rf8f1e446b7454e5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b9b57fe62c64f4d" /><Relationship Type="http://schemas.openxmlformats.org/officeDocument/2006/relationships/notesMaster" Target="/ppt/notesMasters/notesMaster1.xml" Id="R42bc9c005d3545f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06ccf0761184a78" /><Relationship Type="http://schemas.openxmlformats.org/officeDocument/2006/relationships/notesMaster" Target="/ppt/notesMasters/notesMaster1.xml" Id="R84b553fde3f64cb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76fd127d6774788" /><Relationship Type="http://schemas.openxmlformats.org/officeDocument/2006/relationships/notesMaster" Target="/ppt/notesMasters/notesMaster1.xml" Id="Re40a421342d5422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79d4a967ca44d57" /><Relationship Type="http://schemas.openxmlformats.org/officeDocument/2006/relationships/notesMaster" Target="/ppt/notesMasters/notesMaster1.xml" Id="Rcc552e607d574df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a26e58f575b4a13" /><Relationship Type="http://schemas.openxmlformats.org/officeDocument/2006/relationships/notesMaster" Target="/ppt/notesMasters/notesMaster1.xml" Id="Rbda734e89d024a0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292b25b73f4444e" /><Relationship Type="http://schemas.openxmlformats.org/officeDocument/2006/relationships/notesMaster" Target="/ppt/notesMasters/notesMaster1.xml" Id="R2f2e8b2958ed4f4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cae3e5851634eac" /><Relationship Type="http://schemas.openxmlformats.org/officeDocument/2006/relationships/notesMaster" Target="/ppt/notesMasters/notesMaster1.xml" Id="R3b92ee640f59483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f3656883cc94d85" /><Relationship Type="http://schemas.openxmlformats.org/officeDocument/2006/relationships/notesMaster" Target="/ppt/notesMasters/notesMaster1.xml" Id="R32a45ded578f49b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fe5e0d56de24908" /><Relationship Type="http://schemas.openxmlformats.org/officeDocument/2006/relationships/notesMaster" Target="/ppt/notesMasters/notesMaster1.xml" Id="R1bcb6cd50c9a4be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adc299207a3405a" /><Relationship Type="http://schemas.openxmlformats.org/officeDocument/2006/relationships/notesMaster" Target="/ppt/notesMasters/notesMaster1.xml" Id="R0054ee81934d4fe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a593e69754a4510" /><Relationship Type="http://schemas.openxmlformats.org/officeDocument/2006/relationships/notesMaster" Target="/ppt/notesMasters/notesMaster1.xml" Id="R47130c354d3c4c4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a6ceff221c04a8d" /><Relationship Type="http://schemas.openxmlformats.org/officeDocument/2006/relationships/notesMaster" Target="/ppt/notesMasters/notesMaster1.xml" Id="R0b8ec8ddfc4a4a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lesson-title</a:t>
            </a:r>
          </a:p>
          <a:p xmlns:a="http://schemas.openxmlformats.org/drawingml/2006/main">
            <a:r>
              <a:t>Teaching note: Frame the lesson as measurement, not prediction.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Pexels photograph by Jakub Zerdzicki: https://www.pexels.com/photo/stock-market-analysis-with-calculator-in-office-36755617/ (Pexels License).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opening-dilemma</a:t>
            </a:r>
          </a:p>
          <a:p xmlns:a="http://schemas.openxmlformats.org/drawingml/2006/main">
            <a:r>
              <a:t>Teaching note: Students choose A, B or insufficient information and give one reason before any formula is taught. Chinese prompt: 投资A赚200元，投资B赚600元。哪个表现更好？</a:t>
            </a:r>
          </a:p>
          <a:p xmlns:a="http://schemas.openxmlformats.org/drawingml/2006/main">
            <a:r>
              <a:t>Answer cue: Insufficient information: compare each return with its starting amount and stated period.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Pexels photograph by AlphaTradeZone: https://www.pexels.com/photo/a-hand-pointing-the-crypto-graph-on-the-table-while-the-person-beside-him-is-writing-on-a-notebook-5833301/ (Pexels License).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lesson-roadmap</a:t>
            </a:r>
          </a:p>
          <a:p xmlns:a="http://schemas.openxmlformats.org/drawingml/2006/main">
            <a:r>
              <a:t>Teaching note: Read the three objectives as the lesson roadmap.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section-total-return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retrieve-return-sources</a:t>
            </a:r>
          </a:p>
          <a:p xmlns:a="http://schemas.openxmlformats.org/drawingml/2006/main">
            <a:r>
              <a:t>Teaching note: Give 30 seconds of silent recall, then take two examples.</a:t>
            </a:r>
          </a:p>
          <a:p xmlns:a="http://schemas.openxmlformats.org/drawingml/2006/main">
            <a:r>
              <a:t>Answer cue: Capital gain or loss plus income; yes, a capital loss can exceed income.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retrieve-return-sources-answer</a:t>
            </a:r>
          </a:p>
          <a:p xmlns:a="http://schemas.openxmlformats.org/drawingml/2006/main">
            <a:r>
              <a:t>Teaching note: Reveal after all students have attempted slide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define-total-return</a:t>
            </a:r>
          </a:p>
          <a:p xmlns:a="http://schemas.openxmlformats.org/drawingml/2006/main">
            <a:r>
              <a:t>Teaching note: Point to value change and income in each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return-evidence-visual</a:t>
            </a:r>
          </a:p>
          <a:p xmlns:a="http://schemas.openxmlformats.org/drawingml/2006/main">
            <a:r>
              <a:t>Teaching note: Use the calculator and report as a bridge from the idea of return to a reproducible calculation.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Pexels photograph by RDNE Stock project: https://www.pexels.com/photo/notebook-and-calculator-and-magnifier-on-graph-7947746/ (Pexels License).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build-total-return-formula</a:t>
            </a:r>
          </a:p>
          <a:p xmlns:a="http://schemas.openxmlformats.org/drawingml/2006/main">
            <a:r>
              <a:t>Teaching note: Students copy both formulas and underline the plus-income term.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worked-total-return</a:t>
            </a:r>
          </a:p>
          <a:p xmlns:a="http://schemas.openxmlformats.org/drawingml/2006/main">
            <a:r>
              <a:t>Teaching note: Model formula, substitution, answer and interpretation in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try-total-return</a:t>
            </a:r>
          </a:p>
          <a:p xmlns:a="http://schemas.openxmlformats.org/drawingml/2006/main">
            <a:r>
              <a:t>Teaching note: Give 60 seconds before slide 12.</a:t>
            </a:r>
          </a:p>
          <a:p xmlns:a="http://schemas.openxmlformats.org/drawingml/2006/main">
            <a:r>
              <a:t>Answer cue: CNY 300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try-total-return-answer</a:t>
            </a:r>
          </a:p>
          <a:p xmlns:a="http://schemas.openxmlformats.org/drawingml/2006/main">
            <a:r>
              <a:t>Teaching note: Reveal after students compare their substitution.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section-calculate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calculation-method</a:t>
            </a:r>
          </a:p>
          <a:p xmlns:a="http://schemas.openxmlformats.org/drawingml/2006/main">
            <a:r>
              <a:t>Teaching note: Require the four method headings in every worked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practice-capital-gain</a:t>
            </a:r>
          </a:p>
          <a:p xmlns:a="http://schemas.openxmlformats.org/drawingml/2006/main">
            <a:r>
              <a:t>Teaching note: Students work independently for 75 seconds.</a:t>
            </a:r>
          </a:p>
          <a:p xmlns:a="http://schemas.openxmlformats.org/drawingml/2006/main">
            <a:r>
              <a:t>Answer cue: CNY 300 and 10%.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practice-capital-gain-answer</a:t>
            </a:r>
          </a:p>
          <a:p xmlns:a="http://schemas.openxmlformats.org/drawingml/2006/main">
            <a:r>
              <a:t>Teaching note: Trace the four-step method visibly.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practice-capital-loss</a:t>
            </a:r>
          </a:p>
          <a:p xmlns:a="http://schemas.openxmlformats.org/drawingml/2006/main">
            <a:r>
              <a:t>Teaching note: Check that students subtract before adding income.</a:t>
            </a:r>
          </a:p>
          <a:p xmlns:a="http://schemas.openxmlformats.org/drawingml/2006/main">
            <a:r>
              <a:t>Answer cue: CNY −300 and -6%.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practice-capital-loss-answer</a:t>
            </a:r>
          </a:p>
          <a:p xmlns:a="http://schemas.openxmlformats.org/drawingml/2006/main">
            <a:r>
              <a:t>Teaching note: Emphasise that income can reduce a loss without eliminating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classify-return-items</a:t>
            </a:r>
          </a:p>
          <a:p xmlns:a="http://schemas.openxmlformats.org/drawingml/2006/main">
            <a:r>
              <a:t>Teaching note: Students sort first; reveal on slide 20.</a:t>
            </a:r>
          </a:p>
          <a:p xmlns:a="http://schemas.openxmlformats.org/drawingml/2006/main">
            <a:r>
              <a:t>Answer cue: 1 income; 2 capital gain; 3 new cash flow; 4 capital loss; 5 income.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classify-return-items-answer</a:t>
            </a:r>
          </a:p>
          <a:p xmlns:a="http://schemas.openxmlformats.org/drawingml/2006/main">
            <a:r>
              <a:t>Teaching note: Ask which misclassification would overstate return.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hinge-check</a:t>
            </a:r>
          </a:p>
          <a:p xmlns:a="http://schemas.openxmlformats.org/drawingml/2006/main">
            <a:r>
              <a:t>Teaching note: Use responses to decide whether to reteach the plus-income term.</a:t>
            </a:r>
          </a:p>
          <a:p xmlns:a="http://schemas.openxmlformats.org/drawingml/2006/main">
            <a:r>
              <a:t>Answer cue: B, 12%.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hinge-check-answer</a:t>
            </a:r>
          </a:p>
          <a:p xmlns:a="http://schemas.openxmlformats.org/drawingml/2006/main">
            <a:r>
              <a:t>Teaching note: If many students chose 10%, repeat one income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section-compare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amount-versus-percentage</a:t>
            </a:r>
          </a:p>
          <a:p xmlns:a="http://schemas.openxmlformats.org/drawingml/2006/main">
            <a:r>
              <a:t>Teaching note: Ask which metric answers who earned more money and which compares performance relative to size.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opening-data-reveal</a:t>
            </a:r>
          </a:p>
          <a:p xmlns:a="http://schemas.openxmlformats.org/drawingml/2006/main">
            <a:r>
              <a:t>Teaching note: Return to the opening vote and allow students to revise.</a:t>
            </a:r>
          </a:p>
          <a:p xmlns:a="http://schemas.openxmlformats.org/drawingml/2006/main">
            <a:r>
              <a:t>Answer cue: A: 10%; B: 6%; A performed better in percentage terms, while B earned more CNY.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opening-data-reveal-answer</a:t>
            </a:r>
          </a:p>
          <a:p xmlns:a="http://schemas.openxmlformats.org/drawingml/2006/main">
            <a:r>
              <a:t>Teaching note: Accept both money and percentage statements only when the metric is named.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paired-comparison</a:t>
            </a:r>
          </a:p>
          <a:p xmlns:a="http://schemas.openxmlformats.org/drawingml/2006/main">
            <a:r>
              <a:t>Teaching note: Partners must agree on the conclusion and the evidence.</a:t>
            </a:r>
          </a:p>
          <a:p xmlns:a="http://schemas.openxmlformats.org/drawingml/2006/main">
            <a:r>
              <a:t>Answer cue: C: CNY 400, 10%; D: CNY 560, 7%; C performed better in percentage terms.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paired-comparison-answer</a:t>
            </a:r>
          </a:p>
          <a:p xmlns:a="http://schemas.openxmlformats.org/drawingml/2006/main">
            <a:r>
              <a:t>Teaching note: Underline the named metric and matched period.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smg-return-record</a:t>
            </a:r>
          </a:p>
          <a:p xmlns:a="http://schemas.openxmlformats.org/drawingml/2006/main">
            <a:r>
              <a:t>Teaching note: The evidence action establishes a consistent return record; it does not encourage short-term trading.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Pexels photograph by Jakub Zerdzicki: https://www.pexels.com/photo/man-taking-notes-with-stock-market-data-on-screen-36633860/ (Pexels License).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section-check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mcq-1</a:t>
            </a:r>
          </a:p>
          <a:p xmlns:a="http://schemas.openxmlformats.org/drawingml/2006/main">
            <a:r>
              <a:t>Teaching note: Take a vote, then ask one student to show the decisive evidence.</a:t>
            </a:r>
            <a:endParaRPr/>
          </a:p>
          <a:p xmlns:a="http://schemas.openxmlformats.org/drawingml/2006/main">
            <a:r>
              <a:t>Answer cue: B — 12%.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mcq-2</a:t>
            </a:r>
          </a:p>
          <a:p xmlns:a="http://schemas.openxmlformats.org/drawingml/2006/main">
            <a:r>
              <a:t>Teaching note: Take a vote, then ask one student to show the decisive evidence.</a:t>
            </a:r>
            <a:endParaRPr/>
          </a:p>
          <a:p xmlns:a="http://schemas.openxmlformats.org/drawingml/2006/main">
            <a:r>
              <a:t>Answer cue: C — a CNY 200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mcq-3</a:t>
            </a:r>
          </a:p>
          <a:p xmlns:a="http://schemas.openxmlformats.org/drawingml/2006/main">
            <a:r>
              <a:t>Teaching note: Take a vote, then ask one student to show the decisive evidence.</a:t>
            </a:r>
            <a:endParaRPr/>
          </a:p>
          <a:p xmlns:a="http://schemas.openxmlformats.org/drawingml/2006/main">
            <a:r>
              <a:t>Answer cue: A — 10% is higher than 5% over the same period.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mcq-4</a:t>
            </a:r>
          </a:p>
          <a:p xmlns:a="http://schemas.openxmlformats.org/drawingml/2006/main">
            <a:r>
              <a:t>Teaching note: Take a vote, then ask one student to show the decisive evidence.</a:t>
            </a:r>
            <a:endParaRPr/>
          </a:p>
          <a:p xmlns:a="http://schemas.openxmlformats.org/drawingml/2006/main">
            <a:r>
              <a:t>Answer cue: C — a new deposit is a cash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mcq-5</a:t>
            </a:r>
          </a:p>
          <a:p xmlns:a="http://schemas.openxmlformats.org/drawingml/2006/main">
            <a:r>
              <a:t>Teaching note: Take a vote, then ask one student to show the decisive evidence.</a:t>
            </a:r>
            <a:endParaRPr/>
          </a:p>
          <a:p xmlns:a="http://schemas.openxmlformats.org/drawingml/2006/main">
            <a:r>
              <a:t>Answer cue: A — a loss relative to starting value over the stated period.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short-answer-calculation</a:t>
            </a:r>
          </a:p>
          <a:p xmlns:a="http://schemas.openxmlformats.org/drawingml/2006/main">
            <a:r>
              <a:t>Teaching note: Give 90 seconds of individual writing.</a:t>
            </a:r>
          </a:p>
          <a:p xmlns:a="http://schemas.openxmlformats.org/drawingml/2006/main">
            <a:r>
              <a:t>Answer cue: CNY 800 and 10%.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short-answer-calculation-model</a:t>
            </a:r>
          </a:p>
          <a:p xmlns:a="http://schemas.openxmlformats.org/drawingml/2006/main">
            <a:r>
              <a:t>Teaching note: Reveal after students exchange and check the four required parts.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individual-exit-comparison</a:t>
            </a:r>
          </a:p>
          <a:p xmlns:a="http://schemas.openxmlformats.org/drawingml/2006/main">
            <a:r>
              <a:t>Teaching note: Collect every student's answer before showing slide 39.</a:t>
            </a:r>
          </a:p>
          <a:p xmlns:a="http://schemas.openxmlformats.org/drawingml/2006/main">
            <a:r>
              <a:t>Answer cue: A: 10%; B: 6%; A performed better relative to starting amount; B earned more CNY.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individual-exit-comparison-model</a:t>
            </a:r>
          </a:p>
          <a:p xmlns:a="http://schemas.openxmlformats.org/drawingml/2006/main">
            <a:r>
              <a:t>Teaching note: Close by comparing this evidence-based judgement with the opening vote.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objectives, formula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Design and pacing reference: C:\Users\oehle\.codex\skills\artifact-template-investment-course-lesson-deck-v6\assets\reference.pptx</a:t>
            </a:r>
          </a:p>
          <a:p xmlns:a="http://schemas.openxmlformats.org/drawingml/2006/main">
            <a:r>
              <a:t>- Mock-data note: all named cases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b80d283ddb46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cb777012d143fd" /><Relationship Type="http://schemas.openxmlformats.org/officeDocument/2006/relationships/image" Target="/ppt/media/image.png" Id="R2fd0ef9a976848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c90490d3ef491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7ccb8cc421422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f0cd6f62ab497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78558cb09041f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750993c3dd414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98a4c574b0461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77cf96b9c64d4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3f97248de2405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fa37ad9e55409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35fbb72caf403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fd73c9ca1d4a5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740C31-A7E6-CF6F-6C74-398A96ED896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14258B1-786C-CCDE-E680-48165EEA15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AEB133B-4E15-ECE7-D9A7-3CFA443315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2026.09.02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2FE4D9C-58CB-8113-DFC3-F45C05B8C6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4AB8E9-4CBA-44A4-995B-F8B448F130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Slide divider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0ef9a976848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FD13574-9FF2-05FE-AD13-4D425480CF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8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E93A917-7F2A-87D3-3B91-040590C662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9/2/2026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332E39A-7264-3AD7-D1FB-3858886B99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D6F412A-15E8-97C8-8EF2-06E72F2C20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639949-CD78-E643-0AAD-859E09FDD0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40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2A8F88A-00F8-FABD-6623-7925E9E14C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2E1F7E2-A114-EA69-8513-1075CA7750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2026.09.02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B9A6A31-52B9-93FA-BFD3-A1AFDA93EE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1B0C23-1B47-BE09-9A93-F060C7A12D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1419C6-2CAE-566B-B33F-F3A6EA06CE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ADA953B-4D3B-D56E-B9D8-F62A934DC1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64FA94B-1175-F7C9-B2E9-1ADDBF4C6C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2026.09.02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FEE77B-5F23-75ED-FE40-7877CD43F1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551DF6-61B4-3433-1503-1257F0935C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189D28-4BBA-6A41-F0CD-E00915C08F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BC85A29-ED15-2702-3077-3660312DC99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E1BF950-9049-EE20-5B7F-B28BF7739D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0A14AD9-934F-5C6D-BEF8-5F1812876C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2026.09.02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016DC94-16E8-4028-B91C-E0793D8AC2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4C2C6C0-E46F-838C-2235-BB949C2CD4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9987481-28C9-36B8-BB5A-A48EB5BFE6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3935DB-018C-2AC2-55DD-4618F60DB9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5D95862-0413-B47F-5EA6-F8C658133FB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8CE1305-8D0D-E5C7-E787-20ACC29B3D9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3188980-E579-DEE1-5828-BCDCC6AD1C4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029A561-CCB2-1174-F947-83A5BAC81C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2026.09.02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7B90D5B-48EB-6D16-19FF-B121C98D94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AB32215-F36B-8982-15B3-9ADF1B1253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D0C8A60-5317-9D60-55E0-A5C712D22E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21AB46B-BEB8-0075-E4F0-FFD4DAB9FE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2026.09.02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9ED68B8-2C17-DB9F-98CA-7774C21DCA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251ADF9-B6D2-3B08-0067-5D70FA2D53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259CB8C-5882-D7F9-0C5F-5CAE7BB8CB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2026.09.02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C5A38BF-916A-394C-A009-EA8384497D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01AC420-6534-BA75-9579-11901021DA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54C0B0-D4EF-8BE0-3D87-434572F0D2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DEB04DA-348F-0CA0-3EB3-6B5B5E66D3F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A024A34-06D8-8410-DAA7-584D665414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1C790C3-85ED-A42A-E800-B96767E89D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2026.09.02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FC8CE1A-3A99-4FA9-0273-D6593A0C72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825D52D-C5CB-071F-A944-F988937724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9A96CC-38AC-1EF5-648E-E7F422D731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D0507D7-2DF6-FAC2-D4BB-A4AB3244AF0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FBF6656-6D39-2FD8-5252-482351FF6B4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0CA16A1-82B5-DA65-7D5C-1071657EA5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2026.09.02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2523671-72F7-98E8-B10C-E2B3321B3C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A0913F0-CB9B-234C-E784-84F1D5C9D9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757AC8-A107-6BEF-E21C-C9F2BB83AE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E64E386-D025-1C80-A103-5968FBBCBA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92B3C2C-FD10-2FF9-27A8-1744C93C66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2026.09.02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BEEF54-8ADC-991C-7D9C-C7C12EA43B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079658-DCDC-95B9-20D6-1ACA48D1B1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99EDAE0-532D-25E1-1EA2-CA7D31C2BB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C223E2A-A142-D64E-7901-D79B21152B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3DD5A47-47AF-2E22-3F5F-00D8029CCB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2026.09.02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C6E2697-B3A1-C43C-9380-7183DFA939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5D8AFB7-62EB-363B-3021-3BA01BEEB6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userDrawn="1">
  <p:cSld name="Custom Layout">
    <p:bg>
      <p:bgPr>
        <a:solidFill xmlns:a="http://schemas.openxmlformats.org/drawingml/2006/main">
          <a:schemeClr val="accent2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6C06A0-D6B8-2953-A94F-665DA5DB16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40590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54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515F6CC-54C4-ED8E-E344-8B4767DF3E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5C897A-756B-4347-B7BE-67F9F8184678}" type="datetimeFigureOut">
              <a:t>9/2/2026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104274F-129A-D1C3-73AA-C6E23710C2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A8DD721-84DE-27D7-7382-79508FAC66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729BF1-177A-1916-2FC6-8292FF90A1E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2973659"/>
            <a:ext cx="10515600" cy="320330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62543fb3ec4dbb" /><Relationship Type="http://schemas.openxmlformats.org/officeDocument/2006/relationships/slideLayout" Target="/ppt/slideLayouts/slideLayout1.xml" Id="Rb9c2d53b5e384b78" /><Relationship Type="http://schemas.openxmlformats.org/officeDocument/2006/relationships/slideLayout" Target="/ppt/slideLayouts/slideLayout2.xml" Id="Rb384c62c7a2c453e" /><Relationship Type="http://schemas.openxmlformats.org/officeDocument/2006/relationships/slideLayout" Target="/ppt/slideLayouts/slideLayout3.xml" Id="Rfe297b5b8e344aae" /><Relationship Type="http://schemas.openxmlformats.org/officeDocument/2006/relationships/slideLayout" Target="/ppt/slideLayouts/slideLayout4.xml" Id="Raa6dd23db86d4938" /><Relationship Type="http://schemas.openxmlformats.org/officeDocument/2006/relationships/slideLayout" Target="/ppt/slideLayouts/slideLayout5.xml" Id="R4f67a6494bd14287" /><Relationship Type="http://schemas.openxmlformats.org/officeDocument/2006/relationships/slideLayout" Target="/ppt/slideLayouts/slideLayout6.xml" Id="Rd404f513fbdb4966" /><Relationship Type="http://schemas.openxmlformats.org/officeDocument/2006/relationships/slideLayout" Target="/ppt/slideLayouts/slideLayout7.xml" Id="R14c93d4c7a424f67" /><Relationship Type="http://schemas.openxmlformats.org/officeDocument/2006/relationships/slideLayout" Target="/ppt/slideLayouts/slideLayout8.xml" Id="R0960094aa802491f" /><Relationship Type="http://schemas.openxmlformats.org/officeDocument/2006/relationships/slideLayout" Target="/ppt/slideLayouts/slideLayout9.xml" Id="R9a9026683eec4e31" /><Relationship Type="http://schemas.openxmlformats.org/officeDocument/2006/relationships/slideLayout" Target="/ppt/slideLayouts/slideLayout10.xml" Id="Rbbb3817e14344208" /><Relationship Type="http://schemas.openxmlformats.org/officeDocument/2006/relationships/slideLayout" Target="/ppt/slideLayouts/slideLayout11.xml" Id="Rc71e03286f3c462e" /><Relationship Type="http://schemas.openxmlformats.org/officeDocument/2006/relationships/slideLayout" Target="/ppt/slideLayouts/slideLayout12.xml" Id="R75e60171857641aa" /><Relationship Type="http://schemas.openxmlformats.org/officeDocument/2006/relationships/slideLayout" Target="/ppt/slideLayouts/slideLayout13.xml" Id="R29a526f4d25e4d5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6D20DC8-DCE3-A103-1D88-A82751FCCC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9BB9AD6-1C43-4F75-D382-EAEFBD03A2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504F01-46CE-D06D-2D4D-3BA090E33CD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215C897A-756B-4347-B7BE-67F9F8184678}" type="datetimeFigureOut">
              <a:t>2026.09.02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6A5B816-E33A-EA33-5019-C0C206A326D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0F2935-C73C-9292-EF27-B601E8004AB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B125C1BC-A9EE-43B2-941F-41C98DCEFBE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c2d53b5e384b78"/>
    <p:sldLayoutId xmlns:r="http://schemas.openxmlformats.org/officeDocument/2006/relationships" id="2147483650" r:id="Rb384c62c7a2c453e"/>
    <p:sldLayoutId xmlns:r="http://schemas.openxmlformats.org/officeDocument/2006/relationships" id="2147483651" r:id="Rfe297b5b8e344aae"/>
    <p:sldLayoutId xmlns:r="http://schemas.openxmlformats.org/officeDocument/2006/relationships" id="2147483652" r:id="Raa6dd23db86d4938"/>
    <p:sldLayoutId xmlns:r="http://schemas.openxmlformats.org/officeDocument/2006/relationships" id="2147483653" r:id="R4f67a6494bd14287"/>
    <p:sldLayoutId xmlns:r="http://schemas.openxmlformats.org/officeDocument/2006/relationships" id="2147483654" r:id="Rd404f513fbdb4966"/>
    <p:sldLayoutId xmlns:r="http://schemas.openxmlformats.org/officeDocument/2006/relationships" id="2147483655" r:id="R14c93d4c7a424f67"/>
    <p:sldLayoutId xmlns:r="http://schemas.openxmlformats.org/officeDocument/2006/relationships" id="2147483656" r:id="R0960094aa802491f"/>
    <p:sldLayoutId xmlns:r="http://schemas.openxmlformats.org/officeDocument/2006/relationships" id="2147483657" r:id="R9a9026683eec4e31"/>
    <p:sldLayoutId xmlns:r="http://schemas.openxmlformats.org/officeDocument/2006/relationships" id="2147483658" r:id="Rbbb3817e14344208"/>
    <p:sldLayoutId xmlns:r="http://schemas.openxmlformats.org/officeDocument/2006/relationships" id="2147483659" r:id="Rc71e03286f3c462e"/>
    <p:sldLayoutId xmlns:r="http://schemas.openxmlformats.org/officeDocument/2006/relationships" id="2147483660" r:id="R75e60171857641aa"/>
    <p:sldLayoutId xmlns:r="http://schemas.openxmlformats.org/officeDocument/2006/relationships" id="2147483661" r:id="R29a526f4d25e4d5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f6e38cd324bb9" /><Relationship Type="http://schemas.openxmlformats.org/officeDocument/2006/relationships/image" Target="/ppt/media/image.jpeg" Id="Rfa04c7880b7a4865" /><Relationship Type="http://schemas.openxmlformats.org/officeDocument/2006/relationships/notesSlide" Target="/ppt/notesSlides/notesSlide1.xml" Id="R7b54dab064c541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6177c6d2ea14fad" /><Relationship Type="http://schemas.openxmlformats.org/officeDocument/2006/relationships/image" Target="/ppt/media/image2.jpeg" Id="Re26cbd84874a4043" /><Relationship Type="http://schemas.openxmlformats.org/officeDocument/2006/relationships/notesSlide" Target="/ppt/notesSlides/notesSlide2.xml" Id="R4e916f22f4c44c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c1dd451ac2c456a" /><Relationship Type="http://schemas.openxmlformats.org/officeDocument/2006/relationships/image" Target="/ppt/media/image.png" Id="Rd50c956ec710441a" /><Relationship Type="http://schemas.openxmlformats.org/officeDocument/2006/relationships/notesSlide" Target="/ppt/notesSlides/notesSlide3.xml" Id="R18093b50bb4c4c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19bff31053477b" /><Relationship Type="http://schemas.openxmlformats.org/officeDocument/2006/relationships/notesSlide" Target="/ppt/notesSlides/notesSlide4.xml" Id="Rbb1745187bfb46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31b0742945143cc" /><Relationship Type="http://schemas.openxmlformats.org/officeDocument/2006/relationships/notesSlide" Target="/ppt/notesSlides/notesSlide5.xml" Id="R791a732b809c4b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1cf43f6bd744599" /><Relationship Type="http://schemas.openxmlformats.org/officeDocument/2006/relationships/notesSlide" Target="/ppt/notesSlides/notesSlide6.xml" Id="R56ee273bc4d844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63d8ead8c07461a" /><Relationship Type="http://schemas.openxmlformats.org/officeDocument/2006/relationships/notesSlide" Target="/ppt/notesSlides/notesSlide7.xml" Id="R4f5d3081b7e941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c8a8faa1ee44d33" /><Relationship Type="http://schemas.openxmlformats.org/officeDocument/2006/relationships/image" Target="/ppt/media/image3.jpeg" Id="R75a9b1f35dbd44db" /><Relationship Type="http://schemas.openxmlformats.org/officeDocument/2006/relationships/notesSlide" Target="/ppt/notesSlides/notesSlide8.xml" Id="R2593ae5e782f41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3dd930efaab4f6d" /><Relationship Type="http://schemas.openxmlformats.org/officeDocument/2006/relationships/notesSlide" Target="/ppt/notesSlides/notesSlide9.xml" Id="R78301efc5e8c40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afad2429ecf4e81" /><Relationship Type="http://schemas.openxmlformats.org/officeDocument/2006/relationships/notesSlide" Target="/ppt/notesSlides/notesSlide10.xml" Id="R63c6d7d092f54b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e11120ac3614881" /><Relationship Type="http://schemas.openxmlformats.org/officeDocument/2006/relationships/notesSlide" Target="/ppt/notesSlides/notesSlide11.xml" Id="R1bc1fff3bc704d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e0fdc83254b4703" /><Relationship Type="http://schemas.openxmlformats.org/officeDocument/2006/relationships/notesSlide" Target="/ppt/notesSlides/notesSlide12.xml" Id="R785fe7dfc9264b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3c9ad94e364649" /><Relationship Type="http://schemas.openxmlformats.org/officeDocument/2006/relationships/notesSlide" Target="/ppt/notesSlides/notesSlide13.xml" Id="Rfb5d81421ae2496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b4d7e893fcf4fbf" /><Relationship Type="http://schemas.openxmlformats.org/officeDocument/2006/relationships/notesSlide" Target="/ppt/notesSlides/notesSlide14.xml" Id="Rfdd5032a1a0b429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8a7fb8376d344bc" /><Relationship Type="http://schemas.openxmlformats.org/officeDocument/2006/relationships/notesSlide" Target="/ppt/notesSlides/notesSlide15.xml" Id="R2461ae9d3f6c472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63ff870640442e3" /><Relationship Type="http://schemas.openxmlformats.org/officeDocument/2006/relationships/notesSlide" Target="/ppt/notesSlides/notesSlide16.xml" Id="R5dff5dd182ec4ed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c41cb7593a8413a" /><Relationship Type="http://schemas.openxmlformats.org/officeDocument/2006/relationships/notesSlide" Target="/ppt/notesSlides/notesSlide17.xml" Id="Re716693306aa458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80699bd51fc4025" /><Relationship Type="http://schemas.openxmlformats.org/officeDocument/2006/relationships/notesSlide" Target="/ppt/notesSlides/notesSlide18.xml" Id="R6946b45838324e6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6ada4da73ec4d61" /><Relationship Type="http://schemas.openxmlformats.org/officeDocument/2006/relationships/notesSlide" Target="/ppt/notesSlides/notesSlide19.xml" Id="Rb889f73c876245d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a276f792b4e45db" /><Relationship Type="http://schemas.openxmlformats.org/officeDocument/2006/relationships/notesSlide" Target="/ppt/notesSlides/notesSlide20.xml" Id="R4464bc0665c444e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31bef34b793472f" /><Relationship Type="http://schemas.openxmlformats.org/officeDocument/2006/relationships/notesSlide" Target="/ppt/notesSlides/notesSlide21.xml" Id="R55f8ffa00b2b4e1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2c299dddced4d7b" /><Relationship Type="http://schemas.openxmlformats.org/officeDocument/2006/relationships/notesSlide" Target="/ppt/notesSlides/notesSlide22.xml" Id="R006496742b7a4c8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8b311533d34629" /><Relationship Type="http://schemas.openxmlformats.org/officeDocument/2006/relationships/notesSlide" Target="/ppt/notesSlides/notesSlide23.xml" Id="R758976e422aa46f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80e8545bfdc4713" /><Relationship Type="http://schemas.openxmlformats.org/officeDocument/2006/relationships/notesSlide" Target="/ppt/notesSlides/notesSlide24.xml" Id="R4dea1ca5a2c7466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4d87e42ef164bfb" /><Relationship Type="http://schemas.openxmlformats.org/officeDocument/2006/relationships/notesSlide" Target="/ppt/notesSlides/notesSlide25.xml" Id="R2fc7c7a080834c0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ab70e9a14224a62" /><Relationship Type="http://schemas.openxmlformats.org/officeDocument/2006/relationships/notesSlide" Target="/ppt/notesSlides/notesSlide26.xml" Id="R4bb7fb199d8a4a6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dd7c477170c4f70" /><Relationship Type="http://schemas.openxmlformats.org/officeDocument/2006/relationships/notesSlide" Target="/ppt/notesSlides/notesSlide27.xml" Id="Rdff7eccb1efc416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68df4a15c4b46b8" /><Relationship Type="http://schemas.openxmlformats.org/officeDocument/2006/relationships/notesSlide" Target="/ppt/notesSlides/notesSlide28.xml" Id="Rf9ed82332adc41a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aec82679c804bca" /><Relationship Type="http://schemas.openxmlformats.org/officeDocument/2006/relationships/image" Target="/ppt/media/image4.jpeg" Id="Rae4ff4162d7243a4" /><Relationship Type="http://schemas.openxmlformats.org/officeDocument/2006/relationships/notesSlide" Target="/ppt/notesSlides/notesSlide29.xml" Id="R153a09d9a3404f1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fed27f7dd54300" /><Relationship Type="http://schemas.openxmlformats.org/officeDocument/2006/relationships/notesSlide" Target="/ppt/notesSlides/notesSlide30.xml" Id="R8877efec9b8d40f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18efc58d68143bd" /><Relationship Type="http://schemas.openxmlformats.org/officeDocument/2006/relationships/notesSlide" Target="/ppt/notesSlides/notesSlide31.xml" Id="R5aa64b8aa5ee4af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55d9a2082a14303" /><Relationship Type="http://schemas.openxmlformats.org/officeDocument/2006/relationships/notesSlide" Target="/ppt/notesSlides/notesSlide32.xml" Id="Radcbcfb7e8134f0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f1177a3ca324352" /><Relationship Type="http://schemas.openxmlformats.org/officeDocument/2006/relationships/notesSlide" Target="/ppt/notesSlides/notesSlide33.xml" Id="R756ad47ece6a4a0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ac6252f75d94c7f" /><Relationship Type="http://schemas.openxmlformats.org/officeDocument/2006/relationships/notesSlide" Target="/ppt/notesSlides/notesSlide34.xml" Id="R473a57ad17cb42d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ef7aebc520b4a70" /><Relationship Type="http://schemas.openxmlformats.org/officeDocument/2006/relationships/notesSlide" Target="/ppt/notesSlides/notesSlide35.xml" Id="R10631ff891fc4bf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eb53315c3674fe0" /><Relationship Type="http://schemas.openxmlformats.org/officeDocument/2006/relationships/notesSlide" Target="/ppt/notesSlides/notesSlide36.xml" Id="R8441497a1748419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861a878687b4892" /><Relationship Type="http://schemas.openxmlformats.org/officeDocument/2006/relationships/notesSlide" Target="/ppt/notesSlides/notesSlide37.xml" Id="R02aafec0489643c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a8ed02a46ac44c6" /><Relationship Type="http://schemas.openxmlformats.org/officeDocument/2006/relationships/notesSlide" Target="/ppt/notesSlides/notesSlide38.xml" Id="R52f830d978c2412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88e5ea686814a20" /><Relationship Type="http://schemas.openxmlformats.org/officeDocument/2006/relationships/notesSlide" Target="/ppt/notesSlides/notesSlide39.xml" Id="R608a496c150847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D552B7E-AFDF-CAEE-26D2-7B844E7D173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52450" y="2038350"/>
            <a:ext cx="6191250" cy="2667000"/>
          </a:xfr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</a:rPr>
              <a:t>Measuring</a:t>
            </a:r>
          </a:p>
          <a:p xmlns:a="http://schemas.openxmlformats.org/drawingml/2006/main">
            <a:pPr algn="l">
              <a:buNone/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18B7B9"/>
                </a:solidFill>
              </a:rPr>
              <a:t>investment return</a:t>
            </a:r>
          </a:p>
        </p:txBody>
      </p:sp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4c7880b7a48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617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CE3483-6CEA-D277-81EA-0AEE6BE974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38150"/>
            <a:ext cx="10972800" cy="7810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3000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CNY 200 vs CNY 600—which performed better?</a:t>
            </a:r>
          </a:p>
        </p:txBody>
      </p:sp>
      <p:pic>
        <p:nvPicPr>
          <p:cNvPr id="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cbd84874a4043"/>
          <a:srcRect xmlns:a="http://schemas.openxmlformats.org/drawingml/2006/main" l="0" t="10536" r="0" b="105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71500" y="1381125"/>
            <a:ext cx="11049000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765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0c956ec71044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6F2455-E349-05AF-6801-DE0AD8FF50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>
                <a:solidFill>
                  <a:srgbClr val="FFFFFF"/>
                </a:solidFill>
                <a:latin typeface="Arial"/>
                <a:ea typeface="Arial"/>
                <a:cs typeface="Arial"/>
              </a:rPr>
              <a:t>Today</a:t>
            </a:r>
            <a:endParaRPr sz="60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2558F5A-E2C3-D9E1-FAAF-45DCBE3177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8234464" cy="4351338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2"/>
              </a:spcAft>
              <a:buNone/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</a:rPr>
              <a:t>1.  Explain the components of total return</a:t>
            </a: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解释总回报的构成</a:t>
            </a:r>
          </a:p>
          <a:p xmlns:a="http://schemas.openxmlformats.org/drawingml/2006/main">
            <a:pPr algn="l">
              <a:spcAft>
                <a:spcPts val="22"/>
              </a:spcAft>
              <a:buNone/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</a:rPr>
              <a:t>2.  Calculate return amount and percentage return</a:t>
            </a: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计算回报额与回报率</a:t>
            </a:r>
          </a:p>
          <a:p xmlns:a="http://schemas.openxmlformats.org/drawingml/2006/main">
            <a:pPr algn="l">
              <a:spcAft>
                <a:spcPts val="0"/>
              </a:spcAft>
              <a:buNone/>
              <a:defRPr sz="21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</a:rPr>
              <a:t>3.  Use percentage return to compare investments fairly</a:t>
            </a: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用回报率公平比较投资</a:t>
            </a:r>
          </a:p>
        </p:txBody>
      </p:sp>
    </p:spTree>
    <p:extLst>
      <p:ext uri="{BB962C8B-B14F-4D97-AF65-F5344CB8AC3E}">
        <p14:creationId xmlns:p14="http://schemas.microsoft.com/office/powerpoint/2010/main" val="21691841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81C4BB-EE82-454A-95E9-D176597838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</a:rPr>
              <a:t>1. Total return</a:t>
            </a:r>
          </a:p>
          <a:p xmlns:a="http://schemas.openxmlformats.org/drawingml/2006/main">
            <a:pPr algn="ctr"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总回报</a:t>
            </a:r>
          </a:p>
        </p:txBody>
      </p:sp>
    </p:spTree>
    <p:extLst>
      <p:ext uri="{BB962C8B-B14F-4D97-AF65-F5344CB8AC3E}">
        <p14:creationId xmlns:p14="http://schemas.microsoft.com/office/powerpoint/2010/main" val="19111872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CD2C90-1956-1EA0-9BDE-335009895B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5D7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B5D7E"/>
                </a:solidFill>
                <a:latin typeface="Arial"/>
                <a:ea typeface="Arial"/>
                <a:cs typeface="Arial"/>
              </a:rPr>
              <a:t>Retrieve: where can return come from?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98E8C3C-722B-B13C-FB07-F614531963E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"/>
              </a:spcAft>
              <a:buNone/>
              <a:defRPr sz="23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1.</a:t>
            </a:r>
            <a:r>
              <a:t> Name the two sources of total return.</a:t>
            </a:r>
          </a:p>
          <a:p xmlns:a="http://schemas.openxmlformats.org/drawingml/2006/main">
            <a:pPr algn="l">
              <a:buNone/>
              <a:defRPr sz="23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2.</a:t>
            </a:r>
            <a:r>
              <a:t> Can total return be negative? Give one example.</a:t>
            </a:r>
          </a:p>
        </p:txBody>
      </p:sp>
    </p:spTree>
    <p:extLst>
      <p:ext uri="{BB962C8B-B14F-4D97-AF65-F5344CB8AC3E}">
        <p14:creationId xmlns:p14="http://schemas.microsoft.com/office/powerpoint/2010/main" val="15896727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0FD62F-AADD-915A-DD6D-C994392E9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90550"/>
            <a:ext cx="10820400" cy="7810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A strong retrieval answer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5E56F6-0A1D-ADCB-6DF9-639690F61E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123950" y="1952625"/>
            <a:ext cx="9944100" cy="29527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8"/>
              </a:spcAft>
              <a:buNone/>
              <a:defRPr sz="240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t>Total return combines </a:t>
            </a:r>
            <a:r>
              <a:rPr b="1">
                <a:solidFill>
                  <a:srgbClr val="2B5D7E"/>
                </a:solidFill>
              </a:rPr>
              <a:t>capital gain or loss</a:t>
            </a:r>
            <a:r>
              <a:t> with </a:t>
            </a:r>
            <a:r>
              <a:rPr b="1">
                <a:solidFill>
                  <a:srgbClr val="D99100"/>
                </a:solidFill>
              </a:rPr>
              <a:t>income</a:t>
            </a:r>
            <a:r>
              <a:t>.</a:t>
            </a:r>
          </a:p>
          <a:p xmlns:a="http://schemas.openxmlformats.org/drawingml/2006/main">
            <a:pPr algn="l">
              <a:buNone/>
              <a:defRPr sz="240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t>It is negative when a </a:t>
            </a:r>
            <a:r>
              <a:rPr b="1">
                <a:solidFill>
                  <a:srgbClr val="F06C5B"/>
                </a:solidFill>
              </a:rPr>
              <a:t>capital loss</a:t>
            </a:r>
            <a:r>
              <a:t> is larger than the income received.</a:t>
            </a:r>
          </a:p>
        </p:txBody>
      </p:sp>
    </p:spTree>
    <p:extLst>
      <p:ext uri="{BB962C8B-B14F-4D97-AF65-F5344CB8AC3E}">
        <p14:creationId xmlns:p14="http://schemas.microsoft.com/office/powerpoint/2010/main" val="345785857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E6DD0FB8-8C85-1E60-EE15-B93269B010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Total return (总回报)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DA492F0-2B88-D18B-DE9B-58D681E0E1B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buNone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/>
              <a:t>Total return is the gain or loss over a stated period from the change in value plus income received.</a:t>
            </a:r>
          </a:p>
          <a:p xmlns:a="http://schemas.openxmlformats.org/drawingml/2006/main">
            <a:pPr algn="l">
              <a:spcAft>
                <a:spcPts val="14"/>
              </a:spcAft>
              <a:buNone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总回报是在规定期间内，价值变化与收入共同带来的收益或损失。</a:t>
            </a:r>
          </a:p>
          <a:p xmlns:a="http://schemas.openxmlformats.org/drawingml/2006/main">
            <a:pPr marL="24" indent="-12" algn="l">
              <a:spcAft>
                <a:spcPts val="8"/>
              </a:spcAft>
              <a:buChar char="•"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Share:</a:t>
            </a:r>
            <a:r>
              <a:t> price rises CNY 80 and pays a CNY 20 dividend → CNY 100 return.</a:t>
            </a:r>
          </a:p>
          <a:p xmlns:a="http://schemas.openxmlformats.org/drawingml/2006/main">
            <a:pPr marL="24" indent="-12" algn="l">
              <a:spcAft>
                <a:spcPts val="8"/>
              </a:spcAft>
              <a:buChar char="•"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Bond:</a:t>
            </a:r>
            <a:r>
              <a:t> value is unchanged and CNY 50 interest is paid → CNY 50 return.</a:t>
            </a:r>
          </a:p>
          <a:p xmlns:a="http://schemas.openxmlformats.org/drawingml/2006/main">
            <a:pPr marL="24" indent="-12" algn="l">
              <a:spcAft>
                <a:spcPts val="8"/>
              </a:spcAft>
              <a:buChar char="•"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Property fund:</a:t>
            </a:r>
            <a:r>
              <a:rPr>
                <a:solidFill>
                  <a:srgbClr val="F06C5B"/>
                </a:solidFill>
              </a:rPr>
              <a:t> value falls CNY 120 and pays CNY 40 income → CNY 80 loss.</a:t>
            </a:r>
          </a:p>
        </p:txBody>
      </p:sp>
    </p:spTree>
    <p:extLst>
      <p:ext uri="{BB962C8B-B14F-4D97-AF65-F5344CB8AC3E}">
        <p14:creationId xmlns:p14="http://schemas.microsoft.com/office/powerpoint/2010/main" val="3844294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CE2FAC-3797-2F00-FAC9-EFDF7014C0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57200"/>
            <a:ext cx="10972800" cy="723900"/>
          </a:xfr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925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Measurement turns an outcome into evidence.</a:t>
            </a:r>
          </a:p>
        </p:txBody>
      </p:sp>
      <p:pic>
        <p:nvPicPr>
          <p:cNvPr id="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9b1f35dbd44db"/>
          <a:srcRect xmlns:a="http://schemas.openxmlformats.org/drawingml/2006/main" l="0" t="16703" r="0" b="167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71500" y="1381125"/>
            <a:ext cx="11049000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2799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A08E3E-37C7-BC1D-7555-C4FE5DC7B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38150"/>
            <a:ext cx="10972800" cy="7810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850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Build the return formula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F1DE0E9-51B1-D256-F5A3-E55CC614F5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81050" y="1381125"/>
            <a:ext cx="10629900" cy="4953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8"/>
              </a:spcAft>
              <a:buNone/>
              <a:defRPr sz="21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B5D7E"/>
                </a:solidFill>
              </a:rPr>
              <a:t>Capital gain / loss</a:t>
            </a:r>
            <a:r>
              <a:t> = ending value − starting value</a:t>
            </a:r>
          </a:p>
          <a:p xmlns:a="http://schemas.openxmlformats.org/drawingml/2006/main">
            <a:pPr algn="l">
              <a:spcAft>
                <a:spcPts val="18"/>
              </a:spcAft>
              <a:buNone/>
              <a:defRPr sz="21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B5D7E"/>
                </a:solidFill>
              </a:rPr>
              <a:t>Total return</a:t>
            </a:r>
            <a:r>
              <a:t> = ending value − starting value + income</a:t>
            </a:r>
          </a:p>
          <a:p xmlns:a="http://schemas.openxmlformats.org/drawingml/2006/main">
            <a:pPr algn="l">
              <a:spcAft>
                <a:spcPts val="16"/>
              </a:spcAft>
              <a:buNone/>
              <a:defRPr sz="21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06C5B"/>
                </a:solidFill>
              </a:rPr>
              <a:t>New deposits or withdrawals are cash flows—not investment return.</a:t>
            </a:r>
          </a:p>
          <a:p xmlns:a="http://schemas.openxmlformats.org/drawingml/2006/main">
            <a:pPr algn="l">
              <a:buNone/>
              <a:defRPr sz="21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Use values from the same stated period.</a:t>
            </a:r>
          </a:p>
        </p:txBody>
      </p:sp>
    </p:spTree>
    <p:extLst>
      <p:ext uri="{BB962C8B-B14F-4D97-AF65-F5344CB8AC3E}">
        <p14:creationId xmlns:p14="http://schemas.microsoft.com/office/powerpoint/2010/main" val="92525066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E6DD0FB8-8C85-1E60-EE15-B93269B010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>
                <a:solidFill>
                  <a:srgbClr val="2B5D7E"/>
                </a:solidFill>
                <a:latin typeface="Arial"/>
                <a:ea typeface="Arial"/>
                <a:cs typeface="Arial"/>
              </a:defRPr>
            </a:pPr>
            <a:r>
              <a:rPr sz="2850">
                <a:solidFill>
                  <a:srgbClr val="2B5D7E"/>
                </a:solidFill>
                <a:latin typeface="Arial"/>
                <a:ea typeface="Arial"/>
                <a:cs typeface="Arial"/>
              </a:rPr>
              <a:t>Worked example: separate the two parts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DA492F0-2B88-D18B-DE9B-58D681E0E1B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8"/>
              </a:spcAft>
              <a:buNone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/>
              <a:t>Start CNY 5,000  →  End CNY 5,400  +  Income CNY 100</a:t>
            </a:r>
          </a:p>
          <a:p xmlns:a="http://schemas.openxmlformats.org/drawingml/2006/main">
            <a:pPr algn="l">
              <a:spcAft>
                <a:spcPts val="16"/>
              </a:spcAft>
              <a:buNone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1. Capital gain:</a:t>
            </a:r>
            <a:r>
              <a:t> CNY 5,400 − CNY 5,000 = CNY 400</a:t>
            </a:r>
          </a:p>
          <a:p xmlns:a="http://schemas.openxmlformats.org/drawingml/2006/main">
            <a:pPr algn="l">
              <a:spcAft>
                <a:spcPts val="18"/>
              </a:spcAft>
              <a:buNone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2. Total return:</a:t>
            </a:r>
            <a:r>
              <a:t> CNY 400 + CNY 100 = CNY 500</a:t>
            </a:r>
          </a:p>
          <a:p xmlns:a="http://schemas.openxmlformats.org/drawingml/2006/main">
            <a:pPr algn="l">
              <a:buNone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B5D7E"/>
                </a:solidFill>
              </a:rPr>
              <a:t>Interpretation: the investment produced a CNY 500 gain over the stated period.</a:t>
            </a:r>
          </a:p>
        </p:txBody>
      </p:sp>
    </p:spTree>
    <p:extLst>
      <p:ext uri="{BB962C8B-B14F-4D97-AF65-F5344CB8AC3E}">
        <p14:creationId xmlns:p14="http://schemas.microsoft.com/office/powerpoint/2010/main" val="38442943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A08E3E-37C7-BC1D-7555-C4FE5DC7B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38150"/>
            <a:ext cx="10972800" cy="7810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700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Try first: calculate the return amount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F1DE0E9-51B1-D256-F5A3-E55CC614F5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81050" y="1381125"/>
            <a:ext cx="10629900" cy="495300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2"/>
              </a:spcAft>
              <a:buNone/>
              <a:defRPr sz="22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/>
              <a:t>Start CNY 3,000  →  End CNY 3,240  +  Income CNY 60</a:t>
            </a:r>
          </a:p>
          <a:p xmlns:a="http://schemas.openxmlformats.org/drawingml/2006/main">
            <a:pPr algn="l">
              <a:spcAft>
                <a:spcPts val="20"/>
              </a:spcAft>
              <a:buNone/>
              <a:defRPr sz="22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B5D7E"/>
                </a:solidFill>
              </a:rPr>
              <a:t>Write:</a:t>
            </a:r>
            <a:r>
              <a:t> formula → substitution → answer → one-sentence interpretation.</a:t>
            </a:r>
          </a:p>
          <a:p xmlns:a="http://schemas.openxmlformats.org/drawingml/2006/main">
            <a:pPr algn="l">
              <a:buNone/>
              <a:defRPr sz="22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06C5B"/>
                </a:solidFill>
              </a:rPr>
              <a:t>Do not calculate a percentage yet.</a:t>
            </a:r>
          </a:p>
        </p:txBody>
      </p:sp>
    </p:spTree>
    <p:extLst>
      <p:ext uri="{BB962C8B-B14F-4D97-AF65-F5344CB8AC3E}">
        <p14:creationId xmlns:p14="http://schemas.microsoft.com/office/powerpoint/2010/main" val="9252506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0FD62F-AADD-915A-DD6D-C994392E9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90550"/>
            <a:ext cx="10820400" cy="7810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A strong answer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5E56F6-0A1D-ADCB-6DF9-639690F61E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123950" y="1952625"/>
            <a:ext cx="9944100" cy="29527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buNone/>
              <a:defRPr sz="23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B5D7E"/>
                </a:solidFill>
              </a:rPr>
              <a:t>Total return</a:t>
            </a:r>
            <a:r>
              <a:t> = CNY 3,240 − CNY 3,000 + CNY 60</a:t>
            </a:r>
          </a:p>
          <a:p xmlns:a="http://schemas.openxmlformats.org/drawingml/2006/main">
            <a:pPr algn="l">
              <a:spcAft>
                <a:spcPts val="16"/>
              </a:spcAft>
              <a:buNone/>
              <a:defRPr sz="23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C8CF5"/>
                </a:solidFill>
              </a:rPr>
              <a:t>= CNY 300</a:t>
            </a:r>
          </a:p>
          <a:p xmlns:a="http://schemas.openxmlformats.org/drawingml/2006/main">
            <a:pPr algn="l">
              <a:buNone/>
              <a:defRPr sz="23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B5D7E"/>
                </a:solidFill>
              </a:rPr>
              <a:t>The investment produced a CNY 300 gain over the stated period.</a:t>
            </a:r>
          </a:p>
        </p:txBody>
      </p:sp>
    </p:spTree>
    <p:extLst>
      <p:ext uri="{BB962C8B-B14F-4D97-AF65-F5344CB8AC3E}">
        <p14:creationId xmlns:p14="http://schemas.microsoft.com/office/powerpoint/2010/main" val="345785857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6602AC-42D7-FE47-74FE-62E45621FC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</a:rPr>
              <a:t>2. Calculate return</a:t>
            </a:r>
          </a:p>
          <a:p xmlns:a="http://schemas.openxmlformats.org/drawingml/2006/main">
            <a:pPr algn="ctr"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计算回报</a:t>
            </a:r>
          </a:p>
        </p:txBody>
      </p:sp>
    </p:spTree>
    <p:extLst>
      <p:ext uri="{BB962C8B-B14F-4D97-AF65-F5344CB8AC3E}">
        <p14:creationId xmlns:p14="http://schemas.microsoft.com/office/powerpoint/2010/main" val="3439795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A08E3E-37C7-BC1D-7555-C4FE5DC7B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38150"/>
            <a:ext cx="10972800" cy="7810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625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Use the same four-step method every time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F1DE0E9-51B1-D256-F5A3-E55CC614F5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81050" y="1381125"/>
            <a:ext cx="10629900" cy="4953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4"/>
              </a:spcAft>
              <a:buNone/>
              <a:defRPr sz="210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1.</a:t>
            </a:r>
            <a:r>
              <a:t> Write the total-return formula.</a:t>
            </a:r>
          </a:p>
          <a:p xmlns:a="http://schemas.openxmlformats.org/drawingml/2006/main">
            <a:pPr algn="l">
              <a:spcAft>
                <a:spcPts val="14"/>
              </a:spcAft>
              <a:buNone/>
              <a:defRPr sz="210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2.</a:t>
            </a:r>
            <a:r>
              <a:t> Substitute ending value, starting value and income.</a:t>
            </a:r>
          </a:p>
          <a:p xmlns:a="http://schemas.openxmlformats.org/drawingml/2006/main">
            <a:pPr algn="l">
              <a:spcAft>
                <a:spcPts val="14"/>
              </a:spcAft>
              <a:buNone/>
              <a:defRPr sz="210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3.</a:t>
            </a:r>
            <a:r>
              <a:t> Divide total return by starting value and multiply by 100.</a:t>
            </a:r>
          </a:p>
          <a:p xmlns:a="http://schemas.openxmlformats.org/drawingml/2006/main">
            <a:pPr algn="l">
              <a:spcAft>
                <a:spcPts val="20"/>
              </a:spcAft>
              <a:buNone/>
              <a:defRPr sz="210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4.</a:t>
            </a:r>
            <a:r>
              <a:t> Interpret the sign and size over the stated period.</a:t>
            </a:r>
          </a:p>
          <a:p xmlns:a="http://schemas.openxmlformats.org/drawingml/2006/main">
            <a:pPr algn="l">
              <a:buNone/>
              <a:defRPr sz="210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B5D7E"/>
                </a:solidFill>
              </a:rPr>
              <a:t>Return % = total return ÷ starting value × 100</a:t>
            </a:r>
          </a:p>
        </p:txBody>
      </p:sp>
    </p:spTree>
    <p:extLst>
      <p:ext uri="{BB962C8B-B14F-4D97-AF65-F5344CB8AC3E}">
        <p14:creationId xmlns:p14="http://schemas.microsoft.com/office/powerpoint/2010/main" val="9252506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A08E3E-37C7-BC1D-7555-C4FE5DC7B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38150"/>
            <a:ext cx="10972800" cy="7810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700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Practice 1: income plus a capital gain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F1DE0E9-51B1-D256-F5A3-E55CC614F5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81050" y="1381125"/>
            <a:ext cx="10629900" cy="495300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"/>
              </a:spcAft>
              <a:buNone/>
              <a:defRPr sz="22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/>
              <a:t>Start CNY 3,000  →  End CNY 3,240  +  Income CNY 60</a:t>
            </a:r>
          </a:p>
          <a:p xmlns:a="http://schemas.openxmlformats.org/drawingml/2006/main">
            <a:pPr algn="l">
              <a:spcAft>
                <a:spcPts val="18"/>
              </a:spcAft>
              <a:buNone/>
              <a:defRPr sz="22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B5D7E"/>
                </a:solidFill>
              </a:rPr>
              <a:t>Calculate:</a:t>
            </a:r>
            <a:r>
              <a:t> capital gain, total return and percentage return.</a:t>
            </a:r>
          </a:p>
          <a:p xmlns:a="http://schemas.openxmlformats.org/drawingml/2006/main">
            <a:pPr algn="l">
              <a:buNone/>
              <a:defRPr sz="22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Then interpret the result in words.</a:t>
            </a:r>
          </a:p>
        </p:txBody>
      </p:sp>
    </p:spTree>
    <p:extLst>
      <p:ext uri="{BB962C8B-B14F-4D97-AF65-F5344CB8AC3E}">
        <p14:creationId xmlns:p14="http://schemas.microsoft.com/office/powerpoint/2010/main" val="9252506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0FD62F-AADD-915A-DD6D-C994392E9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90550"/>
            <a:ext cx="10820400" cy="7810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A strong answer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5E56F6-0A1D-ADCB-6DF9-639690F61E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123950" y="1952625"/>
            <a:ext cx="9944100" cy="29527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4"/>
              </a:spcAft>
              <a:buNone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/>
              <a:t>Capital gain: CNY 3,240 − CNY 3,000 = CNY 240</a:t>
            </a:r>
          </a:p>
          <a:p xmlns:a="http://schemas.openxmlformats.org/drawingml/2006/main">
            <a:pPr algn="l">
              <a:spcAft>
                <a:spcPts val="14"/>
              </a:spcAft>
              <a:buNone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B5D7E"/>
                </a:solidFill>
              </a:rPr>
              <a:t>Total return: CNY 240 + CNY 60 = CNY 300</a:t>
            </a:r>
          </a:p>
          <a:p xmlns:a="http://schemas.openxmlformats.org/drawingml/2006/main">
            <a:pPr algn="l">
              <a:spcAft>
                <a:spcPts val="16"/>
              </a:spcAft>
              <a:buNone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Return %: CNY 300 ÷ CNY 3,000 × 100 = 10%</a:t>
            </a:r>
          </a:p>
          <a:p xmlns:a="http://schemas.openxmlformats.org/drawingml/2006/main">
            <a:pPr algn="l">
              <a:buNone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B5D7E"/>
                </a:solidFill>
              </a:rPr>
              <a:t>Interpretation: a 10% gain over the stated period.</a:t>
            </a:r>
          </a:p>
        </p:txBody>
      </p:sp>
    </p:spTree>
    <p:extLst>
      <p:ext uri="{BB962C8B-B14F-4D97-AF65-F5344CB8AC3E}">
        <p14:creationId xmlns:p14="http://schemas.microsoft.com/office/powerpoint/2010/main" val="34578585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A08E3E-37C7-BC1D-7555-C4FE5DC7B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38150"/>
            <a:ext cx="10972800" cy="7810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625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Practice 2: income does not prevent a loss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F1DE0E9-51B1-D256-F5A3-E55CC614F5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81050" y="1381125"/>
            <a:ext cx="10629900" cy="495300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"/>
              </a:spcAft>
              <a:buNone/>
              <a:defRPr sz="22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/>
              <a:t>Start CNY 5,000  →  End CNY 4,550  +  Income CNY 150</a:t>
            </a:r>
          </a:p>
          <a:p xmlns:a="http://schemas.openxmlformats.org/drawingml/2006/main">
            <a:pPr algn="l">
              <a:spcAft>
                <a:spcPts val="18"/>
              </a:spcAft>
              <a:buNone/>
              <a:defRPr sz="22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B5D7E"/>
                </a:solidFill>
              </a:rPr>
              <a:t>Calculate:</a:t>
            </a:r>
            <a:r>
              <a:t> capital gain/loss, total return and percentage return.</a:t>
            </a:r>
          </a:p>
          <a:p xmlns:a="http://schemas.openxmlformats.org/drawingml/2006/main">
            <a:pPr algn="l">
              <a:buNone/>
              <a:defRPr sz="22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06C5B"/>
                </a:solidFill>
              </a:rPr>
              <a:t>Keep the negative sign.</a:t>
            </a:r>
          </a:p>
        </p:txBody>
      </p:sp>
    </p:spTree>
    <p:extLst>
      <p:ext uri="{BB962C8B-B14F-4D97-AF65-F5344CB8AC3E}">
        <p14:creationId xmlns:p14="http://schemas.microsoft.com/office/powerpoint/2010/main" val="9252506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0FD62F-AADD-915A-DD6D-C994392E9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90550"/>
            <a:ext cx="10820400" cy="7810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A strong answer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5E56F6-0A1D-ADCB-6DF9-639690F61E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123950" y="1952625"/>
            <a:ext cx="9944100" cy="29527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4"/>
              </a:spcAft>
              <a:buNone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06C5B"/>
                </a:solidFill>
              </a:rPr>
              <a:t>Capital loss: CNY 4,550 − CNY 5,000 = CNY −450</a:t>
            </a:r>
          </a:p>
          <a:p xmlns:a="http://schemas.openxmlformats.org/drawingml/2006/main">
            <a:pPr algn="l">
              <a:spcAft>
                <a:spcPts val="14"/>
              </a:spcAft>
              <a:buNone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06C5B"/>
                </a:solidFill>
              </a:rPr>
              <a:t>Total return: CNY −450 + CNY 150 = CNY −300</a:t>
            </a:r>
          </a:p>
          <a:p xmlns:a="http://schemas.openxmlformats.org/drawingml/2006/main">
            <a:pPr algn="l">
              <a:spcAft>
                <a:spcPts val="16"/>
              </a:spcAft>
              <a:buNone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Return %: CNY −300 ÷ CNY 5,000 × 100 = -6%</a:t>
            </a:r>
          </a:p>
          <a:p xmlns:a="http://schemas.openxmlformats.org/drawingml/2006/main">
            <a:pPr algn="l">
              <a:buNone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06C5B"/>
                </a:solidFill>
              </a:rPr>
              <a:t>Interpretation: a 6% loss over the stated period.</a:t>
            </a:r>
          </a:p>
        </p:txBody>
      </p:sp>
    </p:spTree>
    <p:extLst>
      <p:ext uri="{BB962C8B-B14F-4D97-AF65-F5344CB8AC3E}">
        <p14:creationId xmlns:p14="http://schemas.microsoft.com/office/powerpoint/2010/main" val="34578585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A08E3E-37C7-BC1D-7555-C4FE5DC7B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38150"/>
            <a:ext cx="10972800" cy="7810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625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Classify each item before calculating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F1DE0E9-51B1-D256-F5A3-E55CC614F5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81050" y="1381125"/>
            <a:ext cx="10629900" cy="4953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buNone/>
              <a:defRPr sz="19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B5D7E"/>
                </a:solidFill>
              </a:rPr>
              <a:t>Choose:</a:t>
            </a:r>
            <a:r>
              <a:t> income • capital gain/loss • new cash flow</a:t>
            </a:r>
          </a:p>
          <a:p xmlns:a="http://schemas.openxmlformats.org/drawingml/2006/main">
            <a:pPr algn="l">
              <a:spcAft>
                <a:spcPts val="11"/>
              </a:spcAft>
              <a:buNone/>
              <a:defRPr sz="19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1.</a:t>
            </a:r>
            <a:r>
              <a:t> A CNY 40 dividend is paid.</a:t>
            </a:r>
          </a:p>
          <a:p xmlns:a="http://schemas.openxmlformats.org/drawingml/2006/main">
            <a:pPr algn="l">
              <a:spcAft>
                <a:spcPts val="11"/>
              </a:spcAft>
              <a:buNone/>
              <a:defRPr sz="19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2.</a:t>
            </a:r>
            <a:r>
              <a:t> Market value rises from CNY 1,000 to CNY 1,080.</a:t>
            </a:r>
          </a:p>
          <a:p xmlns:a="http://schemas.openxmlformats.org/drawingml/2006/main">
            <a:pPr algn="l">
              <a:spcAft>
                <a:spcPts val="11"/>
              </a:spcAft>
              <a:buNone/>
              <a:defRPr sz="19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3.</a:t>
            </a:r>
            <a:r>
              <a:t> The investor adds CNY 300.</a:t>
            </a:r>
          </a:p>
          <a:p xmlns:a="http://schemas.openxmlformats.org/drawingml/2006/main">
            <a:pPr algn="l">
              <a:spcAft>
                <a:spcPts val="11"/>
              </a:spcAft>
              <a:buNone/>
              <a:defRPr sz="19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4.</a:t>
            </a:r>
            <a:r>
              <a:t> Market value falls by CNY 90.</a:t>
            </a:r>
          </a:p>
          <a:p xmlns:a="http://schemas.openxmlformats.org/drawingml/2006/main">
            <a:pPr algn="l">
              <a:buNone/>
              <a:defRPr sz="19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5.</a:t>
            </a:r>
            <a:r>
              <a:t> CNY 25 interest is received.</a:t>
            </a:r>
          </a:p>
        </p:txBody>
      </p:sp>
    </p:spTree>
    <p:extLst>
      <p:ext uri="{BB962C8B-B14F-4D97-AF65-F5344CB8AC3E}">
        <p14:creationId xmlns:p14="http://schemas.microsoft.com/office/powerpoint/2010/main" val="9252506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0FD62F-AADD-915A-DD6D-C994392E9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90550"/>
            <a:ext cx="10820400" cy="7810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A strong classification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5E56F6-0A1D-ADCB-6DF9-639690F61E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123950" y="1952625"/>
            <a:ext cx="9944100" cy="29527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buNone/>
              <a:defRPr sz="210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D99100"/>
                </a:solidFill>
              </a:rPr>
              <a:t>1. Income</a:t>
            </a:r>
            <a:r>
              <a:t> — dividend received.</a:t>
            </a:r>
          </a:p>
          <a:p xmlns:a="http://schemas.openxmlformats.org/drawingml/2006/main">
            <a:pPr algn="l">
              <a:spcAft>
                <a:spcPts val="12"/>
              </a:spcAft>
              <a:buNone/>
              <a:defRPr sz="210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B5D7E"/>
                </a:solidFill>
              </a:rPr>
              <a:t>2. Capital gain</a:t>
            </a:r>
            <a:r>
              <a:t> — value rises CNY 80.</a:t>
            </a:r>
          </a:p>
          <a:p xmlns:a="http://schemas.openxmlformats.org/drawingml/2006/main">
            <a:pPr algn="l">
              <a:spcAft>
                <a:spcPts val="12"/>
              </a:spcAft>
              <a:buNone/>
              <a:defRPr sz="210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06C5B"/>
                </a:solidFill>
              </a:rPr>
              <a:t>3. New cash flow</a:t>
            </a:r>
            <a:r>
              <a:t> — added money is not return.</a:t>
            </a:r>
          </a:p>
          <a:p xmlns:a="http://schemas.openxmlformats.org/drawingml/2006/main">
            <a:pPr algn="l">
              <a:spcAft>
                <a:spcPts val="12"/>
              </a:spcAft>
              <a:buNone/>
              <a:defRPr sz="210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06C5B"/>
                </a:solidFill>
              </a:rPr>
              <a:t>4. Capital loss</a:t>
            </a:r>
            <a:r>
              <a:t> — value falls CNY 90.</a:t>
            </a:r>
          </a:p>
          <a:p xmlns:a="http://schemas.openxmlformats.org/drawingml/2006/main">
            <a:pPr algn="l">
              <a:buNone/>
              <a:defRPr sz="210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D99100"/>
                </a:solidFill>
              </a:rPr>
              <a:t>5. Income</a:t>
            </a:r>
            <a:r>
              <a:t> — interest received.</a:t>
            </a:r>
          </a:p>
        </p:txBody>
      </p:sp>
    </p:spTree>
    <p:extLst>
      <p:ext uri="{BB962C8B-B14F-4D97-AF65-F5344CB8AC3E}">
        <p14:creationId xmlns:p14="http://schemas.microsoft.com/office/powerpoint/2010/main" val="34578585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A08E3E-37C7-BC1D-7555-C4FE5DC7B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38150"/>
            <a:ext cx="10972800" cy="7810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625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Hinge check: decide before the reveal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F1DE0E9-51B1-D256-F5A3-E55CC614F5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81050" y="1381125"/>
            <a:ext cx="10629900" cy="495300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"/>
              </a:spcAft>
              <a:buNone/>
              <a:defRPr sz="21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/>
              <a:t>CNY 1,000 becomes CNY 1,100 and pays CNY 20. What is the percentage return?</a:t>
            </a:r>
          </a:p>
          <a:p xmlns:a="http://schemas.openxmlformats.org/drawingml/2006/main">
            <a:pPr algn="l">
              <a:spcAft>
                <a:spcPts val="18"/>
              </a:spcAft>
              <a:buNone/>
              <a:defRPr sz="21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8CF5"/>
                </a:solidFill>
              </a:rPr>
              <a:t>A. 10%     B. 12%     C. 20%     D. 120%</a:t>
            </a:r>
          </a:p>
          <a:p xmlns:a="http://schemas.openxmlformats.org/drawingml/2006/main">
            <a:pPr algn="l">
              <a:buNone/>
              <a:defRPr sz="21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B5D7E"/>
                </a:solidFill>
              </a:rPr>
              <a:t>Show the substitution—not only the letter.</a:t>
            </a:r>
          </a:p>
        </p:txBody>
      </p:sp>
    </p:spTree>
    <p:extLst>
      <p:ext uri="{BB962C8B-B14F-4D97-AF65-F5344CB8AC3E}">
        <p14:creationId xmlns:p14="http://schemas.microsoft.com/office/powerpoint/2010/main" val="92525066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0FD62F-AADD-915A-DD6D-C994392E9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90550"/>
            <a:ext cx="10820400" cy="7810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Why the answer is 12%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5E56F6-0A1D-ADCB-6DF9-639690F61E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123950" y="1952625"/>
            <a:ext cx="9944100" cy="29527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8"/>
              </a:spcAft>
              <a:buNone/>
              <a:defRPr sz="22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B5D7E"/>
                </a:solidFill>
              </a:rPr>
              <a:t>Total return = CNY 1,100 − CNY 1,000 + CNY 20 = CNY 120</a:t>
            </a:r>
          </a:p>
          <a:p xmlns:a="http://schemas.openxmlformats.org/drawingml/2006/main">
            <a:pPr algn="l">
              <a:spcAft>
                <a:spcPts val="18"/>
              </a:spcAft>
              <a:buNone/>
              <a:defRPr sz="22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Return % = CNY 120 ÷ CNY 1,000 × 100 = 12%</a:t>
            </a:r>
          </a:p>
          <a:p xmlns:a="http://schemas.openxmlformats.org/drawingml/2006/main">
            <a:pPr algn="l">
              <a:buNone/>
              <a:defRPr sz="22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06C5B"/>
                </a:solidFill>
              </a:rPr>
              <a:t>The CNY 20 income must be included.</a:t>
            </a:r>
          </a:p>
        </p:txBody>
      </p:sp>
    </p:spTree>
    <p:extLst>
      <p:ext uri="{BB962C8B-B14F-4D97-AF65-F5344CB8AC3E}">
        <p14:creationId xmlns:p14="http://schemas.microsoft.com/office/powerpoint/2010/main" val="345785857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08377D5-BE9F-AD33-0669-9BA301D1D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</a:rPr>
              <a:t>3. Compare fairly</a:t>
            </a:r>
          </a:p>
          <a:p xmlns:a="http://schemas.openxmlformats.org/drawingml/2006/main">
            <a:pPr algn="ctr"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公平比较</a:t>
            </a:r>
          </a:p>
        </p:txBody>
      </p:sp>
    </p:spTree>
    <p:extLst>
      <p:ext uri="{BB962C8B-B14F-4D97-AF65-F5344CB8AC3E}">
        <p14:creationId xmlns:p14="http://schemas.microsoft.com/office/powerpoint/2010/main" val="350870929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BAF0B6-58A5-7BCE-7C10-F60B364D4A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Amount and percentage answer different questions</a:t>
            </a:r>
            <a:endParaRPr sz="4400"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D084F4F-696A-3545-FE48-33767ABCF8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34122" y="3278459"/>
            <a:ext cx="5451088" cy="3203304"/>
          </a:xfrm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buNone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B5D7E"/>
                </a:solidFill>
              </a:rPr>
              <a:t>Return amount</a:t>
            </a:r>
            <a:r>
              <a:rPr sz="1575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  回报额</a:t>
            </a:r>
          </a:p>
          <a:p xmlns:a="http://schemas.openxmlformats.org/drawingml/2006/main">
            <a:pPr marL="24" indent="-12" algn="l">
              <a:spcAft>
                <a:spcPts val="8"/>
              </a:spcAft>
              <a:buChar char="•"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t>Absolute CNY gain or loss</a:t>
            </a:r>
          </a:p>
          <a:p xmlns:a="http://schemas.openxmlformats.org/drawingml/2006/main">
            <a:pPr marL="24" indent="-12" algn="l">
              <a:spcAft>
                <a:spcPts val="8"/>
              </a:spcAft>
              <a:buChar char="•"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t>Useful for the money result</a:t>
            </a:r>
          </a:p>
          <a:p xmlns:a="http://schemas.openxmlformats.org/drawingml/2006/main">
            <a:pPr marL="24" indent="-12" algn="l">
              <a:spcAft>
                <a:spcPts val="8"/>
              </a:spcAft>
              <a:buChar char="•"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06C5B"/>
                </a:solidFill>
              </a:rPr>
              <a:t>Affected by starting size</a:t>
            </a:r>
          </a:p>
        </p:txBody>
      </p:sp>
      <p:sp>
        <p:nvSpPr>
          <p:cNvPr id="5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D5C523C-D964-C739-8369-0539BB9D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9288" y="3278459"/>
            <a:ext cx="5451088" cy="20369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Aft>
                <a:spcPts val="16"/>
              </a:spcAft>
              <a:buNone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B5D7E"/>
                </a:solidFill>
              </a:rPr>
              <a:t>Percentage return</a:t>
            </a:r>
            <a:r>
              <a:rPr sz="1575">
                <a:solidFill>
                  <a:srgbClr val="2B5D7E"/>
                </a:solidFill>
                <a:latin typeface="Microsoft YaHei"/>
                <a:ea typeface="Microsoft YaHei"/>
                <a:cs typeface="Microsoft YaHei"/>
              </a:rPr>
              <a:t>  回报率</a:t>
            </a:r>
          </a:p>
          <a:p xmlns:a="http://schemas.openxmlformats.org/drawingml/2006/main">
            <a:pPr marL="24" indent="-12" algn="l">
              <a:spcAft>
                <a:spcPts val="8"/>
              </a:spcAft>
              <a:buChar char="•"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t>Return relative to starting value</a:t>
            </a:r>
          </a:p>
          <a:p xmlns:a="http://schemas.openxmlformats.org/drawingml/2006/main">
            <a:pPr marL="24" indent="-12" algn="l">
              <a:spcAft>
                <a:spcPts val="8"/>
              </a:spcAft>
              <a:buChar char="•"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t>Supports fair comparison</a:t>
            </a:r>
          </a:p>
          <a:p xmlns:a="http://schemas.openxmlformats.org/drawingml/2006/main">
            <a:pPr marL="24" indent="-12" algn="l">
              <a:spcAft>
                <a:spcPts val="8"/>
              </a:spcAft>
              <a:buChar char="•"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Match the same period</a:t>
            </a:r>
          </a:p>
        </p:txBody>
      </p:sp>
    </p:spTree>
    <p:extLst>
      <p:ext uri="{BB962C8B-B14F-4D97-AF65-F5344CB8AC3E}">
        <p14:creationId xmlns:p14="http://schemas.microsoft.com/office/powerpoint/2010/main" val="133241161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A08E3E-37C7-BC1D-7555-C4FE5DC7B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38150"/>
            <a:ext cx="10972800" cy="7810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775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Now reveal the missing evidence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F1DE0E9-51B1-D256-F5A3-E55CC614F5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81050" y="1381125"/>
            <a:ext cx="10629900" cy="495300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8"/>
              </a:spcAft>
              <a:buNone/>
              <a:defRPr sz="21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B5D7E"/>
                </a:solidFill>
              </a:rPr>
              <a:t>Investment A</a:t>
            </a:r>
            <a:r>
              <a:t> starts at CNY 2,000 and earns CNY 200.</a:t>
            </a:r>
          </a:p>
          <a:p xmlns:a="http://schemas.openxmlformats.org/drawingml/2006/main">
            <a:pPr algn="l">
              <a:spcAft>
                <a:spcPts val="22"/>
              </a:spcAft>
              <a:buNone/>
              <a:defRPr sz="21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D99100"/>
                </a:solidFill>
              </a:rPr>
              <a:t>Investment B</a:t>
            </a:r>
            <a:r>
              <a:t> starts at CNY 10,000 and earns CNY 600.</a:t>
            </a:r>
          </a:p>
          <a:p xmlns:a="http://schemas.openxmlformats.org/drawingml/2006/main">
            <a:pPr algn="l">
              <a:spcAft>
                <a:spcPts val="18"/>
              </a:spcAft>
              <a:buNone/>
              <a:defRPr sz="21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Both results cover the same period.</a:t>
            </a:r>
          </a:p>
          <a:p xmlns:a="http://schemas.openxmlformats.org/drawingml/2006/main">
            <a:pPr algn="l">
              <a:buNone/>
              <a:defRPr sz="21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325" b="1"/>
              <a:t>Which performed better? Show both percentages.</a:t>
            </a:r>
          </a:p>
        </p:txBody>
      </p:sp>
    </p:spTree>
    <p:extLst>
      <p:ext uri="{BB962C8B-B14F-4D97-AF65-F5344CB8AC3E}">
        <p14:creationId xmlns:p14="http://schemas.microsoft.com/office/powerpoint/2010/main" val="92525066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0FD62F-AADD-915A-DD6D-C994392E9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90550"/>
            <a:ext cx="10820400" cy="7810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75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A fair comparison changes the judgement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5E56F6-0A1D-ADCB-6DF9-639690F61E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123950" y="1952625"/>
            <a:ext cx="9944100" cy="29527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buNone/>
              <a:defRPr sz="22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B5D7E"/>
                </a:solidFill>
              </a:rPr>
              <a:t>A: CNY 200 ÷ CNY 2,000 × 100 = 10%</a:t>
            </a:r>
          </a:p>
          <a:p xmlns:a="http://schemas.openxmlformats.org/drawingml/2006/main">
            <a:pPr algn="l">
              <a:spcAft>
                <a:spcPts val="20"/>
              </a:spcAft>
              <a:buNone/>
              <a:defRPr sz="22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D99100"/>
                </a:solidFill>
              </a:rPr>
              <a:t>B: CNY 600 ÷ CNY 10,000 × 100 = 6%</a:t>
            </a:r>
          </a:p>
          <a:p xmlns:a="http://schemas.openxmlformats.org/drawingml/2006/main">
            <a:pPr algn="l">
              <a:spcAft>
                <a:spcPts val="12"/>
              </a:spcAft>
              <a:buNone/>
              <a:defRPr sz="22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B5D7E"/>
                </a:solidFill>
              </a:rPr>
              <a:t>A performed better relative to its starting amount.</a:t>
            </a:r>
          </a:p>
          <a:p xmlns:a="http://schemas.openxmlformats.org/drawingml/2006/main">
            <a:pPr algn="l">
              <a:buNone/>
              <a:defRPr sz="22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D99100"/>
                </a:solidFill>
              </a:rPr>
              <a:t>B produced the larger CNY return amount.</a:t>
            </a:r>
          </a:p>
        </p:txBody>
      </p:sp>
    </p:spTree>
    <p:extLst>
      <p:ext uri="{BB962C8B-B14F-4D97-AF65-F5344CB8AC3E}">
        <p14:creationId xmlns:p14="http://schemas.microsoft.com/office/powerpoint/2010/main" val="345785857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A08E3E-37C7-BC1D-7555-C4FE5DC7B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38150"/>
            <a:ext cx="10972800" cy="7810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700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Partner check: compare C and D fairly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F1DE0E9-51B1-D256-F5A3-E55CC614F5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81050" y="1381125"/>
            <a:ext cx="10629900" cy="495300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4"/>
              </a:spcAft>
              <a:buNone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B5D7E"/>
                </a:solidFill>
              </a:rPr>
              <a:t>C:</a:t>
            </a:r>
            <a:r>
              <a:t> start CNY 4,000, end CNY 4,280, income CNY 120.</a:t>
            </a:r>
          </a:p>
          <a:p xmlns:a="http://schemas.openxmlformats.org/drawingml/2006/main">
            <a:pPr algn="l">
              <a:spcAft>
                <a:spcPts val="18"/>
              </a:spcAft>
              <a:buNone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D99100"/>
                </a:solidFill>
              </a:rPr>
              <a:t>D:</a:t>
            </a:r>
            <a:r>
              <a:t> start CNY 8,000, end CNY 8,480, income CNY 80.</a:t>
            </a:r>
          </a:p>
          <a:p xmlns:a="http://schemas.openxmlformats.org/drawingml/2006/main">
            <a:pPr algn="l">
              <a:spcAft>
                <a:spcPts val="14"/>
              </a:spcAft>
              <a:buNone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/>
              <a:t>Calculate both return amounts and both percentages.</a:t>
            </a:r>
          </a:p>
          <a:p xmlns:a="http://schemas.openxmlformats.org/drawingml/2006/main">
            <a:pPr algn="l">
              <a:buNone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Write one sentence that names the fair metric.</a:t>
            </a:r>
          </a:p>
        </p:txBody>
      </p:sp>
    </p:spTree>
    <p:extLst>
      <p:ext uri="{BB962C8B-B14F-4D97-AF65-F5344CB8AC3E}">
        <p14:creationId xmlns:p14="http://schemas.microsoft.com/office/powerpoint/2010/main" val="92525066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0FD62F-AADD-915A-DD6D-C994392E9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90550"/>
            <a:ext cx="10820400" cy="7810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A strong comparison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5E56F6-0A1D-ADCB-6DF9-639690F61E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123950" y="1952625"/>
            <a:ext cx="9944100" cy="29527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buNone/>
              <a:defRPr sz="22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B5D7E"/>
                </a:solidFill>
              </a:rPr>
              <a:t>C: CNY 400 return; 10%</a:t>
            </a:r>
          </a:p>
          <a:p xmlns:a="http://schemas.openxmlformats.org/drawingml/2006/main">
            <a:pPr algn="l">
              <a:spcAft>
                <a:spcPts val="20"/>
              </a:spcAft>
              <a:buNone/>
              <a:defRPr sz="22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D99100"/>
                </a:solidFill>
              </a:rPr>
              <a:t>D: CNY 560 return; 7%</a:t>
            </a:r>
          </a:p>
          <a:p xmlns:a="http://schemas.openxmlformats.org/drawingml/2006/main">
            <a:pPr algn="l">
              <a:buNone/>
              <a:defRPr sz="22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B5D7E"/>
                </a:solidFill>
              </a:rPr>
              <a:t>C performed better</a:t>
            </a:r>
            <a:r>
              <a:t> because 10% is higher than 7% over the same period. </a:t>
            </a:r>
            <a:r>
              <a:rPr b="1">
                <a:solidFill>
                  <a:srgbClr val="D99100"/>
                </a:solidFill>
              </a:rPr>
              <a:t>D earned more CNY</a:t>
            </a:r>
            <a:r>
              <a:t> because its starting amount was larger.</a:t>
            </a:r>
          </a:p>
        </p:txBody>
      </p:sp>
    </p:spTree>
    <p:extLst>
      <p:ext uri="{BB962C8B-B14F-4D97-AF65-F5344CB8AC3E}">
        <p14:creationId xmlns:p14="http://schemas.microsoft.com/office/powerpoint/2010/main" val="345785857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4190B7-B771-44F1-2AE6-B30C059E92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38150"/>
            <a:ext cx="10972800" cy="7810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325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Stock Market Game: set up a return evidence record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F3F9A3A-B398-A25E-EF98-2CDD0E4C289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66750" y="1476375"/>
            <a:ext cx="6334125" cy="461962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buNone/>
              <a:defRPr sz="16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B5D7E"/>
                </a:solidFill>
              </a:rPr>
              <a:t>Team record</a:t>
            </a:r>
          </a:p>
          <a:p xmlns:a="http://schemas.openxmlformats.org/drawingml/2006/main">
            <a:pPr marL="24" indent="-12" algn="l">
              <a:spcAft>
                <a:spcPts val="8"/>
              </a:spcAft>
              <a:buChar char="•"/>
              <a:defRPr sz="16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t>Record the teacher-assigned starting portfolio value and date.</a:t>
            </a:r>
          </a:p>
          <a:p xmlns:a="http://schemas.openxmlformats.org/drawingml/2006/main">
            <a:pPr marL="24" indent="-12" algn="l">
              <a:spcAft>
                <a:spcPts val="8"/>
              </a:spcAft>
              <a:buChar char="•"/>
              <a:defRPr sz="16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t>Choose a later checkpoint date; keep the period identical for every team.</a:t>
            </a:r>
          </a:p>
          <a:p xmlns:a="http://schemas.openxmlformats.org/drawingml/2006/main">
            <a:pPr marL="24" indent="-12" algn="l">
              <a:spcAft>
                <a:spcPts val="8"/>
              </a:spcAft>
              <a:buChar char="•"/>
              <a:defRPr sz="16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t>At that checkpoint, record ending value and any income shown.</a:t>
            </a:r>
          </a:p>
          <a:p xmlns:a="http://schemas.openxmlformats.org/drawingml/2006/main">
            <a:pPr marL="24" indent="-12" algn="l">
              <a:spcAft>
                <a:spcPts val="8"/>
              </a:spcAft>
              <a:buChar char="•"/>
              <a:defRPr sz="16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t>Calculate return amount and percentage return.</a:t>
            </a:r>
          </a:p>
          <a:p xmlns:a="http://schemas.openxmlformats.org/drawingml/2006/main">
            <a:pPr algn="l">
              <a:spcAft>
                <a:spcPts val="10"/>
              </a:spcAft>
              <a:buNone/>
              <a:defRPr sz="16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Individual output:</a:t>
            </a:r>
            <a:r>
              <a:t> complete today's mock calculation and write one interpretation.</a:t>
            </a:r>
          </a:p>
          <a:p xmlns:a="http://schemas.openxmlformats.org/drawingml/2006/main">
            <a:pPr algn="l">
              <a:buNone/>
              <a:defRPr sz="16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06C5B"/>
                </a:solidFill>
              </a:rPr>
              <a:t>No order or security choice is required today.</a:t>
            </a:r>
          </a:p>
        </p:txBody>
      </p:sp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ff4162d7243a4"/>
          <a:srcRect xmlns:a="http://schemas.openxmlformats.org/drawingml/2006/main" l="23177" t="0" r="231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620000" y="1524000"/>
            <a:ext cx="400050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146372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6EE848EF-37F3-FAC9-9CBE-3C92962CD9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</a:rPr>
              <a:t>4. Check understanding</a:t>
            </a:r>
          </a:p>
          <a:p xmlns:a="http://schemas.openxmlformats.org/drawingml/2006/main">
            <a:pPr algn="ctr"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检查理解</a:t>
            </a:r>
          </a:p>
        </p:txBody>
      </p:sp>
    </p:spTree>
    <p:extLst>
      <p:ext uri="{BB962C8B-B14F-4D97-AF65-F5344CB8AC3E}">
        <p14:creationId xmlns:p14="http://schemas.microsoft.com/office/powerpoint/2010/main" val="219996531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6DCE13-3C03-E181-F9CA-8F5D6DC44D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400" y="590550"/>
            <a:ext cx="1524000" cy="64770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700" b="1">
                <a:solidFill>
                  <a:srgbClr val="4C8CF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C8CF5"/>
                </a:solidFill>
                <a:latin typeface="Arial"/>
                <a:ea typeface="Arial"/>
                <a:cs typeface="Arial"/>
              </a:rPr>
              <a:t>MCQ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F1E0E34-08C7-D5B0-FB16-1E95872D9A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33625" y="609600"/>
            <a:ext cx="9096375" cy="56197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8"/>
              </a:spcAft>
              <a:buNone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100" b="1"/>
              <a:t>CNY 1,000 becomes CNY 1,100 and pays CNY 20. What is the return percentage?</a:t>
            </a:r>
            <a:r>
              <a:rPr sz="1425" b="1">
                <a:latin typeface="Microsoft YaHei"/>
                <a:ea typeface="Microsoft YaHei"/>
                <a:cs typeface="Microsoft YaHei"/>
              </a:rPr>
              <a:t>  回报率是多少？</a:t>
            </a:r>
          </a:p>
          <a:p xmlns:a="http://schemas.openxmlformats.org/drawingml/2006/main">
            <a:pPr algn="l">
              <a:spcAft>
                <a:spcPts val="13"/>
              </a:spcAft>
              <a:buNone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A.</a:t>
            </a:r>
            <a:r>
              <a:t> 10%</a:t>
            </a:r>
          </a:p>
          <a:p xmlns:a="http://schemas.openxmlformats.org/drawingml/2006/main">
            <a:pPr algn="l">
              <a:spcAft>
                <a:spcPts val="13"/>
              </a:spcAft>
              <a:buNone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B.</a:t>
            </a:r>
            <a:r>
              <a:t> 12%</a:t>
            </a:r>
          </a:p>
          <a:p xmlns:a="http://schemas.openxmlformats.org/drawingml/2006/main">
            <a:pPr algn="l">
              <a:spcAft>
                <a:spcPts val="13"/>
              </a:spcAft>
              <a:buNone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C.</a:t>
            </a:r>
            <a:r>
              <a:t> 20%</a:t>
            </a:r>
          </a:p>
          <a:p xmlns:a="http://schemas.openxmlformats.org/drawingml/2006/main">
            <a:pPr algn="l">
              <a:spcAft>
                <a:spcPts val="0"/>
              </a:spcAft>
              <a:buNone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D.</a:t>
            </a:r>
            <a:r>
              <a:t> 120%</a:t>
            </a:r>
          </a:p>
        </p:txBody>
      </p:sp>
    </p:spTree>
    <p:extLst>
      <p:ext uri="{BB962C8B-B14F-4D97-AF65-F5344CB8AC3E}">
        <p14:creationId xmlns:p14="http://schemas.microsoft.com/office/powerpoint/2010/main" val="52559620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276B47-845A-DC38-E33E-A2A88CB7E4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400" y="590550"/>
            <a:ext cx="1524000" cy="64770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700" b="1">
                <a:solidFill>
                  <a:srgbClr val="4C8CF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C8CF5"/>
                </a:solidFill>
                <a:latin typeface="Arial"/>
                <a:ea typeface="Arial"/>
                <a:cs typeface="Arial"/>
              </a:rPr>
              <a:t>MCQ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5F429-E529-97E6-0606-D10EB458EB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33625" y="609600"/>
            <a:ext cx="9096375" cy="56197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8"/>
              </a:spcAft>
              <a:buNone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100" b="1"/>
              <a:t>CNY 4,000 becomes CNY 3,600 and pays CNY 200 income. What is total return?</a:t>
            </a:r>
            <a:r>
              <a:rPr sz="1425" b="1">
                <a:latin typeface="Microsoft YaHei"/>
                <a:ea typeface="Microsoft YaHei"/>
                <a:cs typeface="Microsoft YaHei"/>
              </a:rPr>
              <a:t>  总回报是多少？</a:t>
            </a:r>
          </a:p>
          <a:p xmlns:a="http://schemas.openxmlformats.org/drawingml/2006/main">
            <a:pPr algn="l">
              <a:spcAft>
                <a:spcPts val="13"/>
              </a:spcAft>
              <a:buNone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A.</a:t>
            </a:r>
            <a:r>
              <a:t> CNY 600 gain</a:t>
            </a:r>
          </a:p>
          <a:p xmlns:a="http://schemas.openxmlformats.org/drawingml/2006/main">
            <a:pPr algn="l">
              <a:spcAft>
                <a:spcPts val="13"/>
              </a:spcAft>
              <a:buNone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B.</a:t>
            </a:r>
            <a:r>
              <a:t> CNY 400 loss</a:t>
            </a:r>
          </a:p>
          <a:p xmlns:a="http://schemas.openxmlformats.org/drawingml/2006/main">
            <a:pPr algn="l">
              <a:spcAft>
                <a:spcPts val="13"/>
              </a:spcAft>
              <a:buNone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C.</a:t>
            </a:r>
            <a:r>
              <a:t> CNY 200 loss</a:t>
            </a:r>
          </a:p>
          <a:p xmlns:a="http://schemas.openxmlformats.org/drawingml/2006/main">
            <a:pPr algn="l">
              <a:spcAft>
                <a:spcPts val="0"/>
              </a:spcAft>
              <a:buNone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D.</a:t>
            </a:r>
            <a:r>
              <a:t> CNY 200 gain</a:t>
            </a:r>
          </a:p>
        </p:txBody>
      </p:sp>
    </p:spTree>
    <p:extLst>
      <p:ext uri="{BB962C8B-B14F-4D97-AF65-F5344CB8AC3E}">
        <p14:creationId xmlns:p14="http://schemas.microsoft.com/office/powerpoint/2010/main" val="16220842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5AD8BB-23E8-C4F3-A9DA-31F5CCC0DE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400" y="590550"/>
            <a:ext cx="1524000" cy="64770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700" b="1">
                <a:solidFill>
                  <a:srgbClr val="4C8CF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C8CF5"/>
                </a:solidFill>
                <a:latin typeface="Arial"/>
                <a:ea typeface="Arial"/>
                <a:cs typeface="Arial"/>
              </a:rPr>
              <a:t>MCQ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ABEC868-95C2-1C0D-E1B7-45533405426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33625" y="609600"/>
            <a:ext cx="9096375" cy="56197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8"/>
              </a:spcAft>
              <a:buNone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100" b="1"/>
              <a:t>Over the same period, A earns CNY 100 on CNY 1,000. B earns CNY 300 on CNY 6,000. Which performed better?</a:t>
            </a:r>
            <a:r>
              <a:rPr sz="1425" b="1">
                <a:latin typeface="Microsoft YaHei"/>
                <a:ea typeface="Microsoft YaHei"/>
                <a:cs typeface="Microsoft YaHei"/>
              </a:rPr>
              <a:t>  哪个表现更好？</a:t>
            </a:r>
          </a:p>
          <a:p xmlns:a="http://schemas.openxmlformats.org/drawingml/2006/main">
            <a:pPr algn="l">
              <a:spcAft>
                <a:spcPts val="13"/>
              </a:spcAft>
              <a:buNone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A.</a:t>
            </a:r>
            <a:r>
              <a:t> A, because 10% &gt; 5%</a:t>
            </a:r>
          </a:p>
          <a:p xmlns:a="http://schemas.openxmlformats.org/drawingml/2006/main">
            <a:pPr algn="l">
              <a:spcAft>
                <a:spcPts val="13"/>
              </a:spcAft>
              <a:buNone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B.</a:t>
            </a:r>
            <a:r>
              <a:t> B, because CNY 300 &gt; CNY 100</a:t>
            </a:r>
          </a:p>
          <a:p xmlns:a="http://schemas.openxmlformats.org/drawingml/2006/main">
            <a:pPr algn="l">
              <a:spcAft>
                <a:spcPts val="13"/>
              </a:spcAft>
              <a:buNone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C.</a:t>
            </a:r>
            <a:r>
              <a:t> They performed equally</a:t>
            </a:r>
          </a:p>
          <a:p xmlns:a="http://schemas.openxmlformats.org/drawingml/2006/main">
            <a:pPr algn="l">
              <a:spcAft>
                <a:spcPts val="0"/>
              </a:spcAft>
              <a:buNone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D.</a:t>
            </a:r>
            <a:r>
              <a:t> They cannot be compared because starting values differ</a:t>
            </a:r>
          </a:p>
        </p:txBody>
      </p:sp>
    </p:spTree>
    <p:extLst>
      <p:ext uri="{BB962C8B-B14F-4D97-AF65-F5344CB8AC3E}">
        <p14:creationId xmlns:p14="http://schemas.microsoft.com/office/powerpoint/2010/main" val="161204193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276B47-845A-DC38-E33E-A2A88CB7E4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400" y="590550"/>
            <a:ext cx="1524000" cy="64770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700" b="1">
                <a:solidFill>
                  <a:srgbClr val="4C8CF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C8CF5"/>
                </a:solidFill>
                <a:latin typeface="Arial"/>
                <a:ea typeface="Arial"/>
                <a:cs typeface="Arial"/>
              </a:rPr>
              <a:t>MCQ 4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5F429-E529-97E6-0606-D10EB458EB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33625" y="609600"/>
            <a:ext cx="9096375" cy="56197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8"/>
              </a:spcAft>
              <a:buNone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100" b="1"/>
              <a:t>Which item is not investment return in the simple formula?</a:t>
            </a:r>
            <a:r>
              <a:rPr sz="1425" b="1">
                <a:latin typeface="Microsoft YaHei"/>
                <a:ea typeface="Microsoft YaHei"/>
                <a:cs typeface="Microsoft YaHei"/>
              </a:rPr>
              <a:t>  哪一项不是投资回报？</a:t>
            </a:r>
          </a:p>
          <a:p xmlns:a="http://schemas.openxmlformats.org/drawingml/2006/main">
            <a:pPr algn="l">
              <a:spcAft>
                <a:spcPts val="13"/>
              </a:spcAft>
              <a:buNone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A.</a:t>
            </a:r>
            <a:r>
              <a:t> A CNY 40 dividend</a:t>
            </a:r>
          </a:p>
          <a:p xmlns:a="http://schemas.openxmlformats.org/drawingml/2006/main">
            <a:pPr algn="l">
              <a:spcAft>
                <a:spcPts val="13"/>
              </a:spcAft>
              <a:buNone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B.</a:t>
            </a:r>
            <a:r>
              <a:t> A CNY 80 capital gain</a:t>
            </a:r>
          </a:p>
          <a:p xmlns:a="http://schemas.openxmlformats.org/drawingml/2006/main">
            <a:pPr algn="l">
              <a:spcAft>
                <a:spcPts val="13"/>
              </a:spcAft>
              <a:buNone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C.</a:t>
            </a:r>
            <a:r>
              <a:t> A new CNY 500 deposit</a:t>
            </a:r>
          </a:p>
          <a:p xmlns:a="http://schemas.openxmlformats.org/drawingml/2006/main">
            <a:pPr algn="l">
              <a:spcAft>
                <a:spcPts val="0"/>
              </a:spcAft>
              <a:buNone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D.</a:t>
            </a:r>
            <a:r>
              <a:t> A CNY 30 interest payment</a:t>
            </a:r>
          </a:p>
        </p:txBody>
      </p:sp>
    </p:spTree>
    <p:extLst>
      <p:ext uri="{BB962C8B-B14F-4D97-AF65-F5344CB8AC3E}">
        <p14:creationId xmlns:p14="http://schemas.microsoft.com/office/powerpoint/2010/main" val="16220842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5AD8BB-23E8-C4F3-A9DA-31F5CCC0DE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400" y="590550"/>
            <a:ext cx="1524000" cy="64770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700" b="1">
                <a:solidFill>
                  <a:srgbClr val="4C8CF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C8CF5"/>
                </a:solidFill>
                <a:latin typeface="Arial"/>
                <a:ea typeface="Arial"/>
                <a:cs typeface="Arial"/>
              </a:rPr>
              <a:t>MCQ 5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ABEC868-95C2-1C0D-E1B7-45533405426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33625" y="609600"/>
            <a:ext cx="9096375" cy="56197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8"/>
              </a:spcAft>
              <a:buNone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100" b="1"/>
              <a:t>What does a −4% return mean?</a:t>
            </a:r>
            <a:r>
              <a:rPr sz="1425" b="1">
                <a:latin typeface="Microsoft YaHei"/>
                <a:ea typeface="Microsoft YaHei"/>
                <a:cs typeface="Microsoft YaHei"/>
              </a:rPr>
              <a:t>  −4%的回报表示什么？</a:t>
            </a:r>
          </a:p>
          <a:p xmlns:a="http://schemas.openxmlformats.org/drawingml/2006/main">
            <a:pPr algn="l">
              <a:spcAft>
                <a:spcPts val="13"/>
              </a:spcAft>
              <a:buNone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A.</a:t>
            </a:r>
            <a:r>
              <a:t> A loss equal to 4% of starting value over the period</a:t>
            </a:r>
          </a:p>
          <a:p xmlns:a="http://schemas.openxmlformats.org/drawingml/2006/main">
            <a:pPr algn="l">
              <a:spcAft>
                <a:spcPts val="13"/>
              </a:spcAft>
              <a:buNone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B.</a:t>
            </a:r>
            <a:r>
              <a:t> A guaranteed 4% loss next period</a:t>
            </a:r>
          </a:p>
          <a:p xmlns:a="http://schemas.openxmlformats.org/drawingml/2006/main">
            <a:pPr algn="l">
              <a:spcAft>
                <a:spcPts val="13"/>
              </a:spcAft>
              <a:buNone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C.</a:t>
            </a:r>
            <a:r>
              <a:t> Ending value is always zero</a:t>
            </a:r>
          </a:p>
          <a:p xmlns:a="http://schemas.openxmlformats.org/drawingml/2006/main">
            <a:pPr algn="l">
              <a:spcAft>
                <a:spcPts val="0"/>
              </a:spcAft>
              <a:buNone/>
              <a:defRPr sz="187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D.</a:t>
            </a:r>
            <a:r>
              <a:t> Income was exactly 4%</a:t>
            </a:r>
          </a:p>
        </p:txBody>
      </p:sp>
    </p:spTree>
    <p:extLst>
      <p:ext uri="{BB962C8B-B14F-4D97-AF65-F5344CB8AC3E}">
        <p14:creationId xmlns:p14="http://schemas.microsoft.com/office/powerpoint/2010/main" val="161204193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A08E3E-37C7-BC1D-7555-C4FE5DC7B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38150"/>
            <a:ext cx="10972800" cy="7810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625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Short answer 1: calculate and interpret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F1DE0E9-51B1-D256-F5A3-E55CC614F5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81050" y="1381125"/>
            <a:ext cx="10629900" cy="495300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"/>
              </a:spcAft>
              <a:buNone/>
              <a:defRPr sz="19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/>
              <a:t>Mock investment: start CNY 8,000, end CNY 8,540, income CNY 260.</a:t>
            </a:r>
          </a:p>
          <a:p xmlns:a="http://schemas.openxmlformats.org/drawingml/2006/main">
            <a:pPr algn="l">
              <a:spcAft>
                <a:spcPts val="16"/>
              </a:spcAft>
              <a:buNone/>
              <a:defRPr sz="19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B5D7E"/>
                </a:solidFill>
              </a:rPr>
              <a:t>Calculate:</a:t>
            </a:r>
            <a:r>
              <a:t> total return and percentage return.</a:t>
            </a:r>
          </a:p>
          <a:p xmlns:a="http://schemas.openxmlformats.org/drawingml/2006/main">
            <a:pPr algn="l">
              <a:spcAft>
                <a:spcPts val="16"/>
              </a:spcAft>
              <a:buNone/>
              <a:defRPr sz="19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Show:</a:t>
            </a:r>
            <a:r>
              <a:t> formula → substitution → answer → interpretation.</a:t>
            </a:r>
          </a:p>
          <a:p xmlns:a="http://schemas.openxmlformats.org/drawingml/2006/main">
            <a:pPr algn="l">
              <a:buNone/>
              <a:defRPr sz="19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/>
              <a:t>Term bank:</a:t>
            </a:r>
            <a:r>
              <a:rPr>
                <a:latin typeface="Microsoft YaHei"/>
                <a:ea typeface="Microsoft YaHei"/>
                <a:cs typeface="Microsoft YaHei"/>
              </a:rPr>
              <a:t> total return (总回报) • starting value (期初价值) • percentage return (回报率)</a:t>
            </a:r>
          </a:p>
        </p:txBody>
      </p:sp>
    </p:spTree>
    <p:extLst>
      <p:ext uri="{BB962C8B-B14F-4D97-AF65-F5344CB8AC3E}">
        <p14:creationId xmlns:p14="http://schemas.microsoft.com/office/powerpoint/2010/main" val="92525066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0FD62F-AADD-915A-DD6D-C994392E9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90550"/>
            <a:ext cx="10820400" cy="7810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A strong answer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5E56F6-0A1D-ADCB-6DF9-639690F61E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123950" y="1952625"/>
            <a:ext cx="9944100" cy="29527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buNone/>
              <a:defRPr sz="22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B5D7E"/>
                </a:solidFill>
              </a:rPr>
              <a:t>Total return = CNY 8,540 − CNY 8,000 + CNY 260 = CNY 800</a:t>
            </a:r>
          </a:p>
          <a:p xmlns:a="http://schemas.openxmlformats.org/drawingml/2006/main">
            <a:pPr algn="l">
              <a:spcAft>
                <a:spcPts val="18"/>
              </a:spcAft>
              <a:buNone/>
              <a:defRPr sz="22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Return % = CNY 800 ÷ CNY 8,000 × 100 = 10%</a:t>
            </a:r>
          </a:p>
          <a:p xmlns:a="http://schemas.openxmlformats.org/drawingml/2006/main">
            <a:pPr algn="l">
              <a:buNone/>
              <a:defRPr sz="22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B5D7E"/>
                </a:solidFill>
              </a:rPr>
              <a:t>The investment produced a 10% gain over the stated period.</a:t>
            </a:r>
          </a:p>
        </p:txBody>
      </p:sp>
    </p:spTree>
    <p:extLst>
      <p:ext uri="{BB962C8B-B14F-4D97-AF65-F5344CB8AC3E}">
        <p14:creationId xmlns:p14="http://schemas.microsoft.com/office/powerpoint/2010/main" val="345785857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A08E3E-37C7-BC1D-7555-C4FE5DC7B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38150"/>
            <a:ext cx="10972800" cy="7810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625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Individual exit: resolve the opening dilemma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F1DE0E9-51B1-D256-F5A3-E55CC614F5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81050" y="1381125"/>
            <a:ext cx="10629900" cy="495300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8"/>
              </a:spcAft>
              <a:buNone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/>
              <a:t>A earns CNY 200 on CNY 2,000. B earns CNY 600 on CNY 10,000. Same period.</a:t>
            </a:r>
          </a:p>
          <a:p xmlns:a="http://schemas.openxmlformats.org/drawingml/2006/main">
            <a:pPr algn="l">
              <a:spcAft>
                <a:spcPts val="16"/>
              </a:spcAft>
              <a:buNone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B5D7E"/>
                </a:solidFill>
              </a:rPr>
              <a:t>Write:</a:t>
            </a:r>
            <a:r>
              <a:t> both percentages + which performed better + one precise reason.</a:t>
            </a:r>
          </a:p>
          <a:p xmlns:a="http://schemas.openxmlformats.org/drawingml/2006/main">
            <a:pPr algn="l">
              <a:spcAft>
                <a:spcPts val="16"/>
              </a:spcAft>
              <a:buNone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D99100"/>
                </a:solidFill>
              </a:rPr>
              <a:t>Also state which investment earned the larger CNY amount.</a:t>
            </a:r>
          </a:p>
          <a:p xmlns:a="http://schemas.openxmlformats.org/drawingml/2006/main">
            <a:pPr algn="l">
              <a:buNone/>
              <a:defRPr sz="2025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Use:</a:t>
            </a:r>
            <a:r>
              <a:rPr>
                <a:latin typeface="Microsoft YaHei"/>
                <a:ea typeface="Microsoft YaHei"/>
                <a:cs typeface="Microsoft YaHei"/>
              </a:rPr>
              <a:t> return amount (回报额) • percentage return (回报率)</a:t>
            </a:r>
          </a:p>
        </p:txBody>
      </p:sp>
    </p:spTree>
    <p:extLst>
      <p:ext uri="{BB962C8B-B14F-4D97-AF65-F5344CB8AC3E}">
        <p14:creationId xmlns:p14="http://schemas.microsoft.com/office/powerpoint/2010/main" val="92525066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EB0E53-F788-98D5-24E5-BE5C999839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90550"/>
            <a:ext cx="10820400" cy="7810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2D"/>
                </a:solidFill>
                <a:latin typeface="Arial"/>
                <a:ea typeface="Arial"/>
                <a:cs typeface="Arial"/>
              </a:rPr>
              <a:t>A strong final judgement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C93E13-C7DC-3114-7BCE-864CEB625E6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123950" y="1952625"/>
            <a:ext cx="9944100" cy="29527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8"/>
              </a:spcAft>
              <a:buNone/>
              <a:defRPr sz="22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B5D7E"/>
                </a:solidFill>
              </a:rPr>
              <a:t>A returned 10%</a:t>
            </a:r>
            <a:r>
              <a:t>, while B returned 6% over the same period. </a:t>
            </a:r>
            <a:r>
              <a:rPr b="1">
                <a:solidFill>
                  <a:srgbClr val="2B5D7E"/>
                </a:solidFill>
              </a:rPr>
              <a:t>A performed better</a:t>
            </a:r>
            <a:r>
              <a:t> because its return was larger relative to its starting value. </a:t>
            </a:r>
            <a:r>
              <a:rPr b="1">
                <a:solidFill>
                  <a:srgbClr val="D99100"/>
                </a:solidFill>
              </a:rPr>
              <a:t>B still earned the larger CNY amount (CNY 600).</a:t>
            </a:r>
          </a:p>
          <a:p xmlns:a="http://schemas.openxmlformats.org/drawingml/2006/main">
            <a:pPr algn="l">
              <a:buNone/>
              <a:defRPr sz="2250">
                <a:solidFill>
                  <a:srgbClr val="17232D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4C8CF5"/>
                </a:solidFill>
              </a:rPr>
              <a:t>Fair comparison requires the starting amount, return and matched period.</a:t>
            </a:r>
          </a:p>
        </p:txBody>
      </p:sp>
    </p:spTree>
    <p:extLst>
      <p:ext uri="{BB962C8B-B14F-4D97-AF65-F5344CB8AC3E}">
        <p14:creationId xmlns:p14="http://schemas.microsoft.com/office/powerpoint/2010/main" val="176457406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2026-09-03T03:43:04.0700000Z</dcterms:created>
  <dcterms:modified xsi:type="dcterms:W3CDTF">2026-09-03T03:43:04.0700000Z</dcterms:modified>
</coreProperties>
</file>