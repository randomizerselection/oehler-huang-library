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971bc952c14dbc" /><Relationship Type="http://schemas.openxmlformats.org/officeDocument/2006/relationships/extended-properties" Target="/docProps/app.xml" Id="Rc5aad0f44f8e4573" /><Relationship Type="http://schemas.openxmlformats.org/officeDocument/2006/relationships/officeDocument" Target="/ppt/presentation.xml" Id="R6b8de5275fde4e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18b409d1454def"/>
  </p:sldMasterIdLst>
  <p:notesMasterIdLst>
    <p:notesMasterId xmlns:r="http://schemas.openxmlformats.org/officeDocument/2006/relationships" r:id="Rb74e10ec6c464b3b"/>
  </p:notesMasterIdLst>
  <p:sldIdLst>
    <p:sldId xmlns:r="http://schemas.openxmlformats.org/officeDocument/2006/relationships" id="256" r:id="R21bf671b0d494b8a"/>
    <p:sldId xmlns:r="http://schemas.openxmlformats.org/officeDocument/2006/relationships" id="257" r:id="R55c6f165591e4c98"/>
    <p:sldId xmlns:r="http://schemas.openxmlformats.org/officeDocument/2006/relationships" id="258" r:id="R20d2c7433cac49fe"/>
    <p:sldId xmlns:r="http://schemas.openxmlformats.org/officeDocument/2006/relationships" id="259" r:id="Re5c82c955aff4bea"/>
    <p:sldId xmlns:r="http://schemas.openxmlformats.org/officeDocument/2006/relationships" id="260" r:id="R2ce7a056df944514"/>
    <p:sldId xmlns:r="http://schemas.openxmlformats.org/officeDocument/2006/relationships" id="261" r:id="Ra6b92de7d5114ac2"/>
    <p:sldId xmlns:r="http://schemas.openxmlformats.org/officeDocument/2006/relationships" id="262" r:id="R4b608b13828a4681"/>
    <p:sldId xmlns:r="http://schemas.openxmlformats.org/officeDocument/2006/relationships" id="263" r:id="R63d6d9c66963492a"/>
    <p:sldId xmlns:r="http://schemas.openxmlformats.org/officeDocument/2006/relationships" id="264" r:id="R6d35b5eaa2634b19"/>
    <p:sldId xmlns:r="http://schemas.openxmlformats.org/officeDocument/2006/relationships" id="265" r:id="R6c568ae23a054b17"/>
    <p:sldId xmlns:r="http://schemas.openxmlformats.org/officeDocument/2006/relationships" id="266" r:id="R48ce87f7abf545ab"/>
    <p:sldId xmlns:r="http://schemas.openxmlformats.org/officeDocument/2006/relationships" id="267" r:id="R84672e157e2842a6"/>
    <p:sldId xmlns:r="http://schemas.openxmlformats.org/officeDocument/2006/relationships" id="268" r:id="R79361fc8083d437c"/>
    <p:sldId xmlns:r="http://schemas.openxmlformats.org/officeDocument/2006/relationships" id="269" r:id="R219860cf529d4ce3"/>
    <p:sldId xmlns:r="http://schemas.openxmlformats.org/officeDocument/2006/relationships" id="270" r:id="R0dcc151a83eb44e2"/>
    <p:sldId xmlns:r="http://schemas.openxmlformats.org/officeDocument/2006/relationships" id="271" r:id="R6db528ba79714db1"/>
    <p:sldId xmlns:r="http://schemas.openxmlformats.org/officeDocument/2006/relationships" id="272" r:id="R5e0ec7a7e8914b8a"/>
    <p:sldId xmlns:r="http://schemas.openxmlformats.org/officeDocument/2006/relationships" id="273" r:id="Ree152c00097d4c4e"/>
    <p:sldId xmlns:r="http://schemas.openxmlformats.org/officeDocument/2006/relationships" id="274" r:id="R9fccefcc47c94cf4"/>
    <p:sldId xmlns:r="http://schemas.openxmlformats.org/officeDocument/2006/relationships" id="275" r:id="Redeb64bec1fa4b9d"/>
    <p:sldId xmlns:r="http://schemas.openxmlformats.org/officeDocument/2006/relationships" id="276" r:id="Rb736f175d3db4907"/>
    <p:sldId xmlns:r="http://schemas.openxmlformats.org/officeDocument/2006/relationships" id="277" r:id="Rc79ab647e1714e5d"/>
    <p:sldId xmlns:r="http://schemas.openxmlformats.org/officeDocument/2006/relationships" id="278" r:id="Re8c6cfe6632c4295"/>
    <p:sldId xmlns:r="http://schemas.openxmlformats.org/officeDocument/2006/relationships" id="279" r:id="R362301ff73c4484b"/>
    <p:sldId xmlns:r="http://schemas.openxmlformats.org/officeDocument/2006/relationships" id="280" r:id="Rc5e4cf1152b842bf"/>
    <p:sldId xmlns:r="http://schemas.openxmlformats.org/officeDocument/2006/relationships" id="281" r:id="R0bd066c11c0d422d"/>
    <p:sldId xmlns:r="http://schemas.openxmlformats.org/officeDocument/2006/relationships" id="282" r:id="R8ad1475c49e947d9"/>
    <p:sldId xmlns:r="http://schemas.openxmlformats.org/officeDocument/2006/relationships" id="283" r:id="R8246b9dc66a34eec"/>
    <p:sldId xmlns:r="http://schemas.openxmlformats.org/officeDocument/2006/relationships" id="284" r:id="R1a56c8ad02234118"/>
    <p:sldId xmlns:r="http://schemas.openxmlformats.org/officeDocument/2006/relationships" id="285" r:id="Rc3332066b1d54ccf"/>
    <p:sldId xmlns:r="http://schemas.openxmlformats.org/officeDocument/2006/relationships" id="286" r:id="R49cf9bfa8f574e3a"/>
    <p:sldId xmlns:r="http://schemas.openxmlformats.org/officeDocument/2006/relationships" id="287" r:id="Rad124165bc534a0d"/>
    <p:sldId xmlns:r="http://schemas.openxmlformats.org/officeDocument/2006/relationships" id="288" r:id="R6626ea4bef6b4e1b"/>
    <p:sldId xmlns:r="http://schemas.openxmlformats.org/officeDocument/2006/relationships" id="289" r:id="Rf0791efb687340e1"/>
    <p:sldId xmlns:r="http://schemas.openxmlformats.org/officeDocument/2006/relationships" id="290" r:id="Rb9805a3d4f88411c"/>
    <p:sldId xmlns:r="http://schemas.openxmlformats.org/officeDocument/2006/relationships" id="291" r:id="R288493467b65427b"/>
    <p:sldId xmlns:r="http://schemas.openxmlformats.org/officeDocument/2006/relationships" id="292" r:id="Rddc0d6989c504362"/>
    <p:sldId xmlns:r="http://schemas.openxmlformats.org/officeDocument/2006/relationships" id="293" r:id="R5981bb440cdc4f87"/>
    <p:sldId xmlns:r="http://schemas.openxmlformats.org/officeDocument/2006/relationships" id="294" r:id="Rcf52a3177a9b4402"/>
    <p:sldId xmlns:r="http://schemas.openxmlformats.org/officeDocument/2006/relationships" id="295" r:id="R6613eee6d4ed425f"/>
    <p:sldId xmlns:r="http://schemas.openxmlformats.org/officeDocument/2006/relationships" id="296" r:id="R24be7115e7a247fe"/>
    <p:sldId xmlns:r="http://schemas.openxmlformats.org/officeDocument/2006/relationships" id="297" r:id="Rcf2996b0c0b449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e917bea0f249c7" /><Relationship Type="http://schemas.openxmlformats.org/officeDocument/2006/relationships/slideMaster" Target="/ppt/slideMasters/slideMaster1.xml" Id="R6218b409d1454def" /><Relationship Type="http://schemas.openxmlformats.org/officeDocument/2006/relationships/notesMaster" Target="/ppt/notesMasters/notesMaster1.xml" Id="Rb74e10ec6c464b3b" /><Relationship Type="http://schemas.openxmlformats.org/officeDocument/2006/relationships/presProps" Target="/ppt/presProps.xml" Id="Rf27341abc3fb412d" /><Relationship Type="http://schemas.openxmlformats.org/officeDocument/2006/relationships/tableStyles" Target="/ppt/tableStyles.xml" Id="R21a808c7cb3c4762" /><Relationship Type="http://schemas.openxmlformats.org/officeDocument/2006/relationships/slide" Target="/ppt/slides/slide1.xml" Id="R21bf671b0d494b8a" /><Relationship Type="http://schemas.openxmlformats.org/officeDocument/2006/relationships/slide" Target="/ppt/slides/slide2.xml" Id="R55c6f165591e4c98" /><Relationship Type="http://schemas.openxmlformats.org/officeDocument/2006/relationships/slide" Target="/ppt/slides/slide3.xml" Id="R20d2c7433cac49fe" /><Relationship Type="http://schemas.openxmlformats.org/officeDocument/2006/relationships/slide" Target="/ppt/slides/slide4.xml" Id="Re5c82c955aff4bea" /><Relationship Type="http://schemas.openxmlformats.org/officeDocument/2006/relationships/slide" Target="/ppt/slides/slide5.xml" Id="R2ce7a056df944514" /><Relationship Type="http://schemas.openxmlformats.org/officeDocument/2006/relationships/slide" Target="/ppt/slides/slide6.xml" Id="Ra6b92de7d5114ac2" /><Relationship Type="http://schemas.openxmlformats.org/officeDocument/2006/relationships/slide" Target="/ppt/slides/slide7.xml" Id="R4b608b13828a4681" /><Relationship Type="http://schemas.openxmlformats.org/officeDocument/2006/relationships/slide" Target="/ppt/slides/slide8.xml" Id="R63d6d9c66963492a" /><Relationship Type="http://schemas.openxmlformats.org/officeDocument/2006/relationships/slide" Target="/ppt/slides/slide9.xml" Id="R6d35b5eaa2634b19" /><Relationship Type="http://schemas.openxmlformats.org/officeDocument/2006/relationships/slide" Target="/ppt/slides/slide10.xml" Id="R6c568ae23a054b17" /><Relationship Type="http://schemas.openxmlformats.org/officeDocument/2006/relationships/slide" Target="/ppt/slides/slide11.xml" Id="R48ce87f7abf545ab" /><Relationship Type="http://schemas.openxmlformats.org/officeDocument/2006/relationships/slide" Target="/ppt/slides/slide12.xml" Id="R84672e157e2842a6" /><Relationship Type="http://schemas.openxmlformats.org/officeDocument/2006/relationships/slide" Target="/ppt/slides/slide13.xml" Id="R79361fc8083d437c" /><Relationship Type="http://schemas.openxmlformats.org/officeDocument/2006/relationships/slide" Target="/ppt/slides/slide14.xml" Id="R219860cf529d4ce3" /><Relationship Type="http://schemas.openxmlformats.org/officeDocument/2006/relationships/slide" Target="/ppt/slides/slide15.xml" Id="R0dcc151a83eb44e2" /><Relationship Type="http://schemas.openxmlformats.org/officeDocument/2006/relationships/slide" Target="/ppt/slides/slide16.xml" Id="R6db528ba79714db1" /><Relationship Type="http://schemas.openxmlformats.org/officeDocument/2006/relationships/slide" Target="/ppt/slides/slide17.xml" Id="R5e0ec7a7e8914b8a" /><Relationship Type="http://schemas.openxmlformats.org/officeDocument/2006/relationships/slide" Target="/ppt/slides/slide18.xml" Id="Ree152c00097d4c4e" /><Relationship Type="http://schemas.openxmlformats.org/officeDocument/2006/relationships/slide" Target="/ppt/slides/slide19.xml" Id="R9fccefcc47c94cf4" /><Relationship Type="http://schemas.openxmlformats.org/officeDocument/2006/relationships/slide" Target="/ppt/slides/slide20.xml" Id="Redeb64bec1fa4b9d" /><Relationship Type="http://schemas.openxmlformats.org/officeDocument/2006/relationships/slide" Target="/ppt/slides/slide21.xml" Id="Rb736f175d3db4907" /><Relationship Type="http://schemas.openxmlformats.org/officeDocument/2006/relationships/slide" Target="/ppt/slides/slide22.xml" Id="Rc79ab647e1714e5d" /><Relationship Type="http://schemas.openxmlformats.org/officeDocument/2006/relationships/slide" Target="/ppt/slides/slide23.xml" Id="Re8c6cfe6632c4295" /><Relationship Type="http://schemas.openxmlformats.org/officeDocument/2006/relationships/slide" Target="/ppt/slides/slide24.xml" Id="R362301ff73c4484b" /><Relationship Type="http://schemas.openxmlformats.org/officeDocument/2006/relationships/slide" Target="/ppt/slides/slide25.xml" Id="Rc5e4cf1152b842bf" /><Relationship Type="http://schemas.openxmlformats.org/officeDocument/2006/relationships/slide" Target="/ppt/slides/slide26.xml" Id="R0bd066c11c0d422d" /><Relationship Type="http://schemas.openxmlformats.org/officeDocument/2006/relationships/slide" Target="/ppt/slides/slide27.xml" Id="R8ad1475c49e947d9" /><Relationship Type="http://schemas.openxmlformats.org/officeDocument/2006/relationships/slide" Target="/ppt/slides/slide28.xml" Id="R8246b9dc66a34eec" /><Relationship Type="http://schemas.openxmlformats.org/officeDocument/2006/relationships/slide" Target="/ppt/slides/slide29.xml" Id="R1a56c8ad02234118" /><Relationship Type="http://schemas.openxmlformats.org/officeDocument/2006/relationships/slide" Target="/ppt/slides/slide30.xml" Id="Rc3332066b1d54ccf" /><Relationship Type="http://schemas.openxmlformats.org/officeDocument/2006/relationships/slide" Target="/ppt/slides/slide31.xml" Id="R49cf9bfa8f574e3a" /><Relationship Type="http://schemas.openxmlformats.org/officeDocument/2006/relationships/slide" Target="/ppt/slides/slide32.xml" Id="Rad124165bc534a0d" /><Relationship Type="http://schemas.openxmlformats.org/officeDocument/2006/relationships/slide" Target="/ppt/slides/slide33.xml" Id="R6626ea4bef6b4e1b" /><Relationship Type="http://schemas.openxmlformats.org/officeDocument/2006/relationships/slide" Target="/ppt/slides/slide34.xml" Id="Rf0791efb687340e1" /><Relationship Type="http://schemas.openxmlformats.org/officeDocument/2006/relationships/slide" Target="/ppt/slides/slide35.xml" Id="Rb9805a3d4f88411c" /><Relationship Type="http://schemas.openxmlformats.org/officeDocument/2006/relationships/slide" Target="/ppt/slides/slide36.xml" Id="R288493467b65427b" /><Relationship Type="http://schemas.openxmlformats.org/officeDocument/2006/relationships/slide" Target="/ppt/slides/slide37.xml" Id="Rddc0d6989c504362" /><Relationship Type="http://schemas.openxmlformats.org/officeDocument/2006/relationships/slide" Target="/ppt/slides/slide38.xml" Id="R5981bb440cdc4f87" /><Relationship Type="http://schemas.openxmlformats.org/officeDocument/2006/relationships/slide" Target="/ppt/slides/slide39.xml" Id="Rcf52a3177a9b4402" /><Relationship Type="http://schemas.openxmlformats.org/officeDocument/2006/relationships/slide" Target="/ppt/slides/slide40.xml" Id="R6613eee6d4ed425f" /><Relationship Type="http://schemas.openxmlformats.org/officeDocument/2006/relationships/slide" Target="/ppt/slides/slide41.xml" Id="R24be7115e7a247fe" /><Relationship Type="http://schemas.openxmlformats.org/officeDocument/2006/relationships/slide" Target="/ppt/slides/slide42.xml" Id="Rcf2996b0c0b449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608b8a634942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Economics HTML Dark">
      <a:dk1>
        <a:srgbClr val="000000"/>
      </a:dk1>
      <a:lt1>
        <a:srgbClr val="FFFFFF"/>
      </a:lt1>
      <a:dk2>
        <a:srgbClr val="F5F8FF"/>
      </a:dk2>
      <a:lt2>
        <a:srgbClr val="0C1B2D"/>
      </a:lt2>
      <a:accent1>
        <a:srgbClr val="56D8FF"/>
      </a:accent1>
      <a:accent2>
        <a:srgbClr val="FFD166"/>
      </a:accent2>
      <a:accent3>
        <a:srgbClr val="FF9F43"/>
      </a:accent3>
      <a:accent4>
        <a:srgbClr val="FF6B8A"/>
      </a:accent4>
      <a:accent5>
        <a:srgbClr val="B79CFF"/>
      </a:accent5>
      <a:accent6>
        <a:srgbClr val="7EF0B5"/>
      </a:accent6>
      <a:hlink>
        <a:srgbClr val="56D8FF"/>
      </a:hlink>
      <a:folHlink>
        <a:srgbClr val="B79C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conomics HTML Dar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1e3e5362c44d10" /><Relationship Type="http://schemas.openxmlformats.org/officeDocument/2006/relationships/notesMaster" Target="/ppt/notesMasters/notesMaster1.xml" Id="Rde21181b65104e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eb4c8a7e034af1" /><Relationship Type="http://schemas.openxmlformats.org/officeDocument/2006/relationships/notesMaster" Target="/ppt/notesMasters/notesMaster1.xml" Id="R9fd081f3bfa442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9236429c984e80" /><Relationship Type="http://schemas.openxmlformats.org/officeDocument/2006/relationships/notesMaster" Target="/ppt/notesMasters/notesMaster1.xml" Id="Rbbc84ae1a9f748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d8913b9c7b488f" /><Relationship Type="http://schemas.openxmlformats.org/officeDocument/2006/relationships/notesMaster" Target="/ppt/notesMasters/notesMaster1.xml" Id="Rc3286df73d3e49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dd3467250f4708" /><Relationship Type="http://schemas.openxmlformats.org/officeDocument/2006/relationships/notesMaster" Target="/ppt/notesMasters/notesMaster1.xml" Id="R28b5c96e997141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efa9393a48462d" /><Relationship Type="http://schemas.openxmlformats.org/officeDocument/2006/relationships/notesMaster" Target="/ppt/notesMasters/notesMaster1.xml" Id="R5c511f418b344f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061566f16c43cc" /><Relationship Type="http://schemas.openxmlformats.org/officeDocument/2006/relationships/notesMaster" Target="/ppt/notesMasters/notesMaster1.xml" Id="R58b3d87757f34f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92ac98b12246f8" /><Relationship Type="http://schemas.openxmlformats.org/officeDocument/2006/relationships/notesMaster" Target="/ppt/notesMasters/notesMaster1.xml" Id="Rbd4ad12271864f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5d3f0a9d4a4486" /><Relationship Type="http://schemas.openxmlformats.org/officeDocument/2006/relationships/notesMaster" Target="/ppt/notesMasters/notesMaster1.xml" Id="R65cc1a03dd9744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2038a5f0fb4e35" /><Relationship Type="http://schemas.openxmlformats.org/officeDocument/2006/relationships/notesMaster" Target="/ppt/notesMasters/notesMaster1.xml" Id="R6c2573b804434a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bbdde9f1204064" /><Relationship Type="http://schemas.openxmlformats.org/officeDocument/2006/relationships/notesMaster" Target="/ppt/notesMasters/notesMaster1.xml" Id="Rf9dc463190bf48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32949800584cd5" /><Relationship Type="http://schemas.openxmlformats.org/officeDocument/2006/relationships/notesMaster" Target="/ppt/notesMasters/notesMaster1.xml" Id="Rd663009480f24c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71d4fcd4584e92" /><Relationship Type="http://schemas.openxmlformats.org/officeDocument/2006/relationships/notesMaster" Target="/ppt/notesMasters/notesMaster1.xml" Id="R914f116e36cf4d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c403d6ccace41b4" /><Relationship Type="http://schemas.openxmlformats.org/officeDocument/2006/relationships/notesMaster" Target="/ppt/notesMasters/notesMaster1.xml" Id="Re878c887dbd74be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14465edb2d647da" /><Relationship Type="http://schemas.openxmlformats.org/officeDocument/2006/relationships/notesMaster" Target="/ppt/notesMasters/notesMaster1.xml" Id="Rca62f1142a2b4f4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c795ce28c5c4b67" /><Relationship Type="http://schemas.openxmlformats.org/officeDocument/2006/relationships/notesMaster" Target="/ppt/notesMasters/notesMaster1.xml" Id="R95fe9168dbbb446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eb93fe5a6294d40" /><Relationship Type="http://schemas.openxmlformats.org/officeDocument/2006/relationships/notesMaster" Target="/ppt/notesMasters/notesMaster1.xml" Id="R06c19c20442e419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aa438ef75c64d99" /><Relationship Type="http://schemas.openxmlformats.org/officeDocument/2006/relationships/notesMaster" Target="/ppt/notesMasters/notesMaster1.xml" Id="Rc97ad2708c2e412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37862703789472e" /><Relationship Type="http://schemas.openxmlformats.org/officeDocument/2006/relationships/notesMaster" Target="/ppt/notesMasters/notesMaster1.xml" Id="R58a94f3b70d548a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9ad97a48dc94fb7" /><Relationship Type="http://schemas.openxmlformats.org/officeDocument/2006/relationships/notesMaster" Target="/ppt/notesMasters/notesMaster1.xml" Id="Ra576f68ebb99430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d8d0c8a92354018" /><Relationship Type="http://schemas.openxmlformats.org/officeDocument/2006/relationships/notesMaster" Target="/ppt/notesMasters/notesMaster1.xml" Id="Re0207d4f7c0c4d5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176a084fec54750" /><Relationship Type="http://schemas.openxmlformats.org/officeDocument/2006/relationships/notesMaster" Target="/ppt/notesMasters/notesMaster1.xml" Id="Rafb3026fedb8480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040e6fb6cd048c5" /><Relationship Type="http://schemas.openxmlformats.org/officeDocument/2006/relationships/notesMaster" Target="/ppt/notesMasters/notesMaster1.xml" Id="R2c830d7d7fb440e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72e19e888984d10" /><Relationship Type="http://schemas.openxmlformats.org/officeDocument/2006/relationships/notesMaster" Target="/ppt/notesMasters/notesMaster1.xml" Id="R8ab6f8cdf3ac483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ad246edcbec4144" /><Relationship Type="http://schemas.openxmlformats.org/officeDocument/2006/relationships/notesMaster" Target="/ppt/notesMasters/notesMaster1.xml" Id="R127c5fbd531c48c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fcb0247340d4048" /><Relationship Type="http://schemas.openxmlformats.org/officeDocument/2006/relationships/notesMaster" Target="/ppt/notesMasters/notesMaster1.xml" Id="R3ed5d4493667456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0ceec65344f45ae" /><Relationship Type="http://schemas.openxmlformats.org/officeDocument/2006/relationships/notesMaster" Target="/ppt/notesMasters/notesMaster1.xml" Id="Rd72ea7d11a674ac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2224440d1994ac8" /><Relationship Type="http://schemas.openxmlformats.org/officeDocument/2006/relationships/notesMaster" Target="/ppt/notesMasters/notesMaster1.xml" Id="Rb9434a6ecf1d40a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f866da3818b4bdd" /><Relationship Type="http://schemas.openxmlformats.org/officeDocument/2006/relationships/notesMaster" Target="/ppt/notesMasters/notesMaster1.xml" Id="R95caaec3821d432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994b201f7364e61" /><Relationship Type="http://schemas.openxmlformats.org/officeDocument/2006/relationships/notesMaster" Target="/ppt/notesMasters/notesMaster1.xml" Id="Rfe9a923a3f26441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055259cf3624067" /><Relationship Type="http://schemas.openxmlformats.org/officeDocument/2006/relationships/notesMaster" Target="/ppt/notesMasters/notesMaster1.xml" Id="R5fcc167b72464e0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495fce4b0b5447c" /><Relationship Type="http://schemas.openxmlformats.org/officeDocument/2006/relationships/notesMaster" Target="/ppt/notesMasters/notesMaster1.xml" Id="R394aa90ac8404cd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060bf0af72a4458" /><Relationship Type="http://schemas.openxmlformats.org/officeDocument/2006/relationships/notesMaster" Target="/ppt/notesMasters/notesMaster1.xml" Id="R20fa12d82ddc443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1668079a2ee4464" /><Relationship Type="http://schemas.openxmlformats.org/officeDocument/2006/relationships/notesMaster" Target="/ppt/notesMasters/notesMaster1.xml" Id="R0ca47a4388f544f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b2ad94d87ac4e77" /><Relationship Type="http://schemas.openxmlformats.org/officeDocument/2006/relationships/notesMaster" Target="/ppt/notesMasters/notesMaster1.xml" Id="Rb0cd926e867f424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2a7e0afb6b94671" /><Relationship Type="http://schemas.openxmlformats.org/officeDocument/2006/relationships/notesMaster" Target="/ppt/notesMasters/notesMaster1.xml" Id="R8ecbe3d0c079459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f9b8c0d9a2d4b27" /><Relationship Type="http://schemas.openxmlformats.org/officeDocument/2006/relationships/notesMaster" Target="/ppt/notesMasters/notesMaster1.xml" Id="R381a4d7f4d05452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6a8170ec4174748" /><Relationship Type="http://schemas.openxmlformats.org/officeDocument/2006/relationships/notesMaster" Target="/ppt/notesMasters/notesMaster1.xml" Id="R5793f77368a44a9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f69a5de587d452d" /><Relationship Type="http://schemas.openxmlformats.org/officeDocument/2006/relationships/notesMaster" Target="/ppt/notesMasters/notesMaster1.xml" Id="Rb446c25ed15446e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19a4313fc3743dc" /><Relationship Type="http://schemas.openxmlformats.org/officeDocument/2006/relationships/notesMaster" Target="/ppt/notesMasters/notesMaster1.xml" Id="R5a3260a8b227445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d0e6b0ae72241a5" /><Relationship Type="http://schemas.openxmlformats.org/officeDocument/2006/relationships/notesMaster" Target="/ppt/notesMasters/notesMaster1.xml" Id="R52c921b1931243c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1e2af8d7c1e4167" /><Relationship Type="http://schemas.openxmlformats.org/officeDocument/2006/relationships/notesMaster" Target="/ppt/notesMasters/notesMaster1.xml" Id="Rced5d4b3315f49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hero</a:t>
            </a:r>
          </a:p>
          <a:p xmlns:a="http://schemas.openxmlformats.org/drawingml/2006/main">
            <a:r>
              <a:t>Teaching note: Frame the lesson as measurement, not prediction.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Pexels photograph by Jakub Zerdzicki: https://www.pexels.com/photo/finance-professional-analyzing-data-on-calculator-and-monitor-35638690/ (Pexels License).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opening-dilemma</a:t>
            </a:r>
          </a:p>
          <a:p xmlns:a="http://schemas.openxmlformats.org/drawingml/2006/main">
            <a:r>
              <a:t>Teaching note: Take a fast vote without resolving the dilemma.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objectives</a:t>
            </a:r>
          </a:p>
          <a:p xmlns:a="http://schemas.openxmlformats.org/drawingml/2006/main">
            <a:r>
              <a:t>Teaching note: Use the three bilingual objectives as the lesson roadmap.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recall-attempt</a:t>
            </a:r>
          </a:p>
          <a:p xmlns:a="http://schemas.openxmlformats.org/drawingml/2006/main">
            <a:r>
              <a:t>Teaching note: Silent recall first; do not reveal until every student has attempted.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recall-reveal</a:t>
            </a:r>
          </a:p>
          <a:p xmlns:a="http://schemas.openxmlformats.org/drawingml/2006/main">
            <a:r>
              <a:t>Teaching note: Briefly connect future return to today's measurement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section-total</a:t>
            </a:r>
          </a:p>
          <a:p xmlns:a="http://schemas.openxmlformats.org/drawingml/2006/main">
            <a:r>
              <a:t>Teaching note: Section divider.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pause-total</a:t>
            </a:r>
          </a:p>
          <a:p xmlns:a="http://schemas.openxmlformats.org/drawingml/2006/main">
            <a:r>
              <a:t>Teaching note: Visual pause: ask students what the calculator and written figures suggest about making an investment result reproducible.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Pexels photograph by Kindel Media: https://www.pexels.com/photo/a-person-using-a-calculator-7054421/ (Pexels License).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definition-total-attempt</a:t>
            </a:r>
          </a:p>
          <a:p xmlns:a="http://schemas.openxmlformats.org/drawingml/2006/main">
            <a:r>
              <a:t>Teaching note: Students complete both meaningful blanks before the reveal.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definition-total-reveal</a:t>
            </a:r>
          </a:p>
          <a:p xmlns:a="http://schemas.openxmlformats.org/drawingml/2006/main">
            <a:r>
              <a:t>Teaching note: Emphasise that both components belong in the calculation.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return-examples</a:t>
            </a:r>
          </a:p>
          <a:p xmlns:a="http://schemas.openxmlformats.org/drawingml/2006/main">
            <a:r>
              <a:t>Teaching note: Point to the value-change and income components in each 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classify-attempt</a:t>
            </a:r>
          </a:p>
          <a:p xmlns:a="http://schemas.openxmlformats.org/drawingml/2006/main">
            <a:r>
              <a:t>Teaching note: Students classify independently; added money is not return.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classify-reveal</a:t>
            </a:r>
          </a:p>
          <a:p xmlns:a="http://schemas.openxmlformats.org/drawingml/2006/main">
            <a:r>
              <a:t>Teaching note: Ask which mistake would overstate the return.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formula-attempt</a:t>
            </a:r>
          </a:p>
          <a:p xmlns:a="http://schemas.openxmlformats.org/drawingml/2006/main">
            <a:r>
              <a:t>Teaching note: Keep the full chain visible; students fill the two structural blanks.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formula-reveal</a:t>
            </a:r>
          </a:p>
          <a:p xmlns:a="http://schemas.openxmlformats.org/drawingml/2006/main">
            <a:r>
              <a:t>Teaching note: Students copy the formula and underline the plus-income term.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hinge-attempt</a:t>
            </a:r>
          </a:p>
          <a:p xmlns:a="http://schemas.openxmlformats.org/drawingml/2006/main">
            <a:r>
              <a:t>Teaching note: Vote before revealing. Diagnose whether students omitted income or confused amount and percentage.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hinge-reveal</a:t>
            </a:r>
          </a:p>
          <a:p xmlns:a="http://schemas.openxmlformats.org/drawingml/2006/main">
            <a:r>
              <a:t>Teaching note: If many chose A, repeat the two-component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section-calculate</a:t>
            </a:r>
          </a:p>
          <a:p xmlns:a="http://schemas.openxmlformats.org/drawingml/2006/main">
            <a:r>
              <a:t>Teaching note: Section divider.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pause-calculate</a:t>
            </a:r>
          </a:p>
          <a:p xmlns:a="http://schemas.openxmlformats.org/drawingml/2006/main">
            <a:r>
              <a:t>Teaching note: Visual pause: ask what the chart alone cannot tell us without the starting amount and time period.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Pexels photograph by Monstera Production: https://www.pexels.com/photo/graph-with-increasing-euro-profitable-investment-6289026/ (Pexels License).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method-attempt</a:t>
            </a:r>
          </a:p>
          <a:p xmlns:a="http://schemas.openxmlformats.org/drawingml/2006/main">
            <a:r>
              <a:t>Teaching note: Students complete the method before applying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method-reveal</a:t>
            </a:r>
          </a:p>
          <a:p xmlns:a="http://schemas.openxmlformats.org/drawingml/2006/main">
            <a:r>
              <a:t>Teaching note: Require these headings in later worked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worked-example</a:t>
            </a:r>
          </a:p>
          <a:p xmlns:a="http://schemas.openxmlformats.org/drawingml/2006/main">
            <a:r>
              <a:t>Teaching note: Model formula, substitution, answer and interpretation in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gain-practice</a:t>
            </a:r>
          </a:p>
          <a:p xmlns:a="http://schemas.openxmlformats.org/drawingml/2006/main">
            <a:r>
              <a:t>Teaching note: Give 75 seconds of independent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gain-model</a:t>
            </a:r>
          </a:p>
          <a:p xmlns:a="http://schemas.openxmlformats.org/drawingml/2006/main">
            <a:r>
              <a:t>Teaching note: Trace each line back to the four-step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loss-practice</a:t>
            </a:r>
          </a:p>
          <a:p xmlns:a="http://schemas.openxmlformats.org/drawingml/2006/main">
            <a:r>
              <a:t>Teaching note: Students should subtract before adding income.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loss-model</a:t>
            </a:r>
          </a:p>
          <a:p xmlns:a="http://schemas.openxmlformats.org/drawingml/2006/main">
            <a:r>
              <a:t>Teaching note: Emphasise that income can reduce a loss without eliminating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yesno-attempt</a:t>
            </a:r>
          </a:p>
          <a:p xmlns:a="http://schemas.openxmlformats.org/drawingml/2006/main">
            <a:r>
              <a:t>Teaching note: Students show yes/no simultaneously.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yesno-reveal</a:t>
            </a:r>
          </a:p>
          <a:p xmlns:a="http://schemas.openxmlformats.org/drawingml/2006/main">
            <a:r>
              <a:t>Teaching note: Ask students to correct each false statement orally.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section-compare</a:t>
            </a:r>
          </a:p>
          <a:p xmlns:a="http://schemas.openxmlformats.org/drawingml/2006/main">
            <a:r>
              <a:t>Teaching note: Section divider.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pause-compare</a:t>
            </a:r>
          </a:p>
          <a:p xmlns:a="http://schemas.openxmlformats.org/drawingml/2006/main">
            <a:r>
              <a:t>Teaching note: Visual pause: ask which numbers an analyst would need before judging performance.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Pexels photograph by Jakub Zerdzicki: https://www.pexels.com/photo/finance-professional-analyzing-data-on-calculator-and-monitor-35638690/ (Pexels License).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compare-attempt</a:t>
            </a:r>
          </a:p>
          <a:p xmlns:a="http://schemas.openxmlformats.org/drawingml/2006/main">
            <a:r>
              <a:t>Teaching note: Students complete the comparison language.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compare-reveal</a:t>
            </a:r>
          </a:p>
          <a:p xmlns:a="http://schemas.openxmlformats.org/drawingml/2006/main">
            <a:r>
              <a:t>Teaching note: Name the metric whenever making a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opening-attempt</a:t>
            </a:r>
          </a:p>
          <a:p xmlns:a="http://schemas.openxmlformats.org/drawingml/2006/main">
            <a:r>
              <a:t>Teaching note: Students may revise their opening vote only after calculating.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opening-reveal</a:t>
            </a:r>
          </a:p>
          <a:p xmlns:a="http://schemas.openxmlformats.org/drawingml/2006/main">
            <a:r>
              <a:t>Teaching note: Accept both conclusions only when the metric is named.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partner-attempt</a:t>
            </a:r>
          </a:p>
          <a:p xmlns:a="http://schemas.openxmlformats.org/drawingml/2006/main">
            <a:r>
              <a:t>Teaching note: Partners must agree on calculation, metric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partner-reveal</a:t>
            </a:r>
          </a:p>
          <a:p xmlns:a="http://schemas.openxmlformats.org/drawingml/2006/main">
            <a:r>
              <a:t>Teaching note: Underline the named metric and matched time period.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evidence-record</a:t>
            </a:r>
          </a:p>
          <a:p xmlns:a="http://schemas.openxmlformats.org/drawingml/2006/main">
            <a:r>
              <a:t>Teaching note: The evidence action supports consistent measurement; it is not an instruction to trade frequently.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Pexels photograph by Jakub Zerdzicki: https://www.pexels.com/photo/man-taking-notes-with-stock-market-data-on-screen-36633860/ (Pexels License).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mcq-attempt</a:t>
            </a:r>
          </a:p>
          <a:p xmlns:a="http://schemas.openxmlformats.org/drawingml/2006/main">
            <a:r>
              <a:t>Teaching note: Students calculate before choosing.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mcq-reveal</a:t>
            </a:r>
          </a:p>
          <a:p xmlns:a="http://schemas.openxmlformats.org/drawingml/2006/main">
            <a:r>
              <a:t>Teaching note: Ask which distractor represents omitting income.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short-answer</a:t>
            </a:r>
          </a:p>
          <a:p xmlns:a="http://schemas.openxmlformats.org/drawingml/2006/main">
            <a:r>
              <a:t>Teaching note: Give 90 seconds of individual writing.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short-model</a:t>
            </a:r>
          </a:p>
          <a:p xmlns:a="http://schemas.openxmlformats.org/drawingml/2006/main">
            <a:r>
              <a:t>Teaching note: Students self-check formula, substitution, units and interpretation.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exit-attempt</a:t>
            </a:r>
          </a:p>
          <a:p xmlns:a="http://schemas.openxmlformats.org/drawingml/2006/main">
            <a:r>
              <a:t>Teaching note: Collect every response before showing the reveal.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exit-reveal</a:t>
            </a:r>
          </a:p>
          <a:p xmlns:a="http://schemas.openxmlformats.org/drawingml/2006/main">
            <a:r>
              <a:t>Teaching note: Close by comparing this evidence-based judgement with the opening vote.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close PowerPoint adaptation of the Economics HTML lesson system.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14b4cfe0a642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c5d252abbd4e19" /><Relationship Type="http://schemas.openxmlformats.org/officeDocument/2006/relationships/slideLayout" Target="/ppt/slideLayouts/slideLayout1.xml" Id="R4d03b12d35a94a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03b12d35a94a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Economics HTML Dark">
      <a:dk1>
        <a:srgbClr val="000000"/>
      </a:dk1>
      <a:lt1>
        <a:srgbClr val="FFFFFF"/>
      </a:lt1>
      <a:dk2>
        <a:srgbClr val="F5F8FF"/>
      </a:dk2>
      <a:lt2>
        <a:srgbClr val="0C1B2D"/>
      </a:lt2>
      <a:accent1>
        <a:srgbClr val="56D8FF"/>
      </a:accent1>
      <a:accent2>
        <a:srgbClr val="FFD166"/>
      </a:accent2>
      <a:accent3>
        <a:srgbClr val="FF9F43"/>
      </a:accent3>
      <a:accent4>
        <a:srgbClr val="FF6B8A"/>
      </a:accent4>
      <a:accent5>
        <a:srgbClr val="B79CFF"/>
      </a:accent5>
      <a:accent6>
        <a:srgbClr val="7EF0B5"/>
      </a:accent6>
      <a:hlink>
        <a:srgbClr val="56D8FF"/>
      </a:hlink>
      <a:folHlink>
        <a:srgbClr val="B79C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conomics HTML Dar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7f3d1673b4a2d" /><Relationship Type="http://schemas.openxmlformats.org/officeDocument/2006/relationships/image" Target="/ppt/media/image.jpeg" Id="R32ebe4d3b53146f0" /><Relationship Type="http://schemas.openxmlformats.org/officeDocument/2006/relationships/notesSlide" Target="/ppt/notesSlides/notesSlide1.xml" Id="Rc5e1eee1dd3b46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932ff5d06460b" /><Relationship Type="http://schemas.openxmlformats.org/officeDocument/2006/relationships/notesSlide" Target="/ppt/notesSlides/notesSlide2.xml" Id="R3e58cc43dd1d42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79bc85de14a00" /><Relationship Type="http://schemas.openxmlformats.org/officeDocument/2006/relationships/notesSlide" Target="/ppt/notesSlides/notesSlide3.xml" Id="Re14ffdc6e7d949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565321e834dca" /><Relationship Type="http://schemas.openxmlformats.org/officeDocument/2006/relationships/notesSlide" Target="/ppt/notesSlides/notesSlide4.xml" Id="Rb3a930dc4fe94a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8fdc32e11424a" /><Relationship Type="http://schemas.openxmlformats.org/officeDocument/2006/relationships/notesSlide" Target="/ppt/notesSlides/notesSlide5.xml" Id="R04795023f36741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da6f6559f41fa" /><Relationship Type="http://schemas.openxmlformats.org/officeDocument/2006/relationships/notesSlide" Target="/ppt/notesSlides/notesSlide6.xml" Id="R79faecac413440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e05c5f5c64dfb" /><Relationship Type="http://schemas.openxmlformats.org/officeDocument/2006/relationships/image" Target="/ppt/media/image2.jpeg" Id="R28a2e17103bb4237" /><Relationship Type="http://schemas.openxmlformats.org/officeDocument/2006/relationships/notesSlide" Target="/ppt/notesSlides/notesSlide7.xml" Id="R73d058279f844c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0969e380f4f27" /><Relationship Type="http://schemas.openxmlformats.org/officeDocument/2006/relationships/notesSlide" Target="/ppt/notesSlides/notesSlide8.xml" Id="Rba1f08a7fd3941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c5c5e91f44c0a" /><Relationship Type="http://schemas.openxmlformats.org/officeDocument/2006/relationships/notesSlide" Target="/ppt/notesSlides/notesSlide9.xml" Id="R4374c20e0ff14c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226c324014582" /><Relationship Type="http://schemas.openxmlformats.org/officeDocument/2006/relationships/notesSlide" Target="/ppt/notesSlides/notesSlide10.xml" Id="R4659227cdb4344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65448f8504867" /><Relationship Type="http://schemas.openxmlformats.org/officeDocument/2006/relationships/notesSlide" Target="/ppt/notesSlides/notesSlide11.xml" Id="R1144bc09cb504f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14fe68418404d" /><Relationship Type="http://schemas.openxmlformats.org/officeDocument/2006/relationships/notesSlide" Target="/ppt/notesSlides/notesSlide12.xml" Id="R94eb669f81194b3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c75aa2f1545ca" /><Relationship Type="http://schemas.openxmlformats.org/officeDocument/2006/relationships/notesSlide" Target="/ppt/notesSlides/notesSlide13.xml" Id="R4db9ce5fcb1b4e5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106d17df84ba9" /><Relationship Type="http://schemas.openxmlformats.org/officeDocument/2006/relationships/notesSlide" Target="/ppt/notesSlides/notesSlide14.xml" Id="R3f9de1a370d5484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b7ca59dbb4bed" /><Relationship Type="http://schemas.openxmlformats.org/officeDocument/2006/relationships/notesSlide" Target="/ppt/notesSlides/notesSlide15.xml" Id="R8ad9bccfe079410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76271e88e489c" /><Relationship Type="http://schemas.openxmlformats.org/officeDocument/2006/relationships/notesSlide" Target="/ppt/notesSlides/notesSlide16.xml" Id="R981fb70459fc4c7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ef43b15f446aa" /><Relationship Type="http://schemas.openxmlformats.org/officeDocument/2006/relationships/notesSlide" Target="/ppt/notesSlides/notesSlide17.xml" Id="R21c09ebed2fb428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83f6ade684ae3" /><Relationship Type="http://schemas.openxmlformats.org/officeDocument/2006/relationships/image" Target="/ppt/media/image3.jpeg" Id="Rba9fd8cc5e494ba7" /><Relationship Type="http://schemas.openxmlformats.org/officeDocument/2006/relationships/notesSlide" Target="/ppt/notesSlides/notesSlide18.xml" Id="R3715eedeec97490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0056ffda14d0b" /><Relationship Type="http://schemas.openxmlformats.org/officeDocument/2006/relationships/notesSlide" Target="/ppt/notesSlides/notesSlide19.xml" Id="R23300920736f4f8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67efc858f4629" /><Relationship Type="http://schemas.openxmlformats.org/officeDocument/2006/relationships/notesSlide" Target="/ppt/notesSlides/notesSlide20.xml" Id="R6e172b241834479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58c5b63934c4b" /><Relationship Type="http://schemas.openxmlformats.org/officeDocument/2006/relationships/notesSlide" Target="/ppt/notesSlides/notesSlide21.xml" Id="Rdf105e42cdb94d3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c1a91ffc54578" /><Relationship Type="http://schemas.openxmlformats.org/officeDocument/2006/relationships/notesSlide" Target="/ppt/notesSlides/notesSlide22.xml" Id="R5e3f9b69fef840d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a0f1ebe5e48d7" /><Relationship Type="http://schemas.openxmlformats.org/officeDocument/2006/relationships/notesSlide" Target="/ppt/notesSlides/notesSlide23.xml" Id="Ra5c93716534749b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ced4b019b4173" /><Relationship Type="http://schemas.openxmlformats.org/officeDocument/2006/relationships/notesSlide" Target="/ppt/notesSlides/notesSlide24.xml" Id="R68584adbd39d4e8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a0514a8744278" /><Relationship Type="http://schemas.openxmlformats.org/officeDocument/2006/relationships/notesSlide" Target="/ppt/notesSlides/notesSlide25.xml" Id="Re6da1a718379477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000f40dcc4181" /><Relationship Type="http://schemas.openxmlformats.org/officeDocument/2006/relationships/notesSlide" Target="/ppt/notesSlides/notesSlide26.xml" Id="R9f16ff574122450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1abdcd65a441f" /><Relationship Type="http://schemas.openxmlformats.org/officeDocument/2006/relationships/notesSlide" Target="/ppt/notesSlides/notesSlide27.xml" Id="R8c32dc2f314e4d3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9f6d1f76b4c01" /><Relationship Type="http://schemas.openxmlformats.org/officeDocument/2006/relationships/notesSlide" Target="/ppt/notesSlides/notesSlide28.xml" Id="R244ecc604eb74f1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cbea0eb224580" /><Relationship Type="http://schemas.openxmlformats.org/officeDocument/2006/relationships/image" Target="/ppt/media/image4.jpeg" Id="R51ed5239de5b4a21" /><Relationship Type="http://schemas.openxmlformats.org/officeDocument/2006/relationships/notesSlide" Target="/ppt/notesSlides/notesSlide29.xml" Id="Rbc3d3467c7c343c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87174adcf47dd" /><Relationship Type="http://schemas.openxmlformats.org/officeDocument/2006/relationships/notesSlide" Target="/ppt/notesSlides/notesSlide30.xml" Id="Rc4b023137722432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35cad805b4e4f" /><Relationship Type="http://schemas.openxmlformats.org/officeDocument/2006/relationships/notesSlide" Target="/ppt/notesSlides/notesSlide31.xml" Id="Rc24315a3dcb3482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67a7b88334fb2" /><Relationship Type="http://schemas.openxmlformats.org/officeDocument/2006/relationships/notesSlide" Target="/ppt/notesSlides/notesSlide32.xml" Id="R20d585cd496a45a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e20635d4d491e" /><Relationship Type="http://schemas.openxmlformats.org/officeDocument/2006/relationships/notesSlide" Target="/ppt/notesSlides/notesSlide33.xml" Id="R4d4ab09efd79411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e1f7919be4f9d" /><Relationship Type="http://schemas.openxmlformats.org/officeDocument/2006/relationships/notesSlide" Target="/ppt/notesSlides/notesSlide34.xml" Id="Rcba1cf112c024e7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9006fd5ff4c27" /><Relationship Type="http://schemas.openxmlformats.org/officeDocument/2006/relationships/notesSlide" Target="/ppt/notesSlides/notesSlide35.xml" Id="Rd28d3b2b5dde465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2c8d297204ee1" /><Relationship Type="http://schemas.openxmlformats.org/officeDocument/2006/relationships/image" Target="/ppt/media/image5.jpeg" Id="R505e5d8c955749de" /><Relationship Type="http://schemas.openxmlformats.org/officeDocument/2006/relationships/notesSlide" Target="/ppt/notesSlides/notesSlide36.xml" Id="Rf6c0030ee0794a2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b3f1f54124905" /><Relationship Type="http://schemas.openxmlformats.org/officeDocument/2006/relationships/notesSlide" Target="/ppt/notesSlides/notesSlide37.xml" Id="R06c33078a591480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57f1024384886" /><Relationship Type="http://schemas.openxmlformats.org/officeDocument/2006/relationships/notesSlide" Target="/ppt/notesSlides/notesSlide38.xml" Id="R5ce6289d736d420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4f80347924533" /><Relationship Type="http://schemas.openxmlformats.org/officeDocument/2006/relationships/notesSlide" Target="/ppt/notesSlides/notesSlide39.xml" Id="R4203d4d1868b4d0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e1b2a7e9f4d7c" /><Relationship Type="http://schemas.openxmlformats.org/officeDocument/2006/relationships/notesSlide" Target="/ppt/notesSlides/notesSlide40.xml" Id="Rf561d36c7c234a8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1238208864844" /><Relationship Type="http://schemas.openxmlformats.org/officeDocument/2006/relationships/notesSlide" Target="/ppt/notesSlides/notesSlide41.xml" Id="R78a5a61ebb624a4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c0de3786b4fda" /><Relationship Type="http://schemas.openxmlformats.org/officeDocument/2006/relationships/notesSlide" Target="/ppt/notesSlides/notesSlide42.xml" Id="R04129b72111445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ro-accent">
            <a:extLst xmlns:a="http://schemas.openxmlformats.org/drawingml/2006/main">
              <a:ext uri="{FF2B5EF4-FFF2-40B4-BE49-F238E27FC236}">
                <a16:creationId xmlns:a16="http://schemas.microsoft.com/office/drawing/2014/main" id="{42172DED-AE5D-43D3-9AD7-723524F1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ro-kicker">
            <a:extLst xmlns:a="http://schemas.openxmlformats.org/drawingml/2006/main">
              <a:ext uri="{FF2B5EF4-FFF2-40B4-BE49-F238E27FC236}">
                <a16:creationId xmlns:a16="http://schemas.microsoft.com/office/drawing/2014/main" id="{163DC42E-EF56-45CD-B6F8-7D0DC5B4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· LESSON 02</a:t>
            </a:r>
          </a:p>
        </p:txBody>
      </p:sp>
      <p:sp>
        <p:nvSpPr>
          <p:cNvPr id="3" name="hero-title">
            <a:extLst xmlns:a="http://schemas.openxmlformats.org/drawingml/2006/main">
              <a:ext uri="{FF2B5EF4-FFF2-40B4-BE49-F238E27FC236}">
                <a16:creationId xmlns:a16="http://schemas.microsoft.com/office/drawing/2014/main" id="{9C2FE8F9-3917-4559-B67D-E849D7C3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Measuring investment return</a:t>
            </a:r>
          </a:p>
        </p:txBody>
      </p:sp>
      <p:sp>
        <p:nvSpPr>
          <p:cNvPr id="4" name="hero-zh">
            <a:extLst xmlns:a="http://schemas.openxmlformats.org/drawingml/2006/main">
              <a:ext uri="{FF2B5EF4-FFF2-40B4-BE49-F238E27FC236}">
                <a16:creationId xmlns:a16="http://schemas.microsoft.com/office/drawing/2014/main" id="{7E60F9D2-057E-47C6-B385-271E222B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衡量投资回报</a:t>
            </a:r>
          </a:p>
        </p:txBody>
      </p:sp>
      <p:sp>
        <p:nvSpPr>
          <p:cNvPr id="5" name="hero-subtitle">
            <a:extLst xmlns:a="http://schemas.openxmlformats.org/drawingml/2006/main">
              <a:ext uri="{FF2B5EF4-FFF2-40B4-BE49-F238E27FC236}">
                <a16:creationId xmlns:a16="http://schemas.microsoft.com/office/drawing/2014/main" id="{804EEB57-4E44-46D9-AEF5-68090562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BE7F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DBE7F6"/>
                </a:solidFill>
                <a:latin typeface="Arial"/>
                <a:ea typeface="Arial"/>
                <a:cs typeface="Arial"/>
              </a:rPr>
              <a:t>Lesson 2 · From an outcome to evidence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be4d3b53146f0"/>
          <a:srcRect xmlns:a="http://schemas.openxmlformats.org/drawingml/2006/main" l="27734" t="0" r="277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0"/>
            <a:ext cx="5429250" cy="6858000"/>
          </a:xfrm>
          <a:prstGeom xmlns:a="http://schemas.openxmlformats.org/drawingml/2006/main" prst="rect">
            <a:avLst/>
          </a:prstGeom>
        </p:spPr>
      </p:pic>
      <p:sp>
        <p:nvSpPr>
          <p:cNvPr id="7" name="image-boundary">
            <a:extLst xmlns:a="http://schemas.openxmlformats.org/drawingml/2006/main">
              <a:ext uri="{FF2B5EF4-FFF2-40B4-BE49-F238E27FC236}">
                <a16:creationId xmlns:a16="http://schemas.microsoft.com/office/drawing/2014/main" id="{C7463796-69F6-42D6-811E-278E0763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323336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48A71E69-77D2-49A0-A4C7-D4EBBA1D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COMPARE &amp; CHECK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8E163F8A-8F12-4F1C-8D86-9FE46A7D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2A08DE-40A6-4FDA-BB14-E39AE025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Which investment performed better?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A94743C-9626-4F00-B6DD-B9E79A71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mpt">
            <a:extLst xmlns:a="http://schemas.openxmlformats.org/drawingml/2006/main">
              <a:ext uri="{FF2B5EF4-FFF2-40B4-BE49-F238E27FC236}">
                <a16:creationId xmlns:a16="http://schemas.microsoft.com/office/drawing/2014/main" id="{7A3B2199-0431-46FA-A5D8-B3BD76E7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DBE7F6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DBE7F6"/>
                </a:solidFill>
                <a:latin typeface="Arial"/>
                <a:ea typeface="Arial"/>
                <a:cs typeface="Arial"/>
              </a:rPr>
              <a:t>Investment A earns CNY 200. Investment B earns CNY 600.</a:t>
            </a:r>
          </a:p>
        </p:txBody>
      </p:sp>
      <p:sp>
        <p:nvSpPr>
          <p:cNvPr id="6" name="choice-1">
            <a:extLst xmlns:a="http://schemas.openxmlformats.org/drawingml/2006/main">
              <a:ext uri="{FF2B5EF4-FFF2-40B4-BE49-F238E27FC236}">
                <a16:creationId xmlns:a16="http://schemas.microsoft.com/office/drawing/2014/main" id="{5689D93C-CFD8-4F30-A7A2-A806CFE5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38425"/>
            <a:ext cx="4095750" cy="2238375"/>
          </a:xfrm>
          <a:prstGeom xmlns:a="http://schemas.openxmlformats.org/drawingml/2006/main" prst="roundRect">
            <a:avLst>
              <a:gd name="adj" fmla="val 6809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choice-text-1">
            <a:extLst xmlns:a="http://schemas.openxmlformats.org/drawingml/2006/main">
              <a:ext uri="{FF2B5EF4-FFF2-40B4-BE49-F238E27FC236}">
                <a16:creationId xmlns:a16="http://schemas.microsoft.com/office/drawing/2014/main" id="{6246F2DE-333C-4BDE-8EAE-B0BB3F72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38425"/>
            <a:ext cx="4095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A</a:t>
            </a:r>
          </a:p>
          <a:p xmlns:a="http://schemas.openxmlformats.org/drawingml/2006/main">
            <a:pPr algn="ctr">
              <a:defRPr sz="2850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+CNY 200</a:t>
            </a:r>
          </a:p>
        </p:txBody>
      </p:sp>
      <p:sp>
        <p:nvSpPr>
          <p:cNvPr id="8" name="choice-2">
            <a:extLst xmlns:a="http://schemas.openxmlformats.org/drawingml/2006/main">
              <a:ext uri="{FF2B5EF4-FFF2-40B4-BE49-F238E27FC236}">
                <a16:creationId xmlns:a16="http://schemas.microsoft.com/office/drawing/2014/main" id="{0FCCB853-F402-4ED5-9BCF-7DF3CE42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38425"/>
            <a:ext cx="4095750" cy="2238375"/>
          </a:xfrm>
          <a:prstGeom xmlns:a="http://schemas.openxmlformats.org/drawingml/2006/main" prst="roundRect">
            <a:avLst>
              <a:gd name="adj" fmla="val 6809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choice-text-2">
            <a:extLst xmlns:a="http://schemas.openxmlformats.org/drawingml/2006/main">
              <a:ext uri="{FF2B5EF4-FFF2-40B4-BE49-F238E27FC236}">
                <a16:creationId xmlns:a16="http://schemas.microsoft.com/office/drawing/2014/main" id="{1F522FA1-7978-47A6-9F6E-11ABADC0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38425"/>
            <a:ext cx="4095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D166"/>
                </a:solidFill>
                <a:latin typeface="Arial"/>
                <a:ea typeface="Arial"/>
                <a:cs typeface="Arial"/>
              </a:rPr>
              <a:t>B</a:t>
            </a:r>
          </a:p>
          <a:p xmlns:a="http://schemas.openxmlformats.org/drawingml/2006/main">
            <a:pPr algn="ctr">
              <a:defRPr sz="2850" b="1" i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D166"/>
                </a:solidFill>
                <a:latin typeface="Arial"/>
                <a:ea typeface="Arial"/>
                <a:cs typeface="Arial"/>
              </a:rPr>
              <a:t>+CNY 600</a:t>
            </a:r>
          </a:p>
        </p:txBody>
      </p:sp>
      <p:sp>
        <p:nvSpPr>
          <p:cNvPr id="10" name="discussion-footer">
            <a:extLst xmlns:a="http://schemas.openxmlformats.org/drawingml/2006/main">
              <a:ext uri="{FF2B5EF4-FFF2-40B4-BE49-F238E27FC236}">
                <a16:creationId xmlns:a16="http://schemas.microsoft.com/office/drawing/2014/main" id="{122BBF93-275E-4A25-BDBF-02D1CD57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29250"/>
            <a:ext cx="868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Choose now. Be ready to explain what evidence is missing.</a:t>
            </a:r>
          </a:p>
        </p:txBody>
      </p:sp>
    </p:spTree>
    <p:extLst>
      <p:ext uri="{BB962C8B-B14F-4D97-AF65-F5344CB8AC3E}">
        <p14:creationId xmlns:p14="http://schemas.microsoft.com/office/powerpoint/2010/main" val="20717873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B61A9C4D-5D25-48D5-B9B9-9D2EC244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TOTAL RETURN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0ABC0E41-3E01-40B2-9B88-969FACA0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80A6A8-00FE-4767-A1FB-B53177A0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770AF08-CDE9-449A-927C-934FC375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bjective-number-bg-1">
            <a:extLst xmlns:a="http://schemas.openxmlformats.org/drawingml/2006/main">
              <a:ext uri="{FF2B5EF4-FFF2-40B4-BE49-F238E27FC236}">
                <a16:creationId xmlns:a16="http://schemas.microsoft.com/office/drawing/2014/main" id="{0EAB13FB-0017-4663-8D35-327B3A6D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647700" cy="9525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56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objective-number-1">
            <a:extLst xmlns:a="http://schemas.openxmlformats.org/drawingml/2006/main">
              <a:ext uri="{FF2B5EF4-FFF2-40B4-BE49-F238E27FC236}">
                <a16:creationId xmlns:a16="http://schemas.microsoft.com/office/drawing/2014/main" id="{C006FC45-9C24-4A0D-A7EB-48EEF792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647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7111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objective-card-1">
            <a:extLst xmlns:a="http://schemas.openxmlformats.org/drawingml/2006/main">
              <a:ext uri="{FF2B5EF4-FFF2-40B4-BE49-F238E27FC236}">
                <a16:creationId xmlns:a16="http://schemas.microsoft.com/office/drawing/2014/main" id="{0F6FF169-F0BB-48D7-B712-E3F9C25B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101536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objective-en-1">
            <a:extLst xmlns:a="http://schemas.openxmlformats.org/drawingml/2006/main">
              <a:ext uri="{FF2B5EF4-FFF2-40B4-BE49-F238E27FC236}">
                <a16:creationId xmlns:a16="http://schemas.microsoft.com/office/drawing/2014/main" id="{645BF017-1E8B-41B7-9AF7-B08FD12D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7907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Explain the components of total return</a:t>
            </a:r>
          </a:p>
        </p:txBody>
      </p:sp>
      <p:sp>
        <p:nvSpPr>
          <p:cNvPr id="9" name="objective-zh-1">
            <a:extLst xmlns:a="http://schemas.openxmlformats.org/drawingml/2006/main">
              <a:ext uri="{FF2B5EF4-FFF2-40B4-BE49-F238E27FC236}">
                <a16:creationId xmlns:a16="http://schemas.microsoft.com/office/drawing/2014/main" id="{9E396C90-2C4B-4B71-93AD-30A39DE7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621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DB0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9DB0CC"/>
                </a:solidFill>
                <a:latin typeface="Microsoft YaHei"/>
                <a:ea typeface="Microsoft YaHei"/>
                <a:cs typeface="Microsoft YaHei"/>
              </a:rPr>
              <a:t>解释总回报的构成</a:t>
            </a:r>
          </a:p>
        </p:txBody>
      </p:sp>
      <p:sp>
        <p:nvSpPr>
          <p:cNvPr id="10" name="objective-number-bg-2">
            <a:extLst xmlns:a="http://schemas.openxmlformats.org/drawingml/2006/main">
              <a:ext uri="{FF2B5EF4-FFF2-40B4-BE49-F238E27FC236}">
                <a16:creationId xmlns:a16="http://schemas.microsoft.com/office/drawing/2014/main" id="{2B17BF8F-A216-4CEB-B164-C9CB10C0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647700" cy="9525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bjective-number-2">
            <a:extLst xmlns:a="http://schemas.openxmlformats.org/drawingml/2006/main">
              <a:ext uri="{FF2B5EF4-FFF2-40B4-BE49-F238E27FC236}">
                <a16:creationId xmlns:a16="http://schemas.microsoft.com/office/drawing/2014/main" id="{590FC9A1-4803-427D-A28F-CCBAB51C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647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7111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objective-card-2">
            <a:extLst xmlns:a="http://schemas.openxmlformats.org/drawingml/2006/main">
              <a:ext uri="{FF2B5EF4-FFF2-40B4-BE49-F238E27FC236}">
                <a16:creationId xmlns:a16="http://schemas.microsoft.com/office/drawing/2014/main" id="{6429E4A2-5EA2-44DD-8E57-E8AE76CC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90850"/>
            <a:ext cx="101536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objective-en-2">
            <a:extLst xmlns:a="http://schemas.openxmlformats.org/drawingml/2006/main">
              <a:ext uri="{FF2B5EF4-FFF2-40B4-BE49-F238E27FC236}">
                <a16:creationId xmlns:a16="http://schemas.microsoft.com/office/drawing/2014/main" id="{A6F997C0-3B45-4D58-B4DE-64C8ABDA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432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Calculate return amount and percentage return</a:t>
            </a:r>
          </a:p>
        </p:txBody>
      </p:sp>
      <p:sp>
        <p:nvSpPr>
          <p:cNvPr id="14" name="objective-zh-2">
            <a:extLst xmlns:a="http://schemas.openxmlformats.org/drawingml/2006/main">
              <a:ext uri="{FF2B5EF4-FFF2-40B4-BE49-F238E27FC236}">
                <a16:creationId xmlns:a16="http://schemas.microsoft.com/office/drawing/2014/main" id="{EE687047-81D2-41DD-9DDD-C5FD2C01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147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DB0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9DB0CC"/>
                </a:solidFill>
                <a:latin typeface="Microsoft YaHei"/>
                <a:ea typeface="Microsoft YaHei"/>
                <a:cs typeface="Microsoft YaHei"/>
              </a:rPr>
              <a:t>计算回报额与回报率</a:t>
            </a:r>
          </a:p>
        </p:txBody>
      </p:sp>
      <p:sp>
        <p:nvSpPr>
          <p:cNvPr id="15" name="objective-number-bg-3">
            <a:extLst xmlns:a="http://schemas.openxmlformats.org/drawingml/2006/main">
              <a:ext uri="{FF2B5EF4-FFF2-40B4-BE49-F238E27FC236}">
                <a16:creationId xmlns:a16="http://schemas.microsoft.com/office/drawing/2014/main" id="{D26467D0-7525-43C7-91C8-66AB03CF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647700" cy="9525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56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bjective-number-3">
            <a:extLst xmlns:a="http://schemas.openxmlformats.org/drawingml/2006/main">
              <a:ext uri="{FF2B5EF4-FFF2-40B4-BE49-F238E27FC236}">
                <a16:creationId xmlns:a16="http://schemas.microsoft.com/office/drawing/2014/main" id="{10FED248-C0B5-4CFC-9D7D-775AFF13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647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7111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objective-card-3">
            <a:extLst xmlns:a="http://schemas.openxmlformats.org/drawingml/2006/main">
              <a:ext uri="{FF2B5EF4-FFF2-40B4-BE49-F238E27FC236}">
                <a16:creationId xmlns:a16="http://schemas.microsoft.com/office/drawing/2014/main" id="{2DFA1991-E819-47AF-85F1-B305D906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101536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objective-en-3">
            <a:extLst xmlns:a="http://schemas.openxmlformats.org/drawingml/2006/main">
              <a:ext uri="{FF2B5EF4-FFF2-40B4-BE49-F238E27FC236}">
                <a16:creationId xmlns:a16="http://schemas.microsoft.com/office/drawing/2014/main" id="{CD031517-305D-4756-8920-52FDC8E8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958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Use percentage return to compare investments fairly</a:t>
            </a:r>
          </a:p>
        </p:txBody>
      </p:sp>
      <p:sp>
        <p:nvSpPr>
          <p:cNvPr id="19" name="objective-zh-3">
            <a:extLst xmlns:a="http://schemas.openxmlformats.org/drawingml/2006/main">
              <a:ext uri="{FF2B5EF4-FFF2-40B4-BE49-F238E27FC236}">
                <a16:creationId xmlns:a16="http://schemas.microsoft.com/office/drawing/2014/main" id="{F97C0F0E-6DDB-4379-807A-ED5AE27A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672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DB0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9DB0CC"/>
                </a:solidFill>
                <a:latin typeface="Microsoft YaHei"/>
                <a:ea typeface="Microsoft YaHei"/>
                <a:cs typeface="Microsoft YaHei"/>
              </a:rPr>
              <a:t>用回报率公平比较投资</a:t>
            </a:r>
          </a:p>
        </p:txBody>
      </p:sp>
    </p:spTree>
    <p:extLst>
      <p:ext uri="{BB962C8B-B14F-4D97-AF65-F5344CB8AC3E}">
        <p14:creationId xmlns:p14="http://schemas.microsoft.com/office/powerpoint/2010/main" val="2815712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E9887B97-24CF-4F83-AAC0-6E85945E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TOTAL RETURN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674B4A45-D9F4-4E89-8974-22D9FE5E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67E1FF-1B57-4310-83C1-E65BDBBA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Retrieve Lesson 1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CEDE50B5-7341-46FE-B446-982E7B42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mpt">
            <a:extLst xmlns:a="http://schemas.openxmlformats.org/drawingml/2006/main">
              <a:ext uri="{FF2B5EF4-FFF2-40B4-BE49-F238E27FC236}">
                <a16:creationId xmlns:a16="http://schemas.microsoft.com/office/drawing/2014/main" id="{9051EDE4-BE6B-468F-9951-6E47B43A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Complete the three ideas from memory.</a:t>
            </a:r>
          </a:p>
        </p:txBody>
      </p:sp>
      <p:sp>
        <p:nvSpPr>
          <p:cNvPr id="6" name="recall-card-1">
            <a:extLst xmlns:a="http://schemas.openxmlformats.org/drawingml/2006/main">
              <a:ext uri="{FF2B5EF4-FFF2-40B4-BE49-F238E27FC236}">
                <a16:creationId xmlns:a16="http://schemas.microsoft.com/office/drawing/2014/main" id="{D1EEFE04-ABDC-4AB3-A886-D8AF0731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all-term-1">
            <a:extLst xmlns:a="http://schemas.openxmlformats.org/drawingml/2006/main">
              <a:ext uri="{FF2B5EF4-FFF2-40B4-BE49-F238E27FC236}">
                <a16:creationId xmlns:a16="http://schemas.microsoft.com/office/drawing/2014/main" id="{9C4549DD-82B8-4DA8-8A8F-D726B99A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D166"/>
                </a:solidFill>
                <a:latin typeface="Arial"/>
                <a:ea typeface="Arial"/>
                <a:cs typeface="Arial"/>
              </a:rPr>
              <a:t>Investment</a:t>
            </a:r>
          </a:p>
        </p:txBody>
      </p:sp>
      <p:sp>
        <p:nvSpPr>
          <p:cNvPr id="8" name="recall-def-1">
            <a:extLst xmlns:a="http://schemas.openxmlformats.org/drawingml/2006/main">
              <a:ext uri="{FF2B5EF4-FFF2-40B4-BE49-F238E27FC236}">
                <a16:creationId xmlns:a16="http://schemas.microsoft.com/office/drawing/2014/main" id="{077D2242-E92D-4F9C-AFDB-75F278A4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514600"/>
            <a:ext cx="8267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uses money now to seek future ______.</a:t>
            </a:r>
          </a:p>
        </p:txBody>
      </p:sp>
      <p:sp>
        <p:nvSpPr>
          <p:cNvPr id="9" name="recall-card-2">
            <a:extLst xmlns:a="http://schemas.openxmlformats.org/drawingml/2006/main">
              <a:ext uri="{FF2B5EF4-FFF2-40B4-BE49-F238E27FC236}">
                <a16:creationId xmlns:a16="http://schemas.microsoft.com/office/drawing/2014/main" id="{1A6D743F-3B78-4326-BD5F-C2C05E4A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109728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recall-term-2">
            <a:extLst xmlns:a="http://schemas.openxmlformats.org/drawingml/2006/main">
              <a:ext uri="{FF2B5EF4-FFF2-40B4-BE49-F238E27FC236}">
                <a16:creationId xmlns:a16="http://schemas.microsoft.com/office/drawing/2014/main" id="{F22CCAA6-5D47-4563-9771-D3956623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D166"/>
                </a:solidFill>
                <a:latin typeface="Arial"/>
                <a:ea typeface="Arial"/>
                <a:cs typeface="Arial"/>
              </a:rPr>
              <a:t>Saving</a:t>
            </a:r>
          </a:p>
        </p:txBody>
      </p:sp>
      <p:sp>
        <p:nvSpPr>
          <p:cNvPr id="11" name="recall-def-2">
            <a:extLst xmlns:a="http://schemas.openxmlformats.org/drawingml/2006/main">
              <a:ext uri="{FF2B5EF4-FFF2-40B4-BE49-F238E27FC236}">
                <a16:creationId xmlns:a16="http://schemas.microsoft.com/office/drawing/2014/main" id="{A6E05C2E-41DC-48F6-A1EB-7F9C3804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733800"/>
            <a:ext cx="8267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prioritises safety and ______.</a:t>
            </a:r>
          </a:p>
        </p:txBody>
      </p:sp>
      <p:sp>
        <p:nvSpPr>
          <p:cNvPr id="12" name="recall-card-3">
            <a:extLst xmlns:a="http://schemas.openxmlformats.org/drawingml/2006/main">
              <a:ext uri="{FF2B5EF4-FFF2-40B4-BE49-F238E27FC236}">
                <a16:creationId xmlns:a16="http://schemas.microsoft.com/office/drawing/2014/main" id="{15D5D76F-CF3D-46CE-B916-FA7A6FA3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all-term-3">
            <a:extLst xmlns:a="http://schemas.openxmlformats.org/drawingml/2006/main">
              <a:ext uri="{FF2B5EF4-FFF2-40B4-BE49-F238E27FC236}">
                <a16:creationId xmlns:a16="http://schemas.microsoft.com/office/drawing/2014/main" id="{00965BE3-0B8F-4EAE-A2C2-57D84AA4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D166"/>
                </a:solidFill>
                <a:latin typeface="Arial"/>
                <a:ea typeface="Arial"/>
                <a:cs typeface="Arial"/>
              </a:rPr>
              <a:t>Speculation</a:t>
            </a:r>
          </a:p>
        </p:txBody>
      </p:sp>
      <p:sp>
        <p:nvSpPr>
          <p:cNvPr id="14" name="recall-def-3">
            <a:extLst xmlns:a="http://schemas.openxmlformats.org/drawingml/2006/main">
              <a:ext uri="{FF2B5EF4-FFF2-40B4-BE49-F238E27FC236}">
                <a16:creationId xmlns:a16="http://schemas.microsoft.com/office/drawing/2014/main" id="{309786E9-D662-4E79-9AFB-B8FBAD34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953000"/>
            <a:ext cx="8267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relies heavily on short-term price ______.</a:t>
            </a:r>
          </a:p>
        </p:txBody>
      </p:sp>
    </p:spTree>
    <p:extLst>
      <p:ext uri="{BB962C8B-B14F-4D97-AF65-F5344CB8AC3E}">
        <p14:creationId xmlns:p14="http://schemas.microsoft.com/office/powerpoint/2010/main" val="1341606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597B93D3-BD26-4276-9C74-48F99B8D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TOTAL RETURN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A0A7D882-DE70-43E3-9AEF-7E1D8DC4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297E9B-D9FE-4949-99B9-A30186FD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Retrieve Lesson 1 · Reveal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0ED0038-5E09-4848-8645-32432C43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mpt">
            <a:extLst xmlns:a="http://schemas.openxmlformats.org/drawingml/2006/main">
              <a:ext uri="{FF2B5EF4-FFF2-40B4-BE49-F238E27FC236}">
                <a16:creationId xmlns:a16="http://schemas.microsoft.com/office/drawing/2014/main" id="{3DBF2D1C-94D1-430C-A694-1EF48755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Check the meaning, not only the word.</a:t>
            </a:r>
          </a:p>
        </p:txBody>
      </p:sp>
      <p:sp>
        <p:nvSpPr>
          <p:cNvPr id="6" name="recall-card-1">
            <a:extLst xmlns:a="http://schemas.openxmlformats.org/drawingml/2006/main">
              <a:ext uri="{FF2B5EF4-FFF2-40B4-BE49-F238E27FC236}">
                <a16:creationId xmlns:a16="http://schemas.microsoft.com/office/drawing/2014/main" id="{A9F0B290-1CD0-4A84-8A9B-154A564C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0D2F31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all-term-1">
            <a:extLst xmlns:a="http://schemas.openxmlformats.org/drawingml/2006/main">
              <a:ext uri="{FF2B5EF4-FFF2-40B4-BE49-F238E27FC236}">
                <a16:creationId xmlns:a16="http://schemas.microsoft.com/office/drawing/2014/main" id="{CB33A384-80A7-47DF-ABA9-CAE21E7E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7EF0B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7EF0B5"/>
                </a:solidFill>
                <a:latin typeface="Arial"/>
                <a:ea typeface="Arial"/>
                <a:cs typeface="Arial"/>
              </a:rPr>
              <a:t>Investment</a:t>
            </a:r>
          </a:p>
        </p:txBody>
      </p:sp>
      <p:sp>
        <p:nvSpPr>
          <p:cNvPr id="8" name="recall-def-1">
            <a:extLst xmlns:a="http://schemas.openxmlformats.org/drawingml/2006/main">
              <a:ext uri="{FF2B5EF4-FFF2-40B4-BE49-F238E27FC236}">
                <a16:creationId xmlns:a16="http://schemas.microsoft.com/office/drawing/2014/main" id="{FB765F4A-2E57-4BD6-9EDD-EC4A9932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514600"/>
            <a:ext cx="8267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uses money now to seek future return.</a:t>
            </a:r>
          </a:p>
        </p:txBody>
      </p:sp>
      <p:sp>
        <p:nvSpPr>
          <p:cNvPr id="9" name="recall-card-2">
            <a:extLst xmlns:a="http://schemas.openxmlformats.org/drawingml/2006/main">
              <a:ext uri="{FF2B5EF4-FFF2-40B4-BE49-F238E27FC236}">
                <a16:creationId xmlns:a16="http://schemas.microsoft.com/office/drawing/2014/main" id="{D2AE7A67-569B-4CA0-AF2C-7395EB2F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109728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0D2F31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recall-term-2">
            <a:extLst xmlns:a="http://schemas.openxmlformats.org/drawingml/2006/main">
              <a:ext uri="{FF2B5EF4-FFF2-40B4-BE49-F238E27FC236}">
                <a16:creationId xmlns:a16="http://schemas.microsoft.com/office/drawing/2014/main" id="{4F36996E-237D-4FA0-9E2D-961B704A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7EF0B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7EF0B5"/>
                </a:solidFill>
                <a:latin typeface="Arial"/>
                <a:ea typeface="Arial"/>
                <a:cs typeface="Arial"/>
              </a:rPr>
              <a:t>Saving</a:t>
            </a:r>
          </a:p>
        </p:txBody>
      </p:sp>
      <p:sp>
        <p:nvSpPr>
          <p:cNvPr id="11" name="recall-def-2">
            <a:extLst xmlns:a="http://schemas.openxmlformats.org/drawingml/2006/main">
              <a:ext uri="{FF2B5EF4-FFF2-40B4-BE49-F238E27FC236}">
                <a16:creationId xmlns:a16="http://schemas.microsoft.com/office/drawing/2014/main" id="{15B0FA74-9EDD-4AAD-B9B9-B1F85BDF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733800"/>
            <a:ext cx="8267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prioritises safety and access.</a:t>
            </a:r>
          </a:p>
        </p:txBody>
      </p:sp>
      <p:sp>
        <p:nvSpPr>
          <p:cNvPr id="12" name="recall-card-3">
            <a:extLst xmlns:a="http://schemas.openxmlformats.org/drawingml/2006/main">
              <a:ext uri="{FF2B5EF4-FFF2-40B4-BE49-F238E27FC236}">
                <a16:creationId xmlns:a16="http://schemas.microsoft.com/office/drawing/2014/main" id="{BF97AA33-6766-4DA3-9E5E-2C44871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0D2F31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all-term-3">
            <a:extLst xmlns:a="http://schemas.openxmlformats.org/drawingml/2006/main">
              <a:ext uri="{FF2B5EF4-FFF2-40B4-BE49-F238E27FC236}">
                <a16:creationId xmlns:a16="http://schemas.microsoft.com/office/drawing/2014/main" id="{A7CDB146-D743-498E-962F-54419668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7EF0B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7EF0B5"/>
                </a:solidFill>
                <a:latin typeface="Arial"/>
                <a:ea typeface="Arial"/>
                <a:cs typeface="Arial"/>
              </a:rPr>
              <a:t>Speculation</a:t>
            </a:r>
          </a:p>
        </p:txBody>
      </p:sp>
      <p:sp>
        <p:nvSpPr>
          <p:cNvPr id="14" name="recall-def-3">
            <a:extLst xmlns:a="http://schemas.openxmlformats.org/drawingml/2006/main">
              <a:ext uri="{FF2B5EF4-FFF2-40B4-BE49-F238E27FC236}">
                <a16:creationId xmlns:a16="http://schemas.microsoft.com/office/drawing/2014/main" id="{D171EAE7-3294-4477-8873-81193983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953000"/>
            <a:ext cx="8267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relies heavily on short-term price movements.</a:t>
            </a:r>
          </a:p>
        </p:txBody>
      </p:sp>
    </p:spTree>
    <p:extLst>
      <p:ext uri="{BB962C8B-B14F-4D97-AF65-F5344CB8AC3E}">
        <p14:creationId xmlns:p14="http://schemas.microsoft.com/office/powerpoint/2010/main" val="8512825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band">
            <a:extLst xmlns:a="http://schemas.openxmlformats.org/drawingml/2006/main">
              <a:ext uri="{FF2B5EF4-FFF2-40B4-BE49-F238E27FC236}">
                <a16:creationId xmlns:a16="http://schemas.microsoft.com/office/drawing/2014/main" id="{0D4AB371-07C2-45BD-983F-7B90657F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633C81DA-E254-4F3F-B2BB-85417DD0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257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0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8850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795118A7-0090-4426-A9F1-40087037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What is total return?</a:t>
            </a:r>
          </a:p>
        </p:txBody>
      </p:sp>
      <p:sp>
        <p:nvSpPr>
          <p:cNvPr id="4" name="section-zh">
            <a:extLst xmlns:a="http://schemas.openxmlformats.org/drawingml/2006/main">
              <a:ext uri="{FF2B5EF4-FFF2-40B4-BE49-F238E27FC236}">
                <a16:creationId xmlns:a16="http://schemas.microsoft.com/office/drawing/2014/main" id="{6762F76E-53C4-4CB8-9CD9-E98D6A8B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什么是总回报？</a:t>
            </a:r>
          </a:p>
        </p:txBody>
      </p:sp>
      <p:sp>
        <p:nvSpPr>
          <p:cNvPr id="5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01BAFD97-CFC9-41C9-BEB0-B7A8BB0F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601041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2e17103bb4237"/>
          <a:srcRect xmlns:a="http://schemas.openxmlformats.org/drawingml/2006/main" l="0" t="68" r="0" b="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00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AAF549E0-8F3D-45CE-B472-0BF16C5D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TOTAL RETURN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CB97B891-5494-4F7B-80EF-AAEE6F51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F3AEA9-3849-4B4E-9F5A-98D693A2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Total return · 总回报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10609CD-14AB-4BFA-8CD7-6A296F40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rm-label">
            <a:extLst xmlns:a="http://schemas.openxmlformats.org/drawingml/2006/main">
              <a:ext uri="{FF2B5EF4-FFF2-40B4-BE49-F238E27FC236}">
                <a16:creationId xmlns:a16="http://schemas.microsoft.com/office/drawing/2014/main" id="{FB2140D7-489C-4E6D-8183-904467B2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166"/>
                </a:solidFill>
                <a:latin typeface="Arial"/>
                <a:ea typeface="Arial"/>
                <a:cs typeface="Arial"/>
              </a:rPr>
              <a:t>KEY TERM  ·  关键词</a:t>
            </a:r>
          </a:p>
        </p:txBody>
      </p:sp>
      <p:sp>
        <p:nvSpPr>
          <p:cNvPr id="6" name="definition-surface">
            <a:extLst xmlns:a="http://schemas.openxmlformats.org/drawingml/2006/main">
              <a:ext uri="{FF2B5EF4-FFF2-40B4-BE49-F238E27FC236}">
                <a16:creationId xmlns:a16="http://schemas.microsoft.com/office/drawing/2014/main" id="{F6525FD9-21F1-4C71-809C-996CDD84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9728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definition">
            <a:extLst xmlns:a="http://schemas.openxmlformats.org/drawingml/2006/main">
              <a:ext uri="{FF2B5EF4-FFF2-40B4-BE49-F238E27FC236}">
                <a16:creationId xmlns:a16="http://schemas.microsoft.com/office/drawing/2014/main" id="{4CB26CD0-E837-4CF4-87F6-3E0435DC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515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Total return is the change in an investment's ______ plus any ______ received.</a:t>
            </a:r>
          </a:p>
        </p:txBody>
      </p:sp>
      <p:sp>
        <p:nvSpPr>
          <p:cNvPr id="8" name="clue">
            <a:extLst xmlns:a="http://schemas.openxmlformats.org/drawingml/2006/main">
              <a:ext uri="{FF2B5EF4-FFF2-40B4-BE49-F238E27FC236}">
                <a16:creationId xmlns:a16="http://schemas.microsoft.com/office/drawing/2014/main" id="{DB704029-BDD7-445C-B993-78031919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57800"/>
            <a:ext cx="944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Think: value change + cash paid to the investor</a:t>
            </a:r>
          </a:p>
        </p:txBody>
      </p:sp>
    </p:spTree>
    <p:extLst>
      <p:ext uri="{BB962C8B-B14F-4D97-AF65-F5344CB8AC3E}">
        <p14:creationId xmlns:p14="http://schemas.microsoft.com/office/powerpoint/2010/main" val="9504058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EEEFABCB-DB00-4635-B2BB-00DB909D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TOTAL RETURN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43AE3FA5-495F-46B3-A9D1-16E7EEB6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E7B448-E2D1-4297-A25E-FFE27F31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Total return · 总回报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905E425-ABE7-48E3-AD3C-AC014067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rm-label">
            <a:extLst xmlns:a="http://schemas.openxmlformats.org/drawingml/2006/main">
              <a:ext uri="{FF2B5EF4-FFF2-40B4-BE49-F238E27FC236}">
                <a16:creationId xmlns:a16="http://schemas.microsoft.com/office/drawing/2014/main" id="{97B212F4-8B93-45A4-979C-5CE1B240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166"/>
                </a:solidFill>
                <a:latin typeface="Arial"/>
                <a:ea typeface="Arial"/>
                <a:cs typeface="Arial"/>
              </a:rPr>
              <a:t>KEY TERM  ·  关键词</a:t>
            </a:r>
          </a:p>
        </p:txBody>
      </p:sp>
      <p:sp>
        <p:nvSpPr>
          <p:cNvPr id="6" name="definition-surface">
            <a:extLst xmlns:a="http://schemas.openxmlformats.org/drawingml/2006/main">
              <a:ext uri="{FF2B5EF4-FFF2-40B4-BE49-F238E27FC236}">
                <a16:creationId xmlns:a16="http://schemas.microsoft.com/office/drawing/2014/main" id="{0FF1CDDF-14D0-4098-8303-CA20B9B1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9728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2A37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definition">
            <a:extLst xmlns:a="http://schemas.openxmlformats.org/drawingml/2006/main">
              <a:ext uri="{FF2B5EF4-FFF2-40B4-BE49-F238E27FC236}">
                <a16:creationId xmlns:a16="http://schemas.microsoft.com/office/drawing/2014/main" id="{5A8022D0-61AE-4C9A-8351-0526DB6C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515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Total return is the change in an investment's value plus any income received.</a:t>
            </a:r>
          </a:p>
        </p:txBody>
      </p:sp>
      <p:sp>
        <p:nvSpPr>
          <p:cNvPr id="8" name="clue">
            <a:extLst xmlns:a="http://schemas.openxmlformats.org/drawingml/2006/main">
              <a:ext uri="{FF2B5EF4-FFF2-40B4-BE49-F238E27FC236}">
                <a16:creationId xmlns:a16="http://schemas.microsoft.com/office/drawing/2014/main" id="{10FCA1DD-ABEF-4A27-BF93-C5F4E034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57800"/>
            <a:ext cx="944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9DB0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9DB0CC"/>
                </a:solidFill>
                <a:latin typeface="Microsoft YaHei"/>
                <a:ea typeface="Microsoft YaHei"/>
                <a:cs typeface="Microsoft YaHei"/>
              </a:rPr>
              <a:t>总回报 = 价值变化 + 收入</a:t>
            </a:r>
          </a:p>
        </p:txBody>
      </p:sp>
    </p:spTree>
    <p:extLst>
      <p:ext uri="{BB962C8B-B14F-4D97-AF65-F5344CB8AC3E}">
        <p14:creationId xmlns:p14="http://schemas.microsoft.com/office/powerpoint/2010/main" val="18416608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97F467A7-5C1B-4BBA-BB71-AF56250B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TOTAL RETURN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A81B7395-40BF-4743-AF69-88BC4145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C85207-1D90-4EB6-A007-3E3AE204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Return can arrive in different forms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9CEFA37-2CC1-4A9B-9F6A-8D148C3B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xample-1">
            <a:extLst xmlns:a="http://schemas.openxmlformats.org/drawingml/2006/main">
              <a:ext uri="{FF2B5EF4-FFF2-40B4-BE49-F238E27FC236}">
                <a16:creationId xmlns:a16="http://schemas.microsoft.com/office/drawing/2014/main" id="{96E91529-2DF4-460B-BDAB-AF74961C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3505200" cy="3286125"/>
          </a:xfrm>
          <a:prstGeom xmlns:a="http://schemas.openxmlformats.org/drawingml/2006/main" prst="roundRect">
            <a:avLst>
              <a:gd name="adj" fmla="val 4638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example-accent-1">
            <a:extLst xmlns:a="http://schemas.openxmlformats.org/drawingml/2006/main">
              <a:ext uri="{FF2B5EF4-FFF2-40B4-BE49-F238E27FC236}">
                <a16:creationId xmlns:a16="http://schemas.microsoft.com/office/drawing/2014/main" id="{94D091EE-C99B-477E-9D34-7182A48B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350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xample-label-1">
            <a:extLst xmlns:a="http://schemas.openxmlformats.org/drawingml/2006/main">
              <a:ext uri="{FF2B5EF4-FFF2-40B4-BE49-F238E27FC236}">
                <a16:creationId xmlns:a16="http://schemas.microsoft.com/office/drawing/2014/main" id="{6BCBECD6-261F-4702-B0B3-9957B62E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Share</a:t>
            </a:r>
          </a:p>
        </p:txBody>
      </p:sp>
      <p:sp>
        <p:nvSpPr>
          <p:cNvPr id="8" name="example-body-1">
            <a:extLst xmlns:a="http://schemas.openxmlformats.org/drawingml/2006/main">
              <a:ext uri="{FF2B5EF4-FFF2-40B4-BE49-F238E27FC236}">
                <a16:creationId xmlns:a16="http://schemas.microsoft.com/office/drawing/2014/main" id="{DEA3DC98-3BB5-447B-8C32-89D71283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30861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Price rises</a:t>
            </a:r>
          </a:p>
          <a:p xmlns:a="http://schemas.openxmlformats.org/drawingml/2006/main">
            <a:pPr algn="ctr">
              <a:defRPr sz="217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+ dividend</a:t>
            </a:r>
          </a:p>
        </p:txBody>
      </p:sp>
      <p:sp>
        <p:nvSpPr>
          <p:cNvPr id="9" name="example-2">
            <a:extLst xmlns:a="http://schemas.openxmlformats.org/drawingml/2006/main">
              <a:ext uri="{FF2B5EF4-FFF2-40B4-BE49-F238E27FC236}">
                <a16:creationId xmlns:a16="http://schemas.microsoft.com/office/drawing/2014/main" id="{4AD80859-F37C-4282-BE78-15AAA378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71675"/>
            <a:ext cx="3505200" cy="3286125"/>
          </a:xfrm>
          <a:prstGeom xmlns:a="http://schemas.openxmlformats.org/drawingml/2006/main" prst="roundRect">
            <a:avLst>
              <a:gd name="adj" fmla="val 4638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example-accent-2">
            <a:extLst xmlns:a="http://schemas.openxmlformats.org/drawingml/2006/main">
              <a:ext uri="{FF2B5EF4-FFF2-40B4-BE49-F238E27FC236}">
                <a16:creationId xmlns:a16="http://schemas.microsoft.com/office/drawing/2014/main" id="{4F3316FA-D834-4F6C-86C4-BB32C127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71675"/>
            <a:ext cx="350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xample-label-2">
            <a:extLst xmlns:a="http://schemas.openxmlformats.org/drawingml/2006/main">
              <a:ext uri="{FF2B5EF4-FFF2-40B4-BE49-F238E27FC236}">
                <a16:creationId xmlns:a16="http://schemas.microsoft.com/office/drawing/2014/main" id="{5DC966E5-8328-42E7-A3BC-94E9CFD8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193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D166"/>
                </a:solidFill>
                <a:latin typeface="Arial"/>
                <a:ea typeface="Arial"/>
                <a:cs typeface="Arial"/>
              </a:rPr>
              <a:t>Bond</a:t>
            </a:r>
          </a:p>
        </p:txBody>
      </p:sp>
      <p:sp>
        <p:nvSpPr>
          <p:cNvPr id="12" name="example-body-2">
            <a:extLst xmlns:a="http://schemas.openxmlformats.org/drawingml/2006/main">
              <a:ext uri="{FF2B5EF4-FFF2-40B4-BE49-F238E27FC236}">
                <a16:creationId xmlns:a16="http://schemas.microsoft.com/office/drawing/2014/main" id="{FD90F814-9D32-4AC3-A359-51698FEF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62300"/>
            <a:ext cx="30861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Price changes</a:t>
            </a:r>
          </a:p>
          <a:p xmlns:a="http://schemas.openxmlformats.org/drawingml/2006/main">
            <a:pPr algn="ctr">
              <a:defRPr sz="217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+ interest</a:t>
            </a:r>
          </a:p>
        </p:txBody>
      </p:sp>
      <p:sp>
        <p:nvSpPr>
          <p:cNvPr id="13" name="example-3">
            <a:extLst xmlns:a="http://schemas.openxmlformats.org/drawingml/2006/main">
              <a:ext uri="{FF2B5EF4-FFF2-40B4-BE49-F238E27FC236}">
                <a16:creationId xmlns:a16="http://schemas.microsoft.com/office/drawing/2014/main" id="{4373D37F-B4FD-4FFD-89D6-390BAE66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71675"/>
            <a:ext cx="3505200" cy="3286125"/>
          </a:xfrm>
          <a:prstGeom xmlns:a="http://schemas.openxmlformats.org/drawingml/2006/main" prst="roundRect">
            <a:avLst>
              <a:gd name="adj" fmla="val 4638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example-accent-3">
            <a:extLst xmlns:a="http://schemas.openxmlformats.org/drawingml/2006/main">
              <a:ext uri="{FF2B5EF4-FFF2-40B4-BE49-F238E27FC236}">
                <a16:creationId xmlns:a16="http://schemas.microsoft.com/office/drawing/2014/main" id="{B17FBA78-2B59-40BB-BC72-86255C23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71675"/>
            <a:ext cx="350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xample-label-3">
            <a:extLst xmlns:a="http://schemas.openxmlformats.org/drawingml/2006/main">
              <a:ext uri="{FF2B5EF4-FFF2-40B4-BE49-F238E27FC236}">
                <a16:creationId xmlns:a16="http://schemas.microsoft.com/office/drawing/2014/main" id="{3A9BFF21-E7EC-49F2-A217-5C707CC5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193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B79C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B79CFF"/>
                </a:solidFill>
                <a:latin typeface="Arial"/>
                <a:ea typeface="Arial"/>
                <a:cs typeface="Arial"/>
              </a:rPr>
              <a:t>Property fund</a:t>
            </a:r>
          </a:p>
        </p:txBody>
      </p:sp>
      <p:sp>
        <p:nvSpPr>
          <p:cNvPr id="16" name="example-body-3">
            <a:extLst xmlns:a="http://schemas.openxmlformats.org/drawingml/2006/main">
              <a:ext uri="{FF2B5EF4-FFF2-40B4-BE49-F238E27FC236}">
                <a16:creationId xmlns:a16="http://schemas.microsoft.com/office/drawing/2014/main" id="{ADDB91EF-BE07-4D7D-9E4A-A93976A6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62300"/>
            <a:ext cx="30861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Unit value changes</a:t>
            </a:r>
          </a:p>
          <a:p xmlns:a="http://schemas.openxmlformats.org/drawingml/2006/main">
            <a:pPr algn="ctr">
              <a:defRPr sz="217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+ distribution</a:t>
            </a:r>
          </a:p>
        </p:txBody>
      </p:sp>
    </p:spTree>
    <p:extLst>
      <p:ext uri="{BB962C8B-B14F-4D97-AF65-F5344CB8AC3E}">
        <p14:creationId xmlns:p14="http://schemas.microsoft.com/office/powerpoint/2010/main" val="10082462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36FEEE26-5CD4-4086-B3FB-140E9C7C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TOTAL RETURN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64F17BDE-38BA-45BC-A2B6-4D74E930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5D6B8F-220B-41B7-9E56-77B37648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Classify before calculating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B1519E9-B1BD-49B2-B238-C6A90605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mpt">
            <a:extLst xmlns:a="http://schemas.openxmlformats.org/drawingml/2006/main">
              <a:ext uri="{FF2B5EF4-FFF2-40B4-BE49-F238E27FC236}">
                <a16:creationId xmlns:a16="http://schemas.microsoft.com/office/drawing/2014/main" id="{D9DD667C-FFEE-49ED-88F7-2A3D7FF5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Label each item: capital gain/loss, income, or new cash flow.</a:t>
            </a:r>
          </a:p>
        </p:txBody>
      </p:sp>
      <p:sp>
        <p:nvSpPr>
          <p:cNvPr id="6" name="class-row-1">
            <a:extLst xmlns:a="http://schemas.openxmlformats.org/drawingml/2006/main">
              <a:ext uri="{FF2B5EF4-FFF2-40B4-BE49-F238E27FC236}">
                <a16:creationId xmlns:a16="http://schemas.microsoft.com/office/drawing/2014/main" id="{DF48B21C-CE86-4521-9927-DC6AB6E6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9728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class-item-1">
            <a:extLst xmlns:a="http://schemas.openxmlformats.org/drawingml/2006/main">
              <a:ext uri="{FF2B5EF4-FFF2-40B4-BE49-F238E27FC236}">
                <a16:creationId xmlns:a16="http://schemas.microsoft.com/office/drawing/2014/main" id="{61D9C36C-B039-469E-B34C-A77CE604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1.  Share price rises by CNY 80</a:t>
            </a:r>
          </a:p>
        </p:txBody>
      </p:sp>
      <p:sp>
        <p:nvSpPr>
          <p:cNvPr id="8" name="class-answer-1">
            <a:extLst xmlns:a="http://schemas.openxmlformats.org/drawingml/2006/main">
              <a:ext uri="{FF2B5EF4-FFF2-40B4-BE49-F238E27FC236}">
                <a16:creationId xmlns:a16="http://schemas.microsoft.com/office/drawing/2014/main" id="{CBE38807-E077-40D8-8865-809925F4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62175"/>
            <a:ext cx="3905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________________</a:t>
            </a:r>
          </a:p>
        </p:txBody>
      </p:sp>
      <p:sp>
        <p:nvSpPr>
          <p:cNvPr id="9" name="class-row-2">
            <a:extLst xmlns:a="http://schemas.openxmlformats.org/drawingml/2006/main">
              <a:ext uri="{FF2B5EF4-FFF2-40B4-BE49-F238E27FC236}">
                <a16:creationId xmlns:a16="http://schemas.microsoft.com/office/drawing/2014/main" id="{87313AA3-9267-46D0-A90D-3C44B589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09728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class-item-2">
            <a:extLst xmlns:a="http://schemas.openxmlformats.org/drawingml/2006/main">
              <a:ext uri="{FF2B5EF4-FFF2-40B4-BE49-F238E27FC236}">
                <a16:creationId xmlns:a16="http://schemas.microsoft.com/office/drawing/2014/main" id="{CF602FE8-FF86-405B-AC9A-6D42F641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2.  Dividend of CNY 20</a:t>
            </a:r>
          </a:p>
        </p:txBody>
      </p:sp>
      <p:sp>
        <p:nvSpPr>
          <p:cNvPr id="11" name="class-answer-2">
            <a:extLst xmlns:a="http://schemas.openxmlformats.org/drawingml/2006/main">
              <a:ext uri="{FF2B5EF4-FFF2-40B4-BE49-F238E27FC236}">
                <a16:creationId xmlns:a16="http://schemas.microsoft.com/office/drawing/2014/main" id="{EA50003A-FBEB-492B-88B2-385B58D0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43225"/>
            <a:ext cx="3905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________________</a:t>
            </a:r>
          </a:p>
        </p:txBody>
      </p:sp>
      <p:sp>
        <p:nvSpPr>
          <p:cNvPr id="12" name="class-row-3">
            <a:extLst xmlns:a="http://schemas.openxmlformats.org/drawingml/2006/main">
              <a:ext uri="{FF2B5EF4-FFF2-40B4-BE49-F238E27FC236}">
                <a16:creationId xmlns:a16="http://schemas.microsoft.com/office/drawing/2014/main" id="{D5EB23F7-2BDA-4F14-9BC8-1571B45D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109728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class-item-3">
            <a:extLst xmlns:a="http://schemas.openxmlformats.org/drawingml/2006/main">
              <a:ext uri="{FF2B5EF4-FFF2-40B4-BE49-F238E27FC236}">
                <a16:creationId xmlns:a16="http://schemas.microsoft.com/office/drawing/2014/main" id="{3A80753A-14B8-4D2B-9758-8BDE7D71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24275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3.  You add CNY 500</a:t>
            </a:r>
          </a:p>
        </p:txBody>
      </p:sp>
      <p:sp>
        <p:nvSpPr>
          <p:cNvPr id="14" name="class-answer-3">
            <a:extLst xmlns:a="http://schemas.openxmlformats.org/drawingml/2006/main">
              <a:ext uri="{FF2B5EF4-FFF2-40B4-BE49-F238E27FC236}">
                <a16:creationId xmlns:a16="http://schemas.microsoft.com/office/drawing/2014/main" id="{5E5B9781-1674-4036-A49F-472FB2C1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24275"/>
            <a:ext cx="3905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________________</a:t>
            </a:r>
          </a:p>
        </p:txBody>
      </p:sp>
      <p:sp>
        <p:nvSpPr>
          <p:cNvPr id="15" name="class-row-4">
            <a:extLst xmlns:a="http://schemas.openxmlformats.org/drawingml/2006/main">
              <a:ext uri="{FF2B5EF4-FFF2-40B4-BE49-F238E27FC236}">
                <a16:creationId xmlns:a16="http://schemas.microsoft.com/office/drawing/2014/main" id="{B5213A81-ACD8-45EE-AB67-41CBD5D3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9728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class-item-4">
            <a:extLst xmlns:a="http://schemas.openxmlformats.org/drawingml/2006/main">
              <a:ext uri="{FF2B5EF4-FFF2-40B4-BE49-F238E27FC236}">
                <a16:creationId xmlns:a16="http://schemas.microsoft.com/office/drawing/2014/main" id="{F3E56B29-9D78-4F37-90D3-B2D9B753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4.  Fund value falls by CNY 60</a:t>
            </a:r>
          </a:p>
        </p:txBody>
      </p:sp>
      <p:sp>
        <p:nvSpPr>
          <p:cNvPr id="17" name="class-answer-4">
            <a:extLst xmlns:a="http://schemas.openxmlformats.org/drawingml/2006/main">
              <a:ext uri="{FF2B5EF4-FFF2-40B4-BE49-F238E27FC236}">
                <a16:creationId xmlns:a16="http://schemas.microsoft.com/office/drawing/2014/main" id="{7F0786A9-98F0-4587-933B-D2DB235C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05325"/>
            <a:ext cx="3905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________________</a:t>
            </a:r>
          </a:p>
        </p:txBody>
      </p:sp>
      <p:sp>
        <p:nvSpPr>
          <p:cNvPr id="18" name="class-row-5">
            <a:extLst xmlns:a="http://schemas.openxmlformats.org/drawingml/2006/main">
              <a:ext uri="{FF2B5EF4-FFF2-40B4-BE49-F238E27FC236}">
                <a16:creationId xmlns:a16="http://schemas.microsoft.com/office/drawing/2014/main" id="{C244544E-08BD-4519-AF07-0F83BC0C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class-item-5">
            <a:extLst xmlns:a="http://schemas.openxmlformats.org/drawingml/2006/main">
              <a:ext uri="{FF2B5EF4-FFF2-40B4-BE49-F238E27FC236}">
                <a16:creationId xmlns:a16="http://schemas.microsoft.com/office/drawing/2014/main" id="{E2F795B1-1DB1-4BB1-9EC8-065BBB9A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5.  Bond interest of CNY 35</a:t>
            </a:r>
          </a:p>
        </p:txBody>
      </p:sp>
      <p:sp>
        <p:nvSpPr>
          <p:cNvPr id="20" name="class-answer-5">
            <a:extLst xmlns:a="http://schemas.openxmlformats.org/drawingml/2006/main">
              <a:ext uri="{FF2B5EF4-FFF2-40B4-BE49-F238E27FC236}">
                <a16:creationId xmlns:a16="http://schemas.microsoft.com/office/drawing/2014/main" id="{8CA43811-468A-4FB6-8CD4-51BA97BA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286375"/>
            <a:ext cx="3905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9284750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F01A4CC4-DDF5-4D2B-953E-73D2541D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TOTAL RETURN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410D9BFA-2CDA-4F0B-8EAF-C4263124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A03755-39D5-4201-88C1-37FB92AB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Classify before calculating · Reveal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8F211971-7BC4-4D3D-A633-0CABDFEB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ass-row-1">
            <a:extLst xmlns:a="http://schemas.openxmlformats.org/drawingml/2006/main">
              <a:ext uri="{FF2B5EF4-FFF2-40B4-BE49-F238E27FC236}">
                <a16:creationId xmlns:a16="http://schemas.microsoft.com/office/drawing/2014/main" id="{82994EE2-D7AB-4EB0-8BF8-91615847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9728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class-item-1">
            <a:extLst xmlns:a="http://schemas.openxmlformats.org/drawingml/2006/main">
              <a:ext uri="{FF2B5EF4-FFF2-40B4-BE49-F238E27FC236}">
                <a16:creationId xmlns:a16="http://schemas.microsoft.com/office/drawing/2014/main" id="{76F8C30C-89E6-4DA0-B229-14B619D0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1.  Share price rises by CNY 80</a:t>
            </a:r>
          </a:p>
        </p:txBody>
      </p:sp>
      <p:sp>
        <p:nvSpPr>
          <p:cNvPr id="7" name="class-answer-1">
            <a:extLst xmlns:a="http://schemas.openxmlformats.org/drawingml/2006/main">
              <a:ext uri="{FF2B5EF4-FFF2-40B4-BE49-F238E27FC236}">
                <a16:creationId xmlns:a16="http://schemas.microsoft.com/office/drawing/2014/main" id="{4D8B8B39-A15E-46EE-8C6A-90AB0A30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62175"/>
            <a:ext cx="3905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7EF0B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7EF0B5"/>
                </a:solidFill>
                <a:latin typeface="Arial"/>
                <a:ea typeface="Arial"/>
                <a:cs typeface="Arial"/>
              </a:rPr>
              <a:t>Capital gain</a:t>
            </a:r>
          </a:p>
        </p:txBody>
      </p:sp>
      <p:sp>
        <p:nvSpPr>
          <p:cNvPr id="8" name="class-row-2">
            <a:extLst xmlns:a="http://schemas.openxmlformats.org/drawingml/2006/main">
              <a:ext uri="{FF2B5EF4-FFF2-40B4-BE49-F238E27FC236}">
                <a16:creationId xmlns:a16="http://schemas.microsoft.com/office/drawing/2014/main" id="{9CECF29D-B4D9-4E67-9546-C3757DEF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09728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class-item-2">
            <a:extLst xmlns:a="http://schemas.openxmlformats.org/drawingml/2006/main">
              <a:ext uri="{FF2B5EF4-FFF2-40B4-BE49-F238E27FC236}">
                <a16:creationId xmlns:a16="http://schemas.microsoft.com/office/drawing/2014/main" id="{6F3EEA1F-BBFD-4607-B920-3253CDA1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2.  Dividend of CNY 20</a:t>
            </a:r>
          </a:p>
        </p:txBody>
      </p:sp>
      <p:sp>
        <p:nvSpPr>
          <p:cNvPr id="10" name="class-answer-2">
            <a:extLst xmlns:a="http://schemas.openxmlformats.org/drawingml/2006/main">
              <a:ext uri="{FF2B5EF4-FFF2-40B4-BE49-F238E27FC236}">
                <a16:creationId xmlns:a16="http://schemas.microsoft.com/office/drawing/2014/main" id="{2CE2F9B0-CE95-4017-BA72-D8B934E4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43225"/>
            <a:ext cx="3905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7EF0B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7EF0B5"/>
                </a:solidFill>
                <a:latin typeface="Arial"/>
                <a:ea typeface="Arial"/>
                <a:cs typeface="Arial"/>
              </a:rPr>
              <a:t>Income</a:t>
            </a:r>
          </a:p>
        </p:txBody>
      </p:sp>
      <p:sp>
        <p:nvSpPr>
          <p:cNvPr id="11" name="class-row-3">
            <a:extLst xmlns:a="http://schemas.openxmlformats.org/drawingml/2006/main">
              <a:ext uri="{FF2B5EF4-FFF2-40B4-BE49-F238E27FC236}">
                <a16:creationId xmlns:a16="http://schemas.microsoft.com/office/drawing/2014/main" id="{F568E0EE-2A66-4FCE-B75C-B23AC50C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109728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class-item-3">
            <a:extLst xmlns:a="http://schemas.openxmlformats.org/drawingml/2006/main">
              <a:ext uri="{FF2B5EF4-FFF2-40B4-BE49-F238E27FC236}">
                <a16:creationId xmlns:a16="http://schemas.microsoft.com/office/drawing/2014/main" id="{48360D8E-B969-4FC0-BD06-DE91EC35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24275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3.  You add CNY 500</a:t>
            </a:r>
          </a:p>
        </p:txBody>
      </p:sp>
      <p:sp>
        <p:nvSpPr>
          <p:cNvPr id="13" name="class-answer-3">
            <a:extLst xmlns:a="http://schemas.openxmlformats.org/drawingml/2006/main">
              <a:ext uri="{FF2B5EF4-FFF2-40B4-BE49-F238E27FC236}">
                <a16:creationId xmlns:a16="http://schemas.microsoft.com/office/drawing/2014/main" id="{C7017F1F-C71D-45A5-A627-8CF0F599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24275"/>
            <a:ext cx="3905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New cash flow — exclude</a:t>
            </a:r>
          </a:p>
        </p:txBody>
      </p:sp>
      <p:sp>
        <p:nvSpPr>
          <p:cNvPr id="14" name="class-row-4">
            <a:extLst xmlns:a="http://schemas.openxmlformats.org/drawingml/2006/main">
              <a:ext uri="{FF2B5EF4-FFF2-40B4-BE49-F238E27FC236}">
                <a16:creationId xmlns:a16="http://schemas.microsoft.com/office/drawing/2014/main" id="{8979F6F8-3200-4898-90D1-CF7706FA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9728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class-item-4">
            <a:extLst xmlns:a="http://schemas.openxmlformats.org/drawingml/2006/main">
              <a:ext uri="{FF2B5EF4-FFF2-40B4-BE49-F238E27FC236}">
                <a16:creationId xmlns:a16="http://schemas.microsoft.com/office/drawing/2014/main" id="{B3380A2F-B25C-4762-92A9-B11EA2B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4.  Fund value falls by CNY 60</a:t>
            </a:r>
          </a:p>
        </p:txBody>
      </p:sp>
      <p:sp>
        <p:nvSpPr>
          <p:cNvPr id="16" name="class-answer-4">
            <a:extLst xmlns:a="http://schemas.openxmlformats.org/drawingml/2006/main">
              <a:ext uri="{FF2B5EF4-FFF2-40B4-BE49-F238E27FC236}">
                <a16:creationId xmlns:a16="http://schemas.microsoft.com/office/drawing/2014/main" id="{9DDDFDCD-4E24-49C2-AEA2-727E625A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05325"/>
            <a:ext cx="3905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7EF0B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7EF0B5"/>
                </a:solidFill>
                <a:latin typeface="Arial"/>
                <a:ea typeface="Arial"/>
                <a:cs typeface="Arial"/>
              </a:rPr>
              <a:t>Capital loss</a:t>
            </a:r>
          </a:p>
        </p:txBody>
      </p:sp>
      <p:sp>
        <p:nvSpPr>
          <p:cNvPr id="17" name="class-row-5">
            <a:extLst xmlns:a="http://schemas.openxmlformats.org/drawingml/2006/main">
              <a:ext uri="{FF2B5EF4-FFF2-40B4-BE49-F238E27FC236}">
                <a16:creationId xmlns:a16="http://schemas.microsoft.com/office/drawing/2014/main" id="{B25B2CFC-3C59-400E-B6A2-86059FFE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class-item-5">
            <a:extLst xmlns:a="http://schemas.openxmlformats.org/drawingml/2006/main">
              <a:ext uri="{FF2B5EF4-FFF2-40B4-BE49-F238E27FC236}">
                <a16:creationId xmlns:a16="http://schemas.microsoft.com/office/drawing/2014/main" id="{0051C0AB-FD42-489F-A3C6-A75DE660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5.  Bond interest of CNY 35</a:t>
            </a:r>
          </a:p>
        </p:txBody>
      </p:sp>
      <p:sp>
        <p:nvSpPr>
          <p:cNvPr id="19" name="class-answer-5">
            <a:extLst xmlns:a="http://schemas.openxmlformats.org/drawingml/2006/main">
              <a:ext uri="{FF2B5EF4-FFF2-40B4-BE49-F238E27FC236}">
                <a16:creationId xmlns:a16="http://schemas.microsoft.com/office/drawing/2014/main" id="{23422879-8F31-43D5-A4DC-D5BCEFD0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286375"/>
            <a:ext cx="3905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7EF0B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7EF0B5"/>
                </a:solidFill>
                <a:latin typeface="Arial"/>
                <a:ea typeface="Arial"/>
                <a:cs typeface="Arial"/>
              </a:rPr>
              <a:t>Income</a:t>
            </a:r>
          </a:p>
        </p:txBody>
      </p:sp>
    </p:spTree>
    <p:extLst>
      <p:ext uri="{BB962C8B-B14F-4D97-AF65-F5344CB8AC3E}">
        <p14:creationId xmlns:p14="http://schemas.microsoft.com/office/powerpoint/2010/main" val="2287577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6EDB7352-B0D3-4D39-922F-FD92E860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TOTAL RETURN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E71E1B21-658B-46B9-9350-84DCD0C7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C022D4-D5AE-434A-86A8-1EECFFE9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Build the total-return formula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A882712D-FE2B-4B1F-BC00-28B6C12C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mpt">
            <a:extLst xmlns:a="http://schemas.openxmlformats.org/drawingml/2006/main">
              <a:ext uri="{FF2B5EF4-FFF2-40B4-BE49-F238E27FC236}">
                <a16:creationId xmlns:a16="http://schemas.microsoft.com/office/drawing/2014/main" id="{9B61D47E-BEB5-4CA8-8B05-886C81F4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Complete the chain.</a:t>
            </a:r>
          </a:p>
        </p:txBody>
      </p:sp>
      <p:sp>
        <p:nvSpPr>
          <p:cNvPr id="6" name="flow-step-1">
            <a:extLst xmlns:a="http://schemas.openxmlformats.org/drawingml/2006/main">
              <a:ext uri="{FF2B5EF4-FFF2-40B4-BE49-F238E27FC236}">
                <a16:creationId xmlns:a16="http://schemas.microsoft.com/office/drawing/2014/main" id="{BD2BF635-3701-4971-9960-1929E410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2614613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flow-number-1">
            <a:extLst xmlns:a="http://schemas.openxmlformats.org/drawingml/2006/main">
              <a:ext uri="{FF2B5EF4-FFF2-40B4-BE49-F238E27FC236}">
                <a16:creationId xmlns:a16="http://schemas.microsoft.com/office/drawing/2014/main" id="{738EB4C2-0E77-4C04-8F76-CF7495A4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flow-text-1">
            <a:extLst xmlns:a="http://schemas.openxmlformats.org/drawingml/2006/main">
              <a:ext uri="{FF2B5EF4-FFF2-40B4-BE49-F238E27FC236}">
                <a16:creationId xmlns:a16="http://schemas.microsoft.com/office/drawing/2014/main" id="{B81C0B04-322C-458F-93D4-81023C78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2233613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Ending value</a:t>
            </a:r>
          </a:p>
        </p:txBody>
      </p:sp>
      <p:sp>
        <p:nvSpPr>
          <p:cNvPr id="9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09488B5C-E2CF-4F34-AAD7-1A788EC0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213" y="3162300"/>
            <a:ext cx="17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4587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flow-step-2">
            <a:extLst xmlns:a="http://schemas.openxmlformats.org/drawingml/2006/main">
              <a:ext uri="{FF2B5EF4-FFF2-40B4-BE49-F238E27FC236}">
                <a16:creationId xmlns:a16="http://schemas.microsoft.com/office/drawing/2014/main" id="{5C280F00-F8FA-45DC-8917-0BF99A83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543175"/>
            <a:ext cx="2614613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flow-number-2">
            <a:extLst xmlns:a="http://schemas.openxmlformats.org/drawingml/2006/main">
              <a:ext uri="{FF2B5EF4-FFF2-40B4-BE49-F238E27FC236}">
                <a16:creationId xmlns:a16="http://schemas.microsoft.com/office/drawing/2014/main" id="{63F58213-858A-4A59-B11B-BB2947FD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7051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1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flow-text-2">
            <a:extLst xmlns:a="http://schemas.openxmlformats.org/drawingml/2006/main">
              <a:ext uri="{FF2B5EF4-FFF2-40B4-BE49-F238E27FC236}">
                <a16:creationId xmlns:a16="http://schemas.microsoft.com/office/drawing/2014/main" id="{79E5F918-62F0-4330-8347-48C90ACD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63" y="3114675"/>
            <a:ext cx="2233613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− ______ value</a:t>
            </a:r>
          </a:p>
        </p:txBody>
      </p:sp>
      <p:sp>
        <p:nvSpPr>
          <p:cNvPr id="13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1384A168-EA30-4514-80D0-4BB44078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162300"/>
            <a:ext cx="17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4587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flow-step-3">
            <a:extLst xmlns:a="http://schemas.openxmlformats.org/drawingml/2006/main">
              <a:ext uri="{FF2B5EF4-FFF2-40B4-BE49-F238E27FC236}">
                <a16:creationId xmlns:a16="http://schemas.microsoft.com/office/drawing/2014/main" id="{EF05923B-6D8B-4988-A890-ECC08F35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543175"/>
            <a:ext cx="2614613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flow-number-3">
            <a:extLst xmlns:a="http://schemas.openxmlformats.org/drawingml/2006/main">
              <a:ext uri="{FF2B5EF4-FFF2-40B4-BE49-F238E27FC236}">
                <a16:creationId xmlns:a16="http://schemas.microsoft.com/office/drawing/2014/main" id="{52E29CA0-248F-4F4A-9175-835BCDE2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051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9F4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9F4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flow-text-3">
            <a:extLst xmlns:a="http://schemas.openxmlformats.org/drawingml/2006/main">
              <a:ext uri="{FF2B5EF4-FFF2-40B4-BE49-F238E27FC236}">
                <a16:creationId xmlns:a16="http://schemas.microsoft.com/office/drawing/2014/main" id="{D8D880BB-3682-4F8E-A977-ED44E50E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114675"/>
            <a:ext cx="2233613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+ ______</a:t>
            </a:r>
          </a:p>
        </p:txBody>
      </p:sp>
      <p:sp>
        <p:nvSpPr>
          <p:cNvPr id="17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8212A38E-1E16-4CFD-98F5-54F16A89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338" y="3162300"/>
            <a:ext cx="17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4587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flow-step-4">
            <a:extLst xmlns:a="http://schemas.openxmlformats.org/drawingml/2006/main">
              <a:ext uri="{FF2B5EF4-FFF2-40B4-BE49-F238E27FC236}">
                <a16:creationId xmlns:a16="http://schemas.microsoft.com/office/drawing/2014/main" id="{A70A696D-58B1-42BD-ABA3-018C3D97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2543175"/>
            <a:ext cx="2614613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flow-number-4">
            <a:extLst xmlns:a="http://schemas.openxmlformats.org/drawingml/2006/main">
              <a:ext uri="{FF2B5EF4-FFF2-40B4-BE49-F238E27FC236}">
                <a16:creationId xmlns:a16="http://schemas.microsoft.com/office/drawing/2014/main" id="{D20FBED1-0F1F-4FDB-A6BB-7349323A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7051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EF0B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EF0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flow-text-4">
            <a:extLst xmlns:a="http://schemas.openxmlformats.org/drawingml/2006/main">
              <a:ext uri="{FF2B5EF4-FFF2-40B4-BE49-F238E27FC236}">
                <a16:creationId xmlns:a16="http://schemas.microsoft.com/office/drawing/2014/main" id="{B44FE844-6464-4457-B201-10A8596F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3114675"/>
            <a:ext cx="2233613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= total return</a:t>
            </a:r>
          </a:p>
        </p:txBody>
      </p:sp>
    </p:spTree>
    <p:extLst>
      <p:ext uri="{BB962C8B-B14F-4D97-AF65-F5344CB8AC3E}">
        <p14:creationId xmlns:p14="http://schemas.microsoft.com/office/powerpoint/2010/main" val="7081922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2AB1944A-AFA6-4E5C-9990-D8CB51DF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TOTAL RETURN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B570F97B-D8BC-4865-97E4-5BD93A1E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8F8518-7016-45A2-ABB5-D0BCDF4C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Build the total-return formula · Reveal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569CC79-7738-445F-8F52-FF0477DC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mpt">
            <a:extLst xmlns:a="http://schemas.openxmlformats.org/drawingml/2006/main">
              <a:ext uri="{FF2B5EF4-FFF2-40B4-BE49-F238E27FC236}">
                <a16:creationId xmlns:a16="http://schemas.microsoft.com/office/drawing/2014/main" id="{19284C71-D2ED-43A8-A7F8-DCFDADB3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Total return = ending value − starting value + income</a:t>
            </a:r>
          </a:p>
        </p:txBody>
      </p:sp>
      <p:sp>
        <p:nvSpPr>
          <p:cNvPr id="6" name="flow-step-1">
            <a:extLst xmlns:a="http://schemas.openxmlformats.org/drawingml/2006/main">
              <a:ext uri="{FF2B5EF4-FFF2-40B4-BE49-F238E27FC236}">
                <a16:creationId xmlns:a16="http://schemas.microsoft.com/office/drawing/2014/main" id="{A80F9183-045F-4BDD-9CF3-1B38CFD4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2614613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flow-number-1">
            <a:extLst xmlns:a="http://schemas.openxmlformats.org/drawingml/2006/main">
              <a:ext uri="{FF2B5EF4-FFF2-40B4-BE49-F238E27FC236}">
                <a16:creationId xmlns:a16="http://schemas.microsoft.com/office/drawing/2014/main" id="{95B61923-1102-4415-A70B-D4DA85F8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flow-text-1">
            <a:extLst xmlns:a="http://schemas.openxmlformats.org/drawingml/2006/main">
              <a:ext uri="{FF2B5EF4-FFF2-40B4-BE49-F238E27FC236}">
                <a16:creationId xmlns:a16="http://schemas.microsoft.com/office/drawing/2014/main" id="{CAEAF9A6-CB78-4624-B46F-E842F5FA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2233613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Ending value</a:t>
            </a:r>
          </a:p>
        </p:txBody>
      </p:sp>
      <p:sp>
        <p:nvSpPr>
          <p:cNvPr id="9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5CEFE996-13D8-48B2-BB4D-09135103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213" y="3162300"/>
            <a:ext cx="17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4587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flow-step-2">
            <a:extLst xmlns:a="http://schemas.openxmlformats.org/drawingml/2006/main">
              <a:ext uri="{FF2B5EF4-FFF2-40B4-BE49-F238E27FC236}">
                <a16:creationId xmlns:a16="http://schemas.microsoft.com/office/drawing/2014/main" id="{5DC90826-1699-47B5-A8FE-3B8B251C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543175"/>
            <a:ext cx="2614613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2F31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flow-number-2">
            <a:extLst xmlns:a="http://schemas.openxmlformats.org/drawingml/2006/main">
              <a:ext uri="{FF2B5EF4-FFF2-40B4-BE49-F238E27FC236}">
                <a16:creationId xmlns:a16="http://schemas.microsoft.com/office/drawing/2014/main" id="{02806C84-80ED-46CD-B93C-47FA120A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7051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D1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flow-text-2">
            <a:extLst xmlns:a="http://schemas.openxmlformats.org/drawingml/2006/main">
              <a:ext uri="{FF2B5EF4-FFF2-40B4-BE49-F238E27FC236}">
                <a16:creationId xmlns:a16="http://schemas.microsoft.com/office/drawing/2014/main" id="{5D296097-CEC0-4176-91C1-F5BE45B2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63" y="3114675"/>
            <a:ext cx="2233613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− starting value</a:t>
            </a:r>
          </a:p>
        </p:txBody>
      </p:sp>
      <p:sp>
        <p:nvSpPr>
          <p:cNvPr id="13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EB605A71-5180-41ED-834C-72B92B73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162300"/>
            <a:ext cx="17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4587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flow-step-3">
            <a:extLst xmlns:a="http://schemas.openxmlformats.org/drawingml/2006/main">
              <a:ext uri="{FF2B5EF4-FFF2-40B4-BE49-F238E27FC236}">
                <a16:creationId xmlns:a16="http://schemas.microsoft.com/office/drawing/2014/main" id="{6E258914-6D75-4E56-AC48-358EEC9B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543175"/>
            <a:ext cx="2614613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2F31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flow-number-3">
            <a:extLst xmlns:a="http://schemas.openxmlformats.org/drawingml/2006/main">
              <a:ext uri="{FF2B5EF4-FFF2-40B4-BE49-F238E27FC236}">
                <a16:creationId xmlns:a16="http://schemas.microsoft.com/office/drawing/2014/main" id="{8A709E8B-E824-4429-8D84-76464D28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051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9F4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9F4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flow-text-3">
            <a:extLst xmlns:a="http://schemas.openxmlformats.org/drawingml/2006/main">
              <a:ext uri="{FF2B5EF4-FFF2-40B4-BE49-F238E27FC236}">
                <a16:creationId xmlns:a16="http://schemas.microsoft.com/office/drawing/2014/main" id="{39879AF9-65AF-4184-9789-C20BC2FF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114675"/>
            <a:ext cx="2233613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+ income</a:t>
            </a:r>
          </a:p>
        </p:txBody>
      </p:sp>
      <p:sp>
        <p:nvSpPr>
          <p:cNvPr id="17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380DDB79-7A4D-4CF9-ABD7-B73A51AC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338" y="3162300"/>
            <a:ext cx="17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4587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flow-step-4">
            <a:extLst xmlns:a="http://schemas.openxmlformats.org/drawingml/2006/main">
              <a:ext uri="{FF2B5EF4-FFF2-40B4-BE49-F238E27FC236}">
                <a16:creationId xmlns:a16="http://schemas.microsoft.com/office/drawing/2014/main" id="{7239223F-8B49-43C5-B588-44327A3F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2543175"/>
            <a:ext cx="2614613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2F31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flow-number-4">
            <a:extLst xmlns:a="http://schemas.openxmlformats.org/drawingml/2006/main">
              <a:ext uri="{FF2B5EF4-FFF2-40B4-BE49-F238E27FC236}">
                <a16:creationId xmlns:a16="http://schemas.microsoft.com/office/drawing/2014/main" id="{96862165-4B62-47C4-8014-19DEFFB9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7051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EF0B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EF0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flow-text-4">
            <a:extLst xmlns:a="http://schemas.openxmlformats.org/drawingml/2006/main">
              <a:ext uri="{FF2B5EF4-FFF2-40B4-BE49-F238E27FC236}">
                <a16:creationId xmlns:a16="http://schemas.microsoft.com/office/drawing/2014/main" id="{AB466556-4DE8-4FBA-B33F-6D41F1F9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3114675"/>
            <a:ext cx="2233613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= total return</a:t>
            </a:r>
          </a:p>
        </p:txBody>
      </p:sp>
      <p:sp>
        <p:nvSpPr>
          <p:cNvPr id="21" name="formula-line">
            <a:extLst xmlns:a="http://schemas.openxmlformats.org/drawingml/2006/main">
              <a:ext uri="{FF2B5EF4-FFF2-40B4-BE49-F238E27FC236}">
                <a16:creationId xmlns:a16="http://schemas.microsoft.com/office/drawing/2014/main" id="{D6546634-27CD-4013-A996-429ACD8C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72050"/>
            <a:ext cx="944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Total return = ending value − starting value + income</a:t>
            </a:r>
          </a:p>
        </p:txBody>
      </p:sp>
    </p:spTree>
    <p:extLst>
      <p:ext uri="{BB962C8B-B14F-4D97-AF65-F5344CB8AC3E}">
        <p14:creationId xmlns:p14="http://schemas.microsoft.com/office/powerpoint/2010/main" val="13941867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D7733D79-5297-48A1-A23C-1F8AD2C8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TOTAL RETURN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FFBE4062-F52D-48B7-A9BA-56A3AF8D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327EF4-4BC1-4C25-A4D1-13889F58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Hinge check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87E315FA-0395-47F5-AE11-836C91BC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question-surface">
            <a:extLst xmlns:a="http://schemas.openxmlformats.org/drawingml/2006/main">
              <a:ext uri="{FF2B5EF4-FFF2-40B4-BE49-F238E27FC236}">
                <a16:creationId xmlns:a16="http://schemas.microsoft.com/office/drawing/2014/main" id="{3E21E9CB-3D26-4B73-A1E0-744CA4D5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question">
            <a:extLst xmlns:a="http://schemas.openxmlformats.org/drawingml/2006/main">
              <a:ext uri="{FF2B5EF4-FFF2-40B4-BE49-F238E27FC236}">
                <a16:creationId xmlns:a16="http://schemas.microsoft.com/office/drawing/2014/main" id="{D30977D3-36BC-43CA-B87E-F4D32EAC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91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Start CNY 1,000 · End CNY 1,100 · Income CNY 20</a:t>
            </a:r>
          </a:p>
          <a:p xmlns:a="http://schemas.openxmlformats.org/drawingml/2006/main">
            <a:pPr algn="ctr">
              <a:defRPr sz="187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What is total return?</a:t>
            </a:r>
          </a:p>
        </p:txBody>
      </p:sp>
      <p:sp>
        <p:nvSpPr>
          <p:cNvPr id="7" name="option-1">
            <a:extLst xmlns:a="http://schemas.openxmlformats.org/drawingml/2006/main">
              <a:ext uri="{FF2B5EF4-FFF2-40B4-BE49-F238E27FC236}">
                <a16:creationId xmlns:a16="http://schemas.microsoft.com/office/drawing/2014/main" id="{C8FBF2F4-8A0E-414E-9AA0-4D75BED8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381625" cy="866775"/>
          </a:xfrm>
          <a:prstGeom xmlns:a="http://schemas.openxmlformats.org/drawingml/2006/main" prst="roundRect">
            <a:avLst>
              <a:gd name="adj" fmla="val 1758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0C1B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option-text-1">
            <a:extLst xmlns:a="http://schemas.openxmlformats.org/drawingml/2006/main">
              <a:ext uri="{FF2B5EF4-FFF2-40B4-BE49-F238E27FC236}">
                <a16:creationId xmlns:a16="http://schemas.microsoft.com/office/drawing/2014/main" id="{F04918DA-2415-4EA3-BF8C-D4E34402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381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A  CNY 100</a:t>
            </a:r>
          </a:p>
        </p:txBody>
      </p:sp>
      <p:sp>
        <p:nvSpPr>
          <p:cNvPr id="9" name="option-2">
            <a:extLst xmlns:a="http://schemas.openxmlformats.org/drawingml/2006/main">
              <a:ext uri="{FF2B5EF4-FFF2-40B4-BE49-F238E27FC236}">
                <a16:creationId xmlns:a16="http://schemas.microsoft.com/office/drawing/2014/main" id="{0246CE10-3C20-467A-9150-D25AAE59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333750"/>
            <a:ext cx="5381625" cy="866775"/>
          </a:xfrm>
          <a:prstGeom xmlns:a="http://schemas.openxmlformats.org/drawingml/2006/main" prst="roundRect">
            <a:avLst>
              <a:gd name="adj" fmla="val 1758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0C1B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option-text-2">
            <a:extLst xmlns:a="http://schemas.openxmlformats.org/drawingml/2006/main">
              <a:ext uri="{FF2B5EF4-FFF2-40B4-BE49-F238E27FC236}">
                <a16:creationId xmlns:a16="http://schemas.microsoft.com/office/drawing/2014/main" id="{2C96205A-9004-4B35-A80B-C01C3FEA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333750"/>
            <a:ext cx="5381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B  CNY 120</a:t>
            </a:r>
          </a:p>
        </p:txBody>
      </p:sp>
      <p:sp>
        <p:nvSpPr>
          <p:cNvPr id="11" name="option-3">
            <a:extLst xmlns:a="http://schemas.openxmlformats.org/drawingml/2006/main">
              <a:ext uri="{FF2B5EF4-FFF2-40B4-BE49-F238E27FC236}">
                <a16:creationId xmlns:a16="http://schemas.microsoft.com/office/drawing/2014/main" id="{E7DBC3FE-E8D7-460E-B01A-91DFCF22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5381625" cy="866775"/>
          </a:xfrm>
          <a:prstGeom xmlns:a="http://schemas.openxmlformats.org/drawingml/2006/main" prst="roundRect">
            <a:avLst>
              <a:gd name="adj" fmla="val 1758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0C1B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option-text-3">
            <a:extLst xmlns:a="http://schemas.openxmlformats.org/drawingml/2006/main">
              <a:ext uri="{FF2B5EF4-FFF2-40B4-BE49-F238E27FC236}">
                <a16:creationId xmlns:a16="http://schemas.microsoft.com/office/drawing/2014/main" id="{24A629D0-B189-45A3-BC2C-ACDC8ABF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5381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C  CNY 1,120</a:t>
            </a:r>
          </a:p>
        </p:txBody>
      </p:sp>
      <p:sp>
        <p:nvSpPr>
          <p:cNvPr id="13" name="option-4">
            <a:extLst xmlns:a="http://schemas.openxmlformats.org/drawingml/2006/main">
              <a:ext uri="{FF2B5EF4-FFF2-40B4-BE49-F238E27FC236}">
                <a16:creationId xmlns:a16="http://schemas.microsoft.com/office/drawing/2014/main" id="{2A01890D-B758-4065-8E3C-F86ACC8A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438650"/>
            <a:ext cx="5381625" cy="866775"/>
          </a:xfrm>
          <a:prstGeom xmlns:a="http://schemas.openxmlformats.org/drawingml/2006/main" prst="roundRect">
            <a:avLst>
              <a:gd name="adj" fmla="val 1758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0C1B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option-text-4">
            <a:extLst xmlns:a="http://schemas.openxmlformats.org/drawingml/2006/main">
              <a:ext uri="{FF2B5EF4-FFF2-40B4-BE49-F238E27FC236}">
                <a16:creationId xmlns:a16="http://schemas.microsoft.com/office/drawing/2014/main" id="{376A613D-271B-4804-BF1C-03CBBB18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438650"/>
            <a:ext cx="5381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D  12%</a:t>
            </a:r>
          </a:p>
        </p:txBody>
      </p:sp>
    </p:spTree>
    <p:extLst>
      <p:ext uri="{BB962C8B-B14F-4D97-AF65-F5344CB8AC3E}">
        <p14:creationId xmlns:p14="http://schemas.microsoft.com/office/powerpoint/2010/main" val="21381355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0D78B276-6283-405E-A500-B9CDECFC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TOTAL RETURN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C14C1CBD-7F01-4EBB-A3C0-0D7C922F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E6AEA9-6706-4894-8C79-27202347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Hinge check · Reveal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8751A8F5-F84E-4F51-888F-CE31CB50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question-surface">
            <a:extLst xmlns:a="http://schemas.openxmlformats.org/drawingml/2006/main">
              <a:ext uri="{FF2B5EF4-FFF2-40B4-BE49-F238E27FC236}">
                <a16:creationId xmlns:a16="http://schemas.microsoft.com/office/drawing/2014/main" id="{D50F6497-E5FC-47FA-9D2D-ED664D5B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question">
            <a:extLst xmlns:a="http://schemas.openxmlformats.org/drawingml/2006/main">
              <a:ext uri="{FF2B5EF4-FFF2-40B4-BE49-F238E27FC236}">
                <a16:creationId xmlns:a16="http://schemas.microsoft.com/office/drawing/2014/main" id="{5FC73347-B710-45A5-9A68-72E0EF61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91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(1,100 − 1,000) + 20 = CNY 120</a:t>
            </a:r>
          </a:p>
        </p:txBody>
      </p:sp>
      <p:sp>
        <p:nvSpPr>
          <p:cNvPr id="7" name="option-1">
            <a:extLst xmlns:a="http://schemas.openxmlformats.org/drawingml/2006/main">
              <a:ext uri="{FF2B5EF4-FFF2-40B4-BE49-F238E27FC236}">
                <a16:creationId xmlns:a16="http://schemas.microsoft.com/office/drawing/2014/main" id="{D6124E18-F0E1-457D-96BF-9D1FA1ED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381625" cy="866775"/>
          </a:xfrm>
          <a:prstGeom xmlns:a="http://schemas.openxmlformats.org/drawingml/2006/main" prst="roundRect">
            <a:avLst>
              <a:gd name="adj" fmla="val 1758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0C1B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option-text-1">
            <a:extLst xmlns:a="http://schemas.openxmlformats.org/drawingml/2006/main">
              <a:ext uri="{FF2B5EF4-FFF2-40B4-BE49-F238E27FC236}">
                <a16:creationId xmlns:a16="http://schemas.microsoft.com/office/drawing/2014/main" id="{335C60F9-D447-45A3-90A5-7B812897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381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A  CNY 100</a:t>
            </a:r>
          </a:p>
        </p:txBody>
      </p:sp>
      <p:sp>
        <p:nvSpPr>
          <p:cNvPr id="9" name="option-2">
            <a:extLst xmlns:a="http://schemas.openxmlformats.org/drawingml/2006/main">
              <a:ext uri="{FF2B5EF4-FFF2-40B4-BE49-F238E27FC236}">
                <a16:creationId xmlns:a16="http://schemas.microsoft.com/office/drawing/2014/main" id="{818FBCA2-6C4F-4635-81C9-01F82E18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333750"/>
            <a:ext cx="5381625" cy="866775"/>
          </a:xfrm>
          <a:prstGeom xmlns:a="http://schemas.openxmlformats.org/drawingml/2006/main" prst="roundRect">
            <a:avLst>
              <a:gd name="adj" fmla="val 17582"/>
            </a:avLst>
          </a:prstGeom>
          <a:solidFill xmlns:a="http://schemas.openxmlformats.org/drawingml/2006/main">
            <a:srgbClr val="16433C"/>
          </a:solidFill>
          <a:ln xmlns:a="http://schemas.openxmlformats.org/drawingml/2006/main" w="28575">
            <a:solidFill>
              <a:srgbClr val="7EF0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option-text-2">
            <a:extLst xmlns:a="http://schemas.openxmlformats.org/drawingml/2006/main">
              <a:ext uri="{FF2B5EF4-FFF2-40B4-BE49-F238E27FC236}">
                <a16:creationId xmlns:a16="http://schemas.microsoft.com/office/drawing/2014/main" id="{FD8CFC18-990C-48C6-947D-A2F6EA84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333750"/>
            <a:ext cx="5381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7EF0B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7EF0B5"/>
                </a:solidFill>
                <a:latin typeface="Arial"/>
                <a:ea typeface="Arial"/>
                <a:cs typeface="Arial"/>
              </a:rPr>
              <a:t>B  CNY 120</a:t>
            </a:r>
          </a:p>
        </p:txBody>
      </p:sp>
      <p:sp>
        <p:nvSpPr>
          <p:cNvPr id="11" name="option-3">
            <a:extLst xmlns:a="http://schemas.openxmlformats.org/drawingml/2006/main">
              <a:ext uri="{FF2B5EF4-FFF2-40B4-BE49-F238E27FC236}">
                <a16:creationId xmlns:a16="http://schemas.microsoft.com/office/drawing/2014/main" id="{ED8D9765-B290-40C0-B837-AF38D3B3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5381625" cy="866775"/>
          </a:xfrm>
          <a:prstGeom xmlns:a="http://schemas.openxmlformats.org/drawingml/2006/main" prst="roundRect">
            <a:avLst>
              <a:gd name="adj" fmla="val 1758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0C1B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option-text-3">
            <a:extLst xmlns:a="http://schemas.openxmlformats.org/drawingml/2006/main">
              <a:ext uri="{FF2B5EF4-FFF2-40B4-BE49-F238E27FC236}">
                <a16:creationId xmlns:a16="http://schemas.microsoft.com/office/drawing/2014/main" id="{67232F8D-4D65-4BFF-BF56-730E6193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5381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C  CNY 1,120</a:t>
            </a:r>
          </a:p>
        </p:txBody>
      </p:sp>
      <p:sp>
        <p:nvSpPr>
          <p:cNvPr id="13" name="option-4">
            <a:extLst xmlns:a="http://schemas.openxmlformats.org/drawingml/2006/main">
              <a:ext uri="{FF2B5EF4-FFF2-40B4-BE49-F238E27FC236}">
                <a16:creationId xmlns:a16="http://schemas.microsoft.com/office/drawing/2014/main" id="{B01820D3-D806-4D61-BF14-BF070AEA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438650"/>
            <a:ext cx="5381625" cy="866775"/>
          </a:xfrm>
          <a:prstGeom xmlns:a="http://schemas.openxmlformats.org/drawingml/2006/main" prst="roundRect">
            <a:avLst>
              <a:gd name="adj" fmla="val 1758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0C1B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option-text-4">
            <a:extLst xmlns:a="http://schemas.openxmlformats.org/drawingml/2006/main">
              <a:ext uri="{FF2B5EF4-FFF2-40B4-BE49-F238E27FC236}">
                <a16:creationId xmlns:a16="http://schemas.microsoft.com/office/drawing/2014/main" id="{9ABC7593-648E-4FBC-8CDF-1D2FC73E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438650"/>
            <a:ext cx="5381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D  12%</a:t>
            </a:r>
          </a:p>
        </p:txBody>
      </p:sp>
    </p:spTree>
    <p:extLst>
      <p:ext uri="{BB962C8B-B14F-4D97-AF65-F5344CB8AC3E}">
        <p14:creationId xmlns:p14="http://schemas.microsoft.com/office/powerpoint/2010/main" val="13955513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band">
            <a:extLst xmlns:a="http://schemas.openxmlformats.org/drawingml/2006/main">
              <a:ext uri="{FF2B5EF4-FFF2-40B4-BE49-F238E27FC236}">
                <a16:creationId xmlns:a16="http://schemas.microsoft.com/office/drawing/2014/main" id="{73A96A1D-FC7D-4CC0-979A-582B31A8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5418A684-AC79-478E-B844-4D9B866F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257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0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8850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4C574C1F-D415-43E8-8CDB-9C6614A9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How do we calculate return?</a:t>
            </a:r>
          </a:p>
        </p:txBody>
      </p:sp>
      <p:sp>
        <p:nvSpPr>
          <p:cNvPr id="4" name="section-zh">
            <a:extLst xmlns:a="http://schemas.openxmlformats.org/drawingml/2006/main">
              <a:ext uri="{FF2B5EF4-FFF2-40B4-BE49-F238E27FC236}">
                <a16:creationId xmlns:a16="http://schemas.microsoft.com/office/drawing/2014/main" id="{0AB924A0-72AD-4CFF-82EE-DB03FD1D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如何计算回报？</a:t>
            </a:r>
          </a:p>
        </p:txBody>
      </p:sp>
      <p:sp>
        <p:nvSpPr>
          <p:cNvPr id="5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2A57E50B-E92C-4D5B-A709-FD62A91A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54670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fd8cc5e494b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4765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337AE7ED-DDE8-4228-98CD-BC0677DB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CALCULATE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62912930-C0EE-4122-82EB-F8BAEF03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4C39CC-20AD-4EB1-86EA-6C696704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Use the same four-step method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538EC03-468E-441B-AB12-DB032A19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hod-number-bg-1">
            <a:extLst xmlns:a="http://schemas.openxmlformats.org/drawingml/2006/main">
              <a:ext uri="{FF2B5EF4-FFF2-40B4-BE49-F238E27FC236}">
                <a16:creationId xmlns:a16="http://schemas.microsoft.com/office/drawing/2014/main" id="{F7B0B3D2-DB54-432C-AC4C-F715993A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hod-number-1">
            <a:extLst xmlns:a="http://schemas.openxmlformats.org/drawingml/2006/main">
              <a:ext uri="{FF2B5EF4-FFF2-40B4-BE49-F238E27FC236}">
                <a16:creationId xmlns:a16="http://schemas.microsoft.com/office/drawing/2014/main" id="{C5F505F8-A40E-414D-93C7-9AC6AD96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111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method-label-1">
            <a:extLst xmlns:a="http://schemas.openxmlformats.org/drawingml/2006/main">
              <a:ext uri="{FF2B5EF4-FFF2-40B4-BE49-F238E27FC236}">
                <a16:creationId xmlns:a16="http://schemas.microsoft.com/office/drawing/2014/main" id="{2A26B6D0-3F4D-406E-8F75-033DDE3B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828800"/>
            <a:ext cx="9972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DBE7F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DBE7F6"/>
                </a:solidFill>
                <a:latin typeface="Arial"/>
                <a:ea typeface="Arial"/>
                <a:cs typeface="Arial"/>
              </a:rPr>
              <a:t>Find capital ______</a:t>
            </a:r>
          </a:p>
        </p:txBody>
      </p:sp>
      <p:sp>
        <p:nvSpPr>
          <p:cNvPr id="8" name="method-line-1">
            <a:extLst xmlns:a="http://schemas.openxmlformats.org/drawingml/2006/main">
              <a:ext uri="{FF2B5EF4-FFF2-40B4-BE49-F238E27FC236}">
                <a16:creationId xmlns:a16="http://schemas.microsoft.com/office/drawing/2014/main" id="{393C4E40-D903-46ED-A0F9-FFECE5D5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hod-number-bg-2">
            <a:extLst xmlns:a="http://schemas.openxmlformats.org/drawingml/2006/main">
              <a:ext uri="{FF2B5EF4-FFF2-40B4-BE49-F238E27FC236}">
                <a16:creationId xmlns:a16="http://schemas.microsoft.com/office/drawing/2014/main" id="{6B711F54-28D7-4294-8DD1-8DAC97DD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hod-number-2">
            <a:extLst xmlns:a="http://schemas.openxmlformats.org/drawingml/2006/main">
              <a:ext uri="{FF2B5EF4-FFF2-40B4-BE49-F238E27FC236}">
                <a16:creationId xmlns:a16="http://schemas.microsoft.com/office/drawing/2014/main" id="{2AF95DDE-33EA-49C3-983C-31198AEA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111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method-label-2">
            <a:extLst xmlns:a="http://schemas.openxmlformats.org/drawingml/2006/main">
              <a:ext uri="{FF2B5EF4-FFF2-40B4-BE49-F238E27FC236}">
                <a16:creationId xmlns:a16="http://schemas.microsoft.com/office/drawing/2014/main" id="{25D03E68-C6B0-4DB4-94DA-6FEF0CF2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828925"/>
            <a:ext cx="9972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DBE7F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DBE7F6"/>
                </a:solidFill>
                <a:latin typeface="Arial"/>
                <a:ea typeface="Arial"/>
                <a:cs typeface="Arial"/>
              </a:rPr>
              <a:t>Add ______</a:t>
            </a:r>
          </a:p>
        </p:txBody>
      </p:sp>
      <p:sp>
        <p:nvSpPr>
          <p:cNvPr id="12" name="method-line-2">
            <a:extLst xmlns:a="http://schemas.openxmlformats.org/drawingml/2006/main">
              <a:ext uri="{FF2B5EF4-FFF2-40B4-BE49-F238E27FC236}">
                <a16:creationId xmlns:a16="http://schemas.microsoft.com/office/drawing/2014/main" id="{1FDAF17E-E474-4C69-B148-CF7EEE74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33775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hod-number-bg-3">
            <a:extLst xmlns:a="http://schemas.openxmlformats.org/drawingml/2006/main">
              <a:ext uri="{FF2B5EF4-FFF2-40B4-BE49-F238E27FC236}">
                <a16:creationId xmlns:a16="http://schemas.microsoft.com/office/drawing/2014/main" id="{CE81E5F6-1A73-4F5D-963B-CD547374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hod-number-3">
            <a:extLst xmlns:a="http://schemas.openxmlformats.org/drawingml/2006/main">
              <a:ext uri="{FF2B5EF4-FFF2-40B4-BE49-F238E27FC236}">
                <a16:creationId xmlns:a16="http://schemas.microsoft.com/office/drawing/2014/main" id="{C196D924-17E3-4DA5-84B9-CD3231DB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111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method-label-3">
            <a:extLst xmlns:a="http://schemas.openxmlformats.org/drawingml/2006/main">
              <a:ext uri="{FF2B5EF4-FFF2-40B4-BE49-F238E27FC236}">
                <a16:creationId xmlns:a16="http://schemas.microsoft.com/office/drawing/2014/main" id="{C3749B41-5735-4DDC-B299-B9E5D0DC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829050"/>
            <a:ext cx="9972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DBE7F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DBE7F6"/>
                </a:solidFill>
                <a:latin typeface="Arial"/>
                <a:ea typeface="Arial"/>
                <a:cs typeface="Arial"/>
              </a:rPr>
              <a:t>Divide by starting ______</a:t>
            </a:r>
          </a:p>
        </p:txBody>
      </p:sp>
      <p:sp>
        <p:nvSpPr>
          <p:cNvPr id="16" name="method-line-3">
            <a:extLst xmlns:a="http://schemas.openxmlformats.org/drawingml/2006/main">
              <a:ext uri="{FF2B5EF4-FFF2-40B4-BE49-F238E27FC236}">
                <a16:creationId xmlns:a16="http://schemas.microsoft.com/office/drawing/2014/main" id="{A7481650-75C3-4BDB-9379-678A42D1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thod-number-bg-4">
            <a:extLst xmlns:a="http://schemas.openxmlformats.org/drawingml/2006/main">
              <a:ext uri="{FF2B5EF4-FFF2-40B4-BE49-F238E27FC236}">
                <a16:creationId xmlns:a16="http://schemas.microsoft.com/office/drawing/2014/main" id="{1B867AEA-36BE-459C-8161-76641884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thod-number-4">
            <a:extLst xmlns:a="http://schemas.openxmlformats.org/drawingml/2006/main">
              <a:ext uri="{FF2B5EF4-FFF2-40B4-BE49-F238E27FC236}">
                <a16:creationId xmlns:a16="http://schemas.microsoft.com/office/drawing/2014/main" id="{78D3E387-3E38-4091-B0BB-2D4E1A22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111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method-label-4">
            <a:extLst xmlns:a="http://schemas.openxmlformats.org/drawingml/2006/main">
              <a:ext uri="{FF2B5EF4-FFF2-40B4-BE49-F238E27FC236}">
                <a16:creationId xmlns:a16="http://schemas.microsoft.com/office/drawing/2014/main" id="{DE6FA40C-3189-4B8C-9547-3211F513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829175"/>
            <a:ext cx="9972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DBE7F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DBE7F6"/>
                </a:solidFill>
                <a:latin typeface="Arial"/>
                <a:ea typeface="Arial"/>
                <a:cs typeface="Arial"/>
              </a:rPr>
              <a:t>× 100 and ______</a:t>
            </a:r>
          </a:p>
        </p:txBody>
      </p:sp>
    </p:spTree>
    <p:extLst>
      <p:ext uri="{BB962C8B-B14F-4D97-AF65-F5344CB8AC3E}">
        <p14:creationId xmlns:p14="http://schemas.microsoft.com/office/powerpoint/2010/main" val="128272326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A6C91B38-561E-4DCF-8A42-343A6E35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CALCULATE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17B1F538-465C-4659-A3EE-B6A9FFAD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D649A1-094B-4F49-AD31-2BCF5241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Use the same four-step method · Reveal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E8EDF80-8959-4573-ADB9-5BECA5B0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hod-number-bg-1">
            <a:extLst xmlns:a="http://schemas.openxmlformats.org/drawingml/2006/main">
              <a:ext uri="{FF2B5EF4-FFF2-40B4-BE49-F238E27FC236}">
                <a16:creationId xmlns:a16="http://schemas.microsoft.com/office/drawing/2014/main" id="{1265449A-84C3-4DAF-9A75-66FB1D84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hod-number-1">
            <a:extLst xmlns:a="http://schemas.openxmlformats.org/drawingml/2006/main">
              <a:ext uri="{FF2B5EF4-FFF2-40B4-BE49-F238E27FC236}">
                <a16:creationId xmlns:a16="http://schemas.microsoft.com/office/drawing/2014/main" id="{DE53BCB6-A532-4F64-80D0-80E6379D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111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method-label-1">
            <a:extLst xmlns:a="http://schemas.openxmlformats.org/drawingml/2006/main">
              <a:ext uri="{FF2B5EF4-FFF2-40B4-BE49-F238E27FC236}">
                <a16:creationId xmlns:a16="http://schemas.microsoft.com/office/drawing/2014/main" id="{C54A04A4-F955-4A41-BB23-4ED63FA7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828800"/>
            <a:ext cx="9972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Find capital gain or loss</a:t>
            </a:r>
          </a:p>
        </p:txBody>
      </p:sp>
      <p:sp>
        <p:nvSpPr>
          <p:cNvPr id="8" name="method-line-1">
            <a:extLst xmlns:a="http://schemas.openxmlformats.org/drawingml/2006/main">
              <a:ext uri="{FF2B5EF4-FFF2-40B4-BE49-F238E27FC236}">
                <a16:creationId xmlns:a16="http://schemas.microsoft.com/office/drawing/2014/main" id="{C023B07C-CCCB-4912-97B0-826F96C2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hod-number-bg-2">
            <a:extLst xmlns:a="http://schemas.openxmlformats.org/drawingml/2006/main">
              <a:ext uri="{FF2B5EF4-FFF2-40B4-BE49-F238E27FC236}">
                <a16:creationId xmlns:a16="http://schemas.microsoft.com/office/drawing/2014/main" id="{CE26B620-4F89-4E82-8817-0E0964A7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hod-number-2">
            <a:extLst xmlns:a="http://schemas.openxmlformats.org/drawingml/2006/main">
              <a:ext uri="{FF2B5EF4-FFF2-40B4-BE49-F238E27FC236}">
                <a16:creationId xmlns:a16="http://schemas.microsoft.com/office/drawing/2014/main" id="{BE0CD56C-8DC7-47CB-9FC6-5DE215E8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111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method-label-2">
            <a:extLst xmlns:a="http://schemas.openxmlformats.org/drawingml/2006/main">
              <a:ext uri="{FF2B5EF4-FFF2-40B4-BE49-F238E27FC236}">
                <a16:creationId xmlns:a16="http://schemas.microsoft.com/office/drawing/2014/main" id="{101E1F02-AC3D-462F-B26E-0915B7BF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828925"/>
            <a:ext cx="9972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Add income</a:t>
            </a:r>
          </a:p>
        </p:txBody>
      </p:sp>
      <p:sp>
        <p:nvSpPr>
          <p:cNvPr id="12" name="method-line-2">
            <a:extLst xmlns:a="http://schemas.openxmlformats.org/drawingml/2006/main">
              <a:ext uri="{FF2B5EF4-FFF2-40B4-BE49-F238E27FC236}">
                <a16:creationId xmlns:a16="http://schemas.microsoft.com/office/drawing/2014/main" id="{A8380533-0CE1-4B32-925C-412A2A7B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33775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hod-number-bg-3">
            <a:extLst xmlns:a="http://schemas.openxmlformats.org/drawingml/2006/main">
              <a:ext uri="{FF2B5EF4-FFF2-40B4-BE49-F238E27FC236}">
                <a16:creationId xmlns:a16="http://schemas.microsoft.com/office/drawing/2014/main" id="{6980773C-0673-4343-B2C7-D7498D54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hod-number-3">
            <a:extLst xmlns:a="http://schemas.openxmlformats.org/drawingml/2006/main">
              <a:ext uri="{FF2B5EF4-FFF2-40B4-BE49-F238E27FC236}">
                <a16:creationId xmlns:a16="http://schemas.microsoft.com/office/drawing/2014/main" id="{2DF5324B-BFEB-4F1E-9455-999AF707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111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method-label-3">
            <a:extLst xmlns:a="http://schemas.openxmlformats.org/drawingml/2006/main">
              <a:ext uri="{FF2B5EF4-FFF2-40B4-BE49-F238E27FC236}">
                <a16:creationId xmlns:a16="http://schemas.microsoft.com/office/drawing/2014/main" id="{ED7549CA-29B9-4305-9A63-9942A7B5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829050"/>
            <a:ext cx="9972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Divide by starting value</a:t>
            </a:r>
          </a:p>
        </p:txBody>
      </p:sp>
      <p:sp>
        <p:nvSpPr>
          <p:cNvPr id="16" name="method-line-3">
            <a:extLst xmlns:a="http://schemas.openxmlformats.org/drawingml/2006/main">
              <a:ext uri="{FF2B5EF4-FFF2-40B4-BE49-F238E27FC236}">
                <a16:creationId xmlns:a16="http://schemas.microsoft.com/office/drawing/2014/main" id="{4E3A4AA7-5526-4B35-A98B-233DCAE3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thod-number-bg-4">
            <a:extLst xmlns:a="http://schemas.openxmlformats.org/drawingml/2006/main">
              <a:ext uri="{FF2B5EF4-FFF2-40B4-BE49-F238E27FC236}">
                <a16:creationId xmlns:a16="http://schemas.microsoft.com/office/drawing/2014/main" id="{2A19D1FE-12C9-4035-963C-2F8AA62B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thod-number-4">
            <a:extLst xmlns:a="http://schemas.openxmlformats.org/drawingml/2006/main">
              <a:ext uri="{FF2B5EF4-FFF2-40B4-BE49-F238E27FC236}">
                <a16:creationId xmlns:a16="http://schemas.microsoft.com/office/drawing/2014/main" id="{9854DA4A-6788-417B-ABEA-8A15FEF6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111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method-label-4">
            <a:extLst xmlns:a="http://schemas.openxmlformats.org/drawingml/2006/main">
              <a:ext uri="{FF2B5EF4-FFF2-40B4-BE49-F238E27FC236}">
                <a16:creationId xmlns:a16="http://schemas.microsoft.com/office/drawing/2014/main" id="{462C6513-B62E-4A95-A90C-AB572070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829175"/>
            <a:ext cx="9972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× 100 and interpret</a:t>
            </a:r>
          </a:p>
        </p:txBody>
      </p:sp>
    </p:spTree>
    <p:extLst>
      <p:ext uri="{BB962C8B-B14F-4D97-AF65-F5344CB8AC3E}">
        <p14:creationId xmlns:p14="http://schemas.microsoft.com/office/powerpoint/2010/main" val="137793797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0BEAA7AC-B171-4D40-BDA3-D297D307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CALCULATE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D9824BB3-13FF-403D-B04F-7108E3CC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C429FE-A9CF-4123-BA81-9F0C2A4E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5646084-A6DB-449D-B550-9484A4B6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ata-card">
            <a:extLst xmlns:a="http://schemas.openxmlformats.org/drawingml/2006/main">
              <a:ext uri="{FF2B5EF4-FFF2-40B4-BE49-F238E27FC236}">
                <a16:creationId xmlns:a16="http://schemas.microsoft.com/office/drawing/2014/main" id="{DC93A884-A3FA-47D4-96CF-D14B89FF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143250" cy="38290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data-label">
            <a:extLst xmlns:a="http://schemas.openxmlformats.org/drawingml/2006/main">
              <a:ext uri="{FF2B5EF4-FFF2-40B4-BE49-F238E27FC236}">
                <a16:creationId xmlns:a16="http://schemas.microsoft.com/office/drawing/2014/main" id="{1F2D5EE1-9D7B-4AF4-8106-EC51A39F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D166"/>
                </a:solidFill>
                <a:latin typeface="Arial"/>
                <a:ea typeface="Arial"/>
                <a:cs typeface="Arial"/>
              </a:rPr>
              <a:t>CASE DATA</a:t>
            </a:r>
          </a:p>
        </p:txBody>
      </p:sp>
      <p:sp>
        <p:nvSpPr>
          <p:cNvPr id="7" name="data">
            <a:extLst xmlns:a="http://schemas.openxmlformats.org/drawingml/2006/main">
              <a:ext uri="{FF2B5EF4-FFF2-40B4-BE49-F238E27FC236}">
                <a16:creationId xmlns:a16="http://schemas.microsoft.com/office/drawing/2014/main" id="{E632C267-A229-450C-8BF3-C785532F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26860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Starting value  CNY 5,000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Ending value  CNY 5,400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Income  CNY 100</a:t>
            </a:r>
          </a:p>
        </p:txBody>
      </p:sp>
      <p:sp>
        <p:nvSpPr>
          <p:cNvPr id="8" name="method-card">
            <a:extLst xmlns:a="http://schemas.openxmlformats.org/drawingml/2006/main">
              <a:ext uri="{FF2B5EF4-FFF2-40B4-BE49-F238E27FC236}">
                <a16:creationId xmlns:a16="http://schemas.microsoft.com/office/drawing/2014/main" id="{5A722D2E-A1CC-4082-A54B-FB41880B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733550"/>
            <a:ext cx="7543800" cy="3829050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worked-step-1">
            <a:extLst xmlns:a="http://schemas.openxmlformats.org/drawingml/2006/main">
              <a:ext uri="{FF2B5EF4-FFF2-40B4-BE49-F238E27FC236}">
                <a16:creationId xmlns:a16="http://schemas.microsoft.com/office/drawing/2014/main" id="{CEBDCD29-F189-4973-AA17-8249C1B3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38350"/>
            <a:ext cx="697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1.  Capital gain = 5,400 − 5,000 = 400</a:t>
            </a:r>
          </a:p>
        </p:txBody>
      </p:sp>
      <p:sp>
        <p:nvSpPr>
          <p:cNvPr id="10" name="worked-step-2">
            <a:extLst xmlns:a="http://schemas.openxmlformats.org/drawingml/2006/main">
              <a:ext uri="{FF2B5EF4-FFF2-40B4-BE49-F238E27FC236}">
                <a16:creationId xmlns:a16="http://schemas.microsoft.com/office/drawing/2014/main" id="{D58E1FA0-CE6B-476E-8DB0-A31FF126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57500"/>
            <a:ext cx="697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2.  Total return = 400 + 100 = CNY 500</a:t>
            </a:r>
          </a:p>
        </p:txBody>
      </p:sp>
      <p:sp>
        <p:nvSpPr>
          <p:cNvPr id="11" name="worked-step-3">
            <a:extLst xmlns:a="http://schemas.openxmlformats.org/drawingml/2006/main">
              <a:ext uri="{FF2B5EF4-FFF2-40B4-BE49-F238E27FC236}">
                <a16:creationId xmlns:a16="http://schemas.microsoft.com/office/drawing/2014/main" id="{E09FF9E8-529F-47D2-892A-0AD0BCA5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697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3.  Return % = 500 ÷ 5,000 × 100 = 10%</a:t>
            </a:r>
          </a:p>
        </p:txBody>
      </p:sp>
      <p:sp>
        <p:nvSpPr>
          <p:cNvPr id="12" name="worked-step-4">
            <a:extLst xmlns:a="http://schemas.openxmlformats.org/drawingml/2006/main">
              <a:ext uri="{FF2B5EF4-FFF2-40B4-BE49-F238E27FC236}">
                <a16:creationId xmlns:a16="http://schemas.microsoft.com/office/drawing/2014/main" id="{A14FCFA9-60F8-45CE-B493-A43F0C7B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95800"/>
            <a:ext cx="697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EF0B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EF0B5"/>
                </a:solidFill>
                <a:latin typeface="Arial"/>
                <a:ea typeface="Arial"/>
                <a:cs typeface="Arial"/>
              </a:rPr>
              <a:t>4.  Interpretation: the investment returned 10% over the stated period.</a:t>
            </a:r>
          </a:p>
        </p:txBody>
      </p:sp>
    </p:spTree>
    <p:extLst>
      <p:ext uri="{BB962C8B-B14F-4D97-AF65-F5344CB8AC3E}">
        <p14:creationId xmlns:p14="http://schemas.microsoft.com/office/powerpoint/2010/main" val="84451720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5B5D1685-A318-4898-8264-6135B173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CALCULATE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FE2FD4F8-459C-4659-B448-58BA18FD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569688-5371-443C-BB66-62BB3AE6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Practice 1 · Gain plus income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9BC4C45-2578-4E2A-AF4C-7982A29A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actice-main">
            <a:extLst xmlns:a="http://schemas.openxmlformats.org/drawingml/2006/main">
              <a:ext uri="{FF2B5EF4-FFF2-40B4-BE49-F238E27FC236}">
                <a16:creationId xmlns:a16="http://schemas.microsoft.com/office/drawing/2014/main" id="{1AAF0569-5873-488C-BF82-37733CB3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097280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practice-data">
            <a:extLst xmlns:a="http://schemas.openxmlformats.org/drawingml/2006/main">
              <a:ext uri="{FF2B5EF4-FFF2-40B4-BE49-F238E27FC236}">
                <a16:creationId xmlns:a16="http://schemas.microsoft.com/office/drawing/2014/main" id="{386AE8DB-F12B-4765-90C5-08803424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Start  CNY 3,000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End  CNY 3,240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Income  CNY 60</a:t>
            </a:r>
          </a:p>
        </p:txBody>
      </p:sp>
      <p:sp>
        <p:nvSpPr>
          <p:cNvPr id="7" name="practice-divider">
            <a:extLst xmlns:a="http://schemas.openxmlformats.org/drawingml/2006/main">
              <a:ext uri="{FF2B5EF4-FFF2-40B4-BE49-F238E27FC236}">
                <a16:creationId xmlns:a16="http://schemas.microsoft.com/office/drawing/2014/main" id="{DDE06C05-B6ED-40FB-A558-AF847849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62175"/>
            <a:ext cx="190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actice-question">
            <a:extLst xmlns:a="http://schemas.openxmlformats.org/drawingml/2006/main">
              <a:ext uri="{FF2B5EF4-FFF2-40B4-BE49-F238E27FC236}">
                <a16:creationId xmlns:a16="http://schemas.microsoft.com/office/drawing/2014/main" id="{4F32DC0D-6DC5-4B77-A93C-F87AB9FC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48768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Calculate the total return and percentage return. Show all four steps.</a:t>
            </a:r>
          </a:p>
        </p:txBody>
      </p:sp>
    </p:spTree>
    <p:extLst>
      <p:ext uri="{BB962C8B-B14F-4D97-AF65-F5344CB8AC3E}">
        <p14:creationId xmlns:p14="http://schemas.microsoft.com/office/powerpoint/2010/main" val="59530099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4C0EF886-FF67-402B-BEAF-CF553D94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TOTAL RETURN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33B1DAA0-9171-4F62-B34C-32FEAC39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FD5A5E-5C9F-4835-AF10-2F06AA73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Practice 1 · Model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AD639670-7DC6-4CE1-B2E3-126E57B8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actice-main">
            <a:extLst xmlns:a="http://schemas.openxmlformats.org/drawingml/2006/main">
              <a:ext uri="{FF2B5EF4-FFF2-40B4-BE49-F238E27FC236}">
                <a16:creationId xmlns:a16="http://schemas.microsoft.com/office/drawing/2014/main" id="{1E56B12F-C45D-4063-8188-CEC9D55A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097280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B2A37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practice-data">
            <a:extLst xmlns:a="http://schemas.openxmlformats.org/drawingml/2006/main">
              <a:ext uri="{FF2B5EF4-FFF2-40B4-BE49-F238E27FC236}">
                <a16:creationId xmlns:a16="http://schemas.microsoft.com/office/drawing/2014/main" id="{69E649F7-3872-468C-80EF-79271527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Capital gain = 3,240 − 3,000 = 240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Total return = 240 + 60 = CNY 300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Return % = 300 ÷ 3,000 × 100 = 10%</a:t>
            </a:r>
          </a:p>
        </p:txBody>
      </p:sp>
      <p:sp>
        <p:nvSpPr>
          <p:cNvPr id="7" name="practice-divider">
            <a:extLst xmlns:a="http://schemas.openxmlformats.org/drawingml/2006/main">
              <a:ext uri="{FF2B5EF4-FFF2-40B4-BE49-F238E27FC236}">
                <a16:creationId xmlns:a16="http://schemas.microsoft.com/office/drawing/2014/main" id="{783CD9F5-B3EB-4673-9C55-51AC3954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62175"/>
            <a:ext cx="190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actice-question">
            <a:extLst xmlns:a="http://schemas.openxmlformats.org/drawingml/2006/main">
              <a:ext uri="{FF2B5EF4-FFF2-40B4-BE49-F238E27FC236}">
                <a16:creationId xmlns:a16="http://schemas.microsoft.com/office/drawing/2014/main" id="{7B531C31-4957-4C1B-B359-59D9B741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48768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7EF0B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7EF0B5"/>
                </a:solidFill>
                <a:latin typeface="Arial"/>
                <a:ea typeface="Arial"/>
                <a:cs typeface="Arial"/>
              </a:rPr>
              <a:t>The investment returned 10% over the stated period.</a:t>
            </a:r>
          </a:p>
        </p:txBody>
      </p:sp>
    </p:spTree>
    <p:extLst>
      <p:ext uri="{BB962C8B-B14F-4D97-AF65-F5344CB8AC3E}">
        <p14:creationId xmlns:p14="http://schemas.microsoft.com/office/powerpoint/2010/main" val="8425245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2F9875B7-BC23-49D4-B71E-89A1D0EE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CALCULATE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E2A928FA-895B-4C70-BE35-C53668FD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3A88E5-29B9-48A9-88A4-6A4A9E3B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Practice 2 · Income does not prevent a loss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27A88E57-2B51-4A83-94BA-3260E37B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actice-main">
            <a:extLst xmlns:a="http://schemas.openxmlformats.org/drawingml/2006/main">
              <a:ext uri="{FF2B5EF4-FFF2-40B4-BE49-F238E27FC236}">
                <a16:creationId xmlns:a16="http://schemas.microsoft.com/office/drawing/2014/main" id="{9F67BCCC-7E3C-48BA-A319-3ADFE0F2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097280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practice-data">
            <a:extLst xmlns:a="http://schemas.openxmlformats.org/drawingml/2006/main">
              <a:ext uri="{FF2B5EF4-FFF2-40B4-BE49-F238E27FC236}">
                <a16:creationId xmlns:a16="http://schemas.microsoft.com/office/drawing/2014/main" id="{4C09B2AA-2333-43BE-A4B3-E13487A1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Start  CNY 5,000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End  CNY 4,550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Income  CNY 150</a:t>
            </a:r>
          </a:p>
        </p:txBody>
      </p:sp>
      <p:sp>
        <p:nvSpPr>
          <p:cNvPr id="7" name="practice-divider">
            <a:extLst xmlns:a="http://schemas.openxmlformats.org/drawingml/2006/main">
              <a:ext uri="{FF2B5EF4-FFF2-40B4-BE49-F238E27FC236}">
                <a16:creationId xmlns:a16="http://schemas.microsoft.com/office/drawing/2014/main" id="{056E5AF5-FD31-4E83-B092-38CF9595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62175"/>
            <a:ext cx="190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actice-question">
            <a:extLst xmlns:a="http://schemas.openxmlformats.org/drawingml/2006/main">
              <a:ext uri="{FF2B5EF4-FFF2-40B4-BE49-F238E27FC236}">
                <a16:creationId xmlns:a16="http://schemas.microsoft.com/office/drawing/2014/main" id="{0651ECD6-9527-4E33-A135-519A5068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48768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Calculate and interpret the return.</a:t>
            </a:r>
          </a:p>
        </p:txBody>
      </p:sp>
    </p:spTree>
    <p:extLst>
      <p:ext uri="{BB962C8B-B14F-4D97-AF65-F5344CB8AC3E}">
        <p14:creationId xmlns:p14="http://schemas.microsoft.com/office/powerpoint/2010/main" val="109360071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C084E516-E405-4A5F-BE8E-A642F74F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TOTAL RETURN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9EF5AAF0-8034-4816-9208-A4BBE9EB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5C5C3C-9898-4328-857F-AA2B7814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Practice 2 · Model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CFFE1CF-A36C-4B95-B4BE-6B8791F6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actice-main">
            <a:extLst xmlns:a="http://schemas.openxmlformats.org/drawingml/2006/main">
              <a:ext uri="{FF2B5EF4-FFF2-40B4-BE49-F238E27FC236}">
                <a16:creationId xmlns:a16="http://schemas.microsoft.com/office/drawing/2014/main" id="{2480B9D2-FD00-4E30-83DD-5846EEC2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097280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B2A37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practice-data">
            <a:extLst xmlns:a="http://schemas.openxmlformats.org/drawingml/2006/main">
              <a:ext uri="{FF2B5EF4-FFF2-40B4-BE49-F238E27FC236}">
                <a16:creationId xmlns:a16="http://schemas.microsoft.com/office/drawing/2014/main" id="{3C21EC81-31FD-42A3-AFCB-9F2AA3B5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Capital loss = 4,550 − 5,000 = −450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Total return = −450 + 150 = −CNY 300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Return % = −300 ÷ 5,000 × 100 = −6%</a:t>
            </a:r>
          </a:p>
        </p:txBody>
      </p:sp>
      <p:sp>
        <p:nvSpPr>
          <p:cNvPr id="7" name="practice-divider">
            <a:extLst xmlns:a="http://schemas.openxmlformats.org/drawingml/2006/main">
              <a:ext uri="{FF2B5EF4-FFF2-40B4-BE49-F238E27FC236}">
                <a16:creationId xmlns:a16="http://schemas.microsoft.com/office/drawing/2014/main" id="{EDFC12B7-D349-4D70-8002-B329308E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62175"/>
            <a:ext cx="190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actice-question">
            <a:extLst xmlns:a="http://schemas.openxmlformats.org/drawingml/2006/main">
              <a:ext uri="{FF2B5EF4-FFF2-40B4-BE49-F238E27FC236}">
                <a16:creationId xmlns:a16="http://schemas.microsoft.com/office/drawing/2014/main" id="{1B79D0A9-AA9B-48AE-A0E2-AAEA141C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48768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7EF0B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7EF0B5"/>
                </a:solidFill>
                <a:latin typeface="Arial"/>
                <a:ea typeface="Arial"/>
                <a:cs typeface="Arial"/>
              </a:rPr>
              <a:t>Income reduced the loss, but the total return remained negative.</a:t>
            </a:r>
          </a:p>
        </p:txBody>
      </p:sp>
    </p:spTree>
    <p:extLst>
      <p:ext uri="{BB962C8B-B14F-4D97-AF65-F5344CB8AC3E}">
        <p14:creationId xmlns:p14="http://schemas.microsoft.com/office/powerpoint/2010/main" val="24322702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DE6D5044-C110-4713-8CF5-5147BA70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CALCULATE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DCBA19A6-A854-497A-BB21-4F23A4A2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5D7F0F-1AF4-4DAC-ADD6-5F2F6965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Yes or no?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91A5BA66-24D1-47C9-96A6-771F7162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yn-row-1">
            <a:extLst xmlns:a="http://schemas.openxmlformats.org/drawingml/2006/main">
              <a:ext uri="{FF2B5EF4-FFF2-40B4-BE49-F238E27FC236}">
                <a16:creationId xmlns:a16="http://schemas.microsoft.com/office/drawing/2014/main" id="{4CA3830C-5432-4867-A5AF-7352F290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yn-text-1">
            <a:extLst xmlns:a="http://schemas.openxmlformats.org/drawingml/2006/main">
              <a:ext uri="{FF2B5EF4-FFF2-40B4-BE49-F238E27FC236}">
                <a16:creationId xmlns:a16="http://schemas.microsoft.com/office/drawing/2014/main" id="{BB2929B7-40A1-421A-A49B-BD9D0072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8877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A dividend counts as income.</a:t>
            </a:r>
          </a:p>
        </p:txBody>
      </p:sp>
      <p:sp>
        <p:nvSpPr>
          <p:cNvPr id="7" name="yn-choice-1">
            <a:extLst xmlns:a="http://schemas.openxmlformats.org/drawingml/2006/main">
              <a:ext uri="{FF2B5EF4-FFF2-40B4-BE49-F238E27FC236}">
                <a16:creationId xmlns:a16="http://schemas.microsoft.com/office/drawing/2014/main" id="{E441879E-5369-48BA-BC37-35083D00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828800"/>
            <a:ext cx="1476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D166"/>
                </a:solidFill>
                <a:latin typeface="Arial"/>
                <a:ea typeface="Arial"/>
                <a:cs typeface="Arial"/>
              </a:rPr>
              <a:t>YES / NO</a:t>
            </a:r>
          </a:p>
        </p:txBody>
      </p:sp>
      <p:sp>
        <p:nvSpPr>
          <p:cNvPr id="8" name="yn-row-2">
            <a:extLst xmlns:a="http://schemas.openxmlformats.org/drawingml/2006/main">
              <a:ext uri="{FF2B5EF4-FFF2-40B4-BE49-F238E27FC236}">
                <a16:creationId xmlns:a16="http://schemas.microsoft.com/office/drawing/2014/main" id="{3F7724A8-3D3B-4907-914D-E471FFE1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9728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yn-text-2">
            <a:extLst xmlns:a="http://schemas.openxmlformats.org/drawingml/2006/main">
              <a:ext uri="{FF2B5EF4-FFF2-40B4-BE49-F238E27FC236}">
                <a16:creationId xmlns:a16="http://schemas.microsoft.com/office/drawing/2014/main" id="{EC1DF40B-8F84-499C-B6F9-B09CAA52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9875"/>
            <a:ext cx="8877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Money you add later counts as return.</a:t>
            </a:r>
          </a:p>
        </p:txBody>
      </p:sp>
      <p:sp>
        <p:nvSpPr>
          <p:cNvPr id="10" name="yn-choice-2">
            <a:extLst xmlns:a="http://schemas.openxmlformats.org/drawingml/2006/main">
              <a:ext uri="{FF2B5EF4-FFF2-40B4-BE49-F238E27FC236}">
                <a16:creationId xmlns:a16="http://schemas.microsoft.com/office/drawing/2014/main" id="{528B5177-FE3F-4C16-B29E-3A26F008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809875"/>
            <a:ext cx="1476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D166"/>
                </a:solidFill>
                <a:latin typeface="Arial"/>
                <a:ea typeface="Arial"/>
                <a:cs typeface="Arial"/>
              </a:rPr>
              <a:t>YES / NO</a:t>
            </a:r>
          </a:p>
        </p:txBody>
      </p:sp>
      <p:sp>
        <p:nvSpPr>
          <p:cNvPr id="11" name="yn-row-3">
            <a:extLst xmlns:a="http://schemas.openxmlformats.org/drawingml/2006/main">
              <a:ext uri="{FF2B5EF4-FFF2-40B4-BE49-F238E27FC236}">
                <a16:creationId xmlns:a16="http://schemas.microsoft.com/office/drawing/2014/main" id="{B81EBFA2-B95B-46D4-8903-E974066F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9728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yn-text-3">
            <a:extLst xmlns:a="http://schemas.openxmlformats.org/drawingml/2006/main">
              <a:ext uri="{FF2B5EF4-FFF2-40B4-BE49-F238E27FC236}">
                <a16:creationId xmlns:a16="http://schemas.microsoft.com/office/drawing/2014/main" id="{2E0F441C-1C44-4A1E-A2FD-7067BDF6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8877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A positive income payment guarantees a positive total return.</a:t>
            </a:r>
          </a:p>
        </p:txBody>
      </p:sp>
      <p:sp>
        <p:nvSpPr>
          <p:cNvPr id="13" name="yn-choice-3">
            <a:extLst xmlns:a="http://schemas.openxmlformats.org/drawingml/2006/main">
              <a:ext uri="{FF2B5EF4-FFF2-40B4-BE49-F238E27FC236}">
                <a16:creationId xmlns:a16="http://schemas.microsoft.com/office/drawing/2014/main" id="{8C88569B-C0F5-4834-BCE1-EBCAFA3E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790950"/>
            <a:ext cx="1476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D166"/>
                </a:solidFill>
                <a:latin typeface="Arial"/>
                <a:ea typeface="Arial"/>
                <a:cs typeface="Arial"/>
              </a:rPr>
              <a:t>YES / NO</a:t>
            </a:r>
          </a:p>
        </p:txBody>
      </p:sp>
      <p:sp>
        <p:nvSpPr>
          <p:cNvPr id="14" name="yn-row-4">
            <a:extLst xmlns:a="http://schemas.openxmlformats.org/drawingml/2006/main">
              <a:ext uri="{FF2B5EF4-FFF2-40B4-BE49-F238E27FC236}">
                <a16:creationId xmlns:a16="http://schemas.microsoft.com/office/drawing/2014/main" id="{07D35CC0-397D-4214-AD79-1C1C802F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9728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yn-text-4">
            <a:extLst xmlns:a="http://schemas.openxmlformats.org/drawingml/2006/main">
              <a:ext uri="{FF2B5EF4-FFF2-40B4-BE49-F238E27FC236}">
                <a16:creationId xmlns:a16="http://schemas.microsoft.com/office/drawing/2014/main" id="{A62E866E-8CFB-4E76-ADE3-63889456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72025"/>
            <a:ext cx="8877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A percentage return needs the starting value.</a:t>
            </a:r>
          </a:p>
        </p:txBody>
      </p:sp>
      <p:sp>
        <p:nvSpPr>
          <p:cNvPr id="16" name="yn-choice-4">
            <a:extLst xmlns:a="http://schemas.openxmlformats.org/drawingml/2006/main">
              <a:ext uri="{FF2B5EF4-FFF2-40B4-BE49-F238E27FC236}">
                <a16:creationId xmlns:a16="http://schemas.microsoft.com/office/drawing/2014/main" id="{EA8B94C0-103A-4432-BB1E-B93F43F1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772025"/>
            <a:ext cx="1476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D166"/>
                </a:solidFill>
                <a:latin typeface="Arial"/>
                <a:ea typeface="Arial"/>
                <a:cs typeface="Arial"/>
              </a:rPr>
              <a:t>YES / NO</a:t>
            </a:r>
          </a:p>
        </p:txBody>
      </p:sp>
    </p:spTree>
    <p:extLst>
      <p:ext uri="{BB962C8B-B14F-4D97-AF65-F5344CB8AC3E}">
        <p14:creationId xmlns:p14="http://schemas.microsoft.com/office/powerpoint/2010/main" val="2559238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DA3928DB-B7AE-4C13-9A8A-45223E6B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CALCULATE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6659D5FD-D244-4393-9F97-80EC7FEA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E8923F-41B9-4D10-A68A-A9EB6F19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Yes or no? · Reveal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1BD4567-77FC-4EEE-A831-10293D7F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yn-row-1">
            <a:extLst xmlns:a="http://schemas.openxmlformats.org/drawingml/2006/main">
              <a:ext uri="{FF2B5EF4-FFF2-40B4-BE49-F238E27FC236}">
                <a16:creationId xmlns:a16="http://schemas.microsoft.com/office/drawing/2014/main" id="{9F49D141-3B9D-408F-B394-C554C37A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yn-answer-1">
            <a:extLst xmlns:a="http://schemas.openxmlformats.org/drawingml/2006/main">
              <a:ext uri="{FF2B5EF4-FFF2-40B4-BE49-F238E27FC236}">
                <a16:creationId xmlns:a16="http://schemas.microsoft.com/office/drawing/2014/main" id="{351B78E8-5385-45E6-8B44-94080AD7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1000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7EF0B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EF0B5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7" name="yn-text-1">
            <a:extLst xmlns:a="http://schemas.openxmlformats.org/drawingml/2006/main">
              <a:ext uri="{FF2B5EF4-FFF2-40B4-BE49-F238E27FC236}">
                <a16:creationId xmlns:a16="http://schemas.microsoft.com/office/drawing/2014/main" id="{157F863A-C8F3-41E7-B3FD-51613572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828800"/>
            <a:ext cx="9353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A dividend counts as income.</a:t>
            </a:r>
          </a:p>
        </p:txBody>
      </p:sp>
      <p:sp>
        <p:nvSpPr>
          <p:cNvPr id="8" name="yn-row-2">
            <a:extLst xmlns:a="http://schemas.openxmlformats.org/drawingml/2006/main">
              <a:ext uri="{FF2B5EF4-FFF2-40B4-BE49-F238E27FC236}">
                <a16:creationId xmlns:a16="http://schemas.microsoft.com/office/drawing/2014/main" id="{61EB6753-4067-4388-9667-F5257FF2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9728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yn-answer-2">
            <a:extLst xmlns:a="http://schemas.openxmlformats.org/drawingml/2006/main">
              <a:ext uri="{FF2B5EF4-FFF2-40B4-BE49-F238E27FC236}">
                <a16:creationId xmlns:a16="http://schemas.microsoft.com/office/drawing/2014/main" id="{E562A37A-BDE5-4542-BA34-E85DAB57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1000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0" name="yn-text-2">
            <a:extLst xmlns:a="http://schemas.openxmlformats.org/drawingml/2006/main">
              <a:ext uri="{FF2B5EF4-FFF2-40B4-BE49-F238E27FC236}">
                <a16:creationId xmlns:a16="http://schemas.microsoft.com/office/drawing/2014/main" id="{5055B45D-FCDE-4888-961F-90163479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809875"/>
            <a:ext cx="9353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New money is a cash flow, not return.</a:t>
            </a:r>
          </a:p>
        </p:txBody>
      </p:sp>
      <p:sp>
        <p:nvSpPr>
          <p:cNvPr id="11" name="yn-row-3">
            <a:extLst xmlns:a="http://schemas.openxmlformats.org/drawingml/2006/main">
              <a:ext uri="{FF2B5EF4-FFF2-40B4-BE49-F238E27FC236}">
                <a16:creationId xmlns:a16="http://schemas.microsoft.com/office/drawing/2014/main" id="{F57BA777-5015-4A78-BE62-02482F77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9728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yn-answer-3">
            <a:extLst xmlns:a="http://schemas.openxmlformats.org/drawingml/2006/main">
              <a:ext uri="{FF2B5EF4-FFF2-40B4-BE49-F238E27FC236}">
                <a16:creationId xmlns:a16="http://schemas.microsoft.com/office/drawing/2014/main" id="{5BB0D119-421F-45CB-9B4E-BD277986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1000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3" name="yn-text-3">
            <a:extLst xmlns:a="http://schemas.openxmlformats.org/drawingml/2006/main">
              <a:ext uri="{FF2B5EF4-FFF2-40B4-BE49-F238E27FC236}">
                <a16:creationId xmlns:a16="http://schemas.microsoft.com/office/drawing/2014/main" id="{564671BB-3E44-4AE0-9116-6A998637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790950"/>
            <a:ext cx="9353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A capital loss can exceed income.</a:t>
            </a:r>
          </a:p>
        </p:txBody>
      </p:sp>
      <p:sp>
        <p:nvSpPr>
          <p:cNvPr id="14" name="yn-row-4">
            <a:extLst xmlns:a="http://schemas.openxmlformats.org/drawingml/2006/main">
              <a:ext uri="{FF2B5EF4-FFF2-40B4-BE49-F238E27FC236}">
                <a16:creationId xmlns:a16="http://schemas.microsoft.com/office/drawing/2014/main" id="{EBB8423D-9ECC-4621-ACB0-620275E7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9728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yn-answer-4">
            <a:extLst xmlns:a="http://schemas.openxmlformats.org/drawingml/2006/main">
              <a:ext uri="{FF2B5EF4-FFF2-40B4-BE49-F238E27FC236}">
                <a16:creationId xmlns:a16="http://schemas.microsoft.com/office/drawing/2014/main" id="{A5B95318-388F-42EB-8562-FD684CEE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72025"/>
            <a:ext cx="1000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7EF0B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EF0B5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6" name="yn-text-4">
            <a:extLst xmlns:a="http://schemas.openxmlformats.org/drawingml/2006/main">
              <a:ext uri="{FF2B5EF4-FFF2-40B4-BE49-F238E27FC236}">
                <a16:creationId xmlns:a16="http://schemas.microsoft.com/office/drawing/2014/main" id="{181B07A1-2E43-44F0-A5E1-14ADD881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772025"/>
            <a:ext cx="9353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The starting value is the denominator.</a:t>
            </a:r>
          </a:p>
        </p:txBody>
      </p:sp>
    </p:spTree>
    <p:extLst>
      <p:ext uri="{BB962C8B-B14F-4D97-AF65-F5344CB8AC3E}">
        <p14:creationId xmlns:p14="http://schemas.microsoft.com/office/powerpoint/2010/main" val="56543929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band">
            <a:extLst xmlns:a="http://schemas.openxmlformats.org/drawingml/2006/main">
              <a:ext uri="{FF2B5EF4-FFF2-40B4-BE49-F238E27FC236}">
                <a16:creationId xmlns:a16="http://schemas.microsoft.com/office/drawing/2014/main" id="{CC3C6B78-9B1C-4C2F-9C69-C9792C01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5D2BE92F-9F0C-4B6A-8E34-D5FDB64F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257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0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8850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AD224F4F-1048-47C8-8A07-A186C79F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How do we compare fairly?</a:t>
            </a:r>
          </a:p>
        </p:txBody>
      </p:sp>
      <p:sp>
        <p:nvSpPr>
          <p:cNvPr id="4" name="section-zh">
            <a:extLst xmlns:a="http://schemas.openxmlformats.org/drawingml/2006/main">
              <a:ext uri="{FF2B5EF4-FFF2-40B4-BE49-F238E27FC236}">
                <a16:creationId xmlns:a16="http://schemas.microsoft.com/office/drawing/2014/main" id="{1B42DC40-2648-4D30-9CE8-5ADD5C17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如何公平比较？</a:t>
            </a:r>
          </a:p>
        </p:txBody>
      </p:sp>
      <p:sp>
        <p:nvSpPr>
          <p:cNvPr id="5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BD60B946-2433-4C1D-BCDA-085B2805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4479754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d5239de5b4a2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75516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F5C7727A-4B78-4C66-B731-0667055A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COMPARE &amp; CHECK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4FEA1D58-106B-4CCB-865C-AD0AA9FC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DB4ED1-35FA-416B-9A79-122CD232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521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Amount and percentage answer different questions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1D13B30-BE94-4057-BCC2-FA550B4D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mpare-1">
            <a:extLst xmlns:a="http://schemas.openxmlformats.org/drawingml/2006/main">
              <a:ext uri="{FF2B5EF4-FFF2-40B4-BE49-F238E27FC236}">
                <a16:creationId xmlns:a16="http://schemas.microsoft.com/office/drawing/2014/main" id="{3C5D39B4-5280-4249-AA34-63302036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343525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compare-accent-1">
            <a:extLst xmlns:a="http://schemas.openxmlformats.org/drawingml/2006/main">
              <a:ext uri="{FF2B5EF4-FFF2-40B4-BE49-F238E27FC236}">
                <a16:creationId xmlns:a16="http://schemas.microsoft.com/office/drawing/2014/main" id="{838FA7B2-E412-4300-AF47-7CFFF9EE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343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mpare-head-1">
            <a:extLst xmlns:a="http://schemas.openxmlformats.org/drawingml/2006/main">
              <a:ext uri="{FF2B5EF4-FFF2-40B4-BE49-F238E27FC236}">
                <a16:creationId xmlns:a16="http://schemas.microsoft.com/office/drawing/2014/main" id="{6988DA46-8043-4F4B-BC1E-B60BA30B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D166"/>
                </a:solidFill>
                <a:latin typeface="Arial"/>
                <a:ea typeface="Arial"/>
                <a:cs typeface="Arial"/>
              </a:rPr>
              <a:t>Return amount</a:t>
            </a:r>
          </a:p>
        </p:txBody>
      </p:sp>
      <p:sp>
        <p:nvSpPr>
          <p:cNvPr id="8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E39734F0-4DD3-4761-8FFF-7468BEAB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47339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How much money was gained or lost?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Best when starting values are ______.</a:t>
            </a:r>
          </a:p>
        </p:txBody>
      </p:sp>
      <p:sp>
        <p:nvSpPr>
          <p:cNvPr id="9" name="compare-2">
            <a:extLst xmlns:a="http://schemas.openxmlformats.org/drawingml/2006/main">
              <a:ext uri="{FF2B5EF4-FFF2-40B4-BE49-F238E27FC236}">
                <a16:creationId xmlns:a16="http://schemas.microsoft.com/office/drawing/2014/main" id="{20588830-36B5-46A9-B4A1-7B4FD1B8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28800"/>
            <a:ext cx="5343525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compare-accent-2">
            <a:extLst xmlns:a="http://schemas.openxmlformats.org/drawingml/2006/main">
              <a:ext uri="{FF2B5EF4-FFF2-40B4-BE49-F238E27FC236}">
                <a16:creationId xmlns:a16="http://schemas.microsoft.com/office/drawing/2014/main" id="{01A6133C-A984-44DB-B95F-D345806B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28800"/>
            <a:ext cx="5343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mpare-head-2">
            <a:extLst xmlns:a="http://schemas.openxmlformats.org/drawingml/2006/main">
              <a:ext uri="{FF2B5EF4-FFF2-40B4-BE49-F238E27FC236}">
                <a16:creationId xmlns:a16="http://schemas.microsoft.com/office/drawing/2014/main" id="{E8635822-845A-410C-B07B-3D45C326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247900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Percentage return</a:t>
            </a:r>
          </a:p>
        </p:txBody>
      </p:sp>
      <p:sp>
        <p:nvSpPr>
          <p:cNvPr id="12" name="compare-body-2">
            <a:extLst xmlns:a="http://schemas.openxmlformats.org/drawingml/2006/main">
              <a:ext uri="{FF2B5EF4-FFF2-40B4-BE49-F238E27FC236}">
                <a16:creationId xmlns:a16="http://schemas.microsoft.com/office/drawing/2014/main" id="{701632D5-EB19-4745-9D94-2A2B0EC8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95600"/>
            <a:ext cx="47339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How strong was performance relative to size?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Best for comparing ______ starting values.</a:t>
            </a:r>
          </a:p>
        </p:txBody>
      </p:sp>
    </p:spTree>
    <p:extLst>
      <p:ext uri="{BB962C8B-B14F-4D97-AF65-F5344CB8AC3E}">
        <p14:creationId xmlns:p14="http://schemas.microsoft.com/office/powerpoint/2010/main" val="45966318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59F4703B-B89A-4EA4-971D-C7514D9A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COMPARE &amp; CHECK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A672E307-4849-408A-9013-37E2C026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C77896-7223-4849-A06C-800CF68A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Amount and percentage · Reveal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913D4E5-63B0-4BC3-B232-B1E6CF57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mpare-1">
            <a:extLst xmlns:a="http://schemas.openxmlformats.org/drawingml/2006/main">
              <a:ext uri="{FF2B5EF4-FFF2-40B4-BE49-F238E27FC236}">
                <a16:creationId xmlns:a16="http://schemas.microsoft.com/office/drawing/2014/main" id="{802A53FE-8864-4586-B44C-97FAAD57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343525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compare-accent-1">
            <a:extLst xmlns:a="http://schemas.openxmlformats.org/drawingml/2006/main">
              <a:ext uri="{FF2B5EF4-FFF2-40B4-BE49-F238E27FC236}">
                <a16:creationId xmlns:a16="http://schemas.microsoft.com/office/drawing/2014/main" id="{D8BEB4B1-D13B-4B8F-AB0E-D6A1DD0E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343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mpare-head-1">
            <a:extLst xmlns:a="http://schemas.openxmlformats.org/drawingml/2006/main">
              <a:ext uri="{FF2B5EF4-FFF2-40B4-BE49-F238E27FC236}">
                <a16:creationId xmlns:a16="http://schemas.microsoft.com/office/drawing/2014/main" id="{0B04F1B8-31C5-4D68-8A5E-501D8264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D166"/>
                </a:solidFill>
                <a:latin typeface="Arial"/>
                <a:ea typeface="Arial"/>
                <a:cs typeface="Arial"/>
              </a:rPr>
              <a:t>Return amount</a:t>
            </a:r>
          </a:p>
        </p:txBody>
      </p:sp>
      <p:sp>
        <p:nvSpPr>
          <p:cNvPr id="8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D0FF4726-D76A-4436-95B0-1B8C81B7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47339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How much money was gained or lost?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Useful when starting values are similar.</a:t>
            </a:r>
          </a:p>
        </p:txBody>
      </p:sp>
      <p:sp>
        <p:nvSpPr>
          <p:cNvPr id="9" name="compare-2">
            <a:extLst xmlns:a="http://schemas.openxmlformats.org/drawingml/2006/main">
              <a:ext uri="{FF2B5EF4-FFF2-40B4-BE49-F238E27FC236}">
                <a16:creationId xmlns:a16="http://schemas.microsoft.com/office/drawing/2014/main" id="{BD1B2273-078D-4072-9AAE-BBE4097A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28800"/>
            <a:ext cx="5343525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compare-accent-2">
            <a:extLst xmlns:a="http://schemas.openxmlformats.org/drawingml/2006/main">
              <a:ext uri="{FF2B5EF4-FFF2-40B4-BE49-F238E27FC236}">
                <a16:creationId xmlns:a16="http://schemas.microsoft.com/office/drawing/2014/main" id="{9426D7BE-8288-4C3D-8722-CFE8F900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28800"/>
            <a:ext cx="5343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mpare-head-2">
            <a:extLst xmlns:a="http://schemas.openxmlformats.org/drawingml/2006/main">
              <a:ext uri="{FF2B5EF4-FFF2-40B4-BE49-F238E27FC236}">
                <a16:creationId xmlns:a16="http://schemas.microsoft.com/office/drawing/2014/main" id="{77BA5633-9DC9-46F8-AF26-05327A46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247900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Percentage return</a:t>
            </a:r>
          </a:p>
        </p:txBody>
      </p:sp>
      <p:sp>
        <p:nvSpPr>
          <p:cNvPr id="12" name="compare-body-2">
            <a:extLst xmlns:a="http://schemas.openxmlformats.org/drawingml/2006/main">
              <a:ext uri="{FF2B5EF4-FFF2-40B4-BE49-F238E27FC236}">
                <a16:creationId xmlns:a16="http://schemas.microsoft.com/office/drawing/2014/main" id="{F6A5C240-0280-4937-A5CE-218B54A9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95600"/>
            <a:ext cx="47339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How strong was performance relative to size?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Fairer for unequal starting values.</a:t>
            </a:r>
          </a:p>
        </p:txBody>
      </p:sp>
    </p:spTree>
    <p:extLst>
      <p:ext uri="{BB962C8B-B14F-4D97-AF65-F5344CB8AC3E}">
        <p14:creationId xmlns:p14="http://schemas.microsoft.com/office/powerpoint/2010/main" val="93011815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FB876564-741E-4412-9ABE-01F68A7F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COMPARE &amp; CHECK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C77D5057-BA33-46BA-B695-AA0BD907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BAEDE5-4A7E-42AF-AF99-89AC19D8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Return to the opening dilemma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7A1B678D-A6FF-411C-B38C-B1893253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ase-prompt">
            <a:extLst xmlns:a="http://schemas.openxmlformats.org/drawingml/2006/main">
              <a:ext uri="{FF2B5EF4-FFF2-40B4-BE49-F238E27FC236}">
                <a16:creationId xmlns:a16="http://schemas.microsoft.com/office/drawing/2014/main" id="{2E50A7EA-A779-49A3-A372-AE57EAF2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Now calculate both percentages before deciding.</a:t>
            </a:r>
          </a:p>
        </p:txBody>
      </p:sp>
      <p:sp>
        <p:nvSpPr>
          <p:cNvPr id="6" name="case-1">
            <a:extLst xmlns:a="http://schemas.openxmlformats.org/drawingml/2006/main">
              <a:ext uri="{FF2B5EF4-FFF2-40B4-BE49-F238E27FC236}">
                <a16:creationId xmlns:a16="http://schemas.microsoft.com/office/drawing/2014/main" id="{21F8E6F6-B5CA-4121-8D10-B07C1FCF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353050" cy="2905125"/>
          </a:xfrm>
          <a:prstGeom xmlns:a="http://schemas.openxmlformats.org/drawingml/2006/main" prst="roundRect">
            <a:avLst>
              <a:gd name="adj" fmla="val 5246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case-title-1">
            <a:extLst xmlns:a="http://schemas.openxmlformats.org/drawingml/2006/main">
              <a:ext uri="{FF2B5EF4-FFF2-40B4-BE49-F238E27FC236}">
                <a16:creationId xmlns:a16="http://schemas.microsoft.com/office/drawing/2014/main" id="{469D5A36-164E-4D45-95A4-62D987C2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</a:t>
            </a:r>
          </a:p>
        </p:txBody>
      </p:sp>
      <p:sp>
        <p:nvSpPr>
          <p:cNvPr id="8" name="case-body-1">
            <a:extLst xmlns:a="http://schemas.openxmlformats.org/drawingml/2006/main">
              <a:ext uri="{FF2B5EF4-FFF2-40B4-BE49-F238E27FC236}">
                <a16:creationId xmlns:a16="http://schemas.microsoft.com/office/drawing/2014/main" id="{2B982FF0-A0CF-4D2C-BFA6-5858797B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48196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Start CNY 2,000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Return CNY 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Return % = ______</a:t>
            </a:r>
          </a:p>
        </p:txBody>
      </p:sp>
      <p:sp>
        <p:nvSpPr>
          <p:cNvPr id="9" name="case-2">
            <a:extLst xmlns:a="http://schemas.openxmlformats.org/drawingml/2006/main">
              <a:ext uri="{FF2B5EF4-FFF2-40B4-BE49-F238E27FC236}">
                <a16:creationId xmlns:a16="http://schemas.microsoft.com/office/drawing/2014/main" id="{1809F139-1F05-457C-858B-E310CE9F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14600"/>
            <a:ext cx="5353050" cy="2905125"/>
          </a:xfrm>
          <a:prstGeom xmlns:a="http://schemas.openxmlformats.org/drawingml/2006/main" prst="roundRect">
            <a:avLst>
              <a:gd name="adj" fmla="val 5246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case-title-2">
            <a:extLst xmlns:a="http://schemas.openxmlformats.org/drawingml/2006/main">
              <a:ext uri="{FF2B5EF4-FFF2-40B4-BE49-F238E27FC236}">
                <a16:creationId xmlns:a16="http://schemas.microsoft.com/office/drawing/2014/main" id="{4E3015B7-BC2D-4A89-8FA9-AD1AEE20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432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D166"/>
                </a:solidFill>
                <a:latin typeface="Arial"/>
                <a:ea typeface="Arial"/>
                <a:cs typeface="Arial"/>
              </a:rPr>
              <a:t>Investment B</a:t>
            </a:r>
          </a:p>
        </p:txBody>
      </p:sp>
      <p:sp>
        <p:nvSpPr>
          <p:cNvPr id="11" name="case-body-2">
            <a:extLst xmlns:a="http://schemas.openxmlformats.org/drawingml/2006/main">
              <a:ext uri="{FF2B5EF4-FFF2-40B4-BE49-F238E27FC236}">
                <a16:creationId xmlns:a16="http://schemas.microsoft.com/office/drawing/2014/main" id="{729EE6C4-5FB7-40C0-8842-A1DD70CB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8196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Start CNY 10,000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Return CNY 600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Return % = ______</a:t>
            </a:r>
          </a:p>
        </p:txBody>
      </p:sp>
    </p:spTree>
    <p:extLst>
      <p:ext uri="{BB962C8B-B14F-4D97-AF65-F5344CB8AC3E}">
        <p14:creationId xmlns:p14="http://schemas.microsoft.com/office/powerpoint/2010/main" val="189669266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ED6E03B0-A05E-48AF-9652-21110476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COMPARE &amp; CHECK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0BDD1850-6414-4ED0-B889-8EE7F718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771284-3208-4AD1-B157-0F6A58B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The judgement changes with the metric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F892F3C-B7E5-4A91-B5B1-E7824CC7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ase-prompt">
            <a:extLst xmlns:a="http://schemas.openxmlformats.org/drawingml/2006/main">
              <a:ext uri="{FF2B5EF4-FFF2-40B4-BE49-F238E27FC236}">
                <a16:creationId xmlns:a16="http://schemas.microsoft.com/office/drawing/2014/main" id="{C8F3715E-4FFF-4174-AC5D-4DC94677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7EF0B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7EF0B5"/>
                </a:solidFill>
                <a:latin typeface="Arial"/>
                <a:ea typeface="Arial"/>
                <a:cs typeface="Arial"/>
              </a:rPr>
              <a:t>A performed better relative to its starting value; B earned more money.</a:t>
            </a:r>
          </a:p>
        </p:txBody>
      </p:sp>
      <p:sp>
        <p:nvSpPr>
          <p:cNvPr id="6" name="case-1">
            <a:extLst xmlns:a="http://schemas.openxmlformats.org/drawingml/2006/main">
              <a:ext uri="{FF2B5EF4-FFF2-40B4-BE49-F238E27FC236}">
                <a16:creationId xmlns:a16="http://schemas.microsoft.com/office/drawing/2014/main" id="{B2A1712E-4B70-42A6-BC5E-1D697084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353050" cy="2905125"/>
          </a:xfrm>
          <a:prstGeom xmlns:a="http://schemas.openxmlformats.org/drawingml/2006/main" prst="roundRect">
            <a:avLst>
              <a:gd name="adj" fmla="val 5246"/>
            </a:avLst>
          </a:prstGeom>
          <a:solidFill xmlns:a="http://schemas.openxmlformats.org/drawingml/2006/main">
            <a:srgbClr val="0D2F31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case-title-1">
            <a:extLst xmlns:a="http://schemas.openxmlformats.org/drawingml/2006/main">
              <a:ext uri="{FF2B5EF4-FFF2-40B4-BE49-F238E27FC236}">
                <a16:creationId xmlns:a16="http://schemas.microsoft.com/office/drawing/2014/main" id="{4F0A9432-07D2-4ED9-9245-80DE140A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</a:t>
            </a:r>
          </a:p>
        </p:txBody>
      </p:sp>
      <p:sp>
        <p:nvSpPr>
          <p:cNvPr id="8" name="case-body-1">
            <a:extLst xmlns:a="http://schemas.openxmlformats.org/drawingml/2006/main">
              <a:ext uri="{FF2B5EF4-FFF2-40B4-BE49-F238E27FC236}">
                <a16:creationId xmlns:a16="http://schemas.microsoft.com/office/drawing/2014/main" id="{40107C7C-4022-4936-A2AA-575A7E87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48196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CNY 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10%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Higher percentage</a:t>
            </a:r>
          </a:p>
        </p:txBody>
      </p:sp>
      <p:sp>
        <p:nvSpPr>
          <p:cNvPr id="9" name="case-2">
            <a:extLst xmlns:a="http://schemas.openxmlformats.org/drawingml/2006/main">
              <a:ext uri="{FF2B5EF4-FFF2-40B4-BE49-F238E27FC236}">
                <a16:creationId xmlns:a16="http://schemas.microsoft.com/office/drawing/2014/main" id="{05755562-8144-4652-A041-BDC5038C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14600"/>
            <a:ext cx="5353050" cy="2905125"/>
          </a:xfrm>
          <a:prstGeom xmlns:a="http://schemas.openxmlformats.org/drawingml/2006/main" prst="roundRect">
            <a:avLst>
              <a:gd name="adj" fmla="val 5246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case-title-2">
            <a:extLst xmlns:a="http://schemas.openxmlformats.org/drawingml/2006/main">
              <a:ext uri="{FF2B5EF4-FFF2-40B4-BE49-F238E27FC236}">
                <a16:creationId xmlns:a16="http://schemas.microsoft.com/office/drawing/2014/main" id="{724F56A3-6A63-4439-980D-517C8CED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432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D166"/>
                </a:solidFill>
                <a:latin typeface="Arial"/>
                <a:ea typeface="Arial"/>
                <a:cs typeface="Arial"/>
              </a:rPr>
              <a:t>Investment B</a:t>
            </a:r>
          </a:p>
        </p:txBody>
      </p:sp>
      <p:sp>
        <p:nvSpPr>
          <p:cNvPr id="11" name="case-body-2">
            <a:extLst xmlns:a="http://schemas.openxmlformats.org/drawingml/2006/main">
              <a:ext uri="{FF2B5EF4-FFF2-40B4-BE49-F238E27FC236}">
                <a16:creationId xmlns:a16="http://schemas.microsoft.com/office/drawing/2014/main" id="{A9587BAB-6B9C-4EE9-A0F6-79987184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8196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CNY 600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6%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Higher amount</a:t>
            </a:r>
          </a:p>
        </p:txBody>
      </p:sp>
    </p:spTree>
    <p:extLst>
      <p:ext uri="{BB962C8B-B14F-4D97-AF65-F5344CB8AC3E}">
        <p14:creationId xmlns:p14="http://schemas.microsoft.com/office/powerpoint/2010/main" val="105803851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2AD5699E-37CF-473D-885E-09CA5A97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COMPARE &amp; CHECK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409A9A63-CA96-4AFA-A3CD-96B3E403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4944AA-2094-4461-A590-43D2E90C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Partner check · Compare C and D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6308F4C-1BC3-4CF4-8A5F-F3568E93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ase-prompt">
            <a:extLst xmlns:a="http://schemas.openxmlformats.org/drawingml/2006/main">
              <a:ext uri="{FF2B5EF4-FFF2-40B4-BE49-F238E27FC236}">
                <a16:creationId xmlns:a16="http://schemas.microsoft.com/office/drawing/2014/main" id="{25BBA129-47BD-4138-99DD-91A568DD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Calculate amount and percentage. Then write one fair judgement.</a:t>
            </a:r>
          </a:p>
        </p:txBody>
      </p:sp>
      <p:sp>
        <p:nvSpPr>
          <p:cNvPr id="6" name="case-1">
            <a:extLst xmlns:a="http://schemas.openxmlformats.org/drawingml/2006/main">
              <a:ext uri="{FF2B5EF4-FFF2-40B4-BE49-F238E27FC236}">
                <a16:creationId xmlns:a16="http://schemas.microsoft.com/office/drawing/2014/main" id="{49940E82-D0BE-43F3-814A-2929CFD9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353050" cy="2905125"/>
          </a:xfrm>
          <a:prstGeom xmlns:a="http://schemas.openxmlformats.org/drawingml/2006/main" prst="roundRect">
            <a:avLst>
              <a:gd name="adj" fmla="val 5246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case-title-1">
            <a:extLst xmlns:a="http://schemas.openxmlformats.org/drawingml/2006/main">
              <a:ext uri="{FF2B5EF4-FFF2-40B4-BE49-F238E27FC236}">
                <a16:creationId xmlns:a16="http://schemas.microsoft.com/office/drawing/2014/main" id="{29F06AEE-2323-4594-B8F2-0463D438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8" name="case-body-1">
            <a:extLst xmlns:a="http://schemas.openxmlformats.org/drawingml/2006/main">
              <a:ext uri="{FF2B5EF4-FFF2-40B4-BE49-F238E27FC236}">
                <a16:creationId xmlns:a16="http://schemas.microsoft.com/office/drawing/2014/main" id="{BA61D801-4EE4-48B1-866A-1FC6B0E4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48196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Start 4,000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End 4,280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Income 120</a:t>
            </a:r>
          </a:p>
        </p:txBody>
      </p:sp>
      <p:sp>
        <p:nvSpPr>
          <p:cNvPr id="9" name="case-2">
            <a:extLst xmlns:a="http://schemas.openxmlformats.org/drawingml/2006/main">
              <a:ext uri="{FF2B5EF4-FFF2-40B4-BE49-F238E27FC236}">
                <a16:creationId xmlns:a16="http://schemas.microsoft.com/office/drawing/2014/main" id="{2B64F980-C32E-44AC-BABB-CAAC6DAB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14600"/>
            <a:ext cx="5353050" cy="2905125"/>
          </a:xfrm>
          <a:prstGeom xmlns:a="http://schemas.openxmlformats.org/drawingml/2006/main" prst="roundRect">
            <a:avLst>
              <a:gd name="adj" fmla="val 5246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case-title-2">
            <a:extLst xmlns:a="http://schemas.openxmlformats.org/drawingml/2006/main">
              <a:ext uri="{FF2B5EF4-FFF2-40B4-BE49-F238E27FC236}">
                <a16:creationId xmlns:a16="http://schemas.microsoft.com/office/drawing/2014/main" id="{403352A0-B703-4E53-BD45-3C5AC7D9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432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D166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1" name="case-body-2">
            <a:extLst xmlns:a="http://schemas.openxmlformats.org/drawingml/2006/main">
              <a:ext uri="{FF2B5EF4-FFF2-40B4-BE49-F238E27FC236}">
                <a16:creationId xmlns:a16="http://schemas.microsoft.com/office/drawing/2014/main" id="{C716A364-D75C-4D42-8E48-43DB78C7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8196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Start 8,000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End 8,480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Income 80</a:t>
            </a:r>
          </a:p>
        </p:txBody>
      </p:sp>
    </p:spTree>
    <p:extLst>
      <p:ext uri="{BB962C8B-B14F-4D97-AF65-F5344CB8AC3E}">
        <p14:creationId xmlns:p14="http://schemas.microsoft.com/office/powerpoint/2010/main" val="90920164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FD4A0ED6-93C5-4036-AC3C-EFF79E76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COMPARE &amp; CHECK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ADDF2FF3-7C3C-40EB-B789-F934375A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0DA283-681B-46B5-B0FF-08CFB6C6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Partner check · Model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0496720-ABD8-485F-92E8-7A3A9597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ase-prompt">
            <a:extLst xmlns:a="http://schemas.openxmlformats.org/drawingml/2006/main">
              <a:ext uri="{FF2B5EF4-FFF2-40B4-BE49-F238E27FC236}">
                <a16:creationId xmlns:a16="http://schemas.microsoft.com/office/drawing/2014/main" id="{A66A5A4E-02A7-445A-8DF2-7544B251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7EF0B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7EF0B5"/>
                </a:solidFill>
                <a:latin typeface="Arial"/>
                <a:ea typeface="Arial"/>
                <a:cs typeface="Arial"/>
              </a:rPr>
              <a:t>C performed better in percentage terms, although D earned more money.</a:t>
            </a:r>
          </a:p>
        </p:txBody>
      </p:sp>
      <p:sp>
        <p:nvSpPr>
          <p:cNvPr id="6" name="case-1">
            <a:extLst xmlns:a="http://schemas.openxmlformats.org/drawingml/2006/main">
              <a:ext uri="{FF2B5EF4-FFF2-40B4-BE49-F238E27FC236}">
                <a16:creationId xmlns:a16="http://schemas.microsoft.com/office/drawing/2014/main" id="{1E9D93EF-1096-483A-B041-EEBFE2F9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353050" cy="2905125"/>
          </a:xfrm>
          <a:prstGeom xmlns:a="http://schemas.openxmlformats.org/drawingml/2006/main" prst="roundRect">
            <a:avLst>
              <a:gd name="adj" fmla="val 5246"/>
            </a:avLst>
          </a:prstGeom>
          <a:solidFill xmlns:a="http://schemas.openxmlformats.org/drawingml/2006/main">
            <a:srgbClr val="0D2F31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case-title-1">
            <a:extLst xmlns:a="http://schemas.openxmlformats.org/drawingml/2006/main">
              <a:ext uri="{FF2B5EF4-FFF2-40B4-BE49-F238E27FC236}">
                <a16:creationId xmlns:a16="http://schemas.microsoft.com/office/drawing/2014/main" id="{AA6E0F51-C51E-4882-AA6C-9722DF34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8" name="case-body-1">
            <a:extLst xmlns:a="http://schemas.openxmlformats.org/drawingml/2006/main">
              <a:ext uri="{FF2B5EF4-FFF2-40B4-BE49-F238E27FC236}">
                <a16:creationId xmlns:a16="http://schemas.microsoft.com/office/drawing/2014/main" id="{26B7886C-38BB-48AE-8827-1CD2890A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48196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Return CNY 400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10%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Higher percentage</a:t>
            </a:r>
          </a:p>
        </p:txBody>
      </p:sp>
      <p:sp>
        <p:nvSpPr>
          <p:cNvPr id="9" name="case-2">
            <a:extLst xmlns:a="http://schemas.openxmlformats.org/drawingml/2006/main">
              <a:ext uri="{FF2B5EF4-FFF2-40B4-BE49-F238E27FC236}">
                <a16:creationId xmlns:a16="http://schemas.microsoft.com/office/drawing/2014/main" id="{197C01D5-7308-4163-A5F7-05683DA6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14600"/>
            <a:ext cx="5353050" cy="2905125"/>
          </a:xfrm>
          <a:prstGeom xmlns:a="http://schemas.openxmlformats.org/drawingml/2006/main" prst="roundRect">
            <a:avLst>
              <a:gd name="adj" fmla="val 5246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case-title-2">
            <a:extLst xmlns:a="http://schemas.openxmlformats.org/drawingml/2006/main">
              <a:ext uri="{FF2B5EF4-FFF2-40B4-BE49-F238E27FC236}">
                <a16:creationId xmlns:a16="http://schemas.microsoft.com/office/drawing/2014/main" id="{95C6CD5A-E3E9-4626-8970-913EF2C8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432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D166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1" name="case-body-2">
            <a:extLst xmlns:a="http://schemas.openxmlformats.org/drawingml/2006/main">
              <a:ext uri="{FF2B5EF4-FFF2-40B4-BE49-F238E27FC236}">
                <a16:creationId xmlns:a16="http://schemas.microsoft.com/office/drawing/2014/main" id="{6594DE0B-6E59-4551-87A7-2A263FDC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8196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Return CNY 560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7%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Higher amount</a:t>
            </a:r>
          </a:p>
        </p:txBody>
      </p:sp>
    </p:spTree>
    <p:extLst>
      <p:ext uri="{BB962C8B-B14F-4D97-AF65-F5344CB8AC3E}">
        <p14:creationId xmlns:p14="http://schemas.microsoft.com/office/powerpoint/2010/main" val="142657682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2C40005E-BF57-4F88-8875-F3617C7A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COMPARE &amp; CHECK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5E8621AA-A85A-44E2-97D4-6AF9FC20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05533D-0473-4829-943E-DC4DF542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Stock Market Game · Build an evidence record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C3BA0A13-0BCC-49DA-A62F-34F38260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ord-panel">
            <a:extLst xmlns:a="http://schemas.openxmlformats.org/drawingml/2006/main">
              <a:ext uri="{FF2B5EF4-FFF2-40B4-BE49-F238E27FC236}">
                <a16:creationId xmlns:a16="http://schemas.microsoft.com/office/drawing/2014/main" id="{0C6E95AF-AAE4-40E1-BC1D-3F5A0C02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59055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record-fields">
            <a:extLst xmlns:a="http://schemas.openxmlformats.org/drawingml/2006/main">
              <a:ext uri="{FF2B5EF4-FFF2-40B4-BE49-F238E27FC236}">
                <a16:creationId xmlns:a16="http://schemas.microsoft.com/office/drawing/2014/main" id="{7AB02FCD-1021-4942-8FAB-273C97D2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90725"/>
            <a:ext cx="528637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01  Starting portfolio value</a:t>
            </a:r>
          </a:p>
          <a:p xmlns:a="http://schemas.openxmlformats.org/drawingml/2006/main">
            <a:pPr algn="l">
              <a:defRPr sz="1500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02  Ending portfolio value</a:t>
            </a:r>
          </a:p>
          <a:p xmlns:a="http://schemas.openxmlformats.org/drawingml/2006/main">
            <a:pPr algn="l">
              <a:defRPr sz="1500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03  Dividends or interest</a:t>
            </a:r>
          </a:p>
          <a:p xmlns:a="http://schemas.openxmlformats.org/drawingml/2006/main">
            <a:pPr algn="l">
              <a:defRPr sz="1500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04  New deposits/withdrawals</a:t>
            </a:r>
          </a:p>
          <a:p xmlns:a="http://schemas.openxmlformats.org/drawingml/2006/main">
            <a:pPr algn="l">
              <a:defRPr sz="1500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05  Total return</a:t>
            </a:r>
          </a:p>
          <a:p xmlns:a="http://schemas.openxmlformats.org/drawingml/2006/main">
            <a:pPr algn="l">
              <a:defRPr sz="1500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06  Return %</a:t>
            </a:r>
          </a:p>
          <a:p xmlns:a="http://schemas.openxmlformats.org/drawingml/2006/main">
            <a:pPr algn="l">
              <a:defRPr sz="1500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07  Measurement period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e5d8c955749de"/>
          <a:srcRect xmlns:a="http://schemas.openxmlformats.org/drawingml/2006/main" l="16379" t="0" r="163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733550"/>
            <a:ext cx="4781550" cy="40005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</p:spTree>
    <p:extLst>
      <p:ext uri="{BB962C8B-B14F-4D97-AF65-F5344CB8AC3E}">
        <p14:creationId xmlns:p14="http://schemas.microsoft.com/office/powerpoint/2010/main" val="143422730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B71020A9-2DD3-4EB3-BCBB-05F287C8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COMPARE &amp; CHECK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1515EC8D-BBF5-4EA9-9C47-977F4824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49387B-6C79-4FA9-986B-34DDA462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Check understanding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08281E6-C9A0-426D-9E50-1A1AB976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question-surface">
            <a:extLst xmlns:a="http://schemas.openxmlformats.org/drawingml/2006/main">
              <a:ext uri="{FF2B5EF4-FFF2-40B4-BE49-F238E27FC236}">
                <a16:creationId xmlns:a16="http://schemas.microsoft.com/office/drawing/2014/main" id="{47FF259B-BD35-4F3B-BAB5-B3E22841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question">
            <a:extLst xmlns:a="http://schemas.openxmlformats.org/drawingml/2006/main">
              <a:ext uri="{FF2B5EF4-FFF2-40B4-BE49-F238E27FC236}">
                <a16:creationId xmlns:a16="http://schemas.microsoft.com/office/drawing/2014/main" id="{D9ACA440-C9F9-47B6-955E-6ECD7C76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91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A fund starts at CNY 2,500, ends at CNY 2,650 and pays CNY 50 income. What is its return percentage?</a:t>
            </a:r>
          </a:p>
        </p:txBody>
      </p:sp>
      <p:sp>
        <p:nvSpPr>
          <p:cNvPr id="7" name="option-1">
            <a:extLst xmlns:a="http://schemas.openxmlformats.org/drawingml/2006/main">
              <a:ext uri="{FF2B5EF4-FFF2-40B4-BE49-F238E27FC236}">
                <a16:creationId xmlns:a16="http://schemas.microsoft.com/office/drawing/2014/main" id="{229C36E8-1D33-40AF-88EE-8DBA1C6B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381625" cy="866775"/>
          </a:xfrm>
          <a:prstGeom xmlns:a="http://schemas.openxmlformats.org/drawingml/2006/main" prst="roundRect">
            <a:avLst>
              <a:gd name="adj" fmla="val 1758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0C1B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option-text-1">
            <a:extLst xmlns:a="http://schemas.openxmlformats.org/drawingml/2006/main">
              <a:ext uri="{FF2B5EF4-FFF2-40B4-BE49-F238E27FC236}">
                <a16:creationId xmlns:a16="http://schemas.microsoft.com/office/drawing/2014/main" id="{DC0E5847-AE79-4002-8851-BB96E482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381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A  4%</a:t>
            </a:r>
          </a:p>
        </p:txBody>
      </p:sp>
      <p:sp>
        <p:nvSpPr>
          <p:cNvPr id="9" name="option-2">
            <a:extLst xmlns:a="http://schemas.openxmlformats.org/drawingml/2006/main">
              <a:ext uri="{FF2B5EF4-FFF2-40B4-BE49-F238E27FC236}">
                <a16:creationId xmlns:a16="http://schemas.microsoft.com/office/drawing/2014/main" id="{2CF50488-16D8-4254-A184-A0462974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333750"/>
            <a:ext cx="5381625" cy="866775"/>
          </a:xfrm>
          <a:prstGeom xmlns:a="http://schemas.openxmlformats.org/drawingml/2006/main" prst="roundRect">
            <a:avLst>
              <a:gd name="adj" fmla="val 1758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0C1B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option-text-2">
            <a:extLst xmlns:a="http://schemas.openxmlformats.org/drawingml/2006/main">
              <a:ext uri="{FF2B5EF4-FFF2-40B4-BE49-F238E27FC236}">
                <a16:creationId xmlns:a16="http://schemas.microsoft.com/office/drawing/2014/main" id="{EFDA74CD-6F08-411F-866D-8CD6B29A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333750"/>
            <a:ext cx="5381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B  6%</a:t>
            </a:r>
          </a:p>
        </p:txBody>
      </p:sp>
      <p:sp>
        <p:nvSpPr>
          <p:cNvPr id="11" name="option-3">
            <a:extLst xmlns:a="http://schemas.openxmlformats.org/drawingml/2006/main">
              <a:ext uri="{FF2B5EF4-FFF2-40B4-BE49-F238E27FC236}">
                <a16:creationId xmlns:a16="http://schemas.microsoft.com/office/drawing/2014/main" id="{C16B2012-1A51-4FE5-8000-CAE7930B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5381625" cy="866775"/>
          </a:xfrm>
          <a:prstGeom xmlns:a="http://schemas.openxmlformats.org/drawingml/2006/main" prst="roundRect">
            <a:avLst>
              <a:gd name="adj" fmla="val 1758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0C1B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option-text-3">
            <a:extLst xmlns:a="http://schemas.openxmlformats.org/drawingml/2006/main">
              <a:ext uri="{FF2B5EF4-FFF2-40B4-BE49-F238E27FC236}">
                <a16:creationId xmlns:a16="http://schemas.microsoft.com/office/drawing/2014/main" id="{428B15D9-BE43-4F68-A595-BBD649C9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5381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C  8%</a:t>
            </a:r>
          </a:p>
        </p:txBody>
      </p:sp>
      <p:sp>
        <p:nvSpPr>
          <p:cNvPr id="13" name="option-4">
            <a:extLst xmlns:a="http://schemas.openxmlformats.org/drawingml/2006/main">
              <a:ext uri="{FF2B5EF4-FFF2-40B4-BE49-F238E27FC236}">
                <a16:creationId xmlns:a16="http://schemas.microsoft.com/office/drawing/2014/main" id="{F4567F24-21E9-4A3A-9186-49FC51C2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438650"/>
            <a:ext cx="5381625" cy="866775"/>
          </a:xfrm>
          <a:prstGeom xmlns:a="http://schemas.openxmlformats.org/drawingml/2006/main" prst="roundRect">
            <a:avLst>
              <a:gd name="adj" fmla="val 1758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0C1B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option-text-4">
            <a:extLst xmlns:a="http://schemas.openxmlformats.org/drawingml/2006/main">
              <a:ext uri="{FF2B5EF4-FFF2-40B4-BE49-F238E27FC236}">
                <a16:creationId xmlns:a16="http://schemas.microsoft.com/office/drawing/2014/main" id="{85E3E332-DD89-413F-80A4-49D9163F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438650"/>
            <a:ext cx="5381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D  10%</a:t>
            </a:r>
          </a:p>
        </p:txBody>
      </p:sp>
    </p:spTree>
    <p:extLst>
      <p:ext uri="{BB962C8B-B14F-4D97-AF65-F5344CB8AC3E}">
        <p14:creationId xmlns:p14="http://schemas.microsoft.com/office/powerpoint/2010/main" val="44747550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B9E0FC05-3715-4E14-82BC-2E620248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COMPARE &amp; CHECK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9BF6AACC-A9C6-4A27-96E5-36AB4DE0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AB72B2-D8F9-4CE5-A778-66C6E13B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Check understanding · Reveal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7D9066B4-0F7C-45D6-9D8F-3E260669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question-surface">
            <a:extLst xmlns:a="http://schemas.openxmlformats.org/drawingml/2006/main">
              <a:ext uri="{FF2B5EF4-FFF2-40B4-BE49-F238E27FC236}">
                <a16:creationId xmlns:a16="http://schemas.microsoft.com/office/drawing/2014/main" id="{98CFD758-A282-47B3-A2C7-954DF0D8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question">
            <a:extLst xmlns:a="http://schemas.openxmlformats.org/drawingml/2006/main">
              <a:ext uri="{FF2B5EF4-FFF2-40B4-BE49-F238E27FC236}">
                <a16:creationId xmlns:a16="http://schemas.microsoft.com/office/drawing/2014/main" id="{0A367811-9D14-48F7-9EC3-F5924A8D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91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Total return = (2,650 − 2,500) + 50 = 200</a:t>
            </a:r>
          </a:p>
          <a:p xmlns:a="http://schemas.openxmlformats.org/drawingml/2006/main">
            <a:pPr algn="ctr">
              <a:defRPr sz="1875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200 ÷ 2,500 × 100 = 8%</a:t>
            </a:r>
          </a:p>
        </p:txBody>
      </p:sp>
      <p:sp>
        <p:nvSpPr>
          <p:cNvPr id="7" name="option-1">
            <a:extLst xmlns:a="http://schemas.openxmlformats.org/drawingml/2006/main">
              <a:ext uri="{FF2B5EF4-FFF2-40B4-BE49-F238E27FC236}">
                <a16:creationId xmlns:a16="http://schemas.microsoft.com/office/drawing/2014/main" id="{22C183AD-E74E-448B-987B-B82035A4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381625" cy="866775"/>
          </a:xfrm>
          <a:prstGeom xmlns:a="http://schemas.openxmlformats.org/drawingml/2006/main" prst="roundRect">
            <a:avLst>
              <a:gd name="adj" fmla="val 1758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0C1B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option-text-1">
            <a:extLst xmlns:a="http://schemas.openxmlformats.org/drawingml/2006/main">
              <a:ext uri="{FF2B5EF4-FFF2-40B4-BE49-F238E27FC236}">
                <a16:creationId xmlns:a16="http://schemas.microsoft.com/office/drawing/2014/main" id="{29D08E7E-AA41-480E-930A-2676C01C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381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A  4%</a:t>
            </a:r>
          </a:p>
        </p:txBody>
      </p:sp>
      <p:sp>
        <p:nvSpPr>
          <p:cNvPr id="9" name="option-2">
            <a:extLst xmlns:a="http://schemas.openxmlformats.org/drawingml/2006/main">
              <a:ext uri="{FF2B5EF4-FFF2-40B4-BE49-F238E27FC236}">
                <a16:creationId xmlns:a16="http://schemas.microsoft.com/office/drawing/2014/main" id="{30C1BA88-32F8-4AB2-A603-02B51AE2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333750"/>
            <a:ext cx="5381625" cy="866775"/>
          </a:xfrm>
          <a:prstGeom xmlns:a="http://schemas.openxmlformats.org/drawingml/2006/main" prst="roundRect">
            <a:avLst>
              <a:gd name="adj" fmla="val 1758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0C1B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option-text-2">
            <a:extLst xmlns:a="http://schemas.openxmlformats.org/drawingml/2006/main">
              <a:ext uri="{FF2B5EF4-FFF2-40B4-BE49-F238E27FC236}">
                <a16:creationId xmlns:a16="http://schemas.microsoft.com/office/drawing/2014/main" id="{B303BAAD-C413-491B-A27E-7E876D93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333750"/>
            <a:ext cx="5381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B  6%</a:t>
            </a:r>
          </a:p>
        </p:txBody>
      </p:sp>
      <p:sp>
        <p:nvSpPr>
          <p:cNvPr id="11" name="option-3">
            <a:extLst xmlns:a="http://schemas.openxmlformats.org/drawingml/2006/main">
              <a:ext uri="{FF2B5EF4-FFF2-40B4-BE49-F238E27FC236}">
                <a16:creationId xmlns:a16="http://schemas.microsoft.com/office/drawing/2014/main" id="{CA871E0B-21A6-4299-8A07-5AA2D71A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5381625" cy="866775"/>
          </a:xfrm>
          <a:prstGeom xmlns:a="http://schemas.openxmlformats.org/drawingml/2006/main" prst="roundRect">
            <a:avLst>
              <a:gd name="adj" fmla="val 17582"/>
            </a:avLst>
          </a:prstGeom>
          <a:solidFill xmlns:a="http://schemas.openxmlformats.org/drawingml/2006/main">
            <a:srgbClr val="16433C"/>
          </a:solidFill>
          <a:ln xmlns:a="http://schemas.openxmlformats.org/drawingml/2006/main" w="28575">
            <a:solidFill>
              <a:srgbClr val="7EF0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option-text-3">
            <a:extLst xmlns:a="http://schemas.openxmlformats.org/drawingml/2006/main">
              <a:ext uri="{FF2B5EF4-FFF2-40B4-BE49-F238E27FC236}">
                <a16:creationId xmlns:a16="http://schemas.microsoft.com/office/drawing/2014/main" id="{16047826-334E-4261-B0AA-2D30B686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5381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7EF0B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7EF0B5"/>
                </a:solidFill>
                <a:latin typeface="Arial"/>
                <a:ea typeface="Arial"/>
                <a:cs typeface="Arial"/>
              </a:rPr>
              <a:t>C  8%</a:t>
            </a:r>
          </a:p>
        </p:txBody>
      </p:sp>
      <p:sp>
        <p:nvSpPr>
          <p:cNvPr id="13" name="option-4">
            <a:extLst xmlns:a="http://schemas.openxmlformats.org/drawingml/2006/main">
              <a:ext uri="{FF2B5EF4-FFF2-40B4-BE49-F238E27FC236}">
                <a16:creationId xmlns:a16="http://schemas.microsoft.com/office/drawing/2014/main" id="{3F7AC5C7-587F-44A6-9E6D-217ACC6C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438650"/>
            <a:ext cx="5381625" cy="866775"/>
          </a:xfrm>
          <a:prstGeom xmlns:a="http://schemas.openxmlformats.org/drawingml/2006/main" prst="roundRect">
            <a:avLst>
              <a:gd name="adj" fmla="val 1758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0C1B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option-text-4">
            <a:extLst xmlns:a="http://schemas.openxmlformats.org/drawingml/2006/main">
              <a:ext uri="{FF2B5EF4-FFF2-40B4-BE49-F238E27FC236}">
                <a16:creationId xmlns:a16="http://schemas.microsoft.com/office/drawing/2014/main" id="{4409DC60-0AD3-4045-963E-4BFC5792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438650"/>
            <a:ext cx="5381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D  10%</a:t>
            </a:r>
          </a:p>
        </p:txBody>
      </p:sp>
    </p:spTree>
    <p:extLst>
      <p:ext uri="{BB962C8B-B14F-4D97-AF65-F5344CB8AC3E}">
        <p14:creationId xmlns:p14="http://schemas.microsoft.com/office/powerpoint/2010/main" val="136396908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85640D1E-20F7-4C79-9EDD-82325027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COMPARE &amp; CHECK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BB12FE86-D6B9-4C89-B026-56F867E5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62509E-76F0-48CD-9603-D35DCD66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Short answer · Calculate and interpret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C908052-3E53-40B1-8B82-17994B9C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ort-surface">
            <a:extLst xmlns:a="http://schemas.openxmlformats.org/drawingml/2006/main">
              <a:ext uri="{FF2B5EF4-FFF2-40B4-BE49-F238E27FC236}">
                <a16:creationId xmlns:a16="http://schemas.microsoft.com/office/drawing/2014/main" id="{C79A26C5-99BE-43A8-8936-9F53B0D1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3762375"/>
          </a:xfrm>
          <a:prstGeom xmlns:a="http://schemas.openxmlformats.org/drawingml/2006/main" prst="roundRect">
            <a:avLst>
              <a:gd name="adj" fmla="val 4051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short-prompt">
            <a:extLst xmlns:a="http://schemas.openxmlformats.org/drawingml/2006/main">
              <a:ext uri="{FF2B5EF4-FFF2-40B4-BE49-F238E27FC236}">
                <a16:creationId xmlns:a16="http://schemas.microsoft.com/office/drawing/2014/main" id="{B3C794F5-A91F-43BD-94DD-47780AE0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101346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An investment starts at CNY 8,000, ends at CNY 8,540 and pays CNY 260 income. Calculate its total return and percentage return. Interpret the result.</a:t>
            </a:r>
          </a:p>
        </p:txBody>
      </p:sp>
    </p:spTree>
    <p:extLst>
      <p:ext uri="{BB962C8B-B14F-4D97-AF65-F5344CB8AC3E}">
        <p14:creationId xmlns:p14="http://schemas.microsoft.com/office/powerpoint/2010/main" val="86525233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21E31D18-E6BA-43FE-8663-18B5CFFF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COMPARE &amp; CHECK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92C94936-D260-4D21-A728-868889DD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8E8105-84FF-4468-A896-745F2E7B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Short answer · Model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30AFAC1-FE88-4269-8A25-438302BA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ort-surface">
            <a:extLst xmlns:a="http://schemas.openxmlformats.org/drawingml/2006/main">
              <a:ext uri="{FF2B5EF4-FFF2-40B4-BE49-F238E27FC236}">
                <a16:creationId xmlns:a16="http://schemas.microsoft.com/office/drawing/2014/main" id="{4F623159-D23A-4448-B9D3-ECB085EC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3762375"/>
          </a:xfrm>
          <a:prstGeom xmlns:a="http://schemas.openxmlformats.org/drawingml/2006/main" prst="roundRect">
            <a:avLst>
              <a:gd name="adj" fmla="val 4051"/>
            </a:avLst>
          </a:prstGeom>
          <a:solidFill xmlns:a="http://schemas.openxmlformats.org/drawingml/2006/main">
            <a:srgbClr val="0B2A37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short-prompt">
            <a:extLst xmlns:a="http://schemas.openxmlformats.org/drawingml/2006/main">
              <a:ext uri="{FF2B5EF4-FFF2-40B4-BE49-F238E27FC236}">
                <a16:creationId xmlns:a16="http://schemas.microsoft.com/office/drawing/2014/main" id="{F572AA1C-7EA3-46F2-B41A-64CC725C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101346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EF0B5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7EF0B5"/>
                </a:solidFill>
                <a:latin typeface="Arial"/>
                <a:ea typeface="Arial"/>
                <a:cs typeface="Arial"/>
              </a:rPr>
              <a:t>Total return = (8,540 − 8,000) + 260 = CNY 800</a:t>
            </a:r>
          </a:p>
          <a:p xmlns:a="http://schemas.openxmlformats.org/drawingml/2006/main">
            <a:pPr algn="ctr">
              <a:defRPr sz="2100" b="1" i="0">
                <a:solidFill>
                  <a:srgbClr val="7EF0B5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7EF0B5"/>
                </a:solidFill>
                <a:latin typeface="Arial"/>
                <a:ea typeface="Arial"/>
                <a:cs typeface="Arial"/>
              </a:rPr>
              <a:t>Return % = 800 ÷ 8,000 × 100 = 10%</a:t>
            </a:r>
          </a:p>
          <a:p xmlns:a="http://schemas.openxmlformats.org/drawingml/2006/main">
            <a:pPr algn="ctr">
              <a:defRPr sz="2100" b="1" i="0">
                <a:solidFill>
                  <a:srgbClr val="7EF0B5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7EF0B5"/>
                </a:solidFill>
                <a:latin typeface="Arial"/>
                <a:ea typeface="Arial"/>
                <a:cs typeface="Arial"/>
              </a:rPr>
              <a:t>Therefore, the investment returned 10% over the stated period.</a:t>
            </a:r>
          </a:p>
        </p:txBody>
      </p:sp>
    </p:spTree>
    <p:extLst>
      <p:ext uri="{BB962C8B-B14F-4D97-AF65-F5344CB8AC3E}">
        <p14:creationId xmlns:p14="http://schemas.microsoft.com/office/powerpoint/2010/main" val="11723386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29CBEDF4-753D-434C-BABB-2350B690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COMPARE &amp; CHECK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A2D21560-7DDC-4866-993E-A64DD488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F97B7E-5305-4988-A757-51F1831B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0EDF4AA6-875C-4DD7-9D7A-2F0FCE3B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xit-surface">
            <a:extLst xmlns:a="http://schemas.openxmlformats.org/drawingml/2006/main">
              <a:ext uri="{FF2B5EF4-FFF2-40B4-BE49-F238E27FC236}">
                <a16:creationId xmlns:a16="http://schemas.microsoft.com/office/drawing/2014/main" id="{BE698D25-E8EC-4E50-AF39-D1DE1368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3762375"/>
          </a:xfrm>
          <a:prstGeom xmlns:a="http://schemas.openxmlformats.org/drawingml/2006/main" prst="roundRect">
            <a:avLst>
              <a:gd name="adj" fmla="val 4051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exit-prompt">
            <a:extLst xmlns:a="http://schemas.openxmlformats.org/drawingml/2006/main">
              <a:ext uri="{FF2B5EF4-FFF2-40B4-BE49-F238E27FC236}">
                <a16:creationId xmlns:a16="http://schemas.microsoft.com/office/drawing/2014/main" id="{235037BE-69F1-4C38-B10A-5A51D166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101346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Total return = ending value − ______ value + ______.</a:t>
            </a:r>
          </a:p>
          <a:p xmlns:a="http://schemas.openxmlformats.org/drawingml/2006/main">
            <a:pPr algn="l">
              <a:defRPr sz="20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Percentage return is usually fairer when starting amounts are ______.</a:t>
            </a:r>
          </a:p>
          <a:p xmlns:a="http://schemas.openxmlformats.org/drawingml/2006/main">
            <a:pPr algn="l">
              <a:defRPr sz="2025" b="0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In the opening case, ______ had the higher percentage return.</a:t>
            </a:r>
          </a:p>
        </p:txBody>
      </p:sp>
    </p:spTree>
    <p:extLst>
      <p:ext uri="{BB962C8B-B14F-4D97-AF65-F5344CB8AC3E}">
        <p14:creationId xmlns:p14="http://schemas.microsoft.com/office/powerpoint/2010/main" val="12082646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0118BA28-0E28-4C17-80BA-CE5F25F7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D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6D8FF"/>
                </a:solidFill>
                <a:latin typeface="Arial"/>
                <a:ea typeface="Arial"/>
                <a:cs typeface="Arial"/>
              </a:rPr>
              <a:t>INVESTMENT ANALYSIS  ·  LESSON 02  ·  COMPARE &amp; CHECK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7E273FC5-D71A-45A2-B308-158763E4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9DB0C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DB0CC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6445FC-030B-47A3-9B0D-6FE71AD2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5F8FF"/>
                </a:solidFill>
                <a:latin typeface="Arial"/>
                <a:ea typeface="Arial"/>
                <a:cs typeface="Arial"/>
              </a:rPr>
              <a:t>Exit ticket · Reveal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ADFBBA4-A335-4F8C-A1CA-D4FC5D3B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xit-surface">
            <a:extLst xmlns:a="http://schemas.openxmlformats.org/drawingml/2006/main">
              <a:ext uri="{FF2B5EF4-FFF2-40B4-BE49-F238E27FC236}">
                <a16:creationId xmlns:a16="http://schemas.microsoft.com/office/drawing/2014/main" id="{88A05D26-0816-4B97-857C-97F0FCC2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3762375"/>
          </a:xfrm>
          <a:prstGeom xmlns:a="http://schemas.openxmlformats.org/drawingml/2006/main" prst="roundRect">
            <a:avLst>
              <a:gd name="adj" fmla="val 4051"/>
            </a:avLst>
          </a:prstGeom>
          <a:solidFill xmlns:a="http://schemas.openxmlformats.org/drawingml/2006/main">
            <a:srgbClr val="0B2A37"/>
          </a:solidFill>
          <a:ln xmlns:a="http://schemas.openxmlformats.org/drawingml/2006/main" w="9525">
            <a:solidFill>
              <a:srgbClr val="203A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exit-prompt">
            <a:extLst xmlns:a="http://schemas.openxmlformats.org/drawingml/2006/main">
              <a:ext uri="{FF2B5EF4-FFF2-40B4-BE49-F238E27FC236}">
                <a16:creationId xmlns:a16="http://schemas.microsoft.com/office/drawing/2014/main" id="{8FCE87E5-7708-41F6-AC78-4E24C4F0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101346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7EF0B5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7EF0B5"/>
                </a:solidFill>
                <a:latin typeface="Arial"/>
                <a:ea typeface="Arial"/>
                <a:cs typeface="Arial"/>
              </a:rPr>
              <a:t>Total return = ending value − starting value + income.</a:t>
            </a:r>
          </a:p>
          <a:p xmlns:a="http://schemas.openxmlformats.org/drawingml/2006/main">
            <a:pPr algn="l">
              <a:defRPr sz="2025" b="1" i="0">
                <a:solidFill>
                  <a:srgbClr val="7EF0B5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7EF0B5"/>
                </a:solidFill>
                <a:latin typeface="Arial"/>
                <a:ea typeface="Arial"/>
                <a:cs typeface="Arial"/>
              </a:rPr>
              <a:t>Percentage return is usually fairer when starting amounts are unequal.</a:t>
            </a:r>
          </a:p>
          <a:p xmlns:a="http://schemas.openxmlformats.org/drawingml/2006/main">
            <a:pPr algn="l">
              <a:defRPr sz="2025" b="1" i="0">
                <a:solidFill>
                  <a:srgbClr val="7EF0B5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7EF0B5"/>
                </a:solidFill>
                <a:latin typeface="Arial"/>
                <a:ea typeface="Arial"/>
                <a:cs typeface="Arial"/>
              </a:rPr>
              <a:t>In the opening case, Investment A had the higher percentage return.</a:t>
            </a:r>
          </a:p>
        </p:txBody>
      </p:sp>
    </p:spTree>
    <p:extLst>
      <p:ext uri="{BB962C8B-B14F-4D97-AF65-F5344CB8AC3E}">
        <p14:creationId xmlns:p14="http://schemas.microsoft.com/office/powerpoint/2010/main" val="365932583"/>
      </p:ext>
    </p:extLst>
  </p:cSld>
</p:sld>
</file>

<file path=ppt/theme/theme1.xml><?xml version="1.0" encoding="utf-8"?>
<a:theme xmlns:a="http://schemas.openxmlformats.org/drawingml/2006/main" name="ChatGPT">
  <a:themeElements>
    <a:clrScheme name="Economics HTML Dark">
      <a:dk1>
        <a:srgbClr val="000000"/>
      </a:dk1>
      <a:lt1>
        <a:srgbClr val="FFFFFF"/>
      </a:lt1>
      <a:dk2>
        <a:srgbClr val="F5F8FF"/>
      </a:dk2>
      <a:lt2>
        <a:srgbClr val="0C1B2D"/>
      </a:lt2>
      <a:accent1>
        <a:srgbClr val="56D8FF"/>
      </a:accent1>
      <a:accent2>
        <a:srgbClr val="FFD166"/>
      </a:accent2>
      <a:accent3>
        <a:srgbClr val="FF9F43"/>
      </a:accent3>
      <a:accent4>
        <a:srgbClr val="FF6B8A"/>
      </a:accent4>
      <a:accent5>
        <a:srgbClr val="B79CFF"/>
      </a:accent5>
      <a:accent6>
        <a:srgbClr val="7EF0B5"/>
      </a:accent6>
      <a:hlink>
        <a:srgbClr val="56D8FF"/>
      </a:hlink>
      <a:folHlink>
        <a:srgbClr val="B79C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conomics HTML Dar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2026-09-03T04:24:46.8850000Z</dcterms:created>
  <dcterms:modified xsi:type="dcterms:W3CDTF">2026-09-03T04:24:46.8850000Z</dcterms:modified>
</coreProperties>
</file>