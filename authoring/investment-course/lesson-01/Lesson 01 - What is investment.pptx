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94" r:id="rId4"/>
    <p:sldId id="295" r:id="rId5"/>
    <p:sldId id="292" r:id="rId6"/>
    <p:sldId id="300" r:id="rId7"/>
    <p:sldId id="298" r:id="rId8"/>
    <p:sldId id="301" r:id="rId9"/>
    <p:sldId id="303" r:id="rId10"/>
    <p:sldId id="302" r:id="rId11"/>
    <p:sldId id="296" r:id="rId12"/>
    <p:sldId id="259" r:id="rId13"/>
    <p:sldId id="260" r:id="rId14"/>
    <p:sldId id="261" r:id="rId15"/>
    <p:sldId id="305" r:id="rId16"/>
    <p:sldId id="312" r:id="rId17"/>
    <p:sldId id="313" r:id="rId18"/>
    <p:sldId id="265" r:id="rId19"/>
    <p:sldId id="266" r:id="rId20"/>
    <p:sldId id="314" r:id="rId21"/>
    <p:sldId id="308" r:id="rId22"/>
    <p:sldId id="304" r:id="rId23"/>
    <p:sldId id="275" r:id="rId24"/>
    <p:sldId id="276" r:id="rId25"/>
    <p:sldId id="277" r:id="rId26"/>
    <p:sldId id="306" r:id="rId27"/>
    <p:sldId id="279" r:id="rId28"/>
    <p:sldId id="280" r:id="rId29"/>
    <p:sldId id="281" r:id="rId30"/>
    <p:sldId id="282" r:id="rId31"/>
    <p:sldId id="283" r:id="rId32"/>
    <p:sldId id="307" r:id="rId33"/>
    <p:sldId id="285" r:id="rId34"/>
    <p:sldId id="286" r:id="rId35"/>
    <p:sldId id="287" r:id="rId36"/>
    <p:sldId id="288" r:id="rId37"/>
    <p:sldId id="289" r:id="rId38"/>
    <p:sldId id="290"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324"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[Sources]</a:t>
            </a:r>
          </a:p>
          <a:p>
            <a:r>
              <a:rPr dirty="0"/>
              <a:t>- C:/Users/oehle/Documents/investment-course/lesson-01/Lesson 01 - What is investment - handout v2.docx</a:t>
            </a:r>
          </a:p>
          <a:p>
            <a:r>
              <a:rPr dirty="0"/>
              <a:t>- https://www.apec2026.cn/node_196.html</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judgement: students choose yes or no, then name the information they would need. Do not introduce the labels investment, speculation or saving yet. Return to this decision on slide 24.</a:t>
            </a:r>
          </a:p>
          <a:p>
            <a:endParaRPr/>
          </a:p>
          <a:p>
            <a:r>
              <a:t>[Sources]</a:t>
            </a:r>
          </a:p>
          <a:p>
            <a:r>
              <a:t>- C:/Users/oehle/Documents/igcse-term-outlines/outputs/investment-course-one-semester/Investment and Financial Decision-Making - 2026-27 Semester 1 Bilingual Department Leadership Learning Summary.pdf</a:t>
            </a:r>
          </a:p>
          <a:p>
            <a:r>
              <a:t>- C:/Users/oehle/Documents/investment-course/lesson-01/Lesson 01 - What is investment - handout v2.docx</a:t>
            </a:r>
          </a:p>
          <a:p>
            <a:r>
              <a:t>- https://www.pexels.com/photo/smartphone-displaying-stock-trading-app-interface-28682345/</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https://uk.finance.yahoo.com/news/investing-money-savings-risks-finances-050038406.html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https://www.cnbc.com/2019/12/18/how-to-build-an-emergency-savings-fund.html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 https://www.lepoint.fr/eureka/pourquoi-les-tirelires-ont-elles-la-forme-d-un-cochon-27-09-2024-2571328_4706.php</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B. Decisive clue: the expected payoff is supported by income and/or evidence about underlying value, while possible loss is accepted.</a:t>
            </a:r>
          </a:p>
          <a:p>
            <a:endParaRPr/>
          </a:p>
          <a:p>
            <a:r>
              <a:t>[Sources]</a:t>
            </a:r>
          </a:p>
          <a:p>
            <a:r>
              <a:t>- C:/Users/oehle/Documents/investment-course/lesson-01/Lesson 01 - What is investment - handout v2.docx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A. Decisive clue: the money is for a known near-term need, so liquidity and capital preservation matter most.</a:t>
            </a:r>
          </a:p>
          <a:p>
            <a:endParaRPr/>
          </a:p>
          <a:p>
            <a:r>
              <a:t>[Sources]</a:t>
            </a:r>
          </a:p>
          <a:p>
            <a:r>
              <a:t>- C:/Users/oehle/Documents/investment-course/lesson-01/Lesson 01 - What is investment - handout v2.docx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C. Decisive clue: the decision relies on a rumour and a predicted short-term price rise, with borrowing increasing possible loss.</a:t>
            </a:r>
          </a:p>
          <a:p>
            <a:endParaRPr/>
          </a:p>
          <a:p>
            <a:r>
              <a:t>[Sources]</a:t>
            </a:r>
          </a:p>
          <a:p>
            <a:r>
              <a:t>- C:/Users/oehle/Documents/investment-course/lesson-01/Lesson 01 - What is investment - handout v2.docx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C. Decisive clue: saving can prioritise capital preservation and liquidity even when it earns interest.</a:t>
            </a:r>
          </a:p>
          <a:p>
            <a:endParaRPr/>
          </a:p>
          <a:p>
            <a:r>
              <a:t>[Sources]</a:t>
            </a:r>
          </a:p>
          <a:p>
            <a:r>
              <a:t>- C:/Users/oehle/Documents/investment-course/lesson-01/Lesson 01 - What is investment - handout v2.docx</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Answer: C. Decisive clue: classify the decision by its expected payoff basis and evidence, not by the asset name.</a:t>
            </a:r>
          </a:p>
          <a:p>
            <a:endParaRPr/>
          </a:p>
          <a:p>
            <a:r>
              <a:t>[Sources]</a:t>
            </a:r>
          </a:p>
          <a:p>
            <a:r>
              <a:t>- C:/Users/oehle/Documents/investment-course/lesson-01/Lesson 01 - What is investment - handout v2.docx</a:t>
            </a:r>
          </a:p>
          <a:p>
            <a:r>
              <a:t>- C:/Users/oehle/Documents/igcse-term-outlines/outputs/investment-course-one-semester/Investment and Financial Decision-Making - 2026-27 Semester 1 Bilingual Department Leadership Learning Summary.pdf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 https://www.hanseaticbank.de/klarmacher/vorsorgen/die-betriebliche-altersvorsorge-kuendigen-geht-das-ueberhaupt</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 C:/Users/oehle/Documents/igcse-term-outlines/outputs/investment-course-one-semester/Investment and Financial Decision-Making - 2026-27 Semester 1 Bilingual Department Leadership Learning Summary.pdf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 https://www.coursehero.com/blog/product-team/</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 C:/Users/oehle/Documents/igcse-term-outlines/outputs/investment-course-one-semester/Investment and Financial Decision-Making - 2026-27 Semester 1 Bilingual Department Leadership Learning Summary.pdf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now return to slide 2 and improve their first judgement using evidence, possible loss and the expected payoff basis.</a:t>
            </a:r>
          </a:p>
          <a:p>
            <a:endParaRPr/>
          </a:p>
          <a:p>
            <a:r>
              <a:t>[Sources]</a:t>
            </a:r>
          </a:p>
          <a:p>
            <a:r>
              <a:t>- C:/Users/oehle/Documents/investment-course/lesson-01/Lesson 01 - What is investment - handout v2.docx</a:t>
            </a:r>
          </a:p>
          <a:p>
            <a:r>
              <a:t>- C:/Users/oehle/Documents/igcse-term-outlines/outputs/investment-course-one-semester/Investment and Financial Decision-Making - 2026-27 Semester 1 Bilingual Department Leadership Learning Summary.pdf</a:t>
            </a:r>
          </a:p>
          <a:p>
            <a:r>
              <a:t>- https://www.tori.ng/news/73034/nigerian-stock-market-investors-gain-n175b.html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a:t>
            </a:r>
          </a:p>
          <a:p>
            <a:r>
              <a:t>- C:/Users/oehle/Documents/investment-course/lesson-01/Lesson 01 - What is investment - handout v2.docx</a:t>
            </a:r>
          </a:p>
          <a:p>
            <a:r>
              <a:t>- C:/Users/oehle/Documents/igcse-term-outlines/outputs/investment-course-one-semester/Investment and Financial Decision-Making - 2026-27 Semester 1 Bilingual Department Leadership Learning Summary.pdf</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40C31-A7E6-CF6F-6C74-398A96ED8968}"/>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614258B1-786C-CCDE-E680-48165EEA15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BAEB133B-4E15-ECE7-D9A7-3CFA4433158F}"/>
              </a:ext>
            </a:extLst>
          </p:cNvPr>
          <p:cNvSpPr>
            <a:spLocks noGrp="1"/>
          </p:cNvSpPr>
          <p:nvPr>
            <p:ph type="dt" idx="10"/>
          </p:nvPr>
        </p:nvSpPr>
        <p:spPr/>
        <p:txBody>
          <a:bodyPr/>
          <a:lstStyle/>
          <a:p>
            <a:fld id="{215C897A-756B-4347-B7BE-67F9F8184678}" type="datetimeFigureOut">
              <a:t>2026.09.02</a:t>
            </a:fld>
            <a:endParaRPr/>
          </a:p>
        </p:txBody>
      </p:sp>
      <p:sp>
        <p:nvSpPr>
          <p:cNvPr id="5" name="Footer Placeholder 4">
            <a:extLst>
              <a:ext uri="{FF2B5EF4-FFF2-40B4-BE49-F238E27FC236}">
                <a16:creationId xmlns:a16="http://schemas.microsoft.com/office/drawing/2014/main" id="{12FE4D9C-58CB-8113-DFC3-F45C05B8C6C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4AB8E9-4CBA-44A4-995B-F8B448F1303A}"/>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divider">
    <p:bg>
      <p:bgRef idx="1001">
        <a:schemeClr val="bg2"/>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A5950E9-82F9-16C9-98B3-F199FB2F082C}"/>
              </a:ext>
            </a:extLst>
          </p:cNvPr>
          <p:cNvPicPr>
            <a:picLocks noChangeAspect="1"/>
          </p:cNvPicPr>
          <p:nvPr userDrawn="1"/>
        </p:nvPicPr>
        <p:blipFill>
          <a:blip r:embed="rId2"/>
          <a:stretch>
            <a:fillRect/>
          </a:stretch>
        </p:blipFill>
        <p:spPr>
          <a:xfrm>
            <a:off x="3239" y="0"/>
            <a:ext cx="12185522" cy="6858000"/>
          </a:xfrm>
          <a:prstGeom prst="rect">
            <a:avLst/>
          </a:prstGeom>
        </p:spPr>
      </p:pic>
      <p:sp>
        <p:nvSpPr>
          <p:cNvPr id="2" name="Title 1">
            <a:extLst>
              <a:ext uri="{FF2B5EF4-FFF2-40B4-BE49-F238E27FC236}">
                <a16:creationId xmlns:a16="http://schemas.microsoft.com/office/drawing/2014/main" id="{0FD13574-9FF2-05FE-AD13-4D425480CF36}"/>
              </a:ext>
            </a:extLst>
          </p:cNvPr>
          <p:cNvSpPr>
            <a:spLocks noGrp="1"/>
          </p:cNvSpPr>
          <p:nvPr>
            <p:ph type="title"/>
          </p:nvPr>
        </p:nvSpPr>
        <p:spPr>
          <a:xfrm>
            <a:off x="838200" y="2766218"/>
            <a:ext cx="10515600" cy="1325563"/>
          </a:xfrm>
        </p:spPr>
        <p:txBody>
          <a:bodyPr>
            <a:normAutofit/>
          </a:bodyPr>
          <a:lstStyle>
            <a:lvl1pPr algn="ctr">
              <a:defRPr sz="4800" b="1"/>
            </a:lvl1pPr>
          </a:lstStyle>
          <a:p>
            <a:r>
              <a:rPr lang="en-US" altLang="zh-CN" dirty="0"/>
              <a:t>Click to edit Master title style</a:t>
            </a:r>
            <a:endParaRPr lang="zh-CN" altLang="en-US" dirty="0"/>
          </a:p>
        </p:txBody>
      </p:sp>
      <p:sp>
        <p:nvSpPr>
          <p:cNvPr id="3" name="Date Placeholder 2">
            <a:extLst>
              <a:ext uri="{FF2B5EF4-FFF2-40B4-BE49-F238E27FC236}">
                <a16:creationId xmlns:a16="http://schemas.microsoft.com/office/drawing/2014/main" id="{0E93A917-7F2A-87D3-3B91-040590C6624E}"/>
              </a:ext>
            </a:extLst>
          </p:cNvPr>
          <p:cNvSpPr>
            <a:spLocks noGrp="1"/>
          </p:cNvSpPr>
          <p:nvPr>
            <p:ph type="dt" idx="10"/>
          </p:nvPr>
        </p:nvSpPr>
        <p:spPr/>
        <p:txBody>
          <a:bodyPr/>
          <a:lstStyle/>
          <a:p>
            <a:fld id="{215C897A-756B-4347-B7BE-67F9F8184678}" type="datetimeFigureOut">
              <a:rPr lang="en-US" altLang="zh-CN" smtClean="0"/>
              <a:t>9/2/2026</a:t>
            </a:fld>
            <a:endParaRPr lang="zh-CN" altLang="en-US"/>
          </a:p>
        </p:txBody>
      </p:sp>
      <p:sp>
        <p:nvSpPr>
          <p:cNvPr id="4" name="Footer Placeholder 3">
            <a:extLst>
              <a:ext uri="{FF2B5EF4-FFF2-40B4-BE49-F238E27FC236}">
                <a16:creationId xmlns:a16="http://schemas.microsoft.com/office/drawing/2014/main" id="{B332E39A-7264-3AD7-D1FB-3858886B99AA}"/>
              </a:ext>
            </a:extLst>
          </p:cNvPr>
          <p:cNvSpPr>
            <a:spLocks noGrp="1"/>
          </p:cNvSpPr>
          <p:nvPr>
            <p:ph type="ftr" idx="11"/>
          </p:nvPr>
        </p:nvSpPr>
        <p:spPr/>
        <p:txBody>
          <a:bodyPr/>
          <a:lstStyle/>
          <a:p>
            <a:endParaRPr lang="zh-CN" altLang="en-US"/>
          </a:p>
        </p:txBody>
      </p:sp>
      <p:sp>
        <p:nvSpPr>
          <p:cNvPr id="5" name="Slide Number Placeholder 4">
            <a:extLst>
              <a:ext uri="{FF2B5EF4-FFF2-40B4-BE49-F238E27FC236}">
                <a16:creationId xmlns:a16="http://schemas.microsoft.com/office/drawing/2014/main" id="{9D6F412A-15E8-97C8-8EF2-06E72F2C2046}"/>
              </a:ext>
            </a:extLst>
          </p:cNvPr>
          <p:cNvSpPr>
            <a:spLocks noGrp="1"/>
          </p:cNvSpPr>
          <p:nvPr>
            <p:ph type="sldNum" idx="12"/>
          </p:nvPr>
        </p:nvSpPr>
        <p:spPr/>
        <p:txBody>
          <a:bodyPr/>
          <a:lstStyle/>
          <a:p>
            <a:fld id="{B125C1BC-A9EE-43B2-941F-41C98DCEFBE8}" type="slidenum">
              <a:rPr lang="en-US" altLang="zh-CN" smtClean="0"/>
              <a:t>‹#›</a:t>
            </a:fld>
            <a:endParaRPr lang="zh-CN" altLang="en-US"/>
          </a:p>
        </p:txBody>
      </p:sp>
    </p:spTree>
    <p:extLst>
      <p:ext uri="{BB962C8B-B14F-4D97-AF65-F5344CB8AC3E}">
        <p14:creationId xmlns:p14="http://schemas.microsoft.com/office/powerpoint/2010/main" val="3850887747"/>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39949-CD78-E643-0AAD-859E09FDD0A1}"/>
              </a:ext>
            </a:extLst>
          </p:cNvPr>
          <p:cNvSpPr>
            <a:spLocks noGrp="1"/>
          </p:cNvSpPr>
          <p:nvPr>
            <p:ph type="title"/>
          </p:nvPr>
        </p:nvSpPr>
        <p:spPr/>
        <p:txBody>
          <a:bodyPr>
            <a:normAutofit/>
          </a:bodyPr>
          <a:lstStyle>
            <a:lvl1pPr>
              <a:buNone/>
              <a:defRPr sz="4000">
                <a:solidFill>
                  <a:schemeClr val="tx2">
                    <a:lumMod val="90000"/>
                    <a:lumOff val="10000"/>
                  </a:schemeClr>
                </a:solidFill>
              </a:defRPr>
            </a:lvl1pPr>
          </a:lstStyle>
          <a:p>
            <a:r>
              <a:rPr dirty="0"/>
              <a:t>Click to edit Master title style</a:t>
            </a:r>
          </a:p>
        </p:txBody>
      </p:sp>
      <p:sp>
        <p:nvSpPr>
          <p:cNvPr id="3" name="Content Placeholder 2">
            <a:extLst>
              <a:ext uri="{FF2B5EF4-FFF2-40B4-BE49-F238E27FC236}">
                <a16:creationId xmlns:a16="http://schemas.microsoft.com/office/drawing/2014/main" id="{A2A8F88A-00F8-FABD-6623-7925E9E14CA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2E1F7E2-A114-EA69-8513-1075CA7750DE}"/>
              </a:ext>
            </a:extLst>
          </p:cNvPr>
          <p:cNvSpPr>
            <a:spLocks noGrp="1"/>
          </p:cNvSpPr>
          <p:nvPr>
            <p:ph type="dt" idx="10"/>
          </p:nvPr>
        </p:nvSpPr>
        <p:spPr/>
        <p:txBody>
          <a:bodyPr/>
          <a:lstStyle/>
          <a:p>
            <a:fld id="{215C897A-756B-4347-B7BE-67F9F8184678}" type="datetimeFigureOut">
              <a:t>2026.09.02</a:t>
            </a:fld>
            <a:endParaRPr/>
          </a:p>
        </p:txBody>
      </p:sp>
      <p:sp>
        <p:nvSpPr>
          <p:cNvPr id="5" name="Footer Placeholder 4">
            <a:extLst>
              <a:ext uri="{FF2B5EF4-FFF2-40B4-BE49-F238E27FC236}">
                <a16:creationId xmlns:a16="http://schemas.microsoft.com/office/drawing/2014/main" id="{8B9A6A31-52B9-93FA-BFD3-A1AFDA93EEE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B41B0C23-1B47-BE09-9A93-F060C7A12DA2}"/>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419C6-2CAE-566B-B33F-F3A6EA06CECE}"/>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0ADA953B-4D3B-D56E-B9D8-F62A934DC1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64FA94B-1175-F7C9-B2E9-1ADDBF4C6C2D}"/>
              </a:ext>
            </a:extLst>
          </p:cNvPr>
          <p:cNvSpPr>
            <a:spLocks noGrp="1"/>
          </p:cNvSpPr>
          <p:nvPr>
            <p:ph type="dt" idx="10"/>
          </p:nvPr>
        </p:nvSpPr>
        <p:spPr/>
        <p:txBody>
          <a:bodyPr/>
          <a:lstStyle/>
          <a:p>
            <a:fld id="{215C897A-756B-4347-B7BE-67F9F8184678}" type="datetimeFigureOut">
              <a:t>2026.09.02</a:t>
            </a:fld>
            <a:endParaRPr/>
          </a:p>
        </p:txBody>
      </p:sp>
      <p:sp>
        <p:nvSpPr>
          <p:cNvPr id="5" name="Footer Placeholder 4">
            <a:extLst>
              <a:ext uri="{FF2B5EF4-FFF2-40B4-BE49-F238E27FC236}">
                <a16:creationId xmlns:a16="http://schemas.microsoft.com/office/drawing/2014/main" id="{1BFEE77B-5F23-75ED-FE40-7877CD43F19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A551DF6-61B4-3433-1503-1257F0935C8A}"/>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9D28-4BBA-6A41-F0CD-E00915C08FC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BC85A29-ED15-2702-3077-3660312DC998}"/>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AE1BF950-9049-EE20-5B7F-B28BF7739D5E}"/>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0A14AD9-934F-5C6D-BEF8-5F1812876CD7}"/>
              </a:ext>
            </a:extLst>
          </p:cNvPr>
          <p:cNvSpPr>
            <a:spLocks noGrp="1"/>
          </p:cNvSpPr>
          <p:nvPr>
            <p:ph type="dt" idx="10"/>
          </p:nvPr>
        </p:nvSpPr>
        <p:spPr/>
        <p:txBody>
          <a:bodyPr/>
          <a:lstStyle/>
          <a:p>
            <a:fld id="{215C897A-756B-4347-B7BE-67F9F8184678}" type="datetimeFigureOut">
              <a:t>2026.09.02</a:t>
            </a:fld>
            <a:endParaRPr/>
          </a:p>
        </p:txBody>
      </p:sp>
      <p:sp>
        <p:nvSpPr>
          <p:cNvPr id="6" name="Footer Placeholder 5">
            <a:extLst>
              <a:ext uri="{FF2B5EF4-FFF2-40B4-BE49-F238E27FC236}">
                <a16:creationId xmlns:a16="http://schemas.microsoft.com/office/drawing/2014/main" id="{D016DC94-16E8-4028-B91C-E0793D8AC2E3}"/>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4C2C6C0-E46F-838C-2235-BB949C2CD428}"/>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87481-28C9-36B8-BB5A-A48EB5BFE6C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E13935DB-018C-2AC2-55DD-4618F60DB9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35D95862-0413-B47F-5EA6-F8C658133FB3}"/>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8CE1305-8D0D-E5C7-E787-20ACC29B3D9E}"/>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43188980-E579-DEE1-5828-BCDCC6AD1C4A}"/>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1029A561-CCB2-1174-F947-83A5BAC81C16}"/>
              </a:ext>
            </a:extLst>
          </p:cNvPr>
          <p:cNvSpPr>
            <a:spLocks noGrp="1"/>
          </p:cNvSpPr>
          <p:nvPr>
            <p:ph type="dt" idx="10"/>
          </p:nvPr>
        </p:nvSpPr>
        <p:spPr/>
        <p:txBody>
          <a:bodyPr/>
          <a:lstStyle/>
          <a:p>
            <a:fld id="{215C897A-756B-4347-B7BE-67F9F8184678}" type="datetimeFigureOut">
              <a:t>2026.09.02</a:t>
            </a:fld>
            <a:endParaRPr/>
          </a:p>
        </p:txBody>
      </p:sp>
      <p:sp>
        <p:nvSpPr>
          <p:cNvPr id="8" name="Footer Placeholder 7">
            <a:extLst>
              <a:ext uri="{FF2B5EF4-FFF2-40B4-BE49-F238E27FC236}">
                <a16:creationId xmlns:a16="http://schemas.microsoft.com/office/drawing/2014/main" id="{47B90D5B-48EB-6D16-19FF-B121C98D94DB}"/>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1AB32215-F36B-8982-15B3-9ADF1B12530B}"/>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C8A60-5317-9D60-55E0-A5C712D22E0F}"/>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321AB46B-BEB8-0075-E4F0-FFD4DAB9FE22}"/>
              </a:ext>
            </a:extLst>
          </p:cNvPr>
          <p:cNvSpPr>
            <a:spLocks noGrp="1"/>
          </p:cNvSpPr>
          <p:nvPr>
            <p:ph type="dt" idx="10"/>
          </p:nvPr>
        </p:nvSpPr>
        <p:spPr/>
        <p:txBody>
          <a:bodyPr/>
          <a:lstStyle/>
          <a:p>
            <a:fld id="{215C897A-756B-4347-B7BE-67F9F8184678}" type="datetimeFigureOut">
              <a:t>2026.09.02</a:t>
            </a:fld>
            <a:endParaRPr/>
          </a:p>
        </p:txBody>
      </p:sp>
      <p:sp>
        <p:nvSpPr>
          <p:cNvPr id="4" name="Footer Placeholder 3">
            <a:extLst>
              <a:ext uri="{FF2B5EF4-FFF2-40B4-BE49-F238E27FC236}">
                <a16:creationId xmlns:a16="http://schemas.microsoft.com/office/drawing/2014/main" id="{49ED68B8-2C17-DB9F-98CA-7774C21DCA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D251ADF9-B6D2-3B08-0067-5D70FA2D5330}"/>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59CB8C-5882-D7F9-0C5F-5CAE7BB8CB04}"/>
              </a:ext>
            </a:extLst>
          </p:cNvPr>
          <p:cNvSpPr>
            <a:spLocks noGrp="1"/>
          </p:cNvSpPr>
          <p:nvPr>
            <p:ph type="dt" idx="10"/>
          </p:nvPr>
        </p:nvSpPr>
        <p:spPr/>
        <p:txBody>
          <a:bodyPr/>
          <a:lstStyle/>
          <a:p>
            <a:fld id="{215C897A-756B-4347-B7BE-67F9F8184678}" type="datetimeFigureOut">
              <a:t>2026.09.02</a:t>
            </a:fld>
            <a:endParaRPr/>
          </a:p>
        </p:txBody>
      </p:sp>
      <p:sp>
        <p:nvSpPr>
          <p:cNvPr id="3" name="Footer Placeholder 2">
            <a:extLst>
              <a:ext uri="{FF2B5EF4-FFF2-40B4-BE49-F238E27FC236}">
                <a16:creationId xmlns:a16="http://schemas.microsoft.com/office/drawing/2014/main" id="{3C5A38BF-916A-394C-A009-EA8384497DBD}"/>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301AC420-6534-BA75-9579-11901021DAB3}"/>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4C0B0-D4EF-8BE0-3D87-434572F0D275}"/>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4DEB04DA-348F-0CA0-3EB3-6B5B5E66D3FF}"/>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3A024A34-06D8-8410-DAA7-584D6654141F}"/>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71C790C3-85ED-A42A-E800-B96767E89D0B}"/>
              </a:ext>
            </a:extLst>
          </p:cNvPr>
          <p:cNvSpPr>
            <a:spLocks noGrp="1"/>
          </p:cNvSpPr>
          <p:nvPr>
            <p:ph type="dt" idx="10"/>
          </p:nvPr>
        </p:nvSpPr>
        <p:spPr/>
        <p:txBody>
          <a:bodyPr/>
          <a:lstStyle/>
          <a:p>
            <a:fld id="{215C897A-756B-4347-B7BE-67F9F8184678}" type="datetimeFigureOut">
              <a:t>2026.09.02</a:t>
            </a:fld>
            <a:endParaRPr/>
          </a:p>
        </p:txBody>
      </p:sp>
      <p:sp>
        <p:nvSpPr>
          <p:cNvPr id="6" name="Footer Placeholder 5">
            <a:extLst>
              <a:ext uri="{FF2B5EF4-FFF2-40B4-BE49-F238E27FC236}">
                <a16:creationId xmlns:a16="http://schemas.microsoft.com/office/drawing/2014/main" id="{BFC8CE1A-3A99-4FA9-0273-D6593A0C728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0825D52D-C5CB-071F-A944-F9889377248C}"/>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A96CC-38AC-1EF5-648E-E7F422D731D9}"/>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BD0507D7-2DF6-FAC2-D4BB-A4AB3244AF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EFBF6656-6D39-2FD8-5252-482351FF6B4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0CA16A1-82B5-DA65-7D5C-1071657EA518}"/>
              </a:ext>
            </a:extLst>
          </p:cNvPr>
          <p:cNvSpPr>
            <a:spLocks noGrp="1"/>
          </p:cNvSpPr>
          <p:nvPr>
            <p:ph type="dt" idx="10"/>
          </p:nvPr>
        </p:nvSpPr>
        <p:spPr/>
        <p:txBody>
          <a:bodyPr/>
          <a:lstStyle/>
          <a:p>
            <a:fld id="{215C897A-756B-4347-B7BE-67F9F8184678}" type="datetimeFigureOut">
              <a:t>2026.09.02</a:t>
            </a:fld>
            <a:endParaRPr/>
          </a:p>
        </p:txBody>
      </p:sp>
      <p:sp>
        <p:nvSpPr>
          <p:cNvPr id="6" name="Footer Placeholder 5">
            <a:extLst>
              <a:ext uri="{FF2B5EF4-FFF2-40B4-BE49-F238E27FC236}">
                <a16:creationId xmlns:a16="http://schemas.microsoft.com/office/drawing/2014/main" id="{12523671-72F7-98E8-B10C-E2B3321B3CB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A0913F0-CB9B-234C-E784-84F1D5C9D9DF}"/>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57AC8-A107-6BEF-E21C-C9F2BB83AEE8}"/>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0E64E386-D025-1C80-A103-5968FBBCBA1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92B3C2C-FD10-2FF9-27A8-1744C93C6637}"/>
              </a:ext>
            </a:extLst>
          </p:cNvPr>
          <p:cNvSpPr>
            <a:spLocks noGrp="1"/>
          </p:cNvSpPr>
          <p:nvPr>
            <p:ph type="dt" idx="10"/>
          </p:nvPr>
        </p:nvSpPr>
        <p:spPr/>
        <p:txBody>
          <a:bodyPr/>
          <a:lstStyle/>
          <a:p>
            <a:fld id="{215C897A-756B-4347-B7BE-67F9F8184678}" type="datetimeFigureOut">
              <a:t>2026.09.02</a:t>
            </a:fld>
            <a:endParaRPr/>
          </a:p>
        </p:txBody>
      </p:sp>
      <p:sp>
        <p:nvSpPr>
          <p:cNvPr id="5" name="Footer Placeholder 4">
            <a:extLst>
              <a:ext uri="{FF2B5EF4-FFF2-40B4-BE49-F238E27FC236}">
                <a16:creationId xmlns:a16="http://schemas.microsoft.com/office/drawing/2014/main" id="{52BEEF54-8ADC-991C-7D9C-C7C12EA43B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9079658-DCDC-95B9-20D6-1ACA48D1B127}"/>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9EDAE0-532D-25E1-1EA2-CA7D31C2BBEF}"/>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C223E2A-A142-D64E-7901-D79B21152BEE}"/>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3DD5A47-47AF-2E22-3F5F-00D8029CCBCF}"/>
              </a:ext>
            </a:extLst>
          </p:cNvPr>
          <p:cNvSpPr>
            <a:spLocks noGrp="1"/>
          </p:cNvSpPr>
          <p:nvPr>
            <p:ph type="dt" idx="10"/>
          </p:nvPr>
        </p:nvSpPr>
        <p:spPr/>
        <p:txBody>
          <a:bodyPr/>
          <a:lstStyle/>
          <a:p>
            <a:fld id="{215C897A-756B-4347-B7BE-67F9F8184678}" type="datetimeFigureOut">
              <a:t>2026.09.02</a:t>
            </a:fld>
            <a:endParaRPr/>
          </a:p>
        </p:txBody>
      </p:sp>
      <p:sp>
        <p:nvSpPr>
          <p:cNvPr id="5" name="Footer Placeholder 4">
            <a:extLst>
              <a:ext uri="{FF2B5EF4-FFF2-40B4-BE49-F238E27FC236}">
                <a16:creationId xmlns:a16="http://schemas.microsoft.com/office/drawing/2014/main" id="{CC6E2697-B3A1-C43C-9380-7183DFA939C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5D8AFB7-62EB-363B-3021-3BA01BEEB6C5}"/>
              </a:ext>
            </a:extLst>
          </p:cNvPr>
          <p:cNvSpPr>
            <a:spLocks noGrp="1"/>
          </p:cNvSpPr>
          <p:nvPr>
            <p:ph type="sldNum" idx="12"/>
          </p:nvPr>
        </p:nvSpPr>
        <p:spPr/>
        <p:txBody>
          <a:bodyPr/>
          <a:lstStyle/>
          <a:p>
            <a:fld id="{B125C1BC-A9EE-43B2-941F-41C98DCEFBE8}"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C06A0-D6B8-2953-A94F-665DA5DB1691}"/>
              </a:ext>
            </a:extLst>
          </p:cNvPr>
          <p:cNvSpPr>
            <a:spLocks noGrp="1"/>
          </p:cNvSpPr>
          <p:nvPr>
            <p:ph type="title"/>
          </p:nvPr>
        </p:nvSpPr>
        <p:spPr>
          <a:xfrm>
            <a:off x="838200" y="1405905"/>
            <a:ext cx="10515600" cy="1325563"/>
          </a:xfrm>
        </p:spPr>
        <p:txBody>
          <a:bodyPr>
            <a:normAutofit/>
          </a:bodyPr>
          <a:lstStyle>
            <a:lvl1pPr algn="ctr">
              <a:defRPr sz="5400"/>
            </a:lvl1pPr>
          </a:lstStyle>
          <a:p>
            <a:r>
              <a:rPr lang="en-US" altLang="zh-CN" dirty="0"/>
              <a:t>Click to edit Master title style</a:t>
            </a:r>
            <a:endParaRPr lang="zh-CN" altLang="en-US" dirty="0"/>
          </a:p>
        </p:txBody>
      </p:sp>
      <p:sp>
        <p:nvSpPr>
          <p:cNvPr id="3" name="Date Placeholder 2">
            <a:extLst>
              <a:ext uri="{FF2B5EF4-FFF2-40B4-BE49-F238E27FC236}">
                <a16:creationId xmlns:a16="http://schemas.microsoft.com/office/drawing/2014/main" id="{6515F6CC-54C4-ED8E-E344-8B4767DF3EE3}"/>
              </a:ext>
            </a:extLst>
          </p:cNvPr>
          <p:cNvSpPr>
            <a:spLocks noGrp="1"/>
          </p:cNvSpPr>
          <p:nvPr>
            <p:ph type="dt" idx="10"/>
          </p:nvPr>
        </p:nvSpPr>
        <p:spPr/>
        <p:txBody>
          <a:bodyPr/>
          <a:lstStyle/>
          <a:p>
            <a:fld id="{215C897A-756B-4347-B7BE-67F9F8184678}" type="datetimeFigureOut">
              <a:rPr lang="en-US" altLang="zh-CN" smtClean="0"/>
              <a:t>9/2/2026</a:t>
            </a:fld>
            <a:endParaRPr lang="zh-CN" altLang="en-US"/>
          </a:p>
        </p:txBody>
      </p:sp>
      <p:sp>
        <p:nvSpPr>
          <p:cNvPr id="4" name="Footer Placeholder 3">
            <a:extLst>
              <a:ext uri="{FF2B5EF4-FFF2-40B4-BE49-F238E27FC236}">
                <a16:creationId xmlns:a16="http://schemas.microsoft.com/office/drawing/2014/main" id="{9104274F-129A-D1C3-73AA-C6E23710C265}"/>
              </a:ext>
            </a:extLst>
          </p:cNvPr>
          <p:cNvSpPr>
            <a:spLocks noGrp="1"/>
          </p:cNvSpPr>
          <p:nvPr>
            <p:ph type="ftr" idx="11"/>
          </p:nvPr>
        </p:nvSpPr>
        <p:spPr/>
        <p:txBody>
          <a:bodyPr/>
          <a:lstStyle/>
          <a:p>
            <a:endParaRPr lang="zh-CN" altLang="en-US"/>
          </a:p>
        </p:txBody>
      </p:sp>
      <p:sp>
        <p:nvSpPr>
          <p:cNvPr id="5" name="Slide Number Placeholder 4">
            <a:extLst>
              <a:ext uri="{FF2B5EF4-FFF2-40B4-BE49-F238E27FC236}">
                <a16:creationId xmlns:a16="http://schemas.microsoft.com/office/drawing/2014/main" id="{EA8DD721-84DE-27D7-7382-79508FAC666F}"/>
              </a:ext>
            </a:extLst>
          </p:cNvPr>
          <p:cNvSpPr>
            <a:spLocks noGrp="1"/>
          </p:cNvSpPr>
          <p:nvPr>
            <p:ph type="sldNum" idx="12"/>
          </p:nvPr>
        </p:nvSpPr>
        <p:spPr/>
        <p:txBody>
          <a:bodyPr/>
          <a:lstStyle/>
          <a:p>
            <a:fld id="{B125C1BC-A9EE-43B2-941F-41C98DCEFBE8}" type="slidenum">
              <a:rPr lang="en-US" altLang="zh-CN" smtClean="0"/>
              <a:t>‹#›</a:t>
            </a:fld>
            <a:endParaRPr lang="zh-CN" altLang="en-US"/>
          </a:p>
        </p:txBody>
      </p:sp>
      <p:sp>
        <p:nvSpPr>
          <p:cNvPr id="7" name="Content Placeholder 2">
            <a:extLst>
              <a:ext uri="{FF2B5EF4-FFF2-40B4-BE49-F238E27FC236}">
                <a16:creationId xmlns:a16="http://schemas.microsoft.com/office/drawing/2014/main" id="{82729BF1-177A-1916-2FC6-8292FF90A1E4}"/>
              </a:ext>
            </a:extLst>
          </p:cNvPr>
          <p:cNvSpPr>
            <a:spLocks noGrp="1"/>
          </p:cNvSpPr>
          <p:nvPr>
            <p:ph idx="1"/>
          </p:nvPr>
        </p:nvSpPr>
        <p:spPr>
          <a:xfrm>
            <a:off x="838200" y="2973659"/>
            <a:ext cx="10515600" cy="3203304"/>
          </a:xfrm>
        </p:spPr>
        <p:txBody>
          <a:bodyPr/>
          <a:lstStyle/>
          <a:p>
            <a:pPr lvl="0">
              <a:buNone/>
            </a:pPr>
            <a:r>
              <a:rPr dirty="0"/>
              <a:t>Click to edit Master text styles</a:t>
            </a:r>
          </a:p>
          <a:p>
            <a:pPr lvl="1">
              <a:buNone/>
            </a:pPr>
            <a:r>
              <a:rPr dirty="0"/>
              <a:t>Second level</a:t>
            </a:r>
          </a:p>
          <a:p>
            <a:pPr lvl="2">
              <a:buNone/>
            </a:pPr>
            <a:r>
              <a:rPr dirty="0"/>
              <a:t>Third level</a:t>
            </a:r>
          </a:p>
          <a:p>
            <a:pPr lvl="3">
              <a:buNone/>
            </a:pPr>
            <a:r>
              <a:rPr dirty="0"/>
              <a:t>Fourth level</a:t>
            </a:r>
          </a:p>
          <a:p>
            <a:pPr lvl="4">
              <a:buNone/>
            </a:pPr>
            <a:r>
              <a:rPr dirty="0"/>
              <a:t>Fifth level</a:t>
            </a:r>
          </a:p>
        </p:txBody>
      </p:sp>
    </p:spTree>
    <p:extLst>
      <p:ext uri="{BB962C8B-B14F-4D97-AF65-F5344CB8AC3E}">
        <p14:creationId xmlns:p14="http://schemas.microsoft.com/office/powerpoint/2010/main" val="3636222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D20DC8-DCE3-A103-1D88-A82751FCCCD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79BB9AD6-1C43-4F75-D382-EAEFBD03A225}"/>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5504F01-46CE-D06D-2D4D-3BA090E33CDA}"/>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215C897A-756B-4347-B7BE-67F9F8184678}" type="datetimeFigureOut">
              <a:t>2026.09.02</a:t>
            </a:fld>
            <a:endParaRPr/>
          </a:p>
        </p:txBody>
      </p:sp>
      <p:sp>
        <p:nvSpPr>
          <p:cNvPr id="5" name="Footer Placeholder 4">
            <a:extLst>
              <a:ext uri="{FF2B5EF4-FFF2-40B4-BE49-F238E27FC236}">
                <a16:creationId xmlns:a16="http://schemas.microsoft.com/office/drawing/2014/main" id="{46A5B816-E33A-EA33-5019-C0C206A326D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EF0F2935-C73C-9292-EF27-B601E8004AB6}"/>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B125C1BC-A9EE-43B2-941F-41C98DCEFB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552B7E-AFDF-CAEE-26D2-7B844E7D1732}"/>
              </a:ext>
            </a:extLst>
          </p:cNvPr>
          <p:cNvSpPr>
            <a:spLocks noGrp="1"/>
          </p:cNvSpPr>
          <p:nvPr>
            <p:ph type="ctrTitle"/>
          </p:nvPr>
        </p:nvSpPr>
        <p:spPr/>
        <p:txBody>
          <a:bodyPr/>
          <a:lstStyle/>
          <a:p>
            <a:endParaRPr lang="zh-CN" altLang="en-US"/>
          </a:p>
        </p:txBody>
      </p:sp>
      <p:pic>
        <p:nvPicPr>
          <p:cNvPr id="7" name="Picture 6">
            <a:extLst>
              <a:ext uri="{FF2B5EF4-FFF2-40B4-BE49-F238E27FC236}">
                <a16:creationId xmlns:a16="http://schemas.microsoft.com/office/drawing/2014/main" id="{4A7B26AB-9686-1773-D42F-8A8934BC4C85}"/>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1098961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A2A6FCC-379B-412F-171A-CF5F4496290D}"/>
              </a:ext>
            </a:extLst>
          </p:cNvPr>
          <p:cNvSpPr>
            <a:spLocks noGrp="1"/>
          </p:cNvSpPr>
          <p:nvPr>
            <p:ph type="title"/>
          </p:nvPr>
        </p:nvSpPr>
        <p:spPr/>
        <p:txBody>
          <a:bodyPr/>
          <a:lstStyle/>
          <a:p>
            <a:endParaRPr lang="zh-CN" altLang="en-US"/>
          </a:p>
        </p:txBody>
      </p:sp>
      <p:pic>
        <p:nvPicPr>
          <p:cNvPr id="6" name="Picture 5">
            <a:extLst>
              <a:ext uri="{FF2B5EF4-FFF2-40B4-BE49-F238E27FC236}">
                <a16:creationId xmlns:a16="http://schemas.microsoft.com/office/drawing/2014/main" id="{E5E30C9B-F53C-2219-6177-14A59F32F4E3}"/>
              </a:ext>
            </a:extLst>
          </p:cNvPr>
          <p:cNvPicPr>
            <a:picLocks noChangeAspect="1"/>
          </p:cNvPicPr>
          <p:nvPr/>
        </p:nvPicPr>
        <p:blipFill>
          <a:blip r:embed="rId3"/>
          <a:stretch>
            <a:fillRect/>
          </a:stretch>
        </p:blipFill>
        <p:spPr>
          <a:xfrm>
            <a:off x="3239" y="0"/>
            <a:ext cx="12185522" cy="6858000"/>
          </a:xfrm>
          <a:prstGeom prst="rect">
            <a:avLst/>
          </a:prstGeom>
        </p:spPr>
      </p:pic>
    </p:spTree>
    <p:extLst>
      <p:ext uri="{BB962C8B-B14F-4D97-AF65-F5344CB8AC3E}">
        <p14:creationId xmlns:p14="http://schemas.microsoft.com/office/powerpoint/2010/main" val="20028319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8F6198F-3F81-5939-B672-E59465D74AC7}"/>
              </a:ext>
            </a:extLst>
          </p:cNvPr>
          <p:cNvPicPr>
            <a:picLocks noChangeAspect="1"/>
          </p:cNvPicPr>
          <p:nvPr/>
        </p:nvPicPr>
        <p:blipFill>
          <a:blip r:embed="rId2"/>
          <a:stretch>
            <a:fillRect/>
          </a:stretch>
        </p:blipFill>
        <p:spPr>
          <a:xfrm>
            <a:off x="3239" y="0"/>
            <a:ext cx="12185522" cy="6858000"/>
          </a:xfrm>
          <a:prstGeom prst="rect">
            <a:avLst/>
          </a:prstGeom>
        </p:spPr>
      </p:pic>
      <p:sp>
        <p:nvSpPr>
          <p:cNvPr id="2" name="Title 1">
            <a:extLst>
              <a:ext uri="{FF2B5EF4-FFF2-40B4-BE49-F238E27FC236}">
                <a16:creationId xmlns:a16="http://schemas.microsoft.com/office/drawing/2014/main" id="{BA6F2455-E349-05AF-6801-DE0AD8FF5058}"/>
              </a:ext>
            </a:extLst>
          </p:cNvPr>
          <p:cNvSpPr>
            <a:spLocks noGrp="1"/>
          </p:cNvSpPr>
          <p:nvPr>
            <p:ph type="title"/>
          </p:nvPr>
        </p:nvSpPr>
        <p:spPr/>
        <p:txBody>
          <a:bodyPr>
            <a:normAutofit/>
          </a:bodyPr>
          <a:lstStyle/>
          <a:p>
            <a:pPr algn="ctr"/>
            <a:r>
              <a:rPr lang="en-US" altLang="zh-CN" sz="6000" dirty="0">
                <a:solidFill>
                  <a:schemeClr val="bg1"/>
                </a:solidFill>
              </a:rPr>
              <a:t>Today</a:t>
            </a:r>
            <a:endParaRPr lang="zh-CN" altLang="en-US" sz="6000" dirty="0">
              <a:solidFill>
                <a:schemeClr val="bg1"/>
              </a:solidFill>
            </a:endParaRPr>
          </a:p>
        </p:txBody>
      </p:sp>
      <p:sp>
        <p:nvSpPr>
          <p:cNvPr id="3" name="Content Placeholder 2">
            <a:extLst>
              <a:ext uri="{FF2B5EF4-FFF2-40B4-BE49-F238E27FC236}">
                <a16:creationId xmlns:a16="http://schemas.microsoft.com/office/drawing/2014/main" id="{A2558F5A-E2C3-D9E1-FAAF-45DCBE3177D8}"/>
              </a:ext>
            </a:extLst>
          </p:cNvPr>
          <p:cNvSpPr>
            <a:spLocks noGrp="1"/>
          </p:cNvSpPr>
          <p:nvPr>
            <p:ph idx="1"/>
          </p:nvPr>
        </p:nvSpPr>
        <p:spPr>
          <a:xfrm>
            <a:off x="838200" y="1825625"/>
            <a:ext cx="8234464" cy="4351338"/>
          </a:xfrm>
        </p:spPr>
        <p:txBody>
          <a:bodyPr>
            <a:normAutofit/>
          </a:bodyPr>
          <a:lstStyle/>
          <a:p>
            <a:pPr marL="514350" indent="-514350">
              <a:lnSpc>
                <a:spcPct val="100000"/>
              </a:lnSpc>
              <a:spcAft>
                <a:spcPts val="1200"/>
              </a:spcAft>
              <a:buFont typeface="+mj-lt"/>
              <a:buAutoNum type="arabicPeriod"/>
            </a:pPr>
            <a:r>
              <a:rPr lang="en-US" altLang="zh-CN" sz="3600" dirty="0">
                <a:solidFill>
                  <a:schemeClr val="bg1"/>
                </a:solidFill>
              </a:rPr>
              <a:t>What is </a:t>
            </a:r>
            <a:r>
              <a:rPr lang="en-US" altLang="zh-CN" sz="3600" b="1" dirty="0">
                <a:solidFill>
                  <a:schemeClr val="bg1"/>
                </a:solidFill>
              </a:rPr>
              <a:t>investment</a:t>
            </a:r>
            <a:r>
              <a:rPr lang="en-US" altLang="zh-CN" sz="3600" dirty="0">
                <a:solidFill>
                  <a:schemeClr val="bg1"/>
                </a:solidFill>
              </a:rPr>
              <a:t>?</a:t>
            </a:r>
          </a:p>
          <a:p>
            <a:pPr marL="514350" indent="-514350">
              <a:lnSpc>
                <a:spcPct val="100000"/>
              </a:lnSpc>
              <a:spcAft>
                <a:spcPts val="1200"/>
              </a:spcAft>
              <a:buFont typeface="+mj-lt"/>
              <a:buAutoNum type="arabicPeriod"/>
            </a:pPr>
            <a:r>
              <a:rPr lang="en-US" altLang="zh-CN" sz="3600" dirty="0">
                <a:solidFill>
                  <a:schemeClr val="bg1"/>
                </a:solidFill>
              </a:rPr>
              <a:t>What is </a:t>
            </a:r>
            <a:r>
              <a:rPr lang="en-US" altLang="zh-CN" sz="3600" b="1" dirty="0">
                <a:solidFill>
                  <a:schemeClr val="bg1"/>
                </a:solidFill>
              </a:rPr>
              <a:t>financial investment</a:t>
            </a:r>
            <a:r>
              <a:rPr lang="en-US" altLang="zh-CN" sz="3600" dirty="0">
                <a:solidFill>
                  <a:schemeClr val="bg1"/>
                </a:solidFill>
              </a:rPr>
              <a:t>?</a:t>
            </a:r>
          </a:p>
          <a:p>
            <a:pPr marL="514350" indent="-514350">
              <a:lnSpc>
                <a:spcPct val="100000"/>
              </a:lnSpc>
              <a:spcAft>
                <a:spcPts val="1200"/>
              </a:spcAft>
              <a:buFont typeface="+mj-lt"/>
              <a:buAutoNum type="arabicPeriod"/>
            </a:pPr>
            <a:r>
              <a:rPr lang="en-US" altLang="zh-CN" sz="3600" dirty="0">
                <a:solidFill>
                  <a:schemeClr val="bg1"/>
                </a:solidFill>
              </a:rPr>
              <a:t>Distinguish between </a:t>
            </a:r>
            <a:r>
              <a:rPr lang="en-US" altLang="zh-CN" sz="3600" b="1" dirty="0">
                <a:solidFill>
                  <a:schemeClr val="bg1"/>
                </a:solidFill>
              </a:rPr>
              <a:t>investment, saving and speculation</a:t>
            </a:r>
            <a:r>
              <a:rPr lang="en-US" altLang="zh-CN" sz="3600" dirty="0">
                <a:solidFill>
                  <a:schemeClr val="bg1"/>
                </a:solidFill>
              </a:rPr>
              <a:t>.</a:t>
            </a:r>
            <a:endParaRPr lang="zh-CN" altLang="en-US" sz="3600" dirty="0">
              <a:solidFill>
                <a:schemeClr val="bg1"/>
              </a:solidFill>
            </a:endParaRPr>
          </a:p>
        </p:txBody>
      </p:sp>
    </p:spTree>
    <p:extLst>
      <p:ext uri="{BB962C8B-B14F-4D97-AF65-F5344CB8AC3E}">
        <p14:creationId xmlns:p14="http://schemas.microsoft.com/office/powerpoint/2010/main" val="2169184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1C4BB-EE82-454A-95E9-D176597838BE}"/>
              </a:ext>
            </a:extLst>
          </p:cNvPr>
          <p:cNvSpPr>
            <a:spLocks noGrp="1"/>
          </p:cNvSpPr>
          <p:nvPr>
            <p:ph type="title"/>
          </p:nvPr>
        </p:nvSpPr>
        <p:spPr/>
        <p:txBody>
          <a:bodyPr/>
          <a:lstStyle/>
          <a:p>
            <a:pPr algn="ctr"/>
            <a:r>
              <a:rPr lang="en-US" altLang="zh-CN" dirty="0"/>
              <a:t>1. What is investment?</a:t>
            </a:r>
            <a:endParaRPr lang="zh-CN" altLang="en-US" dirty="0"/>
          </a:p>
        </p:txBody>
      </p:sp>
    </p:spTree>
    <p:extLst>
      <p:ext uri="{BB962C8B-B14F-4D97-AF65-F5344CB8AC3E}">
        <p14:creationId xmlns:p14="http://schemas.microsoft.com/office/powerpoint/2010/main" val="1911187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DE821-8FF1-125E-DC93-74159ED18FD8}"/>
              </a:ext>
            </a:extLst>
          </p:cNvPr>
          <p:cNvSpPr>
            <a:spLocks noGrp="1"/>
          </p:cNvSpPr>
          <p:nvPr>
            <p:ph type="title"/>
          </p:nvPr>
        </p:nvSpPr>
        <p:spPr>
          <a:xfrm>
            <a:off x="838200" y="153242"/>
            <a:ext cx="10515600" cy="1325563"/>
          </a:xfrm>
        </p:spPr>
        <p:txBody>
          <a:bodyPr>
            <a:normAutofit/>
          </a:bodyPr>
          <a:lstStyle/>
          <a:p>
            <a:pPr algn="ctr"/>
            <a:r>
              <a:rPr lang="en-US" altLang="zh-CN" sz="3600" b="1" dirty="0"/>
              <a:t>Investment: </a:t>
            </a:r>
            <a:r>
              <a:rPr lang="en-US" altLang="zh-CN" sz="3600" dirty="0"/>
              <a:t>using </a:t>
            </a:r>
            <a:r>
              <a:rPr lang="zh-CN" altLang="zh-CN" sz="3600" dirty="0"/>
              <a:t>money or other resources now because you </a:t>
            </a:r>
            <a:r>
              <a:rPr lang="zh-CN" altLang="zh-CN" sz="3600" b="1" dirty="0"/>
              <a:t>expect a future benefit</a:t>
            </a:r>
            <a:endParaRPr lang="zh-CN" altLang="en-US" sz="3600" b="1" dirty="0"/>
          </a:p>
        </p:txBody>
      </p:sp>
      <p:pic>
        <p:nvPicPr>
          <p:cNvPr id="4" name="Picture 3" descr="How to Motivate Your Child to Practice Their Instrument - CIOMIT">
            <a:extLst>
              <a:ext uri="{FF2B5EF4-FFF2-40B4-BE49-F238E27FC236}">
                <a16:creationId xmlns:a16="http://schemas.microsoft.com/office/drawing/2014/main" id="{36CD26A2-9BAC-F986-B491-57B15372A64C}"/>
              </a:ext>
            </a:extLst>
          </p:cNvPr>
          <p:cNvPicPr>
            <a:picLocks noChangeAspect="1"/>
          </p:cNvPicPr>
          <p:nvPr/>
        </p:nvPicPr>
        <p:blipFill>
          <a:blip r:embed="rId2"/>
          <a:stretch>
            <a:fillRect/>
          </a:stretch>
        </p:blipFill>
        <p:spPr>
          <a:xfrm>
            <a:off x="359585" y="1690688"/>
            <a:ext cx="4170620" cy="2780413"/>
          </a:xfrm>
          <a:prstGeom prst="rect">
            <a:avLst/>
          </a:prstGeom>
          <a:ln>
            <a:noFill/>
          </a:ln>
          <a:effectLst>
            <a:outerShdw blurRad="292100" dist="139700" dir="2700000" algn="tl" rotWithShape="0">
              <a:srgbClr val="333333">
                <a:alpha val="65000"/>
              </a:srgbClr>
            </a:outerShdw>
          </a:effectLst>
        </p:spPr>
      </p:pic>
      <p:pic>
        <p:nvPicPr>
          <p:cNvPr id="5" name="Picture 4" descr="10 valuable tricks for buying used machines online - Machineseeker Blog">
            <a:extLst>
              <a:ext uri="{FF2B5EF4-FFF2-40B4-BE49-F238E27FC236}">
                <a16:creationId xmlns:a16="http://schemas.microsoft.com/office/drawing/2014/main" id="{F028E87A-01B4-A7B4-79E2-4A43A25C8FA1}"/>
              </a:ext>
            </a:extLst>
          </p:cNvPr>
          <p:cNvPicPr>
            <a:picLocks noChangeAspect="1"/>
          </p:cNvPicPr>
          <p:nvPr/>
        </p:nvPicPr>
        <p:blipFill>
          <a:blip r:embed="rId3"/>
          <a:stretch>
            <a:fillRect/>
          </a:stretch>
        </p:blipFill>
        <p:spPr>
          <a:xfrm>
            <a:off x="3736558" y="2377901"/>
            <a:ext cx="4501940" cy="3001294"/>
          </a:xfrm>
          <a:prstGeom prst="rect">
            <a:avLst/>
          </a:prstGeom>
          <a:ln>
            <a:noFill/>
          </a:ln>
          <a:effectLst>
            <a:outerShdw blurRad="292100" dist="139700" dir="2700000" algn="tl" rotWithShape="0">
              <a:srgbClr val="333333">
                <a:alpha val="65000"/>
              </a:srgbClr>
            </a:outerShdw>
          </a:effectLst>
        </p:spPr>
      </p:pic>
      <p:pic>
        <p:nvPicPr>
          <p:cNvPr id="6" name="Picture 5" descr="How to buy stocks for beginners - InvestmentNews">
            <a:extLst>
              <a:ext uri="{FF2B5EF4-FFF2-40B4-BE49-F238E27FC236}">
                <a16:creationId xmlns:a16="http://schemas.microsoft.com/office/drawing/2014/main" id="{FA02E510-2CCD-9F67-43CB-FB6C30493F68}"/>
              </a:ext>
            </a:extLst>
          </p:cNvPr>
          <p:cNvPicPr>
            <a:picLocks noChangeAspect="1"/>
          </p:cNvPicPr>
          <p:nvPr/>
        </p:nvPicPr>
        <p:blipFill>
          <a:blip r:embed="rId4"/>
          <a:stretch>
            <a:fillRect/>
          </a:stretch>
        </p:blipFill>
        <p:spPr>
          <a:xfrm>
            <a:off x="7598220" y="3924015"/>
            <a:ext cx="3853289" cy="25688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86019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4FA4A450-5868-14A7-A656-F7429D730860}"/>
              </a:ext>
            </a:extLst>
          </p:cNvPr>
          <p:cNvSpPr>
            <a:spLocks noGrp="1"/>
          </p:cNvSpPr>
          <p:nvPr>
            <p:ph type="title"/>
          </p:nvPr>
        </p:nvSpPr>
        <p:spPr/>
        <p:txBody>
          <a:bodyPr/>
          <a:lstStyle/>
          <a:p>
            <a:endParaRPr lang="zh-CN" altLang="en-US"/>
          </a:p>
        </p:txBody>
      </p:sp>
      <p:pic>
        <p:nvPicPr>
          <p:cNvPr id="15" name="Picture 14">
            <a:extLst>
              <a:ext uri="{FF2B5EF4-FFF2-40B4-BE49-F238E27FC236}">
                <a16:creationId xmlns:a16="http://schemas.microsoft.com/office/drawing/2014/main" id="{BFD0721F-E2B1-1681-8C17-8BC8EB5B322B}"/>
              </a:ext>
            </a:extLst>
          </p:cNvPr>
          <p:cNvPicPr>
            <a:picLocks noChangeAspect="1"/>
          </p:cNvPicPr>
          <p:nvPr/>
        </p:nvPicPr>
        <p:blipFill>
          <a:blip r:embed="rId2"/>
          <a:stretch>
            <a:fillRect/>
          </a:stretch>
        </p:blipFill>
        <p:spPr>
          <a:xfrm>
            <a:off x="3239" y="0"/>
            <a:ext cx="12185522" cy="6858000"/>
          </a:xfrm>
          <a:prstGeom prst="rect">
            <a:avLst/>
          </a:prstGeom>
        </p:spPr>
      </p:pic>
      <p:sp>
        <p:nvSpPr>
          <p:cNvPr id="17" name="Rectangle 16">
            <a:extLst>
              <a:ext uri="{FF2B5EF4-FFF2-40B4-BE49-F238E27FC236}">
                <a16:creationId xmlns:a16="http://schemas.microsoft.com/office/drawing/2014/main" id="{DFDFA56F-FCAB-2EF3-B05E-7A38DD3D5928}"/>
              </a:ext>
            </a:extLst>
          </p:cNvPr>
          <p:cNvSpPr/>
          <p:nvPr/>
        </p:nvSpPr>
        <p:spPr>
          <a:xfrm>
            <a:off x="4292782" y="1743599"/>
            <a:ext cx="3554197" cy="41448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18">
            <a:extLst>
              <a:ext uri="{FF2B5EF4-FFF2-40B4-BE49-F238E27FC236}">
                <a16:creationId xmlns:a16="http://schemas.microsoft.com/office/drawing/2014/main" id="{D290F5FD-B397-C751-5819-59B82DFD2CBB}"/>
              </a:ext>
            </a:extLst>
          </p:cNvPr>
          <p:cNvSpPr/>
          <p:nvPr/>
        </p:nvSpPr>
        <p:spPr>
          <a:xfrm>
            <a:off x="8018475" y="1743599"/>
            <a:ext cx="3554197" cy="41448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Rectangle 19">
            <a:extLst>
              <a:ext uri="{FF2B5EF4-FFF2-40B4-BE49-F238E27FC236}">
                <a16:creationId xmlns:a16="http://schemas.microsoft.com/office/drawing/2014/main" id="{52FBA500-5532-F737-E28E-2ABC11F35C6A}"/>
              </a:ext>
            </a:extLst>
          </p:cNvPr>
          <p:cNvSpPr/>
          <p:nvPr/>
        </p:nvSpPr>
        <p:spPr>
          <a:xfrm>
            <a:off x="370912" y="5941387"/>
            <a:ext cx="11256884" cy="780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2697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9"/>
                                        </p:tgtEl>
                                      </p:cBhvr>
                                    </p:animEffect>
                                    <p:set>
                                      <p:cBhvr>
                                        <p:cTn id="12" dur="1" fill="hold">
                                          <p:stCondLst>
                                            <p:cond delay="499"/>
                                          </p:stCondLst>
                                        </p:cTn>
                                        <p:tgtEl>
                                          <p:spTgt spid="1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20"/>
                                        </p:tgtEl>
                                      </p:cBhvr>
                                    </p:animEffect>
                                    <p:set>
                                      <p:cBhvr>
                                        <p:cTn id="17" dur="1" fill="hold">
                                          <p:stCondLst>
                                            <p:cond delay="499"/>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AA03-2779-EB88-E284-1DA1E2F2EF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B4A53-4887-9DDD-DDEE-AB1A289738B1}"/>
              </a:ext>
            </a:extLst>
          </p:cNvPr>
          <p:cNvSpPr>
            <a:spLocks noGrp="1"/>
          </p:cNvSpPr>
          <p:nvPr>
            <p:ph type="title"/>
          </p:nvPr>
        </p:nvSpPr>
        <p:spPr/>
        <p:txBody>
          <a:bodyPr/>
          <a:lstStyle/>
          <a:p>
            <a:pPr algn="ctr"/>
            <a:r>
              <a:rPr lang="en-US" altLang="zh-CN" dirty="0"/>
              <a:t>2. What is financial investment?</a:t>
            </a:r>
          </a:p>
        </p:txBody>
      </p:sp>
    </p:spTree>
    <p:extLst>
      <p:ext uri="{BB962C8B-B14F-4D97-AF65-F5344CB8AC3E}">
        <p14:creationId xmlns:p14="http://schemas.microsoft.com/office/powerpoint/2010/main" val="1129679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30A191-6811-BD22-559B-B87E06397CF3}"/>
              </a:ext>
            </a:extLst>
          </p:cNvPr>
          <p:cNvPicPr>
            <a:picLocks noChangeAspect="1"/>
          </p:cNvPicPr>
          <p:nvPr/>
        </p:nvPicPr>
        <p:blipFill>
          <a:blip r:embed="rId2"/>
          <a:stretch>
            <a:fillRect/>
          </a:stretch>
        </p:blipFill>
        <p:spPr>
          <a:xfrm>
            <a:off x="3239" y="0"/>
            <a:ext cx="12185522" cy="6858000"/>
          </a:xfrm>
          <a:prstGeom prst="rect">
            <a:avLst/>
          </a:prstGeom>
        </p:spPr>
      </p:pic>
      <p:sp>
        <p:nvSpPr>
          <p:cNvPr id="6" name="Rectangle 5">
            <a:extLst>
              <a:ext uri="{FF2B5EF4-FFF2-40B4-BE49-F238E27FC236}">
                <a16:creationId xmlns:a16="http://schemas.microsoft.com/office/drawing/2014/main" id="{BBCC4D35-5114-094F-67A6-2332708B19BE}"/>
              </a:ext>
            </a:extLst>
          </p:cNvPr>
          <p:cNvSpPr/>
          <p:nvPr/>
        </p:nvSpPr>
        <p:spPr>
          <a:xfrm>
            <a:off x="382263" y="2713122"/>
            <a:ext cx="3677414" cy="37006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a:extLst>
              <a:ext uri="{FF2B5EF4-FFF2-40B4-BE49-F238E27FC236}">
                <a16:creationId xmlns:a16="http://schemas.microsoft.com/office/drawing/2014/main" id="{4DDC94A4-9BB3-0BFD-E416-CD8DFA521BAF}"/>
              </a:ext>
            </a:extLst>
          </p:cNvPr>
          <p:cNvSpPr/>
          <p:nvPr/>
        </p:nvSpPr>
        <p:spPr>
          <a:xfrm>
            <a:off x="4059677" y="2638544"/>
            <a:ext cx="3407922" cy="37006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a:extLst>
              <a:ext uri="{FF2B5EF4-FFF2-40B4-BE49-F238E27FC236}">
                <a16:creationId xmlns:a16="http://schemas.microsoft.com/office/drawing/2014/main" id="{7DD1E426-BAC9-A40D-AA83-51F8E24288E3}"/>
              </a:ext>
            </a:extLst>
          </p:cNvPr>
          <p:cNvSpPr/>
          <p:nvPr/>
        </p:nvSpPr>
        <p:spPr>
          <a:xfrm>
            <a:off x="7678006" y="2638544"/>
            <a:ext cx="4066521" cy="37006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8556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B2188A-B060-4E88-5273-62D0AD6AD43F}"/>
              </a:ext>
            </a:extLst>
          </p:cNvPr>
          <p:cNvPicPr>
            <a:picLocks noChangeAspect="1"/>
          </p:cNvPicPr>
          <p:nvPr/>
        </p:nvPicPr>
        <p:blipFill>
          <a:blip r:embed="rId2"/>
          <a:stretch>
            <a:fillRect/>
          </a:stretch>
        </p:blipFill>
        <p:spPr>
          <a:xfrm>
            <a:off x="3239" y="0"/>
            <a:ext cx="12185522" cy="6858000"/>
          </a:xfrm>
          <a:prstGeom prst="rect">
            <a:avLst/>
          </a:prstGeom>
        </p:spPr>
      </p:pic>
      <p:sp>
        <p:nvSpPr>
          <p:cNvPr id="6" name="Rectangle 5">
            <a:extLst>
              <a:ext uri="{FF2B5EF4-FFF2-40B4-BE49-F238E27FC236}">
                <a16:creationId xmlns:a16="http://schemas.microsoft.com/office/drawing/2014/main" id="{0E98994B-08EE-840C-C750-11EC6E8F33E0}"/>
              </a:ext>
            </a:extLst>
          </p:cNvPr>
          <p:cNvSpPr/>
          <p:nvPr/>
        </p:nvSpPr>
        <p:spPr>
          <a:xfrm>
            <a:off x="4584612" y="1860331"/>
            <a:ext cx="3064817" cy="4275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a:extLst>
              <a:ext uri="{FF2B5EF4-FFF2-40B4-BE49-F238E27FC236}">
                <a16:creationId xmlns:a16="http://schemas.microsoft.com/office/drawing/2014/main" id="{3CF5E881-8A19-0061-CFBD-47D1F902AFAD}"/>
              </a:ext>
            </a:extLst>
          </p:cNvPr>
          <p:cNvSpPr/>
          <p:nvPr/>
        </p:nvSpPr>
        <p:spPr>
          <a:xfrm>
            <a:off x="8462886" y="2012731"/>
            <a:ext cx="3354946" cy="42756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5116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6DD56C-DF39-772D-B82F-FEAB1772A950}"/>
              </a:ext>
            </a:extLst>
          </p:cNvPr>
          <p:cNvPicPr>
            <a:picLocks noChangeAspect="1"/>
          </p:cNvPicPr>
          <p:nvPr/>
        </p:nvPicPr>
        <p:blipFill>
          <a:blip r:embed="rId2"/>
          <a:stretch>
            <a:fillRect/>
          </a:stretch>
        </p:blipFill>
        <p:spPr>
          <a:xfrm>
            <a:off x="1376717" y="145165"/>
            <a:ext cx="9438566" cy="6567669"/>
          </a:xfrm>
          <a:prstGeom prst="rect">
            <a:avLst/>
          </a:prstGeom>
        </p:spPr>
      </p:pic>
    </p:spTree>
    <p:extLst>
      <p:ext uri="{BB962C8B-B14F-4D97-AF65-F5344CB8AC3E}">
        <p14:creationId xmlns:p14="http://schemas.microsoft.com/office/powerpoint/2010/main" val="722755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77716-5531-97BE-7F23-B1F8631EB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602AC-42D7-FE47-74FE-62E45621FC7D}"/>
              </a:ext>
            </a:extLst>
          </p:cNvPr>
          <p:cNvSpPr>
            <a:spLocks noGrp="1"/>
          </p:cNvSpPr>
          <p:nvPr>
            <p:ph type="title"/>
          </p:nvPr>
        </p:nvSpPr>
        <p:spPr/>
        <p:txBody>
          <a:bodyPr>
            <a:normAutofit fontScale="90000"/>
          </a:bodyPr>
          <a:lstStyle/>
          <a:p>
            <a:pPr algn="ctr"/>
            <a:r>
              <a:rPr lang="en-US" altLang="zh-CN" dirty="0"/>
              <a:t>3. Distinguish between investment, saving and speculation.</a:t>
            </a:r>
          </a:p>
        </p:txBody>
      </p:sp>
    </p:spTree>
    <p:extLst>
      <p:ext uri="{BB962C8B-B14F-4D97-AF65-F5344CB8AC3E}">
        <p14:creationId xmlns:p14="http://schemas.microsoft.com/office/powerpoint/2010/main" val="343979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2FAC-3797-2F00-FAC9-EFDF7014C094}"/>
              </a:ext>
            </a:extLst>
          </p:cNvPr>
          <p:cNvSpPr>
            <a:spLocks noGrp="1"/>
          </p:cNvSpPr>
          <p:nvPr>
            <p:ph type="title"/>
          </p:nvPr>
        </p:nvSpPr>
        <p:spPr>
          <a:xfrm>
            <a:off x="609600" y="457200"/>
            <a:ext cx="10972800" cy="723900"/>
          </a:xfrm>
        </p:spPr>
        <p:txBody>
          <a:bodyPr anchor="ctr">
            <a:normAutofit/>
          </a:bodyPr>
          <a:lstStyle/>
          <a:p>
            <a:pPr marL="0" indent="0" algn="l">
              <a:buNone/>
              <a:defRPr sz="3600" b="1">
                <a:solidFill>
                  <a:srgbClr val="171717"/>
                </a:solidFill>
                <a:latin typeface="Arial"/>
                <a:ea typeface="Arial"/>
                <a:cs typeface="Arial"/>
              </a:defRPr>
            </a:pPr>
            <a:r>
              <a:rPr sz="3600" b="1">
                <a:solidFill>
                  <a:srgbClr val="171717"/>
                </a:solidFill>
                <a:latin typeface="Arial"/>
                <a:ea typeface="Arial"/>
                <a:cs typeface="Arial"/>
              </a:rPr>
              <a:t>Is this investment?</a:t>
            </a:r>
          </a:p>
        </p:txBody>
      </p:sp>
      <p:pic>
        <p:nvPicPr>
          <p:cNvPr id="5" name="Picture 4"/>
          <p:cNvPicPr>
            <a:picLocks noChangeAspect="1"/>
          </p:cNvPicPr>
          <p:nvPr/>
        </p:nvPicPr>
        <p:blipFill>
          <a:blip r:embed="rId3"/>
          <a:srcRect t="16703" b="16703"/>
          <a:stretch>
            <a:fillRect/>
          </a:stretch>
        </p:blipFill>
        <p:spPr>
          <a:xfrm>
            <a:off x="571500" y="1381125"/>
            <a:ext cx="11049000" cy="4905375"/>
          </a:xfrm>
          <a:prstGeom prst="rect">
            <a:avLst/>
          </a:prstGeom>
        </p:spPr>
      </p:pic>
    </p:spTree>
    <p:extLst>
      <p:ext uri="{BB962C8B-B14F-4D97-AF65-F5344CB8AC3E}">
        <p14:creationId xmlns:p14="http://schemas.microsoft.com/office/powerpoint/2010/main" val="798279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p:cNvPicPr>
          <p:nvPr/>
        </p:nvPicPr>
        <p:blipFill>
          <a:blip r:embed="rId3"/>
          <a:stretch>
            <a:fillRect/>
          </a:stretch>
        </p:blipFill>
        <p:spPr>
          <a:xfrm>
            <a:off x="1420091" y="0"/>
            <a:ext cx="9351818" cy="6858000"/>
          </a:xfrm>
          <a:prstGeom prst="rect">
            <a:avLst/>
          </a:prstGeom>
        </p:spPr>
      </p:pic>
    </p:spTree>
    <p:extLst>
      <p:ext uri="{BB962C8B-B14F-4D97-AF65-F5344CB8AC3E}">
        <p14:creationId xmlns:p14="http://schemas.microsoft.com/office/powerpoint/2010/main" val="380928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p:cNvPicPr>
          <p:nvPr/>
        </p:nvPicPr>
        <p:blipFill>
          <a:blip r:embed="rId3"/>
          <a:stretch>
            <a:fillRect/>
          </a:stretch>
        </p:blipFill>
        <p:spPr>
          <a:xfrm>
            <a:off x="3190367" y="120273"/>
            <a:ext cx="5811266" cy="6617453"/>
          </a:xfrm>
          <a:prstGeom prst="rect">
            <a:avLst/>
          </a:prstGeom>
        </p:spPr>
      </p:pic>
    </p:spTree>
    <p:extLst>
      <p:ext uri="{BB962C8B-B14F-4D97-AF65-F5344CB8AC3E}">
        <p14:creationId xmlns:p14="http://schemas.microsoft.com/office/powerpoint/2010/main" val="1151011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FD77C73-0B5C-8CC3-795E-E4C8E711F17D}"/>
              </a:ext>
            </a:extLst>
          </p:cNvPr>
          <p:cNvPicPr>
            <a:picLocks noChangeAspect="1"/>
          </p:cNvPicPr>
          <p:nvPr/>
        </p:nvPicPr>
        <p:blipFill>
          <a:blip r:embed="rId2"/>
          <a:stretch>
            <a:fillRect/>
          </a:stretch>
        </p:blipFill>
        <p:spPr>
          <a:xfrm>
            <a:off x="3239" y="0"/>
            <a:ext cx="12185522" cy="6858000"/>
          </a:xfrm>
          <a:prstGeom prst="rect">
            <a:avLst/>
          </a:prstGeom>
        </p:spPr>
      </p:pic>
      <p:sp>
        <p:nvSpPr>
          <p:cNvPr id="6" name="Rectangle 5">
            <a:extLst>
              <a:ext uri="{FF2B5EF4-FFF2-40B4-BE49-F238E27FC236}">
                <a16:creationId xmlns:a16="http://schemas.microsoft.com/office/drawing/2014/main" id="{F192CB23-5F30-3FF0-B378-DD974BD952DA}"/>
              </a:ext>
            </a:extLst>
          </p:cNvPr>
          <p:cNvSpPr/>
          <p:nvPr/>
        </p:nvSpPr>
        <p:spPr>
          <a:xfrm>
            <a:off x="505480" y="2690425"/>
            <a:ext cx="3683899" cy="3833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a:extLst>
              <a:ext uri="{FF2B5EF4-FFF2-40B4-BE49-F238E27FC236}">
                <a16:creationId xmlns:a16="http://schemas.microsoft.com/office/drawing/2014/main" id="{8CC64D83-85BF-9A79-0F45-4F1299833FEE}"/>
              </a:ext>
            </a:extLst>
          </p:cNvPr>
          <p:cNvSpPr/>
          <p:nvPr/>
        </p:nvSpPr>
        <p:spPr>
          <a:xfrm>
            <a:off x="4127412" y="2531540"/>
            <a:ext cx="3683899" cy="3833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a:extLst>
              <a:ext uri="{FF2B5EF4-FFF2-40B4-BE49-F238E27FC236}">
                <a16:creationId xmlns:a16="http://schemas.microsoft.com/office/drawing/2014/main" id="{67CEB5E2-6BA3-E397-AF31-D083BF7562B9}"/>
              </a:ext>
            </a:extLst>
          </p:cNvPr>
          <p:cNvSpPr/>
          <p:nvPr/>
        </p:nvSpPr>
        <p:spPr>
          <a:xfrm>
            <a:off x="7859591" y="2469932"/>
            <a:ext cx="3826929" cy="3833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74720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AF0B6-58A5-7BCE-7C10-F60B364D4A7C}"/>
              </a:ext>
            </a:extLst>
          </p:cNvPr>
          <p:cNvSpPr>
            <a:spLocks noGrp="1"/>
          </p:cNvSpPr>
          <p:nvPr>
            <p:ph type="title"/>
          </p:nvPr>
        </p:nvSpPr>
        <p:spPr/>
        <p:txBody>
          <a:bodyPr>
            <a:noAutofit/>
          </a:bodyPr>
          <a:lstStyle/>
          <a:p>
            <a:r>
              <a:rPr lang="en-US" altLang="zh-CN" sz="4400" dirty="0"/>
              <a:t>Explain the difference between financial investment and speculation.</a:t>
            </a:r>
            <a:endParaRPr lang="zh-CN" altLang="en-US" sz="4400" dirty="0"/>
          </a:p>
        </p:txBody>
      </p:sp>
      <p:sp>
        <p:nvSpPr>
          <p:cNvPr id="4" name="Content Placeholder 3">
            <a:extLst>
              <a:ext uri="{FF2B5EF4-FFF2-40B4-BE49-F238E27FC236}">
                <a16:creationId xmlns:a16="http://schemas.microsoft.com/office/drawing/2014/main" id="{7D084F4F-696A-3545-FE48-33767ABCF884}"/>
              </a:ext>
            </a:extLst>
          </p:cNvPr>
          <p:cNvSpPr>
            <a:spLocks noGrp="1"/>
          </p:cNvSpPr>
          <p:nvPr>
            <p:ph idx="1"/>
          </p:nvPr>
        </p:nvSpPr>
        <p:spPr>
          <a:xfrm>
            <a:off x="734122" y="3278459"/>
            <a:ext cx="5451088" cy="3203304"/>
          </a:xfrm>
        </p:spPr>
        <p:txBody>
          <a:bodyPr/>
          <a:lstStyle/>
          <a:p>
            <a:pPr marL="0" indent="0">
              <a:buNone/>
            </a:pPr>
            <a:r>
              <a:rPr lang="en-US" altLang="zh-CN" b="1" dirty="0"/>
              <a:t>Investment:</a:t>
            </a:r>
          </a:p>
          <a:p>
            <a:r>
              <a:rPr lang="zh-CN" altLang="zh-CN" dirty="0"/>
              <a:t>Focuses on total return: income plus growth in value </a:t>
            </a:r>
            <a:endParaRPr lang="en-US" altLang="zh-CN" dirty="0"/>
          </a:p>
          <a:p>
            <a:r>
              <a:rPr lang="en-US" altLang="zh-CN" dirty="0"/>
              <a:t>Often longer-term</a:t>
            </a:r>
          </a:p>
        </p:txBody>
      </p:sp>
      <p:sp>
        <p:nvSpPr>
          <p:cNvPr id="5" name="Content Placeholder 3">
            <a:extLst>
              <a:ext uri="{FF2B5EF4-FFF2-40B4-BE49-F238E27FC236}">
                <a16:creationId xmlns:a16="http://schemas.microsoft.com/office/drawing/2014/main" id="{FD5C523C-D964-C739-8369-0539BB9D9C82}"/>
              </a:ext>
            </a:extLst>
          </p:cNvPr>
          <p:cNvSpPr txBox="1">
            <a:spLocks/>
          </p:cNvSpPr>
          <p:nvPr/>
        </p:nvSpPr>
        <p:spPr>
          <a:xfrm>
            <a:off x="6289288" y="3278459"/>
            <a:ext cx="5451088" cy="2036956"/>
          </a:xfrm>
          <a:prstGeom prst="rect">
            <a:avLst/>
          </a:prstGeom>
        </p:spPr>
        <p:txBody>
          <a:bodyPr vert="horz" lIns="91440" tIns="45720" rIns="91440" bIns="45720">
            <a:norm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buFont typeface="Arial"/>
              <a:buNone/>
            </a:pPr>
            <a:r>
              <a:rPr lang="en-US" altLang="zh-CN" b="1" dirty="0"/>
              <a:t>Speculation</a:t>
            </a:r>
          </a:p>
          <a:p>
            <a:r>
              <a:rPr lang="en-US" altLang="zh-CN" dirty="0"/>
              <a:t>Focuses on price movement</a:t>
            </a:r>
          </a:p>
          <a:p>
            <a:r>
              <a:rPr lang="zh-CN" altLang="zh-CN" dirty="0"/>
              <a:t>Often shorter-term and involves greater risk</a:t>
            </a:r>
            <a:endParaRPr lang="zh-CN" altLang="en-US" dirty="0"/>
          </a:p>
        </p:txBody>
      </p:sp>
    </p:spTree>
    <p:extLst>
      <p:ext uri="{BB962C8B-B14F-4D97-AF65-F5344CB8AC3E}">
        <p14:creationId xmlns:p14="http://schemas.microsoft.com/office/powerpoint/2010/main" val="1332411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fade">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fade">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2" end="2"/>
                                            </p:txEl>
                                          </p:spTgt>
                                        </p:tgtEl>
                                        <p:attrNameLst>
                                          <p:attrName>style.visibility</p:attrName>
                                        </p:attrNameLst>
                                      </p:cBhvr>
                                      <p:to>
                                        <p:strVal val="visible"/>
                                      </p:to>
                                    </p:set>
                                    <p:animEffect transition="in" filter="fade">
                                      <p:cBhvr>
                                        <p:cTn id="3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DD0FB8-8C85-1E60-EE15-B93269B01001}"/>
              </a:ext>
            </a:extLst>
          </p:cNvPr>
          <p:cNvSpPr>
            <a:spLocks noGrp="1"/>
          </p:cNvSpPr>
          <p:nvPr>
            <p:ph type="title"/>
          </p:nvPr>
        </p:nvSpPr>
        <p:spPr/>
        <p:txBody>
          <a:bodyPr/>
          <a:lstStyle/>
          <a:p>
            <a:r>
              <a:rPr lang="en-US" altLang="zh-CN" dirty="0"/>
              <a:t>Explain the difference between financial investment and speculation.</a:t>
            </a:r>
            <a:endParaRPr lang="zh-CN" altLang="en-US" dirty="0"/>
          </a:p>
        </p:txBody>
      </p:sp>
      <p:sp>
        <p:nvSpPr>
          <p:cNvPr id="3" name="Content Placeholder 2">
            <a:extLst>
              <a:ext uri="{FF2B5EF4-FFF2-40B4-BE49-F238E27FC236}">
                <a16:creationId xmlns:a16="http://schemas.microsoft.com/office/drawing/2014/main" id="{9DA492F0-2B88-D18B-DE9B-58D681E0E1BF}"/>
              </a:ext>
            </a:extLst>
          </p:cNvPr>
          <p:cNvSpPr>
            <a:spLocks noGrp="1"/>
          </p:cNvSpPr>
          <p:nvPr>
            <p:ph idx="1"/>
          </p:nvPr>
        </p:nvSpPr>
        <p:spPr/>
        <p:txBody>
          <a:bodyPr/>
          <a:lstStyle/>
          <a:p>
            <a:pPr marL="0" indent="0">
              <a:buNone/>
            </a:pPr>
            <a:r>
              <a:rPr lang="zh-CN" altLang="zh-CN" dirty="0"/>
              <a:t>Investment involves committing money to an asset to earn income, such as dividends or rent, and to benefit from an increase in its underlying value. It is therefore often based on the asset’s long-term performance.</a:t>
            </a:r>
            <a:endParaRPr lang="en-US" altLang="zh-CN" dirty="0"/>
          </a:p>
          <a:p>
            <a:pPr marL="0" indent="0">
              <a:buNone/>
            </a:pPr>
            <a:r>
              <a:rPr lang="en-US" altLang="zh-CN" dirty="0"/>
              <a:t>In contrast, S</a:t>
            </a:r>
            <a:r>
              <a:rPr lang="zh-CN" altLang="zh-CN" dirty="0"/>
              <a:t>peculation involves buying an asset to profit from an expected change in its market price.</a:t>
            </a:r>
            <a:r>
              <a:rPr lang="en-US" altLang="zh-CN" dirty="0"/>
              <a:t> </a:t>
            </a:r>
            <a:r>
              <a:rPr lang="zh-CN" altLang="zh-CN" dirty="0"/>
              <a:t>Speculation is often shorter-term and carries greater risk because the expected price movement may not occur.</a:t>
            </a:r>
          </a:p>
        </p:txBody>
      </p:sp>
    </p:spTree>
    <p:extLst>
      <p:ext uri="{BB962C8B-B14F-4D97-AF65-F5344CB8AC3E}">
        <p14:creationId xmlns:p14="http://schemas.microsoft.com/office/powerpoint/2010/main" val="384429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3483-6CEA-D277-81EA-0AEE6BE974B5}"/>
              </a:ext>
            </a:extLst>
          </p:cNvPr>
          <p:cNvSpPr>
            <a:spLocks noGrp="1"/>
          </p:cNvSpPr>
          <p:nvPr>
            <p:ph type="title"/>
          </p:nvPr>
        </p:nvSpPr>
        <p:spPr>
          <a:xfrm>
            <a:off x="609600" y="438150"/>
            <a:ext cx="10972800" cy="781050"/>
          </a:xfrm>
        </p:spPr>
        <p:txBody>
          <a:bodyPr wrap="square" lIns="0" tIns="0" rIns="0" bIns="0" anchor="ctr">
            <a:normAutofit/>
          </a:bodyPr>
          <a:lstStyle/>
          <a:p>
            <a:pPr marL="0" indent="0" algn="l">
              <a:lnSpc>
                <a:spcPct val="96000"/>
              </a:lnSpc>
              <a:buNone/>
              <a:defRPr sz="3300" b="1">
                <a:solidFill>
                  <a:srgbClr val="17232D"/>
                </a:solidFill>
                <a:latin typeface="Microsoft YaHei"/>
                <a:ea typeface="Microsoft YaHei"/>
                <a:cs typeface="Microsoft YaHei"/>
              </a:defRPr>
            </a:pPr>
            <a:r>
              <a:rPr sz="3300" b="1">
                <a:solidFill>
                  <a:srgbClr val="17232D"/>
                </a:solidFill>
                <a:latin typeface="Microsoft YaHei"/>
                <a:ea typeface="Microsoft YaHei"/>
                <a:cs typeface="Microsoft YaHei"/>
              </a:rPr>
              <a:t>Is this investment?</a:t>
            </a:r>
          </a:p>
        </p:txBody>
      </p:sp>
      <p:pic>
        <p:nvPicPr>
          <p:cNvPr id="5" name="Picture 4"/>
          <p:cNvPicPr>
            <a:picLocks noChangeAspect="1"/>
          </p:cNvPicPr>
          <p:nvPr/>
        </p:nvPicPr>
        <p:blipFill>
          <a:blip r:embed="rId3"/>
          <a:srcRect t="10536" b="10536"/>
          <a:stretch>
            <a:fillRect/>
          </a:stretch>
        </p:blipFill>
        <p:spPr>
          <a:xfrm>
            <a:off x="571500" y="1381125"/>
            <a:ext cx="11049000" cy="4905375"/>
          </a:xfrm>
          <a:prstGeom prst="rect">
            <a:avLst/>
          </a:prstGeom>
        </p:spPr>
      </p:pic>
    </p:spTree>
    <p:extLst>
      <p:ext uri="{BB962C8B-B14F-4D97-AF65-F5344CB8AC3E}">
        <p14:creationId xmlns:p14="http://schemas.microsoft.com/office/powerpoint/2010/main" val="625765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EFB71-D60D-ECD4-E303-237F00B5C79E}"/>
              </a:ext>
            </a:extLst>
          </p:cNvPr>
          <p:cNvSpPr>
            <a:spLocks noGrp="1"/>
          </p:cNvSpPr>
          <p:nvPr>
            <p:ph type="title"/>
          </p:nvPr>
        </p:nvSpPr>
        <p:spPr>
          <a:xfrm>
            <a:off x="609600" y="438150"/>
            <a:ext cx="10972800" cy="781050"/>
          </a:xfrm>
        </p:spPr>
        <p:txBody>
          <a:bodyPr wrap="square" lIns="0" tIns="0" rIns="0" bIns="0" anchor="ctr">
            <a:normAutofit/>
          </a:bodyPr>
          <a:lstStyle/>
          <a:p>
            <a:pPr marL="0" indent="0" algn="l">
              <a:lnSpc>
                <a:spcPct val="96000"/>
              </a:lnSpc>
              <a:buNone/>
              <a:defRPr sz="3075" b="1">
                <a:solidFill>
                  <a:srgbClr val="17232D"/>
                </a:solidFill>
                <a:latin typeface="Microsoft YaHei"/>
                <a:ea typeface="Microsoft YaHei"/>
                <a:cs typeface="Microsoft YaHei"/>
              </a:defRPr>
            </a:pPr>
            <a:r>
              <a:rPr sz="3075" b="1" dirty="0">
                <a:solidFill>
                  <a:srgbClr val="17232D"/>
                </a:solidFill>
                <a:latin typeface="Microsoft YaHei"/>
                <a:ea typeface="Microsoft YaHei"/>
                <a:cs typeface="Microsoft YaHei"/>
              </a:rPr>
              <a:t>Saving</a:t>
            </a:r>
          </a:p>
        </p:txBody>
      </p:sp>
      <p:sp>
        <p:nvSpPr>
          <p:cNvPr id="3" name="Content Placeholder 2">
            <a:extLst>
              <a:ext uri="{FF2B5EF4-FFF2-40B4-BE49-F238E27FC236}">
                <a16:creationId xmlns:a16="http://schemas.microsoft.com/office/drawing/2014/main" id="{4A917A92-886F-0D21-3EF1-FDB9DCB2B2E1}"/>
              </a:ext>
            </a:extLst>
          </p:cNvPr>
          <p:cNvSpPr>
            <a:spLocks noGrp="1"/>
          </p:cNvSpPr>
          <p:nvPr>
            <p:ph idx="1"/>
          </p:nvPr>
        </p:nvSpPr>
        <p:spPr>
          <a:xfrm>
            <a:off x="609600" y="1524000"/>
            <a:ext cx="5905500" cy="4750019"/>
          </a:xfrm>
        </p:spPr>
        <p:txBody>
          <a:bodyPr wrap="square" lIns="0" tIns="0" rIns="0" bIns="0" anchor="t">
            <a:normAutofit/>
          </a:bodyPr>
          <a:lstStyle/>
          <a:p>
            <a:pPr marL="0" indent="0" algn="l">
              <a:lnSpc>
                <a:spcPct val="104000"/>
              </a:lnSpc>
              <a:buNone/>
              <a:defRPr sz="1875" b="0">
                <a:solidFill>
                  <a:srgbClr val="17232D"/>
                </a:solidFill>
                <a:latin typeface="Microsoft YaHei"/>
                <a:ea typeface="Microsoft YaHei"/>
                <a:cs typeface="Microsoft YaHei"/>
              </a:defRPr>
            </a:pPr>
            <a:r>
              <a:rPr sz="2600" b="1" dirty="0">
                <a:solidFill>
                  <a:srgbClr val="2B5D7E"/>
                </a:solidFill>
                <a:latin typeface="Microsoft YaHei"/>
                <a:ea typeface="Microsoft YaHei"/>
              </a:rPr>
              <a:t>Saving is current income not spent now.</a:t>
            </a:r>
            <a:endParaRPr lang="en-US" sz="2600" b="1" dirty="0">
              <a:solidFill>
                <a:srgbClr val="2B5D7E"/>
              </a:solidFill>
              <a:latin typeface="Microsoft YaHei"/>
              <a:ea typeface="Microsoft YaHei"/>
            </a:endParaRPr>
          </a:p>
          <a:p>
            <a:pPr marL="0" indent="0" algn="l">
              <a:lnSpc>
                <a:spcPct val="104000"/>
              </a:lnSpc>
              <a:buNone/>
              <a:defRPr sz="1875" b="0">
                <a:solidFill>
                  <a:srgbClr val="17232D"/>
                </a:solidFill>
                <a:latin typeface="Microsoft YaHei"/>
                <a:ea typeface="Microsoft YaHei"/>
                <a:cs typeface="Microsoft YaHei"/>
              </a:defRPr>
            </a:pPr>
            <a:r>
              <a:rPr lang="en-US" sz="2600" b="1" dirty="0">
                <a:solidFill>
                  <a:srgbClr val="2B5D7E"/>
                </a:solidFill>
                <a:latin typeface="Microsoft YaHei"/>
                <a:ea typeface="Microsoft YaHei"/>
              </a:rPr>
              <a:t>Goals:</a:t>
            </a:r>
          </a:p>
          <a:p>
            <a:pPr marL="0" indent="0" algn="l">
              <a:lnSpc>
                <a:spcPct val="104000"/>
              </a:lnSpc>
              <a:buNone/>
              <a:defRPr sz="1875" b="0">
                <a:solidFill>
                  <a:srgbClr val="17232D"/>
                </a:solidFill>
                <a:latin typeface="Microsoft YaHei"/>
                <a:ea typeface="Microsoft YaHei"/>
                <a:cs typeface="Microsoft YaHei"/>
              </a:defRPr>
            </a:pPr>
            <a:r>
              <a:rPr sz="2600" b="1" dirty="0">
                <a:solidFill>
                  <a:srgbClr val="2B5D7E"/>
                </a:solidFill>
                <a:latin typeface="Microsoft YaHei"/>
                <a:ea typeface="Microsoft YaHei"/>
              </a:rPr>
              <a:t>• capital preservation (</a:t>
            </a:r>
            <a:r>
              <a:rPr sz="2600" b="1" dirty="0" err="1">
                <a:solidFill>
                  <a:srgbClr val="2B5D7E"/>
                </a:solidFill>
                <a:latin typeface="Microsoft YaHei"/>
                <a:ea typeface="Microsoft YaHei"/>
              </a:rPr>
              <a:t>保本</a:t>
            </a:r>
            <a:r>
              <a:rPr sz="2600" b="1" dirty="0">
                <a:solidFill>
                  <a:srgbClr val="2B5D7E"/>
                </a:solidFill>
                <a:latin typeface="Microsoft YaHei"/>
                <a:ea typeface="Microsoft YaHei"/>
              </a:rPr>
              <a:t>)</a:t>
            </a:r>
          </a:p>
          <a:p>
            <a:pPr marL="0" indent="0" algn="l">
              <a:lnSpc>
                <a:spcPct val="104000"/>
              </a:lnSpc>
              <a:buNone/>
              <a:defRPr sz="1875" b="0">
                <a:solidFill>
                  <a:srgbClr val="17232D"/>
                </a:solidFill>
                <a:latin typeface="Microsoft YaHei"/>
                <a:ea typeface="Microsoft YaHei"/>
                <a:cs typeface="Microsoft YaHei"/>
              </a:defRPr>
            </a:pPr>
            <a:r>
              <a:rPr sz="2600" b="1" dirty="0">
                <a:solidFill>
                  <a:srgbClr val="2B5D7E"/>
                </a:solidFill>
                <a:latin typeface="Microsoft YaHei"/>
                <a:ea typeface="Microsoft YaHei"/>
              </a:rPr>
              <a:t>• liquidity (</a:t>
            </a:r>
            <a:r>
              <a:rPr sz="2600" b="1" dirty="0" err="1">
                <a:solidFill>
                  <a:srgbClr val="2B5D7E"/>
                </a:solidFill>
                <a:latin typeface="Microsoft YaHei"/>
                <a:ea typeface="Microsoft YaHei"/>
              </a:rPr>
              <a:t>流动性</a:t>
            </a:r>
            <a:r>
              <a:rPr sz="2600" b="1" dirty="0">
                <a:solidFill>
                  <a:srgbClr val="2B5D7E"/>
                </a:solidFill>
                <a:latin typeface="Microsoft YaHei"/>
                <a:ea typeface="Microsoft YaHei"/>
              </a:rPr>
              <a:t>)</a:t>
            </a:r>
          </a:p>
          <a:p>
            <a:pPr marL="0" indent="0">
              <a:buNone/>
            </a:pPr>
            <a:endParaRPr sz="1875" b="1" dirty="0">
              <a:solidFill>
                <a:srgbClr val="2B5D7E"/>
              </a:solidFill>
              <a:latin typeface="Microsoft YaHei"/>
              <a:ea typeface="Microsoft YaHei"/>
              <a:cs typeface="Microsoft YaHei"/>
            </a:endParaRPr>
          </a:p>
          <a:p>
            <a:pPr marL="0" indent="0" algn="l">
              <a:lnSpc>
                <a:spcPct val="104000"/>
              </a:lnSpc>
              <a:buNone/>
              <a:defRPr sz="1875" b="0">
                <a:solidFill>
                  <a:srgbClr val="17232D"/>
                </a:solidFill>
                <a:latin typeface="Microsoft YaHei"/>
                <a:ea typeface="Microsoft YaHei"/>
                <a:cs typeface="Microsoft YaHei"/>
              </a:defRPr>
            </a:pPr>
            <a:r>
              <a:rPr sz="1875" b="0" dirty="0">
                <a:solidFill>
                  <a:srgbClr val="17232D"/>
                </a:solidFill>
                <a:latin typeface="Microsoft YaHei"/>
                <a:ea typeface="Microsoft YaHei"/>
                <a:cs typeface="Microsoft YaHei"/>
              </a:rPr>
              <a:t>Examples:</a:t>
            </a:r>
          </a:p>
          <a:p>
            <a:pPr marL="0" indent="0" algn="l">
              <a:lnSpc>
                <a:spcPct val="104000"/>
              </a:lnSpc>
              <a:buNone/>
              <a:defRPr sz="1875" b="0">
                <a:solidFill>
                  <a:srgbClr val="17232D"/>
                </a:solidFill>
                <a:latin typeface="Microsoft YaHei"/>
                <a:ea typeface="Microsoft YaHei"/>
                <a:cs typeface="Microsoft YaHei"/>
              </a:defRPr>
            </a:pPr>
            <a:r>
              <a:rPr sz="1875" b="0" dirty="0">
                <a:solidFill>
                  <a:srgbClr val="17232D"/>
                </a:solidFill>
                <a:latin typeface="Microsoft YaHei"/>
                <a:ea typeface="Microsoft YaHei"/>
                <a:cs typeface="Microsoft YaHei"/>
              </a:rPr>
              <a:t>• emergency fund (</a:t>
            </a:r>
            <a:r>
              <a:rPr sz="1875" b="0" dirty="0" err="1">
                <a:solidFill>
                  <a:srgbClr val="17232D"/>
                </a:solidFill>
                <a:latin typeface="Microsoft YaHei"/>
                <a:ea typeface="Microsoft YaHei"/>
                <a:cs typeface="Microsoft YaHei"/>
              </a:rPr>
              <a:t>应急资金</a:t>
            </a:r>
            <a:r>
              <a:rPr sz="1875" b="0" dirty="0">
                <a:solidFill>
                  <a:srgbClr val="17232D"/>
                </a:solidFill>
                <a:latin typeface="Microsoft YaHei"/>
                <a:ea typeface="Microsoft YaHei"/>
                <a:cs typeface="Microsoft YaHei"/>
              </a:rPr>
              <a:t>)</a:t>
            </a:r>
          </a:p>
          <a:p>
            <a:pPr marL="0" indent="0" algn="l">
              <a:lnSpc>
                <a:spcPct val="104000"/>
              </a:lnSpc>
              <a:buNone/>
              <a:defRPr sz="1875" b="0">
                <a:solidFill>
                  <a:srgbClr val="17232D"/>
                </a:solidFill>
                <a:latin typeface="Microsoft YaHei"/>
                <a:ea typeface="Microsoft YaHei"/>
                <a:cs typeface="Microsoft YaHei"/>
              </a:defRPr>
            </a:pPr>
            <a:r>
              <a:rPr sz="1875" b="0" dirty="0">
                <a:solidFill>
                  <a:srgbClr val="17232D"/>
                </a:solidFill>
                <a:latin typeface="Microsoft YaHei"/>
                <a:ea typeface="Microsoft YaHei"/>
                <a:cs typeface="Microsoft YaHei"/>
              </a:rPr>
              <a:t>• examination fees held for a known date</a:t>
            </a:r>
          </a:p>
          <a:p>
            <a:pPr marL="0" indent="0" algn="l">
              <a:lnSpc>
                <a:spcPct val="104000"/>
              </a:lnSpc>
              <a:buNone/>
              <a:defRPr sz="1875" b="0">
                <a:solidFill>
                  <a:srgbClr val="17232D"/>
                </a:solidFill>
                <a:latin typeface="Microsoft YaHei"/>
                <a:ea typeface="Microsoft YaHei"/>
                <a:cs typeface="Microsoft YaHei"/>
              </a:defRPr>
            </a:pPr>
            <a:r>
              <a:rPr sz="1875" b="0" dirty="0">
                <a:solidFill>
                  <a:srgbClr val="17232D"/>
                </a:solidFill>
                <a:latin typeface="Microsoft YaHei"/>
                <a:ea typeface="Microsoft YaHei"/>
                <a:cs typeface="Microsoft YaHei"/>
              </a:rPr>
              <a:t>• short-term cash buffer (</a:t>
            </a:r>
            <a:r>
              <a:rPr sz="1875" b="0" dirty="0" err="1">
                <a:solidFill>
                  <a:srgbClr val="17232D"/>
                </a:solidFill>
                <a:latin typeface="Microsoft YaHei"/>
                <a:ea typeface="Microsoft YaHei"/>
                <a:cs typeface="Microsoft YaHei"/>
              </a:rPr>
              <a:t>现金缓冲</a:t>
            </a:r>
            <a:r>
              <a:rPr sz="1875" b="0" dirty="0">
                <a:solidFill>
                  <a:srgbClr val="17232D"/>
                </a:solidFill>
                <a:latin typeface="Microsoft YaHei"/>
                <a:ea typeface="Microsoft YaHei"/>
                <a:cs typeface="Microsoft YaHei"/>
              </a:rPr>
              <a:t>)</a:t>
            </a:r>
          </a:p>
        </p:txBody>
      </p:sp>
      <p:pic>
        <p:nvPicPr>
          <p:cNvPr id="7" name="Picture 6"/>
          <p:cNvPicPr>
            <a:picLocks noChangeAspect="1"/>
          </p:cNvPicPr>
          <p:nvPr/>
        </p:nvPicPr>
        <p:blipFill>
          <a:blip r:embed="rId3"/>
          <a:srcRect l="11648" r="11648"/>
          <a:stretch>
            <a:fillRect/>
          </a:stretch>
        </p:blipFill>
        <p:spPr>
          <a:xfrm>
            <a:off x="7334250" y="1524000"/>
            <a:ext cx="4286250" cy="4191000"/>
          </a:xfrm>
          <a:prstGeom prst="rect">
            <a:avLst/>
          </a:prstGeom>
        </p:spPr>
      </p:pic>
      <p:pic>
        <p:nvPicPr>
          <p:cNvPr id="5" name="Picture 4">
            <a:extLst>
              <a:ext uri="{FF2B5EF4-FFF2-40B4-BE49-F238E27FC236}">
                <a16:creationId xmlns:a16="http://schemas.microsoft.com/office/drawing/2014/main" id="{04CBA993-ECF3-3751-5386-DC8B259C78EE}"/>
              </a:ext>
            </a:extLst>
          </p:cNvPr>
          <p:cNvPicPr>
            <a:picLocks noChangeAspect="1"/>
          </p:cNvPicPr>
          <p:nvPr/>
        </p:nvPicPr>
        <p:blipFill>
          <a:blip r:embed="rId4"/>
          <a:stretch>
            <a:fillRect/>
          </a:stretch>
        </p:blipFill>
        <p:spPr>
          <a:xfrm>
            <a:off x="3239" y="0"/>
            <a:ext cx="12185522" cy="6858000"/>
          </a:xfrm>
          <a:prstGeom prst="rect">
            <a:avLst/>
          </a:prstGeom>
        </p:spPr>
      </p:pic>
      <p:sp>
        <p:nvSpPr>
          <p:cNvPr id="6" name="Rectangle 5">
            <a:extLst>
              <a:ext uri="{FF2B5EF4-FFF2-40B4-BE49-F238E27FC236}">
                <a16:creationId xmlns:a16="http://schemas.microsoft.com/office/drawing/2014/main" id="{8C202D8E-34B7-D82C-3E8B-FE470AC7B7BC}"/>
              </a:ext>
            </a:extLst>
          </p:cNvPr>
          <p:cNvSpPr/>
          <p:nvPr/>
        </p:nvSpPr>
        <p:spPr>
          <a:xfrm>
            <a:off x="571500" y="2362927"/>
            <a:ext cx="5479104" cy="18005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a:extLst>
              <a:ext uri="{FF2B5EF4-FFF2-40B4-BE49-F238E27FC236}">
                <a16:creationId xmlns:a16="http://schemas.microsoft.com/office/drawing/2014/main" id="{026BE5D6-7645-C22A-35FF-4C3740F9AA0E}"/>
              </a:ext>
            </a:extLst>
          </p:cNvPr>
          <p:cNvSpPr/>
          <p:nvPr/>
        </p:nvSpPr>
        <p:spPr>
          <a:xfrm>
            <a:off x="6141398" y="2362927"/>
            <a:ext cx="5207537" cy="18005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Rectangle 8">
            <a:extLst>
              <a:ext uri="{FF2B5EF4-FFF2-40B4-BE49-F238E27FC236}">
                <a16:creationId xmlns:a16="http://schemas.microsoft.com/office/drawing/2014/main" id="{0BD7C3A8-BED6-6BCB-80DC-C271828CAB90}"/>
              </a:ext>
            </a:extLst>
          </p:cNvPr>
          <p:cNvSpPr/>
          <p:nvPr/>
        </p:nvSpPr>
        <p:spPr>
          <a:xfrm>
            <a:off x="282913" y="4628543"/>
            <a:ext cx="11455130" cy="19502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3851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9"/>
                                        </p:tgtEl>
                                      </p:cBhvr>
                                    </p:animEffect>
                                    <p:set>
                                      <p:cBhvr>
                                        <p:cTn id="1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A618D-A44C-D67A-4142-1A5505E851B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479BE3-14D8-95F2-CD2D-6A0DAC0D95B4}"/>
              </a:ext>
            </a:extLst>
          </p:cNvPr>
          <p:cNvSpPr>
            <a:spLocks noGrp="1"/>
          </p:cNvSpPr>
          <p:nvPr>
            <p:ph type="title"/>
          </p:nvPr>
        </p:nvSpPr>
        <p:spPr/>
        <p:txBody>
          <a:bodyPr/>
          <a:lstStyle/>
          <a:p>
            <a:r>
              <a:rPr lang="en-US" altLang="zh-CN" dirty="0"/>
              <a:t>Explain the difference between financial investment and saving.</a:t>
            </a:r>
            <a:endParaRPr lang="zh-CN" altLang="en-US" dirty="0"/>
          </a:p>
        </p:txBody>
      </p:sp>
      <p:sp>
        <p:nvSpPr>
          <p:cNvPr id="3" name="Content Placeholder 2">
            <a:extLst>
              <a:ext uri="{FF2B5EF4-FFF2-40B4-BE49-F238E27FC236}">
                <a16:creationId xmlns:a16="http://schemas.microsoft.com/office/drawing/2014/main" id="{E334A957-E8C1-591D-C88D-9D0AB90972D3}"/>
              </a:ext>
            </a:extLst>
          </p:cNvPr>
          <p:cNvSpPr>
            <a:spLocks noGrp="1"/>
          </p:cNvSpPr>
          <p:nvPr>
            <p:ph idx="1"/>
          </p:nvPr>
        </p:nvSpPr>
        <p:spPr/>
        <p:txBody>
          <a:bodyPr/>
          <a:lstStyle/>
          <a:p>
            <a:pPr marL="0" indent="0">
              <a:buNone/>
            </a:pPr>
            <a:r>
              <a:rPr lang="zh-CN" altLang="zh-CN" dirty="0"/>
              <a:t>Investment involves committing money to an asset to earn income, such as dividends or rent, and to benefit from an increase in its underlying value.</a:t>
            </a:r>
            <a:endParaRPr lang="en-US" altLang="zh-CN" dirty="0"/>
          </a:p>
          <a:p>
            <a:pPr marL="0" indent="0">
              <a:buNone/>
            </a:pPr>
            <a:r>
              <a:rPr lang="en-US" altLang="zh-CN" dirty="0"/>
              <a:t>In contrast, s</a:t>
            </a:r>
            <a:r>
              <a:rPr lang="zh-CN" altLang="zh-CN" dirty="0"/>
              <a:t>aving is the part of a person’s income that is not spent on current consumption. The money may be kept as cash or in a bank account for future use.</a:t>
            </a:r>
            <a:endParaRPr lang="en-US" altLang="zh-CN" dirty="0"/>
          </a:p>
          <a:p>
            <a:pPr marL="0" indent="0">
              <a:buNone/>
            </a:pPr>
            <a:r>
              <a:rPr lang="zh-CN" altLang="zh-CN" dirty="0"/>
              <a:t>Financial investment generally involves more risk because the value of the asset may fall.</a:t>
            </a:r>
          </a:p>
        </p:txBody>
      </p:sp>
    </p:spTree>
    <p:extLst>
      <p:ext uri="{BB962C8B-B14F-4D97-AF65-F5344CB8AC3E}">
        <p14:creationId xmlns:p14="http://schemas.microsoft.com/office/powerpoint/2010/main" val="2648618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2C90-1956-1EA0-9BDE-335009895BE9}"/>
              </a:ext>
            </a:extLst>
          </p:cNvPr>
          <p:cNvSpPr>
            <a:spLocks noGrp="1"/>
          </p:cNvSpPr>
          <p:nvPr>
            <p:ph type="title"/>
          </p:nvPr>
        </p:nvSpPr>
        <p:spPr/>
        <p:txBody>
          <a:bodyPr/>
          <a:lstStyle/>
          <a:p>
            <a:r>
              <a:rPr lang="en-US" altLang="zh-CN" dirty="0"/>
              <a:t>Exit ticket</a:t>
            </a:r>
            <a:endParaRPr lang="zh-CN" altLang="en-US" dirty="0"/>
          </a:p>
        </p:txBody>
      </p:sp>
      <p:sp>
        <p:nvSpPr>
          <p:cNvPr id="3" name="Content Placeholder 2">
            <a:extLst>
              <a:ext uri="{FF2B5EF4-FFF2-40B4-BE49-F238E27FC236}">
                <a16:creationId xmlns:a16="http://schemas.microsoft.com/office/drawing/2014/main" id="{D98E8C3C-722B-B13C-FB07-F614531963EE}"/>
              </a:ext>
            </a:extLst>
          </p:cNvPr>
          <p:cNvSpPr>
            <a:spLocks noGrp="1"/>
          </p:cNvSpPr>
          <p:nvPr>
            <p:ph idx="1"/>
          </p:nvPr>
        </p:nvSpPr>
        <p:spPr/>
        <p:txBody>
          <a:bodyPr/>
          <a:lstStyle/>
          <a:p>
            <a:pPr marL="514350" indent="-514350">
              <a:buFont typeface="+mj-lt"/>
              <a:buAutoNum type="arabicPeriod"/>
            </a:pPr>
            <a:r>
              <a:rPr lang="en-US" altLang="zh-CN" dirty="0"/>
              <a:t>What is investment?</a:t>
            </a:r>
          </a:p>
          <a:p>
            <a:pPr marL="514350" indent="-514350">
              <a:buFont typeface="+mj-lt"/>
              <a:buAutoNum type="arabicPeriod"/>
            </a:pPr>
            <a:r>
              <a:rPr lang="en-US" altLang="zh-CN" dirty="0"/>
              <a:t>What is financial investment?</a:t>
            </a:r>
          </a:p>
          <a:p>
            <a:pPr marL="514350" indent="-514350">
              <a:buFont typeface="+mj-lt"/>
              <a:buAutoNum type="arabicPeriod"/>
            </a:pPr>
            <a:r>
              <a:rPr lang="en-US" altLang="zh-CN" dirty="0"/>
              <a:t>List two financial assets.</a:t>
            </a:r>
          </a:p>
          <a:p>
            <a:pPr marL="514350" indent="-514350">
              <a:buFont typeface="+mj-lt"/>
              <a:buAutoNum type="arabicPeriod"/>
            </a:pPr>
            <a:r>
              <a:rPr lang="en-US" altLang="zh-CN" dirty="0"/>
              <a:t>List two non-financial assets.</a:t>
            </a:r>
            <a:endParaRPr lang="zh-CN" altLang="en-US" dirty="0"/>
          </a:p>
        </p:txBody>
      </p:sp>
    </p:spTree>
    <p:extLst>
      <p:ext uri="{BB962C8B-B14F-4D97-AF65-F5344CB8AC3E}">
        <p14:creationId xmlns:p14="http://schemas.microsoft.com/office/powerpoint/2010/main" val="1589672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8377D5-BE9F-AD33-0669-9BA301D1D9B5}"/>
              </a:ext>
            </a:extLst>
          </p:cNvPr>
          <p:cNvSpPr>
            <a:spLocks noGrp="1"/>
          </p:cNvSpPr>
          <p:nvPr>
            <p:ph type="title"/>
          </p:nvPr>
        </p:nvSpPr>
        <p:spPr/>
        <p:txBody>
          <a:bodyPr/>
          <a:lstStyle/>
          <a:p>
            <a:r>
              <a:rPr lang="en-US" altLang="zh-CN" dirty="0"/>
              <a:t>Which is which?</a:t>
            </a:r>
            <a:endParaRPr lang="zh-CN" altLang="en-US" dirty="0"/>
          </a:p>
        </p:txBody>
      </p:sp>
    </p:spTree>
    <p:extLst>
      <p:ext uri="{BB962C8B-B14F-4D97-AF65-F5344CB8AC3E}">
        <p14:creationId xmlns:p14="http://schemas.microsoft.com/office/powerpoint/2010/main" val="3508709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08E3E-37C7-BC1D-7555-C4FE5DC7BDCF}"/>
              </a:ext>
            </a:extLst>
          </p:cNvPr>
          <p:cNvSpPr>
            <a:spLocks noGrp="1"/>
          </p:cNvSpPr>
          <p:nvPr>
            <p:ph type="title"/>
          </p:nvPr>
        </p:nvSpPr>
        <p:spPr>
          <a:xfrm>
            <a:off x="609600" y="438150"/>
            <a:ext cx="10972800" cy="781050"/>
          </a:xfrm>
        </p:spPr>
        <p:txBody>
          <a:bodyPr wrap="square" lIns="0" tIns="0" rIns="0" bIns="0" anchor="ctr">
            <a:normAutofit/>
          </a:bodyPr>
          <a:lstStyle/>
          <a:p>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a:ext uri="{FF2B5EF4-FFF2-40B4-BE49-F238E27FC236}">
                <a16:creationId xmlns:a16="http://schemas.microsoft.com/office/drawing/2014/main" id="{8F1DE0E9-51B1-D256-F5A3-E55CC614F586}"/>
              </a:ext>
            </a:extLst>
          </p:cNvPr>
          <p:cNvSpPr>
            <a:spLocks noGrp="1"/>
          </p:cNvSpPr>
          <p:nvPr>
            <p:ph idx="1"/>
          </p:nvPr>
        </p:nvSpPr>
        <p:spPr>
          <a:xfrm>
            <a:off x="781050" y="1381125"/>
            <a:ext cx="10629900" cy="4953000"/>
          </a:xfrm>
        </p:spPr>
        <p:txBody>
          <a:bodyPr wrap="square" lIns="0" tIns="0" rIns="0" bIns="0" anchor="t">
            <a:normAutofit/>
          </a:bodyPr>
          <a:lstStyle/>
          <a:p>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a:t>
            </a:r>
            <a:r>
              <a:rPr sz="2400" b="0">
                <a:solidFill>
                  <a:srgbClr val="17232D"/>
                </a:solidFill>
                <a:latin typeface="Microsoft YaHei"/>
                <a:ea typeface="Microsoft YaHei"/>
                <a:cs typeface="Microsoft YaHei"/>
              </a:rPr>
              <a:t> The main basis is expected income and/or evidence about underlying value; possible loss is accepted.</a:t>
            </a:r>
          </a:p>
          <a:p>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2.</a:t>
            </a:r>
            <a:r>
              <a:rPr sz="2400" b="0">
                <a:solidFill>
                  <a:srgbClr val="17232D"/>
                </a:solidFill>
                <a:latin typeface="Microsoft YaHei"/>
                <a:ea typeface="Microsoft YaHei"/>
                <a:cs typeface="Microsoft YaHei"/>
              </a:rPr>
              <a:t> The main reason is a </a:t>
            </a:r>
            <a:r>
              <a:rPr sz="2400" b="1">
                <a:solidFill>
                  <a:srgbClr val="F06C5B"/>
                </a:solidFill>
                <a:latin typeface="Microsoft YaHei"/>
                <a:ea typeface="Microsoft YaHei"/>
                <a:cs typeface="Microsoft YaHei"/>
              </a:rPr>
              <a:t>predicted price change</a:t>
            </a:r>
            <a:r>
              <a:rPr sz="2400" b="0">
                <a:solidFill>
                  <a:srgbClr val="17232D"/>
                </a:solidFill>
                <a:latin typeface="Microsoft YaHei"/>
                <a:ea typeface="Microsoft YaHei"/>
                <a:cs typeface="Microsoft YaHei"/>
              </a:rPr>
              <a:t>; income or underlying value is not the main basis.</a:t>
            </a:r>
          </a:p>
          <a:p>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3.</a:t>
            </a:r>
            <a:r>
              <a:rPr sz="2400" b="0">
                <a:solidFill>
                  <a:srgbClr val="17232D"/>
                </a:solidFill>
                <a:latin typeface="Microsoft YaHei"/>
                <a:ea typeface="Microsoft YaHei"/>
                <a:cs typeface="Microsoft YaHei"/>
              </a:rPr>
              <a:t> Money is kept mainly for a </a:t>
            </a:r>
            <a:r>
              <a:rPr sz="2400" b="1">
                <a:solidFill>
                  <a:srgbClr val="2F9B67"/>
                </a:solidFill>
                <a:latin typeface="Microsoft YaHei"/>
                <a:ea typeface="Microsoft YaHei"/>
                <a:cs typeface="Microsoft YaHei"/>
              </a:rPr>
              <a:t>future need, safety and ready access</a:t>
            </a:r>
            <a:r>
              <a:rPr sz="2400" b="0">
                <a:solidFill>
                  <a:srgbClr val="17232D"/>
                </a:solidFill>
                <a:latin typeface="Microsoft YaHei"/>
                <a:ea typeface="Microsoft YaHei"/>
                <a:cs typeface="Microsoft YaHei"/>
              </a:rPr>
              <a:t>.</a:t>
            </a:r>
          </a:p>
          <a:p>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4.</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Amina</a:t>
            </a:r>
            <a:r>
              <a:rPr sz="2400" b="0">
                <a:solidFill>
                  <a:srgbClr val="17232D"/>
                </a:solidFill>
                <a:latin typeface="Microsoft YaHei"/>
                <a:ea typeface="Microsoft YaHei"/>
                <a:cs typeface="Microsoft YaHei"/>
              </a:rPr>
              <a:t> studies profits, cash flow and debt before buying a diversified share portfolio. She expects dividends and long-term price growth.</a:t>
            </a:r>
          </a:p>
          <a:p>
            <a:pPr marL="0" indent="0" algn="l">
              <a:lnSpc>
                <a:spcPct val="108000"/>
              </a:lnSpc>
              <a:spcAft>
                <a:spcPts val="600"/>
              </a:spcAft>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5.</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Bao</a:t>
            </a:r>
            <a:r>
              <a:rPr sz="2400" b="0">
                <a:solidFill>
                  <a:srgbClr val="17232D"/>
                </a:solidFill>
                <a:latin typeface="Microsoft YaHei"/>
                <a:ea typeface="Microsoft YaHei"/>
                <a:cs typeface="Microsoft YaHei"/>
              </a:rPr>
              <a:t> borrows after an online rumour predicts a price rise next week. He will sell after an announcement.</a:t>
            </a:r>
          </a:p>
        </p:txBody>
      </p:sp>
    </p:spTree>
    <p:extLst>
      <p:ext uri="{BB962C8B-B14F-4D97-AF65-F5344CB8AC3E}">
        <p14:creationId xmlns:p14="http://schemas.microsoft.com/office/powerpoint/2010/main" val="925250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9BD49-C6E6-D286-FD16-E3C65D51C629}"/>
              </a:ext>
            </a:extLst>
          </p:cNvPr>
          <p:cNvSpPr>
            <a:spLocks noGrp="1"/>
          </p:cNvSpPr>
          <p:nvPr>
            <p:ph type="title"/>
          </p:nvPr>
        </p:nvSpPr>
        <p:spPr>
          <a:xfrm>
            <a:off x="609600" y="438150"/>
            <a:ext cx="10972800" cy="781050"/>
          </a:xfrm>
        </p:spPr>
        <p:txBody>
          <a:bodyPr wrap="square" lIns="0" tIns="0" rIns="0" bIns="0" anchor="ctr">
            <a:normAutofit/>
          </a:bodyPr>
          <a:lstStyle/>
          <a:p>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a:ext uri="{FF2B5EF4-FFF2-40B4-BE49-F238E27FC236}">
                <a16:creationId xmlns:a16="http://schemas.microsoft.com/office/drawing/2014/main" id="{16D48C89-11B4-44C9-6372-440B1F136E18}"/>
              </a:ext>
            </a:extLst>
          </p:cNvPr>
          <p:cNvSpPr>
            <a:spLocks noGrp="1"/>
          </p:cNvSpPr>
          <p:nvPr>
            <p:ph idx="1"/>
          </p:nvPr>
        </p:nvSpPr>
        <p:spPr>
          <a:xfrm>
            <a:off x="781050" y="1381125"/>
            <a:ext cx="10629900" cy="4953000"/>
          </a:xfrm>
        </p:spPr>
        <p:txBody>
          <a:bodyPr wrap="square" lIns="0" tIns="0" rIns="0" bIns="0" anchor="t">
            <a:normAutofit/>
          </a:bodyPr>
          <a:lstStyle/>
          <a:p>
            <a:pPr marL="0" indent="0" algn="l">
              <a:lnSpc>
                <a:spcPct val="108000"/>
              </a:lnSpc>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6.</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Chloe</a:t>
            </a:r>
            <a:r>
              <a:rPr sz="2400" b="0">
                <a:solidFill>
                  <a:srgbClr val="17232D"/>
                </a:solidFill>
                <a:latin typeface="Microsoft YaHei"/>
                <a:ea typeface="Microsoft YaHei"/>
                <a:cs typeface="Microsoft YaHei"/>
              </a:rPr>
              <a:t> estimates rent, maintenance and vacancy costs. She buys a flat mainly for net rental income.</a:t>
            </a:r>
          </a:p>
          <a:p>
            <a:pPr marL="0" indent="0" algn="l">
              <a:lnSpc>
                <a:spcPct val="108000"/>
              </a:lnSpc>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7.</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Daniel</a:t>
            </a:r>
            <a:r>
              <a:rPr sz="2400" b="0">
                <a:solidFill>
                  <a:srgbClr val="17232D"/>
                </a:solidFill>
                <a:latin typeface="Microsoft YaHei"/>
                <a:ea typeface="Microsoft YaHei"/>
                <a:cs typeface="Microsoft YaHei"/>
              </a:rPr>
              <a:t> needs examination-fee money in eight months, so he uses an easy-access account for safety and liquidity.</a:t>
            </a:r>
          </a:p>
          <a:p>
            <a:pPr marL="0" indent="0" algn="l">
              <a:lnSpc>
                <a:spcPct val="108000"/>
              </a:lnSpc>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8.</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Eva</a:t>
            </a:r>
            <a:r>
              <a:rPr sz="2400" b="0">
                <a:solidFill>
                  <a:srgbClr val="17232D"/>
                </a:solidFill>
                <a:latin typeface="Microsoft YaHei"/>
                <a:ea typeface="Microsoft YaHei"/>
                <a:cs typeface="Microsoft YaHei"/>
              </a:rPr>
              <a:t> invests for university in ten years using a diversified fund. She reviewed fees and risks and accepts a possible fall in market value.</a:t>
            </a:r>
          </a:p>
          <a:p>
            <a:pPr marL="0" indent="0" algn="l">
              <a:lnSpc>
                <a:spcPct val="108000"/>
              </a:lnSpc>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9.</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Farah</a:t>
            </a:r>
            <a:r>
              <a:rPr sz="2400" b="0">
                <a:solidFill>
                  <a:srgbClr val="17232D"/>
                </a:solidFill>
                <a:latin typeface="Microsoft YaHei"/>
                <a:ea typeface="Microsoft YaHei"/>
                <a:cs typeface="Microsoft YaHei"/>
              </a:rPr>
              <a:t> keeps an emergency fund in an easy-access account. Quick withdrawal matters more than return.</a:t>
            </a:r>
          </a:p>
          <a:p>
            <a:pPr marL="0" indent="0" algn="l">
              <a:lnSpc>
                <a:spcPct val="108000"/>
              </a:lnSpc>
              <a:buNone/>
              <a:defRPr sz="17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10.</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George</a:t>
            </a:r>
            <a:r>
              <a:rPr sz="2400" b="0">
                <a:solidFill>
                  <a:srgbClr val="17232D"/>
                </a:solidFill>
                <a:latin typeface="Microsoft YaHei"/>
                <a:ea typeface="Microsoft YaHei"/>
                <a:cs typeface="Microsoft YaHei"/>
              </a:rPr>
              <a:t> buys a bond fund for retirement after checking interest income, credit risk, interest-rate risk and fees.</a:t>
            </a:r>
          </a:p>
        </p:txBody>
      </p:sp>
    </p:spTree>
    <p:extLst>
      <p:ext uri="{BB962C8B-B14F-4D97-AF65-F5344CB8AC3E}">
        <p14:creationId xmlns:p14="http://schemas.microsoft.com/office/powerpoint/2010/main" val="4262617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2C0E1-4A9B-215D-C8CD-FD9389D2D82E}"/>
              </a:ext>
            </a:extLst>
          </p:cNvPr>
          <p:cNvSpPr>
            <a:spLocks noGrp="1"/>
          </p:cNvSpPr>
          <p:nvPr>
            <p:ph type="title"/>
          </p:nvPr>
        </p:nvSpPr>
        <p:spPr>
          <a:xfrm>
            <a:off x="609600" y="438150"/>
            <a:ext cx="10972800" cy="781050"/>
          </a:xfrm>
        </p:spPr>
        <p:txBody>
          <a:bodyPr wrap="square" lIns="0" tIns="0" rIns="0" bIns="0" anchor="ctr">
            <a:normAutofit/>
          </a:bodyPr>
          <a:lstStyle/>
          <a:p>
            <a:pPr marL="0" indent="0" algn="l">
              <a:lnSpc>
                <a:spcPct val="96000"/>
              </a:lnSpc>
              <a:buNone/>
              <a:defRPr sz="2550" b="1">
                <a:solidFill>
                  <a:srgbClr val="17232D"/>
                </a:solidFill>
                <a:latin typeface="Microsoft YaHei"/>
                <a:ea typeface="Microsoft YaHei"/>
                <a:cs typeface="Microsoft YaHei"/>
              </a:defRPr>
            </a:pPr>
            <a:r>
              <a:rPr sz="2550" b="1">
                <a:solidFill>
                  <a:srgbClr val="17232D"/>
                </a:solidFill>
                <a:latin typeface="Microsoft YaHei"/>
                <a:ea typeface="Microsoft YaHei"/>
                <a:cs typeface="Microsoft YaHei"/>
              </a:rPr>
              <a:t>Choose: Investment (投资), speculation (投机) or saving (储蓄)?</a:t>
            </a:r>
          </a:p>
        </p:txBody>
      </p:sp>
      <p:sp>
        <p:nvSpPr>
          <p:cNvPr id="3" name="Content Placeholder 2">
            <a:extLst>
              <a:ext uri="{FF2B5EF4-FFF2-40B4-BE49-F238E27FC236}">
                <a16:creationId xmlns:a16="http://schemas.microsoft.com/office/drawing/2014/main" id="{71610336-795F-277B-223D-11441AF26034}"/>
              </a:ext>
            </a:extLst>
          </p:cNvPr>
          <p:cNvSpPr>
            <a:spLocks noGrp="1"/>
          </p:cNvSpPr>
          <p:nvPr>
            <p:ph idx="1"/>
          </p:nvPr>
        </p:nvSpPr>
        <p:spPr>
          <a:xfrm>
            <a:off x="838200" y="1619249"/>
            <a:ext cx="10515600" cy="4939205"/>
          </a:xfrm>
        </p:spPr>
        <p:txBody>
          <a:bodyPr wrap="square" lIns="0" tIns="0" rIns="0" bIns="0" anchor="t">
            <a:normAutofit/>
          </a:bodyPr>
          <a:lstStyle/>
          <a:p>
            <a:pPr marL="0" indent="0" algn="l">
              <a:lnSpc>
                <a:spcPct val="112000"/>
              </a:lnSpc>
              <a:buNone/>
              <a:defRPr sz="20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11.</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Hadi</a:t>
            </a:r>
            <a:r>
              <a:rPr sz="2400" b="0">
                <a:solidFill>
                  <a:srgbClr val="17232D"/>
                </a:solidFill>
                <a:latin typeface="Microsoft YaHei"/>
                <a:ea typeface="Microsoft YaHei"/>
                <a:cs typeface="Microsoft YaHei"/>
              </a:rPr>
              <a:t> buys Bitcoin after an influencer predicts a weekend price jump. He will sell immediately if it happens.</a:t>
            </a:r>
          </a:p>
          <a:p>
            <a:pPr marL="0" indent="0">
              <a:buNone/>
            </a:pPr>
            <a:endParaRPr sz="2400" b="0">
              <a:solidFill>
                <a:srgbClr val="17232D"/>
              </a:solidFill>
              <a:latin typeface="Microsoft YaHei"/>
              <a:ea typeface="Microsoft YaHei"/>
              <a:cs typeface="Microsoft YaHei"/>
            </a:endParaRPr>
          </a:p>
          <a:p>
            <a:pPr marL="0" indent="0" algn="l">
              <a:lnSpc>
                <a:spcPct val="112000"/>
              </a:lnSpc>
              <a:buNone/>
              <a:defRPr sz="20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12.</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Iris</a:t>
            </a:r>
            <a:r>
              <a:rPr sz="2400" b="0">
                <a:solidFill>
                  <a:srgbClr val="17232D"/>
                </a:solidFill>
                <a:latin typeface="Microsoft YaHei"/>
                <a:ea typeface="Microsoft YaHei"/>
                <a:cs typeface="Microsoft YaHei"/>
              </a:rPr>
              <a:t> buys foreign currency before a central-bank announcement. Her expected gain depends on a price prediction.</a:t>
            </a:r>
          </a:p>
          <a:p>
            <a:pPr marL="0" indent="0">
              <a:buNone/>
            </a:pPr>
            <a:endParaRPr sz="2400" b="0">
              <a:solidFill>
                <a:srgbClr val="17232D"/>
              </a:solidFill>
              <a:latin typeface="Microsoft YaHei"/>
              <a:ea typeface="Microsoft YaHei"/>
              <a:cs typeface="Microsoft YaHei"/>
            </a:endParaRPr>
          </a:p>
          <a:p>
            <a:pPr marL="0" indent="0" algn="l">
              <a:lnSpc>
                <a:spcPct val="112000"/>
              </a:lnSpc>
              <a:buNone/>
              <a:defRPr sz="2025" b="0">
                <a:solidFill>
                  <a:srgbClr val="17232D"/>
                </a:solidFill>
                <a:latin typeface="Microsoft YaHei"/>
                <a:ea typeface="Microsoft YaHei"/>
                <a:cs typeface="Microsoft YaHei"/>
              </a:defRPr>
            </a:pPr>
            <a:r>
              <a:rPr sz="2400" b="1">
                <a:solidFill>
                  <a:srgbClr val="3B82F6"/>
                </a:solidFill>
                <a:latin typeface="Microsoft YaHei"/>
                <a:ea typeface="Microsoft YaHei"/>
                <a:cs typeface="Microsoft YaHei"/>
              </a:rPr>
              <a:t>13.</a:t>
            </a:r>
            <a:r>
              <a:rPr sz="2400" b="0">
                <a:solidFill>
                  <a:srgbClr val="17232D"/>
                </a:solidFill>
                <a:latin typeface="Microsoft YaHei"/>
                <a:ea typeface="Microsoft YaHei"/>
                <a:cs typeface="Microsoft YaHei"/>
              </a:rPr>
              <a:t> </a:t>
            </a:r>
            <a:r>
              <a:rPr sz="2400" b="1">
                <a:solidFill>
                  <a:srgbClr val="17232D"/>
                </a:solidFill>
                <a:latin typeface="Microsoft YaHei"/>
                <a:ea typeface="Microsoft YaHei"/>
                <a:cs typeface="Microsoft YaHei"/>
              </a:rPr>
              <a:t>Jun</a:t>
            </a:r>
            <a:r>
              <a:rPr sz="2400" b="0">
                <a:solidFill>
                  <a:srgbClr val="17232D"/>
                </a:solidFill>
                <a:latin typeface="Microsoft YaHei"/>
                <a:ea typeface="Microsoft YaHei"/>
                <a:cs typeface="Microsoft YaHei"/>
              </a:rPr>
              <a:t> needs tuition money in three months, so he uses an easy-access account for safety and liquidity.</a:t>
            </a:r>
          </a:p>
        </p:txBody>
      </p:sp>
    </p:spTree>
    <p:extLst>
      <p:ext uri="{BB962C8B-B14F-4D97-AF65-F5344CB8AC3E}">
        <p14:creationId xmlns:p14="http://schemas.microsoft.com/office/powerpoint/2010/main" val="557144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E848EF-37F3-FAC9-9CBE-3C92962CD9A6}"/>
              </a:ext>
            </a:extLst>
          </p:cNvPr>
          <p:cNvSpPr>
            <a:spLocks noGrp="1"/>
          </p:cNvSpPr>
          <p:nvPr>
            <p:ph type="title"/>
          </p:nvPr>
        </p:nvSpPr>
        <p:spPr/>
        <p:txBody>
          <a:bodyPr/>
          <a:lstStyle/>
          <a:p>
            <a:r>
              <a:rPr lang="en-US" altLang="zh-CN" dirty="0"/>
              <a:t>MCQs</a:t>
            </a:r>
            <a:endParaRPr lang="zh-CN" altLang="en-US" dirty="0"/>
          </a:p>
        </p:txBody>
      </p:sp>
    </p:spTree>
    <p:extLst>
      <p:ext uri="{BB962C8B-B14F-4D97-AF65-F5344CB8AC3E}">
        <p14:creationId xmlns:p14="http://schemas.microsoft.com/office/powerpoint/2010/main" val="2199965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DCE13-3C03-E181-F9CA-8F5D6DC44D4B}"/>
              </a:ext>
            </a:extLst>
          </p:cNvPr>
          <p:cNvSpPr>
            <a:spLocks noGrp="1"/>
          </p:cNvSpPr>
          <p:nvPr>
            <p:ph type="title"/>
          </p:nvPr>
        </p:nvSpPr>
        <p:spPr>
          <a:xfrm>
            <a:off x="533400" y="590550"/>
            <a:ext cx="1524000" cy="647700"/>
          </a:xfrm>
        </p:spPr>
        <p:txBody>
          <a:bodyPr wrap="square" lIns="0" tIns="0" rIns="0" bIns="0" anchor="t">
            <a:normAutofit/>
          </a:bodyPr>
          <a:lstStyle/>
          <a:p>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1</a:t>
            </a:r>
          </a:p>
        </p:txBody>
      </p:sp>
      <p:sp>
        <p:nvSpPr>
          <p:cNvPr id="3" name="Content Placeholder 2">
            <a:extLst>
              <a:ext uri="{FF2B5EF4-FFF2-40B4-BE49-F238E27FC236}">
                <a16:creationId xmlns:a16="http://schemas.microsoft.com/office/drawing/2014/main" id="{5F1E0E34-08C7-D5B0-FB16-1E95872D9A7F}"/>
              </a:ext>
            </a:extLst>
          </p:cNvPr>
          <p:cNvSpPr>
            <a:spLocks noGrp="1"/>
          </p:cNvSpPr>
          <p:nvPr>
            <p:ph idx="1"/>
          </p:nvPr>
        </p:nvSpPr>
        <p:spPr>
          <a:xfrm>
            <a:off x="2333625" y="609600"/>
            <a:ext cx="9096375" cy="5619750"/>
          </a:xfrm>
        </p:spPr>
        <p:txBody>
          <a:bodyPr wrap="square" lIns="0" tIns="0" rIns="0" bIns="0" anchor="t">
            <a:normAutofit/>
          </a:bodyPr>
          <a:lstStyle/>
          <a:p>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What is the strongest evidence that a decision is a financial investment (金融投资)?</a:t>
            </a:r>
          </a:p>
          <a:p>
            <a:pPr marL="0" indent="0">
              <a:buNone/>
            </a:pPr>
            <a:endParaRPr sz="2175" b="1">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The asset has risen in price before.</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The main basis is expected income and/or evidence about underlying value, while possible loss is accepted.</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Money can be withdrawn immediately with no possible loss.</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The buyer plans to sell after an unverified rumour.</a:t>
            </a:r>
          </a:p>
        </p:txBody>
      </p:sp>
    </p:spTree>
    <p:extLst>
      <p:ext uri="{BB962C8B-B14F-4D97-AF65-F5344CB8AC3E}">
        <p14:creationId xmlns:p14="http://schemas.microsoft.com/office/powerpoint/2010/main" val="525596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76B47-845A-DC38-E33E-A2A88CB7E41C}"/>
              </a:ext>
            </a:extLst>
          </p:cNvPr>
          <p:cNvSpPr>
            <a:spLocks noGrp="1"/>
          </p:cNvSpPr>
          <p:nvPr>
            <p:ph type="title"/>
          </p:nvPr>
        </p:nvSpPr>
        <p:spPr>
          <a:xfrm>
            <a:off x="533400" y="590550"/>
            <a:ext cx="1524000" cy="647700"/>
          </a:xfrm>
        </p:spPr>
        <p:txBody>
          <a:bodyPr wrap="square" lIns="0" tIns="0" rIns="0" bIns="0" anchor="t">
            <a:normAutofit/>
          </a:bodyPr>
          <a:lstStyle/>
          <a:p>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2</a:t>
            </a:r>
          </a:p>
        </p:txBody>
      </p:sp>
      <p:sp>
        <p:nvSpPr>
          <p:cNvPr id="3" name="Content Placeholder 2">
            <a:extLst>
              <a:ext uri="{FF2B5EF4-FFF2-40B4-BE49-F238E27FC236}">
                <a16:creationId xmlns:a16="http://schemas.microsoft.com/office/drawing/2014/main" id="{C775F429-E529-97E6-0606-D10EB458EB72}"/>
              </a:ext>
            </a:extLst>
          </p:cNvPr>
          <p:cNvSpPr>
            <a:spLocks noGrp="1"/>
          </p:cNvSpPr>
          <p:nvPr>
            <p:ph idx="1"/>
          </p:nvPr>
        </p:nvSpPr>
        <p:spPr>
          <a:xfrm>
            <a:off x="2333625" y="609600"/>
            <a:ext cx="9096375" cy="5619750"/>
          </a:xfrm>
        </p:spPr>
        <p:txBody>
          <a:bodyPr wrap="square" lIns="0" tIns="0" rIns="0" bIns="0" anchor="t">
            <a:normAutofit/>
          </a:bodyPr>
          <a:lstStyle/>
          <a:p>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Which decision is saving (储蓄) rather than financial investment (金融投资)?</a:t>
            </a:r>
          </a:p>
          <a:p>
            <a:pPr marL="0" indent="0">
              <a:buNone/>
            </a:pPr>
            <a:endParaRPr sz="2175" b="1">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Keeping school-trip money in an easy-access account.</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Buying a diversified fund for long-term growth after reviewing its fees and risks.</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Buying shares for dividends and long-term value after analysing profits, debt and cash flow.</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Buying property mainly for expected net rental income.</a:t>
            </a:r>
          </a:p>
        </p:txBody>
      </p:sp>
    </p:spTree>
    <p:extLst>
      <p:ext uri="{BB962C8B-B14F-4D97-AF65-F5344CB8AC3E}">
        <p14:creationId xmlns:p14="http://schemas.microsoft.com/office/powerpoint/2010/main" val="162208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AD8BB-23E8-C4F3-A9DA-31F5CCC0DE15}"/>
              </a:ext>
            </a:extLst>
          </p:cNvPr>
          <p:cNvSpPr>
            <a:spLocks noGrp="1"/>
          </p:cNvSpPr>
          <p:nvPr>
            <p:ph type="title"/>
          </p:nvPr>
        </p:nvSpPr>
        <p:spPr>
          <a:xfrm>
            <a:off x="533400" y="590550"/>
            <a:ext cx="1524000" cy="647700"/>
          </a:xfrm>
        </p:spPr>
        <p:txBody>
          <a:bodyPr wrap="square" lIns="0" tIns="0" rIns="0" bIns="0" anchor="t">
            <a:normAutofit/>
          </a:bodyPr>
          <a:lstStyle/>
          <a:p>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3</a:t>
            </a:r>
          </a:p>
        </p:txBody>
      </p:sp>
      <p:sp>
        <p:nvSpPr>
          <p:cNvPr id="3" name="Content Placeholder 2">
            <a:extLst>
              <a:ext uri="{FF2B5EF4-FFF2-40B4-BE49-F238E27FC236}">
                <a16:creationId xmlns:a16="http://schemas.microsoft.com/office/drawing/2014/main" id="{2ABEC868-95C2-1C0D-E1B7-455334054264}"/>
              </a:ext>
            </a:extLst>
          </p:cNvPr>
          <p:cNvSpPr>
            <a:spLocks noGrp="1"/>
          </p:cNvSpPr>
          <p:nvPr>
            <p:ph idx="1"/>
          </p:nvPr>
        </p:nvSpPr>
        <p:spPr>
          <a:xfrm>
            <a:off x="2333625" y="609600"/>
            <a:ext cx="9096375" cy="5619750"/>
          </a:xfrm>
        </p:spPr>
        <p:txBody>
          <a:bodyPr wrap="square" lIns="0" tIns="0" rIns="0" bIns="0" anchor="t">
            <a:normAutofit/>
          </a:bodyPr>
          <a:lstStyle/>
          <a:p>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Which evidence most clearly indicates speculation (投机)?</a:t>
            </a:r>
          </a:p>
          <a:p>
            <a:pPr marL="0" indent="0">
              <a:buNone/>
            </a:pPr>
            <a:endParaRPr sz="2175" b="1">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Expected bond interest after analysing credit risk.</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Expected net rental income after estimating vacancy and maintenance.</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Borrowing after a rumour of a next-week price jump and planning a quick sale.</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Accepting that a diversified fund held long term can lose value.</a:t>
            </a:r>
          </a:p>
        </p:txBody>
      </p:sp>
    </p:spTree>
    <p:extLst>
      <p:ext uri="{BB962C8B-B14F-4D97-AF65-F5344CB8AC3E}">
        <p14:creationId xmlns:p14="http://schemas.microsoft.com/office/powerpoint/2010/main" val="1612041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76B47-845A-DC38-E33E-A2A88CB7E41C}"/>
              </a:ext>
            </a:extLst>
          </p:cNvPr>
          <p:cNvSpPr>
            <a:spLocks noGrp="1"/>
          </p:cNvSpPr>
          <p:nvPr>
            <p:ph type="title"/>
          </p:nvPr>
        </p:nvSpPr>
        <p:spPr>
          <a:xfrm>
            <a:off x="533400" y="590550"/>
            <a:ext cx="1524000" cy="647700"/>
          </a:xfrm>
        </p:spPr>
        <p:txBody>
          <a:bodyPr wrap="square" lIns="0" tIns="0" rIns="0" bIns="0" anchor="t">
            <a:normAutofit/>
          </a:bodyPr>
          <a:lstStyle/>
          <a:p>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4</a:t>
            </a:r>
          </a:p>
        </p:txBody>
      </p:sp>
      <p:sp>
        <p:nvSpPr>
          <p:cNvPr id="3" name="Content Placeholder 2">
            <a:extLst>
              <a:ext uri="{FF2B5EF4-FFF2-40B4-BE49-F238E27FC236}">
                <a16:creationId xmlns:a16="http://schemas.microsoft.com/office/drawing/2014/main" id="{C775F429-E529-97E6-0606-D10EB458EB72}"/>
              </a:ext>
            </a:extLst>
          </p:cNvPr>
          <p:cNvSpPr>
            <a:spLocks noGrp="1"/>
          </p:cNvSpPr>
          <p:nvPr>
            <p:ph idx="1"/>
          </p:nvPr>
        </p:nvSpPr>
        <p:spPr>
          <a:xfrm>
            <a:off x="2333625" y="609600"/>
            <a:ext cx="9096375" cy="5619750"/>
          </a:xfrm>
        </p:spPr>
        <p:txBody>
          <a:bodyPr wrap="square" lIns="0" tIns="0" rIns="0" bIns="0" anchor="t">
            <a:normAutofit/>
          </a:bodyPr>
          <a:lstStyle/>
          <a:p>
            <a:pPr marL="0" indent="0" algn="l">
              <a:lnSpc>
                <a:spcPct val="105000"/>
              </a:lnSpc>
              <a:buNone/>
              <a:defRPr sz="1763" b="0">
                <a:solidFill>
                  <a:srgbClr val="17232D"/>
                </a:solidFill>
                <a:latin typeface="Microsoft YaHei"/>
                <a:ea typeface="Microsoft YaHei"/>
                <a:cs typeface="Microsoft YaHei"/>
              </a:defRPr>
            </a:pPr>
            <a:r>
              <a:rPr sz="2175" b="1">
                <a:solidFill>
                  <a:srgbClr val="17232D"/>
                </a:solidFill>
                <a:latin typeface="Microsoft YaHei"/>
                <a:ea typeface="Microsoft YaHei"/>
                <a:cs typeface="Microsoft YaHei"/>
              </a:rPr>
              <a:t>Which statement about saving (储蓄) is correct?</a:t>
            </a:r>
          </a:p>
          <a:p>
            <a:pPr marL="0" indent="0">
              <a:buNone/>
            </a:pPr>
            <a:endParaRPr sz="2175" b="1">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763" b="0">
                <a:solidFill>
                  <a:srgbClr val="17232D"/>
                </a:solidFill>
                <a:latin typeface="Microsoft YaHei"/>
                <a:ea typeface="Microsoft YaHei"/>
                <a:cs typeface="Microsoft YaHei"/>
              </a:rPr>
              <a:t> Earning interest automatically changes saving into financial investment (金融投资).</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763" b="0">
                <a:solidFill>
                  <a:srgbClr val="17232D"/>
                </a:solidFill>
                <a:latin typeface="Microsoft YaHei"/>
                <a:ea typeface="Microsoft YaHei"/>
                <a:cs typeface="Microsoft YaHei"/>
              </a:rPr>
              <a:t> Saving cannot lose purchasing power (购买力).</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763" b="0">
                <a:solidFill>
                  <a:srgbClr val="17232D"/>
                </a:solidFill>
                <a:latin typeface="Microsoft YaHei"/>
                <a:ea typeface="Microsoft YaHei"/>
                <a:cs typeface="Microsoft YaHei"/>
              </a:rPr>
              <a:t> Capital preservation (保本) and liquidity (流动性) can matter more than a high return.</a:t>
            </a:r>
          </a:p>
          <a:p>
            <a:pPr marL="0" indent="0">
              <a:buNone/>
            </a:pPr>
            <a:endParaRPr sz="1763" b="0">
              <a:solidFill>
                <a:srgbClr val="17232D"/>
              </a:solidFill>
              <a:latin typeface="Microsoft YaHei"/>
              <a:ea typeface="Microsoft YaHei"/>
              <a:cs typeface="Microsoft YaHei"/>
            </a:endParaRPr>
          </a:p>
          <a:p>
            <a:pPr marL="0" indent="0" algn="l">
              <a:lnSpc>
                <a:spcPct val="105000"/>
              </a:lnSpc>
              <a:buNone/>
              <a:defRPr sz="1763"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763" b="0">
                <a:solidFill>
                  <a:srgbClr val="17232D"/>
                </a:solidFill>
                <a:latin typeface="Microsoft YaHei"/>
                <a:ea typeface="Microsoft YaHei"/>
                <a:cs typeface="Microsoft YaHei"/>
              </a:rPr>
              <a:t> Saving always means holding cash at home.</a:t>
            </a:r>
          </a:p>
        </p:txBody>
      </p:sp>
    </p:spTree>
    <p:extLst>
      <p:ext uri="{BB962C8B-B14F-4D97-AF65-F5344CB8AC3E}">
        <p14:creationId xmlns:p14="http://schemas.microsoft.com/office/powerpoint/2010/main" val="1622084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AD8BB-23E8-C4F3-A9DA-31F5CCC0DE15}"/>
              </a:ext>
            </a:extLst>
          </p:cNvPr>
          <p:cNvSpPr>
            <a:spLocks noGrp="1"/>
          </p:cNvSpPr>
          <p:nvPr>
            <p:ph type="title"/>
          </p:nvPr>
        </p:nvSpPr>
        <p:spPr>
          <a:xfrm>
            <a:off x="533400" y="590550"/>
            <a:ext cx="1524000" cy="647700"/>
          </a:xfrm>
        </p:spPr>
        <p:txBody>
          <a:bodyPr wrap="square" lIns="0" tIns="0" rIns="0" bIns="0" anchor="t">
            <a:normAutofit/>
          </a:bodyPr>
          <a:lstStyle/>
          <a:p>
            <a:pPr marL="0" indent="0" algn="l">
              <a:lnSpc>
                <a:spcPct val="96000"/>
              </a:lnSpc>
              <a:buNone/>
              <a:defRPr sz="2550" b="1">
                <a:solidFill>
                  <a:srgbClr val="3B82F6"/>
                </a:solidFill>
                <a:latin typeface="Microsoft YaHei"/>
                <a:ea typeface="Microsoft YaHei"/>
                <a:cs typeface="Microsoft YaHei"/>
              </a:defRPr>
            </a:pPr>
            <a:r>
              <a:rPr sz="2550" b="1">
                <a:solidFill>
                  <a:srgbClr val="3B82F6"/>
                </a:solidFill>
                <a:latin typeface="Microsoft YaHei"/>
                <a:ea typeface="Microsoft YaHei"/>
                <a:cs typeface="Microsoft YaHei"/>
              </a:rPr>
              <a:t>MCQ 5</a:t>
            </a:r>
          </a:p>
        </p:txBody>
      </p:sp>
      <p:sp>
        <p:nvSpPr>
          <p:cNvPr id="3" name="Content Placeholder 2">
            <a:extLst>
              <a:ext uri="{FF2B5EF4-FFF2-40B4-BE49-F238E27FC236}">
                <a16:creationId xmlns:a16="http://schemas.microsoft.com/office/drawing/2014/main" id="{2ABEC868-95C2-1C0D-E1B7-455334054264}"/>
              </a:ext>
            </a:extLst>
          </p:cNvPr>
          <p:cNvSpPr>
            <a:spLocks noGrp="1"/>
          </p:cNvSpPr>
          <p:nvPr>
            <p:ph idx="1"/>
          </p:nvPr>
        </p:nvSpPr>
        <p:spPr>
          <a:xfrm>
            <a:off x="2333625" y="609600"/>
            <a:ext cx="9096375" cy="5619750"/>
          </a:xfrm>
        </p:spPr>
        <p:txBody>
          <a:bodyPr wrap="square" lIns="0" tIns="0" rIns="0" bIns="0" anchor="t">
            <a:normAutofit/>
          </a:bodyPr>
          <a:lstStyle/>
          <a:p>
            <a:pPr marL="0" indent="0" algn="l">
              <a:lnSpc>
                <a:spcPct val="105000"/>
              </a:lnSpc>
              <a:buNone/>
              <a:defRPr sz="1688" b="0">
                <a:solidFill>
                  <a:srgbClr val="17232D"/>
                </a:solidFill>
                <a:latin typeface="Microsoft YaHei"/>
                <a:ea typeface="Microsoft YaHei"/>
                <a:cs typeface="Microsoft YaHei"/>
              </a:defRPr>
            </a:pPr>
            <a:r>
              <a:rPr sz="2100" b="1">
                <a:solidFill>
                  <a:srgbClr val="17232D"/>
                </a:solidFill>
                <a:latin typeface="Microsoft YaHei"/>
                <a:ea typeface="Microsoft YaHei"/>
                <a:cs typeface="Microsoft YaHei"/>
              </a:rPr>
              <a:t>Two people buy the same asset (资产). Why might one be investing (投资) and the other speculating (投机)?</a:t>
            </a:r>
          </a:p>
          <a:p>
            <a:pPr marL="0" indent="0">
              <a:buNone/>
            </a:pPr>
            <a:endParaRPr sz="2100" b="1">
              <a:solidFill>
                <a:srgbClr val="17232D"/>
              </a:solidFill>
              <a:latin typeface="Microsoft YaHei"/>
              <a:ea typeface="Microsoft YaHei"/>
              <a:cs typeface="Microsoft YaHei"/>
            </a:endParaRPr>
          </a:p>
          <a:p>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A.</a:t>
            </a:r>
            <a:r>
              <a:rPr sz="1688" b="0">
                <a:solidFill>
                  <a:srgbClr val="17232D"/>
                </a:solidFill>
                <a:latin typeface="Microsoft YaHei"/>
                <a:ea typeface="Microsoft YaHei"/>
                <a:cs typeface="Microsoft YaHei"/>
              </a:rPr>
              <a:t> The asset name decides the category.</a:t>
            </a:r>
          </a:p>
          <a:p>
            <a:pPr marL="0" indent="0">
              <a:buNone/>
            </a:pPr>
            <a:endParaRPr sz="1688" b="0">
              <a:solidFill>
                <a:srgbClr val="17232D"/>
              </a:solidFill>
              <a:latin typeface="Microsoft YaHei"/>
              <a:ea typeface="Microsoft YaHei"/>
              <a:cs typeface="Microsoft YaHei"/>
            </a:endParaRPr>
          </a:p>
          <a:p>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B.</a:t>
            </a:r>
            <a:r>
              <a:rPr sz="1688" b="0">
                <a:solidFill>
                  <a:srgbClr val="17232D"/>
                </a:solidFill>
                <a:latin typeface="Microsoft YaHei"/>
                <a:ea typeface="Microsoft YaHei"/>
                <a:cs typeface="Microsoft YaHei"/>
              </a:rPr>
              <a:t> The person who pays the higher price is the speculator (投机者).</a:t>
            </a:r>
          </a:p>
          <a:p>
            <a:pPr marL="0" indent="0">
              <a:buNone/>
            </a:pPr>
            <a:endParaRPr sz="1688" b="0">
              <a:solidFill>
                <a:srgbClr val="17232D"/>
              </a:solidFill>
              <a:latin typeface="Microsoft YaHei"/>
              <a:ea typeface="Microsoft YaHei"/>
              <a:cs typeface="Microsoft YaHei"/>
            </a:endParaRPr>
          </a:p>
          <a:p>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C.</a:t>
            </a:r>
            <a:r>
              <a:rPr sz="1688" b="0">
                <a:solidFill>
                  <a:srgbClr val="17232D"/>
                </a:solidFill>
                <a:latin typeface="Microsoft YaHei"/>
                <a:ea typeface="Microsoft YaHei"/>
                <a:cs typeface="Microsoft YaHei"/>
              </a:rPr>
              <a:t> One bases expected return on income and/or evidence about long-term value; the other mainly on a price prediction (价格预测).</a:t>
            </a:r>
          </a:p>
          <a:p>
            <a:pPr marL="0" indent="0">
              <a:buNone/>
            </a:pPr>
            <a:endParaRPr sz="1688" b="0">
              <a:solidFill>
                <a:srgbClr val="17232D"/>
              </a:solidFill>
              <a:latin typeface="Microsoft YaHei"/>
              <a:ea typeface="Microsoft YaHei"/>
              <a:cs typeface="Microsoft YaHei"/>
            </a:endParaRPr>
          </a:p>
          <a:p>
            <a:pPr marL="0" indent="0" algn="l">
              <a:lnSpc>
                <a:spcPct val="105000"/>
              </a:lnSpc>
              <a:buNone/>
              <a:defRPr sz="1688" b="0">
                <a:solidFill>
                  <a:srgbClr val="17232D"/>
                </a:solidFill>
                <a:latin typeface="Microsoft YaHei"/>
                <a:ea typeface="Microsoft YaHei"/>
                <a:cs typeface="Microsoft YaHei"/>
              </a:defRPr>
            </a:pPr>
            <a:r>
              <a:rPr sz="2025" b="1">
                <a:solidFill>
                  <a:srgbClr val="3B82F6"/>
                </a:solidFill>
                <a:latin typeface="Microsoft YaHei"/>
                <a:ea typeface="Microsoft YaHei"/>
                <a:cs typeface="Microsoft YaHei"/>
              </a:rPr>
              <a:t>D.</a:t>
            </a:r>
            <a:r>
              <a:rPr sz="1688" b="0">
                <a:solidFill>
                  <a:srgbClr val="17232D"/>
                </a:solidFill>
                <a:latin typeface="Microsoft YaHei"/>
                <a:ea typeface="Microsoft YaHei"/>
                <a:cs typeface="Microsoft YaHei"/>
              </a:rPr>
              <a:t> The person planning to sell sooner is always the speculator (投机者).</a:t>
            </a:r>
          </a:p>
        </p:txBody>
      </p:sp>
    </p:spTree>
    <p:extLst>
      <p:ext uri="{BB962C8B-B14F-4D97-AF65-F5344CB8AC3E}">
        <p14:creationId xmlns:p14="http://schemas.microsoft.com/office/powerpoint/2010/main" val="1612041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7DCAD9-CBC4-E097-BBEF-D97C9A9C0369}"/>
              </a:ext>
            </a:extLst>
          </p:cNvPr>
          <p:cNvSpPr>
            <a:spLocks noGrp="1"/>
          </p:cNvSpPr>
          <p:nvPr>
            <p:ph type="title"/>
          </p:nvPr>
        </p:nvSpPr>
        <p:spPr/>
        <p:txBody>
          <a:bodyPr/>
          <a:lstStyle/>
          <a:p>
            <a:r>
              <a:rPr lang="en-US" altLang="zh-CN" dirty="0"/>
              <a:t>Short answers</a:t>
            </a:r>
            <a:endParaRPr lang="zh-CN" altLang="en-US" dirty="0"/>
          </a:p>
        </p:txBody>
      </p:sp>
    </p:spTree>
    <p:extLst>
      <p:ext uri="{BB962C8B-B14F-4D97-AF65-F5344CB8AC3E}">
        <p14:creationId xmlns:p14="http://schemas.microsoft.com/office/powerpoint/2010/main" val="1374188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90B7-B771-44F1-2AE6-B30C059E9210}"/>
              </a:ext>
            </a:extLst>
          </p:cNvPr>
          <p:cNvSpPr>
            <a:spLocks noGrp="1"/>
          </p:cNvSpPr>
          <p:nvPr>
            <p:ph type="title"/>
          </p:nvPr>
        </p:nvSpPr>
        <p:spPr>
          <a:xfrm>
            <a:off x="609600" y="438150"/>
            <a:ext cx="10972800" cy="781050"/>
          </a:xfrm>
        </p:spPr>
        <p:txBody>
          <a:bodyPr wrap="square" lIns="0" tIns="0" rIns="0" bIns="0" anchor="ctr">
            <a:normAutofit/>
          </a:bodyPr>
          <a:lstStyle/>
          <a:p>
            <a:pPr marL="0" indent="0" algn="l">
              <a:lnSpc>
                <a:spcPct val="96000"/>
              </a:lnSpc>
              <a:buNone/>
              <a:defRPr sz="2925" b="1">
                <a:solidFill>
                  <a:srgbClr val="17232D"/>
                </a:solidFill>
                <a:latin typeface="Microsoft YaHei"/>
                <a:ea typeface="Microsoft YaHei"/>
                <a:cs typeface="Microsoft YaHei"/>
              </a:defRPr>
            </a:pPr>
            <a:r>
              <a:rPr sz="2925" b="1">
                <a:solidFill>
                  <a:srgbClr val="17232D"/>
                </a:solidFill>
                <a:latin typeface="Microsoft YaHei"/>
                <a:ea typeface="Microsoft YaHei"/>
                <a:cs typeface="Microsoft YaHei"/>
              </a:rPr>
              <a:t>Short answer question 1: save first or invest now?</a:t>
            </a:r>
          </a:p>
        </p:txBody>
      </p:sp>
      <p:sp>
        <p:nvSpPr>
          <p:cNvPr id="3" name="Content Placeholder 2">
            <a:extLst>
              <a:ext uri="{FF2B5EF4-FFF2-40B4-BE49-F238E27FC236}">
                <a16:creationId xmlns:a16="http://schemas.microsoft.com/office/drawing/2014/main" id="{DF3F9A3A-B398-A25E-EF98-2CDD0E4C2893}"/>
              </a:ext>
            </a:extLst>
          </p:cNvPr>
          <p:cNvSpPr>
            <a:spLocks noGrp="1"/>
          </p:cNvSpPr>
          <p:nvPr>
            <p:ph idx="1"/>
          </p:nvPr>
        </p:nvSpPr>
        <p:spPr>
          <a:xfrm>
            <a:off x="666750" y="1476375"/>
            <a:ext cx="6334125" cy="4619625"/>
          </a:xfrm>
        </p:spPr>
        <p:txBody>
          <a:bodyPr wrap="square" lIns="0" tIns="0" rIns="0" bIns="0" anchor="t">
            <a:normAutofit/>
          </a:bodyPr>
          <a:lstStyle/>
          <a:p>
            <a:pPr marL="0" indent="0" algn="l">
              <a:lnSpc>
                <a:spcPct val="104000"/>
              </a:lnSpc>
              <a:buNone/>
              <a:defRPr sz="1800" b="0">
                <a:solidFill>
                  <a:srgbClr val="17232D"/>
                </a:solidFill>
                <a:latin typeface="Microsoft YaHei"/>
                <a:ea typeface="Microsoft YaHei"/>
                <a:cs typeface="Microsoft YaHei"/>
              </a:defRPr>
            </a:pPr>
            <a:r>
              <a:rPr sz="1875" b="1">
                <a:solidFill>
                  <a:srgbClr val="17232D"/>
                </a:solidFill>
                <a:latin typeface="Microsoft YaHei"/>
                <a:ea typeface="Microsoft YaHei"/>
                <a:cs typeface="Microsoft YaHei"/>
              </a:rPr>
              <a:t>Mina receives ¥500 and has no money set aside for emergencies. Should she save some before investing? Explain.</a:t>
            </a:r>
          </a:p>
          <a:p>
            <a:pPr marL="0" indent="0">
              <a:buNone/>
            </a:pPr>
            <a:endParaRPr sz="1875" b="1">
              <a:solidFill>
                <a:srgbClr val="17232D"/>
              </a:solidFill>
              <a:latin typeface="Microsoft YaHei"/>
              <a:ea typeface="Microsoft YaHei"/>
              <a:cs typeface="Microsoft YaHei"/>
            </a:endParaRPr>
          </a:p>
          <a:p>
            <a:pPr marL="0" indent="0" algn="l">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Use at least two terms:</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emergency fund (应急资金)</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liquidity (流动性)</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essential spending (必要支出)</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possible loss (可能亏损)</a:t>
            </a:r>
          </a:p>
        </p:txBody>
      </p:sp>
      <p:pic>
        <p:nvPicPr>
          <p:cNvPr id="7" name="Picture 6"/>
          <p:cNvPicPr>
            <a:picLocks noChangeAspect="1"/>
          </p:cNvPicPr>
          <p:nvPr/>
        </p:nvPicPr>
        <p:blipFill>
          <a:blip r:embed="rId3"/>
          <a:srcRect l="23177" r="23177"/>
          <a:stretch>
            <a:fillRect/>
          </a:stretch>
        </p:blipFill>
        <p:spPr>
          <a:xfrm>
            <a:off x="7620000" y="1524000"/>
            <a:ext cx="4000500" cy="4191000"/>
          </a:xfrm>
          <a:prstGeom prst="rect">
            <a:avLst/>
          </a:prstGeom>
        </p:spPr>
      </p:pic>
    </p:spTree>
    <p:extLst>
      <p:ext uri="{BB962C8B-B14F-4D97-AF65-F5344CB8AC3E}">
        <p14:creationId xmlns:p14="http://schemas.microsoft.com/office/powerpoint/2010/main" val="889146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FD62F-AADD-915A-DD6D-C994392E9694}"/>
              </a:ext>
            </a:extLst>
          </p:cNvPr>
          <p:cNvSpPr>
            <a:spLocks noGrp="1"/>
          </p:cNvSpPr>
          <p:nvPr>
            <p:ph type="title"/>
          </p:nvPr>
        </p:nvSpPr>
        <p:spPr>
          <a:xfrm>
            <a:off x="685800" y="590550"/>
            <a:ext cx="10820400" cy="781050"/>
          </a:xfrm>
        </p:spPr>
        <p:txBody>
          <a:bodyPr wrap="square" lIns="0" tIns="0" rIns="0" bIns="0" anchor="ctr">
            <a:normAutofit/>
          </a:bodyPr>
          <a:lstStyle/>
          <a:p>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a:ext uri="{FF2B5EF4-FFF2-40B4-BE49-F238E27FC236}">
                <a16:creationId xmlns:a16="http://schemas.microsoft.com/office/drawing/2014/main" id="{C55E56F6-0A1D-ADCB-6DF9-639690F61E06}"/>
              </a:ext>
            </a:extLst>
          </p:cNvPr>
          <p:cNvSpPr>
            <a:spLocks noGrp="1"/>
          </p:cNvSpPr>
          <p:nvPr>
            <p:ph idx="1"/>
          </p:nvPr>
        </p:nvSpPr>
        <p:spPr>
          <a:xfrm>
            <a:off x="1123950" y="1952625"/>
            <a:ext cx="9944100" cy="2952750"/>
          </a:xfrm>
        </p:spPr>
        <p:txBody>
          <a:bodyPr wrap="square" lIns="0" tIns="0" rIns="0" bIns="0" anchor="ctr">
            <a:normAutofit/>
          </a:bodyPr>
          <a:lstStyle/>
          <a:p>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Mina should save some of the ¥500 first.</a:t>
            </a:r>
            <a:r>
              <a:t> She has no </a:t>
            </a:r>
            <a:r>
              <a:rPr sz="2550" b="1">
                <a:solidFill>
                  <a:srgbClr val="2B5D7E"/>
                </a:solidFill>
                <a:latin typeface="Microsoft YaHei"/>
                <a:ea typeface="Microsoft YaHei"/>
                <a:cs typeface="Microsoft YaHei"/>
              </a:rPr>
              <a:t>emergency fund</a:t>
            </a:r>
            <a:r>
              <a:t>, so </a:t>
            </a:r>
            <a:r>
              <a:rPr sz="2550" b="1">
                <a:solidFill>
                  <a:srgbClr val="2B5D7E"/>
                </a:solidFill>
                <a:latin typeface="Microsoft YaHei"/>
                <a:ea typeface="Microsoft YaHei"/>
                <a:cs typeface="Microsoft YaHei"/>
              </a:rPr>
              <a:t>liquidity</a:t>
            </a:r>
            <a:r>
              <a:t> matters: the money may be needed for </a:t>
            </a:r>
            <a:r>
              <a:rPr sz="2550" b="1">
                <a:solidFill>
                  <a:srgbClr val="2B5D7E"/>
                </a:solidFill>
                <a:latin typeface="Microsoft YaHei"/>
                <a:ea typeface="Microsoft YaHei"/>
                <a:cs typeface="Microsoft YaHei"/>
              </a:rPr>
              <a:t>essential spending</a:t>
            </a:r>
            <a:r>
              <a:t>. If she invested all of it, a </a:t>
            </a:r>
            <a:r>
              <a:rPr sz="2550" b="1">
                <a:solidFill>
                  <a:srgbClr val="F06C5B"/>
                </a:solidFill>
                <a:latin typeface="Microsoft YaHei"/>
                <a:ea typeface="Microsoft YaHei"/>
                <a:cs typeface="Microsoft YaHei"/>
              </a:rPr>
              <a:t>possible loss</a:t>
            </a:r>
            <a:r>
              <a:t> could leave her unable to meet an emergency.</a:t>
            </a:r>
          </a:p>
        </p:txBody>
      </p:sp>
    </p:spTree>
    <p:extLst>
      <p:ext uri="{BB962C8B-B14F-4D97-AF65-F5344CB8AC3E}">
        <p14:creationId xmlns:p14="http://schemas.microsoft.com/office/powerpoint/2010/main" val="3457858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E464-7ACE-6098-A3B2-6BF9D51E9B00}"/>
              </a:ext>
            </a:extLst>
          </p:cNvPr>
          <p:cNvSpPr>
            <a:spLocks noGrp="1"/>
          </p:cNvSpPr>
          <p:nvPr>
            <p:ph type="title"/>
          </p:nvPr>
        </p:nvSpPr>
        <p:spPr>
          <a:xfrm>
            <a:off x="609600" y="438150"/>
            <a:ext cx="10972800" cy="781050"/>
          </a:xfrm>
        </p:spPr>
        <p:txBody>
          <a:bodyPr wrap="square" lIns="0" tIns="0" rIns="0" bIns="0" anchor="ctr">
            <a:normAutofit fontScale="90000"/>
          </a:bodyPr>
          <a:lstStyle/>
          <a:p>
            <a:pPr marL="0" indent="0" algn="l">
              <a:lnSpc>
                <a:spcPct val="96000"/>
              </a:lnSpc>
              <a:buNone/>
              <a:defRPr sz="2700" b="1">
                <a:solidFill>
                  <a:srgbClr val="17232D"/>
                </a:solidFill>
                <a:latin typeface="Microsoft YaHei"/>
                <a:ea typeface="Microsoft YaHei"/>
                <a:cs typeface="Microsoft YaHei"/>
              </a:defRPr>
            </a:pPr>
            <a:r>
              <a:rPr sz="2700" b="1">
                <a:solidFill>
                  <a:srgbClr val="17232D"/>
                </a:solidFill>
                <a:latin typeface="Microsoft YaHei"/>
                <a:ea typeface="Microsoft YaHei"/>
                <a:cs typeface="Microsoft YaHei"/>
              </a:rPr>
              <a:t>Short answer question 2: what matters when money is needed soon?</a:t>
            </a:r>
          </a:p>
        </p:txBody>
      </p:sp>
      <p:sp>
        <p:nvSpPr>
          <p:cNvPr id="3" name="Content Placeholder 2">
            <a:extLst>
              <a:ext uri="{FF2B5EF4-FFF2-40B4-BE49-F238E27FC236}">
                <a16:creationId xmlns:a16="http://schemas.microsoft.com/office/drawing/2014/main" id="{FAC1ADBE-522A-4212-AD09-B33B4169FDCE}"/>
              </a:ext>
            </a:extLst>
          </p:cNvPr>
          <p:cNvSpPr>
            <a:spLocks noGrp="1"/>
          </p:cNvSpPr>
          <p:nvPr>
            <p:ph idx="1"/>
          </p:nvPr>
        </p:nvSpPr>
        <p:spPr>
          <a:xfrm>
            <a:off x="666750" y="1476375"/>
            <a:ext cx="6334125" cy="4619625"/>
          </a:xfrm>
        </p:spPr>
        <p:txBody>
          <a:bodyPr wrap="square" lIns="0" tIns="0" rIns="0" bIns="0" anchor="t">
            <a:normAutofit/>
          </a:bodyPr>
          <a:lstStyle/>
          <a:p>
            <a:pPr marL="0" indent="0" algn="l">
              <a:lnSpc>
                <a:spcPct val="104000"/>
              </a:lnSpc>
              <a:buNone/>
              <a:defRPr sz="1800" b="0">
                <a:solidFill>
                  <a:srgbClr val="17232D"/>
                </a:solidFill>
                <a:latin typeface="Microsoft YaHei"/>
                <a:ea typeface="Microsoft YaHei"/>
                <a:cs typeface="Microsoft YaHei"/>
              </a:defRPr>
            </a:pPr>
            <a:r>
              <a:rPr sz="1875" b="1">
                <a:solidFill>
                  <a:srgbClr val="17232D"/>
                </a:solidFill>
                <a:latin typeface="Microsoft YaHei"/>
                <a:ea typeface="Microsoft YaHei"/>
                <a:cs typeface="Microsoft YaHei"/>
              </a:rPr>
              <a:t>Leo needs the money for a laptop in six months. He wants a higher return but cannot afford a loss. Should he save or invest it? Explain.</a:t>
            </a:r>
          </a:p>
          <a:p>
            <a:pPr marL="0" indent="0">
              <a:buNone/>
            </a:pPr>
            <a:endParaRPr sz="1875" b="1">
              <a:solidFill>
                <a:srgbClr val="17232D"/>
              </a:solidFill>
              <a:latin typeface="Microsoft YaHei"/>
              <a:ea typeface="Microsoft YaHei"/>
              <a:cs typeface="Microsoft YaHei"/>
            </a:endParaRPr>
          </a:p>
          <a:p>
            <a:pPr marL="0" indent="0" algn="l">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Use at least two terms:</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time horizon (投资期限)</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liquidity (流动性)</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capital preservation (保本)</a:t>
            </a:r>
          </a:p>
          <a:p>
            <a:pPr>
              <a:lnSpc>
                <a:spcPct val="104000"/>
              </a:lnSpc>
              <a:buNone/>
              <a:defRPr sz="1800" b="0">
                <a:solidFill>
                  <a:srgbClr val="17232D"/>
                </a:solidFill>
                <a:latin typeface="Microsoft YaHei"/>
                <a:ea typeface="Microsoft YaHei"/>
                <a:cs typeface="Microsoft YaHei"/>
              </a:defRPr>
            </a:pPr>
            <a:r>
              <a:rPr sz="1800" b="0">
                <a:solidFill>
                  <a:srgbClr val="17232D"/>
                </a:solidFill>
                <a:latin typeface="Microsoft YaHei"/>
                <a:ea typeface="Microsoft YaHei"/>
                <a:cs typeface="Microsoft YaHei"/>
              </a:rPr>
              <a:t>possible loss (可能亏损)</a:t>
            </a:r>
          </a:p>
        </p:txBody>
      </p:sp>
      <p:pic>
        <p:nvPicPr>
          <p:cNvPr id="7" name="Picture 6"/>
          <p:cNvPicPr>
            <a:picLocks noChangeAspect="1"/>
          </p:cNvPicPr>
          <p:nvPr/>
        </p:nvPicPr>
        <p:blipFill>
          <a:blip r:embed="rId3"/>
          <a:srcRect l="18191" r="18191"/>
          <a:stretch>
            <a:fillRect/>
          </a:stretch>
        </p:blipFill>
        <p:spPr>
          <a:xfrm>
            <a:off x="7620000" y="1524000"/>
            <a:ext cx="4000500" cy="4191000"/>
          </a:xfrm>
          <a:prstGeom prst="rect">
            <a:avLst/>
          </a:prstGeom>
        </p:spPr>
      </p:pic>
    </p:spTree>
    <p:extLst>
      <p:ext uri="{BB962C8B-B14F-4D97-AF65-F5344CB8AC3E}">
        <p14:creationId xmlns:p14="http://schemas.microsoft.com/office/powerpoint/2010/main" val="1439202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46CA2-4CB7-4F71-15CD-0DF6B09345DA}"/>
              </a:ext>
            </a:extLst>
          </p:cNvPr>
          <p:cNvSpPr>
            <a:spLocks noGrp="1"/>
          </p:cNvSpPr>
          <p:nvPr>
            <p:ph type="title"/>
          </p:nvPr>
        </p:nvSpPr>
        <p:spPr>
          <a:xfrm>
            <a:off x="685800" y="590550"/>
            <a:ext cx="10820400" cy="781050"/>
          </a:xfrm>
        </p:spPr>
        <p:txBody>
          <a:bodyPr wrap="square" lIns="0" tIns="0" rIns="0" bIns="0" anchor="ctr">
            <a:normAutofit/>
          </a:bodyPr>
          <a:lstStyle/>
          <a:p>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a:ext uri="{FF2B5EF4-FFF2-40B4-BE49-F238E27FC236}">
                <a16:creationId xmlns:a16="http://schemas.microsoft.com/office/drawing/2014/main" id="{0BCEECE8-9F37-575D-7AC5-3335588107E3}"/>
              </a:ext>
            </a:extLst>
          </p:cNvPr>
          <p:cNvSpPr>
            <a:spLocks noGrp="1"/>
          </p:cNvSpPr>
          <p:nvPr>
            <p:ph idx="1"/>
          </p:nvPr>
        </p:nvSpPr>
        <p:spPr>
          <a:xfrm>
            <a:off x="1123950" y="1952625"/>
            <a:ext cx="9944100" cy="2952750"/>
          </a:xfrm>
        </p:spPr>
        <p:txBody>
          <a:bodyPr wrap="square" lIns="0" tIns="0" rIns="0" bIns="0" anchor="ctr">
            <a:normAutofit/>
          </a:bodyPr>
          <a:lstStyle/>
          <a:p>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Leo should save the money.</a:t>
            </a:r>
            <a:r>
              <a:t> His </a:t>
            </a:r>
            <a:r>
              <a:rPr sz="2550" b="1">
                <a:solidFill>
                  <a:srgbClr val="2B5D7E"/>
                </a:solidFill>
                <a:latin typeface="Microsoft YaHei"/>
                <a:ea typeface="Microsoft YaHei"/>
                <a:cs typeface="Microsoft YaHei"/>
              </a:rPr>
              <a:t>time horizon</a:t>
            </a:r>
            <a:r>
              <a:t> is only six months, and he needs the money for a known purchase. Because he cannot afford a </a:t>
            </a:r>
            <a:r>
              <a:rPr sz="2550" b="1">
                <a:solidFill>
                  <a:srgbClr val="F06C5B"/>
                </a:solidFill>
                <a:latin typeface="Microsoft YaHei"/>
                <a:ea typeface="Microsoft YaHei"/>
                <a:cs typeface="Microsoft YaHei"/>
              </a:rPr>
              <a:t>possible loss</a:t>
            </a:r>
            <a:r>
              <a:t>, </a:t>
            </a:r>
            <a:r>
              <a:rPr sz="2550" b="1">
                <a:solidFill>
                  <a:srgbClr val="2B5D7E"/>
                </a:solidFill>
                <a:latin typeface="Microsoft YaHei"/>
                <a:ea typeface="Microsoft YaHei"/>
                <a:cs typeface="Microsoft YaHei"/>
              </a:rPr>
              <a:t>capital preservation</a:t>
            </a:r>
            <a:r>
              <a:t> and </a:t>
            </a:r>
            <a:r>
              <a:rPr sz="2550" b="1">
                <a:solidFill>
                  <a:srgbClr val="2B5D7E"/>
                </a:solidFill>
                <a:latin typeface="Microsoft YaHei"/>
                <a:ea typeface="Microsoft YaHei"/>
                <a:cs typeface="Microsoft YaHei"/>
              </a:rPr>
              <a:t>liquidity</a:t>
            </a:r>
            <a:r>
              <a:t> matter more than a higher expected return.</a:t>
            </a:r>
          </a:p>
        </p:txBody>
      </p:sp>
    </p:spTree>
    <p:extLst>
      <p:ext uri="{BB962C8B-B14F-4D97-AF65-F5344CB8AC3E}">
        <p14:creationId xmlns:p14="http://schemas.microsoft.com/office/powerpoint/2010/main" val="2457509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0C6C6-39CF-0255-47DF-526C3C8413D1}"/>
              </a:ext>
            </a:extLst>
          </p:cNvPr>
          <p:cNvSpPr>
            <a:spLocks noGrp="1"/>
          </p:cNvSpPr>
          <p:nvPr>
            <p:ph type="title"/>
          </p:nvPr>
        </p:nvSpPr>
        <p:spPr>
          <a:xfrm>
            <a:off x="609600" y="438150"/>
            <a:ext cx="10972800" cy="781050"/>
          </a:xfrm>
        </p:spPr>
        <p:txBody>
          <a:bodyPr wrap="square" lIns="0" tIns="0" rIns="0" bIns="0" anchor="ctr">
            <a:normAutofit fontScale="90000"/>
          </a:bodyPr>
          <a:lstStyle/>
          <a:p>
            <a:pPr marL="0" indent="0" algn="l">
              <a:lnSpc>
                <a:spcPct val="96000"/>
              </a:lnSpc>
              <a:buNone/>
              <a:defRPr sz="2700" b="1">
                <a:solidFill>
                  <a:srgbClr val="17232D"/>
                </a:solidFill>
                <a:latin typeface="Microsoft YaHei"/>
                <a:ea typeface="Microsoft YaHei"/>
                <a:cs typeface="Microsoft YaHei"/>
              </a:defRPr>
            </a:pPr>
            <a:r>
              <a:rPr sz="2700" b="1">
                <a:solidFill>
                  <a:srgbClr val="17232D"/>
                </a:solidFill>
                <a:latin typeface="Microsoft YaHei"/>
                <a:ea typeface="Microsoft YaHei"/>
                <a:cs typeface="Microsoft YaHei"/>
              </a:rPr>
              <a:t>Short answer question 3: why can borrowing make the loss worse?</a:t>
            </a:r>
          </a:p>
        </p:txBody>
      </p:sp>
      <p:sp>
        <p:nvSpPr>
          <p:cNvPr id="3" name="Content Placeholder 2">
            <a:extLst>
              <a:ext uri="{FF2B5EF4-FFF2-40B4-BE49-F238E27FC236}">
                <a16:creationId xmlns:a16="http://schemas.microsoft.com/office/drawing/2014/main" id="{F72AADBC-6F86-CC00-BCEB-8FB4CEDE29B2}"/>
              </a:ext>
            </a:extLst>
          </p:cNvPr>
          <p:cNvSpPr>
            <a:spLocks noGrp="1"/>
          </p:cNvSpPr>
          <p:nvPr>
            <p:ph idx="1"/>
          </p:nvPr>
        </p:nvSpPr>
        <p:spPr>
          <a:xfrm>
            <a:off x="666750" y="1476375"/>
            <a:ext cx="6334125" cy="4619625"/>
          </a:xfrm>
        </p:spPr>
        <p:txBody>
          <a:bodyPr wrap="square" lIns="0" tIns="0" rIns="0" bIns="0" anchor="t">
            <a:normAutofit/>
          </a:bodyPr>
          <a:lstStyle/>
          <a:p>
            <a:pPr marL="0" indent="0" algn="l">
              <a:lnSpc>
                <a:spcPct val="104000"/>
              </a:lnSpc>
              <a:buNone/>
              <a:defRPr sz="1725" b="0">
                <a:solidFill>
                  <a:srgbClr val="17232D"/>
                </a:solidFill>
                <a:latin typeface="Microsoft YaHei"/>
                <a:ea typeface="Microsoft YaHei"/>
                <a:cs typeface="Microsoft YaHei"/>
              </a:defRPr>
            </a:pPr>
            <a:r>
              <a:rPr sz="1800" b="1">
                <a:solidFill>
                  <a:srgbClr val="17232D"/>
                </a:solidFill>
                <a:latin typeface="Microsoft YaHei"/>
                <a:ea typeface="Microsoft YaHei"/>
                <a:cs typeface="Microsoft YaHei"/>
              </a:rPr>
              <a:t>Nora borrows money to buy shares after an unverified online rumour. She will sell tomorrow if the price rises.</a:t>
            </a:r>
          </a:p>
          <a:p>
            <a:pPr marL="0" indent="0">
              <a:buNone/>
            </a:pPr>
            <a:endParaRPr sz="1800" b="1">
              <a:solidFill>
                <a:srgbClr val="17232D"/>
              </a:solidFill>
              <a:latin typeface="Microsoft YaHei"/>
              <a:ea typeface="Microsoft YaHei"/>
              <a:cs typeface="Microsoft YaHei"/>
            </a:endParaRPr>
          </a:p>
          <a:p>
            <a:pPr marL="0" indent="0" algn="l">
              <a:lnSpc>
                <a:spcPct val="104000"/>
              </a:lnSpc>
              <a:buNone/>
              <a:defRPr sz="1725" b="0">
                <a:solidFill>
                  <a:srgbClr val="17232D"/>
                </a:solidFill>
                <a:latin typeface="Microsoft YaHei"/>
                <a:ea typeface="Microsoft YaHei"/>
                <a:cs typeface="Microsoft YaHei"/>
              </a:defRPr>
            </a:pPr>
            <a:r>
              <a:rPr sz="1725" b="0">
                <a:solidFill>
                  <a:srgbClr val="17232D"/>
                </a:solidFill>
                <a:latin typeface="Microsoft YaHei"/>
                <a:ea typeface="Microsoft YaHei"/>
                <a:cs typeface="Microsoft YaHei"/>
              </a:rPr>
              <a:t>What makes this speculation, and how can borrowing make the loss worse?</a:t>
            </a:r>
          </a:p>
          <a:p>
            <a:pPr marL="0" indent="0">
              <a:buNone/>
            </a:pPr>
            <a:endParaRPr sz="1725" b="0">
              <a:solidFill>
                <a:srgbClr val="17232D"/>
              </a:solidFill>
              <a:latin typeface="Microsoft YaHei"/>
              <a:ea typeface="Microsoft YaHei"/>
              <a:cs typeface="Microsoft YaHei"/>
            </a:endParaRPr>
          </a:p>
          <a:p>
            <a:pPr marL="0" indent="0" algn="l">
              <a:lnSpc>
                <a:spcPct val="104000"/>
              </a:lnSpc>
              <a:buNone/>
              <a:defRPr sz="1725" b="0">
                <a:solidFill>
                  <a:srgbClr val="17232D"/>
                </a:solidFill>
                <a:latin typeface="Microsoft YaHei"/>
                <a:ea typeface="Microsoft YaHei"/>
                <a:cs typeface="Microsoft YaHei"/>
              </a:defRPr>
            </a:pPr>
            <a:r>
              <a:rPr sz="1725" b="0">
                <a:solidFill>
                  <a:srgbClr val="17232D"/>
                </a:solidFill>
                <a:latin typeface="Microsoft YaHei"/>
                <a:ea typeface="Microsoft YaHei"/>
                <a:cs typeface="Microsoft YaHei"/>
              </a:rPr>
              <a:t>Use at least two terms:</a:t>
            </a:r>
          </a:p>
          <a:p>
            <a:pPr marL="0" indent="0" algn="l">
              <a:lnSpc>
                <a:spcPct val="104000"/>
              </a:lnSpc>
              <a:buNone/>
              <a:defRPr sz="1725" b="0">
                <a:solidFill>
                  <a:srgbClr val="17232D"/>
                </a:solidFill>
                <a:latin typeface="Microsoft YaHei"/>
                <a:ea typeface="Microsoft YaHei"/>
                <a:cs typeface="Microsoft YaHei"/>
              </a:defRPr>
            </a:pPr>
            <a:r>
              <a:rPr sz="1725" b="0">
                <a:solidFill>
                  <a:srgbClr val="17232D"/>
                </a:solidFill>
                <a:latin typeface="Microsoft YaHei"/>
                <a:ea typeface="Microsoft YaHei"/>
                <a:cs typeface="Microsoft YaHei"/>
              </a:rPr>
              <a:t>rumour (传闻) • price prediction (价格预测)</a:t>
            </a:r>
          </a:p>
          <a:p>
            <a:pPr marL="0" indent="0" algn="l">
              <a:lnSpc>
                <a:spcPct val="104000"/>
              </a:lnSpc>
              <a:buNone/>
              <a:defRPr sz="1725" b="0">
                <a:solidFill>
                  <a:srgbClr val="17232D"/>
                </a:solidFill>
                <a:latin typeface="Microsoft YaHei"/>
                <a:ea typeface="Microsoft YaHei"/>
                <a:cs typeface="Microsoft YaHei"/>
              </a:defRPr>
            </a:pPr>
            <a:r>
              <a:rPr sz="1725" b="0">
                <a:solidFill>
                  <a:srgbClr val="17232D"/>
                </a:solidFill>
                <a:latin typeface="Microsoft YaHei"/>
                <a:ea typeface="Microsoft YaHei"/>
                <a:cs typeface="Microsoft YaHei"/>
              </a:rPr>
              <a:t>repayment obligation (偿还义务) • possible loss (可能亏损)</a:t>
            </a:r>
          </a:p>
          <a:p>
            <a:pPr marL="0" indent="0" algn="l">
              <a:buNone/>
              <a:defRPr sz="1875" b="0">
                <a:solidFill>
                  <a:srgbClr val="171717"/>
                </a:solidFill>
                <a:latin typeface="Arial"/>
                <a:ea typeface="Arial"/>
                <a:cs typeface="Arial"/>
              </a:defRPr>
            </a:pPr>
            <a:endParaRPr sz="1725" b="0">
              <a:solidFill>
                <a:srgbClr val="17232D"/>
              </a:solidFill>
              <a:latin typeface="Microsoft YaHei"/>
              <a:ea typeface="Microsoft YaHei"/>
              <a:cs typeface="Microsoft YaHei"/>
            </a:endParaRPr>
          </a:p>
          <a:p>
            <a:pPr marL="0" indent="0" algn="l">
              <a:lnSpc>
                <a:spcPct val="104000"/>
              </a:lnSpc>
              <a:buNone/>
              <a:defRPr sz="1725" b="0">
                <a:solidFill>
                  <a:srgbClr val="17232D"/>
                </a:solidFill>
                <a:latin typeface="Microsoft YaHei"/>
                <a:ea typeface="Microsoft YaHei"/>
                <a:cs typeface="Microsoft YaHei"/>
              </a:defRPr>
            </a:pPr>
            <a:r>
              <a:rPr sz="1575" b="1">
                <a:solidFill>
                  <a:srgbClr val="2B5D7E"/>
                </a:solidFill>
                <a:latin typeface="Microsoft YaHei"/>
                <a:ea typeface="Microsoft YaHei"/>
                <a:cs typeface="Microsoft YaHei"/>
              </a:rPr>
              <a:t>Return to the opening: a price tip is not evidence, and the repayment remains even if the price falls.</a:t>
            </a:r>
          </a:p>
        </p:txBody>
      </p:sp>
      <p:pic>
        <p:nvPicPr>
          <p:cNvPr id="7" name="Picture 6"/>
          <p:cNvPicPr>
            <a:picLocks noChangeAspect="1"/>
          </p:cNvPicPr>
          <p:nvPr/>
        </p:nvPicPr>
        <p:blipFill>
          <a:blip r:embed="rId3"/>
          <a:srcRect l="17146" r="17146"/>
          <a:stretch>
            <a:fillRect/>
          </a:stretch>
        </p:blipFill>
        <p:spPr>
          <a:xfrm>
            <a:off x="7620000" y="1524000"/>
            <a:ext cx="4000500" cy="4191000"/>
          </a:xfrm>
          <a:prstGeom prst="rect">
            <a:avLst/>
          </a:prstGeom>
        </p:spPr>
      </p:pic>
    </p:spTree>
    <p:extLst>
      <p:ext uri="{BB962C8B-B14F-4D97-AF65-F5344CB8AC3E}">
        <p14:creationId xmlns:p14="http://schemas.microsoft.com/office/powerpoint/2010/main" val="20404946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CFBF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0E53-F788-98D5-24E5-BE5C999839F1}"/>
              </a:ext>
            </a:extLst>
          </p:cNvPr>
          <p:cNvSpPr>
            <a:spLocks noGrp="1"/>
          </p:cNvSpPr>
          <p:nvPr>
            <p:ph type="title"/>
          </p:nvPr>
        </p:nvSpPr>
        <p:spPr>
          <a:xfrm>
            <a:off x="685800" y="590550"/>
            <a:ext cx="10820400" cy="781050"/>
          </a:xfrm>
        </p:spPr>
        <p:txBody>
          <a:bodyPr wrap="square" lIns="0" tIns="0" rIns="0" bIns="0" anchor="ctr">
            <a:normAutofit/>
          </a:bodyPr>
          <a:lstStyle/>
          <a:p>
            <a:pPr algn="l">
              <a:lnSpc>
                <a:spcPct val="108000"/>
              </a:lnSpc>
              <a:buNone/>
              <a:defRPr sz="3450" b="1">
                <a:solidFill>
                  <a:srgbClr val="17232D"/>
                </a:solidFill>
                <a:latin typeface="Microsoft YaHei"/>
                <a:ea typeface="Microsoft YaHei"/>
                <a:cs typeface="Microsoft YaHei"/>
              </a:defRPr>
            </a:pPr>
            <a:r>
              <a:rPr sz="3450" b="1">
                <a:solidFill>
                  <a:srgbClr val="17232D"/>
                </a:solidFill>
                <a:latin typeface="Microsoft YaHei"/>
                <a:ea typeface="Microsoft YaHei"/>
                <a:cs typeface="Microsoft YaHei"/>
              </a:rPr>
              <a:t>A strong answer</a:t>
            </a:r>
            <a:endParaRPr/>
          </a:p>
        </p:txBody>
      </p:sp>
      <p:sp>
        <p:nvSpPr>
          <p:cNvPr id="3" name="Content Placeholder 2">
            <a:extLst>
              <a:ext uri="{FF2B5EF4-FFF2-40B4-BE49-F238E27FC236}">
                <a16:creationId xmlns:a16="http://schemas.microsoft.com/office/drawing/2014/main" id="{96C93E13-C7DC-3114-7BCE-864CEB625E62}"/>
              </a:ext>
            </a:extLst>
          </p:cNvPr>
          <p:cNvSpPr>
            <a:spLocks noGrp="1"/>
          </p:cNvSpPr>
          <p:nvPr>
            <p:ph idx="1"/>
          </p:nvPr>
        </p:nvSpPr>
        <p:spPr>
          <a:xfrm>
            <a:off x="1123950" y="1952625"/>
            <a:ext cx="9944100" cy="2952750"/>
          </a:xfrm>
        </p:spPr>
        <p:txBody>
          <a:bodyPr wrap="square" lIns="0" tIns="0" rIns="0" bIns="0" anchor="ctr">
            <a:normAutofit/>
          </a:bodyPr>
          <a:lstStyle/>
          <a:p>
            <a:pPr algn="l">
              <a:buNone/>
              <a:defRPr sz="2550" b="0">
                <a:solidFill>
                  <a:srgbClr val="17232D"/>
                </a:solidFill>
                <a:latin typeface="Microsoft YaHei"/>
                <a:ea typeface="Microsoft YaHei"/>
                <a:cs typeface="Microsoft YaHei"/>
              </a:defRPr>
            </a:pPr>
            <a:r>
              <a:rPr sz="2700" b="1">
                <a:solidFill>
                  <a:srgbClr val="2B5D7E"/>
                </a:solidFill>
                <a:latin typeface="Microsoft YaHei"/>
                <a:ea typeface="Microsoft YaHei"/>
                <a:cs typeface="Microsoft YaHei"/>
              </a:rPr>
              <a:t>This is speculation</a:t>
            </a:r>
            <a:r>
              <a:t> because Nora relies on an </a:t>
            </a:r>
            <a:r>
              <a:rPr sz="2550" b="1">
                <a:solidFill>
                  <a:srgbClr val="2B5D7E"/>
                </a:solidFill>
                <a:latin typeface="Microsoft YaHei"/>
                <a:ea typeface="Microsoft YaHei"/>
                <a:cs typeface="Microsoft YaHei"/>
              </a:rPr>
              <a:t>unverified rumour</a:t>
            </a:r>
            <a:r>
              <a:t> and a </a:t>
            </a:r>
            <a:r>
              <a:rPr sz="2550" b="1">
                <a:solidFill>
                  <a:srgbClr val="2B5D7E"/>
                </a:solidFill>
                <a:latin typeface="Microsoft YaHei"/>
                <a:ea typeface="Microsoft YaHei"/>
                <a:cs typeface="Microsoft YaHei"/>
              </a:rPr>
              <a:t>predicted price change</a:t>
            </a:r>
            <a:r>
              <a:t>, not expected income or evidence about underlying value. Borrowing makes the </a:t>
            </a:r>
            <a:r>
              <a:rPr sz="2550" b="1">
                <a:solidFill>
                  <a:srgbClr val="F06C5B"/>
                </a:solidFill>
                <a:latin typeface="Microsoft YaHei"/>
                <a:ea typeface="Microsoft YaHei"/>
                <a:cs typeface="Microsoft YaHei"/>
              </a:rPr>
              <a:t>possible loss</a:t>
            </a:r>
            <a:r>
              <a:t> worse because the </a:t>
            </a:r>
            <a:r>
              <a:rPr sz="2550" b="1">
                <a:solidFill>
                  <a:srgbClr val="2B5D7E"/>
                </a:solidFill>
                <a:latin typeface="Microsoft YaHei"/>
                <a:ea typeface="Microsoft YaHei"/>
                <a:cs typeface="Microsoft YaHei"/>
              </a:rPr>
              <a:t>repayment obligation</a:t>
            </a:r>
            <a:r>
              <a:t> remains even if the share price falls.</a:t>
            </a:r>
          </a:p>
        </p:txBody>
      </p:sp>
    </p:spTree>
    <p:extLst>
      <p:ext uri="{BB962C8B-B14F-4D97-AF65-F5344CB8AC3E}">
        <p14:creationId xmlns:p14="http://schemas.microsoft.com/office/powerpoint/2010/main" val="1764574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3028</Words>
  <Application>Microsoft Office PowerPoint</Application>
  <DocSecurity>0</DocSecurity>
  <PresentationFormat>Widescreen</PresentationFormat>
  <Paragraphs>225</Paragraphs>
  <Slides>38</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Microsoft YaHei</vt:lpstr>
      <vt:lpstr>Arial</vt:lpstr>
      <vt:lpstr>Calibri</vt:lpstr>
      <vt:lpstr>Office Theme</vt:lpstr>
      <vt:lpstr>PowerPoint Presentation</vt:lpstr>
      <vt:lpstr>PowerPoint Presentation</vt:lpstr>
      <vt:lpstr>Today</vt:lpstr>
      <vt:lpstr>1. What is investment?</vt:lpstr>
      <vt:lpstr>Investment: using money or other resources now because you expect a future benefit</vt:lpstr>
      <vt:lpstr>PowerPoint Presentation</vt:lpstr>
      <vt:lpstr>2. What is financial investment?</vt:lpstr>
      <vt:lpstr>PowerPoint Presentation</vt:lpstr>
      <vt:lpstr>PowerPoint Presentation</vt:lpstr>
      <vt:lpstr>PowerPoint Presentation</vt:lpstr>
      <vt:lpstr>3. Distinguish between investment, saving and speculation.</vt:lpstr>
      <vt:lpstr>Is this investment?</vt:lpstr>
      <vt:lpstr>PowerPoint Presentation</vt:lpstr>
      <vt:lpstr>PowerPoint Presentation</vt:lpstr>
      <vt:lpstr>PowerPoint Presentation</vt:lpstr>
      <vt:lpstr>Explain the difference between financial investment and speculation.</vt:lpstr>
      <vt:lpstr>Explain the difference between financial investment and speculation.</vt:lpstr>
      <vt:lpstr>Is this investment?</vt:lpstr>
      <vt:lpstr>Saving</vt:lpstr>
      <vt:lpstr>Explain the difference between financial investment and saving.</vt:lpstr>
      <vt:lpstr>Exit ticket</vt:lpstr>
      <vt:lpstr>Which is which?</vt:lpstr>
      <vt:lpstr>Choose: Investment (投资), speculation (投机) or saving (储蓄)?</vt:lpstr>
      <vt:lpstr>Choose: Investment (投资), speculation (投机) or saving (储蓄)?</vt:lpstr>
      <vt:lpstr>Choose: Investment (投资), speculation (投机) or saving (储蓄)?</vt:lpstr>
      <vt:lpstr>MCQs</vt:lpstr>
      <vt:lpstr>MCQ 1</vt:lpstr>
      <vt:lpstr>MCQ 2</vt:lpstr>
      <vt:lpstr>MCQ 3</vt:lpstr>
      <vt:lpstr>MCQ 4</vt:lpstr>
      <vt:lpstr>MCQ 5</vt:lpstr>
      <vt:lpstr>Short answers</vt:lpstr>
      <vt:lpstr>Short answer question 1: save first or invest now?</vt:lpstr>
      <vt:lpstr>A strong answer</vt:lpstr>
      <vt:lpstr>Short answer question 2: what matters when money is needed soon?</vt:lpstr>
      <vt:lpstr>A strong answer</vt:lpstr>
      <vt:lpstr>Short answer question 3: why can borrowing make the loss worse?</vt:lpstr>
      <vt:lpstr>A strong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Samuel Oehler-Huang</cp:lastModifiedBy>
  <cp:revision>16</cp:revision>
  <dcterms:created xsi:type="dcterms:W3CDTF">2026-09-01T01:42:48Z</dcterms:created>
  <dcterms:modified xsi:type="dcterms:W3CDTF">2026-09-02T02:46:22Z</dcterms:modified>
</cp:coreProperties>
</file>