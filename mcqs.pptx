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0"/>
  </p:notesMasterIdLst>
  <p:sldIdLst>
    <p:sldId id="310" r:id="rId2"/>
    <p:sldId id="256" r:id="rId3"/>
    <p:sldId id="257" r:id="rId4"/>
    <p:sldId id="258" r:id="rId5"/>
    <p:sldId id="259" r:id="rId6"/>
    <p:sldId id="260" r:id="rId7"/>
    <p:sldId id="261" r:id="rId8"/>
    <p:sldId id="262" r:id="rId9"/>
    <p:sldId id="263" r:id="rId10"/>
    <p:sldId id="264" r:id="rId11"/>
    <p:sldId id="265" r:id="rId12"/>
    <p:sldId id="309" r:id="rId13"/>
    <p:sldId id="266" r:id="rId14"/>
    <p:sldId id="267" r:id="rId15"/>
    <p:sldId id="268" r:id="rId16"/>
    <p:sldId id="269" r:id="rId17"/>
    <p:sldId id="270" r:id="rId18"/>
    <p:sldId id="271" r:id="rId19"/>
    <p:sldId id="272" r:id="rId20"/>
    <p:sldId id="273" r:id="rId21"/>
    <p:sldId id="274" r:id="rId22"/>
    <p:sldId id="275" r:id="rId23"/>
    <p:sldId id="308" r:id="rId24"/>
    <p:sldId id="276" r:id="rId25"/>
    <p:sldId id="277" r:id="rId26"/>
    <p:sldId id="278" r:id="rId27"/>
    <p:sldId id="279" r:id="rId28"/>
    <p:sldId id="280" r:id="rId29"/>
    <p:sldId id="281" r:id="rId30"/>
    <p:sldId id="282" r:id="rId31"/>
    <p:sldId id="283" r:id="rId32"/>
    <p:sldId id="284" r:id="rId33"/>
    <p:sldId id="285" r:id="rId34"/>
    <p:sldId id="307" r:id="rId35"/>
    <p:sldId id="286" r:id="rId36"/>
    <p:sldId id="287" r:id="rId37"/>
    <p:sldId id="288" r:id="rId38"/>
    <p:sldId id="289" r:id="rId39"/>
    <p:sldId id="290" r:id="rId40"/>
    <p:sldId id="291" r:id="rId41"/>
    <p:sldId id="292" r:id="rId42"/>
    <p:sldId id="293" r:id="rId43"/>
    <p:sldId id="294" r:id="rId44"/>
    <p:sldId id="295" r:id="rId45"/>
    <p:sldId id="306" r:id="rId46"/>
    <p:sldId id="296" r:id="rId47"/>
    <p:sldId id="297" r:id="rId48"/>
    <p:sldId id="298" r:id="rId49"/>
    <p:sldId id="299" r:id="rId50"/>
    <p:sldId id="300" r:id="rId51"/>
    <p:sldId id="301" r:id="rId52"/>
    <p:sldId id="302" r:id="rId53"/>
    <p:sldId id="303" r:id="rId54"/>
    <p:sldId id="304" r:id="rId55"/>
    <p:sldId id="305" r:id="rId56"/>
    <p:sldId id="311" r:id="rId57"/>
    <p:sldId id="312" r:id="rId58"/>
    <p:sldId id="313" r:id="rId5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01" d="100"/>
          <a:sy n="101" d="100"/>
        </p:scale>
        <p:origin x="32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13218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nswer_key_title">
            <a:extLst>
              <a:ext uri="{FF2B5EF4-FFF2-40B4-BE49-F238E27FC236}">
                <a16:creationId xmlns:a16="http://schemas.microsoft.com/office/drawing/2014/main" id="{2D27731C-EA0F-9B43-F5E0-5B6BCC46EA19}"/>
              </a:ext>
            </a:extLst>
          </p:cNvPr>
          <p:cNvSpPr txBox="1"/>
          <p:nvPr/>
        </p:nvSpPr>
        <p:spPr>
          <a:xfrm>
            <a:off x="381000" y="355600"/>
            <a:ext cx="11430000" cy="523220"/>
          </a:xfrm>
          <a:prstGeom prst="rect">
            <a:avLst/>
          </a:prstGeom>
          <a:noFill/>
        </p:spPr>
        <p:txBody>
          <a:bodyPr vert="horz" rtlCol="0">
            <a:spAutoFit/>
          </a:bodyPr>
          <a:lstStyle/>
          <a:p>
            <a:r>
              <a:rPr lang="en-US" altLang="zh-CN" sz="2800" b="1">
                <a:solidFill>
                  <a:srgbClr val="000000"/>
                </a:solidFill>
                <a:latin typeface="Arial" panose="020B0604020202020204" pitchFamily="34" charset="0"/>
              </a:rPr>
              <a:t>Answer Key - Part 1: Questions 1-10</a:t>
            </a:r>
            <a:endParaRPr lang="zh-CN" altLang="en-US" sz="2800" b="1">
              <a:solidFill>
                <a:srgbClr val="000000"/>
              </a:solidFill>
              <a:latin typeface="Arial" panose="020B0604020202020204" pitchFamily="34" charset="0"/>
            </a:endParaRPr>
          </a:p>
        </p:txBody>
      </p:sp>
      <p:sp>
        <p:nvSpPr>
          <p:cNvPr id="3" name="answer_key_note">
            <a:extLst>
              <a:ext uri="{FF2B5EF4-FFF2-40B4-BE49-F238E27FC236}">
                <a16:creationId xmlns:a16="http://schemas.microsoft.com/office/drawing/2014/main" id="{011A7D7E-79EB-376A-3122-6B93B7150575}"/>
              </a:ext>
            </a:extLst>
          </p:cNvPr>
          <p:cNvSpPr txBox="1"/>
          <p:nvPr/>
        </p:nvSpPr>
        <p:spPr>
          <a:xfrm>
            <a:off x="381000" y="952500"/>
            <a:ext cx="11430000" cy="369332"/>
          </a:xfrm>
          <a:prstGeom prst="rect">
            <a:avLst/>
          </a:prstGeom>
          <a:noFill/>
        </p:spPr>
        <p:txBody>
          <a:bodyPr vert="horz" rtlCol="0">
            <a:spAutoFit/>
          </a:bodyPr>
          <a:lstStyle/>
          <a:p>
            <a:r>
              <a:rPr lang="en-US" altLang="zh-CN">
                <a:solidFill>
                  <a:srgbClr val="555555"/>
                </a:solidFill>
                <a:latin typeface="Arial" panose="020B0604020202020204" pitchFamily="34" charset="0"/>
              </a:rPr>
              <a:t>Use after students have attempted this set.</a:t>
            </a:r>
            <a:endParaRPr lang="zh-CN" altLang="en-US">
              <a:solidFill>
                <a:srgbClr val="555555"/>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C13E44AC-593B-39C7-FEE0-2F2BE712AC17}"/>
              </a:ext>
            </a:extLst>
          </p:cNvPr>
          <p:cNvCxnSpPr/>
          <p:nvPr/>
        </p:nvCxnSpPr>
        <p:spPr>
          <a:xfrm>
            <a:off x="381000" y="1422400"/>
            <a:ext cx="11430000" cy="0"/>
          </a:xfrm>
          <a:prstGeom prst="line">
            <a:avLst/>
          </a:prstGeom>
          <a:ln w="12700">
            <a:solidFill>
              <a:srgbClr val="AAAAAA"/>
            </a:solidFill>
          </a:ln>
        </p:spPr>
        <p:style>
          <a:lnRef idx="1">
            <a:schemeClr val="accent1"/>
          </a:lnRef>
          <a:fillRef idx="0">
            <a:schemeClr val="accent1"/>
          </a:fillRef>
          <a:effectRef idx="0">
            <a:schemeClr val="accent1"/>
          </a:effectRef>
          <a:fontRef idx="minor">
            <a:schemeClr val="tx1"/>
          </a:fontRef>
        </p:style>
      </p:cxnSp>
      <p:sp>
        <p:nvSpPr>
          <p:cNvPr id="5" name="answer_key_q1">
            <a:extLst>
              <a:ext uri="{FF2B5EF4-FFF2-40B4-BE49-F238E27FC236}">
                <a16:creationId xmlns:a16="http://schemas.microsoft.com/office/drawing/2014/main" id="{D2DE0FAD-36AC-A947-F0F2-060FC569E69F}"/>
              </a:ext>
            </a:extLst>
          </p:cNvPr>
          <p:cNvSpPr txBox="1"/>
          <p:nvPr/>
        </p:nvSpPr>
        <p:spPr>
          <a:xfrm>
            <a:off x="15240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    B</a:t>
            </a:r>
            <a:endParaRPr lang="zh-CN" altLang="en-US" sz="3000" b="1">
              <a:solidFill>
                <a:srgbClr val="000000"/>
              </a:solidFill>
              <a:latin typeface="Arial" panose="020B0604020202020204" pitchFamily="34" charset="0"/>
            </a:endParaRPr>
          </a:p>
        </p:txBody>
      </p:sp>
      <p:sp>
        <p:nvSpPr>
          <p:cNvPr id="6" name="answer_key_q2">
            <a:extLst>
              <a:ext uri="{FF2B5EF4-FFF2-40B4-BE49-F238E27FC236}">
                <a16:creationId xmlns:a16="http://schemas.microsoft.com/office/drawing/2014/main" id="{4260F64A-ED9C-F9C4-4AAF-A8FD4D032B17}"/>
              </a:ext>
            </a:extLst>
          </p:cNvPr>
          <p:cNvSpPr txBox="1"/>
          <p:nvPr/>
        </p:nvSpPr>
        <p:spPr>
          <a:xfrm>
            <a:off x="15240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    C</a:t>
            </a:r>
            <a:endParaRPr lang="zh-CN" altLang="en-US" sz="3000" b="1">
              <a:solidFill>
                <a:srgbClr val="000000"/>
              </a:solidFill>
              <a:latin typeface="Arial" panose="020B0604020202020204" pitchFamily="34" charset="0"/>
            </a:endParaRPr>
          </a:p>
        </p:txBody>
      </p:sp>
      <p:sp>
        <p:nvSpPr>
          <p:cNvPr id="7" name="answer_key_q3">
            <a:extLst>
              <a:ext uri="{FF2B5EF4-FFF2-40B4-BE49-F238E27FC236}">
                <a16:creationId xmlns:a16="http://schemas.microsoft.com/office/drawing/2014/main" id="{16C3748D-41A8-7EBD-4A6E-BAFA4C8C44E5}"/>
              </a:ext>
            </a:extLst>
          </p:cNvPr>
          <p:cNvSpPr txBox="1"/>
          <p:nvPr/>
        </p:nvSpPr>
        <p:spPr>
          <a:xfrm>
            <a:off x="15240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    C</a:t>
            </a:r>
            <a:endParaRPr lang="zh-CN" altLang="en-US" sz="3000" b="1">
              <a:solidFill>
                <a:srgbClr val="000000"/>
              </a:solidFill>
              <a:latin typeface="Arial" panose="020B0604020202020204" pitchFamily="34" charset="0"/>
            </a:endParaRPr>
          </a:p>
        </p:txBody>
      </p:sp>
      <p:sp>
        <p:nvSpPr>
          <p:cNvPr id="8" name="answer_key_q4">
            <a:extLst>
              <a:ext uri="{FF2B5EF4-FFF2-40B4-BE49-F238E27FC236}">
                <a16:creationId xmlns:a16="http://schemas.microsoft.com/office/drawing/2014/main" id="{0F366666-A597-D9D1-3F76-3DDA60C9E508}"/>
              </a:ext>
            </a:extLst>
          </p:cNvPr>
          <p:cNvSpPr txBox="1"/>
          <p:nvPr/>
        </p:nvSpPr>
        <p:spPr>
          <a:xfrm>
            <a:off x="15240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Q4    D</a:t>
            </a:r>
            <a:endParaRPr lang="zh-CN" altLang="en-US" sz="3000" b="1">
              <a:solidFill>
                <a:srgbClr val="000000"/>
              </a:solidFill>
              <a:latin typeface="Arial" panose="020B0604020202020204" pitchFamily="34" charset="0"/>
            </a:endParaRPr>
          </a:p>
        </p:txBody>
      </p:sp>
      <p:sp>
        <p:nvSpPr>
          <p:cNvPr id="9" name="answer_key_q5">
            <a:extLst>
              <a:ext uri="{FF2B5EF4-FFF2-40B4-BE49-F238E27FC236}">
                <a16:creationId xmlns:a16="http://schemas.microsoft.com/office/drawing/2014/main" id="{0F5B530F-4E19-9A7E-78D7-FDB824EA78DC}"/>
              </a:ext>
            </a:extLst>
          </p:cNvPr>
          <p:cNvSpPr txBox="1"/>
          <p:nvPr/>
        </p:nvSpPr>
        <p:spPr>
          <a:xfrm>
            <a:off x="15240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Q5    A</a:t>
            </a:r>
            <a:endParaRPr lang="zh-CN" altLang="en-US" sz="3000" b="1">
              <a:solidFill>
                <a:srgbClr val="000000"/>
              </a:solidFill>
              <a:latin typeface="Arial" panose="020B0604020202020204" pitchFamily="34" charset="0"/>
            </a:endParaRPr>
          </a:p>
        </p:txBody>
      </p:sp>
      <p:sp>
        <p:nvSpPr>
          <p:cNvPr id="10" name="answer_key_q6">
            <a:extLst>
              <a:ext uri="{FF2B5EF4-FFF2-40B4-BE49-F238E27FC236}">
                <a16:creationId xmlns:a16="http://schemas.microsoft.com/office/drawing/2014/main" id="{B901138E-048E-D3E0-2D34-EA2B01D80B0B}"/>
              </a:ext>
            </a:extLst>
          </p:cNvPr>
          <p:cNvSpPr txBox="1"/>
          <p:nvPr/>
        </p:nvSpPr>
        <p:spPr>
          <a:xfrm>
            <a:off x="66675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Q6    A</a:t>
            </a:r>
            <a:endParaRPr lang="zh-CN" altLang="en-US" sz="3000" b="1">
              <a:solidFill>
                <a:srgbClr val="000000"/>
              </a:solidFill>
              <a:latin typeface="Arial" panose="020B0604020202020204" pitchFamily="34" charset="0"/>
            </a:endParaRPr>
          </a:p>
        </p:txBody>
      </p:sp>
      <p:sp>
        <p:nvSpPr>
          <p:cNvPr id="11" name="answer_key_q7">
            <a:extLst>
              <a:ext uri="{FF2B5EF4-FFF2-40B4-BE49-F238E27FC236}">
                <a16:creationId xmlns:a16="http://schemas.microsoft.com/office/drawing/2014/main" id="{24F98FFE-9A87-66A6-5245-680627F036C4}"/>
              </a:ext>
            </a:extLst>
          </p:cNvPr>
          <p:cNvSpPr txBox="1"/>
          <p:nvPr/>
        </p:nvSpPr>
        <p:spPr>
          <a:xfrm>
            <a:off x="66675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Q7    B</a:t>
            </a:r>
            <a:endParaRPr lang="zh-CN" altLang="en-US" sz="3000" b="1">
              <a:solidFill>
                <a:srgbClr val="000000"/>
              </a:solidFill>
              <a:latin typeface="Arial" panose="020B0604020202020204" pitchFamily="34" charset="0"/>
            </a:endParaRPr>
          </a:p>
        </p:txBody>
      </p:sp>
      <p:sp>
        <p:nvSpPr>
          <p:cNvPr id="12" name="answer_key_q8">
            <a:extLst>
              <a:ext uri="{FF2B5EF4-FFF2-40B4-BE49-F238E27FC236}">
                <a16:creationId xmlns:a16="http://schemas.microsoft.com/office/drawing/2014/main" id="{FDCEF477-FFA4-40D8-76B7-8F31FF637031}"/>
              </a:ext>
            </a:extLst>
          </p:cNvPr>
          <p:cNvSpPr txBox="1"/>
          <p:nvPr/>
        </p:nvSpPr>
        <p:spPr>
          <a:xfrm>
            <a:off x="66675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Q8    C</a:t>
            </a:r>
            <a:endParaRPr lang="zh-CN" altLang="en-US" sz="3000" b="1">
              <a:solidFill>
                <a:srgbClr val="000000"/>
              </a:solidFill>
              <a:latin typeface="Arial" panose="020B0604020202020204" pitchFamily="34" charset="0"/>
            </a:endParaRPr>
          </a:p>
        </p:txBody>
      </p:sp>
      <p:sp>
        <p:nvSpPr>
          <p:cNvPr id="13" name="answer_key_q9">
            <a:extLst>
              <a:ext uri="{FF2B5EF4-FFF2-40B4-BE49-F238E27FC236}">
                <a16:creationId xmlns:a16="http://schemas.microsoft.com/office/drawing/2014/main" id="{7A006DF0-6EE8-D4DD-340C-DEC5C23F609B}"/>
              </a:ext>
            </a:extLst>
          </p:cNvPr>
          <p:cNvSpPr txBox="1"/>
          <p:nvPr/>
        </p:nvSpPr>
        <p:spPr>
          <a:xfrm>
            <a:off x="66675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Q9    B</a:t>
            </a:r>
            <a:endParaRPr lang="zh-CN" altLang="en-US" sz="3000" b="1">
              <a:solidFill>
                <a:srgbClr val="000000"/>
              </a:solidFill>
              <a:latin typeface="Arial" panose="020B0604020202020204" pitchFamily="34" charset="0"/>
            </a:endParaRPr>
          </a:p>
        </p:txBody>
      </p:sp>
      <p:sp>
        <p:nvSpPr>
          <p:cNvPr id="14" name="answer_key_q10">
            <a:extLst>
              <a:ext uri="{FF2B5EF4-FFF2-40B4-BE49-F238E27FC236}">
                <a16:creationId xmlns:a16="http://schemas.microsoft.com/office/drawing/2014/main" id="{91E19E68-4457-67B5-9E16-7D0EEDECE728}"/>
              </a:ext>
            </a:extLst>
          </p:cNvPr>
          <p:cNvSpPr txBox="1"/>
          <p:nvPr/>
        </p:nvSpPr>
        <p:spPr>
          <a:xfrm>
            <a:off x="66675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Q10    B</a:t>
            </a:r>
            <a:endParaRPr lang="zh-CN" altLang="en-US" sz="3000" b="1">
              <a:solidFill>
                <a:srgbClr val="000000"/>
              </a:solidFill>
              <a:latin typeface="Arial" panose="020B0604020202020204" pitchFamily="34" charset="0"/>
            </a:endParaRPr>
          </a:p>
        </p:txBody>
      </p:sp>
      <p:sp>
        <p:nvSpPr>
          <p:cNvPr id="15" name="answer_key_footer">
            <a:extLst>
              <a:ext uri="{FF2B5EF4-FFF2-40B4-BE49-F238E27FC236}">
                <a16:creationId xmlns:a16="http://schemas.microsoft.com/office/drawing/2014/main" id="{732D249C-56C9-C0BC-2103-28503C7B3650}"/>
              </a:ext>
            </a:extLst>
          </p:cNvPr>
          <p:cNvSpPr txBox="1"/>
          <p:nvPr/>
        </p:nvSpPr>
        <p:spPr>
          <a:xfrm>
            <a:off x="381000" y="6286500"/>
            <a:ext cx="11430000" cy="307777"/>
          </a:xfrm>
          <a:prstGeom prst="rect">
            <a:avLst/>
          </a:prstGeom>
          <a:noFill/>
        </p:spPr>
        <p:txBody>
          <a:bodyPr vert="horz" rtlCol="0">
            <a:spAutoFit/>
          </a:bodyPr>
          <a:lstStyle/>
          <a:p>
            <a:r>
              <a:rPr lang="en-US" altLang="zh-CN" sz="1400">
                <a:solidFill>
                  <a:srgbClr val="555555"/>
                </a:solidFill>
                <a:latin typeface="Arial" panose="020B0604020202020204" pitchFamily="34" charset="0"/>
              </a:rPr>
              <a:t>Cambridge AS Economics 9708 Paper 1 - difficult MCQ review</a:t>
            </a:r>
            <a:endParaRPr lang="zh-CN" altLang="en-US" sz="1400">
              <a:solidFill>
                <a:srgbClr val="555555"/>
              </a:solidFill>
              <a:latin typeface="Arial" panose="020B0604020202020204" pitchFamily="34" charset="0"/>
            </a:endParaRPr>
          </a:p>
        </p:txBody>
      </p:sp>
    </p:spTree>
    <p:extLst>
      <p:ext uri="{BB962C8B-B14F-4D97-AF65-F5344CB8AC3E}">
        <p14:creationId xmlns:p14="http://schemas.microsoft.com/office/powerpoint/2010/main" val="3705017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47D0FEDB-66D1-4B82-8B9E-DF20AAF59B40}"/>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1: Remittances in the Balance of Payments / 国际收支中的汇款</a:t>
            </a:r>
          </a:p>
        </p:txBody>
      </p:sp>
      <p:sp>
        <p:nvSpPr>
          <p:cNvPr id="2" name="part_label">
            <a:extLst>
              <a:ext uri="{FF2B5EF4-FFF2-40B4-BE49-F238E27FC236}">
                <a16:creationId xmlns:a16="http://schemas.microsoft.com/office/drawing/2014/main" id="{03B525B9-76B2-4214-97C7-00F6E3DB9728}"/>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1 | Q1-10</a:t>
            </a:r>
          </a:p>
        </p:txBody>
      </p:sp>
      <p:sp>
        <p:nvSpPr>
          <p:cNvPr id="3" name="metadata">
            <a:extLst>
              <a:ext uri="{FF2B5EF4-FFF2-40B4-BE49-F238E27FC236}">
                <a16:creationId xmlns:a16="http://schemas.microsoft.com/office/drawing/2014/main" id="{4EDADCA8-11BC-4914-9486-31AE0EEB00AB}"/>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9708_s23_13 Q17 | Correct: 6%</a:t>
            </a:r>
          </a:p>
        </p:txBody>
      </p:sp>
      <p:sp>
        <p:nvSpPr>
          <p:cNvPr id="4" name="Rectangle 3">
            <a:extLst>
              <a:ext uri="{FF2B5EF4-FFF2-40B4-BE49-F238E27FC236}">
                <a16:creationId xmlns:a16="http://schemas.microsoft.com/office/drawing/2014/main" id="{41772C68-AFD4-4F55-AECC-0DCF748C9623}"/>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7898" y="1085850"/>
            <a:ext cx="10656205" cy="3257550"/>
          </a:xfrm>
          <a:prstGeom prst="rect">
            <a:avLst/>
          </a:prstGeom>
        </p:spPr>
      </p:pic>
      <p:sp>
        <p:nvSpPr>
          <p:cNvPr id="6" name="Rectangle 5">
            <a:extLst>
              <a:ext uri="{FF2B5EF4-FFF2-40B4-BE49-F238E27FC236}">
                <a16:creationId xmlns:a16="http://schemas.microsoft.com/office/drawing/2014/main" id="{F9AF6451-C367-42DD-9684-BCCF38BA8CAF}"/>
              </a:ext>
            </a:extLst>
          </p:cNvPr>
          <p:cNvSpPr>
            <a:spLocks noGrp="1"/>
          </p:cNvSpPr>
          <p:nvPr/>
        </p:nvSpPr>
        <p:spPr>
          <a:xfrm>
            <a:off x="381000" y="445770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252D344E-486D-40DA-8F8D-2FFE39C86C52}"/>
              </a:ext>
            </a:extLst>
          </p:cNvPr>
          <p:cNvSpPr>
            <a:spLocks noGrp="1"/>
          </p:cNvSpPr>
          <p:nvPr/>
        </p:nvSpPr>
        <p:spPr>
          <a:xfrm>
            <a:off x="381000" y="457200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B</a:t>
            </a:r>
          </a:p>
        </p:txBody>
      </p:sp>
      <p:sp>
        <p:nvSpPr>
          <p:cNvPr id="8" name="english_explanation">
            <a:extLst>
              <a:ext uri="{FF2B5EF4-FFF2-40B4-BE49-F238E27FC236}">
                <a16:creationId xmlns:a16="http://schemas.microsoft.com/office/drawing/2014/main" id="{07070858-17FA-4D81-BE69-295482E13B07}"/>
              </a:ext>
            </a:extLst>
          </p:cNvPr>
          <p:cNvSpPr>
            <a:spLocks noGrp="1"/>
          </p:cNvSpPr>
          <p:nvPr/>
        </p:nvSpPr>
        <p:spPr>
          <a:xfrm>
            <a:off x="381000" y="5048250"/>
            <a:ext cx="5524500" cy="1562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 the Bangladeshi citizen earns wages in Qatar, counted as Qatar's primary income. Sending money home is recorded as an outflow.</a:t>
            </a:r>
          </a:p>
        </p:txBody>
      </p:sp>
      <p:sp>
        <p:nvSpPr>
          <p:cNvPr id="9" name="chinese_explanation">
            <a:extLst>
              <a:ext uri="{FF2B5EF4-FFF2-40B4-BE49-F238E27FC236}">
                <a16:creationId xmlns:a16="http://schemas.microsoft.com/office/drawing/2014/main" id="{E3D986B3-8199-4B42-9945-803D16362ECB}"/>
              </a:ext>
            </a:extLst>
          </p:cNvPr>
          <p:cNvSpPr>
            <a:spLocks noGrp="1"/>
          </p:cNvSpPr>
          <p:nvPr/>
        </p:nvSpPr>
        <p:spPr>
          <a:xfrm>
            <a:off x="6286500" y="5048250"/>
            <a:ext cx="5524500" cy="1562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B：这名孟加拉公民在卡塔尔工作，工资属于卡塔尔初次收入。寄回部分工资记作卡塔尔国际收支净流出。</a:t>
            </a:r>
          </a:p>
        </p:txBody>
      </p:sp>
    </p:spTree>
    <p:extLst>
      <p:ext uri="{BB962C8B-B14F-4D97-AF65-F5344CB8AC3E}">
        <p14:creationId xmlns:p14="http://schemas.microsoft.com/office/powerpoint/2010/main" val="140677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B7241736-BE6A-4FA3-AC6D-57AF6D54E315}"/>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2: Government Health Care as a Good / 政府医疗服务的物品属性</a:t>
            </a:r>
          </a:p>
        </p:txBody>
      </p:sp>
      <p:sp>
        <p:nvSpPr>
          <p:cNvPr id="2" name="part_label">
            <a:extLst>
              <a:ext uri="{FF2B5EF4-FFF2-40B4-BE49-F238E27FC236}">
                <a16:creationId xmlns:a16="http://schemas.microsoft.com/office/drawing/2014/main" id="{9ECB1273-C9DA-4E7A-9813-1B389FDEEBA1}"/>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1 | Q1-10</a:t>
            </a:r>
          </a:p>
        </p:txBody>
      </p:sp>
      <p:sp>
        <p:nvSpPr>
          <p:cNvPr id="3" name="metadata">
            <a:extLst>
              <a:ext uri="{FF2B5EF4-FFF2-40B4-BE49-F238E27FC236}">
                <a16:creationId xmlns:a16="http://schemas.microsoft.com/office/drawing/2014/main" id="{0E89E138-A3F3-4C22-9B9C-6D4796AA848A}"/>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9708_w23_11 Q3 | Correct: 7%</a:t>
            </a:r>
          </a:p>
        </p:txBody>
      </p:sp>
      <p:sp>
        <p:nvSpPr>
          <p:cNvPr id="4" name="Rectangle 3">
            <a:extLst>
              <a:ext uri="{FF2B5EF4-FFF2-40B4-BE49-F238E27FC236}">
                <a16:creationId xmlns:a16="http://schemas.microsoft.com/office/drawing/2014/main" id="{E2BA7BC9-88A4-43B5-B36A-7B8CABD09E61}"/>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4939" y="1085850"/>
            <a:ext cx="10662121" cy="3314700"/>
          </a:xfrm>
          <a:prstGeom prst="rect">
            <a:avLst/>
          </a:prstGeom>
        </p:spPr>
      </p:pic>
      <p:sp>
        <p:nvSpPr>
          <p:cNvPr id="6" name="Rectangle 5">
            <a:extLst>
              <a:ext uri="{FF2B5EF4-FFF2-40B4-BE49-F238E27FC236}">
                <a16:creationId xmlns:a16="http://schemas.microsoft.com/office/drawing/2014/main" id="{57CFF5B6-350C-4C67-9833-DCEDFA958DD3}"/>
              </a:ext>
            </a:extLst>
          </p:cNvPr>
          <p:cNvSpPr>
            <a:spLocks noGrp="1"/>
          </p:cNvSpPr>
          <p:nvPr/>
        </p:nvSpPr>
        <p:spPr>
          <a:xfrm>
            <a:off x="381000" y="45148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BCAC7577-7277-44F9-A9E3-F8C45E0F45A0}"/>
              </a:ext>
            </a:extLst>
          </p:cNvPr>
          <p:cNvSpPr>
            <a:spLocks noGrp="1"/>
          </p:cNvSpPr>
          <p:nvPr/>
        </p:nvSpPr>
        <p:spPr>
          <a:xfrm>
            <a:off x="381000" y="46291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6370E937-3AA0-4EBE-8DA6-2F298F52CB83}"/>
              </a:ext>
            </a:extLst>
          </p:cNvPr>
          <p:cNvSpPr>
            <a:spLocks noGrp="1"/>
          </p:cNvSpPr>
          <p:nvPr/>
        </p:nvSpPr>
        <p:spPr>
          <a:xfrm>
            <a:off x="381000" y="5105400"/>
            <a:ext cx="5524500" cy="1504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Health care is rival and excludable because doctors, beds, and medicines are limited. Even if government-funded, it remains a private-type good.</a:t>
            </a:r>
          </a:p>
        </p:txBody>
      </p:sp>
      <p:sp>
        <p:nvSpPr>
          <p:cNvPr id="9" name="chinese_explanation">
            <a:extLst>
              <a:ext uri="{FF2B5EF4-FFF2-40B4-BE49-F238E27FC236}">
                <a16:creationId xmlns:a16="http://schemas.microsoft.com/office/drawing/2014/main" id="{80D57972-765C-4D26-99E7-06083DFC292A}"/>
              </a:ext>
            </a:extLst>
          </p:cNvPr>
          <p:cNvSpPr>
            <a:spLocks noGrp="1"/>
          </p:cNvSpPr>
          <p:nvPr/>
        </p:nvSpPr>
        <p:spPr>
          <a:xfrm>
            <a:off x="6286500" y="5105400"/>
            <a:ext cx="5524500" cy="1504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C：医疗服务有竞争性和排他性：医生、床位、药物有限，即使政府资助，仍属于私人物品。</a:t>
            </a:r>
          </a:p>
        </p:txBody>
      </p:sp>
    </p:spTree>
    <p:extLst>
      <p:ext uri="{BB962C8B-B14F-4D97-AF65-F5344CB8AC3E}">
        <p14:creationId xmlns:p14="http://schemas.microsoft.com/office/powerpoint/2010/main" val="1843555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602D6B77-71EC-481D-8FA9-319F0DD83E36}"/>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3: Free Roads and Private Goods / 免费道路与私人物品</a:t>
            </a:r>
          </a:p>
        </p:txBody>
      </p:sp>
      <p:sp>
        <p:nvSpPr>
          <p:cNvPr id="2" name="part_label">
            <a:extLst>
              <a:ext uri="{FF2B5EF4-FFF2-40B4-BE49-F238E27FC236}">
                <a16:creationId xmlns:a16="http://schemas.microsoft.com/office/drawing/2014/main" id="{437B31C3-A532-4B7D-A08D-98A7D57BEEB8}"/>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1 | Q1-10</a:t>
            </a:r>
          </a:p>
        </p:txBody>
      </p:sp>
      <p:sp>
        <p:nvSpPr>
          <p:cNvPr id="3" name="metadata">
            <a:extLst>
              <a:ext uri="{FF2B5EF4-FFF2-40B4-BE49-F238E27FC236}">
                <a16:creationId xmlns:a16="http://schemas.microsoft.com/office/drawing/2014/main" id="{EDACA4A8-6C62-40D5-8D88-6F489049BAFC}"/>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9708_w23_12 Q3 | Correct: 8%</a:t>
            </a:r>
          </a:p>
        </p:txBody>
      </p:sp>
      <p:sp>
        <p:nvSpPr>
          <p:cNvPr id="4" name="Rectangle 3">
            <a:extLst>
              <a:ext uri="{FF2B5EF4-FFF2-40B4-BE49-F238E27FC236}">
                <a16:creationId xmlns:a16="http://schemas.microsoft.com/office/drawing/2014/main" id="{0A7C333C-9AC1-4702-9106-F7A0F5278F04}"/>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1752600" y="1086550"/>
            <a:ext cx="8696325" cy="3618101"/>
          </a:xfrm>
          <a:prstGeom prst="rect">
            <a:avLst/>
          </a:prstGeom>
        </p:spPr>
      </p:pic>
      <p:sp>
        <p:nvSpPr>
          <p:cNvPr id="6" name="Rectangle 5">
            <a:extLst>
              <a:ext uri="{FF2B5EF4-FFF2-40B4-BE49-F238E27FC236}">
                <a16:creationId xmlns:a16="http://schemas.microsoft.com/office/drawing/2014/main" id="{D46162F9-F65D-4EA8-BED1-FA8F1DEC5C43}"/>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8342FB99-FF95-479C-9FCF-1FD5FF9CAF7B}"/>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C32A788F-AAD8-43D8-AE4E-3AC39DA8213B}"/>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Toll-free roads use scarce resources and may be congested; opportunity cost makes them private-type goods.</a:t>
            </a:r>
          </a:p>
        </p:txBody>
      </p:sp>
      <p:sp>
        <p:nvSpPr>
          <p:cNvPr id="9" name="chinese_explanation">
            <a:extLst>
              <a:ext uri="{FF2B5EF4-FFF2-40B4-BE49-F238E27FC236}">
                <a16:creationId xmlns:a16="http://schemas.microsoft.com/office/drawing/2014/main" id="{A67953EA-573E-4739-8564-2DD01FEA8A36}"/>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C：免费道路仍需稀缺资源，可能拥堵，机会成本决定其为私人物品。</a:t>
            </a:r>
          </a:p>
        </p:txBody>
      </p:sp>
    </p:spTree>
    <p:extLst>
      <p:ext uri="{BB962C8B-B14F-4D97-AF65-F5344CB8AC3E}">
        <p14:creationId xmlns:p14="http://schemas.microsoft.com/office/powerpoint/2010/main" val="207246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745168AB-D51A-44BA-A3FF-A7C6D7792B54}"/>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4: CPI and Inflation Rates / CPI与通货膨胀率</a:t>
            </a:r>
          </a:p>
        </p:txBody>
      </p:sp>
      <p:sp>
        <p:nvSpPr>
          <p:cNvPr id="2" name="part_label">
            <a:extLst>
              <a:ext uri="{FF2B5EF4-FFF2-40B4-BE49-F238E27FC236}">
                <a16:creationId xmlns:a16="http://schemas.microsoft.com/office/drawing/2014/main" id="{F62AAF3D-358B-4886-AB43-5728DD5498E3}"/>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1 | Q1-10</a:t>
            </a:r>
          </a:p>
        </p:txBody>
      </p:sp>
      <p:sp>
        <p:nvSpPr>
          <p:cNvPr id="3" name="metadata">
            <a:extLst>
              <a:ext uri="{FF2B5EF4-FFF2-40B4-BE49-F238E27FC236}">
                <a16:creationId xmlns:a16="http://schemas.microsoft.com/office/drawing/2014/main" id="{63835E1F-5A00-4A13-96FC-0429BF79D4FF}"/>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9708_w24_11 Q15 | Correct: &lt;10%</a:t>
            </a:r>
          </a:p>
        </p:txBody>
      </p:sp>
      <p:sp>
        <p:nvSpPr>
          <p:cNvPr id="4" name="Rectangle 3">
            <a:extLst>
              <a:ext uri="{FF2B5EF4-FFF2-40B4-BE49-F238E27FC236}">
                <a16:creationId xmlns:a16="http://schemas.microsoft.com/office/drawing/2014/main" id="{DD51E088-68D3-438B-B75F-48E133713713}"/>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419100" y="1087622"/>
            <a:ext cx="6305550" cy="5425706"/>
          </a:xfrm>
          <a:prstGeom prst="rect">
            <a:avLst/>
          </a:prstGeom>
        </p:spPr>
      </p:pic>
      <p:sp>
        <p:nvSpPr>
          <p:cNvPr id="6" name="Rectangle 5">
            <a:extLst>
              <a:ext uri="{FF2B5EF4-FFF2-40B4-BE49-F238E27FC236}">
                <a16:creationId xmlns:a16="http://schemas.microsoft.com/office/drawing/2014/main" id="{BA149F9F-9796-4B95-B2AE-59C0AF1C7E60}"/>
              </a:ext>
            </a:extLst>
          </p:cNvPr>
          <p:cNvSpPr>
            <a:spLocks noGrp="1"/>
          </p:cNvSpPr>
          <p:nvPr/>
        </p:nvSpPr>
        <p:spPr>
          <a:xfrm>
            <a:off x="381000" y="65722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A5FDBE29-06FA-4EA5-BBAA-34C6F0A5FDA5}"/>
              </a:ext>
            </a:extLst>
          </p:cNvPr>
          <p:cNvSpPr>
            <a:spLocks noGrp="1"/>
          </p:cNvSpPr>
          <p:nvPr/>
        </p:nvSpPr>
        <p:spPr>
          <a:xfrm>
            <a:off x="7953375" y="1238250"/>
            <a:ext cx="36671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C7019B79-36CB-47B1-8004-766F4B448225}"/>
              </a:ext>
            </a:extLst>
          </p:cNvPr>
          <p:cNvSpPr>
            <a:spLocks noGrp="1"/>
          </p:cNvSpPr>
          <p:nvPr/>
        </p:nvSpPr>
        <p:spPr>
          <a:xfrm>
            <a:off x="7953375" y="1762125"/>
            <a:ext cx="3667125" cy="2000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 Inflation = % change in CPI. From 108 to 111: (111-108)/108 is about 2.8%.</a:t>
            </a:r>
          </a:p>
        </p:txBody>
      </p:sp>
      <p:sp>
        <p:nvSpPr>
          <p:cNvPr id="9" name="chinese_explanation">
            <a:extLst>
              <a:ext uri="{FF2B5EF4-FFF2-40B4-BE49-F238E27FC236}">
                <a16:creationId xmlns:a16="http://schemas.microsoft.com/office/drawing/2014/main" id="{D185FFF8-9D08-4B23-9DEA-B72EB9F1E4BA}"/>
              </a:ext>
            </a:extLst>
          </p:cNvPr>
          <p:cNvSpPr>
            <a:spLocks noGrp="1"/>
          </p:cNvSpPr>
          <p:nvPr/>
        </p:nvSpPr>
        <p:spPr>
          <a:xfrm>
            <a:off x="7953375" y="4095750"/>
            <a:ext cx="3667125" cy="2190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D：通货膨胀率 = CPI百分比变化。108到111：约2.8%。</a:t>
            </a:r>
          </a:p>
        </p:txBody>
      </p:sp>
    </p:spTree>
    <p:extLst>
      <p:ext uri="{BB962C8B-B14F-4D97-AF65-F5344CB8AC3E}">
        <p14:creationId xmlns:p14="http://schemas.microsoft.com/office/powerpoint/2010/main" val="180543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35985870-C4F9-4F92-B4B6-2B96FD0B1E1D}"/>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5: Terms of Trade and Imported Inflation / 贸易条件与输入型通胀</a:t>
            </a:r>
          </a:p>
        </p:txBody>
      </p:sp>
      <p:sp>
        <p:nvSpPr>
          <p:cNvPr id="2" name="part_label">
            <a:extLst>
              <a:ext uri="{FF2B5EF4-FFF2-40B4-BE49-F238E27FC236}">
                <a16:creationId xmlns:a16="http://schemas.microsoft.com/office/drawing/2014/main" id="{DF66953D-0D82-4AAE-8DC8-C2D29FF49B85}"/>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1 | Q1-10</a:t>
            </a:r>
          </a:p>
        </p:txBody>
      </p:sp>
      <p:sp>
        <p:nvSpPr>
          <p:cNvPr id="3" name="metadata">
            <a:extLst>
              <a:ext uri="{FF2B5EF4-FFF2-40B4-BE49-F238E27FC236}">
                <a16:creationId xmlns:a16="http://schemas.microsoft.com/office/drawing/2014/main" id="{83667BCB-05A4-4460-B6CE-894091649B22}"/>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9708_s25_13 Q29 | Correct: &lt;1 in 7</a:t>
            </a:r>
          </a:p>
        </p:txBody>
      </p:sp>
      <p:sp>
        <p:nvSpPr>
          <p:cNvPr id="4" name="Rectangle 3">
            <a:extLst>
              <a:ext uri="{FF2B5EF4-FFF2-40B4-BE49-F238E27FC236}">
                <a16:creationId xmlns:a16="http://schemas.microsoft.com/office/drawing/2014/main" id="{9CC9A5CD-6702-4862-9A9B-4269CA668EBD}"/>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421307" y="1085850"/>
            <a:ext cx="7234586" cy="3981450"/>
          </a:xfrm>
          <a:prstGeom prst="rect">
            <a:avLst/>
          </a:prstGeom>
        </p:spPr>
      </p:pic>
      <p:sp>
        <p:nvSpPr>
          <p:cNvPr id="6" name="Rectangle 5">
            <a:extLst>
              <a:ext uri="{FF2B5EF4-FFF2-40B4-BE49-F238E27FC236}">
                <a16:creationId xmlns:a16="http://schemas.microsoft.com/office/drawing/2014/main" id="{78E198D4-8A54-4402-89CE-B9C30BD6E51F}"/>
              </a:ext>
            </a:extLst>
          </p:cNvPr>
          <p:cNvSpPr>
            <a:spLocks noGrp="1"/>
          </p:cNvSpPr>
          <p:nvPr/>
        </p:nvSpPr>
        <p:spPr>
          <a:xfrm>
            <a:off x="381000" y="65722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3D70439D-AD23-4D5C-B311-164D1B1224CF}"/>
              </a:ext>
            </a:extLst>
          </p:cNvPr>
          <p:cNvSpPr>
            <a:spLocks noGrp="1"/>
          </p:cNvSpPr>
          <p:nvPr/>
        </p:nvSpPr>
        <p:spPr>
          <a:xfrm>
            <a:off x="7953375" y="1238250"/>
            <a:ext cx="36671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A</a:t>
            </a:r>
          </a:p>
        </p:txBody>
      </p:sp>
      <p:sp>
        <p:nvSpPr>
          <p:cNvPr id="8" name="english_explanation">
            <a:extLst>
              <a:ext uri="{FF2B5EF4-FFF2-40B4-BE49-F238E27FC236}">
                <a16:creationId xmlns:a16="http://schemas.microsoft.com/office/drawing/2014/main" id="{C425A7C2-961C-4C80-98DD-ADE358A604ED}"/>
              </a:ext>
            </a:extLst>
          </p:cNvPr>
          <p:cNvSpPr>
            <a:spLocks noGrp="1"/>
          </p:cNvSpPr>
          <p:nvPr/>
        </p:nvSpPr>
        <p:spPr>
          <a:xfrm>
            <a:off x="7953375" y="1762125"/>
            <a:ext cx="3667125" cy="2000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 Terms of trade improve if export prices rise faster than import prices. Cheaper imports reduce imported cost-push inflation.</a:t>
            </a:r>
          </a:p>
        </p:txBody>
      </p:sp>
      <p:sp>
        <p:nvSpPr>
          <p:cNvPr id="9" name="chinese_explanation">
            <a:extLst>
              <a:ext uri="{FF2B5EF4-FFF2-40B4-BE49-F238E27FC236}">
                <a16:creationId xmlns:a16="http://schemas.microsoft.com/office/drawing/2014/main" id="{E998186C-6832-4305-8327-BC5D2ECD1E7C}"/>
              </a:ext>
            </a:extLst>
          </p:cNvPr>
          <p:cNvSpPr>
            <a:spLocks noGrp="1"/>
          </p:cNvSpPr>
          <p:nvPr/>
        </p:nvSpPr>
        <p:spPr>
          <a:xfrm>
            <a:off x="7953375" y="4095750"/>
            <a:ext cx="3667125" cy="2190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A：出口价格上升快于进口价格，贸易条件改善，进口便宜可降低输入型成本推动的通胀。</a:t>
            </a:r>
          </a:p>
        </p:txBody>
      </p:sp>
    </p:spTree>
    <p:extLst>
      <p:ext uri="{BB962C8B-B14F-4D97-AF65-F5344CB8AC3E}">
        <p14:creationId xmlns:p14="http://schemas.microsoft.com/office/powerpoint/2010/main" val="2062159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5A5D9C5F-F9D5-4F00-B208-9A933243763C}"/>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6: National Income and Actual Output / 国民收入与实际产出</a:t>
            </a:r>
          </a:p>
        </p:txBody>
      </p:sp>
      <p:sp>
        <p:nvSpPr>
          <p:cNvPr id="2" name="part_label">
            <a:extLst>
              <a:ext uri="{FF2B5EF4-FFF2-40B4-BE49-F238E27FC236}">
                <a16:creationId xmlns:a16="http://schemas.microsoft.com/office/drawing/2014/main" id="{23CAD658-F34C-40CB-8E21-7A364EA60DAB}"/>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1 | Q1-10</a:t>
            </a:r>
          </a:p>
        </p:txBody>
      </p:sp>
      <p:sp>
        <p:nvSpPr>
          <p:cNvPr id="3" name="metadata">
            <a:extLst>
              <a:ext uri="{FF2B5EF4-FFF2-40B4-BE49-F238E27FC236}">
                <a16:creationId xmlns:a16="http://schemas.microsoft.com/office/drawing/2014/main" id="{C96F8812-9C4D-42BA-9FDE-91A606F6A858}"/>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9708_s25_12 Q20 | Correct: &lt;15%</a:t>
            </a:r>
          </a:p>
        </p:txBody>
      </p:sp>
      <p:sp>
        <p:nvSpPr>
          <p:cNvPr id="4" name="Rectangle 3">
            <a:extLst>
              <a:ext uri="{FF2B5EF4-FFF2-40B4-BE49-F238E27FC236}">
                <a16:creationId xmlns:a16="http://schemas.microsoft.com/office/drawing/2014/main" id="{D9254046-878F-4A97-80FB-15EADFB2161F}"/>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2190750" y="1086629"/>
            <a:ext cx="7810500" cy="3617943"/>
          </a:xfrm>
          <a:prstGeom prst="rect">
            <a:avLst/>
          </a:prstGeom>
        </p:spPr>
      </p:pic>
      <p:sp>
        <p:nvSpPr>
          <p:cNvPr id="6" name="Rectangle 5">
            <a:extLst>
              <a:ext uri="{FF2B5EF4-FFF2-40B4-BE49-F238E27FC236}">
                <a16:creationId xmlns:a16="http://schemas.microsoft.com/office/drawing/2014/main" id="{794A8A94-7591-4598-861A-6DC2A9546E63}"/>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A24DCB59-8636-461A-B2A4-3C0091769D6C}"/>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A</a:t>
            </a:r>
          </a:p>
        </p:txBody>
      </p:sp>
      <p:sp>
        <p:nvSpPr>
          <p:cNvPr id="8" name="english_explanation">
            <a:extLst>
              <a:ext uri="{FF2B5EF4-FFF2-40B4-BE49-F238E27FC236}">
                <a16:creationId xmlns:a16="http://schemas.microsoft.com/office/drawing/2014/main" id="{627D0581-80C1-4136-8197-34CACE13CA06}"/>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 National income counts actual output. Lost train output minus extra policing counts; leisure and tax losses are excluded.</a:t>
            </a:r>
          </a:p>
        </p:txBody>
      </p:sp>
      <p:sp>
        <p:nvSpPr>
          <p:cNvPr id="9" name="chinese_explanation">
            <a:extLst>
              <a:ext uri="{FF2B5EF4-FFF2-40B4-BE49-F238E27FC236}">
                <a16:creationId xmlns:a16="http://schemas.microsoft.com/office/drawing/2014/main" id="{8F5388AD-3536-48C2-AF87-F9E2D2C95324}"/>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A：国民收入记录实际产出。火车服务减少产出减去额外警务产出；罢工者休闲和税收损失不计。</a:t>
            </a:r>
          </a:p>
        </p:txBody>
      </p:sp>
    </p:spTree>
    <p:extLst>
      <p:ext uri="{BB962C8B-B14F-4D97-AF65-F5344CB8AC3E}">
        <p14:creationId xmlns:p14="http://schemas.microsoft.com/office/powerpoint/2010/main" val="504611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EE0E0872-592F-4E18-A313-B6FE1E3441BA}"/>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7: Supply-Side Policy and AS/AD / 供给侧政策与AS/AD</a:t>
            </a:r>
          </a:p>
        </p:txBody>
      </p:sp>
      <p:sp>
        <p:nvSpPr>
          <p:cNvPr id="2" name="part_label">
            <a:extLst>
              <a:ext uri="{FF2B5EF4-FFF2-40B4-BE49-F238E27FC236}">
                <a16:creationId xmlns:a16="http://schemas.microsoft.com/office/drawing/2014/main" id="{AB0458FC-E400-4BE5-9EEE-554D21AF65D7}"/>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1 | Q1-10</a:t>
            </a:r>
          </a:p>
        </p:txBody>
      </p:sp>
      <p:sp>
        <p:nvSpPr>
          <p:cNvPr id="3" name="metadata">
            <a:extLst>
              <a:ext uri="{FF2B5EF4-FFF2-40B4-BE49-F238E27FC236}">
                <a16:creationId xmlns:a16="http://schemas.microsoft.com/office/drawing/2014/main" id="{E3246D19-A65F-442D-8812-758FDF610BEC}"/>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9708_m23_12 Q26 | Correct: 18%</a:t>
            </a:r>
          </a:p>
        </p:txBody>
      </p:sp>
      <p:sp>
        <p:nvSpPr>
          <p:cNvPr id="4" name="Rectangle 3">
            <a:extLst>
              <a:ext uri="{FF2B5EF4-FFF2-40B4-BE49-F238E27FC236}">
                <a16:creationId xmlns:a16="http://schemas.microsoft.com/office/drawing/2014/main" id="{68696988-0BDD-4192-804A-7ED71A3CA666}"/>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800147" y="1085850"/>
            <a:ext cx="10601232" cy="3619500"/>
          </a:xfrm>
          <a:prstGeom prst="rect">
            <a:avLst/>
          </a:prstGeom>
        </p:spPr>
      </p:pic>
      <p:sp>
        <p:nvSpPr>
          <p:cNvPr id="6" name="Rectangle 5">
            <a:extLst>
              <a:ext uri="{FF2B5EF4-FFF2-40B4-BE49-F238E27FC236}">
                <a16:creationId xmlns:a16="http://schemas.microsoft.com/office/drawing/2014/main" id="{CBD7FCDF-EE83-4062-A85C-33FA017C2501}"/>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0A0CECF2-A461-478A-91F1-F2851D458B11}"/>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B</a:t>
            </a:r>
          </a:p>
        </p:txBody>
      </p:sp>
      <p:sp>
        <p:nvSpPr>
          <p:cNvPr id="8" name="english_explanation">
            <a:extLst>
              <a:ext uri="{FF2B5EF4-FFF2-40B4-BE49-F238E27FC236}">
                <a16:creationId xmlns:a16="http://schemas.microsoft.com/office/drawing/2014/main" id="{5208FA77-EF5F-4BF1-ACF4-59494BBB2243}"/>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 Rightward shift of AS increases output, lowers unemployment, and reduces inflationary pressure.</a:t>
            </a:r>
          </a:p>
        </p:txBody>
      </p:sp>
      <p:sp>
        <p:nvSpPr>
          <p:cNvPr id="9" name="chinese_explanation">
            <a:extLst>
              <a:ext uri="{FF2B5EF4-FFF2-40B4-BE49-F238E27FC236}">
                <a16:creationId xmlns:a16="http://schemas.microsoft.com/office/drawing/2014/main" id="{5B55C74C-6032-45F7-BD1F-A0CC0406F5E9}"/>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B：总供给右移可提高产出、降低失业，并缓解通胀压力。</a:t>
            </a:r>
          </a:p>
        </p:txBody>
      </p:sp>
    </p:spTree>
    <p:extLst>
      <p:ext uri="{BB962C8B-B14F-4D97-AF65-F5344CB8AC3E}">
        <p14:creationId xmlns:p14="http://schemas.microsoft.com/office/powerpoint/2010/main" val="83075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F8EB8A56-5E11-45F3-B494-599541C6DF61}"/>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8: Elasticity on Demand Curves / 需求曲线上的弹性</a:t>
            </a:r>
          </a:p>
        </p:txBody>
      </p:sp>
      <p:sp>
        <p:nvSpPr>
          <p:cNvPr id="2" name="part_label">
            <a:extLst>
              <a:ext uri="{FF2B5EF4-FFF2-40B4-BE49-F238E27FC236}">
                <a16:creationId xmlns:a16="http://schemas.microsoft.com/office/drawing/2014/main" id="{9F3C5DD4-C613-48D0-8D12-FF4AA5042ADF}"/>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1 | Q1-10</a:t>
            </a:r>
          </a:p>
        </p:txBody>
      </p:sp>
      <p:sp>
        <p:nvSpPr>
          <p:cNvPr id="3" name="metadata">
            <a:extLst>
              <a:ext uri="{FF2B5EF4-FFF2-40B4-BE49-F238E27FC236}">
                <a16:creationId xmlns:a16="http://schemas.microsoft.com/office/drawing/2014/main" id="{B7FADAF0-6948-4894-ADA8-DDCFB38F586D}"/>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9708_m24_12 Q8 | Correct: 19%</a:t>
            </a:r>
          </a:p>
        </p:txBody>
      </p:sp>
      <p:sp>
        <p:nvSpPr>
          <p:cNvPr id="4" name="Rectangle 3">
            <a:extLst>
              <a:ext uri="{FF2B5EF4-FFF2-40B4-BE49-F238E27FC236}">
                <a16:creationId xmlns:a16="http://schemas.microsoft.com/office/drawing/2014/main" id="{A834A295-A485-4A0A-A50B-6D12EDC452FD}"/>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419502" y="1085850"/>
            <a:ext cx="6704797" cy="5429250"/>
          </a:xfrm>
          <a:prstGeom prst="rect">
            <a:avLst/>
          </a:prstGeom>
        </p:spPr>
      </p:pic>
      <p:sp>
        <p:nvSpPr>
          <p:cNvPr id="6" name="Rectangle 5">
            <a:extLst>
              <a:ext uri="{FF2B5EF4-FFF2-40B4-BE49-F238E27FC236}">
                <a16:creationId xmlns:a16="http://schemas.microsoft.com/office/drawing/2014/main" id="{AE462160-4724-4F30-B688-5B9D92BF4528}"/>
              </a:ext>
            </a:extLst>
          </p:cNvPr>
          <p:cNvSpPr>
            <a:spLocks noGrp="1"/>
          </p:cNvSpPr>
          <p:nvPr/>
        </p:nvSpPr>
        <p:spPr>
          <a:xfrm>
            <a:off x="381000" y="65722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54EAA625-D31B-4841-BC2C-7BE2BC6A3321}"/>
              </a:ext>
            </a:extLst>
          </p:cNvPr>
          <p:cNvSpPr>
            <a:spLocks noGrp="1"/>
          </p:cNvSpPr>
          <p:nvPr/>
        </p:nvSpPr>
        <p:spPr>
          <a:xfrm>
            <a:off x="7953375" y="1238250"/>
            <a:ext cx="36671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85BDB2ED-F195-4077-B566-B8AE25C88A3C}"/>
              </a:ext>
            </a:extLst>
          </p:cNvPr>
          <p:cNvSpPr>
            <a:spLocks noGrp="1"/>
          </p:cNvSpPr>
          <p:nvPr/>
        </p:nvSpPr>
        <p:spPr>
          <a:xfrm>
            <a:off x="7953375" y="1762125"/>
            <a:ext cx="3667125" cy="20002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800" b="0">
                <a:solidFill>
                  <a:srgbClr val="111111"/>
                </a:solidFill>
                <a:latin typeface="Arial"/>
                <a:ea typeface="Arial"/>
                <a:cs typeface="Arial"/>
              </a:defRPr>
            </a:pPr>
            <a:r>
              <a:rPr lang="en-US" altLang="zh-CN" dirty="0"/>
              <a:t>C: X has larger quantity at same price → P/Q smaller → less elastic than Y.</a:t>
            </a:r>
            <a:endParaRPr sz="1800" b="0" dirty="0">
              <a:solidFill>
                <a:srgbClr val="111111"/>
              </a:solidFill>
              <a:latin typeface="Arial"/>
              <a:ea typeface="Arial"/>
              <a:cs typeface="Arial"/>
            </a:endParaRPr>
          </a:p>
        </p:txBody>
      </p:sp>
      <p:sp>
        <p:nvSpPr>
          <p:cNvPr id="9" name="chinese_explanation">
            <a:extLst>
              <a:ext uri="{FF2B5EF4-FFF2-40B4-BE49-F238E27FC236}">
                <a16:creationId xmlns:a16="http://schemas.microsoft.com/office/drawing/2014/main" id="{6F67565E-29F6-460F-B8FA-9758FD59F34E}"/>
              </a:ext>
            </a:extLst>
          </p:cNvPr>
          <p:cNvSpPr>
            <a:spLocks noGrp="1"/>
          </p:cNvSpPr>
          <p:nvPr/>
        </p:nvSpPr>
        <p:spPr>
          <a:xfrm>
            <a:off x="7953375" y="4095750"/>
            <a:ext cx="3667125" cy="21907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800" b="0">
                <a:solidFill>
                  <a:srgbClr val="111111"/>
                </a:solidFill>
                <a:latin typeface="Arial"/>
                <a:ea typeface="Arial"/>
                <a:cs typeface="Arial"/>
              </a:defRPr>
            </a:pPr>
            <a:r>
              <a:rPr lang="en-US" altLang="zh-CN" dirty="0"/>
              <a:t>C</a:t>
            </a:r>
            <a:r>
              <a:rPr lang="zh-CN" altLang="en-US" dirty="0"/>
              <a:t>：</a:t>
            </a:r>
            <a:r>
              <a:rPr lang="en-US" altLang="zh-CN" dirty="0"/>
              <a:t>X</a:t>
            </a:r>
            <a:r>
              <a:rPr lang="zh-CN" altLang="en-US" dirty="0"/>
              <a:t>在同一价格下数量更大，</a:t>
            </a:r>
            <a:r>
              <a:rPr lang="en-US" altLang="zh-CN" dirty="0"/>
              <a:t>P/Q</a:t>
            </a:r>
            <a:r>
              <a:rPr lang="zh-CN" altLang="en-US" dirty="0"/>
              <a:t>较小 → 弹性小于</a:t>
            </a:r>
            <a:r>
              <a:rPr lang="en-US" altLang="zh-CN" dirty="0"/>
              <a:t>Y</a:t>
            </a:r>
            <a:r>
              <a:rPr lang="zh-CN" altLang="en-US" dirty="0"/>
              <a:t>。</a:t>
            </a:r>
            <a:endParaRPr sz="1800" b="0" dirty="0">
              <a:solidFill>
                <a:srgbClr val="111111"/>
              </a:solidFill>
              <a:latin typeface="Arial"/>
              <a:ea typeface="Arial"/>
              <a:cs typeface="Arial"/>
            </a:endParaRPr>
          </a:p>
        </p:txBody>
      </p:sp>
    </p:spTree>
    <p:extLst>
      <p:ext uri="{BB962C8B-B14F-4D97-AF65-F5344CB8AC3E}">
        <p14:creationId xmlns:p14="http://schemas.microsoft.com/office/powerpoint/2010/main" val="1295306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B3F3888F-1AB0-4B32-8002-97A7978CFF50}"/>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9: Demand Elasticity and Sales Revenue / 需求弹性与销售收入</a:t>
            </a:r>
          </a:p>
        </p:txBody>
      </p:sp>
      <p:sp>
        <p:nvSpPr>
          <p:cNvPr id="2" name="part_label">
            <a:extLst>
              <a:ext uri="{FF2B5EF4-FFF2-40B4-BE49-F238E27FC236}">
                <a16:creationId xmlns:a16="http://schemas.microsoft.com/office/drawing/2014/main" id="{79654C38-D0F7-419D-952D-8F4D55E99D8D}"/>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1 | Q1-10</a:t>
            </a:r>
          </a:p>
        </p:txBody>
      </p:sp>
      <p:sp>
        <p:nvSpPr>
          <p:cNvPr id="3" name="metadata">
            <a:extLst>
              <a:ext uri="{FF2B5EF4-FFF2-40B4-BE49-F238E27FC236}">
                <a16:creationId xmlns:a16="http://schemas.microsoft.com/office/drawing/2014/main" id="{C9D81283-4297-4959-90E8-42B48F2AD8B5}"/>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9708_m25_12 Q11 | Correct: &lt;1 in 5</a:t>
            </a:r>
          </a:p>
        </p:txBody>
      </p:sp>
      <p:sp>
        <p:nvSpPr>
          <p:cNvPr id="4" name="Rectangle 3">
            <a:extLst>
              <a:ext uri="{FF2B5EF4-FFF2-40B4-BE49-F238E27FC236}">
                <a16:creationId xmlns:a16="http://schemas.microsoft.com/office/drawing/2014/main" id="{068C1B87-4548-4361-B21B-4E5592BABF36}"/>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5604" y="1085850"/>
            <a:ext cx="10660792" cy="3314700"/>
          </a:xfrm>
          <a:prstGeom prst="rect">
            <a:avLst/>
          </a:prstGeom>
        </p:spPr>
      </p:pic>
      <p:sp>
        <p:nvSpPr>
          <p:cNvPr id="6" name="Rectangle 5">
            <a:extLst>
              <a:ext uri="{FF2B5EF4-FFF2-40B4-BE49-F238E27FC236}">
                <a16:creationId xmlns:a16="http://schemas.microsoft.com/office/drawing/2014/main" id="{BF280727-FDB9-443B-B168-C9205869A9CC}"/>
              </a:ext>
            </a:extLst>
          </p:cNvPr>
          <p:cNvSpPr>
            <a:spLocks noGrp="1"/>
          </p:cNvSpPr>
          <p:nvPr/>
        </p:nvSpPr>
        <p:spPr>
          <a:xfrm>
            <a:off x="381000" y="45148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A955CFFB-6E5D-4297-9761-E1C567D0534F}"/>
              </a:ext>
            </a:extLst>
          </p:cNvPr>
          <p:cNvSpPr>
            <a:spLocks noGrp="1"/>
          </p:cNvSpPr>
          <p:nvPr/>
        </p:nvSpPr>
        <p:spPr>
          <a:xfrm>
            <a:off x="381000" y="46291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B</a:t>
            </a:r>
          </a:p>
        </p:txBody>
      </p:sp>
      <p:sp>
        <p:nvSpPr>
          <p:cNvPr id="8" name="english_explanation">
            <a:extLst>
              <a:ext uri="{FF2B5EF4-FFF2-40B4-BE49-F238E27FC236}">
                <a16:creationId xmlns:a16="http://schemas.microsoft.com/office/drawing/2014/main" id="{9136D1B6-C918-4F48-B3E1-25A89F5673F4}"/>
              </a:ext>
            </a:extLst>
          </p:cNvPr>
          <p:cNvSpPr>
            <a:spLocks noGrp="1"/>
          </p:cNvSpPr>
          <p:nvPr/>
        </p:nvSpPr>
        <p:spPr>
          <a:xfrm>
            <a:off x="381000" y="5105400"/>
            <a:ext cx="5524500" cy="1504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 Revenue falls proportionally to quantity; price unchanged means horizontal demand, so PED is infinite.</a:t>
            </a:r>
          </a:p>
        </p:txBody>
      </p:sp>
      <p:sp>
        <p:nvSpPr>
          <p:cNvPr id="9" name="chinese_explanation">
            <a:extLst>
              <a:ext uri="{FF2B5EF4-FFF2-40B4-BE49-F238E27FC236}">
                <a16:creationId xmlns:a16="http://schemas.microsoft.com/office/drawing/2014/main" id="{F8D1988F-6CB3-4841-8EDD-BB3B0374A521}"/>
              </a:ext>
            </a:extLst>
          </p:cNvPr>
          <p:cNvSpPr>
            <a:spLocks noGrp="1"/>
          </p:cNvSpPr>
          <p:nvPr/>
        </p:nvSpPr>
        <p:spPr>
          <a:xfrm>
            <a:off x="6286500" y="5105400"/>
            <a:ext cx="5524500" cy="1504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B：销售收入按需求量比例下降，价格不变，说明需求曲线水平，需求弹性无穷大。</a:t>
            </a:r>
          </a:p>
        </p:txBody>
      </p:sp>
    </p:spTree>
    <p:extLst>
      <p:ext uri="{BB962C8B-B14F-4D97-AF65-F5344CB8AC3E}">
        <p14:creationId xmlns:p14="http://schemas.microsoft.com/office/powerpoint/2010/main" val="204938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6FA33AA8-CB6B-4FDE-8BFF-3399F88873E0}"/>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10: Export Subsidy and Import Volumes / 出口补贴与进口量</a:t>
            </a:r>
          </a:p>
        </p:txBody>
      </p:sp>
      <p:sp>
        <p:nvSpPr>
          <p:cNvPr id="2" name="part_label">
            <a:extLst>
              <a:ext uri="{FF2B5EF4-FFF2-40B4-BE49-F238E27FC236}">
                <a16:creationId xmlns:a16="http://schemas.microsoft.com/office/drawing/2014/main" id="{EE6301BF-7590-4408-9DA9-5E2B47EA15A6}"/>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1 | Q1-10</a:t>
            </a:r>
          </a:p>
        </p:txBody>
      </p:sp>
      <p:sp>
        <p:nvSpPr>
          <p:cNvPr id="3" name="metadata">
            <a:extLst>
              <a:ext uri="{FF2B5EF4-FFF2-40B4-BE49-F238E27FC236}">
                <a16:creationId xmlns:a16="http://schemas.microsoft.com/office/drawing/2014/main" id="{AAD60B7A-10E5-4987-BCC3-FFB37DCFCBFB}"/>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9708_m25_12 Q30 | Correct: &lt;1 in 5</a:t>
            </a:r>
          </a:p>
        </p:txBody>
      </p:sp>
      <p:sp>
        <p:nvSpPr>
          <p:cNvPr id="4" name="Rectangle 3">
            <a:extLst>
              <a:ext uri="{FF2B5EF4-FFF2-40B4-BE49-F238E27FC236}">
                <a16:creationId xmlns:a16="http://schemas.microsoft.com/office/drawing/2014/main" id="{793B0AA7-0E34-4E64-A37D-ACDFE882F1DD}"/>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419100" y="1086457"/>
            <a:ext cx="7239000" cy="5247060"/>
          </a:xfrm>
          <a:prstGeom prst="rect">
            <a:avLst/>
          </a:prstGeom>
        </p:spPr>
      </p:pic>
      <p:sp>
        <p:nvSpPr>
          <p:cNvPr id="6" name="Rectangle 5">
            <a:extLst>
              <a:ext uri="{FF2B5EF4-FFF2-40B4-BE49-F238E27FC236}">
                <a16:creationId xmlns:a16="http://schemas.microsoft.com/office/drawing/2014/main" id="{42EE90AF-69BE-49A9-8790-1C83DEA555CD}"/>
              </a:ext>
            </a:extLst>
          </p:cNvPr>
          <p:cNvSpPr>
            <a:spLocks noGrp="1"/>
          </p:cNvSpPr>
          <p:nvPr/>
        </p:nvSpPr>
        <p:spPr>
          <a:xfrm>
            <a:off x="381000" y="65722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C0A32474-749F-4E0E-A956-7393F83467B1}"/>
              </a:ext>
            </a:extLst>
          </p:cNvPr>
          <p:cNvSpPr>
            <a:spLocks noGrp="1"/>
          </p:cNvSpPr>
          <p:nvPr/>
        </p:nvSpPr>
        <p:spPr>
          <a:xfrm>
            <a:off x="7953375" y="1238250"/>
            <a:ext cx="36671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B</a:t>
            </a:r>
          </a:p>
        </p:txBody>
      </p:sp>
      <p:sp>
        <p:nvSpPr>
          <p:cNvPr id="8" name="english_explanation">
            <a:extLst>
              <a:ext uri="{FF2B5EF4-FFF2-40B4-BE49-F238E27FC236}">
                <a16:creationId xmlns:a16="http://schemas.microsoft.com/office/drawing/2014/main" id="{BD5CF241-6682-44FA-BA4D-C63EB1EDE008}"/>
              </a:ext>
            </a:extLst>
          </p:cNvPr>
          <p:cNvSpPr>
            <a:spLocks noGrp="1"/>
          </p:cNvSpPr>
          <p:nvPr/>
        </p:nvSpPr>
        <p:spPr>
          <a:xfrm>
            <a:off x="7953375" y="1762125"/>
            <a:ext cx="3667125" cy="2000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 Domestic supply rises 20 to 45m; demand is 60m. Imports become 15m, down from 40m, a fall of 25m.</a:t>
            </a:r>
          </a:p>
        </p:txBody>
      </p:sp>
      <p:sp>
        <p:nvSpPr>
          <p:cNvPr id="9" name="chinese_explanation">
            <a:extLst>
              <a:ext uri="{FF2B5EF4-FFF2-40B4-BE49-F238E27FC236}">
                <a16:creationId xmlns:a16="http://schemas.microsoft.com/office/drawing/2014/main" id="{6B40FF23-E255-4252-8033-4927CCD3E2AE}"/>
              </a:ext>
            </a:extLst>
          </p:cNvPr>
          <p:cNvSpPr>
            <a:spLocks noGrp="1"/>
          </p:cNvSpPr>
          <p:nvPr/>
        </p:nvSpPr>
        <p:spPr>
          <a:xfrm>
            <a:off x="7953375" y="4095750"/>
            <a:ext cx="3667125" cy="2190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B：国内供给2000万到4500万，需求6000万，进口变为1500万，原为4000万，减少2500万。</a:t>
            </a:r>
          </a:p>
        </p:txBody>
      </p:sp>
    </p:spTree>
    <p:extLst>
      <p:ext uri="{BB962C8B-B14F-4D97-AF65-F5344CB8AC3E}">
        <p14:creationId xmlns:p14="http://schemas.microsoft.com/office/powerpoint/2010/main" val="192164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nswer_key_title">
            <a:extLst>
              <a:ext uri="{FF2B5EF4-FFF2-40B4-BE49-F238E27FC236}">
                <a16:creationId xmlns:a16="http://schemas.microsoft.com/office/drawing/2014/main" id="{DC78C08A-6F4D-A499-9FE5-B45D90AC6348}"/>
              </a:ext>
            </a:extLst>
          </p:cNvPr>
          <p:cNvSpPr txBox="1"/>
          <p:nvPr/>
        </p:nvSpPr>
        <p:spPr>
          <a:xfrm>
            <a:off x="381000" y="355600"/>
            <a:ext cx="11430000" cy="523220"/>
          </a:xfrm>
          <a:prstGeom prst="rect">
            <a:avLst/>
          </a:prstGeom>
          <a:noFill/>
        </p:spPr>
        <p:txBody>
          <a:bodyPr vert="horz" rtlCol="0">
            <a:spAutoFit/>
          </a:bodyPr>
          <a:lstStyle/>
          <a:p>
            <a:r>
              <a:rPr lang="en-US" altLang="zh-CN" sz="2800" b="1">
                <a:solidFill>
                  <a:srgbClr val="000000"/>
                </a:solidFill>
                <a:latin typeface="Arial" panose="020B0604020202020204" pitchFamily="34" charset="0"/>
              </a:rPr>
              <a:t>Answer Key - Part 2: Questions 11-20</a:t>
            </a:r>
            <a:endParaRPr lang="zh-CN" altLang="en-US" sz="2800" b="1">
              <a:solidFill>
                <a:srgbClr val="000000"/>
              </a:solidFill>
              <a:latin typeface="Arial" panose="020B0604020202020204" pitchFamily="34" charset="0"/>
            </a:endParaRPr>
          </a:p>
        </p:txBody>
      </p:sp>
      <p:sp>
        <p:nvSpPr>
          <p:cNvPr id="3" name="answer_key_note">
            <a:extLst>
              <a:ext uri="{FF2B5EF4-FFF2-40B4-BE49-F238E27FC236}">
                <a16:creationId xmlns:a16="http://schemas.microsoft.com/office/drawing/2014/main" id="{F7C6EB5A-B4D9-9FD3-08CC-A4463542224E}"/>
              </a:ext>
            </a:extLst>
          </p:cNvPr>
          <p:cNvSpPr txBox="1"/>
          <p:nvPr/>
        </p:nvSpPr>
        <p:spPr>
          <a:xfrm>
            <a:off x="381000" y="952500"/>
            <a:ext cx="11430000" cy="369332"/>
          </a:xfrm>
          <a:prstGeom prst="rect">
            <a:avLst/>
          </a:prstGeom>
          <a:noFill/>
        </p:spPr>
        <p:txBody>
          <a:bodyPr vert="horz" rtlCol="0">
            <a:spAutoFit/>
          </a:bodyPr>
          <a:lstStyle/>
          <a:p>
            <a:r>
              <a:rPr lang="en-US" altLang="zh-CN">
                <a:solidFill>
                  <a:srgbClr val="555555"/>
                </a:solidFill>
                <a:latin typeface="Arial" panose="020B0604020202020204" pitchFamily="34" charset="0"/>
              </a:rPr>
              <a:t>Use after students have attempted this set.</a:t>
            </a:r>
            <a:endParaRPr lang="zh-CN" altLang="en-US">
              <a:solidFill>
                <a:srgbClr val="555555"/>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C1857CFF-AEF2-EEC1-614C-967CCBFE2FB5}"/>
              </a:ext>
            </a:extLst>
          </p:cNvPr>
          <p:cNvCxnSpPr/>
          <p:nvPr/>
        </p:nvCxnSpPr>
        <p:spPr>
          <a:xfrm>
            <a:off x="381000" y="1422400"/>
            <a:ext cx="11430000" cy="0"/>
          </a:xfrm>
          <a:prstGeom prst="line">
            <a:avLst/>
          </a:prstGeom>
          <a:ln w="12700">
            <a:solidFill>
              <a:srgbClr val="AAAAAA"/>
            </a:solidFill>
          </a:ln>
        </p:spPr>
        <p:style>
          <a:lnRef idx="1">
            <a:schemeClr val="accent1"/>
          </a:lnRef>
          <a:fillRef idx="0">
            <a:schemeClr val="accent1"/>
          </a:fillRef>
          <a:effectRef idx="0">
            <a:schemeClr val="accent1"/>
          </a:effectRef>
          <a:fontRef idx="minor">
            <a:schemeClr val="tx1"/>
          </a:fontRef>
        </p:style>
      </p:cxnSp>
      <p:sp>
        <p:nvSpPr>
          <p:cNvPr id="5" name="answer_key_q11">
            <a:extLst>
              <a:ext uri="{FF2B5EF4-FFF2-40B4-BE49-F238E27FC236}">
                <a16:creationId xmlns:a16="http://schemas.microsoft.com/office/drawing/2014/main" id="{88A24629-575B-1ECE-8DB7-5F2284C21ACD}"/>
              </a:ext>
            </a:extLst>
          </p:cNvPr>
          <p:cNvSpPr txBox="1"/>
          <p:nvPr/>
        </p:nvSpPr>
        <p:spPr>
          <a:xfrm>
            <a:off x="15240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Q11    A</a:t>
            </a:r>
            <a:endParaRPr lang="zh-CN" altLang="en-US" sz="3000" b="1">
              <a:solidFill>
                <a:srgbClr val="000000"/>
              </a:solidFill>
              <a:latin typeface="Arial" panose="020B0604020202020204" pitchFamily="34" charset="0"/>
            </a:endParaRPr>
          </a:p>
        </p:txBody>
      </p:sp>
      <p:sp>
        <p:nvSpPr>
          <p:cNvPr id="6" name="answer_key_q12">
            <a:extLst>
              <a:ext uri="{FF2B5EF4-FFF2-40B4-BE49-F238E27FC236}">
                <a16:creationId xmlns:a16="http://schemas.microsoft.com/office/drawing/2014/main" id="{AB8FA3CC-84B9-4A3C-FC56-624835FF86B4}"/>
              </a:ext>
            </a:extLst>
          </p:cNvPr>
          <p:cNvSpPr txBox="1"/>
          <p:nvPr/>
        </p:nvSpPr>
        <p:spPr>
          <a:xfrm>
            <a:off x="15240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Q12    C</a:t>
            </a:r>
            <a:endParaRPr lang="zh-CN" altLang="en-US" sz="3000" b="1">
              <a:solidFill>
                <a:srgbClr val="000000"/>
              </a:solidFill>
              <a:latin typeface="Arial" panose="020B0604020202020204" pitchFamily="34" charset="0"/>
            </a:endParaRPr>
          </a:p>
        </p:txBody>
      </p:sp>
      <p:sp>
        <p:nvSpPr>
          <p:cNvPr id="7" name="answer_key_q13">
            <a:extLst>
              <a:ext uri="{FF2B5EF4-FFF2-40B4-BE49-F238E27FC236}">
                <a16:creationId xmlns:a16="http://schemas.microsoft.com/office/drawing/2014/main" id="{CF50716B-933B-CC83-957B-283AD4DED44C}"/>
              </a:ext>
            </a:extLst>
          </p:cNvPr>
          <p:cNvSpPr txBox="1"/>
          <p:nvPr/>
        </p:nvSpPr>
        <p:spPr>
          <a:xfrm>
            <a:off x="15240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Q13    D</a:t>
            </a:r>
            <a:endParaRPr lang="zh-CN" altLang="en-US" sz="3000" b="1">
              <a:solidFill>
                <a:srgbClr val="000000"/>
              </a:solidFill>
              <a:latin typeface="Arial" panose="020B0604020202020204" pitchFamily="34" charset="0"/>
            </a:endParaRPr>
          </a:p>
        </p:txBody>
      </p:sp>
      <p:sp>
        <p:nvSpPr>
          <p:cNvPr id="8" name="answer_key_q14">
            <a:extLst>
              <a:ext uri="{FF2B5EF4-FFF2-40B4-BE49-F238E27FC236}">
                <a16:creationId xmlns:a16="http://schemas.microsoft.com/office/drawing/2014/main" id="{437B199F-55CE-3C26-3E05-CCF8391E330F}"/>
              </a:ext>
            </a:extLst>
          </p:cNvPr>
          <p:cNvSpPr txBox="1"/>
          <p:nvPr/>
        </p:nvSpPr>
        <p:spPr>
          <a:xfrm>
            <a:off x="15240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Q14    D</a:t>
            </a:r>
            <a:endParaRPr lang="zh-CN" altLang="en-US" sz="3000" b="1">
              <a:solidFill>
                <a:srgbClr val="000000"/>
              </a:solidFill>
              <a:latin typeface="Arial" panose="020B0604020202020204" pitchFamily="34" charset="0"/>
            </a:endParaRPr>
          </a:p>
        </p:txBody>
      </p:sp>
      <p:sp>
        <p:nvSpPr>
          <p:cNvPr id="9" name="answer_key_q15">
            <a:extLst>
              <a:ext uri="{FF2B5EF4-FFF2-40B4-BE49-F238E27FC236}">
                <a16:creationId xmlns:a16="http://schemas.microsoft.com/office/drawing/2014/main" id="{2C98C882-E315-7FCE-3C22-68F76807CA85}"/>
              </a:ext>
            </a:extLst>
          </p:cNvPr>
          <p:cNvSpPr txBox="1"/>
          <p:nvPr/>
        </p:nvSpPr>
        <p:spPr>
          <a:xfrm>
            <a:off x="15240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Q15    A</a:t>
            </a:r>
            <a:endParaRPr lang="zh-CN" altLang="en-US" sz="3000" b="1">
              <a:solidFill>
                <a:srgbClr val="000000"/>
              </a:solidFill>
              <a:latin typeface="Arial" panose="020B0604020202020204" pitchFamily="34" charset="0"/>
            </a:endParaRPr>
          </a:p>
        </p:txBody>
      </p:sp>
      <p:sp>
        <p:nvSpPr>
          <p:cNvPr id="10" name="answer_key_q16">
            <a:extLst>
              <a:ext uri="{FF2B5EF4-FFF2-40B4-BE49-F238E27FC236}">
                <a16:creationId xmlns:a16="http://schemas.microsoft.com/office/drawing/2014/main" id="{C5BA1B07-78D6-883E-7C3B-1696A7060563}"/>
              </a:ext>
            </a:extLst>
          </p:cNvPr>
          <p:cNvSpPr txBox="1"/>
          <p:nvPr/>
        </p:nvSpPr>
        <p:spPr>
          <a:xfrm>
            <a:off x="66675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Q16    B</a:t>
            </a:r>
            <a:endParaRPr lang="zh-CN" altLang="en-US" sz="3000" b="1">
              <a:solidFill>
                <a:srgbClr val="000000"/>
              </a:solidFill>
              <a:latin typeface="Arial" panose="020B0604020202020204" pitchFamily="34" charset="0"/>
            </a:endParaRPr>
          </a:p>
        </p:txBody>
      </p:sp>
      <p:sp>
        <p:nvSpPr>
          <p:cNvPr id="11" name="answer_key_q17">
            <a:extLst>
              <a:ext uri="{FF2B5EF4-FFF2-40B4-BE49-F238E27FC236}">
                <a16:creationId xmlns:a16="http://schemas.microsoft.com/office/drawing/2014/main" id="{8514321A-63F2-A759-0663-876A7AE7B470}"/>
              </a:ext>
            </a:extLst>
          </p:cNvPr>
          <p:cNvSpPr txBox="1"/>
          <p:nvPr/>
        </p:nvSpPr>
        <p:spPr>
          <a:xfrm>
            <a:off x="66675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Q17    D</a:t>
            </a:r>
            <a:endParaRPr lang="zh-CN" altLang="en-US" sz="3000" b="1">
              <a:solidFill>
                <a:srgbClr val="000000"/>
              </a:solidFill>
              <a:latin typeface="Arial" panose="020B0604020202020204" pitchFamily="34" charset="0"/>
            </a:endParaRPr>
          </a:p>
        </p:txBody>
      </p:sp>
      <p:sp>
        <p:nvSpPr>
          <p:cNvPr id="12" name="answer_key_q18">
            <a:extLst>
              <a:ext uri="{FF2B5EF4-FFF2-40B4-BE49-F238E27FC236}">
                <a16:creationId xmlns:a16="http://schemas.microsoft.com/office/drawing/2014/main" id="{604BFE72-C773-2EA2-BCC9-1F537A3152A5}"/>
              </a:ext>
            </a:extLst>
          </p:cNvPr>
          <p:cNvSpPr txBox="1"/>
          <p:nvPr/>
        </p:nvSpPr>
        <p:spPr>
          <a:xfrm>
            <a:off x="66675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Q18    A</a:t>
            </a:r>
            <a:endParaRPr lang="zh-CN" altLang="en-US" sz="3000" b="1">
              <a:solidFill>
                <a:srgbClr val="000000"/>
              </a:solidFill>
              <a:latin typeface="Arial" panose="020B0604020202020204" pitchFamily="34" charset="0"/>
            </a:endParaRPr>
          </a:p>
        </p:txBody>
      </p:sp>
      <p:sp>
        <p:nvSpPr>
          <p:cNvPr id="13" name="answer_key_q19">
            <a:extLst>
              <a:ext uri="{FF2B5EF4-FFF2-40B4-BE49-F238E27FC236}">
                <a16:creationId xmlns:a16="http://schemas.microsoft.com/office/drawing/2014/main" id="{5ACDD426-80FC-721D-4087-FF213D2C35E1}"/>
              </a:ext>
            </a:extLst>
          </p:cNvPr>
          <p:cNvSpPr txBox="1"/>
          <p:nvPr/>
        </p:nvSpPr>
        <p:spPr>
          <a:xfrm>
            <a:off x="66675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Q19    C</a:t>
            </a:r>
            <a:endParaRPr lang="zh-CN" altLang="en-US" sz="3000" b="1">
              <a:solidFill>
                <a:srgbClr val="000000"/>
              </a:solidFill>
              <a:latin typeface="Arial" panose="020B0604020202020204" pitchFamily="34" charset="0"/>
            </a:endParaRPr>
          </a:p>
        </p:txBody>
      </p:sp>
      <p:sp>
        <p:nvSpPr>
          <p:cNvPr id="14" name="answer_key_q20">
            <a:extLst>
              <a:ext uri="{FF2B5EF4-FFF2-40B4-BE49-F238E27FC236}">
                <a16:creationId xmlns:a16="http://schemas.microsoft.com/office/drawing/2014/main" id="{568D01E9-7E95-D19A-005D-7A68D1875734}"/>
              </a:ext>
            </a:extLst>
          </p:cNvPr>
          <p:cNvSpPr txBox="1"/>
          <p:nvPr/>
        </p:nvSpPr>
        <p:spPr>
          <a:xfrm>
            <a:off x="66675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Q20    C</a:t>
            </a:r>
            <a:endParaRPr lang="zh-CN" altLang="en-US" sz="3000" b="1">
              <a:solidFill>
                <a:srgbClr val="000000"/>
              </a:solidFill>
              <a:latin typeface="Arial" panose="020B0604020202020204" pitchFamily="34" charset="0"/>
            </a:endParaRPr>
          </a:p>
        </p:txBody>
      </p:sp>
      <p:sp>
        <p:nvSpPr>
          <p:cNvPr id="15" name="answer_key_footer">
            <a:extLst>
              <a:ext uri="{FF2B5EF4-FFF2-40B4-BE49-F238E27FC236}">
                <a16:creationId xmlns:a16="http://schemas.microsoft.com/office/drawing/2014/main" id="{713ABC95-C6B5-A6BA-35B8-45EA9D7BE02D}"/>
              </a:ext>
            </a:extLst>
          </p:cNvPr>
          <p:cNvSpPr txBox="1"/>
          <p:nvPr/>
        </p:nvSpPr>
        <p:spPr>
          <a:xfrm>
            <a:off x="381000" y="6286500"/>
            <a:ext cx="11430000" cy="307777"/>
          </a:xfrm>
          <a:prstGeom prst="rect">
            <a:avLst/>
          </a:prstGeom>
          <a:noFill/>
        </p:spPr>
        <p:txBody>
          <a:bodyPr vert="horz" rtlCol="0">
            <a:spAutoFit/>
          </a:bodyPr>
          <a:lstStyle/>
          <a:p>
            <a:r>
              <a:rPr lang="en-US" altLang="zh-CN" sz="1400">
                <a:solidFill>
                  <a:srgbClr val="555555"/>
                </a:solidFill>
                <a:latin typeface="Arial" panose="020B0604020202020204" pitchFamily="34" charset="0"/>
              </a:rPr>
              <a:t>Cambridge AS Economics 9708 Paper 1 - difficult MCQ review</a:t>
            </a:r>
            <a:endParaRPr lang="zh-CN" altLang="en-US" sz="1400">
              <a:solidFill>
                <a:srgbClr val="555555"/>
              </a:solidFill>
              <a:latin typeface="Arial" panose="020B0604020202020204" pitchFamily="34" charset="0"/>
            </a:endParaRPr>
          </a:p>
        </p:txBody>
      </p:sp>
    </p:spTree>
    <p:extLst>
      <p:ext uri="{BB962C8B-B14F-4D97-AF65-F5344CB8AC3E}">
        <p14:creationId xmlns:p14="http://schemas.microsoft.com/office/powerpoint/2010/main" val="1049027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58387774-D77F-46C6-95ED-7C006BB47DF5}"/>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11: Unitary PED and Capacity Use / 单位弹性与产能利用</a:t>
            </a:r>
          </a:p>
        </p:txBody>
      </p:sp>
      <p:sp>
        <p:nvSpPr>
          <p:cNvPr id="2" name="part_label">
            <a:extLst>
              <a:ext uri="{FF2B5EF4-FFF2-40B4-BE49-F238E27FC236}">
                <a16:creationId xmlns:a16="http://schemas.microsoft.com/office/drawing/2014/main" id="{454A2E46-5A4B-419C-BA55-6DCA0C8C27ED}"/>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2 | Q11-20</a:t>
            </a:r>
          </a:p>
        </p:txBody>
      </p:sp>
      <p:sp>
        <p:nvSpPr>
          <p:cNvPr id="3" name="metadata">
            <a:extLst>
              <a:ext uri="{FF2B5EF4-FFF2-40B4-BE49-F238E27FC236}">
                <a16:creationId xmlns:a16="http://schemas.microsoft.com/office/drawing/2014/main" id="{716669A9-A0C0-4F54-942B-AB9240BEAE1A}"/>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9708_s24_13 Q8 | Correct: &lt;20%</a:t>
            </a:r>
          </a:p>
        </p:txBody>
      </p:sp>
      <p:sp>
        <p:nvSpPr>
          <p:cNvPr id="4" name="Rectangle 3">
            <a:extLst>
              <a:ext uri="{FF2B5EF4-FFF2-40B4-BE49-F238E27FC236}">
                <a16:creationId xmlns:a16="http://schemas.microsoft.com/office/drawing/2014/main" id="{53E00432-55AE-4582-9A3C-5FA1715C2AEB}"/>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2000" y="1086747"/>
            <a:ext cx="10668000" cy="2160382"/>
          </a:xfrm>
          <a:prstGeom prst="rect">
            <a:avLst/>
          </a:prstGeom>
        </p:spPr>
      </p:pic>
      <p:sp>
        <p:nvSpPr>
          <p:cNvPr id="6" name="Rectangle 5">
            <a:extLst>
              <a:ext uri="{FF2B5EF4-FFF2-40B4-BE49-F238E27FC236}">
                <a16:creationId xmlns:a16="http://schemas.microsoft.com/office/drawing/2014/main" id="{13C92D71-D503-4F1F-BC3A-77FF283AE2D9}"/>
              </a:ext>
            </a:extLst>
          </p:cNvPr>
          <p:cNvSpPr>
            <a:spLocks noGrp="1"/>
          </p:cNvSpPr>
          <p:nvPr/>
        </p:nvSpPr>
        <p:spPr>
          <a:xfrm>
            <a:off x="381000" y="3362325"/>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3068FE0E-AE00-4BB4-8AE0-726D36772BBE}"/>
              </a:ext>
            </a:extLst>
          </p:cNvPr>
          <p:cNvSpPr>
            <a:spLocks noGrp="1"/>
          </p:cNvSpPr>
          <p:nvPr/>
        </p:nvSpPr>
        <p:spPr>
          <a:xfrm>
            <a:off x="381000" y="3476625"/>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A</a:t>
            </a:r>
          </a:p>
        </p:txBody>
      </p:sp>
      <p:sp>
        <p:nvSpPr>
          <p:cNvPr id="8" name="english_explanation">
            <a:extLst>
              <a:ext uri="{FF2B5EF4-FFF2-40B4-BE49-F238E27FC236}">
                <a16:creationId xmlns:a16="http://schemas.microsoft.com/office/drawing/2014/main" id="{66622E60-BFDE-4E60-B816-9DD24B3CFD35}"/>
              </a:ext>
            </a:extLst>
          </p:cNvPr>
          <p:cNvSpPr>
            <a:spLocks noGrp="1"/>
          </p:cNvSpPr>
          <p:nvPr/>
        </p:nvSpPr>
        <p:spPr>
          <a:xfrm>
            <a:off x="381000" y="3952875"/>
            <a:ext cx="5524500" cy="2657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 Output must rise from 8000 to 10000, a 25% increase. With unitary elasticity, price must fall 25%, from 12 to 9.</a:t>
            </a:r>
          </a:p>
        </p:txBody>
      </p:sp>
      <p:sp>
        <p:nvSpPr>
          <p:cNvPr id="9" name="chinese_explanation">
            <a:extLst>
              <a:ext uri="{FF2B5EF4-FFF2-40B4-BE49-F238E27FC236}">
                <a16:creationId xmlns:a16="http://schemas.microsoft.com/office/drawing/2014/main" id="{28BAE887-8D9B-49E9-B529-14282292C904}"/>
              </a:ext>
            </a:extLst>
          </p:cNvPr>
          <p:cNvSpPr>
            <a:spLocks noGrp="1"/>
          </p:cNvSpPr>
          <p:nvPr/>
        </p:nvSpPr>
        <p:spPr>
          <a:xfrm>
            <a:off x="6286500" y="3952875"/>
            <a:ext cx="5524500" cy="26574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A：产量从8000增至10000，增加25%。单位弹性下，价格需下降25%，从12降到9。</a:t>
            </a:r>
          </a:p>
        </p:txBody>
      </p:sp>
    </p:spTree>
    <p:extLst>
      <p:ext uri="{BB962C8B-B14F-4D97-AF65-F5344CB8AC3E}">
        <p14:creationId xmlns:p14="http://schemas.microsoft.com/office/powerpoint/2010/main" val="54845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E5A5340C-29FD-48C3-9C61-C83B05978188}"/>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12: Comparative Advantage / 比较优势</a:t>
            </a:r>
          </a:p>
        </p:txBody>
      </p:sp>
      <p:sp>
        <p:nvSpPr>
          <p:cNvPr id="2" name="part_label">
            <a:extLst>
              <a:ext uri="{FF2B5EF4-FFF2-40B4-BE49-F238E27FC236}">
                <a16:creationId xmlns:a16="http://schemas.microsoft.com/office/drawing/2014/main" id="{904C486F-2E1E-4904-8AA9-5CB9A5DEE229}"/>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2 | Q11-20</a:t>
            </a:r>
          </a:p>
        </p:txBody>
      </p:sp>
      <p:sp>
        <p:nvSpPr>
          <p:cNvPr id="3" name="metadata">
            <a:extLst>
              <a:ext uri="{FF2B5EF4-FFF2-40B4-BE49-F238E27FC236}">
                <a16:creationId xmlns:a16="http://schemas.microsoft.com/office/drawing/2014/main" id="{BB7CFB3E-2784-4CAD-A226-1647AC770EC9}"/>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9708_s23_13 Q23 | Correct: 20%</a:t>
            </a:r>
          </a:p>
        </p:txBody>
      </p:sp>
      <p:sp>
        <p:nvSpPr>
          <p:cNvPr id="4" name="Rectangle 3">
            <a:extLst>
              <a:ext uri="{FF2B5EF4-FFF2-40B4-BE49-F238E27FC236}">
                <a16:creationId xmlns:a16="http://schemas.microsoft.com/office/drawing/2014/main" id="{2995D818-C825-4B59-8ABC-862E5A06A78A}"/>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421086" y="1085850"/>
            <a:ext cx="7235028" cy="4257675"/>
          </a:xfrm>
          <a:prstGeom prst="rect">
            <a:avLst/>
          </a:prstGeom>
        </p:spPr>
      </p:pic>
      <p:sp>
        <p:nvSpPr>
          <p:cNvPr id="6" name="Rectangle 5">
            <a:extLst>
              <a:ext uri="{FF2B5EF4-FFF2-40B4-BE49-F238E27FC236}">
                <a16:creationId xmlns:a16="http://schemas.microsoft.com/office/drawing/2014/main" id="{40E2CC3E-F4E1-43D3-992F-AEE01260F30C}"/>
              </a:ext>
            </a:extLst>
          </p:cNvPr>
          <p:cNvSpPr>
            <a:spLocks noGrp="1"/>
          </p:cNvSpPr>
          <p:nvPr/>
        </p:nvSpPr>
        <p:spPr>
          <a:xfrm>
            <a:off x="381000" y="65722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17306B58-4C84-42CA-B707-261B0B7D3947}"/>
              </a:ext>
            </a:extLst>
          </p:cNvPr>
          <p:cNvSpPr>
            <a:spLocks noGrp="1"/>
          </p:cNvSpPr>
          <p:nvPr/>
        </p:nvSpPr>
        <p:spPr>
          <a:xfrm>
            <a:off x="7953375" y="1238250"/>
            <a:ext cx="36671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CD9E9483-B931-492C-B178-7FE2FE8A1389}"/>
              </a:ext>
            </a:extLst>
          </p:cNvPr>
          <p:cNvSpPr>
            <a:spLocks noGrp="1"/>
          </p:cNvSpPr>
          <p:nvPr/>
        </p:nvSpPr>
        <p:spPr>
          <a:xfrm>
            <a:off x="7953375" y="1762125"/>
            <a:ext cx="3667125" cy="2000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Opportunity cost determines which country specializes in which good. After specialization, compare world output with original totals.</a:t>
            </a:r>
          </a:p>
        </p:txBody>
      </p:sp>
      <p:sp>
        <p:nvSpPr>
          <p:cNvPr id="9" name="chinese_explanation">
            <a:extLst>
              <a:ext uri="{FF2B5EF4-FFF2-40B4-BE49-F238E27FC236}">
                <a16:creationId xmlns:a16="http://schemas.microsoft.com/office/drawing/2014/main" id="{5DCBB309-B168-4E35-83DC-75BEADCA19D9}"/>
              </a:ext>
            </a:extLst>
          </p:cNvPr>
          <p:cNvSpPr>
            <a:spLocks noGrp="1"/>
          </p:cNvSpPr>
          <p:nvPr/>
        </p:nvSpPr>
        <p:spPr>
          <a:xfrm>
            <a:off x="7953375" y="4095750"/>
            <a:ext cx="3667125" cy="2190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C：根据机会成本决定各国专业化生产哪种商品。专业化后计算世界总产出并与原总量比较。</a:t>
            </a:r>
          </a:p>
        </p:txBody>
      </p:sp>
    </p:spTree>
    <p:extLst>
      <p:ext uri="{BB962C8B-B14F-4D97-AF65-F5344CB8AC3E}">
        <p14:creationId xmlns:p14="http://schemas.microsoft.com/office/powerpoint/2010/main" val="630667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5CC170D7-EDE6-45BA-9444-5C71227608FC}"/>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13: Circular Flow Equilibrium / 循环流量均衡</a:t>
            </a:r>
          </a:p>
        </p:txBody>
      </p:sp>
      <p:sp>
        <p:nvSpPr>
          <p:cNvPr id="2" name="part_label">
            <a:extLst>
              <a:ext uri="{FF2B5EF4-FFF2-40B4-BE49-F238E27FC236}">
                <a16:creationId xmlns:a16="http://schemas.microsoft.com/office/drawing/2014/main" id="{8CCDB0B9-FD4C-4A16-8117-8AF7AB7FD773}"/>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2 | Q11-20</a:t>
            </a:r>
          </a:p>
        </p:txBody>
      </p:sp>
      <p:sp>
        <p:nvSpPr>
          <p:cNvPr id="3" name="metadata">
            <a:extLst>
              <a:ext uri="{FF2B5EF4-FFF2-40B4-BE49-F238E27FC236}">
                <a16:creationId xmlns:a16="http://schemas.microsoft.com/office/drawing/2014/main" id="{EA5CA96D-E9A7-4136-9435-99E88E30C0FF}"/>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9708_s25_11 Q17 | Correct: 20%</a:t>
            </a:r>
          </a:p>
        </p:txBody>
      </p:sp>
      <p:sp>
        <p:nvSpPr>
          <p:cNvPr id="4" name="Rectangle 3">
            <a:extLst>
              <a:ext uri="{FF2B5EF4-FFF2-40B4-BE49-F238E27FC236}">
                <a16:creationId xmlns:a16="http://schemas.microsoft.com/office/drawing/2014/main" id="{8F83FDAC-F178-4CB1-9C25-3FBB76AE538C}"/>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1647825" y="1086426"/>
            <a:ext cx="8896350" cy="3618347"/>
          </a:xfrm>
          <a:prstGeom prst="rect">
            <a:avLst/>
          </a:prstGeom>
        </p:spPr>
      </p:pic>
      <p:sp>
        <p:nvSpPr>
          <p:cNvPr id="6" name="Rectangle 5">
            <a:extLst>
              <a:ext uri="{FF2B5EF4-FFF2-40B4-BE49-F238E27FC236}">
                <a16:creationId xmlns:a16="http://schemas.microsoft.com/office/drawing/2014/main" id="{CB51F7DD-9242-400F-86F8-B2D241B80E10}"/>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8" name="english_explanation">
            <a:extLst>
              <a:ext uri="{FF2B5EF4-FFF2-40B4-BE49-F238E27FC236}">
                <a16:creationId xmlns:a16="http://schemas.microsoft.com/office/drawing/2014/main" id="{0B2AC5A0-9FD1-4C78-A3F8-818B4F2E4C2D}"/>
              </a:ext>
            </a:extLst>
          </p:cNvPr>
          <p:cNvSpPr>
            <a:spLocks noGrp="1"/>
          </p:cNvSpPr>
          <p:nvPr/>
        </p:nvSpPr>
        <p:spPr>
          <a:xfrm>
            <a:off x="381000" y="5486400"/>
            <a:ext cx="6457950" cy="10160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800" b="0">
                <a:solidFill>
                  <a:srgbClr val="111111"/>
                </a:solidFill>
                <a:latin typeface="Arial"/>
                <a:ea typeface="Arial"/>
                <a:cs typeface="Arial"/>
              </a:defRPr>
            </a:pPr>
            <a:r>
              <a:rPr lang="en-US" altLang="zh-CN" sz="2400">
                <a:solidFill>
                  <a:srgbClr val="000000"/>
                </a:solidFill>
                <a:latin typeface="Arial" panose="020B0604020202020204" pitchFamily="34" charset="0"/>
              </a:rPr>
              <a:t>D: Investment is $50m greater than saving. Current account surplus and budget surplus offset the difference.</a:t>
            </a:r>
            <a:endParaRPr sz="2400" b="0" dirty="0">
              <a:solidFill>
                <a:srgbClr val="000000"/>
              </a:solidFill>
              <a:latin typeface="Arial" panose="020B0604020202020204" pitchFamily="34" charset="0"/>
              <a:ea typeface="Arial"/>
              <a:cs typeface="Arial"/>
            </a:endParaRPr>
          </a:p>
        </p:txBody>
      </p:sp>
      <p:sp>
        <p:nvSpPr>
          <p:cNvPr id="9" name="chinese_explanation">
            <a:extLst>
              <a:ext uri="{FF2B5EF4-FFF2-40B4-BE49-F238E27FC236}">
                <a16:creationId xmlns:a16="http://schemas.microsoft.com/office/drawing/2014/main" id="{53E67F53-881F-4A48-A06C-CE7C14C402CF}"/>
              </a:ext>
            </a:extLst>
          </p:cNvPr>
          <p:cNvSpPr>
            <a:spLocks noGrp="1"/>
          </p:cNvSpPr>
          <p:nvPr/>
        </p:nvSpPr>
        <p:spPr>
          <a:xfrm>
            <a:off x="7067550" y="5486400"/>
            <a:ext cx="4857750" cy="10160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800" b="0">
                <a:solidFill>
                  <a:srgbClr val="111111"/>
                </a:solidFill>
                <a:latin typeface="Arial"/>
                <a:ea typeface="Arial"/>
                <a:cs typeface="Arial"/>
              </a:defRPr>
            </a:pPr>
            <a:r>
              <a:rPr lang="en-US" altLang="zh-CN" sz="2400">
                <a:solidFill>
                  <a:srgbClr val="000000"/>
                </a:solidFill>
                <a:latin typeface="Arial" panose="020B0604020202020204" pitchFamily="34" charset="0"/>
              </a:rPr>
              <a:t>D</a:t>
            </a:r>
            <a:r>
              <a:rPr lang="zh-CN" altLang="en-US" sz="2400">
                <a:solidFill>
                  <a:srgbClr val="000000"/>
                </a:solidFill>
                <a:latin typeface="Arial" panose="020B0604020202020204" pitchFamily="34" charset="0"/>
              </a:rPr>
              <a:t>：投资比储蓄多</a:t>
            </a:r>
            <a:r>
              <a:rPr lang="en-US" altLang="zh-CN" sz="2400">
                <a:solidFill>
                  <a:srgbClr val="000000"/>
                </a:solidFill>
                <a:latin typeface="Arial" panose="020B0604020202020204" pitchFamily="34" charset="0"/>
              </a:rPr>
              <a:t>5000</a:t>
            </a:r>
            <a:r>
              <a:rPr lang="zh-CN" altLang="en-US" sz="2400">
                <a:solidFill>
                  <a:srgbClr val="000000"/>
                </a:solidFill>
                <a:latin typeface="Arial" panose="020B0604020202020204" pitchFamily="34" charset="0"/>
              </a:rPr>
              <a:t>万美元。经常账户盈余和预算盈余抵消差额。</a:t>
            </a:r>
            <a:endParaRPr sz="2400" b="0" dirty="0">
              <a:solidFill>
                <a:srgbClr val="000000"/>
              </a:solidFill>
              <a:latin typeface="Arial" panose="020B0604020202020204" pitchFamily="34" charset="0"/>
              <a:ea typeface="Arial"/>
              <a:cs typeface="Arial"/>
            </a:endParaRPr>
          </a:p>
        </p:txBody>
      </p:sp>
      <p:sp>
        <p:nvSpPr>
          <p:cNvPr id="7" name="answer_key">
            <a:extLst>
              <a:ext uri="{FF2B5EF4-FFF2-40B4-BE49-F238E27FC236}">
                <a16:creationId xmlns:a16="http://schemas.microsoft.com/office/drawing/2014/main" id="{F782BD1C-342F-514F-237D-5885726B03AD}"/>
              </a:ext>
            </a:extLst>
          </p:cNvPr>
          <p:cNvSpPr txBox="1"/>
          <p:nvPr/>
        </p:nvSpPr>
        <p:spPr>
          <a:xfrm>
            <a:off x="381000" y="4902200"/>
            <a:ext cx="2286000" cy="538609"/>
          </a:xfrm>
          <a:prstGeom prst="rect">
            <a:avLst/>
          </a:prstGeom>
          <a:noFill/>
        </p:spPr>
        <p:txBody>
          <a:bodyPr vert="horz" rtlCol="0">
            <a:spAutoFit/>
          </a:bodyPr>
          <a:lstStyle/>
          <a:p>
            <a:r>
              <a:rPr lang="en-US" altLang="zh-CN" sz="2900" b="1">
                <a:solidFill>
                  <a:srgbClr val="000000"/>
                </a:solidFill>
                <a:latin typeface="Arial" panose="020B0604020202020204" pitchFamily="34" charset="0"/>
              </a:rPr>
              <a:t>Answer: D</a:t>
            </a:r>
            <a:endParaRPr lang="zh-CN" altLang="en-US" sz="2900" b="1">
              <a:solidFill>
                <a:srgbClr val="000000"/>
              </a:solidFill>
              <a:latin typeface="Arial" panose="020B0604020202020204" pitchFamily="34" charset="0"/>
            </a:endParaRPr>
          </a:p>
        </p:txBody>
      </p:sp>
    </p:spTree>
    <p:extLst>
      <p:ext uri="{BB962C8B-B14F-4D97-AF65-F5344CB8AC3E}">
        <p14:creationId xmlns:p14="http://schemas.microsoft.com/office/powerpoint/2010/main" val="130354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C0128DC6-D260-4846-99B5-573507AF2511}"/>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14: Buffer Stock Finance Risk / 缓冲库存的资金风险</a:t>
            </a:r>
          </a:p>
        </p:txBody>
      </p:sp>
      <p:sp>
        <p:nvSpPr>
          <p:cNvPr id="2" name="part_label">
            <a:extLst>
              <a:ext uri="{FF2B5EF4-FFF2-40B4-BE49-F238E27FC236}">
                <a16:creationId xmlns:a16="http://schemas.microsoft.com/office/drawing/2014/main" id="{69D45EC4-8178-4685-A6E6-66C3CCEC6751}"/>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2 | Q11-20</a:t>
            </a:r>
          </a:p>
        </p:txBody>
      </p:sp>
      <p:sp>
        <p:nvSpPr>
          <p:cNvPr id="3" name="metadata">
            <a:extLst>
              <a:ext uri="{FF2B5EF4-FFF2-40B4-BE49-F238E27FC236}">
                <a16:creationId xmlns:a16="http://schemas.microsoft.com/office/drawing/2014/main" id="{1FA20865-780F-42BC-96B9-55640849E6B8}"/>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9708_s25_13 Q14 | Correct: just over 20%</a:t>
            </a:r>
          </a:p>
        </p:txBody>
      </p:sp>
      <p:sp>
        <p:nvSpPr>
          <p:cNvPr id="4" name="Rectangle 3">
            <a:extLst>
              <a:ext uri="{FF2B5EF4-FFF2-40B4-BE49-F238E27FC236}">
                <a16:creationId xmlns:a16="http://schemas.microsoft.com/office/drawing/2014/main" id="{18AF862D-D71F-442A-BADD-2D3B850F7A80}"/>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2116636" y="1085850"/>
            <a:ext cx="7968252" cy="3619500"/>
          </a:xfrm>
          <a:prstGeom prst="rect">
            <a:avLst/>
          </a:prstGeom>
        </p:spPr>
      </p:pic>
      <p:sp>
        <p:nvSpPr>
          <p:cNvPr id="6" name="Rectangle 5">
            <a:extLst>
              <a:ext uri="{FF2B5EF4-FFF2-40B4-BE49-F238E27FC236}">
                <a16:creationId xmlns:a16="http://schemas.microsoft.com/office/drawing/2014/main" id="{957612E0-9BD4-4F70-88BB-E1AC45E64A59}"/>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09858F64-9AA5-4759-8E26-30F15AD1B0DC}"/>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44AFA1C9-0B86-465F-8080-BE6EF2F168AB}"/>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dirty="0">
                <a:solidFill>
                  <a:srgbClr val="111111"/>
                </a:solidFill>
                <a:latin typeface="Arial"/>
                <a:ea typeface="Arial"/>
                <a:cs typeface="Arial"/>
              </a:rPr>
              <a:t>D: Difficult entry for new farmers and rising demand reduce persistent excess supply risk.</a:t>
            </a:r>
          </a:p>
        </p:txBody>
      </p:sp>
      <p:sp>
        <p:nvSpPr>
          <p:cNvPr id="9" name="chinese_explanation">
            <a:extLst>
              <a:ext uri="{FF2B5EF4-FFF2-40B4-BE49-F238E27FC236}">
                <a16:creationId xmlns:a16="http://schemas.microsoft.com/office/drawing/2014/main" id="{34639E7D-2310-46AB-A3B2-33EF703F2467}"/>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dirty="0" err="1">
                <a:solidFill>
                  <a:srgbClr val="111111"/>
                </a:solidFill>
                <a:latin typeface="Arial"/>
                <a:ea typeface="Arial"/>
                <a:cs typeface="Arial"/>
              </a:rPr>
              <a:t>D：新农民进入困难且需求上升，减少长期过剩供给风险</a:t>
            </a:r>
            <a:r>
              <a:rPr sz="1800" b="0" dirty="0">
                <a:solidFill>
                  <a:srgbClr val="111111"/>
                </a:solidFill>
                <a:latin typeface="Arial"/>
                <a:ea typeface="Arial"/>
                <a:cs typeface="Arial"/>
              </a:rPr>
              <a:t>。</a:t>
            </a:r>
          </a:p>
        </p:txBody>
      </p:sp>
    </p:spTree>
    <p:extLst>
      <p:ext uri="{BB962C8B-B14F-4D97-AF65-F5344CB8AC3E}">
        <p14:creationId xmlns:p14="http://schemas.microsoft.com/office/powerpoint/2010/main" val="2120213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F07B708B-9216-46D0-9501-DAAC5A4C0B44}"/>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15: Net National Income Calculation / 国民净收入计算</a:t>
            </a:r>
          </a:p>
        </p:txBody>
      </p:sp>
      <p:sp>
        <p:nvSpPr>
          <p:cNvPr id="2" name="part_label">
            <a:extLst>
              <a:ext uri="{FF2B5EF4-FFF2-40B4-BE49-F238E27FC236}">
                <a16:creationId xmlns:a16="http://schemas.microsoft.com/office/drawing/2014/main" id="{5A86F888-3E13-4076-A121-67671DF36485}"/>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2 | Q11-20</a:t>
            </a:r>
          </a:p>
        </p:txBody>
      </p:sp>
      <p:sp>
        <p:nvSpPr>
          <p:cNvPr id="3" name="metadata">
            <a:extLst>
              <a:ext uri="{FF2B5EF4-FFF2-40B4-BE49-F238E27FC236}">
                <a16:creationId xmlns:a16="http://schemas.microsoft.com/office/drawing/2014/main" id="{A76F596A-D480-4A60-9C19-EBACDDDCB672}"/>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9708_m23_12 Q16 | Correct: 21%</a:t>
            </a:r>
          </a:p>
        </p:txBody>
      </p:sp>
      <p:sp>
        <p:nvSpPr>
          <p:cNvPr id="4" name="Rectangle 3">
            <a:extLst>
              <a:ext uri="{FF2B5EF4-FFF2-40B4-BE49-F238E27FC236}">
                <a16:creationId xmlns:a16="http://schemas.microsoft.com/office/drawing/2014/main" id="{600DB02A-313D-4EDA-91A8-B5AC6AA3893F}"/>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2333625" y="1085850"/>
            <a:ext cx="7524750" cy="3619500"/>
          </a:xfrm>
          <a:prstGeom prst="rect">
            <a:avLst/>
          </a:prstGeom>
        </p:spPr>
      </p:pic>
      <p:sp>
        <p:nvSpPr>
          <p:cNvPr id="6" name="Rectangle 5">
            <a:extLst>
              <a:ext uri="{FF2B5EF4-FFF2-40B4-BE49-F238E27FC236}">
                <a16:creationId xmlns:a16="http://schemas.microsoft.com/office/drawing/2014/main" id="{677484D0-281D-4F79-8A2D-C83F53E48E97}"/>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8B32605B-BEFD-4010-B285-80CF0F22CA77}"/>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A</a:t>
            </a:r>
          </a:p>
        </p:txBody>
      </p:sp>
      <p:sp>
        <p:nvSpPr>
          <p:cNvPr id="8" name="english_explanation">
            <a:extLst>
              <a:ext uri="{FF2B5EF4-FFF2-40B4-BE49-F238E27FC236}">
                <a16:creationId xmlns:a16="http://schemas.microsoft.com/office/drawing/2014/main" id="{179DEEF4-9C92-4CA0-B992-4B76E044C54D}"/>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 NNI adjusts GDP for net property income from abroad and capital consumption.</a:t>
            </a:r>
          </a:p>
        </p:txBody>
      </p:sp>
      <p:sp>
        <p:nvSpPr>
          <p:cNvPr id="9" name="chinese_explanation">
            <a:extLst>
              <a:ext uri="{FF2B5EF4-FFF2-40B4-BE49-F238E27FC236}">
                <a16:creationId xmlns:a16="http://schemas.microsoft.com/office/drawing/2014/main" id="{703A32BB-BCFE-456F-8F97-56D9BC872391}"/>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A：国民净收入=GDP调整国外净财产收入和折旧。</a:t>
            </a:r>
          </a:p>
        </p:txBody>
      </p:sp>
    </p:spTree>
    <p:extLst>
      <p:ext uri="{BB962C8B-B14F-4D97-AF65-F5344CB8AC3E}">
        <p14:creationId xmlns:p14="http://schemas.microsoft.com/office/powerpoint/2010/main" val="1463423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85706976-A046-40F2-8610-403DCB483144}"/>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16: PPC and Acceptable Terms of Trade / PPC与可接受贸易条件</a:t>
            </a:r>
          </a:p>
        </p:txBody>
      </p:sp>
      <p:sp>
        <p:nvSpPr>
          <p:cNvPr id="2" name="part_label">
            <a:extLst>
              <a:ext uri="{FF2B5EF4-FFF2-40B4-BE49-F238E27FC236}">
                <a16:creationId xmlns:a16="http://schemas.microsoft.com/office/drawing/2014/main" id="{55D40988-458E-4148-9805-36E675FCDE1A}"/>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2 | Q11-20</a:t>
            </a:r>
          </a:p>
        </p:txBody>
      </p:sp>
      <p:sp>
        <p:nvSpPr>
          <p:cNvPr id="3" name="metadata">
            <a:extLst>
              <a:ext uri="{FF2B5EF4-FFF2-40B4-BE49-F238E27FC236}">
                <a16:creationId xmlns:a16="http://schemas.microsoft.com/office/drawing/2014/main" id="{1E9FFBDE-27B8-4355-A248-674A39B6DE47}"/>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9708_w23_11 Q20 | Correct: 21%</a:t>
            </a:r>
          </a:p>
        </p:txBody>
      </p:sp>
      <p:sp>
        <p:nvSpPr>
          <p:cNvPr id="4" name="Rectangle 3">
            <a:extLst>
              <a:ext uri="{FF2B5EF4-FFF2-40B4-BE49-F238E27FC236}">
                <a16:creationId xmlns:a16="http://schemas.microsoft.com/office/drawing/2014/main" id="{61AC2E44-4958-411B-B861-E9E17A77B825}"/>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421705" y="1085850"/>
            <a:ext cx="7233790" cy="5219700"/>
          </a:xfrm>
          <a:prstGeom prst="rect">
            <a:avLst/>
          </a:prstGeom>
        </p:spPr>
      </p:pic>
      <p:sp>
        <p:nvSpPr>
          <p:cNvPr id="6" name="Rectangle 5">
            <a:extLst>
              <a:ext uri="{FF2B5EF4-FFF2-40B4-BE49-F238E27FC236}">
                <a16:creationId xmlns:a16="http://schemas.microsoft.com/office/drawing/2014/main" id="{9A66F47A-44EF-4944-AABB-CC4280FEF693}"/>
              </a:ext>
            </a:extLst>
          </p:cNvPr>
          <p:cNvSpPr>
            <a:spLocks noGrp="1"/>
          </p:cNvSpPr>
          <p:nvPr/>
        </p:nvSpPr>
        <p:spPr>
          <a:xfrm>
            <a:off x="381000" y="65722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45B2D209-B99F-4B52-862F-1974D69E6D7C}"/>
              </a:ext>
            </a:extLst>
          </p:cNvPr>
          <p:cNvSpPr>
            <a:spLocks noGrp="1"/>
          </p:cNvSpPr>
          <p:nvPr/>
        </p:nvSpPr>
        <p:spPr>
          <a:xfrm>
            <a:off x="7953375" y="1238250"/>
            <a:ext cx="36671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B</a:t>
            </a:r>
          </a:p>
        </p:txBody>
      </p:sp>
      <p:sp>
        <p:nvSpPr>
          <p:cNvPr id="8" name="english_explanation">
            <a:extLst>
              <a:ext uri="{FF2B5EF4-FFF2-40B4-BE49-F238E27FC236}">
                <a16:creationId xmlns:a16="http://schemas.microsoft.com/office/drawing/2014/main" id="{8A8285E0-ADB6-496E-A696-4EA5F00B98D6}"/>
              </a:ext>
            </a:extLst>
          </p:cNvPr>
          <p:cNvSpPr>
            <a:spLocks noGrp="1"/>
          </p:cNvSpPr>
          <p:nvPr/>
        </p:nvSpPr>
        <p:spPr>
          <a:xfrm>
            <a:off x="7953375" y="1762125"/>
            <a:ext cx="3667125" cy="2000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 Only a terms-of-trade ratio between the two countries' opportunity costs allows both to gain.</a:t>
            </a:r>
          </a:p>
        </p:txBody>
      </p:sp>
      <p:sp>
        <p:nvSpPr>
          <p:cNvPr id="9" name="chinese_explanation">
            <a:extLst>
              <a:ext uri="{FF2B5EF4-FFF2-40B4-BE49-F238E27FC236}">
                <a16:creationId xmlns:a16="http://schemas.microsoft.com/office/drawing/2014/main" id="{7CE5E80F-E06C-489A-A4C2-06F9F4B7E68C}"/>
              </a:ext>
            </a:extLst>
          </p:cNvPr>
          <p:cNvSpPr>
            <a:spLocks noGrp="1"/>
          </p:cNvSpPr>
          <p:nvPr/>
        </p:nvSpPr>
        <p:spPr>
          <a:xfrm>
            <a:off x="7953375" y="4095750"/>
            <a:ext cx="3667125" cy="2190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B：贸易条件必须位于两国机会成本之间，才能让双方获益。</a:t>
            </a:r>
          </a:p>
        </p:txBody>
      </p:sp>
    </p:spTree>
    <p:extLst>
      <p:ext uri="{BB962C8B-B14F-4D97-AF65-F5344CB8AC3E}">
        <p14:creationId xmlns:p14="http://schemas.microsoft.com/office/powerpoint/2010/main" val="316348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D387FD6C-0DAF-4848-9FE0-19FA3CC53114}"/>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17: PED and Total Revenue / 需求弹性与总收益</a:t>
            </a:r>
          </a:p>
        </p:txBody>
      </p:sp>
      <p:sp>
        <p:nvSpPr>
          <p:cNvPr id="2" name="part_label">
            <a:extLst>
              <a:ext uri="{FF2B5EF4-FFF2-40B4-BE49-F238E27FC236}">
                <a16:creationId xmlns:a16="http://schemas.microsoft.com/office/drawing/2014/main" id="{2AB92FB8-D621-48D2-8F12-4EF3C184A572}"/>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2 | Q11-20</a:t>
            </a:r>
          </a:p>
        </p:txBody>
      </p:sp>
      <p:sp>
        <p:nvSpPr>
          <p:cNvPr id="3" name="metadata">
            <a:extLst>
              <a:ext uri="{FF2B5EF4-FFF2-40B4-BE49-F238E27FC236}">
                <a16:creationId xmlns:a16="http://schemas.microsoft.com/office/drawing/2014/main" id="{12643836-2C0F-4882-901F-5F4C2114E91D}"/>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9708_s23_11 Q9 | Correct: 24%</a:t>
            </a:r>
          </a:p>
        </p:txBody>
      </p:sp>
      <p:sp>
        <p:nvSpPr>
          <p:cNvPr id="4" name="Rectangle 3">
            <a:extLst>
              <a:ext uri="{FF2B5EF4-FFF2-40B4-BE49-F238E27FC236}">
                <a16:creationId xmlns:a16="http://schemas.microsoft.com/office/drawing/2014/main" id="{0F1239E8-C256-4080-BDDC-459C436B46AB}"/>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2000" y="1087053"/>
            <a:ext cx="10668000" cy="3121794"/>
          </a:xfrm>
          <a:prstGeom prst="rect">
            <a:avLst/>
          </a:prstGeom>
        </p:spPr>
      </p:pic>
      <p:sp>
        <p:nvSpPr>
          <p:cNvPr id="6" name="Rectangle 5">
            <a:extLst>
              <a:ext uri="{FF2B5EF4-FFF2-40B4-BE49-F238E27FC236}">
                <a16:creationId xmlns:a16="http://schemas.microsoft.com/office/drawing/2014/main" id="{8CD5783E-895E-45A0-A8BE-D202DE7D88BA}"/>
              </a:ext>
            </a:extLst>
          </p:cNvPr>
          <p:cNvSpPr>
            <a:spLocks noGrp="1"/>
          </p:cNvSpPr>
          <p:nvPr/>
        </p:nvSpPr>
        <p:spPr>
          <a:xfrm>
            <a:off x="381000" y="43243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7C5A1E13-E24A-4D38-9978-8261E9DCF131}"/>
              </a:ext>
            </a:extLst>
          </p:cNvPr>
          <p:cNvSpPr>
            <a:spLocks noGrp="1"/>
          </p:cNvSpPr>
          <p:nvPr/>
        </p:nvSpPr>
        <p:spPr>
          <a:xfrm>
            <a:off x="381000" y="44386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8BB72BE7-902B-43E9-980D-FBFE0528085E}"/>
              </a:ext>
            </a:extLst>
          </p:cNvPr>
          <p:cNvSpPr>
            <a:spLocks noGrp="1"/>
          </p:cNvSpPr>
          <p:nvPr/>
        </p:nvSpPr>
        <p:spPr>
          <a:xfrm>
            <a:off x="381000" y="4914900"/>
            <a:ext cx="5524500" cy="1695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 When demand is elastic, % increase in quantity is greater than % fall in price, so total revenue rises.</a:t>
            </a:r>
          </a:p>
        </p:txBody>
      </p:sp>
      <p:sp>
        <p:nvSpPr>
          <p:cNvPr id="9" name="chinese_explanation">
            <a:extLst>
              <a:ext uri="{FF2B5EF4-FFF2-40B4-BE49-F238E27FC236}">
                <a16:creationId xmlns:a16="http://schemas.microsoft.com/office/drawing/2014/main" id="{84C0C92D-7EA8-46AB-B774-4DDFC7DB1A3C}"/>
              </a:ext>
            </a:extLst>
          </p:cNvPr>
          <p:cNvSpPr>
            <a:spLocks noGrp="1"/>
          </p:cNvSpPr>
          <p:nvPr/>
        </p:nvSpPr>
        <p:spPr>
          <a:xfrm>
            <a:off x="6286500" y="4914900"/>
            <a:ext cx="5524500" cy="1695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D：需求有弹性时，需求量增加百分比大于价格下降百分比，总收益上升。</a:t>
            </a:r>
          </a:p>
        </p:txBody>
      </p:sp>
    </p:spTree>
    <p:extLst>
      <p:ext uri="{BB962C8B-B14F-4D97-AF65-F5344CB8AC3E}">
        <p14:creationId xmlns:p14="http://schemas.microsoft.com/office/powerpoint/2010/main" val="78751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D650D166-2E1E-4766-9C76-C46AA84C5A9E}"/>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18: Unit Tax and After-Tax Revenue / 单位税与税后收入</a:t>
            </a:r>
          </a:p>
        </p:txBody>
      </p:sp>
      <p:sp>
        <p:nvSpPr>
          <p:cNvPr id="2" name="part_label">
            <a:extLst>
              <a:ext uri="{FF2B5EF4-FFF2-40B4-BE49-F238E27FC236}">
                <a16:creationId xmlns:a16="http://schemas.microsoft.com/office/drawing/2014/main" id="{FA7DFD0B-09BB-4D3C-9C7C-F22118D780DF}"/>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2 | Q11-20</a:t>
            </a:r>
          </a:p>
        </p:txBody>
      </p:sp>
      <p:sp>
        <p:nvSpPr>
          <p:cNvPr id="3" name="metadata">
            <a:extLst>
              <a:ext uri="{FF2B5EF4-FFF2-40B4-BE49-F238E27FC236}">
                <a16:creationId xmlns:a16="http://schemas.microsoft.com/office/drawing/2014/main" id="{411B87CC-FC5F-4C80-A306-E4B3A7C61A4D}"/>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9708_s23_13 Q15 | Correct: 24%</a:t>
            </a:r>
          </a:p>
        </p:txBody>
      </p:sp>
      <p:sp>
        <p:nvSpPr>
          <p:cNvPr id="4" name="Rectangle 3">
            <a:extLst>
              <a:ext uri="{FF2B5EF4-FFF2-40B4-BE49-F238E27FC236}">
                <a16:creationId xmlns:a16="http://schemas.microsoft.com/office/drawing/2014/main" id="{DD099C7A-9211-4E68-B79D-09C1F50E1889}"/>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421471" y="1085850"/>
            <a:ext cx="7234259" cy="4105275"/>
          </a:xfrm>
          <a:prstGeom prst="rect">
            <a:avLst/>
          </a:prstGeom>
        </p:spPr>
      </p:pic>
      <p:sp>
        <p:nvSpPr>
          <p:cNvPr id="6" name="Rectangle 5">
            <a:extLst>
              <a:ext uri="{FF2B5EF4-FFF2-40B4-BE49-F238E27FC236}">
                <a16:creationId xmlns:a16="http://schemas.microsoft.com/office/drawing/2014/main" id="{7B23EBAF-3178-4425-AC55-3EE651135207}"/>
              </a:ext>
            </a:extLst>
          </p:cNvPr>
          <p:cNvSpPr>
            <a:spLocks noGrp="1"/>
          </p:cNvSpPr>
          <p:nvPr/>
        </p:nvSpPr>
        <p:spPr>
          <a:xfrm>
            <a:off x="381000" y="65722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4D5FC50F-DDF8-4B02-ABB2-D9D354D78FA0}"/>
              </a:ext>
            </a:extLst>
          </p:cNvPr>
          <p:cNvSpPr>
            <a:spLocks noGrp="1"/>
          </p:cNvSpPr>
          <p:nvPr/>
        </p:nvSpPr>
        <p:spPr>
          <a:xfrm>
            <a:off x="7953375" y="1238250"/>
            <a:ext cx="36671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A</a:t>
            </a:r>
          </a:p>
        </p:txBody>
      </p:sp>
      <p:sp>
        <p:nvSpPr>
          <p:cNvPr id="8" name="english_explanation">
            <a:extLst>
              <a:ext uri="{FF2B5EF4-FFF2-40B4-BE49-F238E27FC236}">
                <a16:creationId xmlns:a16="http://schemas.microsoft.com/office/drawing/2014/main" id="{3BBEB2D8-F607-403B-911B-94C0756473C4}"/>
              </a:ext>
            </a:extLst>
          </p:cNvPr>
          <p:cNvSpPr>
            <a:spLocks noGrp="1"/>
          </p:cNvSpPr>
          <p:nvPr/>
        </p:nvSpPr>
        <p:spPr>
          <a:xfrm>
            <a:off x="7953375" y="1762125"/>
            <a:ext cx="3667125" cy="2000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 Firm after-tax revenue uses the new quantity and net price after tax, not the full consumer price.</a:t>
            </a:r>
          </a:p>
        </p:txBody>
      </p:sp>
      <p:sp>
        <p:nvSpPr>
          <p:cNvPr id="9" name="chinese_explanation">
            <a:extLst>
              <a:ext uri="{FF2B5EF4-FFF2-40B4-BE49-F238E27FC236}">
                <a16:creationId xmlns:a16="http://schemas.microsoft.com/office/drawing/2014/main" id="{9FAD9AB8-4229-434A-BFB2-BBA2EC276325}"/>
              </a:ext>
            </a:extLst>
          </p:cNvPr>
          <p:cNvSpPr>
            <a:spLocks noGrp="1"/>
          </p:cNvSpPr>
          <p:nvPr/>
        </p:nvSpPr>
        <p:spPr>
          <a:xfrm>
            <a:off x="7953375" y="4095750"/>
            <a:ext cx="3667125" cy="2190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A：企业税后收入按新数量和税后价格计算，而非消费者支付总价。</a:t>
            </a:r>
          </a:p>
        </p:txBody>
      </p:sp>
    </p:spTree>
    <p:extLst>
      <p:ext uri="{BB962C8B-B14F-4D97-AF65-F5344CB8AC3E}">
        <p14:creationId xmlns:p14="http://schemas.microsoft.com/office/powerpoint/2010/main" val="623332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1853171A-B964-496A-B4E3-53CD523BEA76}"/>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19: Money GDP and Real GDP / 名义GDP与实际GDP</a:t>
            </a:r>
          </a:p>
        </p:txBody>
      </p:sp>
      <p:sp>
        <p:nvSpPr>
          <p:cNvPr id="2" name="part_label">
            <a:extLst>
              <a:ext uri="{FF2B5EF4-FFF2-40B4-BE49-F238E27FC236}">
                <a16:creationId xmlns:a16="http://schemas.microsoft.com/office/drawing/2014/main" id="{A2090F19-1FB2-4391-A135-5950D0FFF2F6}"/>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2 | Q11-20</a:t>
            </a:r>
          </a:p>
        </p:txBody>
      </p:sp>
      <p:sp>
        <p:nvSpPr>
          <p:cNvPr id="3" name="metadata">
            <a:extLst>
              <a:ext uri="{FF2B5EF4-FFF2-40B4-BE49-F238E27FC236}">
                <a16:creationId xmlns:a16="http://schemas.microsoft.com/office/drawing/2014/main" id="{6B2FC88C-E0A1-4B0A-BE2A-BA06EFEB408F}"/>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9708_m23_12 Q29 | Correct: 25%</a:t>
            </a:r>
          </a:p>
        </p:txBody>
      </p:sp>
      <p:sp>
        <p:nvSpPr>
          <p:cNvPr id="4" name="Rectangle 3">
            <a:extLst>
              <a:ext uri="{FF2B5EF4-FFF2-40B4-BE49-F238E27FC236}">
                <a16:creationId xmlns:a16="http://schemas.microsoft.com/office/drawing/2014/main" id="{E26BC1BC-2D9D-4D11-B7A2-B2D703685D21}"/>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419100" y="1086757"/>
            <a:ext cx="7239000" cy="4227286"/>
          </a:xfrm>
          <a:prstGeom prst="rect">
            <a:avLst/>
          </a:prstGeom>
        </p:spPr>
      </p:pic>
      <p:sp>
        <p:nvSpPr>
          <p:cNvPr id="6" name="Rectangle 5">
            <a:extLst>
              <a:ext uri="{FF2B5EF4-FFF2-40B4-BE49-F238E27FC236}">
                <a16:creationId xmlns:a16="http://schemas.microsoft.com/office/drawing/2014/main" id="{F73CCC5C-F1BA-442A-ADF7-3809C266B2AB}"/>
              </a:ext>
            </a:extLst>
          </p:cNvPr>
          <p:cNvSpPr>
            <a:spLocks noGrp="1"/>
          </p:cNvSpPr>
          <p:nvPr/>
        </p:nvSpPr>
        <p:spPr>
          <a:xfrm>
            <a:off x="381000" y="65722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18AA827B-BBFB-495A-9F0C-0A14EA6EF543}"/>
              </a:ext>
            </a:extLst>
          </p:cNvPr>
          <p:cNvSpPr>
            <a:spLocks noGrp="1"/>
          </p:cNvSpPr>
          <p:nvPr/>
        </p:nvSpPr>
        <p:spPr>
          <a:xfrm>
            <a:off x="7953375" y="1238250"/>
            <a:ext cx="36671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D2013E9D-375D-437E-81F7-3964FFB737DC}"/>
              </a:ext>
            </a:extLst>
          </p:cNvPr>
          <p:cNvSpPr>
            <a:spLocks noGrp="1"/>
          </p:cNvSpPr>
          <p:nvPr/>
        </p:nvSpPr>
        <p:spPr>
          <a:xfrm>
            <a:off x="7953375" y="1762125"/>
            <a:ext cx="3667125" cy="2000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Real GDP rises slowly, money GDP rises faster, so prices increase. Positive economic growth continues.</a:t>
            </a:r>
          </a:p>
        </p:txBody>
      </p:sp>
      <p:sp>
        <p:nvSpPr>
          <p:cNvPr id="9" name="chinese_explanation">
            <a:extLst>
              <a:ext uri="{FF2B5EF4-FFF2-40B4-BE49-F238E27FC236}">
                <a16:creationId xmlns:a16="http://schemas.microsoft.com/office/drawing/2014/main" id="{A4909131-A995-48A1-A9A2-7CDCA8398095}"/>
              </a:ext>
            </a:extLst>
          </p:cNvPr>
          <p:cNvSpPr>
            <a:spLocks noGrp="1"/>
          </p:cNvSpPr>
          <p:nvPr/>
        </p:nvSpPr>
        <p:spPr>
          <a:xfrm>
            <a:off x="7953375" y="4095750"/>
            <a:ext cx="3667125" cy="2190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C：实际GDP缓慢上升，名义GDP上升快，所以价格上涨。经济仍正增长。</a:t>
            </a:r>
          </a:p>
        </p:txBody>
      </p:sp>
    </p:spTree>
    <p:extLst>
      <p:ext uri="{BB962C8B-B14F-4D97-AF65-F5344CB8AC3E}">
        <p14:creationId xmlns:p14="http://schemas.microsoft.com/office/powerpoint/2010/main" val="199400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93E763BD-CA84-4E5F-A52E-00C41FD41525}"/>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20: What Changes Terms of Trade / 什么会改变贸易条件</a:t>
            </a:r>
          </a:p>
        </p:txBody>
      </p:sp>
      <p:sp>
        <p:nvSpPr>
          <p:cNvPr id="2" name="part_label">
            <a:extLst>
              <a:ext uri="{FF2B5EF4-FFF2-40B4-BE49-F238E27FC236}">
                <a16:creationId xmlns:a16="http://schemas.microsoft.com/office/drawing/2014/main" id="{4F6B7C96-7881-434B-B3A1-52E641F38A48}"/>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2 | Q11-20</a:t>
            </a:r>
          </a:p>
        </p:txBody>
      </p:sp>
      <p:sp>
        <p:nvSpPr>
          <p:cNvPr id="3" name="metadata">
            <a:extLst>
              <a:ext uri="{FF2B5EF4-FFF2-40B4-BE49-F238E27FC236}">
                <a16:creationId xmlns:a16="http://schemas.microsoft.com/office/drawing/2014/main" id="{B4D54C88-C301-4814-B491-D3275E2B089F}"/>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9708_s23_12 Q25 | Correct: 25%</a:t>
            </a:r>
          </a:p>
        </p:txBody>
      </p:sp>
      <p:sp>
        <p:nvSpPr>
          <p:cNvPr id="4" name="Rectangle 3">
            <a:extLst>
              <a:ext uri="{FF2B5EF4-FFF2-40B4-BE49-F238E27FC236}">
                <a16:creationId xmlns:a16="http://schemas.microsoft.com/office/drawing/2014/main" id="{B503F86D-D62E-44A5-AFD2-5CA19D84DB22}"/>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2000" y="1086162"/>
            <a:ext cx="10668000" cy="3180725"/>
          </a:xfrm>
          <a:prstGeom prst="rect">
            <a:avLst/>
          </a:prstGeom>
        </p:spPr>
      </p:pic>
      <p:sp>
        <p:nvSpPr>
          <p:cNvPr id="6" name="Rectangle 5">
            <a:extLst>
              <a:ext uri="{FF2B5EF4-FFF2-40B4-BE49-F238E27FC236}">
                <a16:creationId xmlns:a16="http://schemas.microsoft.com/office/drawing/2014/main" id="{A17F9415-F187-47C4-9D5F-92FD58C7AF9A}"/>
              </a:ext>
            </a:extLst>
          </p:cNvPr>
          <p:cNvSpPr>
            <a:spLocks noGrp="1"/>
          </p:cNvSpPr>
          <p:nvPr/>
        </p:nvSpPr>
        <p:spPr>
          <a:xfrm>
            <a:off x="381000" y="438150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EFEBD1E3-48B5-4E50-9896-3F3049784363}"/>
              </a:ext>
            </a:extLst>
          </p:cNvPr>
          <p:cNvSpPr>
            <a:spLocks noGrp="1"/>
          </p:cNvSpPr>
          <p:nvPr/>
        </p:nvSpPr>
        <p:spPr>
          <a:xfrm>
            <a:off x="381000" y="449580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4F495EDF-0D8D-45DE-823F-362705536B7C}"/>
              </a:ext>
            </a:extLst>
          </p:cNvPr>
          <p:cNvSpPr>
            <a:spLocks noGrp="1"/>
          </p:cNvSpPr>
          <p:nvPr/>
        </p:nvSpPr>
        <p:spPr>
          <a:xfrm>
            <a:off x="381000" y="4972050"/>
            <a:ext cx="5524500" cy="1638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Imported raw material prices and exchange-rate changes directly affect the export/import price relationship.</a:t>
            </a:r>
          </a:p>
        </p:txBody>
      </p:sp>
      <p:sp>
        <p:nvSpPr>
          <p:cNvPr id="9" name="chinese_explanation">
            <a:extLst>
              <a:ext uri="{FF2B5EF4-FFF2-40B4-BE49-F238E27FC236}">
                <a16:creationId xmlns:a16="http://schemas.microsoft.com/office/drawing/2014/main" id="{D7A42F13-8456-44E6-86BE-9ECC3E989733}"/>
              </a:ext>
            </a:extLst>
          </p:cNvPr>
          <p:cNvSpPr>
            <a:spLocks noGrp="1"/>
          </p:cNvSpPr>
          <p:nvPr/>
        </p:nvSpPr>
        <p:spPr>
          <a:xfrm>
            <a:off x="6286500" y="4972050"/>
            <a:ext cx="5524500" cy="1638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C：进口原材料价格和汇率变动会直接影响出口与进口价格关系。</a:t>
            </a:r>
          </a:p>
        </p:txBody>
      </p:sp>
    </p:spTree>
    <p:extLst>
      <p:ext uri="{BB962C8B-B14F-4D97-AF65-F5344CB8AC3E}">
        <p14:creationId xmlns:p14="http://schemas.microsoft.com/office/powerpoint/2010/main" val="852393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nswer_key_title">
            <a:extLst>
              <a:ext uri="{FF2B5EF4-FFF2-40B4-BE49-F238E27FC236}">
                <a16:creationId xmlns:a16="http://schemas.microsoft.com/office/drawing/2014/main" id="{B8537D98-5A02-7380-86DB-D5536104C5FD}"/>
              </a:ext>
            </a:extLst>
          </p:cNvPr>
          <p:cNvSpPr txBox="1"/>
          <p:nvPr/>
        </p:nvSpPr>
        <p:spPr>
          <a:xfrm>
            <a:off x="381000" y="355600"/>
            <a:ext cx="11430000" cy="523220"/>
          </a:xfrm>
          <a:prstGeom prst="rect">
            <a:avLst/>
          </a:prstGeom>
          <a:noFill/>
        </p:spPr>
        <p:txBody>
          <a:bodyPr vert="horz" rtlCol="0">
            <a:spAutoFit/>
          </a:bodyPr>
          <a:lstStyle/>
          <a:p>
            <a:r>
              <a:rPr lang="en-US" altLang="zh-CN" sz="2800" b="1">
                <a:solidFill>
                  <a:srgbClr val="000000"/>
                </a:solidFill>
                <a:latin typeface="Arial" panose="020B0604020202020204" pitchFamily="34" charset="0"/>
              </a:rPr>
              <a:t>Answer Key - Part 3: Questions 21-30</a:t>
            </a:r>
            <a:endParaRPr lang="zh-CN" altLang="en-US" sz="2800" b="1">
              <a:solidFill>
                <a:srgbClr val="000000"/>
              </a:solidFill>
              <a:latin typeface="Arial" panose="020B0604020202020204" pitchFamily="34" charset="0"/>
            </a:endParaRPr>
          </a:p>
        </p:txBody>
      </p:sp>
      <p:sp>
        <p:nvSpPr>
          <p:cNvPr id="3" name="answer_key_note">
            <a:extLst>
              <a:ext uri="{FF2B5EF4-FFF2-40B4-BE49-F238E27FC236}">
                <a16:creationId xmlns:a16="http://schemas.microsoft.com/office/drawing/2014/main" id="{78051C90-D53C-47CB-34BC-DC9C7B75C896}"/>
              </a:ext>
            </a:extLst>
          </p:cNvPr>
          <p:cNvSpPr txBox="1"/>
          <p:nvPr/>
        </p:nvSpPr>
        <p:spPr>
          <a:xfrm>
            <a:off x="381000" y="952500"/>
            <a:ext cx="11430000" cy="369332"/>
          </a:xfrm>
          <a:prstGeom prst="rect">
            <a:avLst/>
          </a:prstGeom>
          <a:noFill/>
        </p:spPr>
        <p:txBody>
          <a:bodyPr vert="horz" rtlCol="0">
            <a:spAutoFit/>
          </a:bodyPr>
          <a:lstStyle/>
          <a:p>
            <a:r>
              <a:rPr lang="en-US" altLang="zh-CN">
                <a:solidFill>
                  <a:srgbClr val="555555"/>
                </a:solidFill>
                <a:latin typeface="Arial" panose="020B0604020202020204" pitchFamily="34" charset="0"/>
              </a:rPr>
              <a:t>Use after students have attempted this set.</a:t>
            </a:r>
            <a:endParaRPr lang="zh-CN" altLang="en-US">
              <a:solidFill>
                <a:srgbClr val="555555"/>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76213CBC-5A27-D3A2-1376-5338C7C9BDAE}"/>
              </a:ext>
            </a:extLst>
          </p:cNvPr>
          <p:cNvCxnSpPr/>
          <p:nvPr/>
        </p:nvCxnSpPr>
        <p:spPr>
          <a:xfrm>
            <a:off x="381000" y="1422400"/>
            <a:ext cx="11430000" cy="0"/>
          </a:xfrm>
          <a:prstGeom prst="line">
            <a:avLst/>
          </a:prstGeom>
          <a:ln w="12700">
            <a:solidFill>
              <a:srgbClr val="AAAAAA"/>
            </a:solidFill>
          </a:ln>
        </p:spPr>
        <p:style>
          <a:lnRef idx="1">
            <a:schemeClr val="accent1"/>
          </a:lnRef>
          <a:fillRef idx="0">
            <a:schemeClr val="accent1"/>
          </a:fillRef>
          <a:effectRef idx="0">
            <a:schemeClr val="accent1"/>
          </a:effectRef>
          <a:fontRef idx="minor">
            <a:schemeClr val="tx1"/>
          </a:fontRef>
        </p:style>
      </p:cxnSp>
      <p:sp>
        <p:nvSpPr>
          <p:cNvPr id="5" name="answer_key_q21">
            <a:extLst>
              <a:ext uri="{FF2B5EF4-FFF2-40B4-BE49-F238E27FC236}">
                <a16:creationId xmlns:a16="http://schemas.microsoft.com/office/drawing/2014/main" id="{61FA6C65-3CE2-CB17-59C4-3919F243995D}"/>
              </a:ext>
            </a:extLst>
          </p:cNvPr>
          <p:cNvSpPr txBox="1"/>
          <p:nvPr/>
        </p:nvSpPr>
        <p:spPr>
          <a:xfrm>
            <a:off x="15240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Q21    D</a:t>
            </a:r>
            <a:endParaRPr lang="zh-CN" altLang="en-US" sz="3000" b="1">
              <a:solidFill>
                <a:srgbClr val="000000"/>
              </a:solidFill>
              <a:latin typeface="Arial" panose="020B0604020202020204" pitchFamily="34" charset="0"/>
            </a:endParaRPr>
          </a:p>
        </p:txBody>
      </p:sp>
      <p:sp>
        <p:nvSpPr>
          <p:cNvPr id="6" name="answer_key_q22">
            <a:extLst>
              <a:ext uri="{FF2B5EF4-FFF2-40B4-BE49-F238E27FC236}">
                <a16:creationId xmlns:a16="http://schemas.microsoft.com/office/drawing/2014/main" id="{04F8B9B4-80CC-DD29-2DA8-9A6D72CBF177}"/>
              </a:ext>
            </a:extLst>
          </p:cNvPr>
          <p:cNvSpPr txBox="1"/>
          <p:nvPr/>
        </p:nvSpPr>
        <p:spPr>
          <a:xfrm>
            <a:off x="15240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Q22    A</a:t>
            </a:r>
            <a:endParaRPr lang="zh-CN" altLang="en-US" sz="3000" b="1">
              <a:solidFill>
                <a:srgbClr val="000000"/>
              </a:solidFill>
              <a:latin typeface="Arial" panose="020B0604020202020204" pitchFamily="34" charset="0"/>
            </a:endParaRPr>
          </a:p>
        </p:txBody>
      </p:sp>
      <p:sp>
        <p:nvSpPr>
          <p:cNvPr id="7" name="answer_key_q23">
            <a:extLst>
              <a:ext uri="{FF2B5EF4-FFF2-40B4-BE49-F238E27FC236}">
                <a16:creationId xmlns:a16="http://schemas.microsoft.com/office/drawing/2014/main" id="{09F44033-ECAD-B68A-A78A-0A756EB0DF52}"/>
              </a:ext>
            </a:extLst>
          </p:cNvPr>
          <p:cNvSpPr txBox="1"/>
          <p:nvPr/>
        </p:nvSpPr>
        <p:spPr>
          <a:xfrm>
            <a:off x="15240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Q23    B</a:t>
            </a:r>
            <a:endParaRPr lang="zh-CN" altLang="en-US" sz="3000" b="1">
              <a:solidFill>
                <a:srgbClr val="000000"/>
              </a:solidFill>
              <a:latin typeface="Arial" panose="020B0604020202020204" pitchFamily="34" charset="0"/>
            </a:endParaRPr>
          </a:p>
        </p:txBody>
      </p:sp>
      <p:sp>
        <p:nvSpPr>
          <p:cNvPr id="8" name="answer_key_q24">
            <a:extLst>
              <a:ext uri="{FF2B5EF4-FFF2-40B4-BE49-F238E27FC236}">
                <a16:creationId xmlns:a16="http://schemas.microsoft.com/office/drawing/2014/main" id="{3C6BE6ED-5A36-153F-E7A2-125227974C03}"/>
              </a:ext>
            </a:extLst>
          </p:cNvPr>
          <p:cNvSpPr txBox="1"/>
          <p:nvPr/>
        </p:nvSpPr>
        <p:spPr>
          <a:xfrm>
            <a:off x="15240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Q24    D</a:t>
            </a:r>
            <a:endParaRPr lang="zh-CN" altLang="en-US" sz="3000" b="1">
              <a:solidFill>
                <a:srgbClr val="000000"/>
              </a:solidFill>
              <a:latin typeface="Arial" panose="020B0604020202020204" pitchFamily="34" charset="0"/>
            </a:endParaRPr>
          </a:p>
        </p:txBody>
      </p:sp>
      <p:sp>
        <p:nvSpPr>
          <p:cNvPr id="9" name="answer_key_q25">
            <a:extLst>
              <a:ext uri="{FF2B5EF4-FFF2-40B4-BE49-F238E27FC236}">
                <a16:creationId xmlns:a16="http://schemas.microsoft.com/office/drawing/2014/main" id="{818339F3-5F9C-595C-18A6-ACDDB3A565CD}"/>
              </a:ext>
            </a:extLst>
          </p:cNvPr>
          <p:cNvSpPr txBox="1"/>
          <p:nvPr/>
        </p:nvSpPr>
        <p:spPr>
          <a:xfrm>
            <a:off x="15240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Q25    D</a:t>
            </a:r>
            <a:endParaRPr lang="zh-CN" altLang="en-US" sz="3000" b="1">
              <a:solidFill>
                <a:srgbClr val="000000"/>
              </a:solidFill>
              <a:latin typeface="Arial" panose="020B0604020202020204" pitchFamily="34" charset="0"/>
            </a:endParaRPr>
          </a:p>
        </p:txBody>
      </p:sp>
      <p:sp>
        <p:nvSpPr>
          <p:cNvPr id="10" name="answer_key_q26">
            <a:extLst>
              <a:ext uri="{FF2B5EF4-FFF2-40B4-BE49-F238E27FC236}">
                <a16:creationId xmlns:a16="http://schemas.microsoft.com/office/drawing/2014/main" id="{041C15FF-8253-EB61-6006-71A5F08E44BE}"/>
              </a:ext>
            </a:extLst>
          </p:cNvPr>
          <p:cNvSpPr txBox="1"/>
          <p:nvPr/>
        </p:nvSpPr>
        <p:spPr>
          <a:xfrm>
            <a:off x="66675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Q26    C</a:t>
            </a:r>
            <a:endParaRPr lang="zh-CN" altLang="en-US" sz="3000" b="1">
              <a:solidFill>
                <a:srgbClr val="000000"/>
              </a:solidFill>
              <a:latin typeface="Arial" panose="020B0604020202020204" pitchFamily="34" charset="0"/>
            </a:endParaRPr>
          </a:p>
        </p:txBody>
      </p:sp>
      <p:sp>
        <p:nvSpPr>
          <p:cNvPr id="11" name="answer_key_q27">
            <a:extLst>
              <a:ext uri="{FF2B5EF4-FFF2-40B4-BE49-F238E27FC236}">
                <a16:creationId xmlns:a16="http://schemas.microsoft.com/office/drawing/2014/main" id="{E58EEF0E-C158-C3AA-FEA9-B82F5F832D9F}"/>
              </a:ext>
            </a:extLst>
          </p:cNvPr>
          <p:cNvSpPr txBox="1"/>
          <p:nvPr/>
        </p:nvSpPr>
        <p:spPr>
          <a:xfrm>
            <a:off x="66675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Q27    D</a:t>
            </a:r>
            <a:endParaRPr lang="zh-CN" altLang="en-US" sz="3000" b="1">
              <a:solidFill>
                <a:srgbClr val="000000"/>
              </a:solidFill>
              <a:latin typeface="Arial" panose="020B0604020202020204" pitchFamily="34" charset="0"/>
            </a:endParaRPr>
          </a:p>
        </p:txBody>
      </p:sp>
      <p:sp>
        <p:nvSpPr>
          <p:cNvPr id="12" name="answer_key_q28">
            <a:extLst>
              <a:ext uri="{FF2B5EF4-FFF2-40B4-BE49-F238E27FC236}">
                <a16:creationId xmlns:a16="http://schemas.microsoft.com/office/drawing/2014/main" id="{DECD2269-0B98-76B4-2D93-88E14264F499}"/>
              </a:ext>
            </a:extLst>
          </p:cNvPr>
          <p:cNvSpPr txBox="1"/>
          <p:nvPr/>
        </p:nvSpPr>
        <p:spPr>
          <a:xfrm>
            <a:off x="66675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Q28    A</a:t>
            </a:r>
            <a:endParaRPr lang="zh-CN" altLang="en-US" sz="3000" b="1">
              <a:solidFill>
                <a:srgbClr val="000000"/>
              </a:solidFill>
              <a:latin typeface="Arial" panose="020B0604020202020204" pitchFamily="34" charset="0"/>
            </a:endParaRPr>
          </a:p>
        </p:txBody>
      </p:sp>
      <p:sp>
        <p:nvSpPr>
          <p:cNvPr id="13" name="answer_key_q29">
            <a:extLst>
              <a:ext uri="{FF2B5EF4-FFF2-40B4-BE49-F238E27FC236}">
                <a16:creationId xmlns:a16="http://schemas.microsoft.com/office/drawing/2014/main" id="{D082BB0A-FCD0-BC04-907A-8BD99233B952}"/>
              </a:ext>
            </a:extLst>
          </p:cNvPr>
          <p:cNvSpPr txBox="1"/>
          <p:nvPr/>
        </p:nvSpPr>
        <p:spPr>
          <a:xfrm>
            <a:off x="66675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Q29    C</a:t>
            </a:r>
            <a:endParaRPr lang="zh-CN" altLang="en-US" sz="3000" b="1">
              <a:solidFill>
                <a:srgbClr val="000000"/>
              </a:solidFill>
              <a:latin typeface="Arial" panose="020B0604020202020204" pitchFamily="34" charset="0"/>
            </a:endParaRPr>
          </a:p>
        </p:txBody>
      </p:sp>
      <p:sp>
        <p:nvSpPr>
          <p:cNvPr id="14" name="answer_key_q30">
            <a:extLst>
              <a:ext uri="{FF2B5EF4-FFF2-40B4-BE49-F238E27FC236}">
                <a16:creationId xmlns:a16="http://schemas.microsoft.com/office/drawing/2014/main" id="{E2BA49C7-8735-4C99-214C-A8CB457C3E5E}"/>
              </a:ext>
            </a:extLst>
          </p:cNvPr>
          <p:cNvSpPr txBox="1"/>
          <p:nvPr/>
        </p:nvSpPr>
        <p:spPr>
          <a:xfrm>
            <a:off x="66675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Q30    B</a:t>
            </a:r>
            <a:endParaRPr lang="zh-CN" altLang="en-US" sz="3000" b="1">
              <a:solidFill>
                <a:srgbClr val="000000"/>
              </a:solidFill>
              <a:latin typeface="Arial" panose="020B0604020202020204" pitchFamily="34" charset="0"/>
            </a:endParaRPr>
          </a:p>
        </p:txBody>
      </p:sp>
      <p:sp>
        <p:nvSpPr>
          <p:cNvPr id="15" name="answer_key_footer">
            <a:extLst>
              <a:ext uri="{FF2B5EF4-FFF2-40B4-BE49-F238E27FC236}">
                <a16:creationId xmlns:a16="http://schemas.microsoft.com/office/drawing/2014/main" id="{FC614136-D755-A6D3-55BF-F30BA0BF329A}"/>
              </a:ext>
            </a:extLst>
          </p:cNvPr>
          <p:cNvSpPr txBox="1"/>
          <p:nvPr/>
        </p:nvSpPr>
        <p:spPr>
          <a:xfrm>
            <a:off x="381000" y="6286500"/>
            <a:ext cx="11430000" cy="307777"/>
          </a:xfrm>
          <a:prstGeom prst="rect">
            <a:avLst/>
          </a:prstGeom>
          <a:noFill/>
        </p:spPr>
        <p:txBody>
          <a:bodyPr vert="horz" rtlCol="0">
            <a:spAutoFit/>
          </a:bodyPr>
          <a:lstStyle/>
          <a:p>
            <a:r>
              <a:rPr lang="en-US" altLang="zh-CN" sz="1400">
                <a:solidFill>
                  <a:srgbClr val="555555"/>
                </a:solidFill>
                <a:latin typeface="Arial" panose="020B0604020202020204" pitchFamily="34" charset="0"/>
              </a:rPr>
              <a:t>Cambridge AS Economics 9708 Paper 1 - difficult MCQ review</a:t>
            </a:r>
            <a:endParaRPr lang="zh-CN" altLang="en-US" sz="1400">
              <a:solidFill>
                <a:srgbClr val="555555"/>
              </a:solidFill>
              <a:latin typeface="Arial" panose="020B0604020202020204" pitchFamily="34" charset="0"/>
            </a:endParaRPr>
          </a:p>
        </p:txBody>
      </p:sp>
    </p:spTree>
    <p:extLst>
      <p:ext uri="{BB962C8B-B14F-4D97-AF65-F5344CB8AC3E}">
        <p14:creationId xmlns:p14="http://schemas.microsoft.com/office/powerpoint/2010/main" val="977597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B7215F5E-5061-4595-9825-87B6A827847D}"/>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21: Free Food and Good Classification / 免费食物与物品分类</a:t>
            </a:r>
          </a:p>
        </p:txBody>
      </p:sp>
      <p:sp>
        <p:nvSpPr>
          <p:cNvPr id="2" name="part_label">
            <a:extLst>
              <a:ext uri="{FF2B5EF4-FFF2-40B4-BE49-F238E27FC236}">
                <a16:creationId xmlns:a16="http://schemas.microsoft.com/office/drawing/2014/main" id="{B692BD2C-495F-4904-9440-BB73A1CA33AB}"/>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3 | Q21-30</a:t>
            </a:r>
          </a:p>
        </p:txBody>
      </p:sp>
      <p:sp>
        <p:nvSpPr>
          <p:cNvPr id="3" name="metadata">
            <a:extLst>
              <a:ext uri="{FF2B5EF4-FFF2-40B4-BE49-F238E27FC236}">
                <a16:creationId xmlns:a16="http://schemas.microsoft.com/office/drawing/2014/main" id="{513253A2-449B-4CE7-9835-2B451A2112A2}"/>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9708_s24_11 Q12 | Correct: a quarter</a:t>
            </a:r>
          </a:p>
        </p:txBody>
      </p:sp>
      <p:sp>
        <p:nvSpPr>
          <p:cNvPr id="4" name="Rectangle 3">
            <a:extLst>
              <a:ext uri="{FF2B5EF4-FFF2-40B4-BE49-F238E27FC236}">
                <a16:creationId xmlns:a16="http://schemas.microsoft.com/office/drawing/2014/main" id="{4041828D-C8E8-4AD0-9599-D36676158542}"/>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1592546" y="1085850"/>
            <a:ext cx="9016433" cy="3619500"/>
          </a:xfrm>
          <a:prstGeom prst="rect">
            <a:avLst/>
          </a:prstGeom>
        </p:spPr>
      </p:pic>
      <p:sp>
        <p:nvSpPr>
          <p:cNvPr id="6" name="Rectangle 5">
            <a:extLst>
              <a:ext uri="{FF2B5EF4-FFF2-40B4-BE49-F238E27FC236}">
                <a16:creationId xmlns:a16="http://schemas.microsoft.com/office/drawing/2014/main" id="{1FEA6C72-68D5-4A79-A5E1-5E35C6852A6C}"/>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8C5D152D-DA80-44C7-B6EE-29D51D28E04B}"/>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195B908E-85FC-416C-8DA9-ED3B455B5B09}"/>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 Food has opportunity cost and is rival. Free distribution does not change its private-good nature.</a:t>
            </a:r>
          </a:p>
        </p:txBody>
      </p:sp>
      <p:sp>
        <p:nvSpPr>
          <p:cNvPr id="9" name="chinese_explanation">
            <a:extLst>
              <a:ext uri="{FF2B5EF4-FFF2-40B4-BE49-F238E27FC236}">
                <a16:creationId xmlns:a16="http://schemas.microsoft.com/office/drawing/2014/main" id="{C884F913-3FFD-4CF9-B95A-64B544C51C0E}"/>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D：食物有机会成本，消费有竞争性。免费发放不改变其私人物品属性。</a:t>
            </a:r>
          </a:p>
        </p:txBody>
      </p:sp>
    </p:spTree>
    <p:extLst>
      <p:ext uri="{BB962C8B-B14F-4D97-AF65-F5344CB8AC3E}">
        <p14:creationId xmlns:p14="http://schemas.microsoft.com/office/powerpoint/2010/main" val="243070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0E3F8AD1-78AA-4C0D-A03F-C62DC80AC79F}"/>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22: Residence and Remittances / 居民身份与汇款</a:t>
            </a:r>
          </a:p>
        </p:txBody>
      </p:sp>
      <p:sp>
        <p:nvSpPr>
          <p:cNvPr id="2" name="part_label">
            <a:extLst>
              <a:ext uri="{FF2B5EF4-FFF2-40B4-BE49-F238E27FC236}">
                <a16:creationId xmlns:a16="http://schemas.microsoft.com/office/drawing/2014/main" id="{210411ED-4C46-42C3-AC9A-11ABBA9FA7D7}"/>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3 | Q21-30</a:t>
            </a:r>
          </a:p>
        </p:txBody>
      </p:sp>
      <p:sp>
        <p:nvSpPr>
          <p:cNvPr id="3" name="metadata">
            <a:extLst>
              <a:ext uri="{FF2B5EF4-FFF2-40B4-BE49-F238E27FC236}">
                <a16:creationId xmlns:a16="http://schemas.microsoft.com/office/drawing/2014/main" id="{F9A6B84E-2B3C-4511-831D-3EA5171CF6E7}"/>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9708_w23_11 Q26 | Correct: 25%</a:t>
            </a:r>
          </a:p>
        </p:txBody>
      </p:sp>
      <p:sp>
        <p:nvSpPr>
          <p:cNvPr id="4" name="Rectangle 3">
            <a:extLst>
              <a:ext uri="{FF2B5EF4-FFF2-40B4-BE49-F238E27FC236}">
                <a16:creationId xmlns:a16="http://schemas.microsoft.com/office/drawing/2014/main" id="{08CA5D99-AA43-41DA-8D78-1BECE243DC5F}"/>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2000" y="1086774"/>
            <a:ext cx="10668000" cy="3255702"/>
          </a:xfrm>
          <a:prstGeom prst="rect">
            <a:avLst/>
          </a:prstGeom>
        </p:spPr>
      </p:pic>
      <p:sp>
        <p:nvSpPr>
          <p:cNvPr id="6" name="Rectangle 5">
            <a:extLst>
              <a:ext uri="{FF2B5EF4-FFF2-40B4-BE49-F238E27FC236}">
                <a16:creationId xmlns:a16="http://schemas.microsoft.com/office/drawing/2014/main" id="{B03E75CA-2C67-4102-8605-5A15672060BB}"/>
              </a:ext>
            </a:extLst>
          </p:cNvPr>
          <p:cNvSpPr>
            <a:spLocks noGrp="1"/>
          </p:cNvSpPr>
          <p:nvPr/>
        </p:nvSpPr>
        <p:spPr>
          <a:xfrm>
            <a:off x="381000" y="445770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E7AF1291-3941-44BD-B05B-980D3E89685C}"/>
              </a:ext>
            </a:extLst>
          </p:cNvPr>
          <p:cNvSpPr>
            <a:spLocks noGrp="1"/>
          </p:cNvSpPr>
          <p:nvPr/>
        </p:nvSpPr>
        <p:spPr>
          <a:xfrm>
            <a:off x="381000" y="457200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A</a:t>
            </a:r>
          </a:p>
        </p:txBody>
      </p:sp>
      <p:sp>
        <p:nvSpPr>
          <p:cNvPr id="8" name="english_explanation">
            <a:extLst>
              <a:ext uri="{FF2B5EF4-FFF2-40B4-BE49-F238E27FC236}">
                <a16:creationId xmlns:a16="http://schemas.microsoft.com/office/drawing/2014/main" id="{A6542248-FA36-4659-B3AC-BF6CDD272622}"/>
              </a:ext>
            </a:extLst>
          </p:cNvPr>
          <p:cNvSpPr>
            <a:spLocks noGrp="1"/>
          </p:cNvSpPr>
          <p:nvPr/>
        </p:nvSpPr>
        <p:spPr>
          <a:xfrm>
            <a:off x="381000" y="5048250"/>
            <a:ext cx="5524500" cy="1562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 The Kenyan banker lives and works in India, so remittance to Kenya is a secondary income outflow for India.</a:t>
            </a:r>
          </a:p>
        </p:txBody>
      </p:sp>
      <p:sp>
        <p:nvSpPr>
          <p:cNvPr id="9" name="chinese_explanation">
            <a:extLst>
              <a:ext uri="{FF2B5EF4-FFF2-40B4-BE49-F238E27FC236}">
                <a16:creationId xmlns:a16="http://schemas.microsoft.com/office/drawing/2014/main" id="{846A42B9-4FBC-4922-8573-9D5969784068}"/>
              </a:ext>
            </a:extLst>
          </p:cNvPr>
          <p:cNvSpPr>
            <a:spLocks noGrp="1"/>
          </p:cNvSpPr>
          <p:nvPr/>
        </p:nvSpPr>
        <p:spPr>
          <a:xfrm>
            <a:off x="6286500" y="5048250"/>
            <a:ext cx="5524500" cy="15621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A：肯尼亚银行家居住并工作在印度，向肯尼亚汇款为印度的二次收入流出。</a:t>
            </a:r>
          </a:p>
        </p:txBody>
      </p:sp>
    </p:spTree>
    <p:extLst>
      <p:ext uri="{BB962C8B-B14F-4D97-AF65-F5344CB8AC3E}">
        <p14:creationId xmlns:p14="http://schemas.microsoft.com/office/powerpoint/2010/main" val="50666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CF0EC317-7618-4C0C-B14F-5E049B9FC9E8}"/>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23: Perfectly Inelastic Supply and Tax / 完全无弹性供给与税负</a:t>
            </a:r>
          </a:p>
        </p:txBody>
      </p:sp>
      <p:sp>
        <p:nvSpPr>
          <p:cNvPr id="2" name="part_label">
            <a:extLst>
              <a:ext uri="{FF2B5EF4-FFF2-40B4-BE49-F238E27FC236}">
                <a16:creationId xmlns:a16="http://schemas.microsoft.com/office/drawing/2014/main" id="{A8F8DF6E-B648-4368-882E-11D18E6EA4E8}"/>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3 | Q21-30</a:t>
            </a:r>
          </a:p>
        </p:txBody>
      </p:sp>
      <p:sp>
        <p:nvSpPr>
          <p:cNvPr id="3" name="metadata">
            <a:extLst>
              <a:ext uri="{FF2B5EF4-FFF2-40B4-BE49-F238E27FC236}">
                <a16:creationId xmlns:a16="http://schemas.microsoft.com/office/drawing/2014/main" id="{473BC060-6808-4E55-9248-1A7633C339A2}"/>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9708_w24_11 Q13 | Correct: a quarter</a:t>
            </a:r>
          </a:p>
        </p:txBody>
      </p:sp>
      <p:sp>
        <p:nvSpPr>
          <p:cNvPr id="4" name="Rectangle 3">
            <a:extLst>
              <a:ext uri="{FF2B5EF4-FFF2-40B4-BE49-F238E27FC236}">
                <a16:creationId xmlns:a16="http://schemas.microsoft.com/office/drawing/2014/main" id="{BCC8DE59-5FA8-41C0-AD50-1100782E44CA}"/>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859469" y="1085850"/>
            <a:ext cx="10482588" cy="3619500"/>
          </a:xfrm>
          <a:prstGeom prst="rect">
            <a:avLst/>
          </a:prstGeom>
        </p:spPr>
      </p:pic>
      <p:sp>
        <p:nvSpPr>
          <p:cNvPr id="6" name="Rectangle 5">
            <a:extLst>
              <a:ext uri="{FF2B5EF4-FFF2-40B4-BE49-F238E27FC236}">
                <a16:creationId xmlns:a16="http://schemas.microsoft.com/office/drawing/2014/main" id="{BA4B4EC9-5E8A-45E4-B271-399B2E9C79C1}"/>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230878D4-E1A7-49A5-93B1-B0A45374FED6}"/>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B</a:t>
            </a:r>
          </a:p>
        </p:txBody>
      </p:sp>
      <p:sp>
        <p:nvSpPr>
          <p:cNvPr id="8" name="english_explanation">
            <a:extLst>
              <a:ext uri="{FF2B5EF4-FFF2-40B4-BE49-F238E27FC236}">
                <a16:creationId xmlns:a16="http://schemas.microsoft.com/office/drawing/2014/main" id="{E33993FD-E0D2-47EB-94D2-2A15BE25A97D}"/>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 Zero supply elasticity means a vertical supply curve. Unit tax does not reduce quantity, so suppliers bear tax.</a:t>
            </a:r>
          </a:p>
        </p:txBody>
      </p:sp>
      <p:sp>
        <p:nvSpPr>
          <p:cNvPr id="9" name="chinese_explanation">
            <a:extLst>
              <a:ext uri="{FF2B5EF4-FFF2-40B4-BE49-F238E27FC236}">
                <a16:creationId xmlns:a16="http://schemas.microsoft.com/office/drawing/2014/main" id="{DA28D34D-0279-4E04-B43A-305B02516284}"/>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B：供给弹性为零，即供给曲线垂直；单位税不减少供给量，税负由供给者承担。</a:t>
            </a:r>
          </a:p>
        </p:txBody>
      </p:sp>
    </p:spTree>
    <p:extLst>
      <p:ext uri="{BB962C8B-B14F-4D97-AF65-F5344CB8AC3E}">
        <p14:creationId xmlns:p14="http://schemas.microsoft.com/office/powerpoint/2010/main" val="21069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40BAF6DA-9C16-41E5-A9C0-09EC63CA753A}"/>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24: Exchange Rate Reciprocity / 汇率的相互关系</a:t>
            </a:r>
          </a:p>
        </p:txBody>
      </p:sp>
      <p:sp>
        <p:nvSpPr>
          <p:cNvPr id="2" name="part_label">
            <a:extLst>
              <a:ext uri="{FF2B5EF4-FFF2-40B4-BE49-F238E27FC236}">
                <a16:creationId xmlns:a16="http://schemas.microsoft.com/office/drawing/2014/main" id="{E5DB0443-FD0D-45C9-91D6-AD0BDF117492}"/>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3 | Q21-30</a:t>
            </a:r>
          </a:p>
        </p:txBody>
      </p:sp>
      <p:sp>
        <p:nvSpPr>
          <p:cNvPr id="3" name="metadata">
            <a:extLst>
              <a:ext uri="{FF2B5EF4-FFF2-40B4-BE49-F238E27FC236}">
                <a16:creationId xmlns:a16="http://schemas.microsoft.com/office/drawing/2014/main" id="{FD7C44D3-432D-4945-9580-69BA665499E3}"/>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9708_w24_11 Q27 | Correct: a quarter</a:t>
            </a:r>
          </a:p>
        </p:txBody>
      </p:sp>
      <p:sp>
        <p:nvSpPr>
          <p:cNvPr id="4" name="Rectangle 3">
            <a:extLst>
              <a:ext uri="{FF2B5EF4-FFF2-40B4-BE49-F238E27FC236}">
                <a16:creationId xmlns:a16="http://schemas.microsoft.com/office/drawing/2014/main" id="{2C762011-807C-490B-8668-C8604F1E4023}"/>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7409" y="1085850"/>
            <a:ext cx="10657182" cy="3219450"/>
          </a:xfrm>
          <a:prstGeom prst="rect">
            <a:avLst/>
          </a:prstGeom>
        </p:spPr>
      </p:pic>
      <p:sp>
        <p:nvSpPr>
          <p:cNvPr id="6" name="Rectangle 5">
            <a:extLst>
              <a:ext uri="{FF2B5EF4-FFF2-40B4-BE49-F238E27FC236}">
                <a16:creationId xmlns:a16="http://schemas.microsoft.com/office/drawing/2014/main" id="{92AE6CE9-EEEC-437A-B668-2466315468C2}"/>
              </a:ext>
            </a:extLst>
          </p:cNvPr>
          <p:cNvSpPr>
            <a:spLocks noGrp="1"/>
          </p:cNvSpPr>
          <p:nvPr/>
        </p:nvSpPr>
        <p:spPr>
          <a:xfrm>
            <a:off x="381000" y="441960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C69EEE6A-3594-4A5E-A88E-3918E7240F3B}"/>
              </a:ext>
            </a:extLst>
          </p:cNvPr>
          <p:cNvSpPr>
            <a:spLocks noGrp="1"/>
          </p:cNvSpPr>
          <p:nvPr/>
        </p:nvSpPr>
        <p:spPr>
          <a:xfrm>
            <a:off x="381000" y="453390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B5F41560-CB2E-4C84-BCB4-8721E6AA2209}"/>
              </a:ext>
            </a:extLst>
          </p:cNvPr>
          <p:cNvSpPr>
            <a:spLocks noGrp="1"/>
          </p:cNvSpPr>
          <p:nvPr/>
        </p:nvSpPr>
        <p:spPr>
          <a:xfrm>
            <a:off x="381000" y="5010150"/>
            <a:ext cx="5524500" cy="1600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 Higher trade barriers in country Y reduce imports, causing Y's currency to appreciate and X/Y exchange rate to fall.</a:t>
            </a:r>
          </a:p>
        </p:txBody>
      </p:sp>
      <p:sp>
        <p:nvSpPr>
          <p:cNvPr id="9" name="chinese_explanation">
            <a:extLst>
              <a:ext uri="{FF2B5EF4-FFF2-40B4-BE49-F238E27FC236}">
                <a16:creationId xmlns:a16="http://schemas.microsoft.com/office/drawing/2014/main" id="{D3E3D84F-4439-4F6A-B9E6-20111574317E}"/>
              </a:ext>
            </a:extLst>
          </p:cNvPr>
          <p:cNvSpPr>
            <a:spLocks noGrp="1"/>
          </p:cNvSpPr>
          <p:nvPr/>
        </p:nvSpPr>
        <p:spPr>
          <a:xfrm>
            <a:off x="6286500" y="5010150"/>
            <a:ext cx="5524500" cy="1600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D：Y国提高贸易壁垒减少进口，Y货币升值，X相对Y汇率下降。</a:t>
            </a:r>
          </a:p>
        </p:txBody>
      </p:sp>
    </p:spTree>
    <p:extLst>
      <p:ext uri="{BB962C8B-B14F-4D97-AF65-F5344CB8AC3E}">
        <p14:creationId xmlns:p14="http://schemas.microsoft.com/office/powerpoint/2010/main" val="165959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C4650CB8-5547-4A56-81DD-828A8F62F624}"/>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25: Injections in the Circular Flow / 循环流量中的注入</a:t>
            </a:r>
          </a:p>
        </p:txBody>
      </p:sp>
      <p:sp>
        <p:nvSpPr>
          <p:cNvPr id="2" name="part_label">
            <a:extLst>
              <a:ext uri="{FF2B5EF4-FFF2-40B4-BE49-F238E27FC236}">
                <a16:creationId xmlns:a16="http://schemas.microsoft.com/office/drawing/2014/main" id="{16F914CB-3409-4CDF-AE2A-A477BCDD7920}"/>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3 | Q21-30</a:t>
            </a:r>
          </a:p>
        </p:txBody>
      </p:sp>
      <p:sp>
        <p:nvSpPr>
          <p:cNvPr id="3" name="metadata">
            <a:extLst>
              <a:ext uri="{FF2B5EF4-FFF2-40B4-BE49-F238E27FC236}">
                <a16:creationId xmlns:a16="http://schemas.microsoft.com/office/drawing/2014/main" id="{E050148A-169A-4883-9A94-44D9ECB8C5A5}"/>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9708_s25_14 Q16 | Correct: just over a quarter</a:t>
            </a:r>
          </a:p>
        </p:txBody>
      </p:sp>
      <p:sp>
        <p:nvSpPr>
          <p:cNvPr id="4" name="Rectangle 3">
            <a:extLst>
              <a:ext uri="{FF2B5EF4-FFF2-40B4-BE49-F238E27FC236}">
                <a16:creationId xmlns:a16="http://schemas.microsoft.com/office/drawing/2014/main" id="{923FD708-8D69-42BA-9AA1-F9DA21982F4C}"/>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2999" y="1085850"/>
            <a:ext cx="10666002" cy="2552700"/>
          </a:xfrm>
          <a:prstGeom prst="rect">
            <a:avLst/>
          </a:prstGeom>
        </p:spPr>
      </p:pic>
      <p:sp>
        <p:nvSpPr>
          <p:cNvPr id="6" name="Rectangle 5">
            <a:extLst>
              <a:ext uri="{FF2B5EF4-FFF2-40B4-BE49-F238E27FC236}">
                <a16:creationId xmlns:a16="http://schemas.microsoft.com/office/drawing/2014/main" id="{996794DD-0EBD-4062-BCB6-CB37CE8A4350}"/>
              </a:ext>
            </a:extLst>
          </p:cNvPr>
          <p:cNvSpPr>
            <a:spLocks noGrp="1"/>
          </p:cNvSpPr>
          <p:nvPr/>
        </p:nvSpPr>
        <p:spPr>
          <a:xfrm>
            <a:off x="381000" y="37528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BC16F86E-8528-4D9E-A3D2-92BB65A30697}"/>
              </a:ext>
            </a:extLst>
          </p:cNvPr>
          <p:cNvSpPr>
            <a:spLocks noGrp="1"/>
          </p:cNvSpPr>
          <p:nvPr/>
        </p:nvSpPr>
        <p:spPr>
          <a:xfrm>
            <a:off x="381000" y="38671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F01858D3-C66E-4BA6-B3C5-5CC924FA6FF6}"/>
              </a:ext>
            </a:extLst>
          </p:cNvPr>
          <p:cNvSpPr>
            <a:spLocks noGrp="1"/>
          </p:cNvSpPr>
          <p:nvPr/>
        </p:nvSpPr>
        <p:spPr>
          <a:xfrm>
            <a:off x="381000" y="4343400"/>
            <a:ext cx="5524500" cy="2266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 Exports are injections: foreign spending enters the domestic circular flow, increasing income.</a:t>
            </a:r>
          </a:p>
        </p:txBody>
      </p:sp>
      <p:sp>
        <p:nvSpPr>
          <p:cNvPr id="9" name="chinese_explanation">
            <a:extLst>
              <a:ext uri="{FF2B5EF4-FFF2-40B4-BE49-F238E27FC236}">
                <a16:creationId xmlns:a16="http://schemas.microsoft.com/office/drawing/2014/main" id="{1EBA7F44-380C-4E8D-90E0-74199C116A8D}"/>
              </a:ext>
            </a:extLst>
          </p:cNvPr>
          <p:cNvSpPr>
            <a:spLocks noGrp="1"/>
          </p:cNvSpPr>
          <p:nvPr/>
        </p:nvSpPr>
        <p:spPr>
          <a:xfrm>
            <a:off x="6286500" y="4343400"/>
            <a:ext cx="5524500" cy="2266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D：出口是注入：来自海外支出进入国内循环流量，增加收入。</a:t>
            </a:r>
          </a:p>
        </p:txBody>
      </p:sp>
    </p:spTree>
    <p:extLst>
      <p:ext uri="{BB962C8B-B14F-4D97-AF65-F5344CB8AC3E}">
        <p14:creationId xmlns:p14="http://schemas.microsoft.com/office/powerpoint/2010/main" val="970209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F0FC533C-0DFC-45B1-A1C1-15F5733EC4A5}"/>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26: Current Account Components / 经常账户组成</a:t>
            </a:r>
          </a:p>
        </p:txBody>
      </p:sp>
      <p:sp>
        <p:nvSpPr>
          <p:cNvPr id="2" name="part_label">
            <a:extLst>
              <a:ext uri="{FF2B5EF4-FFF2-40B4-BE49-F238E27FC236}">
                <a16:creationId xmlns:a16="http://schemas.microsoft.com/office/drawing/2014/main" id="{3B7C71A2-AE87-4FE9-9FC1-A843F79C5537}"/>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3 | Q21-30</a:t>
            </a:r>
          </a:p>
        </p:txBody>
      </p:sp>
      <p:sp>
        <p:nvSpPr>
          <p:cNvPr id="3" name="metadata">
            <a:extLst>
              <a:ext uri="{FF2B5EF4-FFF2-40B4-BE49-F238E27FC236}">
                <a16:creationId xmlns:a16="http://schemas.microsoft.com/office/drawing/2014/main" id="{EB7A35E7-EA78-47BB-88A2-9D940D30DCEA}"/>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9708_w24_11 Q28 | Correct: just over a quarter</a:t>
            </a:r>
          </a:p>
        </p:txBody>
      </p:sp>
      <p:sp>
        <p:nvSpPr>
          <p:cNvPr id="4" name="Rectangle 3">
            <a:extLst>
              <a:ext uri="{FF2B5EF4-FFF2-40B4-BE49-F238E27FC236}">
                <a16:creationId xmlns:a16="http://schemas.microsoft.com/office/drawing/2014/main" id="{3ED1BFFB-55C1-468D-90DA-3FC07711AC29}"/>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1238250" y="1085990"/>
            <a:ext cx="9725025" cy="3619219"/>
          </a:xfrm>
          <a:prstGeom prst="rect">
            <a:avLst/>
          </a:prstGeom>
        </p:spPr>
      </p:pic>
      <p:sp>
        <p:nvSpPr>
          <p:cNvPr id="6" name="Rectangle 5">
            <a:extLst>
              <a:ext uri="{FF2B5EF4-FFF2-40B4-BE49-F238E27FC236}">
                <a16:creationId xmlns:a16="http://schemas.microsoft.com/office/drawing/2014/main" id="{32016E01-2CCC-4A07-8E47-C17F2D526EEB}"/>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28A9C048-E2B1-4CA2-9620-C64A157EB818}"/>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C617ADFF-CCF3-4925-AE66-071735DFFC8C}"/>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Foreign investment is recorded in the financial account; the question asks which is not in the current account.</a:t>
            </a:r>
          </a:p>
        </p:txBody>
      </p:sp>
      <p:sp>
        <p:nvSpPr>
          <p:cNvPr id="9" name="chinese_explanation">
            <a:extLst>
              <a:ext uri="{FF2B5EF4-FFF2-40B4-BE49-F238E27FC236}">
                <a16:creationId xmlns:a16="http://schemas.microsoft.com/office/drawing/2014/main" id="{AC123CC9-3D05-4590-AEBA-DD308322B8A7}"/>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C：外国投资属于金融账户，本题问哪项不计入经常账户。</a:t>
            </a:r>
          </a:p>
        </p:txBody>
      </p:sp>
    </p:spTree>
    <p:extLst>
      <p:ext uri="{BB962C8B-B14F-4D97-AF65-F5344CB8AC3E}">
        <p14:creationId xmlns:p14="http://schemas.microsoft.com/office/powerpoint/2010/main" val="818425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56B1044D-70FF-4804-B7E7-3CCA3C1DD0EE}"/>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27: Zero PED and Total Revenue / 零需求弹性与总收益</a:t>
            </a:r>
          </a:p>
        </p:txBody>
      </p:sp>
      <p:sp>
        <p:nvSpPr>
          <p:cNvPr id="2" name="part_label">
            <a:extLst>
              <a:ext uri="{FF2B5EF4-FFF2-40B4-BE49-F238E27FC236}">
                <a16:creationId xmlns:a16="http://schemas.microsoft.com/office/drawing/2014/main" id="{754F1620-CEEB-45E8-A691-E22A5E88CD58}"/>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3 | Q21-30</a:t>
            </a:r>
          </a:p>
        </p:txBody>
      </p:sp>
      <p:sp>
        <p:nvSpPr>
          <p:cNvPr id="3" name="metadata">
            <a:extLst>
              <a:ext uri="{FF2B5EF4-FFF2-40B4-BE49-F238E27FC236}">
                <a16:creationId xmlns:a16="http://schemas.microsoft.com/office/drawing/2014/main" id="{9955903B-C040-49D2-B38F-486DE56938EF}"/>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9708_s23_13 Q10 | Correct: 27%</a:t>
            </a:r>
          </a:p>
        </p:txBody>
      </p:sp>
      <p:sp>
        <p:nvSpPr>
          <p:cNvPr id="4" name="Rectangle 3">
            <a:extLst>
              <a:ext uri="{FF2B5EF4-FFF2-40B4-BE49-F238E27FC236}">
                <a16:creationId xmlns:a16="http://schemas.microsoft.com/office/drawing/2014/main" id="{21D56736-C389-442D-A731-7AF2C2AE974A}"/>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5084" y="1085850"/>
            <a:ext cx="10661832" cy="3571875"/>
          </a:xfrm>
          <a:prstGeom prst="rect">
            <a:avLst/>
          </a:prstGeom>
        </p:spPr>
      </p:pic>
      <p:sp>
        <p:nvSpPr>
          <p:cNvPr id="6" name="Rectangle 5">
            <a:extLst>
              <a:ext uri="{FF2B5EF4-FFF2-40B4-BE49-F238E27FC236}">
                <a16:creationId xmlns:a16="http://schemas.microsoft.com/office/drawing/2014/main" id="{6EBDDD57-A39C-456C-8CCC-37A8E89F1A11}"/>
              </a:ext>
            </a:extLst>
          </p:cNvPr>
          <p:cNvSpPr>
            <a:spLocks noGrp="1"/>
          </p:cNvSpPr>
          <p:nvPr/>
        </p:nvSpPr>
        <p:spPr>
          <a:xfrm>
            <a:off x="381000" y="4772025"/>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64177285-30A3-4189-88CF-7541A42D5B43}"/>
              </a:ext>
            </a:extLst>
          </p:cNvPr>
          <p:cNvSpPr>
            <a:spLocks noGrp="1"/>
          </p:cNvSpPr>
          <p:nvPr/>
        </p:nvSpPr>
        <p:spPr>
          <a:xfrm>
            <a:off x="381000" y="4886325"/>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D72F2C85-D535-4458-A23B-901383D9AC19}"/>
              </a:ext>
            </a:extLst>
          </p:cNvPr>
          <p:cNvSpPr>
            <a:spLocks noGrp="1"/>
          </p:cNvSpPr>
          <p:nvPr/>
        </p:nvSpPr>
        <p:spPr>
          <a:xfrm>
            <a:off x="381000" y="5362575"/>
            <a:ext cx="5524500" cy="12477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 Price falls 5% and total revenue falls 5%. Quantity is unchanged, so PED = 0.</a:t>
            </a:r>
          </a:p>
        </p:txBody>
      </p:sp>
      <p:sp>
        <p:nvSpPr>
          <p:cNvPr id="9" name="chinese_explanation">
            <a:extLst>
              <a:ext uri="{FF2B5EF4-FFF2-40B4-BE49-F238E27FC236}">
                <a16:creationId xmlns:a16="http://schemas.microsoft.com/office/drawing/2014/main" id="{0F2CA0DE-A818-4BDA-AB3D-0B2BF3A48C48}"/>
              </a:ext>
            </a:extLst>
          </p:cNvPr>
          <p:cNvSpPr>
            <a:spLocks noGrp="1"/>
          </p:cNvSpPr>
          <p:nvPr/>
        </p:nvSpPr>
        <p:spPr>
          <a:xfrm>
            <a:off x="6286500" y="5362575"/>
            <a:ext cx="5524500" cy="12477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D：价格下降5%，总收益下降5%，数量不变，所以需求弹性为零。</a:t>
            </a:r>
          </a:p>
        </p:txBody>
      </p:sp>
    </p:spTree>
    <p:extLst>
      <p:ext uri="{BB962C8B-B14F-4D97-AF65-F5344CB8AC3E}">
        <p14:creationId xmlns:p14="http://schemas.microsoft.com/office/powerpoint/2010/main" val="64648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969C404D-FCBC-4A30-8C05-D5F426B26A1A}"/>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28: Floating Exchange Rate Benefits / 浮动汇率的好处</a:t>
            </a:r>
          </a:p>
        </p:txBody>
      </p:sp>
      <p:sp>
        <p:nvSpPr>
          <p:cNvPr id="2" name="part_label">
            <a:extLst>
              <a:ext uri="{FF2B5EF4-FFF2-40B4-BE49-F238E27FC236}">
                <a16:creationId xmlns:a16="http://schemas.microsoft.com/office/drawing/2014/main" id="{DDD96AD2-0D4D-48B2-9DDF-59BDF99476A7}"/>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3 | Q21-30</a:t>
            </a:r>
          </a:p>
        </p:txBody>
      </p:sp>
      <p:sp>
        <p:nvSpPr>
          <p:cNvPr id="3" name="metadata">
            <a:extLst>
              <a:ext uri="{FF2B5EF4-FFF2-40B4-BE49-F238E27FC236}">
                <a16:creationId xmlns:a16="http://schemas.microsoft.com/office/drawing/2014/main" id="{7D07C243-57AC-4FB1-B5E4-4BEF1BE36FD0}"/>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9708_m23_12 Q27 | Correct: 28%</a:t>
            </a:r>
          </a:p>
        </p:txBody>
      </p:sp>
      <p:sp>
        <p:nvSpPr>
          <p:cNvPr id="4" name="Rectangle 3">
            <a:extLst>
              <a:ext uri="{FF2B5EF4-FFF2-40B4-BE49-F238E27FC236}">
                <a16:creationId xmlns:a16="http://schemas.microsoft.com/office/drawing/2014/main" id="{0862EE16-272D-496A-9FB3-F4F429EED4B2}"/>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2000" y="1087325"/>
            <a:ext cx="10668000" cy="3102201"/>
          </a:xfrm>
          <a:prstGeom prst="rect">
            <a:avLst/>
          </a:prstGeom>
        </p:spPr>
      </p:pic>
      <p:sp>
        <p:nvSpPr>
          <p:cNvPr id="6" name="Rectangle 5">
            <a:extLst>
              <a:ext uri="{FF2B5EF4-FFF2-40B4-BE49-F238E27FC236}">
                <a16:creationId xmlns:a16="http://schemas.microsoft.com/office/drawing/2014/main" id="{68179B11-53E7-4F64-A3ED-FAE75DC44C8C}"/>
              </a:ext>
            </a:extLst>
          </p:cNvPr>
          <p:cNvSpPr>
            <a:spLocks noGrp="1"/>
          </p:cNvSpPr>
          <p:nvPr/>
        </p:nvSpPr>
        <p:spPr>
          <a:xfrm>
            <a:off x="381000" y="430530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3641E32F-6DAD-4C9F-A98D-D5421F40F75A}"/>
              </a:ext>
            </a:extLst>
          </p:cNvPr>
          <p:cNvSpPr>
            <a:spLocks noGrp="1"/>
          </p:cNvSpPr>
          <p:nvPr/>
        </p:nvSpPr>
        <p:spPr>
          <a:xfrm>
            <a:off x="381000" y="441960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A</a:t>
            </a:r>
          </a:p>
        </p:txBody>
      </p:sp>
      <p:sp>
        <p:nvSpPr>
          <p:cNvPr id="8" name="english_explanation">
            <a:extLst>
              <a:ext uri="{FF2B5EF4-FFF2-40B4-BE49-F238E27FC236}">
                <a16:creationId xmlns:a16="http://schemas.microsoft.com/office/drawing/2014/main" id="{5D7988E4-667C-45FB-886E-43F7604BCB82}"/>
              </a:ext>
            </a:extLst>
          </p:cNvPr>
          <p:cNvSpPr>
            <a:spLocks noGrp="1"/>
          </p:cNvSpPr>
          <p:nvPr/>
        </p:nvSpPr>
        <p:spPr>
          <a:xfrm>
            <a:off x="381000" y="4895850"/>
            <a:ext cx="5524500" cy="1714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 A floating exchange rate gives policy independence; no need to defend a fixed rate with reserves or interest rates.</a:t>
            </a:r>
          </a:p>
        </p:txBody>
      </p:sp>
      <p:sp>
        <p:nvSpPr>
          <p:cNvPr id="9" name="chinese_explanation">
            <a:extLst>
              <a:ext uri="{FF2B5EF4-FFF2-40B4-BE49-F238E27FC236}">
                <a16:creationId xmlns:a16="http://schemas.microsoft.com/office/drawing/2014/main" id="{EEE258CD-C621-4F02-B34B-68E28E54860E}"/>
              </a:ext>
            </a:extLst>
          </p:cNvPr>
          <p:cNvSpPr>
            <a:spLocks noGrp="1"/>
          </p:cNvSpPr>
          <p:nvPr/>
        </p:nvSpPr>
        <p:spPr>
          <a:xfrm>
            <a:off x="6286500" y="4895850"/>
            <a:ext cx="5524500" cy="1714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A：浮动汇率让政府政策独立，无需用储备或利率维持固定汇率。</a:t>
            </a:r>
          </a:p>
        </p:txBody>
      </p:sp>
    </p:spTree>
    <p:extLst>
      <p:ext uri="{BB962C8B-B14F-4D97-AF65-F5344CB8AC3E}">
        <p14:creationId xmlns:p14="http://schemas.microsoft.com/office/powerpoint/2010/main" val="1333286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71451C63-4B64-4061-B404-215470DB4125}"/>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29: Real GDP Index and Recession / 实际GDP指数与衰退</a:t>
            </a:r>
          </a:p>
        </p:txBody>
      </p:sp>
      <p:sp>
        <p:nvSpPr>
          <p:cNvPr id="2" name="part_label">
            <a:extLst>
              <a:ext uri="{FF2B5EF4-FFF2-40B4-BE49-F238E27FC236}">
                <a16:creationId xmlns:a16="http://schemas.microsoft.com/office/drawing/2014/main" id="{EB65D8C1-C171-4260-90D2-DE6716FF29C8}"/>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3 | Q21-30</a:t>
            </a:r>
          </a:p>
        </p:txBody>
      </p:sp>
      <p:sp>
        <p:nvSpPr>
          <p:cNvPr id="3" name="metadata">
            <a:extLst>
              <a:ext uri="{FF2B5EF4-FFF2-40B4-BE49-F238E27FC236}">
                <a16:creationId xmlns:a16="http://schemas.microsoft.com/office/drawing/2014/main" id="{1EE8B565-57A1-4161-B4BE-1415D05AF05A}"/>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9708_m24_12 Q15 | Correct: 29%</a:t>
            </a:r>
          </a:p>
        </p:txBody>
      </p:sp>
      <p:sp>
        <p:nvSpPr>
          <p:cNvPr id="4" name="Rectangle 3">
            <a:extLst>
              <a:ext uri="{FF2B5EF4-FFF2-40B4-BE49-F238E27FC236}">
                <a16:creationId xmlns:a16="http://schemas.microsoft.com/office/drawing/2014/main" id="{E1A5C03A-A46E-4A73-BDE6-015204DC88FC}"/>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419100" y="1087167"/>
            <a:ext cx="7239000" cy="4769390"/>
          </a:xfrm>
          <a:prstGeom prst="rect">
            <a:avLst/>
          </a:prstGeom>
        </p:spPr>
      </p:pic>
      <p:sp>
        <p:nvSpPr>
          <p:cNvPr id="6" name="Rectangle 5">
            <a:extLst>
              <a:ext uri="{FF2B5EF4-FFF2-40B4-BE49-F238E27FC236}">
                <a16:creationId xmlns:a16="http://schemas.microsoft.com/office/drawing/2014/main" id="{1EC8B6EF-C0B9-4A63-8B15-4728774AAE60}"/>
              </a:ext>
            </a:extLst>
          </p:cNvPr>
          <p:cNvSpPr>
            <a:spLocks noGrp="1"/>
          </p:cNvSpPr>
          <p:nvPr/>
        </p:nvSpPr>
        <p:spPr>
          <a:xfrm>
            <a:off x="381000" y="65722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0B2FDDBE-B569-4DDF-8C50-2FCEF4D90CC3}"/>
              </a:ext>
            </a:extLst>
          </p:cNvPr>
          <p:cNvSpPr>
            <a:spLocks noGrp="1"/>
          </p:cNvSpPr>
          <p:nvPr/>
        </p:nvSpPr>
        <p:spPr>
          <a:xfrm>
            <a:off x="7953375" y="1238250"/>
            <a:ext cx="36671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6CB10881-B471-4F99-9E60-E1AB2320C790}"/>
              </a:ext>
            </a:extLst>
          </p:cNvPr>
          <p:cNvSpPr>
            <a:spLocks noGrp="1"/>
          </p:cNvSpPr>
          <p:nvPr/>
        </p:nvSpPr>
        <p:spPr>
          <a:xfrm>
            <a:off x="7953375" y="1762125"/>
            <a:ext cx="3667125" cy="2000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Real GDP falls in two consecutive quarters, indicating a technical recession.</a:t>
            </a:r>
          </a:p>
        </p:txBody>
      </p:sp>
      <p:sp>
        <p:nvSpPr>
          <p:cNvPr id="9" name="chinese_explanation">
            <a:extLst>
              <a:ext uri="{FF2B5EF4-FFF2-40B4-BE49-F238E27FC236}">
                <a16:creationId xmlns:a16="http://schemas.microsoft.com/office/drawing/2014/main" id="{B0D31B6B-9A53-4A2A-B1BA-BA6C8E3ECFDC}"/>
              </a:ext>
            </a:extLst>
          </p:cNvPr>
          <p:cNvSpPr>
            <a:spLocks noGrp="1"/>
          </p:cNvSpPr>
          <p:nvPr/>
        </p:nvSpPr>
        <p:spPr>
          <a:xfrm>
            <a:off x="7953375" y="4095750"/>
            <a:ext cx="3667125" cy="2190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C：实际GDP连续两个季度下降，表示技术性衰退。</a:t>
            </a:r>
          </a:p>
        </p:txBody>
      </p:sp>
    </p:spTree>
    <p:extLst>
      <p:ext uri="{BB962C8B-B14F-4D97-AF65-F5344CB8AC3E}">
        <p14:creationId xmlns:p14="http://schemas.microsoft.com/office/powerpoint/2010/main" val="1635440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9AD7298C-C1BE-471E-82A8-10FD363656D4}"/>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30: Incentivising Function of Price / 价格的激励功能</a:t>
            </a:r>
          </a:p>
        </p:txBody>
      </p:sp>
      <p:sp>
        <p:nvSpPr>
          <p:cNvPr id="2" name="part_label">
            <a:extLst>
              <a:ext uri="{FF2B5EF4-FFF2-40B4-BE49-F238E27FC236}">
                <a16:creationId xmlns:a16="http://schemas.microsoft.com/office/drawing/2014/main" id="{55C46647-14E5-4929-B36F-02180C0DDF6A}"/>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3 | Q21-30</a:t>
            </a:r>
          </a:p>
        </p:txBody>
      </p:sp>
      <p:sp>
        <p:nvSpPr>
          <p:cNvPr id="3" name="metadata">
            <a:extLst>
              <a:ext uri="{FF2B5EF4-FFF2-40B4-BE49-F238E27FC236}">
                <a16:creationId xmlns:a16="http://schemas.microsoft.com/office/drawing/2014/main" id="{D750B26F-CBF3-45F3-9F5E-BF3ABFAE6034}"/>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9708_s23_12 Q5 | Correct: 29%</a:t>
            </a:r>
          </a:p>
        </p:txBody>
      </p:sp>
      <p:sp>
        <p:nvSpPr>
          <p:cNvPr id="4" name="Rectangle 3">
            <a:extLst>
              <a:ext uri="{FF2B5EF4-FFF2-40B4-BE49-F238E27FC236}">
                <a16:creationId xmlns:a16="http://schemas.microsoft.com/office/drawing/2014/main" id="{9233704F-58E2-4774-A86D-D6094375259B}"/>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6919" y="1085850"/>
            <a:ext cx="10658163" cy="3267075"/>
          </a:xfrm>
          <a:prstGeom prst="rect">
            <a:avLst/>
          </a:prstGeom>
        </p:spPr>
      </p:pic>
      <p:sp>
        <p:nvSpPr>
          <p:cNvPr id="6" name="Rectangle 5">
            <a:extLst>
              <a:ext uri="{FF2B5EF4-FFF2-40B4-BE49-F238E27FC236}">
                <a16:creationId xmlns:a16="http://schemas.microsoft.com/office/drawing/2014/main" id="{1119B4FD-E21C-4404-8C4B-CDAA7611C3E7}"/>
              </a:ext>
            </a:extLst>
          </p:cNvPr>
          <p:cNvSpPr>
            <a:spLocks noGrp="1"/>
          </p:cNvSpPr>
          <p:nvPr/>
        </p:nvSpPr>
        <p:spPr>
          <a:xfrm>
            <a:off x="381000" y="4467225"/>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C3C1C9C7-7183-4B95-8F19-26A4FBBF8774}"/>
              </a:ext>
            </a:extLst>
          </p:cNvPr>
          <p:cNvSpPr>
            <a:spLocks noGrp="1"/>
          </p:cNvSpPr>
          <p:nvPr/>
        </p:nvSpPr>
        <p:spPr>
          <a:xfrm>
            <a:off x="381000" y="4581525"/>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B</a:t>
            </a:r>
          </a:p>
        </p:txBody>
      </p:sp>
      <p:sp>
        <p:nvSpPr>
          <p:cNvPr id="8" name="english_explanation">
            <a:extLst>
              <a:ext uri="{FF2B5EF4-FFF2-40B4-BE49-F238E27FC236}">
                <a16:creationId xmlns:a16="http://schemas.microsoft.com/office/drawing/2014/main" id="{3B1854CF-5388-4551-9322-C751BEFC5BB3}"/>
              </a:ext>
            </a:extLst>
          </p:cNvPr>
          <p:cNvSpPr>
            <a:spLocks noGrp="1"/>
          </p:cNvSpPr>
          <p:nvPr/>
        </p:nvSpPr>
        <p:spPr>
          <a:xfrm>
            <a:off x="381000" y="5057775"/>
            <a:ext cx="5524500" cy="15525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 Price falls reduce producer rewards, so some producers leave the market.</a:t>
            </a:r>
          </a:p>
        </p:txBody>
      </p:sp>
      <p:sp>
        <p:nvSpPr>
          <p:cNvPr id="9" name="chinese_explanation">
            <a:extLst>
              <a:ext uri="{FF2B5EF4-FFF2-40B4-BE49-F238E27FC236}">
                <a16:creationId xmlns:a16="http://schemas.microsoft.com/office/drawing/2014/main" id="{12995683-F0DD-4891-A823-8A124878D6C3}"/>
              </a:ext>
            </a:extLst>
          </p:cNvPr>
          <p:cNvSpPr>
            <a:spLocks noGrp="1"/>
          </p:cNvSpPr>
          <p:nvPr/>
        </p:nvSpPr>
        <p:spPr>
          <a:xfrm>
            <a:off x="6286500" y="5057775"/>
            <a:ext cx="5524500" cy="15525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B：价格下降降低生产者回报，部分生产者退出市场。</a:t>
            </a:r>
          </a:p>
        </p:txBody>
      </p:sp>
    </p:spTree>
    <p:extLst>
      <p:ext uri="{BB962C8B-B14F-4D97-AF65-F5344CB8AC3E}">
        <p14:creationId xmlns:p14="http://schemas.microsoft.com/office/powerpoint/2010/main" val="1625843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nswer_key_title">
            <a:extLst>
              <a:ext uri="{FF2B5EF4-FFF2-40B4-BE49-F238E27FC236}">
                <a16:creationId xmlns:a16="http://schemas.microsoft.com/office/drawing/2014/main" id="{BFB77D99-DA00-D6B5-74DB-A4E22B2916CA}"/>
              </a:ext>
            </a:extLst>
          </p:cNvPr>
          <p:cNvSpPr txBox="1"/>
          <p:nvPr/>
        </p:nvSpPr>
        <p:spPr>
          <a:xfrm>
            <a:off x="381000" y="355600"/>
            <a:ext cx="11430000" cy="523220"/>
          </a:xfrm>
          <a:prstGeom prst="rect">
            <a:avLst/>
          </a:prstGeom>
          <a:noFill/>
        </p:spPr>
        <p:txBody>
          <a:bodyPr vert="horz" rtlCol="0">
            <a:spAutoFit/>
          </a:bodyPr>
          <a:lstStyle/>
          <a:p>
            <a:r>
              <a:rPr lang="en-US" altLang="zh-CN" sz="2800" b="1">
                <a:solidFill>
                  <a:srgbClr val="000000"/>
                </a:solidFill>
                <a:latin typeface="Arial" panose="020B0604020202020204" pitchFamily="34" charset="0"/>
              </a:rPr>
              <a:t>Answer Key - Part 4: Questions 31-40</a:t>
            </a:r>
            <a:endParaRPr lang="zh-CN" altLang="en-US" sz="2800" b="1">
              <a:solidFill>
                <a:srgbClr val="000000"/>
              </a:solidFill>
              <a:latin typeface="Arial" panose="020B0604020202020204" pitchFamily="34" charset="0"/>
            </a:endParaRPr>
          </a:p>
        </p:txBody>
      </p:sp>
      <p:sp>
        <p:nvSpPr>
          <p:cNvPr id="3" name="answer_key_note">
            <a:extLst>
              <a:ext uri="{FF2B5EF4-FFF2-40B4-BE49-F238E27FC236}">
                <a16:creationId xmlns:a16="http://schemas.microsoft.com/office/drawing/2014/main" id="{DD26C68F-3A36-0FA8-7B89-4761FC34353B}"/>
              </a:ext>
            </a:extLst>
          </p:cNvPr>
          <p:cNvSpPr txBox="1"/>
          <p:nvPr/>
        </p:nvSpPr>
        <p:spPr>
          <a:xfrm>
            <a:off x="381000" y="952500"/>
            <a:ext cx="11430000" cy="369332"/>
          </a:xfrm>
          <a:prstGeom prst="rect">
            <a:avLst/>
          </a:prstGeom>
          <a:noFill/>
        </p:spPr>
        <p:txBody>
          <a:bodyPr vert="horz" rtlCol="0">
            <a:spAutoFit/>
          </a:bodyPr>
          <a:lstStyle/>
          <a:p>
            <a:r>
              <a:rPr lang="en-US" altLang="zh-CN">
                <a:solidFill>
                  <a:srgbClr val="555555"/>
                </a:solidFill>
                <a:latin typeface="Arial" panose="020B0604020202020204" pitchFamily="34" charset="0"/>
              </a:rPr>
              <a:t>Use after students have attempted this set.</a:t>
            </a:r>
            <a:endParaRPr lang="zh-CN" altLang="en-US">
              <a:solidFill>
                <a:srgbClr val="555555"/>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9FF2A85D-000E-6D18-0975-95631B449D6D}"/>
              </a:ext>
            </a:extLst>
          </p:cNvPr>
          <p:cNvCxnSpPr/>
          <p:nvPr/>
        </p:nvCxnSpPr>
        <p:spPr>
          <a:xfrm>
            <a:off x="381000" y="1422400"/>
            <a:ext cx="11430000" cy="0"/>
          </a:xfrm>
          <a:prstGeom prst="line">
            <a:avLst/>
          </a:prstGeom>
          <a:ln w="12700">
            <a:solidFill>
              <a:srgbClr val="AAAAAA"/>
            </a:solidFill>
          </a:ln>
        </p:spPr>
        <p:style>
          <a:lnRef idx="1">
            <a:schemeClr val="accent1"/>
          </a:lnRef>
          <a:fillRef idx="0">
            <a:schemeClr val="accent1"/>
          </a:fillRef>
          <a:effectRef idx="0">
            <a:schemeClr val="accent1"/>
          </a:effectRef>
          <a:fontRef idx="minor">
            <a:schemeClr val="tx1"/>
          </a:fontRef>
        </p:style>
      </p:cxnSp>
      <p:sp>
        <p:nvSpPr>
          <p:cNvPr id="5" name="answer_key_q31">
            <a:extLst>
              <a:ext uri="{FF2B5EF4-FFF2-40B4-BE49-F238E27FC236}">
                <a16:creationId xmlns:a16="http://schemas.microsoft.com/office/drawing/2014/main" id="{60BFBFF8-C8CE-D072-CC6D-7C0F7DBC939F}"/>
              </a:ext>
            </a:extLst>
          </p:cNvPr>
          <p:cNvSpPr txBox="1"/>
          <p:nvPr/>
        </p:nvSpPr>
        <p:spPr>
          <a:xfrm>
            <a:off x="15240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Q31    D</a:t>
            </a:r>
            <a:endParaRPr lang="zh-CN" altLang="en-US" sz="3000" b="1">
              <a:solidFill>
                <a:srgbClr val="000000"/>
              </a:solidFill>
              <a:latin typeface="Arial" panose="020B0604020202020204" pitchFamily="34" charset="0"/>
            </a:endParaRPr>
          </a:p>
        </p:txBody>
      </p:sp>
      <p:sp>
        <p:nvSpPr>
          <p:cNvPr id="6" name="answer_key_q32">
            <a:extLst>
              <a:ext uri="{FF2B5EF4-FFF2-40B4-BE49-F238E27FC236}">
                <a16:creationId xmlns:a16="http://schemas.microsoft.com/office/drawing/2014/main" id="{0C9BD10D-8978-5ED8-2283-246795DEDBB9}"/>
              </a:ext>
            </a:extLst>
          </p:cNvPr>
          <p:cNvSpPr txBox="1"/>
          <p:nvPr/>
        </p:nvSpPr>
        <p:spPr>
          <a:xfrm>
            <a:off x="15240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Q32    B</a:t>
            </a:r>
            <a:endParaRPr lang="zh-CN" altLang="en-US" sz="3000" b="1">
              <a:solidFill>
                <a:srgbClr val="000000"/>
              </a:solidFill>
              <a:latin typeface="Arial" panose="020B0604020202020204" pitchFamily="34" charset="0"/>
            </a:endParaRPr>
          </a:p>
        </p:txBody>
      </p:sp>
      <p:sp>
        <p:nvSpPr>
          <p:cNvPr id="7" name="answer_key_q33">
            <a:extLst>
              <a:ext uri="{FF2B5EF4-FFF2-40B4-BE49-F238E27FC236}">
                <a16:creationId xmlns:a16="http://schemas.microsoft.com/office/drawing/2014/main" id="{D34EC32B-E3DB-BD25-9EC1-09853B8ECF4F}"/>
              </a:ext>
            </a:extLst>
          </p:cNvPr>
          <p:cNvSpPr txBox="1"/>
          <p:nvPr/>
        </p:nvSpPr>
        <p:spPr>
          <a:xfrm>
            <a:off x="15240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Q33    D</a:t>
            </a:r>
            <a:endParaRPr lang="zh-CN" altLang="en-US" sz="3000" b="1">
              <a:solidFill>
                <a:srgbClr val="000000"/>
              </a:solidFill>
              <a:latin typeface="Arial" panose="020B0604020202020204" pitchFamily="34" charset="0"/>
            </a:endParaRPr>
          </a:p>
        </p:txBody>
      </p:sp>
      <p:sp>
        <p:nvSpPr>
          <p:cNvPr id="8" name="answer_key_q34">
            <a:extLst>
              <a:ext uri="{FF2B5EF4-FFF2-40B4-BE49-F238E27FC236}">
                <a16:creationId xmlns:a16="http://schemas.microsoft.com/office/drawing/2014/main" id="{F392A598-CBAC-F7FD-84B6-C329CCFB64BA}"/>
              </a:ext>
            </a:extLst>
          </p:cNvPr>
          <p:cNvSpPr txBox="1"/>
          <p:nvPr/>
        </p:nvSpPr>
        <p:spPr>
          <a:xfrm>
            <a:off x="15240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Q34    B</a:t>
            </a:r>
            <a:endParaRPr lang="zh-CN" altLang="en-US" sz="3000" b="1">
              <a:solidFill>
                <a:srgbClr val="000000"/>
              </a:solidFill>
              <a:latin typeface="Arial" panose="020B0604020202020204" pitchFamily="34" charset="0"/>
            </a:endParaRPr>
          </a:p>
        </p:txBody>
      </p:sp>
      <p:sp>
        <p:nvSpPr>
          <p:cNvPr id="9" name="answer_key_q35">
            <a:extLst>
              <a:ext uri="{FF2B5EF4-FFF2-40B4-BE49-F238E27FC236}">
                <a16:creationId xmlns:a16="http://schemas.microsoft.com/office/drawing/2014/main" id="{9D122164-A1A1-E828-6F02-85C2D3E72373}"/>
              </a:ext>
            </a:extLst>
          </p:cNvPr>
          <p:cNvSpPr txBox="1"/>
          <p:nvPr/>
        </p:nvSpPr>
        <p:spPr>
          <a:xfrm>
            <a:off x="15240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Q35    C</a:t>
            </a:r>
            <a:endParaRPr lang="zh-CN" altLang="en-US" sz="3000" b="1">
              <a:solidFill>
                <a:srgbClr val="000000"/>
              </a:solidFill>
              <a:latin typeface="Arial" panose="020B0604020202020204" pitchFamily="34" charset="0"/>
            </a:endParaRPr>
          </a:p>
        </p:txBody>
      </p:sp>
      <p:sp>
        <p:nvSpPr>
          <p:cNvPr id="10" name="answer_key_q36">
            <a:extLst>
              <a:ext uri="{FF2B5EF4-FFF2-40B4-BE49-F238E27FC236}">
                <a16:creationId xmlns:a16="http://schemas.microsoft.com/office/drawing/2014/main" id="{6365B89A-38D6-6A11-9E1F-4FCA0DA9EA49}"/>
              </a:ext>
            </a:extLst>
          </p:cNvPr>
          <p:cNvSpPr txBox="1"/>
          <p:nvPr/>
        </p:nvSpPr>
        <p:spPr>
          <a:xfrm>
            <a:off x="66675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Q36    B</a:t>
            </a:r>
            <a:endParaRPr lang="zh-CN" altLang="en-US" sz="3000" b="1">
              <a:solidFill>
                <a:srgbClr val="000000"/>
              </a:solidFill>
              <a:latin typeface="Arial" panose="020B0604020202020204" pitchFamily="34" charset="0"/>
            </a:endParaRPr>
          </a:p>
        </p:txBody>
      </p:sp>
      <p:sp>
        <p:nvSpPr>
          <p:cNvPr id="11" name="answer_key_q37">
            <a:extLst>
              <a:ext uri="{FF2B5EF4-FFF2-40B4-BE49-F238E27FC236}">
                <a16:creationId xmlns:a16="http://schemas.microsoft.com/office/drawing/2014/main" id="{75F4B416-20DD-A71C-9019-3D996145B317}"/>
              </a:ext>
            </a:extLst>
          </p:cNvPr>
          <p:cNvSpPr txBox="1"/>
          <p:nvPr/>
        </p:nvSpPr>
        <p:spPr>
          <a:xfrm>
            <a:off x="66675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Q37    C</a:t>
            </a:r>
            <a:endParaRPr lang="zh-CN" altLang="en-US" sz="3000" b="1">
              <a:solidFill>
                <a:srgbClr val="000000"/>
              </a:solidFill>
              <a:latin typeface="Arial" panose="020B0604020202020204" pitchFamily="34" charset="0"/>
            </a:endParaRPr>
          </a:p>
        </p:txBody>
      </p:sp>
      <p:sp>
        <p:nvSpPr>
          <p:cNvPr id="12" name="answer_key_q38">
            <a:extLst>
              <a:ext uri="{FF2B5EF4-FFF2-40B4-BE49-F238E27FC236}">
                <a16:creationId xmlns:a16="http://schemas.microsoft.com/office/drawing/2014/main" id="{EB365F0E-F3BC-6214-4726-0D6DF161A8A8}"/>
              </a:ext>
            </a:extLst>
          </p:cNvPr>
          <p:cNvSpPr txBox="1"/>
          <p:nvPr/>
        </p:nvSpPr>
        <p:spPr>
          <a:xfrm>
            <a:off x="66675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Q38    D</a:t>
            </a:r>
            <a:endParaRPr lang="zh-CN" altLang="en-US" sz="3000" b="1">
              <a:solidFill>
                <a:srgbClr val="000000"/>
              </a:solidFill>
              <a:latin typeface="Arial" panose="020B0604020202020204" pitchFamily="34" charset="0"/>
            </a:endParaRPr>
          </a:p>
        </p:txBody>
      </p:sp>
      <p:sp>
        <p:nvSpPr>
          <p:cNvPr id="13" name="answer_key_q39">
            <a:extLst>
              <a:ext uri="{FF2B5EF4-FFF2-40B4-BE49-F238E27FC236}">
                <a16:creationId xmlns:a16="http://schemas.microsoft.com/office/drawing/2014/main" id="{A740DCD7-D46E-AC68-0B79-49AB4BB35328}"/>
              </a:ext>
            </a:extLst>
          </p:cNvPr>
          <p:cNvSpPr txBox="1"/>
          <p:nvPr/>
        </p:nvSpPr>
        <p:spPr>
          <a:xfrm>
            <a:off x="66675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Q39    C</a:t>
            </a:r>
            <a:endParaRPr lang="zh-CN" altLang="en-US" sz="3000" b="1">
              <a:solidFill>
                <a:srgbClr val="000000"/>
              </a:solidFill>
              <a:latin typeface="Arial" panose="020B0604020202020204" pitchFamily="34" charset="0"/>
            </a:endParaRPr>
          </a:p>
        </p:txBody>
      </p:sp>
      <p:sp>
        <p:nvSpPr>
          <p:cNvPr id="14" name="answer_key_q40">
            <a:extLst>
              <a:ext uri="{FF2B5EF4-FFF2-40B4-BE49-F238E27FC236}">
                <a16:creationId xmlns:a16="http://schemas.microsoft.com/office/drawing/2014/main" id="{084BCC88-23FA-9426-0653-30B24B112AA4}"/>
              </a:ext>
            </a:extLst>
          </p:cNvPr>
          <p:cNvSpPr txBox="1"/>
          <p:nvPr/>
        </p:nvSpPr>
        <p:spPr>
          <a:xfrm>
            <a:off x="66675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Q40    D</a:t>
            </a:r>
            <a:endParaRPr lang="zh-CN" altLang="en-US" sz="3000" b="1">
              <a:solidFill>
                <a:srgbClr val="000000"/>
              </a:solidFill>
              <a:latin typeface="Arial" panose="020B0604020202020204" pitchFamily="34" charset="0"/>
            </a:endParaRPr>
          </a:p>
        </p:txBody>
      </p:sp>
      <p:sp>
        <p:nvSpPr>
          <p:cNvPr id="15" name="answer_key_footer">
            <a:extLst>
              <a:ext uri="{FF2B5EF4-FFF2-40B4-BE49-F238E27FC236}">
                <a16:creationId xmlns:a16="http://schemas.microsoft.com/office/drawing/2014/main" id="{B1C2FD35-B752-DFFF-318F-D597C7EA44FB}"/>
              </a:ext>
            </a:extLst>
          </p:cNvPr>
          <p:cNvSpPr txBox="1"/>
          <p:nvPr/>
        </p:nvSpPr>
        <p:spPr>
          <a:xfrm>
            <a:off x="381000" y="6286500"/>
            <a:ext cx="11430000" cy="307777"/>
          </a:xfrm>
          <a:prstGeom prst="rect">
            <a:avLst/>
          </a:prstGeom>
          <a:noFill/>
        </p:spPr>
        <p:txBody>
          <a:bodyPr vert="horz" rtlCol="0">
            <a:spAutoFit/>
          </a:bodyPr>
          <a:lstStyle/>
          <a:p>
            <a:r>
              <a:rPr lang="en-US" altLang="zh-CN" sz="1400">
                <a:solidFill>
                  <a:srgbClr val="555555"/>
                </a:solidFill>
                <a:latin typeface="Arial" panose="020B0604020202020204" pitchFamily="34" charset="0"/>
              </a:rPr>
              <a:t>Cambridge AS Economics 9708 Paper 1 - difficult MCQ review</a:t>
            </a:r>
            <a:endParaRPr lang="zh-CN" altLang="en-US" sz="1400">
              <a:solidFill>
                <a:srgbClr val="555555"/>
              </a:solidFill>
              <a:latin typeface="Arial" panose="020B0604020202020204" pitchFamily="34" charset="0"/>
            </a:endParaRPr>
          </a:p>
        </p:txBody>
      </p:sp>
    </p:spTree>
    <p:extLst>
      <p:ext uri="{BB962C8B-B14F-4D97-AF65-F5344CB8AC3E}">
        <p14:creationId xmlns:p14="http://schemas.microsoft.com/office/powerpoint/2010/main" val="165289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6CCBCD42-B5C3-4665-A4F8-51DB5997F2A1}"/>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31: Why AD Slopes Downward / 总需求曲线为何向下倾斜</a:t>
            </a:r>
          </a:p>
        </p:txBody>
      </p:sp>
      <p:sp>
        <p:nvSpPr>
          <p:cNvPr id="2" name="part_label">
            <a:extLst>
              <a:ext uri="{FF2B5EF4-FFF2-40B4-BE49-F238E27FC236}">
                <a16:creationId xmlns:a16="http://schemas.microsoft.com/office/drawing/2014/main" id="{22E96CF5-1525-41B3-AD01-973A1123AF1E}"/>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4 | Q31-40</a:t>
            </a:r>
          </a:p>
        </p:txBody>
      </p:sp>
      <p:sp>
        <p:nvSpPr>
          <p:cNvPr id="3" name="metadata">
            <a:extLst>
              <a:ext uri="{FF2B5EF4-FFF2-40B4-BE49-F238E27FC236}">
                <a16:creationId xmlns:a16="http://schemas.microsoft.com/office/drawing/2014/main" id="{520FABF4-10AE-4D36-9281-89B18B0FE1AC}"/>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9708_s25_12 Q18 | Correct: &lt;30%</a:t>
            </a:r>
          </a:p>
        </p:txBody>
      </p:sp>
      <p:sp>
        <p:nvSpPr>
          <p:cNvPr id="4" name="Rectangle 3">
            <a:extLst>
              <a:ext uri="{FF2B5EF4-FFF2-40B4-BE49-F238E27FC236}">
                <a16:creationId xmlns:a16="http://schemas.microsoft.com/office/drawing/2014/main" id="{34704238-A994-43FF-BB31-04685B91CF02}"/>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4430" y="1085850"/>
            <a:ext cx="10663140" cy="3533775"/>
          </a:xfrm>
          <a:prstGeom prst="rect">
            <a:avLst/>
          </a:prstGeom>
        </p:spPr>
      </p:pic>
      <p:sp>
        <p:nvSpPr>
          <p:cNvPr id="6" name="Rectangle 5">
            <a:extLst>
              <a:ext uri="{FF2B5EF4-FFF2-40B4-BE49-F238E27FC236}">
                <a16:creationId xmlns:a16="http://schemas.microsoft.com/office/drawing/2014/main" id="{68B7985C-211B-4EE4-97DA-D41427E54DC9}"/>
              </a:ext>
            </a:extLst>
          </p:cNvPr>
          <p:cNvSpPr>
            <a:spLocks noGrp="1"/>
          </p:cNvSpPr>
          <p:nvPr/>
        </p:nvSpPr>
        <p:spPr>
          <a:xfrm>
            <a:off x="381000" y="4733925"/>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A5E6B73C-1D7D-42A3-BB46-5639AA663C49}"/>
              </a:ext>
            </a:extLst>
          </p:cNvPr>
          <p:cNvSpPr>
            <a:spLocks noGrp="1"/>
          </p:cNvSpPr>
          <p:nvPr/>
        </p:nvSpPr>
        <p:spPr>
          <a:xfrm>
            <a:off x="381000" y="4848225"/>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E0E0768F-B315-4C75-A46C-19EDAE5228AF}"/>
              </a:ext>
            </a:extLst>
          </p:cNvPr>
          <p:cNvSpPr>
            <a:spLocks noGrp="1"/>
          </p:cNvSpPr>
          <p:nvPr/>
        </p:nvSpPr>
        <p:spPr>
          <a:xfrm>
            <a:off x="381000" y="5324475"/>
            <a:ext cx="5524500" cy="12858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 Wealth effect: a lower price level raises the real value of assets, increasing spending and AD.</a:t>
            </a:r>
          </a:p>
        </p:txBody>
      </p:sp>
      <p:sp>
        <p:nvSpPr>
          <p:cNvPr id="9" name="chinese_explanation">
            <a:extLst>
              <a:ext uri="{FF2B5EF4-FFF2-40B4-BE49-F238E27FC236}">
                <a16:creationId xmlns:a16="http://schemas.microsoft.com/office/drawing/2014/main" id="{EF253A5B-F39D-4869-8D04-39FC62D05EB4}"/>
              </a:ext>
            </a:extLst>
          </p:cNvPr>
          <p:cNvSpPr>
            <a:spLocks noGrp="1"/>
          </p:cNvSpPr>
          <p:nvPr/>
        </p:nvSpPr>
        <p:spPr>
          <a:xfrm>
            <a:off x="6286500" y="5324475"/>
            <a:ext cx="5524500" cy="12858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D：财富效应：价格下降提高资产实际价值，促进消费，总需求增加。</a:t>
            </a:r>
          </a:p>
        </p:txBody>
      </p:sp>
    </p:spTree>
    <p:extLst>
      <p:ext uri="{BB962C8B-B14F-4D97-AF65-F5344CB8AC3E}">
        <p14:creationId xmlns:p14="http://schemas.microsoft.com/office/powerpoint/2010/main" val="1782478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A1A95AFC-C603-4CD4-94B1-95C692E50835}"/>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32: Tax-Free Allowance and Progressivity / 免税额与累进税</a:t>
            </a:r>
          </a:p>
        </p:txBody>
      </p:sp>
      <p:sp>
        <p:nvSpPr>
          <p:cNvPr id="2" name="part_label">
            <a:extLst>
              <a:ext uri="{FF2B5EF4-FFF2-40B4-BE49-F238E27FC236}">
                <a16:creationId xmlns:a16="http://schemas.microsoft.com/office/drawing/2014/main" id="{441DCBAE-3BD9-4F8B-99F2-9D3E86B06C1A}"/>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4 | Q31-40</a:t>
            </a:r>
          </a:p>
        </p:txBody>
      </p:sp>
      <p:sp>
        <p:nvSpPr>
          <p:cNvPr id="3" name="metadata">
            <a:extLst>
              <a:ext uri="{FF2B5EF4-FFF2-40B4-BE49-F238E27FC236}">
                <a16:creationId xmlns:a16="http://schemas.microsoft.com/office/drawing/2014/main" id="{FAE00D59-D4A1-4135-B364-897C0776DD91}"/>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9708_s25_12 Q23 | Correct: &lt;30%</a:t>
            </a:r>
          </a:p>
        </p:txBody>
      </p:sp>
      <p:sp>
        <p:nvSpPr>
          <p:cNvPr id="4" name="Rectangle 3">
            <a:extLst>
              <a:ext uri="{FF2B5EF4-FFF2-40B4-BE49-F238E27FC236}">
                <a16:creationId xmlns:a16="http://schemas.microsoft.com/office/drawing/2014/main" id="{A6BEF9EF-3CE4-4426-9737-9A441F814E3E}"/>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1066800" y="1086109"/>
            <a:ext cx="10067925" cy="3618982"/>
          </a:xfrm>
          <a:prstGeom prst="rect">
            <a:avLst/>
          </a:prstGeom>
        </p:spPr>
      </p:pic>
      <p:sp>
        <p:nvSpPr>
          <p:cNvPr id="6" name="Rectangle 5">
            <a:extLst>
              <a:ext uri="{FF2B5EF4-FFF2-40B4-BE49-F238E27FC236}">
                <a16:creationId xmlns:a16="http://schemas.microsoft.com/office/drawing/2014/main" id="{6E123495-71DC-4E54-952E-1F51E6BB8251}"/>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E28D0BF6-42A1-4B7A-B3B5-73225ED2C2F8}"/>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B</a:t>
            </a:r>
          </a:p>
        </p:txBody>
      </p:sp>
      <p:sp>
        <p:nvSpPr>
          <p:cNvPr id="8" name="english_explanation">
            <a:extLst>
              <a:ext uri="{FF2B5EF4-FFF2-40B4-BE49-F238E27FC236}">
                <a16:creationId xmlns:a16="http://schemas.microsoft.com/office/drawing/2014/main" id="{F5E954E5-0BB3-438D-B41A-EC5A5770B4F0}"/>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 A tax-free allowance gives low earners a lower average tax rate; average tax rises with income, so it is progressive.</a:t>
            </a:r>
          </a:p>
        </p:txBody>
      </p:sp>
      <p:sp>
        <p:nvSpPr>
          <p:cNvPr id="9" name="chinese_explanation">
            <a:extLst>
              <a:ext uri="{FF2B5EF4-FFF2-40B4-BE49-F238E27FC236}">
                <a16:creationId xmlns:a16="http://schemas.microsoft.com/office/drawing/2014/main" id="{2EDDD081-0688-4784-A1A5-094C59469F48}"/>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B：免税额使低收入者平均税率低，收入上升平均税率升，所以是累进税。</a:t>
            </a:r>
          </a:p>
        </p:txBody>
      </p:sp>
    </p:spTree>
    <p:extLst>
      <p:ext uri="{BB962C8B-B14F-4D97-AF65-F5344CB8AC3E}">
        <p14:creationId xmlns:p14="http://schemas.microsoft.com/office/powerpoint/2010/main" val="1489477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20A57126-2CAC-4F0C-ABE3-5723EC6CE65D}"/>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33: Free Markets and Market Failure / 自由市场与市场失灵</a:t>
            </a:r>
          </a:p>
        </p:txBody>
      </p:sp>
      <p:sp>
        <p:nvSpPr>
          <p:cNvPr id="2" name="part_label">
            <a:extLst>
              <a:ext uri="{FF2B5EF4-FFF2-40B4-BE49-F238E27FC236}">
                <a16:creationId xmlns:a16="http://schemas.microsoft.com/office/drawing/2014/main" id="{8BC0EAF5-457C-41DD-8850-D669A1681F1B}"/>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4 | Q31-40</a:t>
            </a:r>
          </a:p>
        </p:txBody>
      </p:sp>
      <p:sp>
        <p:nvSpPr>
          <p:cNvPr id="3" name="metadata">
            <a:extLst>
              <a:ext uri="{FF2B5EF4-FFF2-40B4-BE49-F238E27FC236}">
                <a16:creationId xmlns:a16="http://schemas.microsoft.com/office/drawing/2014/main" id="{7FF55325-2163-423B-82A6-47A1848FFF71}"/>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9708_s25_14 Q3 | Correct: &lt;30%</a:t>
            </a:r>
          </a:p>
        </p:txBody>
      </p:sp>
      <p:sp>
        <p:nvSpPr>
          <p:cNvPr id="4" name="Rectangle 3">
            <a:extLst>
              <a:ext uri="{FF2B5EF4-FFF2-40B4-BE49-F238E27FC236}">
                <a16:creationId xmlns:a16="http://schemas.microsoft.com/office/drawing/2014/main" id="{90EACFD3-034D-45B2-9AC7-884E818D8F62}"/>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1315377" y="1085850"/>
            <a:ext cx="9561246" cy="3619500"/>
          </a:xfrm>
          <a:prstGeom prst="rect">
            <a:avLst/>
          </a:prstGeom>
        </p:spPr>
      </p:pic>
      <p:sp>
        <p:nvSpPr>
          <p:cNvPr id="6" name="Rectangle 5">
            <a:extLst>
              <a:ext uri="{FF2B5EF4-FFF2-40B4-BE49-F238E27FC236}">
                <a16:creationId xmlns:a16="http://schemas.microsoft.com/office/drawing/2014/main" id="{E6C67EB5-B7C6-481A-8DC6-8193BEFC2F24}"/>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5D18520C-E109-4CC5-B5FD-E49BA7711258}"/>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8188A3B8-224A-479D-8383-0CD118136720}"/>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 Free markets allocate efficiently when no public, merit, or demerit goods cause market failure.</a:t>
            </a:r>
          </a:p>
        </p:txBody>
      </p:sp>
      <p:sp>
        <p:nvSpPr>
          <p:cNvPr id="9" name="chinese_explanation">
            <a:extLst>
              <a:ext uri="{FF2B5EF4-FFF2-40B4-BE49-F238E27FC236}">
                <a16:creationId xmlns:a16="http://schemas.microsoft.com/office/drawing/2014/main" id="{422B61A9-02BE-452F-A2FF-068CFA155378}"/>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D：自由市场在不存在公共物品、优效品或有害品导致市场失灵时最有效配置资源。</a:t>
            </a:r>
          </a:p>
        </p:txBody>
      </p:sp>
    </p:spTree>
    <p:extLst>
      <p:ext uri="{BB962C8B-B14F-4D97-AF65-F5344CB8AC3E}">
        <p14:creationId xmlns:p14="http://schemas.microsoft.com/office/powerpoint/2010/main" val="779551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665F6883-7EB7-48B8-9651-DADE39CFB3F0}"/>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34: Injections vs Withdrawals / 注入与漏出</a:t>
            </a:r>
          </a:p>
        </p:txBody>
      </p:sp>
      <p:sp>
        <p:nvSpPr>
          <p:cNvPr id="2" name="part_label">
            <a:extLst>
              <a:ext uri="{FF2B5EF4-FFF2-40B4-BE49-F238E27FC236}">
                <a16:creationId xmlns:a16="http://schemas.microsoft.com/office/drawing/2014/main" id="{DD7B39F0-4B67-478E-BE45-893E574105FC}"/>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4 | Q31-40</a:t>
            </a:r>
          </a:p>
        </p:txBody>
      </p:sp>
      <p:sp>
        <p:nvSpPr>
          <p:cNvPr id="3" name="metadata">
            <a:extLst>
              <a:ext uri="{FF2B5EF4-FFF2-40B4-BE49-F238E27FC236}">
                <a16:creationId xmlns:a16="http://schemas.microsoft.com/office/drawing/2014/main" id="{4E64CAB5-F91B-4AAF-B55F-9D756380762F}"/>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9708_w23_11 Q24 | Correct: 30%</a:t>
            </a:r>
          </a:p>
        </p:txBody>
      </p:sp>
      <p:sp>
        <p:nvSpPr>
          <p:cNvPr id="4" name="Rectangle 3">
            <a:extLst>
              <a:ext uri="{FF2B5EF4-FFF2-40B4-BE49-F238E27FC236}">
                <a16:creationId xmlns:a16="http://schemas.microsoft.com/office/drawing/2014/main" id="{F398766F-8FBB-403F-9721-BB1D6A8EA185}"/>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2000" y="1087800"/>
            <a:ext cx="10668000" cy="3520351"/>
          </a:xfrm>
          <a:prstGeom prst="rect">
            <a:avLst/>
          </a:prstGeom>
        </p:spPr>
      </p:pic>
      <p:sp>
        <p:nvSpPr>
          <p:cNvPr id="6" name="Rectangle 5">
            <a:extLst>
              <a:ext uri="{FF2B5EF4-FFF2-40B4-BE49-F238E27FC236}">
                <a16:creationId xmlns:a16="http://schemas.microsoft.com/office/drawing/2014/main" id="{CBB6B8FB-DA77-47BE-A7F1-E06C03CA0507}"/>
              </a:ext>
            </a:extLst>
          </p:cNvPr>
          <p:cNvSpPr>
            <a:spLocks noGrp="1"/>
          </p:cNvSpPr>
          <p:nvPr/>
        </p:nvSpPr>
        <p:spPr>
          <a:xfrm>
            <a:off x="381000" y="472440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CF742919-FA22-4422-85CE-9E818E4177F7}"/>
              </a:ext>
            </a:extLst>
          </p:cNvPr>
          <p:cNvSpPr>
            <a:spLocks noGrp="1"/>
          </p:cNvSpPr>
          <p:nvPr/>
        </p:nvSpPr>
        <p:spPr>
          <a:xfrm>
            <a:off x="381000" y="483870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B</a:t>
            </a:r>
          </a:p>
        </p:txBody>
      </p:sp>
      <p:sp>
        <p:nvSpPr>
          <p:cNvPr id="8" name="english_explanation">
            <a:extLst>
              <a:ext uri="{FF2B5EF4-FFF2-40B4-BE49-F238E27FC236}">
                <a16:creationId xmlns:a16="http://schemas.microsoft.com/office/drawing/2014/main" id="{15B55E6A-9152-43C4-886E-873A64502C02}"/>
              </a:ext>
            </a:extLst>
          </p:cNvPr>
          <p:cNvSpPr>
            <a:spLocks noGrp="1"/>
          </p:cNvSpPr>
          <p:nvPr/>
        </p:nvSpPr>
        <p:spPr>
          <a:xfrm>
            <a:off x="381000" y="5314950"/>
            <a:ext cx="5524500" cy="1295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 Investment is an injection, saving is a withdrawal. Higher investment and lower saving create the largest disequilibrium.</a:t>
            </a:r>
          </a:p>
        </p:txBody>
      </p:sp>
      <p:sp>
        <p:nvSpPr>
          <p:cNvPr id="9" name="chinese_explanation">
            <a:extLst>
              <a:ext uri="{FF2B5EF4-FFF2-40B4-BE49-F238E27FC236}">
                <a16:creationId xmlns:a16="http://schemas.microsoft.com/office/drawing/2014/main" id="{E5A82455-37F0-48EC-8D19-711B78C6DB18}"/>
              </a:ext>
            </a:extLst>
          </p:cNvPr>
          <p:cNvSpPr>
            <a:spLocks noGrp="1"/>
          </p:cNvSpPr>
          <p:nvPr/>
        </p:nvSpPr>
        <p:spPr>
          <a:xfrm>
            <a:off x="6286500" y="5314950"/>
            <a:ext cx="5524500" cy="1295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B：投资为注入，储蓄为漏出；投资增加、储蓄减少造成最大失衡。</a:t>
            </a:r>
          </a:p>
        </p:txBody>
      </p:sp>
    </p:spTree>
    <p:extLst>
      <p:ext uri="{BB962C8B-B14F-4D97-AF65-F5344CB8AC3E}">
        <p14:creationId xmlns:p14="http://schemas.microsoft.com/office/powerpoint/2010/main" val="81172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B4B0954D-1246-45A8-B2B8-A8F3D0BA2A28}"/>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35: Elastic Supply &amp; Labour / 弹性供给与劳动力</a:t>
            </a:r>
          </a:p>
        </p:txBody>
      </p:sp>
      <p:sp>
        <p:nvSpPr>
          <p:cNvPr id="2" name="part_label">
            <a:extLst>
              <a:ext uri="{FF2B5EF4-FFF2-40B4-BE49-F238E27FC236}">
                <a16:creationId xmlns:a16="http://schemas.microsoft.com/office/drawing/2014/main" id="{3D95559F-2C15-47AF-81F7-676B046F026A}"/>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4 | Q31-40</a:t>
            </a:r>
          </a:p>
        </p:txBody>
      </p:sp>
      <p:sp>
        <p:nvSpPr>
          <p:cNvPr id="3" name="metadata">
            <a:extLst>
              <a:ext uri="{FF2B5EF4-FFF2-40B4-BE49-F238E27FC236}">
                <a16:creationId xmlns:a16="http://schemas.microsoft.com/office/drawing/2014/main" id="{8D12332D-BCF6-4ED4-BBB5-A7C3B13A4722}"/>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9708_w24_12 Q7 | Correct: &lt;=30%</a:t>
            </a:r>
          </a:p>
        </p:txBody>
      </p:sp>
      <p:sp>
        <p:nvSpPr>
          <p:cNvPr id="4" name="Rectangle 3">
            <a:extLst>
              <a:ext uri="{FF2B5EF4-FFF2-40B4-BE49-F238E27FC236}">
                <a16:creationId xmlns:a16="http://schemas.microsoft.com/office/drawing/2014/main" id="{5D518BA0-F9C9-45D2-97D3-CF01D37AB192}"/>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1763165" y="1085850"/>
            <a:ext cx="8675194" cy="3619500"/>
          </a:xfrm>
          <a:prstGeom prst="rect">
            <a:avLst/>
          </a:prstGeom>
        </p:spPr>
      </p:pic>
      <p:sp>
        <p:nvSpPr>
          <p:cNvPr id="6" name="Rectangle 5">
            <a:extLst>
              <a:ext uri="{FF2B5EF4-FFF2-40B4-BE49-F238E27FC236}">
                <a16:creationId xmlns:a16="http://schemas.microsoft.com/office/drawing/2014/main" id="{264B2791-B60D-4BBE-8619-98AF8B164A56}"/>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4EA84E8F-A983-4EC2-81DA-CC100179EBB0}"/>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0DF85C5F-45AB-4783-81E1-DBB1A2DA716F}"/>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Unskilled labour and high unemployment let a labour-intensive firm hire extra workers quickly when price rises.</a:t>
            </a:r>
          </a:p>
        </p:txBody>
      </p:sp>
      <p:sp>
        <p:nvSpPr>
          <p:cNvPr id="9" name="chinese_explanation">
            <a:extLst>
              <a:ext uri="{FF2B5EF4-FFF2-40B4-BE49-F238E27FC236}">
                <a16:creationId xmlns:a16="http://schemas.microsoft.com/office/drawing/2014/main" id="{D330636A-43E4-49E8-BD7F-EDF689ED2310}"/>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C：非熟练劳动力和高失业率使劳动密集型企业在价格上涨时快速增加工人和产量。</a:t>
            </a:r>
          </a:p>
        </p:txBody>
      </p:sp>
    </p:spTree>
    <p:extLst>
      <p:ext uri="{BB962C8B-B14F-4D97-AF65-F5344CB8AC3E}">
        <p14:creationId xmlns:p14="http://schemas.microsoft.com/office/powerpoint/2010/main" val="633571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6FF3664B-3093-4E05-868F-D7A4C20D4371}"/>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36: Tax Revenue with Elastic Supply / 弹性供给下的税收收入</a:t>
            </a:r>
          </a:p>
        </p:txBody>
      </p:sp>
      <p:sp>
        <p:nvSpPr>
          <p:cNvPr id="2" name="part_label">
            <a:extLst>
              <a:ext uri="{FF2B5EF4-FFF2-40B4-BE49-F238E27FC236}">
                <a16:creationId xmlns:a16="http://schemas.microsoft.com/office/drawing/2014/main" id="{864C7050-CC2A-46C7-8F6A-41F0FC44A046}"/>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4 | Q31-40</a:t>
            </a:r>
          </a:p>
        </p:txBody>
      </p:sp>
      <p:sp>
        <p:nvSpPr>
          <p:cNvPr id="3" name="metadata">
            <a:extLst>
              <a:ext uri="{FF2B5EF4-FFF2-40B4-BE49-F238E27FC236}">
                <a16:creationId xmlns:a16="http://schemas.microsoft.com/office/drawing/2014/main" id="{F2691B01-50B5-40BE-9973-5174B5269989}"/>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9708_w24_12 Q14 | Correct: &lt;=30%</a:t>
            </a:r>
          </a:p>
        </p:txBody>
      </p:sp>
      <p:sp>
        <p:nvSpPr>
          <p:cNvPr id="4" name="Rectangle 3">
            <a:extLst>
              <a:ext uri="{FF2B5EF4-FFF2-40B4-BE49-F238E27FC236}">
                <a16:creationId xmlns:a16="http://schemas.microsoft.com/office/drawing/2014/main" id="{E436D076-71FB-4108-A8AF-7382BE3B811C}"/>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2000" y="1087896"/>
            <a:ext cx="10668000" cy="2434309"/>
          </a:xfrm>
          <a:prstGeom prst="rect">
            <a:avLst/>
          </a:prstGeom>
        </p:spPr>
      </p:pic>
      <p:sp>
        <p:nvSpPr>
          <p:cNvPr id="6" name="Rectangle 5">
            <a:extLst>
              <a:ext uri="{FF2B5EF4-FFF2-40B4-BE49-F238E27FC236}">
                <a16:creationId xmlns:a16="http://schemas.microsoft.com/office/drawing/2014/main" id="{47675F76-AE6D-4292-ACFB-F96026211E5E}"/>
              </a:ext>
            </a:extLst>
          </p:cNvPr>
          <p:cNvSpPr>
            <a:spLocks noGrp="1"/>
          </p:cNvSpPr>
          <p:nvPr/>
        </p:nvSpPr>
        <p:spPr>
          <a:xfrm>
            <a:off x="381000" y="36385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16DCE3AE-0E65-45E6-B363-8B1E48B39B33}"/>
              </a:ext>
            </a:extLst>
          </p:cNvPr>
          <p:cNvSpPr>
            <a:spLocks noGrp="1"/>
          </p:cNvSpPr>
          <p:nvPr/>
        </p:nvSpPr>
        <p:spPr>
          <a:xfrm>
            <a:off x="381000" y="37528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B</a:t>
            </a:r>
          </a:p>
        </p:txBody>
      </p:sp>
      <p:sp>
        <p:nvSpPr>
          <p:cNvPr id="8" name="english_explanation">
            <a:extLst>
              <a:ext uri="{FF2B5EF4-FFF2-40B4-BE49-F238E27FC236}">
                <a16:creationId xmlns:a16="http://schemas.microsoft.com/office/drawing/2014/main" id="{29B2A5FF-2190-4CE5-B7A4-0FE44184F8F0}"/>
              </a:ext>
            </a:extLst>
          </p:cNvPr>
          <p:cNvSpPr>
            <a:spLocks noGrp="1"/>
          </p:cNvSpPr>
          <p:nvPr/>
        </p:nvSpPr>
        <p:spPr>
          <a:xfrm>
            <a:off x="381000" y="4229100"/>
            <a:ext cx="5524500" cy="2381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 Tax is $0.10 per unit; demand falls to 850 units, so tax revenue is $85.</a:t>
            </a:r>
          </a:p>
        </p:txBody>
      </p:sp>
      <p:sp>
        <p:nvSpPr>
          <p:cNvPr id="9" name="chinese_explanation">
            <a:extLst>
              <a:ext uri="{FF2B5EF4-FFF2-40B4-BE49-F238E27FC236}">
                <a16:creationId xmlns:a16="http://schemas.microsoft.com/office/drawing/2014/main" id="{C1B358DC-A8AB-4B31-ABD9-BE86FBD86455}"/>
              </a:ext>
            </a:extLst>
          </p:cNvPr>
          <p:cNvSpPr>
            <a:spLocks noGrp="1"/>
          </p:cNvSpPr>
          <p:nvPr/>
        </p:nvSpPr>
        <p:spPr>
          <a:xfrm>
            <a:off x="6286500" y="4229100"/>
            <a:ext cx="5524500" cy="2381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B：税额0.10美元/单位，需求降至850，所以税收收入为85美元。</a:t>
            </a:r>
          </a:p>
        </p:txBody>
      </p:sp>
    </p:spTree>
    <p:extLst>
      <p:ext uri="{BB962C8B-B14F-4D97-AF65-F5344CB8AC3E}">
        <p14:creationId xmlns:p14="http://schemas.microsoft.com/office/powerpoint/2010/main" val="142505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F6E9D646-6E6A-473D-B599-21DA20B5556B}"/>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37: Supply-Side Policy Effects / 供给侧政策影响</a:t>
            </a:r>
          </a:p>
        </p:txBody>
      </p:sp>
      <p:sp>
        <p:nvSpPr>
          <p:cNvPr id="2" name="part_label">
            <a:extLst>
              <a:ext uri="{FF2B5EF4-FFF2-40B4-BE49-F238E27FC236}">
                <a16:creationId xmlns:a16="http://schemas.microsoft.com/office/drawing/2014/main" id="{8D6462E0-4AB4-4889-92C1-98079BAB10AF}"/>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4 | Q31-40</a:t>
            </a:r>
          </a:p>
        </p:txBody>
      </p:sp>
      <p:sp>
        <p:nvSpPr>
          <p:cNvPr id="3" name="metadata">
            <a:extLst>
              <a:ext uri="{FF2B5EF4-FFF2-40B4-BE49-F238E27FC236}">
                <a16:creationId xmlns:a16="http://schemas.microsoft.com/office/drawing/2014/main" id="{AED6560B-24B3-41D9-8123-CAACC28F55F9}"/>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9708_w24_12 Q21 | Correct: &lt;=30%</a:t>
            </a:r>
          </a:p>
        </p:txBody>
      </p:sp>
      <p:sp>
        <p:nvSpPr>
          <p:cNvPr id="4" name="Rectangle 3">
            <a:extLst>
              <a:ext uri="{FF2B5EF4-FFF2-40B4-BE49-F238E27FC236}">
                <a16:creationId xmlns:a16="http://schemas.microsoft.com/office/drawing/2014/main" id="{F4517827-F7C6-4105-8D16-76BD3B63BEF9}"/>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2000" y="1087976"/>
            <a:ext cx="10668000" cy="3339024"/>
          </a:xfrm>
          <a:prstGeom prst="rect">
            <a:avLst/>
          </a:prstGeom>
        </p:spPr>
      </p:pic>
      <p:sp>
        <p:nvSpPr>
          <p:cNvPr id="6" name="Rectangle 5">
            <a:extLst>
              <a:ext uri="{FF2B5EF4-FFF2-40B4-BE49-F238E27FC236}">
                <a16:creationId xmlns:a16="http://schemas.microsoft.com/office/drawing/2014/main" id="{BA31483C-0EA1-4F88-986D-9C09912AF078}"/>
              </a:ext>
            </a:extLst>
          </p:cNvPr>
          <p:cNvSpPr>
            <a:spLocks noGrp="1"/>
          </p:cNvSpPr>
          <p:nvPr/>
        </p:nvSpPr>
        <p:spPr>
          <a:xfrm>
            <a:off x="381000" y="4543425"/>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B1FBC80C-331A-4A58-AE33-988394EEFD08}"/>
              </a:ext>
            </a:extLst>
          </p:cNvPr>
          <p:cNvSpPr>
            <a:spLocks noGrp="1"/>
          </p:cNvSpPr>
          <p:nvPr/>
        </p:nvSpPr>
        <p:spPr>
          <a:xfrm>
            <a:off x="381000" y="4657725"/>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3556C82B-9CCF-4030-A533-D157CE4EFDC3}"/>
              </a:ext>
            </a:extLst>
          </p:cNvPr>
          <p:cNvSpPr>
            <a:spLocks noGrp="1"/>
          </p:cNvSpPr>
          <p:nvPr/>
        </p:nvSpPr>
        <p:spPr>
          <a:xfrm>
            <a:off x="381000" y="5133975"/>
            <a:ext cx="5524500" cy="14763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Reducing import barriers raises imports short term, lowering AD, but improves efficiency and supply potential long term.</a:t>
            </a:r>
          </a:p>
        </p:txBody>
      </p:sp>
      <p:sp>
        <p:nvSpPr>
          <p:cNvPr id="9" name="chinese_explanation">
            <a:extLst>
              <a:ext uri="{FF2B5EF4-FFF2-40B4-BE49-F238E27FC236}">
                <a16:creationId xmlns:a16="http://schemas.microsoft.com/office/drawing/2014/main" id="{EAD80795-C0B3-4470-B336-4B9899F81CB5}"/>
              </a:ext>
            </a:extLst>
          </p:cNvPr>
          <p:cNvSpPr>
            <a:spLocks noGrp="1"/>
          </p:cNvSpPr>
          <p:nvPr/>
        </p:nvSpPr>
        <p:spPr>
          <a:xfrm>
            <a:off x="6286500" y="5133975"/>
            <a:ext cx="5524500" cy="14763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C：降低进口壁垒短期提高进口、减少总需求，长期提高效率和供给潜力。</a:t>
            </a:r>
          </a:p>
        </p:txBody>
      </p:sp>
    </p:spTree>
    <p:extLst>
      <p:ext uri="{BB962C8B-B14F-4D97-AF65-F5344CB8AC3E}">
        <p14:creationId xmlns:p14="http://schemas.microsoft.com/office/powerpoint/2010/main" val="120227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4EA7ADB2-D1DD-476C-967E-3BE702441808}"/>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38: Supply Schedule and Vertical Supply / 供给表与垂直供给</a:t>
            </a:r>
          </a:p>
        </p:txBody>
      </p:sp>
      <p:sp>
        <p:nvSpPr>
          <p:cNvPr id="2" name="part_label">
            <a:extLst>
              <a:ext uri="{FF2B5EF4-FFF2-40B4-BE49-F238E27FC236}">
                <a16:creationId xmlns:a16="http://schemas.microsoft.com/office/drawing/2014/main" id="{2343DB45-2DF4-4BA7-BA5E-8F2BBDC7B8B4}"/>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4 | Q31-40</a:t>
            </a:r>
          </a:p>
        </p:txBody>
      </p:sp>
      <p:sp>
        <p:nvSpPr>
          <p:cNvPr id="3" name="metadata">
            <a:extLst>
              <a:ext uri="{FF2B5EF4-FFF2-40B4-BE49-F238E27FC236}">
                <a16:creationId xmlns:a16="http://schemas.microsoft.com/office/drawing/2014/main" id="{CE9E7FCE-7F35-4B40-AA81-30F269E2E8F0}"/>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9708_s24_11 Q7 | Correct: 31%</a:t>
            </a:r>
          </a:p>
        </p:txBody>
      </p:sp>
      <p:sp>
        <p:nvSpPr>
          <p:cNvPr id="4" name="Rectangle 3">
            <a:extLst>
              <a:ext uri="{FF2B5EF4-FFF2-40B4-BE49-F238E27FC236}">
                <a16:creationId xmlns:a16="http://schemas.microsoft.com/office/drawing/2014/main" id="{CADFBF36-AA01-4FAC-8E8A-96C3CBA4C7F2}"/>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1459001" y="1085850"/>
            <a:ext cx="9273998" cy="3619500"/>
          </a:xfrm>
          <a:prstGeom prst="rect">
            <a:avLst/>
          </a:prstGeom>
        </p:spPr>
      </p:pic>
      <p:sp>
        <p:nvSpPr>
          <p:cNvPr id="6" name="Rectangle 5">
            <a:extLst>
              <a:ext uri="{FF2B5EF4-FFF2-40B4-BE49-F238E27FC236}">
                <a16:creationId xmlns:a16="http://schemas.microsoft.com/office/drawing/2014/main" id="{CC052CC1-C938-4CCF-AC9A-2D8660B0F95F}"/>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538879C0-50E8-40E7-AE0C-850BAE86283D}"/>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69559A81-911D-44C4-A1A5-2C148BA9D83F}"/>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 Firm D supplies 20 units at both prices, so its supply curve is vertical.</a:t>
            </a:r>
          </a:p>
        </p:txBody>
      </p:sp>
      <p:sp>
        <p:nvSpPr>
          <p:cNvPr id="9" name="chinese_explanation">
            <a:extLst>
              <a:ext uri="{FF2B5EF4-FFF2-40B4-BE49-F238E27FC236}">
                <a16:creationId xmlns:a16="http://schemas.microsoft.com/office/drawing/2014/main" id="{1FB84B4E-66ED-4F46-8481-C45647462F8F}"/>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D：D企业两个价格下供给均为20，所以供给曲线垂直。</a:t>
            </a:r>
          </a:p>
        </p:txBody>
      </p:sp>
    </p:spTree>
    <p:extLst>
      <p:ext uri="{BB962C8B-B14F-4D97-AF65-F5344CB8AC3E}">
        <p14:creationId xmlns:p14="http://schemas.microsoft.com/office/powerpoint/2010/main" val="1770541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CC750582-18F3-4C18-B604-6FF69E0641CD}"/>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39: Macroeconomic Trade-Offs / 宏观目标权衡</a:t>
            </a:r>
          </a:p>
        </p:txBody>
      </p:sp>
      <p:sp>
        <p:nvSpPr>
          <p:cNvPr id="2" name="part_label">
            <a:extLst>
              <a:ext uri="{FF2B5EF4-FFF2-40B4-BE49-F238E27FC236}">
                <a16:creationId xmlns:a16="http://schemas.microsoft.com/office/drawing/2014/main" id="{798DC4A4-8498-462B-9C1F-C535D92AD51C}"/>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4 | Q31-40</a:t>
            </a:r>
          </a:p>
        </p:txBody>
      </p:sp>
      <p:sp>
        <p:nvSpPr>
          <p:cNvPr id="3" name="metadata">
            <a:extLst>
              <a:ext uri="{FF2B5EF4-FFF2-40B4-BE49-F238E27FC236}">
                <a16:creationId xmlns:a16="http://schemas.microsoft.com/office/drawing/2014/main" id="{3A32ECDE-E96B-4B0B-A21F-6A5910296661}"/>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9708_s24_12 Q20 | Correct: 31%</a:t>
            </a:r>
          </a:p>
        </p:txBody>
      </p:sp>
      <p:sp>
        <p:nvSpPr>
          <p:cNvPr id="4" name="Rectangle 3">
            <a:extLst>
              <a:ext uri="{FF2B5EF4-FFF2-40B4-BE49-F238E27FC236}">
                <a16:creationId xmlns:a16="http://schemas.microsoft.com/office/drawing/2014/main" id="{695E9100-4084-4791-96B7-6146ADA60275}"/>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6797" y="1085850"/>
            <a:ext cx="10658406" cy="2933700"/>
          </a:xfrm>
          <a:prstGeom prst="rect">
            <a:avLst/>
          </a:prstGeom>
        </p:spPr>
      </p:pic>
      <p:sp>
        <p:nvSpPr>
          <p:cNvPr id="6" name="Rectangle 5">
            <a:extLst>
              <a:ext uri="{FF2B5EF4-FFF2-40B4-BE49-F238E27FC236}">
                <a16:creationId xmlns:a16="http://schemas.microsoft.com/office/drawing/2014/main" id="{26C50919-45F5-4EC9-8F8F-77248FF2CCE3}"/>
              </a:ext>
            </a:extLst>
          </p:cNvPr>
          <p:cNvSpPr>
            <a:spLocks noGrp="1"/>
          </p:cNvSpPr>
          <p:nvPr/>
        </p:nvSpPr>
        <p:spPr>
          <a:xfrm>
            <a:off x="381000" y="41338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3340B88D-368A-48E7-BE42-49B0B6A063D7}"/>
              </a:ext>
            </a:extLst>
          </p:cNvPr>
          <p:cNvSpPr>
            <a:spLocks noGrp="1"/>
          </p:cNvSpPr>
          <p:nvPr/>
        </p:nvSpPr>
        <p:spPr>
          <a:xfrm>
            <a:off x="381000" y="42481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10BEAD73-B576-4BBD-BEC3-12AFE6DF7577}"/>
              </a:ext>
            </a:extLst>
          </p:cNvPr>
          <p:cNvSpPr>
            <a:spLocks noGrp="1"/>
          </p:cNvSpPr>
          <p:nvPr/>
        </p:nvSpPr>
        <p:spPr>
          <a:xfrm>
            <a:off x="381000" y="4724400"/>
            <a:ext cx="5524500" cy="1885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Governments must choose between objectives such as growth, inflation, unemployment, and distribution.</a:t>
            </a:r>
          </a:p>
        </p:txBody>
      </p:sp>
      <p:sp>
        <p:nvSpPr>
          <p:cNvPr id="9" name="chinese_explanation">
            <a:extLst>
              <a:ext uri="{FF2B5EF4-FFF2-40B4-BE49-F238E27FC236}">
                <a16:creationId xmlns:a16="http://schemas.microsoft.com/office/drawing/2014/main" id="{2D192874-F4A0-4DDA-AD1A-3D8664B37571}"/>
              </a:ext>
            </a:extLst>
          </p:cNvPr>
          <p:cNvSpPr>
            <a:spLocks noGrp="1"/>
          </p:cNvSpPr>
          <p:nvPr/>
        </p:nvSpPr>
        <p:spPr>
          <a:xfrm>
            <a:off x="6286500" y="4724400"/>
            <a:ext cx="5524500" cy="1885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C：政府需在增长、通胀、失业和分配等目标之间取舍。</a:t>
            </a:r>
          </a:p>
        </p:txBody>
      </p:sp>
    </p:spTree>
    <p:extLst>
      <p:ext uri="{BB962C8B-B14F-4D97-AF65-F5344CB8AC3E}">
        <p14:creationId xmlns:p14="http://schemas.microsoft.com/office/powerpoint/2010/main" val="31658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9E1046E6-A231-44F2-BD54-22BFFD7527A7}"/>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40: Government Borrowing and Interest Rates / 政府借款与利率</a:t>
            </a:r>
          </a:p>
        </p:txBody>
      </p:sp>
      <p:sp>
        <p:nvSpPr>
          <p:cNvPr id="2" name="part_label">
            <a:extLst>
              <a:ext uri="{FF2B5EF4-FFF2-40B4-BE49-F238E27FC236}">
                <a16:creationId xmlns:a16="http://schemas.microsoft.com/office/drawing/2014/main" id="{C036D745-8F6E-4A9A-9DEA-5B844EA503AB}"/>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4 | Q31-40</a:t>
            </a:r>
          </a:p>
        </p:txBody>
      </p:sp>
      <p:sp>
        <p:nvSpPr>
          <p:cNvPr id="3" name="metadata">
            <a:extLst>
              <a:ext uri="{FF2B5EF4-FFF2-40B4-BE49-F238E27FC236}">
                <a16:creationId xmlns:a16="http://schemas.microsoft.com/office/drawing/2014/main" id="{5E6772F8-1418-4C7E-B606-BE3A4F3A7658}"/>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9708_w23_13 Q29 | Correct: 31%</a:t>
            </a:r>
          </a:p>
        </p:txBody>
      </p:sp>
      <p:sp>
        <p:nvSpPr>
          <p:cNvPr id="4" name="Rectangle 3">
            <a:extLst>
              <a:ext uri="{FF2B5EF4-FFF2-40B4-BE49-F238E27FC236}">
                <a16:creationId xmlns:a16="http://schemas.microsoft.com/office/drawing/2014/main" id="{4D4601D7-7133-4A6D-9E29-B00137DC3199}"/>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2950" y="1085850"/>
            <a:ext cx="10666100" cy="3219450"/>
          </a:xfrm>
          <a:prstGeom prst="rect">
            <a:avLst/>
          </a:prstGeom>
        </p:spPr>
      </p:pic>
      <p:sp>
        <p:nvSpPr>
          <p:cNvPr id="6" name="Rectangle 5">
            <a:extLst>
              <a:ext uri="{FF2B5EF4-FFF2-40B4-BE49-F238E27FC236}">
                <a16:creationId xmlns:a16="http://schemas.microsoft.com/office/drawing/2014/main" id="{AEA01B9F-E4F7-4201-97A8-3D96ADABC7FE}"/>
              </a:ext>
            </a:extLst>
          </p:cNvPr>
          <p:cNvSpPr>
            <a:spLocks noGrp="1"/>
          </p:cNvSpPr>
          <p:nvPr/>
        </p:nvSpPr>
        <p:spPr>
          <a:xfrm>
            <a:off x="381000" y="441960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7769A921-41EB-411F-B91B-6B6E3D493C8B}"/>
              </a:ext>
            </a:extLst>
          </p:cNvPr>
          <p:cNvSpPr>
            <a:spLocks noGrp="1"/>
          </p:cNvSpPr>
          <p:nvPr/>
        </p:nvSpPr>
        <p:spPr>
          <a:xfrm>
            <a:off x="381000" y="453390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06B09B49-702F-43C5-96B1-14A36F8FDBBF}"/>
              </a:ext>
            </a:extLst>
          </p:cNvPr>
          <p:cNvSpPr>
            <a:spLocks noGrp="1"/>
          </p:cNvSpPr>
          <p:nvPr/>
        </p:nvSpPr>
        <p:spPr>
          <a:xfrm>
            <a:off x="381000" y="5010150"/>
            <a:ext cx="5524500" cy="1600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 Higher government borrowing means more bonds, lower bond prices, and higher interest rates or yields.</a:t>
            </a:r>
          </a:p>
        </p:txBody>
      </p:sp>
      <p:sp>
        <p:nvSpPr>
          <p:cNvPr id="9" name="chinese_explanation">
            <a:extLst>
              <a:ext uri="{FF2B5EF4-FFF2-40B4-BE49-F238E27FC236}">
                <a16:creationId xmlns:a16="http://schemas.microsoft.com/office/drawing/2014/main" id="{333E8771-6FEA-409A-849A-3A61933FB7E2}"/>
              </a:ext>
            </a:extLst>
          </p:cNvPr>
          <p:cNvSpPr>
            <a:spLocks noGrp="1"/>
          </p:cNvSpPr>
          <p:nvPr/>
        </p:nvSpPr>
        <p:spPr>
          <a:xfrm>
            <a:off x="6286500" y="5010150"/>
            <a:ext cx="5524500" cy="16002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D：政府借款增加，发行更多债券，债券价格下降，利率或收益率上升。</a:t>
            </a:r>
          </a:p>
        </p:txBody>
      </p:sp>
    </p:spTree>
    <p:extLst>
      <p:ext uri="{BB962C8B-B14F-4D97-AF65-F5344CB8AC3E}">
        <p14:creationId xmlns:p14="http://schemas.microsoft.com/office/powerpoint/2010/main" val="200727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answer_key_title">
            <a:extLst>
              <a:ext uri="{FF2B5EF4-FFF2-40B4-BE49-F238E27FC236}">
                <a16:creationId xmlns:a16="http://schemas.microsoft.com/office/drawing/2014/main" id="{612496F6-2120-1CBC-B28E-636C70037202}"/>
              </a:ext>
            </a:extLst>
          </p:cNvPr>
          <p:cNvSpPr txBox="1"/>
          <p:nvPr/>
        </p:nvSpPr>
        <p:spPr>
          <a:xfrm>
            <a:off x="381000" y="355600"/>
            <a:ext cx="11430000" cy="523220"/>
          </a:xfrm>
          <a:prstGeom prst="rect">
            <a:avLst/>
          </a:prstGeom>
          <a:noFill/>
        </p:spPr>
        <p:txBody>
          <a:bodyPr vert="horz" rtlCol="0">
            <a:spAutoFit/>
          </a:bodyPr>
          <a:lstStyle/>
          <a:p>
            <a:r>
              <a:rPr lang="en-US" altLang="zh-CN" sz="2800" b="1">
                <a:solidFill>
                  <a:srgbClr val="000000"/>
                </a:solidFill>
                <a:latin typeface="Arial" panose="020B0604020202020204" pitchFamily="34" charset="0"/>
              </a:rPr>
              <a:t>Answer Key - Part 5: Questions 41-50</a:t>
            </a:r>
            <a:endParaRPr lang="zh-CN" altLang="en-US" sz="2800" b="1">
              <a:solidFill>
                <a:srgbClr val="000000"/>
              </a:solidFill>
              <a:latin typeface="Arial" panose="020B0604020202020204" pitchFamily="34" charset="0"/>
            </a:endParaRPr>
          </a:p>
        </p:txBody>
      </p:sp>
      <p:sp>
        <p:nvSpPr>
          <p:cNvPr id="3" name="answer_key_note">
            <a:extLst>
              <a:ext uri="{FF2B5EF4-FFF2-40B4-BE49-F238E27FC236}">
                <a16:creationId xmlns:a16="http://schemas.microsoft.com/office/drawing/2014/main" id="{6449C5C4-6444-8395-D83A-070C815F61B6}"/>
              </a:ext>
            </a:extLst>
          </p:cNvPr>
          <p:cNvSpPr txBox="1"/>
          <p:nvPr/>
        </p:nvSpPr>
        <p:spPr>
          <a:xfrm>
            <a:off x="381000" y="952500"/>
            <a:ext cx="11430000" cy="369332"/>
          </a:xfrm>
          <a:prstGeom prst="rect">
            <a:avLst/>
          </a:prstGeom>
          <a:noFill/>
        </p:spPr>
        <p:txBody>
          <a:bodyPr vert="horz" rtlCol="0">
            <a:spAutoFit/>
          </a:bodyPr>
          <a:lstStyle/>
          <a:p>
            <a:r>
              <a:rPr lang="en-US" altLang="zh-CN">
                <a:solidFill>
                  <a:srgbClr val="555555"/>
                </a:solidFill>
                <a:latin typeface="Arial" panose="020B0604020202020204" pitchFamily="34" charset="0"/>
              </a:rPr>
              <a:t>Use after students have attempted this set.</a:t>
            </a:r>
            <a:endParaRPr lang="zh-CN" altLang="en-US">
              <a:solidFill>
                <a:srgbClr val="555555"/>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7F161030-C981-74B7-2F91-4759FEAE3F4F}"/>
              </a:ext>
            </a:extLst>
          </p:cNvPr>
          <p:cNvCxnSpPr/>
          <p:nvPr/>
        </p:nvCxnSpPr>
        <p:spPr>
          <a:xfrm>
            <a:off x="381000" y="1422400"/>
            <a:ext cx="11430000" cy="0"/>
          </a:xfrm>
          <a:prstGeom prst="line">
            <a:avLst/>
          </a:prstGeom>
          <a:ln w="12700">
            <a:solidFill>
              <a:srgbClr val="AAAAAA"/>
            </a:solidFill>
          </a:ln>
        </p:spPr>
        <p:style>
          <a:lnRef idx="1">
            <a:schemeClr val="accent1"/>
          </a:lnRef>
          <a:fillRef idx="0">
            <a:schemeClr val="accent1"/>
          </a:fillRef>
          <a:effectRef idx="0">
            <a:schemeClr val="accent1"/>
          </a:effectRef>
          <a:fontRef idx="minor">
            <a:schemeClr val="tx1"/>
          </a:fontRef>
        </p:style>
      </p:cxnSp>
      <p:sp>
        <p:nvSpPr>
          <p:cNvPr id="5" name="answer_key_q41">
            <a:extLst>
              <a:ext uri="{FF2B5EF4-FFF2-40B4-BE49-F238E27FC236}">
                <a16:creationId xmlns:a16="http://schemas.microsoft.com/office/drawing/2014/main" id="{77002F07-E889-71B8-3125-A9546FF7B14B}"/>
              </a:ext>
            </a:extLst>
          </p:cNvPr>
          <p:cNvSpPr txBox="1"/>
          <p:nvPr/>
        </p:nvSpPr>
        <p:spPr>
          <a:xfrm>
            <a:off x="15240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Q41    C</a:t>
            </a:r>
            <a:endParaRPr lang="zh-CN" altLang="en-US" sz="3000" b="1">
              <a:solidFill>
                <a:srgbClr val="000000"/>
              </a:solidFill>
              <a:latin typeface="Arial" panose="020B0604020202020204" pitchFamily="34" charset="0"/>
            </a:endParaRPr>
          </a:p>
        </p:txBody>
      </p:sp>
      <p:sp>
        <p:nvSpPr>
          <p:cNvPr id="6" name="answer_key_q42">
            <a:extLst>
              <a:ext uri="{FF2B5EF4-FFF2-40B4-BE49-F238E27FC236}">
                <a16:creationId xmlns:a16="http://schemas.microsoft.com/office/drawing/2014/main" id="{0B2CD4DE-27D4-B2EB-E196-57E91208543A}"/>
              </a:ext>
            </a:extLst>
          </p:cNvPr>
          <p:cNvSpPr txBox="1"/>
          <p:nvPr/>
        </p:nvSpPr>
        <p:spPr>
          <a:xfrm>
            <a:off x="15240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Q42    C</a:t>
            </a:r>
            <a:endParaRPr lang="zh-CN" altLang="en-US" sz="3000" b="1">
              <a:solidFill>
                <a:srgbClr val="000000"/>
              </a:solidFill>
              <a:latin typeface="Arial" panose="020B0604020202020204" pitchFamily="34" charset="0"/>
            </a:endParaRPr>
          </a:p>
        </p:txBody>
      </p:sp>
      <p:sp>
        <p:nvSpPr>
          <p:cNvPr id="7" name="answer_key_q43">
            <a:extLst>
              <a:ext uri="{FF2B5EF4-FFF2-40B4-BE49-F238E27FC236}">
                <a16:creationId xmlns:a16="http://schemas.microsoft.com/office/drawing/2014/main" id="{2C12FBD5-4CF7-529C-8D80-E9792AD50124}"/>
              </a:ext>
            </a:extLst>
          </p:cNvPr>
          <p:cNvSpPr txBox="1"/>
          <p:nvPr/>
        </p:nvSpPr>
        <p:spPr>
          <a:xfrm>
            <a:off x="15240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Q43    D</a:t>
            </a:r>
            <a:endParaRPr lang="zh-CN" altLang="en-US" sz="3000" b="1">
              <a:solidFill>
                <a:srgbClr val="000000"/>
              </a:solidFill>
              <a:latin typeface="Arial" panose="020B0604020202020204" pitchFamily="34" charset="0"/>
            </a:endParaRPr>
          </a:p>
        </p:txBody>
      </p:sp>
      <p:sp>
        <p:nvSpPr>
          <p:cNvPr id="8" name="answer_key_q44">
            <a:extLst>
              <a:ext uri="{FF2B5EF4-FFF2-40B4-BE49-F238E27FC236}">
                <a16:creationId xmlns:a16="http://schemas.microsoft.com/office/drawing/2014/main" id="{1EE74EC1-1B66-35B1-7B6A-B15F90E63218}"/>
              </a:ext>
            </a:extLst>
          </p:cNvPr>
          <p:cNvSpPr txBox="1"/>
          <p:nvPr/>
        </p:nvSpPr>
        <p:spPr>
          <a:xfrm>
            <a:off x="15240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Q44    A</a:t>
            </a:r>
            <a:endParaRPr lang="zh-CN" altLang="en-US" sz="3000" b="1">
              <a:solidFill>
                <a:srgbClr val="000000"/>
              </a:solidFill>
              <a:latin typeface="Arial" panose="020B0604020202020204" pitchFamily="34" charset="0"/>
            </a:endParaRPr>
          </a:p>
        </p:txBody>
      </p:sp>
      <p:sp>
        <p:nvSpPr>
          <p:cNvPr id="9" name="answer_key_q45">
            <a:extLst>
              <a:ext uri="{FF2B5EF4-FFF2-40B4-BE49-F238E27FC236}">
                <a16:creationId xmlns:a16="http://schemas.microsoft.com/office/drawing/2014/main" id="{63F9B6A6-D4C6-2283-5AF1-E381D95B12BF}"/>
              </a:ext>
            </a:extLst>
          </p:cNvPr>
          <p:cNvSpPr txBox="1"/>
          <p:nvPr/>
        </p:nvSpPr>
        <p:spPr>
          <a:xfrm>
            <a:off x="15240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Q45    C</a:t>
            </a:r>
            <a:endParaRPr lang="zh-CN" altLang="en-US" sz="3000" b="1">
              <a:solidFill>
                <a:srgbClr val="000000"/>
              </a:solidFill>
              <a:latin typeface="Arial" panose="020B0604020202020204" pitchFamily="34" charset="0"/>
            </a:endParaRPr>
          </a:p>
        </p:txBody>
      </p:sp>
      <p:sp>
        <p:nvSpPr>
          <p:cNvPr id="10" name="answer_key_q46">
            <a:extLst>
              <a:ext uri="{FF2B5EF4-FFF2-40B4-BE49-F238E27FC236}">
                <a16:creationId xmlns:a16="http://schemas.microsoft.com/office/drawing/2014/main" id="{057FF000-FB1C-6697-2DC3-B6DE64964A97}"/>
              </a:ext>
            </a:extLst>
          </p:cNvPr>
          <p:cNvSpPr txBox="1"/>
          <p:nvPr/>
        </p:nvSpPr>
        <p:spPr>
          <a:xfrm>
            <a:off x="66675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Q46    A</a:t>
            </a:r>
            <a:endParaRPr lang="zh-CN" altLang="en-US" sz="3000" b="1">
              <a:solidFill>
                <a:srgbClr val="000000"/>
              </a:solidFill>
              <a:latin typeface="Arial" panose="020B0604020202020204" pitchFamily="34" charset="0"/>
            </a:endParaRPr>
          </a:p>
        </p:txBody>
      </p:sp>
      <p:sp>
        <p:nvSpPr>
          <p:cNvPr id="11" name="answer_key_q47">
            <a:extLst>
              <a:ext uri="{FF2B5EF4-FFF2-40B4-BE49-F238E27FC236}">
                <a16:creationId xmlns:a16="http://schemas.microsoft.com/office/drawing/2014/main" id="{4A5D0D83-6BAB-7CFF-36A4-4529935CFF97}"/>
              </a:ext>
            </a:extLst>
          </p:cNvPr>
          <p:cNvSpPr txBox="1"/>
          <p:nvPr/>
        </p:nvSpPr>
        <p:spPr>
          <a:xfrm>
            <a:off x="66675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Q47    D</a:t>
            </a:r>
            <a:endParaRPr lang="zh-CN" altLang="en-US" sz="3000" b="1">
              <a:solidFill>
                <a:srgbClr val="000000"/>
              </a:solidFill>
              <a:latin typeface="Arial" panose="020B0604020202020204" pitchFamily="34" charset="0"/>
            </a:endParaRPr>
          </a:p>
        </p:txBody>
      </p:sp>
      <p:sp>
        <p:nvSpPr>
          <p:cNvPr id="12" name="answer_key_q48">
            <a:extLst>
              <a:ext uri="{FF2B5EF4-FFF2-40B4-BE49-F238E27FC236}">
                <a16:creationId xmlns:a16="http://schemas.microsoft.com/office/drawing/2014/main" id="{68619F55-5873-ECE6-8C1E-7C60E2D6951A}"/>
              </a:ext>
            </a:extLst>
          </p:cNvPr>
          <p:cNvSpPr txBox="1"/>
          <p:nvPr/>
        </p:nvSpPr>
        <p:spPr>
          <a:xfrm>
            <a:off x="66675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Q48    B</a:t>
            </a:r>
            <a:endParaRPr lang="zh-CN" altLang="en-US" sz="3000" b="1">
              <a:solidFill>
                <a:srgbClr val="000000"/>
              </a:solidFill>
              <a:latin typeface="Arial" panose="020B0604020202020204" pitchFamily="34" charset="0"/>
            </a:endParaRPr>
          </a:p>
        </p:txBody>
      </p:sp>
      <p:sp>
        <p:nvSpPr>
          <p:cNvPr id="13" name="answer_key_q49">
            <a:extLst>
              <a:ext uri="{FF2B5EF4-FFF2-40B4-BE49-F238E27FC236}">
                <a16:creationId xmlns:a16="http://schemas.microsoft.com/office/drawing/2014/main" id="{6CF3F17C-13F8-B215-4D77-7E4F0CCC481C}"/>
              </a:ext>
            </a:extLst>
          </p:cNvPr>
          <p:cNvSpPr txBox="1"/>
          <p:nvPr/>
        </p:nvSpPr>
        <p:spPr>
          <a:xfrm>
            <a:off x="66675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Q49    D</a:t>
            </a:r>
            <a:endParaRPr lang="zh-CN" altLang="en-US" sz="3000" b="1">
              <a:solidFill>
                <a:srgbClr val="000000"/>
              </a:solidFill>
              <a:latin typeface="Arial" panose="020B0604020202020204" pitchFamily="34" charset="0"/>
            </a:endParaRPr>
          </a:p>
        </p:txBody>
      </p:sp>
      <p:sp>
        <p:nvSpPr>
          <p:cNvPr id="14" name="answer_key_q50">
            <a:extLst>
              <a:ext uri="{FF2B5EF4-FFF2-40B4-BE49-F238E27FC236}">
                <a16:creationId xmlns:a16="http://schemas.microsoft.com/office/drawing/2014/main" id="{7C604397-63C0-188D-9F4F-4298CFA459BF}"/>
              </a:ext>
            </a:extLst>
          </p:cNvPr>
          <p:cNvSpPr txBox="1"/>
          <p:nvPr/>
        </p:nvSpPr>
        <p:spPr>
          <a:xfrm>
            <a:off x="66675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Q50    C</a:t>
            </a:r>
            <a:endParaRPr lang="zh-CN" altLang="en-US" sz="3000" b="1">
              <a:solidFill>
                <a:srgbClr val="000000"/>
              </a:solidFill>
              <a:latin typeface="Arial" panose="020B0604020202020204" pitchFamily="34" charset="0"/>
            </a:endParaRPr>
          </a:p>
        </p:txBody>
      </p:sp>
      <p:sp>
        <p:nvSpPr>
          <p:cNvPr id="15" name="answer_key_footer">
            <a:extLst>
              <a:ext uri="{FF2B5EF4-FFF2-40B4-BE49-F238E27FC236}">
                <a16:creationId xmlns:a16="http://schemas.microsoft.com/office/drawing/2014/main" id="{5A14B658-0EFC-A795-77C7-47CAB28BE139}"/>
              </a:ext>
            </a:extLst>
          </p:cNvPr>
          <p:cNvSpPr txBox="1"/>
          <p:nvPr/>
        </p:nvSpPr>
        <p:spPr>
          <a:xfrm>
            <a:off x="381000" y="6286500"/>
            <a:ext cx="11430000" cy="307777"/>
          </a:xfrm>
          <a:prstGeom prst="rect">
            <a:avLst/>
          </a:prstGeom>
          <a:noFill/>
        </p:spPr>
        <p:txBody>
          <a:bodyPr vert="horz" rtlCol="0">
            <a:spAutoFit/>
          </a:bodyPr>
          <a:lstStyle/>
          <a:p>
            <a:r>
              <a:rPr lang="en-US" altLang="zh-CN" sz="1400">
                <a:solidFill>
                  <a:srgbClr val="555555"/>
                </a:solidFill>
                <a:latin typeface="Arial" panose="020B0604020202020204" pitchFamily="34" charset="0"/>
              </a:rPr>
              <a:t>Cambridge AS Economics 9708 Paper 1 - difficult MCQ review</a:t>
            </a:r>
            <a:endParaRPr lang="zh-CN" altLang="en-US" sz="1400">
              <a:solidFill>
                <a:srgbClr val="555555"/>
              </a:solidFill>
              <a:latin typeface="Arial" panose="020B0604020202020204" pitchFamily="34" charset="0"/>
            </a:endParaRPr>
          </a:p>
        </p:txBody>
      </p:sp>
    </p:spTree>
    <p:extLst>
      <p:ext uri="{BB962C8B-B14F-4D97-AF65-F5344CB8AC3E}">
        <p14:creationId xmlns:p14="http://schemas.microsoft.com/office/powerpoint/2010/main" val="17433161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E047FCDE-18B7-4B76-884A-6B9BE2C1F265}"/>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41: Comparative vs Absolute Advantage / 比较与绝对优势</a:t>
            </a:r>
          </a:p>
        </p:txBody>
      </p:sp>
      <p:sp>
        <p:nvSpPr>
          <p:cNvPr id="2" name="part_label">
            <a:extLst>
              <a:ext uri="{FF2B5EF4-FFF2-40B4-BE49-F238E27FC236}">
                <a16:creationId xmlns:a16="http://schemas.microsoft.com/office/drawing/2014/main" id="{6E11948F-397B-47EB-B8BF-A8983C5CF8FE}"/>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5 | Q41-50</a:t>
            </a:r>
          </a:p>
        </p:txBody>
      </p:sp>
      <p:sp>
        <p:nvSpPr>
          <p:cNvPr id="3" name="metadata">
            <a:extLst>
              <a:ext uri="{FF2B5EF4-FFF2-40B4-BE49-F238E27FC236}">
                <a16:creationId xmlns:a16="http://schemas.microsoft.com/office/drawing/2014/main" id="{BDCE36A3-0625-41EF-A782-EEDE0C98EEA2}"/>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9708_m24_12 Q24 | Correct: 32%</a:t>
            </a:r>
          </a:p>
        </p:txBody>
      </p:sp>
      <p:sp>
        <p:nvSpPr>
          <p:cNvPr id="4" name="Rectangle 3">
            <a:extLst>
              <a:ext uri="{FF2B5EF4-FFF2-40B4-BE49-F238E27FC236}">
                <a16:creationId xmlns:a16="http://schemas.microsoft.com/office/drawing/2014/main" id="{C1E05070-0D18-4881-85FD-5D8CD83991EA}"/>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2505075" y="1086784"/>
            <a:ext cx="7191375" cy="3617632"/>
          </a:xfrm>
          <a:prstGeom prst="rect">
            <a:avLst/>
          </a:prstGeom>
        </p:spPr>
      </p:pic>
      <p:sp>
        <p:nvSpPr>
          <p:cNvPr id="6" name="Rectangle 5">
            <a:extLst>
              <a:ext uri="{FF2B5EF4-FFF2-40B4-BE49-F238E27FC236}">
                <a16:creationId xmlns:a16="http://schemas.microsoft.com/office/drawing/2014/main" id="{D0F17E52-EADB-4CF1-8073-765B414E23B5}"/>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DC6527E1-58A3-4425-BEE2-8B3B5CFEEE57}"/>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A8F95E7A-B8B1-4FE8-A566-CD376A2F5454}"/>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Country Y is relatively less inefficient at wheat than cars, so it has comparative advantage in wheat.</a:t>
            </a:r>
          </a:p>
        </p:txBody>
      </p:sp>
      <p:sp>
        <p:nvSpPr>
          <p:cNvPr id="9" name="chinese_explanation">
            <a:extLst>
              <a:ext uri="{FF2B5EF4-FFF2-40B4-BE49-F238E27FC236}">
                <a16:creationId xmlns:a16="http://schemas.microsoft.com/office/drawing/2014/main" id="{D11E4729-28E1-4455-9F68-5A6247205D3A}"/>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C：Y国生产小麦相对不那么低效，所以在小麦上有比较优势。</a:t>
            </a:r>
          </a:p>
        </p:txBody>
      </p:sp>
    </p:spTree>
    <p:extLst>
      <p:ext uri="{BB962C8B-B14F-4D97-AF65-F5344CB8AC3E}">
        <p14:creationId xmlns:p14="http://schemas.microsoft.com/office/powerpoint/2010/main" val="641105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1FC74862-F49F-4ACE-94F4-0FB304280790}"/>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42: Excess Demand and Disequilibrium / 超额需求与失衡</a:t>
            </a:r>
          </a:p>
        </p:txBody>
      </p:sp>
      <p:sp>
        <p:nvSpPr>
          <p:cNvPr id="2" name="part_label">
            <a:extLst>
              <a:ext uri="{FF2B5EF4-FFF2-40B4-BE49-F238E27FC236}">
                <a16:creationId xmlns:a16="http://schemas.microsoft.com/office/drawing/2014/main" id="{72333F00-46E0-4BFC-BBD1-0219965955CD}"/>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5 | Q41-50</a:t>
            </a:r>
          </a:p>
        </p:txBody>
      </p:sp>
      <p:sp>
        <p:nvSpPr>
          <p:cNvPr id="3" name="metadata">
            <a:extLst>
              <a:ext uri="{FF2B5EF4-FFF2-40B4-BE49-F238E27FC236}">
                <a16:creationId xmlns:a16="http://schemas.microsoft.com/office/drawing/2014/main" id="{0F1A2089-B834-4820-8F30-59810FA29EED}"/>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9708_s23_11 Q13 | Correct: 32%</a:t>
            </a:r>
          </a:p>
        </p:txBody>
      </p:sp>
      <p:sp>
        <p:nvSpPr>
          <p:cNvPr id="4" name="Rectangle 3">
            <a:extLst>
              <a:ext uri="{FF2B5EF4-FFF2-40B4-BE49-F238E27FC236}">
                <a16:creationId xmlns:a16="http://schemas.microsoft.com/office/drawing/2014/main" id="{9319DAC5-5BBA-455D-84F8-0641B9BF3C23}"/>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1009834" y="1085850"/>
            <a:ext cx="10181858" cy="3619500"/>
          </a:xfrm>
          <a:prstGeom prst="rect">
            <a:avLst/>
          </a:prstGeom>
        </p:spPr>
      </p:pic>
      <p:sp>
        <p:nvSpPr>
          <p:cNvPr id="6" name="Rectangle 5">
            <a:extLst>
              <a:ext uri="{FF2B5EF4-FFF2-40B4-BE49-F238E27FC236}">
                <a16:creationId xmlns:a16="http://schemas.microsoft.com/office/drawing/2014/main" id="{693D2B36-68E7-406B-B576-E8D66D9E18C9}"/>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81E533CA-9A0B-47D3-B610-ED914A98A55B}"/>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5933FD20-BD25-4FED-9EE3-7D3A9E995135}"/>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Excess demand occurs when price is below equilibrium, so quantity demanded is greater than quantity supplied.</a:t>
            </a:r>
          </a:p>
        </p:txBody>
      </p:sp>
      <p:sp>
        <p:nvSpPr>
          <p:cNvPr id="9" name="chinese_explanation">
            <a:extLst>
              <a:ext uri="{FF2B5EF4-FFF2-40B4-BE49-F238E27FC236}">
                <a16:creationId xmlns:a16="http://schemas.microsoft.com/office/drawing/2014/main" id="{1419EBA9-FB5B-4451-A763-183A67109811}"/>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C：价格低于均衡时，需求量大于供给量，出现超额需求。</a:t>
            </a:r>
          </a:p>
        </p:txBody>
      </p:sp>
    </p:spTree>
    <p:extLst>
      <p:ext uri="{BB962C8B-B14F-4D97-AF65-F5344CB8AC3E}">
        <p14:creationId xmlns:p14="http://schemas.microsoft.com/office/powerpoint/2010/main" val="56615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5396F542-3544-445B-B5C2-0A5A1DC706A5}"/>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43: PES Along a Supply Curve / 供给曲线上的PES</a:t>
            </a:r>
          </a:p>
        </p:txBody>
      </p:sp>
      <p:sp>
        <p:nvSpPr>
          <p:cNvPr id="2" name="part_label">
            <a:extLst>
              <a:ext uri="{FF2B5EF4-FFF2-40B4-BE49-F238E27FC236}">
                <a16:creationId xmlns:a16="http://schemas.microsoft.com/office/drawing/2014/main" id="{3A48226E-C7CA-4696-8542-CEF2A0CC9A75}"/>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5 | Q41-50</a:t>
            </a:r>
          </a:p>
        </p:txBody>
      </p:sp>
      <p:sp>
        <p:nvSpPr>
          <p:cNvPr id="3" name="metadata">
            <a:extLst>
              <a:ext uri="{FF2B5EF4-FFF2-40B4-BE49-F238E27FC236}">
                <a16:creationId xmlns:a16="http://schemas.microsoft.com/office/drawing/2014/main" id="{030B8B8B-FBAB-4123-87DC-133BF16EA2E1}"/>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9708_s23_12 Q11 | Correct: 33%</a:t>
            </a:r>
          </a:p>
        </p:txBody>
      </p:sp>
      <p:sp>
        <p:nvSpPr>
          <p:cNvPr id="4" name="Rectangle 3">
            <a:extLst>
              <a:ext uri="{FF2B5EF4-FFF2-40B4-BE49-F238E27FC236}">
                <a16:creationId xmlns:a16="http://schemas.microsoft.com/office/drawing/2014/main" id="{16F41E6A-8893-4639-9242-7C54ECCD1417}"/>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419100" y="1088070"/>
            <a:ext cx="7239000" cy="4453260"/>
          </a:xfrm>
          <a:prstGeom prst="rect">
            <a:avLst/>
          </a:prstGeom>
        </p:spPr>
      </p:pic>
      <p:sp>
        <p:nvSpPr>
          <p:cNvPr id="6" name="Rectangle 5">
            <a:extLst>
              <a:ext uri="{FF2B5EF4-FFF2-40B4-BE49-F238E27FC236}">
                <a16:creationId xmlns:a16="http://schemas.microsoft.com/office/drawing/2014/main" id="{4CD59008-4355-4777-AB6B-53743D630C2B}"/>
              </a:ext>
            </a:extLst>
          </p:cNvPr>
          <p:cNvSpPr>
            <a:spLocks noGrp="1"/>
          </p:cNvSpPr>
          <p:nvPr/>
        </p:nvSpPr>
        <p:spPr>
          <a:xfrm>
            <a:off x="381000" y="65722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23210113-CE85-43AF-AF95-389F98942B3D}"/>
              </a:ext>
            </a:extLst>
          </p:cNvPr>
          <p:cNvSpPr>
            <a:spLocks noGrp="1"/>
          </p:cNvSpPr>
          <p:nvPr/>
        </p:nvSpPr>
        <p:spPr>
          <a:xfrm>
            <a:off x="7953375" y="1238250"/>
            <a:ext cx="36671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F423D8BB-16B6-40AF-85AD-10C60D10AC96}"/>
              </a:ext>
            </a:extLst>
          </p:cNvPr>
          <p:cNvSpPr>
            <a:spLocks noGrp="1"/>
          </p:cNvSpPr>
          <p:nvPr/>
        </p:nvSpPr>
        <p:spPr>
          <a:xfrm>
            <a:off x="7953375" y="1762125"/>
            <a:ext cx="3667125" cy="2000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 The shape and intercept of the supply curve affect PES as price rises; do not generalize from upward slope alone.</a:t>
            </a:r>
          </a:p>
        </p:txBody>
      </p:sp>
      <p:sp>
        <p:nvSpPr>
          <p:cNvPr id="9" name="chinese_explanation">
            <a:extLst>
              <a:ext uri="{FF2B5EF4-FFF2-40B4-BE49-F238E27FC236}">
                <a16:creationId xmlns:a16="http://schemas.microsoft.com/office/drawing/2014/main" id="{2228B401-F9DE-4D63-B4BB-774C63D1DEEA}"/>
              </a:ext>
            </a:extLst>
          </p:cNvPr>
          <p:cNvSpPr>
            <a:spLocks noGrp="1"/>
          </p:cNvSpPr>
          <p:nvPr/>
        </p:nvSpPr>
        <p:spPr>
          <a:xfrm>
            <a:off x="7953375" y="4095750"/>
            <a:ext cx="3667125" cy="2190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D：供给曲线形状和截距影响价格上升时PES变化，不能只看上升倾斜。</a:t>
            </a:r>
          </a:p>
        </p:txBody>
      </p:sp>
    </p:spTree>
    <p:extLst>
      <p:ext uri="{BB962C8B-B14F-4D97-AF65-F5344CB8AC3E}">
        <p14:creationId xmlns:p14="http://schemas.microsoft.com/office/powerpoint/2010/main" val="1402316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4CCF381E-E515-4F52-9ECB-659DEC40FCDA}"/>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44: Real vs Nominal Wages / 实际与名义工资</a:t>
            </a:r>
          </a:p>
        </p:txBody>
      </p:sp>
      <p:sp>
        <p:nvSpPr>
          <p:cNvPr id="2" name="part_label">
            <a:extLst>
              <a:ext uri="{FF2B5EF4-FFF2-40B4-BE49-F238E27FC236}">
                <a16:creationId xmlns:a16="http://schemas.microsoft.com/office/drawing/2014/main" id="{0DB93B52-19A7-4521-B5BF-57D27BB9492F}"/>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5 | Q41-50</a:t>
            </a:r>
          </a:p>
        </p:txBody>
      </p:sp>
      <p:sp>
        <p:nvSpPr>
          <p:cNvPr id="3" name="metadata">
            <a:extLst>
              <a:ext uri="{FF2B5EF4-FFF2-40B4-BE49-F238E27FC236}">
                <a16:creationId xmlns:a16="http://schemas.microsoft.com/office/drawing/2014/main" id="{FB6CA386-8CAD-40A7-AAF7-FEC677C3871C}"/>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9708_w23_12 Q21 | Correct: 33%</a:t>
            </a:r>
          </a:p>
        </p:txBody>
      </p:sp>
      <p:sp>
        <p:nvSpPr>
          <p:cNvPr id="4" name="Rectangle 3">
            <a:extLst>
              <a:ext uri="{FF2B5EF4-FFF2-40B4-BE49-F238E27FC236}">
                <a16:creationId xmlns:a16="http://schemas.microsoft.com/office/drawing/2014/main" id="{096038DD-FE7A-42A9-91CF-B1650C5CF9B9}"/>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1619250" y="1086768"/>
            <a:ext cx="8963025" cy="3617664"/>
          </a:xfrm>
          <a:prstGeom prst="rect">
            <a:avLst/>
          </a:prstGeom>
        </p:spPr>
      </p:pic>
      <p:sp>
        <p:nvSpPr>
          <p:cNvPr id="6" name="Rectangle 5">
            <a:extLst>
              <a:ext uri="{FF2B5EF4-FFF2-40B4-BE49-F238E27FC236}">
                <a16:creationId xmlns:a16="http://schemas.microsoft.com/office/drawing/2014/main" id="{83C94AA5-DC56-472B-9383-DAECB4BB3480}"/>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CD95B6AC-07B7-43A3-A9AA-F3A5AC7329D3}"/>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A</a:t>
            </a:r>
          </a:p>
        </p:txBody>
      </p:sp>
      <p:sp>
        <p:nvSpPr>
          <p:cNvPr id="8" name="english_explanation">
            <a:extLst>
              <a:ext uri="{FF2B5EF4-FFF2-40B4-BE49-F238E27FC236}">
                <a16:creationId xmlns:a16="http://schemas.microsoft.com/office/drawing/2014/main" id="{BFBFFD1D-8E71-4284-A21F-9CF5DCB4D208}"/>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 If the price level is unchanged, a fall in nominal wages is also a fall in real wages.</a:t>
            </a:r>
          </a:p>
        </p:txBody>
      </p:sp>
      <p:sp>
        <p:nvSpPr>
          <p:cNvPr id="9" name="chinese_explanation">
            <a:extLst>
              <a:ext uri="{FF2B5EF4-FFF2-40B4-BE49-F238E27FC236}">
                <a16:creationId xmlns:a16="http://schemas.microsoft.com/office/drawing/2014/main" id="{015FF8CD-BAE8-42F8-B65E-349BB599CE19}"/>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A：价格水平不变时，名义工资下降也就是实际工资下降。</a:t>
            </a:r>
          </a:p>
        </p:txBody>
      </p:sp>
    </p:spTree>
    <p:extLst>
      <p:ext uri="{BB962C8B-B14F-4D97-AF65-F5344CB8AC3E}">
        <p14:creationId xmlns:p14="http://schemas.microsoft.com/office/powerpoint/2010/main" val="1984778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8F3447EC-C756-403B-86F3-8191C6C95852}"/>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45: Reading a PPC Correctly / 正确解读PPC</a:t>
            </a:r>
          </a:p>
        </p:txBody>
      </p:sp>
      <p:sp>
        <p:nvSpPr>
          <p:cNvPr id="2" name="part_label">
            <a:extLst>
              <a:ext uri="{FF2B5EF4-FFF2-40B4-BE49-F238E27FC236}">
                <a16:creationId xmlns:a16="http://schemas.microsoft.com/office/drawing/2014/main" id="{4C2134D7-8937-403F-B955-441E0B64C8F6}"/>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5 | Q41-50</a:t>
            </a:r>
          </a:p>
        </p:txBody>
      </p:sp>
      <p:sp>
        <p:nvSpPr>
          <p:cNvPr id="3" name="metadata">
            <a:extLst>
              <a:ext uri="{FF2B5EF4-FFF2-40B4-BE49-F238E27FC236}">
                <a16:creationId xmlns:a16="http://schemas.microsoft.com/office/drawing/2014/main" id="{886CA9A8-0FE8-4F77-BBE2-C5C97B42A147}"/>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9708_s25_11 Q2 | Correct: &lt;1/3</a:t>
            </a:r>
          </a:p>
        </p:txBody>
      </p:sp>
      <p:sp>
        <p:nvSpPr>
          <p:cNvPr id="4" name="Rectangle 3">
            <a:extLst>
              <a:ext uri="{FF2B5EF4-FFF2-40B4-BE49-F238E27FC236}">
                <a16:creationId xmlns:a16="http://schemas.microsoft.com/office/drawing/2014/main" id="{EF3C0620-8ED6-4C43-91AD-E585D47A63D5}"/>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419100" y="1086938"/>
            <a:ext cx="7239000" cy="4503149"/>
          </a:xfrm>
          <a:prstGeom prst="rect">
            <a:avLst/>
          </a:prstGeom>
        </p:spPr>
      </p:pic>
      <p:sp>
        <p:nvSpPr>
          <p:cNvPr id="6" name="Rectangle 5">
            <a:extLst>
              <a:ext uri="{FF2B5EF4-FFF2-40B4-BE49-F238E27FC236}">
                <a16:creationId xmlns:a16="http://schemas.microsoft.com/office/drawing/2014/main" id="{5854064F-DB63-4E04-B809-8D6DA861236B}"/>
              </a:ext>
            </a:extLst>
          </p:cNvPr>
          <p:cNvSpPr>
            <a:spLocks noGrp="1"/>
          </p:cNvSpPr>
          <p:nvPr/>
        </p:nvSpPr>
        <p:spPr>
          <a:xfrm>
            <a:off x="381000" y="65722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0C496CC1-D369-4BDB-A088-FD862BEDC178}"/>
              </a:ext>
            </a:extLst>
          </p:cNvPr>
          <p:cNvSpPr>
            <a:spLocks noGrp="1"/>
          </p:cNvSpPr>
          <p:nvPr/>
        </p:nvSpPr>
        <p:spPr>
          <a:xfrm>
            <a:off x="7953375" y="1238250"/>
            <a:ext cx="36671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010D1997-53AA-4970-B833-CD0417E019F8}"/>
              </a:ext>
            </a:extLst>
          </p:cNvPr>
          <p:cNvSpPr>
            <a:spLocks noGrp="1"/>
          </p:cNvSpPr>
          <p:nvPr/>
        </p:nvSpPr>
        <p:spPr>
          <a:xfrm>
            <a:off x="7953375" y="1762125"/>
            <a:ext cx="3667125" cy="2000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A straight-line PPC means constant opportunity cost; it shows what a country can produce, not what it will produce.</a:t>
            </a:r>
          </a:p>
        </p:txBody>
      </p:sp>
      <p:sp>
        <p:nvSpPr>
          <p:cNvPr id="9" name="chinese_explanation">
            <a:extLst>
              <a:ext uri="{FF2B5EF4-FFF2-40B4-BE49-F238E27FC236}">
                <a16:creationId xmlns:a16="http://schemas.microsoft.com/office/drawing/2014/main" id="{C7FBDBF5-F809-47BE-807E-D03DBA830590}"/>
              </a:ext>
            </a:extLst>
          </p:cNvPr>
          <p:cNvSpPr>
            <a:spLocks noGrp="1"/>
          </p:cNvSpPr>
          <p:nvPr/>
        </p:nvSpPr>
        <p:spPr>
          <a:xfrm>
            <a:off x="7953375" y="4095750"/>
            <a:ext cx="3667125" cy="2190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C：直线PPC表示机会成本恒定，显示国家能生产什么，不表示一定会生产什么。</a:t>
            </a:r>
          </a:p>
        </p:txBody>
      </p:sp>
    </p:spTree>
    <p:extLst>
      <p:ext uri="{BB962C8B-B14F-4D97-AF65-F5344CB8AC3E}">
        <p14:creationId xmlns:p14="http://schemas.microsoft.com/office/powerpoint/2010/main" val="139046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F4F61C7C-5ECF-4187-AD7F-CBEDF251E19E}"/>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46: When Division of Labour Works / 分工何时最有效</a:t>
            </a:r>
          </a:p>
        </p:txBody>
      </p:sp>
      <p:sp>
        <p:nvSpPr>
          <p:cNvPr id="2" name="part_label">
            <a:extLst>
              <a:ext uri="{FF2B5EF4-FFF2-40B4-BE49-F238E27FC236}">
                <a16:creationId xmlns:a16="http://schemas.microsoft.com/office/drawing/2014/main" id="{C0047FA7-3CFE-4C01-8D55-C892E3160983}"/>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5 | Q41-50</a:t>
            </a:r>
          </a:p>
        </p:txBody>
      </p:sp>
      <p:sp>
        <p:nvSpPr>
          <p:cNvPr id="3" name="metadata">
            <a:extLst>
              <a:ext uri="{FF2B5EF4-FFF2-40B4-BE49-F238E27FC236}">
                <a16:creationId xmlns:a16="http://schemas.microsoft.com/office/drawing/2014/main" id="{2EA39567-1941-4B15-93DE-94FD4522B73E}"/>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9708_m25_12 Q5 | Correct: a third</a:t>
            </a:r>
          </a:p>
        </p:txBody>
      </p:sp>
      <p:sp>
        <p:nvSpPr>
          <p:cNvPr id="4" name="Rectangle 3">
            <a:extLst>
              <a:ext uri="{FF2B5EF4-FFF2-40B4-BE49-F238E27FC236}">
                <a16:creationId xmlns:a16="http://schemas.microsoft.com/office/drawing/2014/main" id="{20C88737-282D-4659-A3D6-FAF9EE102FDF}"/>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5969" y="1085850"/>
            <a:ext cx="10660062" cy="3009900"/>
          </a:xfrm>
          <a:prstGeom prst="rect">
            <a:avLst/>
          </a:prstGeom>
        </p:spPr>
      </p:pic>
      <p:sp>
        <p:nvSpPr>
          <p:cNvPr id="6" name="Rectangle 5">
            <a:extLst>
              <a:ext uri="{FF2B5EF4-FFF2-40B4-BE49-F238E27FC236}">
                <a16:creationId xmlns:a16="http://schemas.microsoft.com/office/drawing/2014/main" id="{6B3DBABD-47B4-4032-B421-055729F69E1A}"/>
              </a:ext>
            </a:extLst>
          </p:cNvPr>
          <p:cNvSpPr>
            <a:spLocks noGrp="1"/>
          </p:cNvSpPr>
          <p:nvPr/>
        </p:nvSpPr>
        <p:spPr>
          <a:xfrm>
            <a:off x="381000" y="42100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315FCE87-2F0D-49A0-BD76-68697D8223A4}"/>
              </a:ext>
            </a:extLst>
          </p:cNvPr>
          <p:cNvSpPr>
            <a:spLocks noGrp="1"/>
          </p:cNvSpPr>
          <p:nvPr/>
        </p:nvSpPr>
        <p:spPr>
          <a:xfrm>
            <a:off x="381000" y="43243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A</a:t>
            </a:r>
          </a:p>
        </p:txBody>
      </p:sp>
      <p:sp>
        <p:nvSpPr>
          <p:cNvPr id="8" name="english_explanation">
            <a:extLst>
              <a:ext uri="{FF2B5EF4-FFF2-40B4-BE49-F238E27FC236}">
                <a16:creationId xmlns:a16="http://schemas.microsoft.com/office/drawing/2014/main" id="{A03D6696-A6C6-4993-AF03-A199C49A3556}"/>
              </a:ext>
            </a:extLst>
          </p:cNvPr>
          <p:cNvSpPr>
            <a:spLocks noGrp="1"/>
          </p:cNvSpPr>
          <p:nvPr/>
        </p:nvSpPr>
        <p:spPr>
          <a:xfrm>
            <a:off x="381000" y="4800600"/>
            <a:ext cx="552450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 A large, stable market allows repeated specialized tasks, making division of labour most effective.</a:t>
            </a:r>
          </a:p>
        </p:txBody>
      </p:sp>
      <p:sp>
        <p:nvSpPr>
          <p:cNvPr id="9" name="chinese_explanation">
            <a:extLst>
              <a:ext uri="{FF2B5EF4-FFF2-40B4-BE49-F238E27FC236}">
                <a16:creationId xmlns:a16="http://schemas.microsoft.com/office/drawing/2014/main" id="{A49A282A-D963-4FEC-B41D-45FDF894D2BB}"/>
              </a:ext>
            </a:extLst>
          </p:cNvPr>
          <p:cNvSpPr>
            <a:spLocks noGrp="1"/>
          </p:cNvSpPr>
          <p:nvPr/>
        </p:nvSpPr>
        <p:spPr>
          <a:xfrm>
            <a:off x="6286500" y="4800600"/>
            <a:ext cx="552450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A：大而稳定的市场支持重复、专业化任务，使分工最有效。</a:t>
            </a:r>
          </a:p>
        </p:txBody>
      </p:sp>
    </p:spTree>
    <p:extLst>
      <p:ext uri="{BB962C8B-B14F-4D97-AF65-F5344CB8AC3E}">
        <p14:creationId xmlns:p14="http://schemas.microsoft.com/office/powerpoint/2010/main" val="862799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85067A4B-6454-429D-A6C8-053A6B644594}"/>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47: Government Purchases to Raise Price / 政府购买以提高价格</a:t>
            </a:r>
          </a:p>
        </p:txBody>
      </p:sp>
      <p:sp>
        <p:nvSpPr>
          <p:cNvPr id="2" name="part_label">
            <a:extLst>
              <a:ext uri="{FF2B5EF4-FFF2-40B4-BE49-F238E27FC236}">
                <a16:creationId xmlns:a16="http://schemas.microsoft.com/office/drawing/2014/main" id="{BB4992DF-4A7D-4FCA-82C8-AB565761A24F}"/>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5 | Q41-50</a:t>
            </a:r>
          </a:p>
        </p:txBody>
      </p:sp>
      <p:sp>
        <p:nvSpPr>
          <p:cNvPr id="3" name="metadata">
            <a:extLst>
              <a:ext uri="{FF2B5EF4-FFF2-40B4-BE49-F238E27FC236}">
                <a16:creationId xmlns:a16="http://schemas.microsoft.com/office/drawing/2014/main" id="{D6C05921-785D-4BCD-A3AD-2D487889B2BC}"/>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9708_s24_12 Q14 | Correct: a third</a:t>
            </a:r>
          </a:p>
        </p:txBody>
      </p:sp>
      <p:sp>
        <p:nvSpPr>
          <p:cNvPr id="4" name="Rectangle 3">
            <a:extLst>
              <a:ext uri="{FF2B5EF4-FFF2-40B4-BE49-F238E27FC236}">
                <a16:creationId xmlns:a16="http://schemas.microsoft.com/office/drawing/2014/main" id="{1B000D08-EDCF-496B-A885-EA9B2907314B}"/>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2496837" y="1085850"/>
            <a:ext cx="7207851" cy="3619500"/>
          </a:xfrm>
          <a:prstGeom prst="rect">
            <a:avLst/>
          </a:prstGeom>
        </p:spPr>
      </p:pic>
      <p:sp>
        <p:nvSpPr>
          <p:cNvPr id="6" name="Rectangle 5">
            <a:extLst>
              <a:ext uri="{FF2B5EF4-FFF2-40B4-BE49-F238E27FC236}">
                <a16:creationId xmlns:a16="http://schemas.microsoft.com/office/drawing/2014/main" id="{0AE2712F-8D83-4A5B-8930-ACB7711D5C2E}"/>
              </a:ext>
            </a:extLst>
          </p:cNvPr>
          <p:cNvSpPr>
            <a:spLocks noGrp="1"/>
          </p:cNvSpPr>
          <p:nvPr/>
        </p:nvSpPr>
        <p:spPr>
          <a:xfrm>
            <a:off x="381000" y="48196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84901DEF-22A0-4367-98B7-1A498CC70CDC}"/>
              </a:ext>
            </a:extLst>
          </p:cNvPr>
          <p:cNvSpPr>
            <a:spLocks noGrp="1"/>
          </p:cNvSpPr>
          <p:nvPr/>
        </p:nvSpPr>
        <p:spPr>
          <a:xfrm>
            <a:off x="381000" y="493395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8E44B7DF-BB6B-46B2-9761-B258B4CA3AF6}"/>
              </a:ext>
            </a:extLst>
          </p:cNvPr>
          <p:cNvSpPr>
            <a:spLocks noGrp="1"/>
          </p:cNvSpPr>
          <p:nvPr/>
        </p:nvSpPr>
        <p:spPr>
          <a:xfrm>
            <a:off x="3810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 Government buys enough output to reach the target equilibrium; expenditure = target price times units purchased.</a:t>
            </a:r>
          </a:p>
        </p:txBody>
      </p:sp>
      <p:sp>
        <p:nvSpPr>
          <p:cNvPr id="9" name="chinese_explanation">
            <a:extLst>
              <a:ext uri="{FF2B5EF4-FFF2-40B4-BE49-F238E27FC236}">
                <a16:creationId xmlns:a16="http://schemas.microsoft.com/office/drawing/2014/main" id="{D8C391BA-A503-4A11-BA5A-81982B9B0253}"/>
              </a:ext>
            </a:extLst>
          </p:cNvPr>
          <p:cNvSpPr>
            <a:spLocks noGrp="1"/>
          </p:cNvSpPr>
          <p:nvPr/>
        </p:nvSpPr>
        <p:spPr>
          <a:xfrm>
            <a:off x="6286500" y="5410200"/>
            <a:ext cx="5524500" cy="1200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D：政府购买足够产量达到目标均衡；支出=目标价格乘以购买量。</a:t>
            </a:r>
          </a:p>
        </p:txBody>
      </p:sp>
    </p:spTree>
    <p:extLst>
      <p:ext uri="{BB962C8B-B14F-4D97-AF65-F5344CB8AC3E}">
        <p14:creationId xmlns:p14="http://schemas.microsoft.com/office/powerpoint/2010/main" val="1652437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258C79BC-7421-460C-A187-876FB7ABC53A}"/>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48: Specialisation and Extra Imports / 专业化与额外进口</a:t>
            </a:r>
          </a:p>
        </p:txBody>
      </p:sp>
      <p:sp>
        <p:nvSpPr>
          <p:cNvPr id="2" name="part_label">
            <a:extLst>
              <a:ext uri="{FF2B5EF4-FFF2-40B4-BE49-F238E27FC236}">
                <a16:creationId xmlns:a16="http://schemas.microsoft.com/office/drawing/2014/main" id="{7C5A3C5A-FD49-4697-8363-B36FBD4B2084}"/>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5 | Q41-50</a:t>
            </a:r>
          </a:p>
        </p:txBody>
      </p:sp>
      <p:sp>
        <p:nvSpPr>
          <p:cNvPr id="3" name="metadata">
            <a:extLst>
              <a:ext uri="{FF2B5EF4-FFF2-40B4-BE49-F238E27FC236}">
                <a16:creationId xmlns:a16="http://schemas.microsoft.com/office/drawing/2014/main" id="{126954A3-C0B2-46A4-A015-49BAADC56552}"/>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9708_w24_13 Q26 | Correct: a third</a:t>
            </a:r>
          </a:p>
        </p:txBody>
      </p:sp>
      <p:sp>
        <p:nvSpPr>
          <p:cNvPr id="4" name="Rectangle 3">
            <a:extLst>
              <a:ext uri="{FF2B5EF4-FFF2-40B4-BE49-F238E27FC236}">
                <a16:creationId xmlns:a16="http://schemas.microsoft.com/office/drawing/2014/main" id="{89902D44-F906-4C00-AC7F-49E182186777}"/>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422289" y="1085850"/>
            <a:ext cx="7232622" cy="4114800"/>
          </a:xfrm>
          <a:prstGeom prst="rect">
            <a:avLst/>
          </a:prstGeom>
        </p:spPr>
      </p:pic>
      <p:sp>
        <p:nvSpPr>
          <p:cNvPr id="6" name="Rectangle 5">
            <a:extLst>
              <a:ext uri="{FF2B5EF4-FFF2-40B4-BE49-F238E27FC236}">
                <a16:creationId xmlns:a16="http://schemas.microsoft.com/office/drawing/2014/main" id="{490147CF-A49C-4F37-A734-2EFAD03E2200}"/>
              </a:ext>
            </a:extLst>
          </p:cNvPr>
          <p:cNvSpPr>
            <a:spLocks noGrp="1"/>
          </p:cNvSpPr>
          <p:nvPr/>
        </p:nvSpPr>
        <p:spPr>
          <a:xfrm>
            <a:off x="381000" y="65722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03FEE94B-B7FA-4976-96C7-A4F51131CE14}"/>
              </a:ext>
            </a:extLst>
          </p:cNvPr>
          <p:cNvSpPr>
            <a:spLocks noGrp="1"/>
          </p:cNvSpPr>
          <p:nvPr/>
        </p:nvSpPr>
        <p:spPr>
          <a:xfrm>
            <a:off x="7953375" y="1238250"/>
            <a:ext cx="36671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B</a:t>
            </a:r>
          </a:p>
        </p:txBody>
      </p:sp>
      <p:sp>
        <p:nvSpPr>
          <p:cNvPr id="8" name="english_explanation">
            <a:extLst>
              <a:ext uri="{FF2B5EF4-FFF2-40B4-BE49-F238E27FC236}">
                <a16:creationId xmlns:a16="http://schemas.microsoft.com/office/drawing/2014/main" id="{1655DDC4-0F6F-425F-AF4B-F5067CD4AD83}"/>
              </a:ext>
            </a:extLst>
          </p:cNvPr>
          <p:cNvSpPr>
            <a:spLocks noGrp="1"/>
          </p:cNvSpPr>
          <p:nvPr/>
        </p:nvSpPr>
        <p:spPr>
          <a:xfrm>
            <a:off x="7953375" y="1762125"/>
            <a:ext cx="3667125" cy="2000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 After specializing and trading, X receives 1250 trucks but gave up 1000, so the extra gain is 250.</a:t>
            </a:r>
          </a:p>
        </p:txBody>
      </p:sp>
      <p:sp>
        <p:nvSpPr>
          <p:cNvPr id="9" name="chinese_explanation">
            <a:extLst>
              <a:ext uri="{FF2B5EF4-FFF2-40B4-BE49-F238E27FC236}">
                <a16:creationId xmlns:a16="http://schemas.microsoft.com/office/drawing/2014/main" id="{84EB11BB-C6E9-4E0A-A30B-64BBFE76ACD1}"/>
              </a:ext>
            </a:extLst>
          </p:cNvPr>
          <p:cNvSpPr>
            <a:spLocks noGrp="1"/>
          </p:cNvSpPr>
          <p:nvPr/>
        </p:nvSpPr>
        <p:spPr>
          <a:xfrm>
            <a:off x="7953375" y="4095750"/>
            <a:ext cx="3667125" cy="2190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B：专业化并贸易后X国得到1250辆卡车，但放弃1000辆，所以额外获得250辆。</a:t>
            </a:r>
          </a:p>
        </p:txBody>
      </p:sp>
    </p:spTree>
    <p:extLst>
      <p:ext uri="{BB962C8B-B14F-4D97-AF65-F5344CB8AC3E}">
        <p14:creationId xmlns:p14="http://schemas.microsoft.com/office/powerpoint/2010/main" val="114961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DAEF2108-8F8D-497C-A8DE-A4B475970D58}"/>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49: Indirect Tax and PES Change / 间接税与PES变化</a:t>
            </a:r>
          </a:p>
        </p:txBody>
      </p:sp>
      <p:sp>
        <p:nvSpPr>
          <p:cNvPr id="2" name="part_label">
            <a:extLst>
              <a:ext uri="{FF2B5EF4-FFF2-40B4-BE49-F238E27FC236}">
                <a16:creationId xmlns:a16="http://schemas.microsoft.com/office/drawing/2014/main" id="{A9F74A71-C54F-4927-B34A-E0E3E0972982}"/>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5 | Q41-50</a:t>
            </a:r>
          </a:p>
        </p:txBody>
      </p:sp>
      <p:sp>
        <p:nvSpPr>
          <p:cNvPr id="3" name="metadata">
            <a:extLst>
              <a:ext uri="{FF2B5EF4-FFF2-40B4-BE49-F238E27FC236}">
                <a16:creationId xmlns:a16="http://schemas.microsoft.com/office/drawing/2014/main" id="{ABA1F743-0A51-4DB4-9972-DA5A7E3C4052}"/>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9708_s24_13 Q14 | Correct: just over a third</a:t>
            </a:r>
          </a:p>
        </p:txBody>
      </p:sp>
      <p:sp>
        <p:nvSpPr>
          <p:cNvPr id="4" name="Rectangle 3">
            <a:extLst>
              <a:ext uri="{FF2B5EF4-FFF2-40B4-BE49-F238E27FC236}">
                <a16:creationId xmlns:a16="http://schemas.microsoft.com/office/drawing/2014/main" id="{D72D26FD-F3CF-4735-9B0E-94702B0671B6}"/>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419100" y="1086541"/>
            <a:ext cx="6162675" cy="5427868"/>
          </a:xfrm>
          <a:prstGeom prst="rect">
            <a:avLst/>
          </a:prstGeom>
        </p:spPr>
      </p:pic>
      <p:sp>
        <p:nvSpPr>
          <p:cNvPr id="6" name="Rectangle 5">
            <a:extLst>
              <a:ext uri="{FF2B5EF4-FFF2-40B4-BE49-F238E27FC236}">
                <a16:creationId xmlns:a16="http://schemas.microsoft.com/office/drawing/2014/main" id="{0751A788-F4EB-45BB-A99E-2C2AB8E71680}"/>
              </a:ext>
            </a:extLst>
          </p:cNvPr>
          <p:cNvSpPr>
            <a:spLocks noGrp="1"/>
          </p:cNvSpPr>
          <p:nvPr/>
        </p:nvSpPr>
        <p:spPr>
          <a:xfrm>
            <a:off x="381000" y="657225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DE42DF18-52F9-444F-AB59-FCD83876D22B}"/>
              </a:ext>
            </a:extLst>
          </p:cNvPr>
          <p:cNvSpPr>
            <a:spLocks noGrp="1"/>
          </p:cNvSpPr>
          <p:nvPr/>
        </p:nvSpPr>
        <p:spPr>
          <a:xfrm>
            <a:off x="7953375" y="1238250"/>
            <a:ext cx="366712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D</a:t>
            </a:r>
          </a:p>
        </p:txBody>
      </p:sp>
      <p:sp>
        <p:nvSpPr>
          <p:cNvPr id="8" name="english_explanation">
            <a:extLst>
              <a:ext uri="{FF2B5EF4-FFF2-40B4-BE49-F238E27FC236}">
                <a16:creationId xmlns:a16="http://schemas.microsoft.com/office/drawing/2014/main" id="{8FA4E4A6-67EC-4E72-AED5-0202B9CD9D99}"/>
              </a:ext>
            </a:extLst>
          </p:cNvPr>
          <p:cNvSpPr>
            <a:spLocks noGrp="1"/>
          </p:cNvSpPr>
          <p:nvPr/>
        </p:nvSpPr>
        <p:spPr>
          <a:xfrm>
            <a:off x="7953375" y="1762125"/>
            <a:ext cx="3667125" cy="2000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 A straight-line supply curve through the origin has unitary PES; a specific tax shifts the curve, changing elasticity.</a:t>
            </a:r>
          </a:p>
        </p:txBody>
      </p:sp>
      <p:sp>
        <p:nvSpPr>
          <p:cNvPr id="9" name="chinese_explanation">
            <a:extLst>
              <a:ext uri="{FF2B5EF4-FFF2-40B4-BE49-F238E27FC236}">
                <a16:creationId xmlns:a16="http://schemas.microsoft.com/office/drawing/2014/main" id="{F7498544-3087-4C16-B4F2-5B9D15B4F82C}"/>
              </a:ext>
            </a:extLst>
          </p:cNvPr>
          <p:cNvSpPr>
            <a:spLocks noGrp="1"/>
          </p:cNvSpPr>
          <p:nvPr/>
        </p:nvSpPr>
        <p:spPr>
          <a:xfrm>
            <a:off x="7953375" y="4095750"/>
            <a:ext cx="3667125" cy="2190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D：通过原点的直线供给曲线为单位弹性；单位税使曲线移动，弹性关系变化。</a:t>
            </a:r>
          </a:p>
        </p:txBody>
      </p:sp>
    </p:spTree>
    <p:extLst>
      <p:ext uri="{BB962C8B-B14F-4D97-AF65-F5344CB8AC3E}">
        <p14:creationId xmlns:p14="http://schemas.microsoft.com/office/powerpoint/2010/main" val="795693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question_title">
            <a:extLst>
              <a:ext uri="{FF2B5EF4-FFF2-40B4-BE49-F238E27FC236}">
                <a16:creationId xmlns:a16="http://schemas.microsoft.com/office/drawing/2014/main" id="{43074D89-9C60-4B95-B6C8-31A52E88D92D}"/>
              </a:ext>
            </a:extLst>
          </p:cNvPr>
          <p:cNvSpPr>
            <a:spLocks noGrp="1"/>
          </p:cNvSpPr>
          <p:nvPr/>
        </p:nvSpPr>
        <p:spPr>
          <a:xfrm>
            <a:off x="381000" y="171450"/>
            <a:ext cx="8858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111111"/>
                </a:solidFill>
                <a:latin typeface="Arial"/>
                <a:ea typeface="Arial"/>
                <a:cs typeface="Arial"/>
              </a:defRPr>
            </a:pPr>
            <a:r>
              <a:rPr sz="1950" b="1">
                <a:solidFill>
                  <a:srgbClr val="111111"/>
                </a:solidFill>
                <a:latin typeface="Arial"/>
                <a:ea typeface="Arial"/>
                <a:cs typeface="Arial"/>
              </a:rPr>
              <a:t>Question 50: Real Price and CPI Deflator / 实际价格与CPI平减</a:t>
            </a:r>
          </a:p>
        </p:txBody>
      </p:sp>
      <p:sp>
        <p:nvSpPr>
          <p:cNvPr id="2" name="part_label">
            <a:extLst>
              <a:ext uri="{FF2B5EF4-FFF2-40B4-BE49-F238E27FC236}">
                <a16:creationId xmlns:a16="http://schemas.microsoft.com/office/drawing/2014/main" id="{700F54FE-AC32-4155-B7C1-479A2127FFE5}"/>
              </a:ext>
            </a:extLst>
          </p:cNvPr>
          <p:cNvSpPr>
            <a:spLocks noGrp="1"/>
          </p:cNvSpPr>
          <p:nvPr/>
        </p:nvSpPr>
        <p:spPr>
          <a:xfrm>
            <a:off x="9620250" y="190500"/>
            <a:ext cx="21907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800" b="1">
                <a:solidFill>
                  <a:srgbClr val="111111"/>
                </a:solidFill>
                <a:latin typeface="Arial"/>
                <a:ea typeface="Arial"/>
                <a:cs typeface="Arial"/>
              </a:defRPr>
            </a:pPr>
            <a:r>
              <a:rPr sz="1800" b="1">
                <a:solidFill>
                  <a:srgbClr val="111111"/>
                </a:solidFill>
                <a:latin typeface="Arial"/>
                <a:ea typeface="Arial"/>
                <a:cs typeface="Arial"/>
              </a:rPr>
              <a:t>Part 5 | Q41-50</a:t>
            </a:r>
          </a:p>
        </p:txBody>
      </p:sp>
      <p:sp>
        <p:nvSpPr>
          <p:cNvPr id="3" name="metadata">
            <a:extLst>
              <a:ext uri="{FF2B5EF4-FFF2-40B4-BE49-F238E27FC236}">
                <a16:creationId xmlns:a16="http://schemas.microsoft.com/office/drawing/2014/main" id="{5EBDDA20-B9CE-4C85-9A37-09F9CA421AC8}"/>
              </a:ext>
            </a:extLst>
          </p:cNvPr>
          <p:cNvSpPr>
            <a:spLocks noGrp="1"/>
          </p:cNvSpPr>
          <p:nvPr/>
        </p:nvSpPr>
        <p:spPr>
          <a:xfrm>
            <a:off x="381000" y="571500"/>
            <a:ext cx="11430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5B5B5B"/>
                </a:solidFill>
                <a:latin typeface="Arial"/>
                <a:ea typeface="Arial"/>
                <a:cs typeface="Arial"/>
              </a:defRPr>
            </a:pPr>
            <a:r>
              <a:rPr sz="1800" b="0">
                <a:solidFill>
                  <a:srgbClr val="5B5B5B"/>
                </a:solidFill>
                <a:latin typeface="Arial"/>
                <a:ea typeface="Arial"/>
                <a:cs typeface="Arial"/>
              </a:rPr>
              <a:t>Source: 9708_s25_11 Q20 | Correct: just over a third</a:t>
            </a:r>
          </a:p>
        </p:txBody>
      </p:sp>
      <p:sp>
        <p:nvSpPr>
          <p:cNvPr id="4" name="Rectangle 3">
            <a:extLst>
              <a:ext uri="{FF2B5EF4-FFF2-40B4-BE49-F238E27FC236}">
                <a16:creationId xmlns:a16="http://schemas.microsoft.com/office/drawing/2014/main" id="{EE822D2A-A204-49E1-BE3B-FEC607917951}"/>
              </a:ext>
            </a:extLst>
          </p:cNvPr>
          <p:cNvSpPr>
            <a:spLocks noGrp="1"/>
          </p:cNvSpPr>
          <p:nvPr/>
        </p:nvSpPr>
        <p:spPr>
          <a:xfrm>
            <a:off x="381000" y="933450"/>
            <a:ext cx="11430000" cy="14288"/>
          </a:xfrm>
          <a:prstGeom prst="rect">
            <a:avLst/>
          </a:prstGeom>
          <a:solidFill>
            <a:srgbClr val="A8A8A8"/>
          </a:solidFill>
          <a:ln w="0">
            <a:solidFill>
              <a:srgbClr val="A8A8A8"/>
            </a:solidFill>
            <a:prstDash val="solid"/>
          </a:ln>
        </p:spPr>
      </p:sp>
      <p:pic>
        <p:nvPicPr>
          <p:cNvPr id="5" name="Picture 4"/>
          <p:cNvPicPr>
            <a:picLocks noChangeAspect="1"/>
          </p:cNvPicPr>
          <p:nvPr/>
        </p:nvPicPr>
        <p:blipFill>
          <a:blip r:embed="rId3"/>
          <a:stretch/>
        </p:blipFill>
        <p:spPr>
          <a:xfrm>
            <a:off x="762000" y="1087250"/>
            <a:ext cx="10668000" cy="1997451"/>
          </a:xfrm>
          <a:prstGeom prst="rect">
            <a:avLst/>
          </a:prstGeom>
        </p:spPr>
      </p:pic>
      <p:sp>
        <p:nvSpPr>
          <p:cNvPr id="6" name="Rectangle 5">
            <a:extLst>
              <a:ext uri="{FF2B5EF4-FFF2-40B4-BE49-F238E27FC236}">
                <a16:creationId xmlns:a16="http://schemas.microsoft.com/office/drawing/2014/main" id="{3A37FA2D-8909-4A6F-BF70-4CFB043AF90C}"/>
              </a:ext>
            </a:extLst>
          </p:cNvPr>
          <p:cNvSpPr>
            <a:spLocks noGrp="1"/>
          </p:cNvSpPr>
          <p:nvPr/>
        </p:nvSpPr>
        <p:spPr>
          <a:xfrm>
            <a:off x="381000" y="3200400"/>
            <a:ext cx="11430000" cy="14288"/>
          </a:xfrm>
          <a:prstGeom prst="rect">
            <a:avLst/>
          </a:prstGeom>
          <a:solidFill>
            <a:srgbClr val="A8A8A8"/>
          </a:solidFill>
          <a:ln w="0">
            <a:solidFill>
              <a:srgbClr val="A8A8A8"/>
            </a:solidFill>
            <a:prstDash val="solid"/>
          </a:ln>
        </p:spPr>
      </p:sp>
      <p:sp>
        <p:nvSpPr>
          <p:cNvPr id="7" name="answer_key">
            <a:extLst>
              <a:ext uri="{FF2B5EF4-FFF2-40B4-BE49-F238E27FC236}">
                <a16:creationId xmlns:a16="http://schemas.microsoft.com/office/drawing/2014/main" id="{50CCD157-24A5-4ED0-AB8E-95F248AF4115}"/>
              </a:ext>
            </a:extLst>
          </p:cNvPr>
          <p:cNvSpPr>
            <a:spLocks noGrp="1"/>
          </p:cNvSpPr>
          <p:nvPr/>
        </p:nvSpPr>
        <p:spPr>
          <a:xfrm>
            <a:off x="381000" y="3314700"/>
            <a:ext cx="2000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75" b="1">
                <a:solidFill>
                  <a:srgbClr val="111111"/>
                </a:solidFill>
                <a:latin typeface="Arial"/>
                <a:ea typeface="Arial"/>
                <a:cs typeface="Arial"/>
              </a:defRPr>
            </a:pPr>
            <a:r>
              <a:rPr sz="2175" b="1">
                <a:solidFill>
                  <a:srgbClr val="111111"/>
                </a:solidFill>
                <a:latin typeface="Arial"/>
                <a:ea typeface="Arial"/>
                <a:cs typeface="Arial"/>
              </a:rPr>
              <a:t>Answer: C</a:t>
            </a:r>
          </a:p>
        </p:txBody>
      </p:sp>
      <p:sp>
        <p:nvSpPr>
          <p:cNvPr id="8" name="english_explanation">
            <a:extLst>
              <a:ext uri="{FF2B5EF4-FFF2-40B4-BE49-F238E27FC236}">
                <a16:creationId xmlns:a16="http://schemas.microsoft.com/office/drawing/2014/main" id="{9A2149EE-C941-4DE9-9BF1-560B7DF9E2C1}"/>
              </a:ext>
            </a:extLst>
          </p:cNvPr>
          <p:cNvSpPr>
            <a:spLocks noGrp="1"/>
          </p:cNvSpPr>
          <p:nvPr/>
        </p:nvSpPr>
        <p:spPr>
          <a:xfrm>
            <a:off x="381000" y="3790950"/>
            <a:ext cx="5524500" cy="2819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 Nominal price rises to $1.32 while general prices rise 10%, so real price = 1.32/1.10 = $1.20.</a:t>
            </a:r>
          </a:p>
        </p:txBody>
      </p:sp>
      <p:sp>
        <p:nvSpPr>
          <p:cNvPr id="9" name="chinese_explanation">
            <a:extLst>
              <a:ext uri="{FF2B5EF4-FFF2-40B4-BE49-F238E27FC236}">
                <a16:creationId xmlns:a16="http://schemas.microsoft.com/office/drawing/2014/main" id="{1076E168-44BD-4878-9B21-55874381AA33}"/>
              </a:ext>
            </a:extLst>
          </p:cNvPr>
          <p:cNvSpPr>
            <a:spLocks noGrp="1"/>
          </p:cNvSpPr>
          <p:nvPr/>
        </p:nvSpPr>
        <p:spPr>
          <a:xfrm>
            <a:off x="6286500" y="3790950"/>
            <a:ext cx="5524500" cy="2819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0">
                <a:solidFill>
                  <a:srgbClr val="111111"/>
                </a:solidFill>
                <a:latin typeface="Arial"/>
                <a:ea typeface="Arial"/>
                <a:cs typeface="Arial"/>
              </a:defRPr>
            </a:pPr>
            <a:r>
              <a:rPr sz="1800" b="0">
                <a:solidFill>
                  <a:srgbClr val="111111"/>
                </a:solidFill>
                <a:latin typeface="Arial"/>
                <a:ea typeface="Arial"/>
                <a:cs typeface="Arial"/>
              </a:rPr>
              <a:t>C：名义价格涨至1.32美元，总体价格上涨10%，所以实际价格=1.32/1.10=1.20美元。</a:t>
            </a:r>
          </a:p>
        </p:txBody>
      </p:sp>
    </p:spTree>
    <p:extLst>
      <p:ext uri="{BB962C8B-B14F-4D97-AF65-F5344CB8AC3E}">
        <p14:creationId xmlns:p14="http://schemas.microsoft.com/office/powerpoint/2010/main" val="1069901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7B6C6-F139-748A-C4CD-CD89C1F3CBD5}"/>
            </a:ext>
          </a:extLst>
        </p:cNvPr>
        <p:cNvGrpSpPr/>
        <p:nvPr/>
      </p:nvGrpSpPr>
      <p:grpSpPr>
        <a:xfrm>
          <a:off x="0" y="0"/>
          <a:ext cx="0" cy="0"/>
          <a:chOff x="0" y="0"/>
          <a:chExt cx="0" cy="0"/>
        </a:xfrm>
      </p:grpSpPr>
      <p:sp>
        <p:nvSpPr>
          <p:cNvPr id="2" name="answer_key_title">
            <a:extLst>
              <a:ext uri="{FF2B5EF4-FFF2-40B4-BE49-F238E27FC236}">
                <a16:creationId xmlns:a16="http://schemas.microsoft.com/office/drawing/2014/main" id="{B74EFC70-8FE4-B923-487E-CEB1D4065A88}"/>
              </a:ext>
            </a:extLst>
          </p:cNvPr>
          <p:cNvSpPr txBox="1"/>
          <p:nvPr/>
        </p:nvSpPr>
        <p:spPr>
          <a:xfrm>
            <a:off x="381000" y="355600"/>
            <a:ext cx="11430000" cy="523220"/>
          </a:xfrm>
          <a:prstGeom prst="rect">
            <a:avLst/>
          </a:prstGeom>
          <a:noFill/>
        </p:spPr>
        <p:txBody>
          <a:bodyPr vert="horz" rtlCol="0">
            <a:spAutoFit/>
          </a:bodyPr>
          <a:lstStyle/>
          <a:p>
            <a:r>
              <a:rPr lang="en-US" altLang="zh-CN" sz="2800" b="1">
                <a:solidFill>
                  <a:srgbClr val="000000"/>
                </a:solidFill>
                <a:latin typeface="Arial" panose="020B0604020202020204" pitchFamily="34" charset="0"/>
              </a:rPr>
              <a:t>Answer Key - Part 2: Questions 11-20</a:t>
            </a:r>
            <a:endParaRPr lang="zh-CN" altLang="en-US" sz="2800" b="1">
              <a:solidFill>
                <a:srgbClr val="000000"/>
              </a:solidFill>
              <a:latin typeface="Arial" panose="020B0604020202020204" pitchFamily="34" charset="0"/>
            </a:endParaRPr>
          </a:p>
        </p:txBody>
      </p:sp>
      <p:sp>
        <p:nvSpPr>
          <p:cNvPr id="3" name="answer_key_note">
            <a:extLst>
              <a:ext uri="{FF2B5EF4-FFF2-40B4-BE49-F238E27FC236}">
                <a16:creationId xmlns:a16="http://schemas.microsoft.com/office/drawing/2014/main" id="{07855EA3-1D84-950C-D35B-DE4E2FD7748D}"/>
              </a:ext>
            </a:extLst>
          </p:cNvPr>
          <p:cNvSpPr txBox="1"/>
          <p:nvPr/>
        </p:nvSpPr>
        <p:spPr>
          <a:xfrm>
            <a:off x="381000" y="952500"/>
            <a:ext cx="11430000" cy="369332"/>
          </a:xfrm>
          <a:prstGeom prst="rect">
            <a:avLst/>
          </a:prstGeom>
          <a:noFill/>
        </p:spPr>
        <p:txBody>
          <a:bodyPr vert="horz" rtlCol="0">
            <a:spAutoFit/>
          </a:bodyPr>
          <a:lstStyle/>
          <a:p>
            <a:r>
              <a:rPr lang="en-US" altLang="zh-CN">
                <a:solidFill>
                  <a:srgbClr val="555555"/>
                </a:solidFill>
                <a:latin typeface="Arial" panose="020B0604020202020204" pitchFamily="34" charset="0"/>
              </a:rPr>
              <a:t>Use after students have attempted this set.</a:t>
            </a:r>
            <a:endParaRPr lang="zh-CN" altLang="en-US">
              <a:solidFill>
                <a:srgbClr val="555555"/>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B50BA32A-7849-C695-5AB9-962EB3A96B46}"/>
              </a:ext>
            </a:extLst>
          </p:cNvPr>
          <p:cNvCxnSpPr/>
          <p:nvPr/>
        </p:nvCxnSpPr>
        <p:spPr>
          <a:xfrm>
            <a:off x="381000" y="1422400"/>
            <a:ext cx="11430000" cy="0"/>
          </a:xfrm>
          <a:prstGeom prst="line">
            <a:avLst/>
          </a:prstGeom>
          <a:ln w="12700">
            <a:solidFill>
              <a:srgbClr val="AAAAAA"/>
            </a:solidFill>
          </a:ln>
        </p:spPr>
        <p:style>
          <a:lnRef idx="1">
            <a:schemeClr val="accent1"/>
          </a:lnRef>
          <a:fillRef idx="0">
            <a:schemeClr val="accent1"/>
          </a:fillRef>
          <a:effectRef idx="0">
            <a:schemeClr val="accent1"/>
          </a:effectRef>
          <a:fontRef idx="minor">
            <a:schemeClr val="tx1"/>
          </a:fontRef>
        </p:style>
      </p:cxnSp>
      <p:sp>
        <p:nvSpPr>
          <p:cNvPr id="5" name="answer_key_q11">
            <a:extLst>
              <a:ext uri="{FF2B5EF4-FFF2-40B4-BE49-F238E27FC236}">
                <a16:creationId xmlns:a16="http://schemas.microsoft.com/office/drawing/2014/main" id="{C725D974-0217-322B-445E-F885A7B3337D}"/>
              </a:ext>
            </a:extLst>
          </p:cNvPr>
          <p:cNvSpPr txBox="1"/>
          <p:nvPr/>
        </p:nvSpPr>
        <p:spPr>
          <a:xfrm>
            <a:off x="15240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Q11    A</a:t>
            </a:r>
            <a:endParaRPr lang="zh-CN" altLang="en-US" sz="3000" b="1">
              <a:solidFill>
                <a:srgbClr val="000000"/>
              </a:solidFill>
              <a:latin typeface="Arial" panose="020B0604020202020204" pitchFamily="34" charset="0"/>
            </a:endParaRPr>
          </a:p>
        </p:txBody>
      </p:sp>
      <p:sp>
        <p:nvSpPr>
          <p:cNvPr id="6" name="answer_key_q12">
            <a:extLst>
              <a:ext uri="{FF2B5EF4-FFF2-40B4-BE49-F238E27FC236}">
                <a16:creationId xmlns:a16="http://schemas.microsoft.com/office/drawing/2014/main" id="{E5997997-70E0-7B45-8D40-B5AFF257CE8A}"/>
              </a:ext>
            </a:extLst>
          </p:cNvPr>
          <p:cNvSpPr txBox="1"/>
          <p:nvPr/>
        </p:nvSpPr>
        <p:spPr>
          <a:xfrm>
            <a:off x="15240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Q12    C</a:t>
            </a:r>
            <a:endParaRPr lang="zh-CN" altLang="en-US" sz="3000" b="1">
              <a:solidFill>
                <a:srgbClr val="000000"/>
              </a:solidFill>
              <a:latin typeface="Arial" panose="020B0604020202020204" pitchFamily="34" charset="0"/>
            </a:endParaRPr>
          </a:p>
        </p:txBody>
      </p:sp>
      <p:sp>
        <p:nvSpPr>
          <p:cNvPr id="7" name="answer_key_q13">
            <a:extLst>
              <a:ext uri="{FF2B5EF4-FFF2-40B4-BE49-F238E27FC236}">
                <a16:creationId xmlns:a16="http://schemas.microsoft.com/office/drawing/2014/main" id="{7A38E952-B7D0-D699-3E9C-3CFCBB2E7BBF}"/>
              </a:ext>
            </a:extLst>
          </p:cNvPr>
          <p:cNvSpPr txBox="1"/>
          <p:nvPr/>
        </p:nvSpPr>
        <p:spPr>
          <a:xfrm>
            <a:off x="15240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Q13    D</a:t>
            </a:r>
            <a:endParaRPr lang="zh-CN" altLang="en-US" sz="3000" b="1">
              <a:solidFill>
                <a:srgbClr val="000000"/>
              </a:solidFill>
              <a:latin typeface="Arial" panose="020B0604020202020204" pitchFamily="34" charset="0"/>
            </a:endParaRPr>
          </a:p>
        </p:txBody>
      </p:sp>
      <p:sp>
        <p:nvSpPr>
          <p:cNvPr id="8" name="answer_key_q14">
            <a:extLst>
              <a:ext uri="{FF2B5EF4-FFF2-40B4-BE49-F238E27FC236}">
                <a16:creationId xmlns:a16="http://schemas.microsoft.com/office/drawing/2014/main" id="{69F5DEE1-6549-89E5-E051-EA5BCE340038}"/>
              </a:ext>
            </a:extLst>
          </p:cNvPr>
          <p:cNvSpPr txBox="1"/>
          <p:nvPr/>
        </p:nvSpPr>
        <p:spPr>
          <a:xfrm>
            <a:off x="15240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Q14    D</a:t>
            </a:r>
            <a:endParaRPr lang="zh-CN" altLang="en-US" sz="3000" b="1">
              <a:solidFill>
                <a:srgbClr val="000000"/>
              </a:solidFill>
              <a:latin typeface="Arial" panose="020B0604020202020204" pitchFamily="34" charset="0"/>
            </a:endParaRPr>
          </a:p>
        </p:txBody>
      </p:sp>
      <p:sp>
        <p:nvSpPr>
          <p:cNvPr id="9" name="answer_key_q15">
            <a:extLst>
              <a:ext uri="{FF2B5EF4-FFF2-40B4-BE49-F238E27FC236}">
                <a16:creationId xmlns:a16="http://schemas.microsoft.com/office/drawing/2014/main" id="{2098C008-1ED0-05EE-1F44-697772C7F3C2}"/>
              </a:ext>
            </a:extLst>
          </p:cNvPr>
          <p:cNvSpPr txBox="1"/>
          <p:nvPr/>
        </p:nvSpPr>
        <p:spPr>
          <a:xfrm>
            <a:off x="15240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Q15    A</a:t>
            </a:r>
            <a:endParaRPr lang="zh-CN" altLang="en-US" sz="3000" b="1">
              <a:solidFill>
                <a:srgbClr val="000000"/>
              </a:solidFill>
              <a:latin typeface="Arial" panose="020B0604020202020204" pitchFamily="34" charset="0"/>
            </a:endParaRPr>
          </a:p>
        </p:txBody>
      </p:sp>
      <p:sp>
        <p:nvSpPr>
          <p:cNvPr id="10" name="answer_key_q16">
            <a:extLst>
              <a:ext uri="{FF2B5EF4-FFF2-40B4-BE49-F238E27FC236}">
                <a16:creationId xmlns:a16="http://schemas.microsoft.com/office/drawing/2014/main" id="{7C31F1A1-F617-F10D-BCA2-98A8C7C42A1C}"/>
              </a:ext>
            </a:extLst>
          </p:cNvPr>
          <p:cNvSpPr txBox="1"/>
          <p:nvPr/>
        </p:nvSpPr>
        <p:spPr>
          <a:xfrm>
            <a:off x="66675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Q16    B</a:t>
            </a:r>
            <a:endParaRPr lang="zh-CN" altLang="en-US" sz="3000" b="1">
              <a:solidFill>
                <a:srgbClr val="000000"/>
              </a:solidFill>
              <a:latin typeface="Arial" panose="020B0604020202020204" pitchFamily="34" charset="0"/>
            </a:endParaRPr>
          </a:p>
        </p:txBody>
      </p:sp>
      <p:sp>
        <p:nvSpPr>
          <p:cNvPr id="11" name="answer_key_q17">
            <a:extLst>
              <a:ext uri="{FF2B5EF4-FFF2-40B4-BE49-F238E27FC236}">
                <a16:creationId xmlns:a16="http://schemas.microsoft.com/office/drawing/2014/main" id="{35A2648F-EFE0-1C03-7C43-14B1F3F287D2}"/>
              </a:ext>
            </a:extLst>
          </p:cNvPr>
          <p:cNvSpPr txBox="1"/>
          <p:nvPr/>
        </p:nvSpPr>
        <p:spPr>
          <a:xfrm>
            <a:off x="66675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Q17    D</a:t>
            </a:r>
            <a:endParaRPr lang="zh-CN" altLang="en-US" sz="3000" b="1">
              <a:solidFill>
                <a:srgbClr val="000000"/>
              </a:solidFill>
              <a:latin typeface="Arial" panose="020B0604020202020204" pitchFamily="34" charset="0"/>
            </a:endParaRPr>
          </a:p>
        </p:txBody>
      </p:sp>
      <p:sp>
        <p:nvSpPr>
          <p:cNvPr id="12" name="answer_key_q18">
            <a:extLst>
              <a:ext uri="{FF2B5EF4-FFF2-40B4-BE49-F238E27FC236}">
                <a16:creationId xmlns:a16="http://schemas.microsoft.com/office/drawing/2014/main" id="{EAEACC16-C5AE-CB5F-BB31-DF704CA38F0D}"/>
              </a:ext>
            </a:extLst>
          </p:cNvPr>
          <p:cNvSpPr txBox="1"/>
          <p:nvPr/>
        </p:nvSpPr>
        <p:spPr>
          <a:xfrm>
            <a:off x="66675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Q18    A</a:t>
            </a:r>
            <a:endParaRPr lang="zh-CN" altLang="en-US" sz="3000" b="1">
              <a:solidFill>
                <a:srgbClr val="000000"/>
              </a:solidFill>
              <a:latin typeface="Arial" panose="020B0604020202020204" pitchFamily="34" charset="0"/>
            </a:endParaRPr>
          </a:p>
        </p:txBody>
      </p:sp>
      <p:sp>
        <p:nvSpPr>
          <p:cNvPr id="13" name="answer_key_q19">
            <a:extLst>
              <a:ext uri="{FF2B5EF4-FFF2-40B4-BE49-F238E27FC236}">
                <a16:creationId xmlns:a16="http://schemas.microsoft.com/office/drawing/2014/main" id="{865A76B3-DFEA-6C76-90AE-B0E2BCDB8A64}"/>
              </a:ext>
            </a:extLst>
          </p:cNvPr>
          <p:cNvSpPr txBox="1"/>
          <p:nvPr/>
        </p:nvSpPr>
        <p:spPr>
          <a:xfrm>
            <a:off x="66675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Q19    C</a:t>
            </a:r>
            <a:endParaRPr lang="zh-CN" altLang="en-US" sz="3000" b="1">
              <a:solidFill>
                <a:srgbClr val="000000"/>
              </a:solidFill>
              <a:latin typeface="Arial" panose="020B0604020202020204" pitchFamily="34" charset="0"/>
            </a:endParaRPr>
          </a:p>
        </p:txBody>
      </p:sp>
      <p:sp>
        <p:nvSpPr>
          <p:cNvPr id="14" name="answer_key_q20">
            <a:extLst>
              <a:ext uri="{FF2B5EF4-FFF2-40B4-BE49-F238E27FC236}">
                <a16:creationId xmlns:a16="http://schemas.microsoft.com/office/drawing/2014/main" id="{4CC9D319-A160-4417-3DD4-B32CEF3763F1}"/>
              </a:ext>
            </a:extLst>
          </p:cNvPr>
          <p:cNvSpPr txBox="1"/>
          <p:nvPr/>
        </p:nvSpPr>
        <p:spPr>
          <a:xfrm>
            <a:off x="66675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Q20    C</a:t>
            </a:r>
            <a:endParaRPr lang="zh-CN" altLang="en-US" sz="3000" b="1">
              <a:solidFill>
                <a:srgbClr val="000000"/>
              </a:solidFill>
              <a:latin typeface="Arial" panose="020B0604020202020204" pitchFamily="34" charset="0"/>
            </a:endParaRPr>
          </a:p>
        </p:txBody>
      </p:sp>
      <p:sp>
        <p:nvSpPr>
          <p:cNvPr id="15" name="answer_key_footer">
            <a:extLst>
              <a:ext uri="{FF2B5EF4-FFF2-40B4-BE49-F238E27FC236}">
                <a16:creationId xmlns:a16="http://schemas.microsoft.com/office/drawing/2014/main" id="{A873036B-3592-1430-7450-9F5C4F5A6D80}"/>
              </a:ext>
            </a:extLst>
          </p:cNvPr>
          <p:cNvSpPr txBox="1"/>
          <p:nvPr/>
        </p:nvSpPr>
        <p:spPr>
          <a:xfrm>
            <a:off x="381000" y="6286500"/>
            <a:ext cx="11430000" cy="307777"/>
          </a:xfrm>
          <a:prstGeom prst="rect">
            <a:avLst/>
          </a:prstGeom>
          <a:noFill/>
        </p:spPr>
        <p:txBody>
          <a:bodyPr vert="horz" rtlCol="0">
            <a:spAutoFit/>
          </a:bodyPr>
          <a:lstStyle/>
          <a:p>
            <a:r>
              <a:rPr lang="en-US" altLang="zh-CN" sz="1400">
                <a:solidFill>
                  <a:srgbClr val="555555"/>
                </a:solidFill>
                <a:latin typeface="Arial" panose="020B0604020202020204" pitchFamily="34" charset="0"/>
              </a:rPr>
              <a:t>Cambridge AS Economics 9708 Paper 1 - difficult MCQ review</a:t>
            </a:r>
            <a:endParaRPr lang="zh-CN" altLang="en-US" sz="1400">
              <a:solidFill>
                <a:srgbClr val="555555"/>
              </a:solidFill>
              <a:latin typeface="Arial" panose="020B0604020202020204" pitchFamily="34" charset="0"/>
            </a:endParaRPr>
          </a:p>
        </p:txBody>
      </p:sp>
    </p:spTree>
    <p:extLst>
      <p:ext uri="{BB962C8B-B14F-4D97-AF65-F5344CB8AC3E}">
        <p14:creationId xmlns:p14="http://schemas.microsoft.com/office/powerpoint/2010/main" val="38554885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BD70B-242A-BE59-6F7C-8C234423E05F}"/>
            </a:ext>
          </a:extLst>
        </p:cNvPr>
        <p:cNvGrpSpPr/>
        <p:nvPr/>
      </p:nvGrpSpPr>
      <p:grpSpPr>
        <a:xfrm>
          <a:off x="0" y="0"/>
          <a:ext cx="0" cy="0"/>
          <a:chOff x="0" y="0"/>
          <a:chExt cx="0" cy="0"/>
        </a:xfrm>
      </p:grpSpPr>
      <p:sp>
        <p:nvSpPr>
          <p:cNvPr id="2" name="answer_key_title">
            <a:extLst>
              <a:ext uri="{FF2B5EF4-FFF2-40B4-BE49-F238E27FC236}">
                <a16:creationId xmlns:a16="http://schemas.microsoft.com/office/drawing/2014/main" id="{BDA000C4-40AA-6294-B020-841C4F6E3FF4}"/>
              </a:ext>
            </a:extLst>
          </p:cNvPr>
          <p:cNvSpPr txBox="1"/>
          <p:nvPr/>
        </p:nvSpPr>
        <p:spPr>
          <a:xfrm>
            <a:off x="381000" y="355600"/>
            <a:ext cx="11430000" cy="523220"/>
          </a:xfrm>
          <a:prstGeom prst="rect">
            <a:avLst/>
          </a:prstGeom>
          <a:noFill/>
        </p:spPr>
        <p:txBody>
          <a:bodyPr vert="horz" rtlCol="0">
            <a:spAutoFit/>
          </a:bodyPr>
          <a:lstStyle/>
          <a:p>
            <a:r>
              <a:rPr lang="en-US" altLang="zh-CN" sz="2800" b="1">
                <a:solidFill>
                  <a:srgbClr val="000000"/>
                </a:solidFill>
                <a:latin typeface="Arial" panose="020B0604020202020204" pitchFamily="34" charset="0"/>
              </a:rPr>
              <a:t>Answer Key - Part 3: Questions 21-30</a:t>
            </a:r>
            <a:endParaRPr lang="zh-CN" altLang="en-US" sz="2800" b="1">
              <a:solidFill>
                <a:srgbClr val="000000"/>
              </a:solidFill>
              <a:latin typeface="Arial" panose="020B0604020202020204" pitchFamily="34" charset="0"/>
            </a:endParaRPr>
          </a:p>
        </p:txBody>
      </p:sp>
      <p:sp>
        <p:nvSpPr>
          <p:cNvPr id="3" name="answer_key_note">
            <a:extLst>
              <a:ext uri="{FF2B5EF4-FFF2-40B4-BE49-F238E27FC236}">
                <a16:creationId xmlns:a16="http://schemas.microsoft.com/office/drawing/2014/main" id="{5F5A90AB-5554-6970-36B0-80408D690486}"/>
              </a:ext>
            </a:extLst>
          </p:cNvPr>
          <p:cNvSpPr txBox="1"/>
          <p:nvPr/>
        </p:nvSpPr>
        <p:spPr>
          <a:xfrm>
            <a:off x="381000" y="952500"/>
            <a:ext cx="11430000" cy="369332"/>
          </a:xfrm>
          <a:prstGeom prst="rect">
            <a:avLst/>
          </a:prstGeom>
          <a:noFill/>
        </p:spPr>
        <p:txBody>
          <a:bodyPr vert="horz" rtlCol="0">
            <a:spAutoFit/>
          </a:bodyPr>
          <a:lstStyle/>
          <a:p>
            <a:r>
              <a:rPr lang="en-US" altLang="zh-CN">
                <a:solidFill>
                  <a:srgbClr val="555555"/>
                </a:solidFill>
                <a:latin typeface="Arial" panose="020B0604020202020204" pitchFamily="34" charset="0"/>
              </a:rPr>
              <a:t>Use after students have attempted this set.</a:t>
            </a:r>
            <a:endParaRPr lang="zh-CN" altLang="en-US">
              <a:solidFill>
                <a:srgbClr val="555555"/>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F27CBC9B-AE57-3C46-122C-31D12B9E1CAA}"/>
              </a:ext>
            </a:extLst>
          </p:cNvPr>
          <p:cNvCxnSpPr/>
          <p:nvPr/>
        </p:nvCxnSpPr>
        <p:spPr>
          <a:xfrm>
            <a:off x="381000" y="1422400"/>
            <a:ext cx="11430000" cy="0"/>
          </a:xfrm>
          <a:prstGeom prst="line">
            <a:avLst/>
          </a:prstGeom>
          <a:ln w="12700">
            <a:solidFill>
              <a:srgbClr val="AAAAAA"/>
            </a:solidFill>
          </a:ln>
        </p:spPr>
        <p:style>
          <a:lnRef idx="1">
            <a:schemeClr val="accent1"/>
          </a:lnRef>
          <a:fillRef idx="0">
            <a:schemeClr val="accent1"/>
          </a:fillRef>
          <a:effectRef idx="0">
            <a:schemeClr val="accent1"/>
          </a:effectRef>
          <a:fontRef idx="minor">
            <a:schemeClr val="tx1"/>
          </a:fontRef>
        </p:style>
      </p:cxnSp>
      <p:sp>
        <p:nvSpPr>
          <p:cNvPr id="5" name="answer_key_q21">
            <a:extLst>
              <a:ext uri="{FF2B5EF4-FFF2-40B4-BE49-F238E27FC236}">
                <a16:creationId xmlns:a16="http://schemas.microsoft.com/office/drawing/2014/main" id="{05CEE443-6112-D45B-216B-C6D3BB832491}"/>
              </a:ext>
            </a:extLst>
          </p:cNvPr>
          <p:cNvSpPr txBox="1"/>
          <p:nvPr/>
        </p:nvSpPr>
        <p:spPr>
          <a:xfrm>
            <a:off x="15240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Q21    D</a:t>
            </a:r>
            <a:endParaRPr lang="zh-CN" altLang="en-US" sz="3000" b="1">
              <a:solidFill>
                <a:srgbClr val="000000"/>
              </a:solidFill>
              <a:latin typeface="Arial" panose="020B0604020202020204" pitchFamily="34" charset="0"/>
            </a:endParaRPr>
          </a:p>
        </p:txBody>
      </p:sp>
      <p:sp>
        <p:nvSpPr>
          <p:cNvPr id="6" name="answer_key_q22">
            <a:extLst>
              <a:ext uri="{FF2B5EF4-FFF2-40B4-BE49-F238E27FC236}">
                <a16:creationId xmlns:a16="http://schemas.microsoft.com/office/drawing/2014/main" id="{31227201-D0A7-64DD-314B-7F15B952BFD5}"/>
              </a:ext>
            </a:extLst>
          </p:cNvPr>
          <p:cNvSpPr txBox="1"/>
          <p:nvPr/>
        </p:nvSpPr>
        <p:spPr>
          <a:xfrm>
            <a:off x="15240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Q22    A</a:t>
            </a:r>
            <a:endParaRPr lang="zh-CN" altLang="en-US" sz="3000" b="1">
              <a:solidFill>
                <a:srgbClr val="000000"/>
              </a:solidFill>
              <a:latin typeface="Arial" panose="020B0604020202020204" pitchFamily="34" charset="0"/>
            </a:endParaRPr>
          </a:p>
        </p:txBody>
      </p:sp>
      <p:sp>
        <p:nvSpPr>
          <p:cNvPr id="7" name="answer_key_q23">
            <a:extLst>
              <a:ext uri="{FF2B5EF4-FFF2-40B4-BE49-F238E27FC236}">
                <a16:creationId xmlns:a16="http://schemas.microsoft.com/office/drawing/2014/main" id="{FE099262-B3EF-F501-06EE-BBA2B593FA63}"/>
              </a:ext>
            </a:extLst>
          </p:cNvPr>
          <p:cNvSpPr txBox="1"/>
          <p:nvPr/>
        </p:nvSpPr>
        <p:spPr>
          <a:xfrm>
            <a:off x="15240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Q23    B</a:t>
            </a:r>
            <a:endParaRPr lang="zh-CN" altLang="en-US" sz="3000" b="1">
              <a:solidFill>
                <a:srgbClr val="000000"/>
              </a:solidFill>
              <a:latin typeface="Arial" panose="020B0604020202020204" pitchFamily="34" charset="0"/>
            </a:endParaRPr>
          </a:p>
        </p:txBody>
      </p:sp>
      <p:sp>
        <p:nvSpPr>
          <p:cNvPr id="8" name="answer_key_q24">
            <a:extLst>
              <a:ext uri="{FF2B5EF4-FFF2-40B4-BE49-F238E27FC236}">
                <a16:creationId xmlns:a16="http://schemas.microsoft.com/office/drawing/2014/main" id="{CAE37A75-6D26-4576-457C-526C4CCBBFD3}"/>
              </a:ext>
            </a:extLst>
          </p:cNvPr>
          <p:cNvSpPr txBox="1"/>
          <p:nvPr/>
        </p:nvSpPr>
        <p:spPr>
          <a:xfrm>
            <a:off x="15240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Q24    D</a:t>
            </a:r>
            <a:endParaRPr lang="zh-CN" altLang="en-US" sz="3000" b="1">
              <a:solidFill>
                <a:srgbClr val="000000"/>
              </a:solidFill>
              <a:latin typeface="Arial" panose="020B0604020202020204" pitchFamily="34" charset="0"/>
            </a:endParaRPr>
          </a:p>
        </p:txBody>
      </p:sp>
      <p:sp>
        <p:nvSpPr>
          <p:cNvPr id="9" name="answer_key_q25">
            <a:extLst>
              <a:ext uri="{FF2B5EF4-FFF2-40B4-BE49-F238E27FC236}">
                <a16:creationId xmlns:a16="http://schemas.microsoft.com/office/drawing/2014/main" id="{E373B11C-E2C2-EF87-4049-68979EE08E1E}"/>
              </a:ext>
            </a:extLst>
          </p:cNvPr>
          <p:cNvSpPr txBox="1"/>
          <p:nvPr/>
        </p:nvSpPr>
        <p:spPr>
          <a:xfrm>
            <a:off x="15240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Q25    D</a:t>
            </a:r>
            <a:endParaRPr lang="zh-CN" altLang="en-US" sz="3000" b="1">
              <a:solidFill>
                <a:srgbClr val="000000"/>
              </a:solidFill>
              <a:latin typeface="Arial" panose="020B0604020202020204" pitchFamily="34" charset="0"/>
            </a:endParaRPr>
          </a:p>
        </p:txBody>
      </p:sp>
      <p:sp>
        <p:nvSpPr>
          <p:cNvPr id="10" name="answer_key_q26">
            <a:extLst>
              <a:ext uri="{FF2B5EF4-FFF2-40B4-BE49-F238E27FC236}">
                <a16:creationId xmlns:a16="http://schemas.microsoft.com/office/drawing/2014/main" id="{A7C517E9-1F3C-5381-F2CF-612BBF1985DD}"/>
              </a:ext>
            </a:extLst>
          </p:cNvPr>
          <p:cNvSpPr txBox="1"/>
          <p:nvPr/>
        </p:nvSpPr>
        <p:spPr>
          <a:xfrm>
            <a:off x="66675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Q26    C</a:t>
            </a:r>
            <a:endParaRPr lang="zh-CN" altLang="en-US" sz="3000" b="1">
              <a:solidFill>
                <a:srgbClr val="000000"/>
              </a:solidFill>
              <a:latin typeface="Arial" panose="020B0604020202020204" pitchFamily="34" charset="0"/>
            </a:endParaRPr>
          </a:p>
        </p:txBody>
      </p:sp>
      <p:sp>
        <p:nvSpPr>
          <p:cNvPr id="11" name="answer_key_q27">
            <a:extLst>
              <a:ext uri="{FF2B5EF4-FFF2-40B4-BE49-F238E27FC236}">
                <a16:creationId xmlns:a16="http://schemas.microsoft.com/office/drawing/2014/main" id="{F8325E96-239C-8A1D-9E2A-F9EE981412D7}"/>
              </a:ext>
            </a:extLst>
          </p:cNvPr>
          <p:cNvSpPr txBox="1"/>
          <p:nvPr/>
        </p:nvSpPr>
        <p:spPr>
          <a:xfrm>
            <a:off x="66675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Q27    D</a:t>
            </a:r>
            <a:endParaRPr lang="zh-CN" altLang="en-US" sz="3000" b="1">
              <a:solidFill>
                <a:srgbClr val="000000"/>
              </a:solidFill>
              <a:latin typeface="Arial" panose="020B0604020202020204" pitchFamily="34" charset="0"/>
            </a:endParaRPr>
          </a:p>
        </p:txBody>
      </p:sp>
      <p:sp>
        <p:nvSpPr>
          <p:cNvPr id="12" name="answer_key_q28">
            <a:extLst>
              <a:ext uri="{FF2B5EF4-FFF2-40B4-BE49-F238E27FC236}">
                <a16:creationId xmlns:a16="http://schemas.microsoft.com/office/drawing/2014/main" id="{008C24DD-2D7E-EABA-5EE6-593C35803A0B}"/>
              </a:ext>
            </a:extLst>
          </p:cNvPr>
          <p:cNvSpPr txBox="1"/>
          <p:nvPr/>
        </p:nvSpPr>
        <p:spPr>
          <a:xfrm>
            <a:off x="66675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Q28    A</a:t>
            </a:r>
            <a:endParaRPr lang="zh-CN" altLang="en-US" sz="3000" b="1">
              <a:solidFill>
                <a:srgbClr val="000000"/>
              </a:solidFill>
              <a:latin typeface="Arial" panose="020B0604020202020204" pitchFamily="34" charset="0"/>
            </a:endParaRPr>
          </a:p>
        </p:txBody>
      </p:sp>
      <p:sp>
        <p:nvSpPr>
          <p:cNvPr id="13" name="answer_key_q29">
            <a:extLst>
              <a:ext uri="{FF2B5EF4-FFF2-40B4-BE49-F238E27FC236}">
                <a16:creationId xmlns:a16="http://schemas.microsoft.com/office/drawing/2014/main" id="{A4AA9AAD-88AB-627E-B2FE-BDEF78263F07}"/>
              </a:ext>
            </a:extLst>
          </p:cNvPr>
          <p:cNvSpPr txBox="1"/>
          <p:nvPr/>
        </p:nvSpPr>
        <p:spPr>
          <a:xfrm>
            <a:off x="66675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Q29    C</a:t>
            </a:r>
            <a:endParaRPr lang="zh-CN" altLang="en-US" sz="3000" b="1">
              <a:solidFill>
                <a:srgbClr val="000000"/>
              </a:solidFill>
              <a:latin typeface="Arial" panose="020B0604020202020204" pitchFamily="34" charset="0"/>
            </a:endParaRPr>
          </a:p>
        </p:txBody>
      </p:sp>
      <p:sp>
        <p:nvSpPr>
          <p:cNvPr id="14" name="answer_key_q30">
            <a:extLst>
              <a:ext uri="{FF2B5EF4-FFF2-40B4-BE49-F238E27FC236}">
                <a16:creationId xmlns:a16="http://schemas.microsoft.com/office/drawing/2014/main" id="{EF1EFF7A-7660-3195-E094-BCC4D32681C4}"/>
              </a:ext>
            </a:extLst>
          </p:cNvPr>
          <p:cNvSpPr txBox="1"/>
          <p:nvPr/>
        </p:nvSpPr>
        <p:spPr>
          <a:xfrm>
            <a:off x="66675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Q30    B</a:t>
            </a:r>
            <a:endParaRPr lang="zh-CN" altLang="en-US" sz="3000" b="1">
              <a:solidFill>
                <a:srgbClr val="000000"/>
              </a:solidFill>
              <a:latin typeface="Arial" panose="020B0604020202020204" pitchFamily="34" charset="0"/>
            </a:endParaRPr>
          </a:p>
        </p:txBody>
      </p:sp>
      <p:sp>
        <p:nvSpPr>
          <p:cNvPr id="15" name="answer_key_footer">
            <a:extLst>
              <a:ext uri="{FF2B5EF4-FFF2-40B4-BE49-F238E27FC236}">
                <a16:creationId xmlns:a16="http://schemas.microsoft.com/office/drawing/2014/main" id="{C98CD00F-8212-39B3-F10A-623C2A02C856}"/>
              </a:ext>
            </a:extLst>
          </p:cNvPr>
          <p:cNvSpPr txBox="1"/>
          <p:nvPr/>
        </p:nvSpPr>
        <p:spPr>
          <a:xfrm>
            <a:off x="381000" y="6286500"/>
            <a:ext cx="11430000" cy="307777"/>
          </a:xfrm>
          <a:prstGeom prst="rect">
            <a:avLst/>
          </a:prstGeom>
          <a:noFill/>
        </p:spPr>
        <p:txBody>
          <a:bodyPr vert="horz" rtlCol="0">
            <a:spAutoFit/>
          </a:bodyPr>
          <a:lstStyle/>
          <a:p>
            <a:r>
              <a:rPr lang="en-US" altLang="zh-CN" sz="1400">
                <a:solidFill>
                  <a:srgbClr val="555555"/>
                </a:solidFill>
                <a:latin typeface="Arial" panose="020B0604020202020204" pitchFamily="34" charset="0"/>
              </a:rPr>
              <a:t>Cambridge AS Economics 9708 Paper 1 - difficult MCQ review</a:t>
            </a:r>
            <a:endParaRPr lang="zh-CN" altLang="en-US" sz="1400">
              <a:solidFill>
                <a:srgbClr val="555555"/>
              </a:solidFill>
              <a:latin typeface="Arial" panose="020B0604020202020204" pitchFamily="34" charset="0"/>
            </a:endParaRPr>
          </a:p>
        </p:txBody>
      </p:sp>
    </p:spTree>
    <p:extLst>
      <p:ext uri="{BB962C8B-B14F-4D97-AF65-F5344CB8AC3E}">
        <p14:creationId xmlns:p14="http://schemas.microsoft.com/office/powerpoint/2010/main" val="42095360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232EB-4616-03CF-5BDD-F642E5CC2C1F}"/>
            </a:ext>
          </a:extLst>
        </p:cNvPr>
        <p:cNvGrpSpPr/>
        <p:nvPr/>
      </p:nvGrpSpPr>
      <p:grpSpPr>
        <a:xfrm>
          <a:off x="0" y="0"/>
          <a:ext cx="0" cy="0"/>
          <a:chOff x="0" y="0"/>
          <a:chExt cx="0" cy="0"/>
        </a:xfrm>
      </p:grpSpPr>
      <p:sp>
        <p:nvSpPr>
          <p:cNvPr id="2" name="answer_key_title">
            <a:extLst>
              <a:ext uri="{FF2B5EF4-FFF2-40B4-BE49-F238E27FC236}">
                <a16:creationId xmlns:a16="http://schemas.microsoft.com/office/drawing/2014/main" id="{D8D28CB1-A2F0-BE4E-DBA1-4624AE811C97}"/>
              </a:ext>
            </a:extLst>
          </p:cNvPr>
          <p:cNvSpPr txBox="1"/>
          <p:nvPr/>
        </p:nvSpPr>
        <p:spPr>
          <a:xfrm>
            <a:off x="381000" y="355600"/>
            <a:ext cx="11430000" cy="523220"/>
          </a:xfrm>
          <a:prstGeom prst="rect">
            <a:avLst/>
          </a:prstGeom>
          <a:noFill/>
        </p:spPr>
        <p:txBody>
          <a:bodyPr vert="horz" rtlCol="0">
            <a:spAutoFit/>
          </a:bodyPr>
          <a:lstStyle/>
          <a:p>
            <a:r>
              <a:rPr lang="en-US" altLang="zh-CN" sz="2800" b="1">
                <a:solidFill>
                  <a:srgbClr val="000000"/>
                </a:solidFill>
                <a:latin typeface="Arial" panose="020B0604020202020204" pitchFamily="34" charset="0"/>
              </a:rPr>
              <a:t>Answer Key - Part 4: Questions 31-40</a:t>
            </a:r>
            <a:endParaRPr lang="zh-CN" altLang="en-US" sz="2800" b="1">
              <a:solidFill>
                <a:srgbClr val="000000"/>
              </a:solidFill>
              <a:latin typeface="Arial" panose="020B0604020202020204" pitchFamily="34" charset="0"/>
            </a:endParaRPr>
          </a:p>
        </p:txBody>
      </p:sp>
      <p:sp>
        <p:nvSpPr>
          <p:cNvPr id="3" name="answer_key_note">
            <a:extLst>
              <a:ext uri="{FF2B5EF4-FFF2-40B4-BE49-F238E27FC236}">
                <a16:creationId xmlns:a16="http://schemas.microsoft.com/office/drawing/2014/main" id="{179EBC52-6FBA-58BA-732F-C467DA399C1B}"/>
              </a:ext>
            </a:extLst>
          </p:cNvPr>
          <p:cNvSpPr txBox="1"/>
          <p:nvPr/>
        </p:nvSpPr>
        <p:spPr>
          <a:xfrm>
            <a:off x="381000" y="952500"/>
            <a:ext cx="11430000" cy="369332"/>
          </a:xfrm>
          <a:prstGeom prst="rect">
            <a:avLst/>
          </a:prstGeom>
          <a:noFill/>
        </p:spPr>
        <p:txBody>
          <a:bodyPr vert="horz" rtlCol="0">
            <a:spAutoFit/>
          </a:bodyPr>
          <a:lstStyle/>
          <a:p>
            <a:r>
              <a:rPr lang="en-US" altLang="zh-CN">
                <a:solidFill>
                  <a:srgbClr val="555555"/>
                </a:solidFill>
                <a:latin typeface="Arial" panose="020B0604020202020204" pitchFamily="34" charset="0"/>
              </a:rPr>
              <a:t>Use after students have attempted this set.</a:t>
            </a:r>
            <a:endParaRPr lang="zh-CN" altLang="en-US">
              <a:solidFill>
                <a:srgbClr val="555555"/>
              </a:solidFill>
              <a:latin typeface="Arial" panose="020B0604020202020204" pitchFamily="34" charset="0"/>
            </a:endParaRPr>
          </a:p>
        </p:txBody>
      </p:sp>
      <p:cxnSp>
        <p:nvCxnSpPr>
          <p:cNvPr id="4" name="Straight Connector 3">
            <a:extLst>
              <a:ext uri="{FF2B5EF4-FFF2-40B4-BE49-F238E27FC236}">
                <a16:creationId xmlns:a16="http://schemas.microsoft.com/office/drawing/2014/main" id="{4683A8C0-B9BD-E707-6098-F6B19499FD7A}"/>
              </a:ext>
            </a:extLst>
          </p:cNvPr>
          <p:cNvCxnSpPr/>
          <p:nvPr/>
        </p:nvCxnSpPr>
        <p:spPr>
          <a:xfrm>
            <a:off x="381000" y="1422400"/>
            <a:ext cx="11430000" cy="0"/>
          </a:xfrm>
          <a:prstGeom prst="line">
            <a:avLst/>
          </a:prstGeom>
          <a:ln w="12700">
            <a:solidFill>
              <a:srgbClr val="AAAAAA"/>
            </a:solidFill>
          </a:ln>
        </p:spPr>
        <p:style>
          <a:lnRef idx="1">
            <a:schemeClr val="accent1"/>
          </a:lnRef>
          <a:fillRef idx="0">
            <a:schemeClr val="accent1"/>
          </a:fillRef>
          <a:effectRef idx="0">
            <a:schemeClr val="accent1"/>
          </a:effectRef>
          <a:fontRef idx="minor">
            <a:schemeClr val="tx1"/>
          </a:fontRef>
        </p:style>
      </p:cxnSp>
      <p:sp>
        <p:nvSpPr>
          <p:cNvPr id="5" name="answer_key_q31">
            <a:extLst>
              <a:ext uri="{FF2B5EF4-FFF2-40B4-BE49-F238E27FC236}">
                <a16:creationId xmlns:a16="http://schemas.microsoft.com/office/drawing/2014/main" id="{7052CA3B-280C-32F7-6A49-2523CEB17970}"/>
              </a:ext>
            </a:extLst>
          </p:cNvPr>
          <p:cNvSpPr txBox="1"/>
          <p:nvPr/>
        </p:nvSpPr>
        <p:spPr>
          <a:xfrm>
            <a:off x="15240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Q31    D</a:t>
            </a:r>
            <a:endParaRPr lang="zh-CN" altLang="en-US" sz="3000" b="1">
              <a:solidFill>
                <a:srgbClr val="000000"/>
              </a:solidFill>
              <a:latin typeface="Arial" panose="020B0604020202020204" pitchFamily="34" charset="0"/>
            </a:endParaRPr>
          </a:p>
        </p:txBody>
      </p:sp>
      <p:sp>
        <p:nvSpPr>
          <p:cNvPr id="6" name="answer_key_q32">
            <a:extLst>
              <a:ext uri="{FF2B5EF4-FFF2-40B4-BE49-F238E27FC236}">
                <a16:creationId xmlns:a16="http://schemas.microsoft.com/office/drawing/2014/main" id="{E4FF54D8-D991-0E51-A415-71E29DF57593}"/>
              </a:ext>
            </a:extLst>
          </p:cNvPr>
          <p:cNvSpPr txBox="1"/>
          <p:nvPr/>
        </p:nvSpPr>
        <p:spPr>
          <a:xfrm>
            <a:off x="15240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Q32    B</a:t>
            </a:r>
            <a:endParaRPr lang="zh-CN" altLang="en-US" sz="3000" b="1">
              <a:solidFill>
                <a:srgbClr val="000000"/>
              </a:solidFill>
              <a:latin typeface="Arial" panose="020B0604020202020204" pitchFamily="34" charset="0"/>
            </a:endParaRPr>
          </a:p>
        </p:txBody>
      </p:sp>
      <p:sp>
        <p:nvSpPr>
          <p:cNvPr id="7" name="answer_key_q33">
            <a:extLst>
              <a:ext uri="{FF2B5EF4-FFF2-40B4-BE49-F238E27FC236}">
                <a16:creationId xmlns:a16="http://schemas.microsoft.com/office/drawing/2014/main" id="{EDADDBBF-7B44-469F-FE3A-E62B2F7C7CD0}"/>
              </a:ext>
            </a:extLst>
          </p:cNvPr>
          <p:cNvSpPr txBox="1"/>
          <p:nvPr/>
        </p:nvSpPr>
        <p:spPr>
          <a:xfrm>
            <a:off x="15240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Q33    D</a:t>
            </a:r>
            <a:endParaRPr lang="zh-CN" altLang="en-US" sz="3000" b="1">
              <a:solidFill>
                <a:srgbClr val="000000"/>
              </a:solidFill>
              <a:latin typeface="Arial" panose="020B0604020202020204" pitchFamily="34" charset="0"/>
            </a:endParaRPr>
          </a:p>
        </p:txBody>
      </p:sp>
      <p:sp>
        <p:nvSpPr>
          <p:cNvPr id="8" name="answer_key_q34">
            <a:extLst>
              <a:ext uri="{FF2B5EF4-FFF2-40B4-BE49-F238E27FC236}">
                <a16:creationId xmlns:a16="http://schemas.microsoft.com/office/drawing/2014/main" id="{9D1E87DB-64C9-C378-89FA-417DFD64D523}"/>
              </a:ext>
            </a:extLst>
          </p:cNvPr>
          <p:cNvSpPr txBox="1"/>
          <p:nvPr/>
        </p:nvSpPr>
        <p:spPr>
          <a:xfrm>
            <a:off x="15240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Q34    B</a:t>
            </a:r>
            <a:endParaRPr lang="zh-CN" altLang="en-US" sz="3000" b="1">
              <a:solidFill>
                <a:srgbClr val="000000"/>
              </a:solidFill>
              <a:latin typeface="Arial" panose="020B0604020202020204" pitchFamily="34" charset="0"/>
            </a:endParaRPr>
          </a:p>
        </p:txBody>
      </p:sp>
      <p:sp>
        <p:nvSpPr>
          <p:cNvPr id="9" name="answer_key_q35">
            <a:extLst>
              <a:ext uri="{FF2B5EF4-FFF2-40B4-BE49-F238E27FC236}">
                <a16:creationId xmlns:a16="http://schemas.microsoft.com/office/drawing/2014/main" id="{3BDAC48B-01F8-A9F6-2B5D-94003CA9BDF1}"/>
              </a:ext>
            </a:extLst>
          </p:cNvPr>
          <p:cNvSpPr txBox="1"/>
          <p:nvPr/>
        </p:nvSpPr>
        <p:spPr>
          <a:xfrm>
            <a:off x="15240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Q35    C</a:t>
            </a:r>
            <a:endParaRPr lang="zh-CN" altLang="en-US" sz="3000" b="1">
              <a:solidFill>
                <a:srgbClr val="000000"/>
              </a:solidFill>
              <a:latin typeface="Arial" panose="020B0604020202020204" pitchFamily="34" charset="0"/>
            </a:endParaRPr>
          </a:p>
        </p:txBody>
      </p:sp>
      <p:sp>
        <p:nvSpPr>
          <p:cNvPr id="10" name="answer_key_q36">
            <a:extLst>
              <a:ext uri="{FF2B5EF4-FFF2-40B4-BE49-F238E27FC236}">
                <a16:creationId xmlns:a16="http://schemas.microsoft.com/office/drawing/2014/main" id="{10A94C14-24FD-94DC-6354-C30D8D87C881}"/>
              </a:ext>
            </a:extLst>
          </p:cNvPr>
          <p:cNvSpPr txBox="1"/>
          <p:nvPr/>
        </p:nvSpPr>
        <p:spPr>
          <a:xfrm>
            <a:off x="6667500" y="20066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Q36    B</a:t>
            </a:r>
            <a:endParaRPr lang="zh-CN" altLang="en-US" sz="3000" b="1">
              <a:solidFill>
                <a:srgbClr val="000000"/>
              </a:solidFill>
              <a:latin typeface="Arial" panose="020B0604020202020204" pitchFamily="34" charset="0"/>
            </a:endParaRPr>
          </a:p>
        </p:txBody>
      </p:sp>
      <p:sp>
        <p:nvSpPr>
          <p:cNvPr id="11" name="answer_key_q37">
            <a:extLst>
              <a:ext uri="{FF2B5EF4-FFF2-40B4-BE49-F238E27FC236}">
                <a16:creationId xmlns:a16="http://schemas.microsoft.com/office/drawing/2014/main" id="{752BDDF0-EF64-FEAB-F9F3-6CEAE14AD014}"/>
              </a:ext>
            </a:extLst>
          </p:cNvPr>
          <p:cNvSpPr txBox="1"/>
          <p:nvPr/>
        </p:nvSpPr>
        <p:spPr>
          <a:xfrm>
            <a:off x="6667500" y="26924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Q37    C</a:t>
            </a:r>
            <a:endParaRPr lang="zh-CN" altLang="en-US" sz="3000" b="1">
              <a:solidFill>
                <a:srgbClr val="000000"/>
              </a:solidFill>
              <a:latin typeface="Arial" panose="020B0604020202020204" pitchFamily="34" charset="0"/>
            </a:endParaRPr>
          </a:p>
        </p:txBody>
      </p:sp>
      <p:sp>
        <p:nvSpPr>
          <p:cNvPr id="12" name="answer_key_q38">
            <a:extLst>
              <a:ext uri="{FF2B5EF4-FFF2-40B4-BE49-F238E27FC236}">
                <a16:creationId xmlns:a16="http://schemas.microsoft.com/office/drawing/2014/main" id="{6FE40D3E-D51D-712B-EC8B-61770D7101E4}"/>
              </a:ext>
            </a:extLst>
          </p:cNvPr>
          <p:cNvSpPr txBox="1"/>
          <p:nvPr/>
        </p:nvSpPr>
        <p:spPr>
          <a:xfrm>
            <a:off x="6667500" y="33782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Q38    D</a:t>
            </a:r>
            <a:endParaRPr lang="zh-CN" altLang="en-US" sz="3000" b="1">
              <a:solidFill>
                <a:srgbClr val="000000"/>
              </a:solidFill>
              <a:latin typeface="Arial" panose="020B0604020202020204" pitchFamily="34" charset="0"/>
            </a:endParaRPr>
          </a:p>
        </p:txBody>
      </p:sp>
      <p:sp>
        <p:nvSpPr>
          <p:cNvPr id="13" name="answer_key_q39">
            <a:extLst>
              <a:ext uri="{FF2B5EF4-FFF2-40B4-BE49-F238E27FC236}">
                <a16:creationId xmlns:a16="http://schemas.microsoft.com/office/drawing/2014/main" id="{9F34E62E-E3F7-568C-E7F5-3E9A7DD69B5D}"/>
              </a:ext>
            </a:extLst>
          </p:cNvPr>
          <p:cNvSpPr txBox="1"/>
          <p:nvPr/>
        </p:nvSpPr>
        <p:spPr>
          <a:xfrm>
            <a:off x="6667500" y="40640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Q39    C</a:t>
            </a:r>
            <a:endParaRPr lang="zh-CN" altLang="en-US" sz="3000" b="1">
              <a:solidFill>
                <a:srgbClr val="000000"/>
              </a:solidFill>
              <a:latin typeface="Arial" panose="020B0604020202020204" pitchFamily="34" charset="0"/>
            </a:endParaRPr>
          </a:p>
        </p:txBody>
      </p:sp>
      <p:sp>
        <p:nvSpPr>
          <p:cNvPr id="14" name="answer_key_q40">
            <a:extLst>
              <a:ext uri="{FF2B5EF4-FFF2-40B4-BE49-F238E27FC236}">
                <a16:creationId xmlns:a16="http://schemas.microsoft.com/office/drawing/2014/main" id="{B8A2A41B-EEDC-6FE3-941F-720D9EBB3030}"/>
              </a:ext>
            </a:extLst>
          </p:cNvPr>
          <p:cNvSpPr txBox="1"/>
          <p:nvPr/>
        </p:nvSpPr>
        <p:spPr>
          <a:xfrm>
            <a:off x="6667500" y="4749800"/>
            <a:ext cx="3810000" cy="553998"/>
          </a:xfrm>
          <a:prstGeom prst="rect">
            <a:avLst/>
          </a:prstGeom>
          <a:noFill/>
        </p:spPr>
        <p:txBody>
          <a:bodyPr vert="horz" rtlCol="0">
            <a:spAutoFit/>
          </a:bodyPr>
          <a:lstStyle/>
          <a:p>
            <a:r>
              <a:rPr lang="en-US" altLang="zh-CN" sz="3000" b="1">
                <a:solidFill>
                  <a:srgbClr val="000000"/>
                </a:solidFill>
                <a:latin typeface="Arial" panose="020B0604020202020204" pitchFamily="34" charset="0"/>
              </a:rPr>
              <a:t>Q40    D</a:t>
            </a:r>
            <a:endParaRPr lang="zh-CN" altLang="en-US" sz="3000" b="1">
              <a:solidFill>
                <a:srgbClr val="000000"/>
              </a:solidFill>
              <a:latin typeface="Arial" panose="020B0604020202020204" pitchFamily="34" charset="0"/>
            </a:endParaRPr>
          </a:p>
        </p:txBody>
      </p:sp>
      <p:sp>
        <p:nvSpPr>
          <p:cNvPr id="15" name="answer_key_footer">
            <a:extLst>
              <a:ext uri="{FF2B5EF4-FFF2-40B4-BE49-F238E27FC236}">
                <a16:creationId xmlns:a16="http://schemas.microsoft.com/office/drawing/2014/main" id="{10CE5CAF-F9D3-ABE2-23CB-1773FD0A22F1}"/>
              </a:ext>
            </a:extLst>
          </p:cNvPr>
          <p:cNvSpPr txBox="1"/>
          <p:nvPr/>
        </p:nvSpPr>
        <p:spPr>
          <a:xfrm>
            <a:off x="381000" y="6286500"/>
            <a:ext cx="11430000" cy="307777"/>
          </a:xfrm>
          <a:prstGeom prst="rect">
            <a:avLst/>
          </a:prstGeom>
          <a:noFill/>
        </p:spPr>
        <p:txBody>
          <a:bodyPr vert="horz" rtlCol="0">
            <a:spAutoFit/>
          </a:bodyPr>
          <a:lstStyle/>
          <a:p>
            <a:r>
              <a:rPr lang="en-US" altLang="zh-CN" sz="1400">
                <a:solidFill>
                  <a:srgbClr val="555555"/>
                </a:solidFill>
                <a:latin typeface="Arial" panose="020B0604020202020204" pitchFamily="34" charset="0"/>
              </a:rPr>
              <a:t>Cambridge AS Economics 9708 Paper 1 - difficult MCQ review</a:t>
            </a:r>
            <a:endParaRPr lang="zh-CN" altLang="en-US" sz="1400">
              <a:solidFill>
                <a:srgbClr val="555555"/>
              </a:solidFill>
              <a:latin typeface="Arial" panose="020B0604020202020204" pitchFamily="34" charset="0"/>
            </a:endParaRPr>
          </a:p>
        </p:txBody>
      </p:sp>
    </p:spTree>
    <p:extLst>
      <p:ext uri="{BB962C8B-B14F-4D97-AF65-F5344CB8AC3E}">
        <p14:creationId xmlns:p14="http://schemas.microsoft.com/office/powerpoint/2010/main" val="93092261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1504</TotalTime>
  <Words>3316</Words>
  <Application>Microsoft Office PowerPoint</Application>
  <DocSecurity>0</DocSecurity>
  <PresentationFormat>Widescreen</PresentationFormat>
  <Paragraphs>404</Paragraphs>
  <Slides>58</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Samuel Oehler-Huang</cp:lastModifiedBy>
  <cp:revision>7</cp:revision>
  <dcterms:created xsi:type="dcterms:W3CDTF">2026-05-19T01:54:52Z</dcterms:created>
  <dcterms:modified xsi:type="dcterms:W3CDTF">2026-05-26T03:02:08Z</dcterms:modified>
</cp:coreProperties>
</file>