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1" r:id="rId4"/>
    <p:sldId id="280" r:id="rId5"/>
    <p:sldId id="264" r:id="rId6"/>
    <p:sldId id="265" r:id="rId7"/>
    <p:sldId id="266" r:id="rId8"/>
    <p:sldId id="286" r:id="rId9"/>
    <p:sldId id="268" r:id="rId10"/>
    <p:sldId id="261" r:id="rId11"/>
    <p:sldId id="267" r:id="rId12"/>
    <p:sldId id="287" r:id="rId13"/>
    <p:sldId id="262" r:id="rId14"/>
    <p:sldId id="263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2" r:id="rId25"/>
    <p:sldId id="278" r:id="rId26"/>
    <p:sldId id="283" r:id="rId27"/>
    <p:sldId id="279" r:id="rId28"/>
    <p:sldId id="284" r:id="rId29"/>
    <p:sldId id="28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https://www.apec2026.cn/node_196.html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judgement: students choose yes or no, then name the information they would need. Do not introduce the labels investment, speculation or saving yet. Return to this decision on slide 24.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https://www.pexels.com/photo/smartphone-displaying-stock-trading-app-interface-28682345/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learning contract. The first two outcomes dominate Lesson 1; the second two are revisited and extended in Lesson 2.</a:t>
            </a:r>
          </a:p>
          <a:p>
            <a:endParaRPr/>
          </a:p>
          <a:p>
            <a:r>
              <a:t>[Sources]</a:t>
            </a:r>
          </a:p>
          <a:p>
            <a:r>
              <a:t>- Cambridge International AS &amp; A Level Economics 9708 syllabus for 2026, 2027 and 2028, section 9.1.1, p.29 (local PDF).</a:t>
            </a:r>
          </a:p>
          <a:p>
            <a:r>
              <a:t>- A-Level_Macro_International_32-Lesson_Coverage_Planner.xlsx, '32-Lesson Model', lessons 1-2 (local workbook).</a:t>
            </a:r>
          </a:p>
          <a:p>
            <a:r>
              <a:t>- Cambridge A Level Economics - Text.pdf, Chapter 41, especially PDF pp.351-353 and 357 (uploaded coursebook).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https://uk.finance.yahoo.com/news/investing-money-savings-risks-finances-050038406.html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https://www.kiplinger.com/investing/ways-your-phone-can-help-you-weather-market-volatility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Figures are pre-2022 stock-split prices, as reported by the SEC.</a:t>
            </a:r>
          </a:p>
          <a:p>
            <a:endParaRPr/>
          </a:p>
          <a:p>
            <a:r>
              <a:t>[Sources]</a:t>
            </a:r>
          </a:p>
          <a:p>
            <a:r>
              <a:t>- https://www.sec.gov/files/staff-report-equity-options-market-struction-conditions-early-2021.pdf</a:t>
            </a:r>
          </a:p>
          <a:p>
            <a:r>
              <a:t>- https://www.cnbc.com/2019/03/27/gamestop-doubling-down-on-its-investment-in-surging-esports-industry.html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Barber and Odean sample period: 1991-1996. Historical evidence does not predict every trader's result.</a:t>
            </a:r>
          </a:p>
          <a:p>
            <a:endParaRPr/>
          </a:p>
          <a:p>
            <a:r>
              <a:t>[Sources]</a:t>
            </a:r>
          </a:p>
          <a:p>
            <a:r>
              <a:t>- https://faculty.haas.berkeley.edu/odean/papers/returns/individual_investor_performance_final.pdf</a:t>
            </a:r>
          </a:p>
          <a:p>
            <a:r>
              <a:t>- https://ec.ltn.com.tw/article/breakingnews/3466782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https://www.stats.gov.cn/english/PressRelease/202602/t20260228_1962661.html</a:t>
            </a:r>
          </a:p>
          <a:p>
            <a:r>
              <a:t>- https://www.cca.org.mx/CCA_cursos/finanzas_personales/html/modulo3/modulo3-13.html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https://www.cnbc.com/2019/12/18/how-to-build-an-emergency-savings-fund.html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https://www.lepoint.fr/eureka/pourquoi-les-tirelires-ont-elles-la-forme-d-un-cochon-27-09-2024-2571328_4706.php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https://www.chinadailyhk.com/hk/article/605229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as of 31 December 2025. The USD illustration excludes fees, taxes and currency effects.</a:t>
            </a:r>
          </a:p>
          <a:p>
            <a:endParaRPr/>
          </a:p>
          <a:p>
            <a:r>
              <a:t>[Sources]</a:t>
            </a:r>
          </a:p>
          <a:p>
            <a:r>
              <a:t>- https://www.spglobal.com/spdji/en/commentary/article/us-equities-market-attributes/</a:t>
            </a:r>
          </a:p>
          <a:p>
            <a:r>
              <a:t>- https://www.nst.com.my/business/corporate/2026/02/1371314/stocks-fluctuate-after-wall-street-ai-fuelled-sell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Answer: B. Decisive clue: the expected payoff is supported by income and/or evidence about underlying value, while possible loss is accepted.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Answer: A. Decisive clue: the money is for a known near-term need, so liquidity and capital preservation matter most.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Answer: C. Decisive clue: the decision relies on a rumour and a predicted short-term price rise, with borrowing increasing possible loss.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Answer: C. Decisive clue: saving can prioritise capital preservation and liquidity even when it earns interest.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Answer: C. Decisive clue: classify the decision by its expected payoff basis and evidence, not by the asset name.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https://www.hanseaticbank.de/klarmacher/vorsorgen/die-betriebliche-altersvorsorge-kuendigen-geht-das-ueberhaupt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https://www.coursehero.com/blog/product-team/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now return to slide 2 and improve their first judgement using evidence, possible loss and the expected payoff basis.</a:t>
            </a:r>
          </a:p>
          <a:p>
            <a:endParaRPr/>
          </a:p>
          <a:p>
            <a:r>
              <a:t>[Sources]</a:t>
            </a:r>
          </a:p>
          <a:p>
            <a:r>
              <a:t>- C:/Users/oehle/Documents/oehler-huang-platform/apps/library/investment-analysis/handouts/Investment Version 24.docx</a:t>
            </a:r>
          </a:p>
          <a:p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>
            <a:r>
              <a:t>- https://www.tori.ng/news/73034/nigerian-stock-market-investors-gain-n175b.html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0C31-A7E6-CF6F-6C74-398A96ED8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258B1-786C-CCDE-E680-48165EEA1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B133B-4E15-ECE7-D9A7-3CFA443315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E4D9C-58CB-8113-DFC3-F45C05B8C6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B8E9-4CBA-44A4-995B-F8B448F130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9949-CD78-E643-0AAD-859E09FD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F88A-00F8-FABD-6623-7925E9E1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1F7E2-A114-EA69-8513-1075CA7750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A6A31-52B9-93FA-BFD3-A1AFDA93EE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B0C23-1B47-BE09-9A93-F060C7A12D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19C6-2CAE-566B-B33F-F3A6EA06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953B-4D3B-D56E-B9D8-F62A934DC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94B-1175-F7C9-B2E9-1ADDBF4C6C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EE77B-5F23-75ED-FE40-7877CD43F1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1DF6-61B4-3433-1503-1257F0935C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9D28-4BBA-6A41-F0CD-E00915C0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85A29-ED15-2702-3077-3660312DC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BF950-9049-EE20-5B7F-B28BF7739D5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14AD9-934F-5C6D-BEF8-5F1812876C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6DC94-16E8-4028-B91C-E0793D8AC2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2C6C0-E46F-838C-2235-BB949C2CD4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7481-28C9-36B8-BB5A-A48EB5BF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935DB-018C-2AC2-55DD-4618F60DB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95862-0413-B47F-5EA6-F8C658133FB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E1305-8D0D-E5C7-E787-20ACC29B3D9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88980-E579-DEE1-5828-BCDCC6AD1C4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9A561-CCB2-1174-F947-83A5BAC81C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90D5B-48EB-6D16-19FF-B121C98D94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32215-F36B-8982-15B3-9ADF1B1253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8A60-5317-9D60-55E0-A5C712D2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AB46B-BEB8-0075-E4F0-FFD4DAB9FE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D68B8-2C17-DB9F-98CA-7774C21DCA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1ADF9-B6D2-3B08-0067-5D70FA2D53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59CB8C-5882-D7F9-0C5F-5CAE7BB8CB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A38BF-916A-394C-A009-EA8384497D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AC420-6534-BA75-9579-11901021D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C0B0-D4EF-8BE0-3D87-434572F0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B04DA-348F-0CA0-3EB3-6B5B5E66D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24A34-06D8-8410-DAA7-584D6654141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790C3-85ED-A42A-E800-B96767E89D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8CE1A-3A99-4FA9-0273-D6593A0C72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D52D-C5CB-071F-A944-F98893772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96CC-38AC-1EF5-648E-E7F422D7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0507D7-2DF6-FAC2-D4BB-A4AB3244A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F6656-6D39-2FD8-5252-482351FF6B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16A1-82B5-DA65-7D5C-1071657EA5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23671-72F7-98E8-B10C-E2B3321B3C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913F0-CB9B-234C-E784-84F1D5C9D9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7AC8-A107-6BEF-E21C-C9F2BB83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4E386-D025-1C80-A103-5968FBBCB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3C2C-FD10-2FF9-27A8-1744C93C66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EEF54-8ADC-991C-7D9C-C7C12EA43B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79658-DCDC-95B9-20D6-1ACA48D1B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EDAE0-532D-25E1-1EA2-CA7D31C2B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23E2A-A142-D64E-7901-D79B21152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5A47-47AF-2E22-3F5F-00D8029CCB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E2697-B3A1-C43C-9380-7183DFA939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AFB7-62EB-363B-3021-3BA01BEEB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25C1BC-A9EE-43B2-941F-41C98DCEFBE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89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D20DC8-DCE3-A103-1D88-A82751FC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B9AD6-1C43-4F75-D382-EAEFBD03A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04F01-46CE-D06D-2D4D-3BA090E33CD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5B816-E33A-EA33-5019-C0C206A326D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F2935-C73C-9292-EF27-B601E8004AB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5C1BC-A9EE-43B2-941F-41C98DCEFBE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9CBF-0058-21C9-4F26-33DE43F78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00250"/>
            <a:ext cx="5334000" cy="20002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4000"/>
              </a:lnSpc>
              <a:buNone/>
              <a:def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What is</a:t>
            </a:r>
          </a:p>
          <a:p>
            <a:pPr marL="0" indent="0" algn="l">
              <a:lnSpc>
                <a:spcPct val="94000"/>
              </a:lnSpc>
              <a:buNone/>
              <a:def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investment?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27344" r="27344"/>
          <a:stretch>
            <a:fillRect/>
          </a:stretch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5619750" cy="54292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friend says a share price will rise tomorrow.</a:t>
            </a:r>
          </a:p>
          <a:p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Would you borrow ¥1,000 to buy it?</a:t>
            </a:r>
          </a:p>
          <a:p>
            <a:pPr marL="0" indent="0" algn="l">
              <a:lnSpc>
                <a:spcPct val="94000"/>
              </a:lnSpc>
              <a:buNone/>
              <a:def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endParaRPr sz="285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What would you need to know first?</a:t>
            </a:r>
          </a:p>
          <a:p>
            <a:pPr marL="0" indent="0" algn="l">
              <a:lnSpc>
                <a:spcPct val="94000"/>
              </a:lnSpc>
              <a:buNone/>
              <a:def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endParaRPr sz="2025" b="1">
              <a:solidFill>
                <a:srgbClr val="F06C5B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872"/>
                </a:solidFill>
                <a:latin typeface="Microsoft YaHei"/>
                <a:ea typeface="Microsoft YaHei"/>
                <a:cs typeface="Microsoft YaHei"/>
              </a:rPr>
              <a:t>朋友说某只股票明天会涨。你会借¥1,000买入吗？</a:t>
            </a:r>
          </a:p>
          <a:p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872"/>
                </a:solidFill>
                <a:latin typeface="Microsoft YaHei"/>
                <a:ea typeface="Microsoft YaHei"/>
                <a:cs typeface="Microsoft YaHei"/>
              </a:rPr>
              <a:t>你首先需要知道什么？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28125" r="28125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7B658CE-3172-4D06-9EE4-5623DF7F9A10}"/>
              </a:ext>
            </a:extLst>
          </p:cNvPr>
          <p:cNvSpPr>
            <a:spLocks noGrp="1"/>
          </p:cNvSpPr>
          <p:nvPr/>
        </p:nvSpPr>
        <p:spPr>
          <a:xfrm>
            <a:off x="571500" y="266700"/>
            <a:ext cx="571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TWO-LESSON DESTINATION</a:t>
            </a:r>
          </a:p>
        </p:txBody>
      </p:sp>
      <p:sp>
        <p:nvSpPr>
          <p:cNvPr id="2" name="slide-2-title">
            <a:extLst>
              <a:ext uri="{FF2B5EF4-FFF2-40B4-BE49-F238E27FC236}">
                <a16:creationId xmlns:a16="http://schemas.microsoft.com/office/drawing/2014/main" id="{F7C2B5A6-CBFD-40C2-BDE9-231F71FE854F}"/>
              </a:ext>
            </a:extLst>
          </p:cNvPr>
          <p:cNvSpPr>
            <a:spLocks noGrp="1"/>
          </p:cNvSpPr>
          <p:nvPr/>
        </p:nvSpPr>
        <p:spPr>
          <a:xfrm>
            <a:off x="571500" y="485775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you will be able to do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571500" y="1171575"/>
            <a:ext cx="110490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90C883C-DDEB-4A19-BAAD-36A23EBDB7C6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Autofit/>
          </a:bodyPr>
          <a:lstStyle/>
          <a:p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Course map | 9.1.1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76100-A571-4CD4-AA1C-815EC735B66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Autofit/>
          </a:bodyPr>
          <a:lstStyle/>
          <a:p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1028831" y="2405292"/>
            <a:ext cx="9906000" cy="95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1CA9BA0-9B83-47C7-A839-4296F643992E}"/>
              </a:ext>
            </a:extLst>
          </p:cNvPr>
          <p:cNvSpPr>
            <a:spLocks noGrp="1"/>
          </p:cNvSpPr>
          <p:nvPr/>
        </p:nvSpPr>
        <p:spPr>
          <a:xfrm>
            <a:off x="1266956" y="2005242"/>
            <a:ext cx="800100" cy="800100"/>
          </a:xfrm>
          <a:prstGeom prst="ellipse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DCE83B-A221-4093-8A02-176F5D642120}"/>
              </a:ext>
            </a:extLst>
          </p:cNvPr>
          <p:cNvSpPr>
            <a:spLocks noGrp="1"/>
          </p:cNvSpPr>
          <p:nvPr/>
        </p:nvSpPr>
        <p:spPr>
          <a:xfrm>
            <a:off x="647831" y="3138716"/>
            <a:ext cx="2442210" cy="21836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altLang="zh-CN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Understand the difference between investment, speculation and saving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D4255C-6E2A-4926-8D3E-424BFF4DB32E}"/>
              </a:ext>
            </a:extLst>
          </p:cNvPr>
          <p:cNvSpPr>
            <a:spLocks noGrp="1"/>
          </p:cNvSpPr>
          <p:nvPr/>
        </p:nvSpPr>
        <p:spPr>
          <a:xfrm>
            <a:off x="4124456" y="2005242"/>
            <a:ext cx="800100" cy="800100"/>
          </a:xfrm>
          <a:prstGeom prst="ellipse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014F48-B8AA-4F11-BE67-0E8467AEC3E3}"/>
              </a:ext>
            </a:extLst>
          </p:cNvPr>
          <p:cNvSpPr>
            <a:spLocks noGrp="1"/>
          </p:cNvSpPr>
          <p:nvPr/>
        </p:nvSpPr>
        <p:spPr>
          <a:xfrm>
            <a:off x="3505331" y="3138717"/>
            <a:ext cx="2047875" cy="20855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US" sz="150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Understand investment return, and basic calculation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657CC7-0699-4D6F-81BB-34E360ED4C1A}"/>
              </a:ext>
            </a:extLst>
          </p:cNvPr>
          <p:cNvSpPr>
            <a:spLocks noGrp="1"/>
          </p:cNvSpPr>
          <p:nvPr/>
        </p:nvSpPr>
        <p:spPr>
          <a:xfrm>
            <a:off x="6981956" y="2005242"/>
            <a:ext cx="800100" cy="8001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000000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B6A0D-26CE-4709-A4C0-5E8168C5941F}"/>
              </a:ext>
            </a:extLst>
          </p:cNvPr>
          <p:cNvSpPr>
            <a:spLocks noGrp="1"/>
          </p:cNvSpPr>
          <p:nvPr/>
        </p:nvSpPr>
        <p:spPr>
          <a:xfrm>
            <a:off x="6362831" y="3567342"/>
            <a:ext cx="20478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lang="en-US" altLang="zh-CN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Give examples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7EEE1D-B829-4DBE-87B3-1EB7F6F03665}"/>
              </a:ext>
            </a:extLst>
          </p:cNvPr>
          <p:cNvSpPr>
            <a:spLocks noGrp="1"/>
          </p:cNvSpPr>
          <p:nvPr/>
        </p:nvSpPr>
        <p:spPr>
          <a:xfrm>
            <a:off x="9839456" y="2005242"/>
            <a:ext cx="800100" cy="8001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000000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C70F6F-C4B2-4E8C-A85B-6175630C9B79}"/>
              </a:ext>
            </a:extLst>
          </p:cNvPr>
          <p:cNvSpPr>
            <a:spLocks noGrp="1"/>
          </p:cNvSpPr>
          <p:nvPr/>
        </p:nvSpPr>
        <p:spPr>
          <a:xfrm>
            <a:off x="9220331" y="3567342"/>
            <a:ext cx="20478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6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lang="en-US" altLang="zh-CN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Explain why something is investment, speculation or saving</a:t>
            </a:r>
            <a:endParaRPr sz="1650" b="0" i="0" dirty="0">
              <a:solidFill>
                <a:srgbClr val="59616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828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23900"/>
          </a:xfrm>
        </p:spPr>
        <p:txBody>
          <a:bodyPr anchor="ctr">
            <a:normAutofit/>
          </a:bodyPr>
          <a:lstStyle/>
          <a:p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Is this investment?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16703" b="16703"/>
          <a:stretch>
            <a:fillRect/>
          </a:stretch>
        </p:blipFill>
        <p:spPr>
          <a:xfrm>
            <a:off x="571500" y="1381125"/>
            <a:ext cx="110490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7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C310-9AEA-6F2B-EE01-6FA6FF11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96000"/>
              </a:lnSpc>
              <a:defRPr sz="31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2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Speculation (</a:t>
            </a:r>
            <a:r>
              <a:rPr lang="zh-CN" altLang="en-US" sz="32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投机</a:t>
            </a:r>
            <a:r>
              <a:rPr lang="en-US" altLang="zh-CN" sz="32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3150" b="1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7231-263E-783D-6E31-CF9FD1823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49" y="1619249"/>
            <a:ext cx="6238547" cy="4939205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trading mainly to profit from a </a:t>
            </a:r>
            <a:r>
              <a:rPr sz="24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predicted price change (</a:t>
            </a:r>
            <a:r>
              <a:rPr sz="2400" b="1" dirty="0" err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预测的价格变动</a:t>
            </a:r>
            <a:r>
              <a:rPr sz="24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24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  <a:p>
            <a:pPr marL="0" indent="0">
              <a:buNone/>
            </a:pPr>
            <a:endParaRPr sz="2000" b="0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Income or underlying value (</a:t>
            </a:r>
            <a:r>
              <a:rPr sz="20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基础价值</a:t>
            </a: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 </a:t>
            </a:r>
            <a:r>
              <a:rPr sz="20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is not the main basis</a:t>
            </a: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  <a:p>
            <a:pPr marL="0" indent="0">
              <a:buNone/>
            </a:pPr>
            <a:endParaRPr sz="2000" b="0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Examples:</a:t>
            </a:r>
            <a:endParaRPr lang="en-US" sz="2000" b="0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04000"/>
              </a:lnSpc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shares bought after a </a:t>
            </a:r>
            <a:r>
              <a:rPr sz="20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rumour</a:t>
            </a: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, gold bought for rapid resale</a:t>
            </a:r>
            <a:endParaRPr lang="en-US" sz="2000" b="0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04000"/>
              </a:lnSpc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currency traded after an exchange-rate prediction.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5906" r="15906"/>
          <a:stretch>
            <a:fillRect/>
          </a:stretch>
        </p:blipFill>
        <p:spPr>
          <a:xfrm>
            <a:off x="7334250" y="1524000"/>
            <a:ext cx="42862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4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5517-CDD8-0040-069F-F483AD37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rapid price rise can reverse quickly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F7D2-DB71-7501-0B9F-A64C759F9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0" y="1619250"/>
            <a:ext cx="5143500" cy="4095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GameStop, January 2021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More than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1,600%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rise from the 11 January close to the 27 January close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USD 483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intraday high on 28 January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More than </a:t>
            </a:r>
            <a:r>
              <a:rPr sz="187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86%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fall from that high by the end of the first week of February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4205" r="14205"/>
          <a:stretch>
            <a:fillRect/>
          </a:stretch>
        </p:blipFill>
        <p:spPr>
          <a:xfrm>
            <a:off x="571500" y="1524000"/>
            <a:ext cx="5334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0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350D-62E9-DC1D-DA04-0495D7DC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30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Why may speculation be a bad idea?</a:t>
            </a:r>
            <a:endParaRPr sz="3300" b="1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3F09-016D-841D-6A42-E084F256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666875"/>
            <a:ext cx="6096000" cy="39052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One reason is the cost of frequent trading.</a:t>
            </a:r>
          </a:p>
          <a:p>
            <a:pPr marL="0" indent="0">
              <a:buNone/>
            </a:pPr>
            <a:endParaRPr sz="18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study of 66,465 households found annual returns of:</a:t>
            </a:r>
          </a:p>
          <a:p>
            <a:pPr marL="0" indent="0">
              <a:buNone/>
            </a:pPr>
            <a:endParaRPr sz="18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Most-active households: </a:t>
            </a:r>
            <a:r>
              <a:rPr sz="18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11.4%</a:t>
            </a:r>
          </a:p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Market: </a:t>
            </a:r>
            <a:r>
              <a:rPr sz="18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17.9%</a:t>
            </a:r>
          </a:p>
          <a:p>
            <a:pPr marL="0" indent="0">
              <a:buNone/>
            </a:pPr>
            <a:endParaRPr sz="1800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Trading costs reduced the net return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of the most-active group.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5894" r="15894"/>
          <a:stretch>
            <a:fillRect/>
          </a:stretch>
        </p:blipFill>
        <p:spPr>
          <a:xfrm>
            <a:off x="7524750" y="1619250"/>
            <a:ext cx="40957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1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88C4-40B9-6D1F-241D-AB956C98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[brief retrieval check on speculation]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F896F-1FC2-3BA9-F1AA-3F6D5DB3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3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2509-0E28-9548-1D52-4D2555BD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Saving can earn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CB7BF-2B08-E222-FD53-2C1D489C3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714500"/>
            <a:ext cx="5715000" cy="3714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China, end-2025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CNY 167.0 trillion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domestic household deposits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9.7%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increase from end-2024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Saving can serve a near-term need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even when it earns some interest.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5148" r="15148"/>
          <a:stretch>
            <a:fillRect/>
          </a:stretch>
        </p:blipFill>
        <p:spPr>
          <a:xfrm>
            <a:off x="7239000" y="1524000"/>
            <a:ext cx="43815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14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E3483-6CEA-D277-81EA-0AEE6BE9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Is this investment?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10536" b="10536"/>
          <a:stretch>
            <a:fillRect/>
          </a:stretch>
        </p:blipFill>
        <p:spPr>
          <a:xfrm>
            <a:off x="571500" y="1381125"/>
            <a:ext cx="110490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78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FB71-D60D-ECD4-E303-237F00B5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30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17A92-886F-0D21-3EF1-FDB9DCB2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619249"/>
            <a:ext cx="5905500" cy="4750019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Saving is current income not spent now.</a:t>
            </a:r>
          </a:p>
          <a:p>
            <a:pPr marL="0" indent="0">
              <a:buNone/>
            </a:pPr>
            <a:endParaRPr sz="1875" b="1" dirty="0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Emphasis: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75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capital preservation (</a:t>
            </a:r>
            <a:r>
              <a:rPr sz="1875" b="1" dirty="0" err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保本</a:t>
            </a:r>
            <a:r>
              <a:rPr sz="1875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75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liquidity (</a:t>
            </a:r>
            <a:r>
              <a:rPr sz="1875" b="1" dirty="0" err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流动性</a:t>
            </a:r>
            <a:r>
              <a:rPr sz="1875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0" indent="0">
              <a:buNone/>
            </a:pPr>
            <a:endParaRPr sz="1875" b="1" dirty="0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Examples: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emergency fund (</a:t>
            </a:r>
            <a:r>
              <a:rPr sz="1875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应急资金</a:t>
            </a: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examination fees held for a known date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short-term cash buffer (</a:t>
            </a:r>
            <a:r>
              <a:rPr sz="1875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现金缓冲</a:t>
            </a: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1648" r="11648"/>
          <a:stretch>
            <a:fillRect/>
          </a:stretch>
        </p:blipFill>
        <p:spPr>
          <a:xfrm>
            <a:off x="7334250" y="1524000"/>
            <a:ext cx="42862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3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2985-1D05-2781-E53E-B20617B4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5F5D-1A26-23EC-DFFB-521A4320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[brief retrieval check on saving]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FB7B5-885A-5695-AEB8-3753BEB78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743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3761-A2BE-A81A-4B2F-6D76C7634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96000"/>
              </a:lnSpc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6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Financial investment (</a:t>
            </a:r>
            <a:r>
              <a:rPr lang="zh-CN" altLang="en-US" sz="36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金融投资</a:t>
            </a:r>
            <a:r>
              <a:rPr lang="en-US" altLang="zh-CN" sz="3600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3450" b="1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7B61E-E1FF-4706-F5BB-01C14762C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619249"/>
            <a:ext cx="6477000" cy="4876143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putting money into an asset (</a:t>
            </a:r>
            <a:r>
              <a:rPr sz="24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资产</a:t>
            </a:r>
            <a:r>
              <a:rPr sz="24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 to seek future total return (</a:t>
            </a:r>
            <a:r>
              <a:rPr sz="24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总回报</a:t>
            </a:r>
            <a:r>
              <a:rPr sz="24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0" indent="0">
              <a:buNone/>
            </a:pPr>
            <a:endParaRPr sz="1875" b="0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Total return = income + change in market value</a:t>
            </a:r>
          </a:p>
          <a:p>
            <a:pPr marL="0" indent="0">
              <a:buNone/>
            </a:pPr>
            <a:endParaRPr sz="1875" b="1" dirty="0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Risk: possible loss (</a:t>
            </a:r>
            <a:r>
              <a:rPr sz="1875" b="1" dirty="0" err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可能亏损</a:t>
            </a:r>
            <a:r>
              <a:rPr sz="1875" b="1" dirty="0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0" indent="0">
              <a:buNone/>
            </a:pPr>
            <a:endParaRPr sz="1875" b="1" dirty="0">
              <a:solidFill>
                <a:srgbClr val="F06C5B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Examples: stocks, index funds, bonds and property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26055" r="26055"/>
          <a:stretch>
            <a:fillRect/>
          </a:stretch>
        </p:blipFill>
        <p:spPr>
          <a:xfrm>
            <a:off x="7810500" y="1524000"/>
            <a:ext cx="3810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E8C1-10FE-83F9-57A6-5238B233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450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Example: Stocks</a:t>
            </a:r>
            <a:endParaRPr sz="3450" b="1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26F6-73D6-1461-B458-54DC23A98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571625"/>
            <a:ext cx="5905500" cy="4333875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S&amp;P 500, calendar 2025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Price return: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16.39%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Total return with dividends: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17.88%</a:t>
            </a:r>
          </a:p>
          <a:p>
            <a:pPr marL="0" indent="0">
              <a:buNone/>
            </a:pPr>
            <a:endParaRPr sz="1875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USD 10,000 would become: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USD 11,639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without dividends</a:t>
            </a: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USD 11,788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with dividends</a:t>
            </a:r>
          </a:p>
          <a:p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The difference came from dividends.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7017" r="17017"/>
          <a:stretch>
            <a:fillRect/>
          </a:stretch>
        </p:blipFill>
        <p:spPr>
          <a:xfrm>
            <a:off x="7334250" y="1524000"/>
            <a:ext cx="42862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1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381125"/>
            <a:ext cx="10629900" cy="49530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main basis is expected income and/or evidence about underlying value; possible loss is accepted.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2.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main reason is a </a:t>
            </a:r>
            <a:r>
              <a:rPr sz="172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predicted price change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; income or underlying value is not the main basis.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3.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Money is kept mainly for a </a:t>
            </a:r>
            <a:r>
              <a:rPr sz="1725" b="1">
                <a:solidFill>
                  <a:srgbClr val="2F9B67"/>
                </a:solidFill>
                <a:latin typeface="Microsoft YaHei"/>
                <a:ea typeface="Microsoft YaHei"/>
                <a:cs typeface="Microsoft YaHei"/>
              </a:rPr>
              <a:t>future need, safety and ready access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  <a:p>
            <a:pPr marL="0" indent="0">
              <a:buNone/>
            </a:pPr>
            <a:endParaRPr sz="17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4.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Amina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studies profits, cash flow and debt before buying a diversified share portfolio. She expects dividends and long-term price growth.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5.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Bao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borrows after an online rumour predicts a price rise next week. He will sell after an announcement.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BD49-C6E6-D286-FD16-E3C65D51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48C89-11B4-44C9-6372-440B1F136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381125"/>
            <a:ext cx="10629900" cy="49530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6.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Chloe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estimates rent, maintenance and vacancy costs. She buys a flat mainly for net rental income.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7.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Daniel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needs examination-fee money in eight months, so he uses an easy-access account for safety and liquidity.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8.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Eva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invests for university in ten years using a diversified fund. She reviewed fees and risks and accepts a possible fall in market value.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9.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Farah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keeps an emergency fund in an easy-access account. Quick withdrawal matters more than return.</a:t>
            </a:r>
          </a:p>
          <a:p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10.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George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buys a bond fund for retirement after checking interest income, credit risk, interest-rate risk and fees.</a:t>
            </a:r>
          </a:p>
        </p:txBody>
      </p:sp>
    </p:spTree>
    <p:extLst>
      <p:ext uri="{BB962C8B-B14F-4D97-AF65-F5344CB8AC3E}">
        <p14:creationId xmlns:p14="http://schemas.microsoft.com/office/powerpoint/2010/main" val="4262617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C0E1-4A9B-215D-C8CD-FD9389D2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10336-795F-277B-223D-11441AF2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50"/>
            <a:ext cx="10515600" cy="40005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  <a:def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11.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Hadi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buys Bitcoin after an influencer predicts a weekend price jump. He will sell immediately if it happens.</a:t>
            </a:r>
          </a:p>
          <a:p>
            <a:pPr marL="0" indent="0">
              <a:buNone/>
            </a:pPr>
            <a:endParaRPr sz="20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12000"/>
              </a:lnSpc>
              <a:buNone/>
              <a:def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12.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Iris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buys foreign currency before a central-bank announcement. Her expected gain depends on a price prediction.</a:t>
            </a:r>
          </a:p>
          <a:p>
            <a:pPr marL="0" indent="0">
              <a:buNone/>
            </a:pPr>
            <a:endParaRPr sz="20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12000"/>
              </a:lnSpc>
              <a:buNone/>
              <a:def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13.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Jun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needs tuition money in three months, so he uses an easy-access account for safety and liquidity.</a:t>
            </a:r>
          </a:p>
        </p:txBody>
      </p:sp>
    </p:spTree>
    <p:extLst>
      <p:ext uri="{BB962C8B-B14F-4D97-AF65-F5344CB8AC3E}">
        <p14:creationId xmlns:p14="http://schemas.microsoft.com/office/powerpoint/2010/main" val="55714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CE13-3C03-E181-F9CA-8F5D6DC4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90550"/>
            <a:ext cx="1524000" cy="6477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0E34-08C7-D5B0-FB16-1E95872D9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25" y="609600"/>
            <a:ext cx="9096375" cy="5619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What is the strongest evidence that a decision is a financial investment (金融投资)?</a:t>
            </a:r>
          </a:p>
          <a:p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asset has risen in price before.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main basis is expected income and/or evidence about underlying value, while possible loss is accepted.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Money can be withdrawn immediately with no possible loss.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buyer plans to sell after an unverified rumour.</a:t>
            </a:r>
          </a:p>
        </p:txBody>
      </p:sp>
    </p:spTree>
    <p:extLst>
      <p:ext uri="{BB962C8B-B14F-4D97-AF65-F5344CB8AC3E}">
        <p14:creationId xmlns:p14="http://schemas.microsoft.com/office/powerpoint/2010/main" val="525596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90550"/>
            <a:ext cx="1524000" cy="6477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25" y="609600"/>
            <a:ext cx="9096375" cy="5619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Which decision is saving (储蓄) rather than financial investment (金融投资)?</a:t>
            </a:r>
          </a:p>
          <a:p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Keeping school-trip money in an easy-access account.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Buying a diversified fund for long-term growth after reviewing its fees and risks.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Buying shares for dividends and long-term value after analysing profits, debt and cash flow.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Buying property mainly for expected net rental income.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90550"/>
            <a:ext cx="1524000" cy="6477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25" y="609600"/>
            <a:ext cx="9096375" cy="5619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Which evidence most clearly indicates speculation (投机)?</a:t>
            </a:r>
          </a:p>
          <a:p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Expected bond interest after analysing credit risk.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Expected net rental income after estimating vacancy and maintenance.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Borrowing after a rumour of a next-week price jump and planning a quick sale.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Accepting that a diversified fund held long term can lose value.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90550"/>
            <a:ext cx="1524000" cy="6477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25" y="609600"/>
            <a:ext cx="9096375" cy="5619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Which statement about saving (储蓄) is correct?</a:t>
            </a:r>
          </a:p>
          <a:p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Earning interest automatically changes saving into financial investment (金融投资).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Saving cannot lose purchasing power (购买力).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Capital preservation (保本) and liquidity (流动性) can matter more than a high return.</a:t>
            </a:r>
          </a:p>
          <a:p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Saving always means holding cash at home.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90550"/>
            <a:ext cx="1524000" cy="6477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25" y="609600"/>
            <a:ext cx="9096375" cy="561975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Two people buy the same asset (资产). Why might one be investing (投资) and the other speculating (投机)?</a:t>
            </a:r>
          </a:p>
          <a:p>
            <a:pPr marL="0" indent="0">
              <a:buNone/>
            </a:pPr>
            <a:endParaRPr sz="210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asset name decides the category.</a:t>
            </a:r>
          </a:p>
          <a:p>
            <a:pPr marL="0" indent="0">
              <a:buNone/>
            </a:pPr>
            <a:endParaRPr sz="1688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person who pays the higher price is the speculator (投机者).</a:t>
            </a:r>
          </a:p>
          <a:p>
            <a:pPr marL="0" indent="0">
              <a:buNone/>
            </a:pPr>
            <a:endParaRPr sz="1688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One bases expected return on income and/or evidence about long-term value; the other mainly on a price prediction (价格预测).</a:t>
            </a:r>
          </a:p>
          <a:p>
            <a:pPr marL="0" indent="0">
              <a:buNone/>
            </a:pPr>
            <a:endParaRPr sz="1688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person planning to sell sooner is always the speculator (投机者).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90B7-B771-44F1-2AE6-B30C059E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96000"/>
              </a:lnSpc>
              <a:buNone/>
              <a:defRPr sz="29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Short answer question 1: save first or invest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9A3A-B398-A25E-EF98-2CDD0E4C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476375"/>
            <a:ext cx="6334125" cy="4619625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Mina receives ¥500 and has no money set aside for emergencies. Should she save some before investing? Explain.</a:t>
            </a:r>
          </a:p>
          <a:p>
            <a:pPr marL="0" indent="0">
              <a:buNone/>
            </a:pPr>
            <a:endParaRPr sz="1875" b="1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Use at least two terms: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emergency fund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应急资金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liquidity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流动性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essential spending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必要支出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possible loss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可能亏损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23177" r="23177"/>
          <a:stretch>
            <a:fillRect/>
          </a:stretch>
        </p:blipFill>
        <p:spPr>
          <a:xfrm>
            <a:off x="7620000" y="1524000"/>
            <a:ext cx="40005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6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[model a good answer]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E464-7ACE-6098-A3B2-6BF9D51E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 fontScale="90000"/>
          </a:bodyPr>
          <a:lstStyle/>
          <a:p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Short answer question 2: what matters when money is needed soon?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1ADBE-522A-4212-AD09-B33B4169F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476375"/>
            <a:ext cx="6334125" cy="4619625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Leo needs the money for a laptop in six months. He wants a higher return but cannot afford a loss. Should he save or invest it? Explain.</a:t>
            </a:r>
          </a:p>
          <a:p>
            <a:pPr marL="0" indent="0">
              <a:buNone/>
            </a:pPr>
            <a:endParaRPr sz="1875" b="1" dirty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Use at least two terms: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time horizon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投资期限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liquidity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流动性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capital preservation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保本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>
              <a:lnSpc>
                <a:spcPct val="104000"/>
              </a:lnSpc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possible loss (</a:t>
            </a:r>
            <a:r>
              <a:rPr sz="1800" b="0" dirty="0" err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可能亏损</a:t>
            </a:r>
            <a:r>
              <a:rPr sz="1800" b="0" dirty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8191" r="18191"/>
          <a:stretch>
            <a:fillRect/>
          </a:stretch>
        </p:blipFill>
        <p:spPr>
          <a:xfrm>
            <a:off x="7620000" y="1524000"/>
            <a:ext cx="40005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02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C5E6-E7D3-4C24-D449-EA07F2C4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6CA2-4CB7-4F71-15CD-0DF6B093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[model a good answer]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EECE8-9F37-575D-7AC5-333558810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509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C6C6-39CF-0255-47DF-526C3C84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8150"/>
            <a:ext cx="10972800" cy="781050"/>
          </a:xfrm>
        </p:spPr>
        <p:txBody>
          <a:bodyPr wrap="square" lIns="0" tIns="0" rIns="0" bIns="0" anchor="ctr">
            <a:normAutofit fontScale="90000"/>
          </a:bodyPr>
          <a:lstStyle/>
          <a:p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Short answer question 3: why can borrowing make the loss worse?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AADBC-6F86-CC00-BCEB-8FB4CEDE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476375"/>
            <a:ext cx="6334125" cy="4619625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Nora borrows money to buy shares after an unverified online rumour. She will sell tomorrow if the price rises.</a:t>
            </a:r>
          </a:p>
          <a:p>
            <a:pPr marL="0" indent="0">
              <a:buNone/>
            </a:pPr>
            <a:endParaRPr sz="180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What makes this speculation, and how can borrowing make the loss worse?</a:t>
            </a:r>
          </a:p>
          <a:p>
            <a:pPr marL="0" indent="0">
              <a:buNone/>
            </a:pPr>
            <a:endParaRPr sz="17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Use at least two terms:</a:t>
            </a:r>
          </a:p>
          <a:p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rumour (传闻) • price prediction (价格预测)</a:t>
            </a:r>
          </a:p>
          <a:p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repayment obligation (偿还义务) • possible loss (可能亏损)</a:t>
            </a:r>
          </a:p>
          <a:p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endParaRPr sz="17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Return to the opening: a price tip is not evidence, and the repayment remains even if the price falls.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7146" r="17146"/>
          <a:stretch>
            <a:fillRect/>
          </a:stretch>
        </p:blipFill>
        <p:spPr>
          <a:xfrm>
            <a:off x="7620000" y="1524000"/>
            <a:ext cx="40005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94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E258-23C9-F2A8-2DA1-72AF4D48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B0E53-F788-98D5-24E5-BE5C9998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[model a good answer]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3E13-C7DC-3114-7BCE-864CEB625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574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F103-B4EC-040A-C81A-B082173D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[exit ticket]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A4941-CBA8-99BB-11AE-5303296E1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199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2593</Words>
  <Application>Microsoft Office PowerPoint</Application>
  <DocSecurity>0</DocSecurity>
  <PresentationFormat>Widescreen</PresentationFormat>
  <Paragraphs>296</Paragraphs>
  <Slides>29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等线</vt:lpstr>
      <vt:lpstr>等线 Light</vt:lpstr>
      <vt:lpstr>Microsoft YaHei</vt:lpstr>
      <vt:lpstr>Arial</vt:lpstr>
      <vt:lpstr>Office Theme</vt:lpstr>
      <vt:lpstr>What is investment?</vt:lpstr>
      <vt:lpstr>A friend says a share price will rise tomorrow. Would you borrow ¥1,000 to buy it?  What would you need to know first?  朋友说某只股票明天会涨。你会借¥1,000买入吗？ 你首先需要知道什么？</vt:lpstr>
      <vt:lpstr>PowerPoint Presentation</vt:lpstr>
      <vt:lpstr>Is this investment?</vt:lpstr>
      <vt:lpstr>Speculation (投机)</vt:lpstr>
      <vt:lpstr>A rapid price rise can reverse quickly</vt:lpstr>
      <vt:lpstr>Why may speculation be a bad idea?</vt:lpstr>
      <vt:lpstr>[brief retrieval check on speculation]</vt:lpstr>
      <vt:lpstr>Saving can earn interest</vt:lpstr>
      <vt:lpstr>Is this investment?</vt:lpstr>
      <vt:lpstr>Saving</vt:lpstr>
      <vt:lpstr>[brief retrieval check on saving]</vt:lpstr>
      <vt:lpstr>Financial investment (金融投资)</vt:lpstr>
      <vt:lpstr>Example: Stocks</vt:lpstr>
      <vt:lpstr>Choose: Investment (投资), speculation (投机) or saving (储蓄)?</vt:lpstr>
      <vt:lpstr>Choose: Investment (投资), speculation (投机) or saving (储蓄)?</vt:lpstr>
      <vt:lpstr>Choose: Investment (投资), speculation (投机) or saving (储蓄)?</vt:lpstr>
      <vt:lpstr>MCQ 1</vt:lpstr>
      <vt:lpstr>MCQ 2</vt:lpstr>
      <vt:lpstr>MCQ 3</vt:lpstr>
      <vt:lpstr>MCQ 4</vt:lpstr>
      <vt:lpstr>MCQ 5</vt:lpstr>
      <vt:lpstr>Short answer question 1: save first or invest now?</vt:lpstr>
      <vt:lpstr>[model a good answer]</vt:lpstr>
      <vt:lpstr>Short answer question 2: what matters when money is needed soon?</vt:lpstr>
      <vt:lpstr>[model a good answer]</vt:lpstr>
      <vt:lpstr>Short answer question 3: why can borrowing make the loss worse?</vt:lpstr>
      <vt:lpstr>[model a good answer]</vt:lpstr>
      <vt:lpstr>[exit ticket]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Samuel Oehler-Huang</cp:lastModifiedBy>
  <cp:revision>1</cp:revision>
  <dcterms:created xsi:type="dcterms:W3CDTF">2026-08-31T05:27:52Z</dcterms:created>
  <dcterms:modified xsi:type="dcterms:W3CDTF">2026-08-31T05:44:28Z</dcterms:modified>
</cp:coreProperties>
</file>